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3"/>
  </p:notesMasterIdLst>
  <p:handoutMasterIdLst>
    <p:handoutMasterId r:id="rId64"/>
  </p:handoutMasterIdLst>
  <p:sldIdLst>
    <p:sldId id="256" r:id="rId2"/>
    <p:sldId id="257" r:id="rId3"/>
    <p:sldId id="259" r:id="rId4"/>
    <p:sldId id="276" r:id="rId5"/>
    <p:sldId id="262" r:id="rId6"/>
    <p:sldId id="264" r:id="rId7"/>
    <p:sldId id="265" r:id="rId8"/>
    <p:sldId id="266" r:id="rId9"/>
    <p:sldId id="267" r:id="rId10"/>
    <p:sldId id="268" r:id="rId11"/>
    <p:sldId id="269" r:id="rId12"/>
    <p:sldId id="270" r:id="rId13"/>
    <p:sldId id="271" r:id="rId14"/>
    <p:sldId id="272" r:id="rId15"/>
    <p:sldId id="273" r:id="rId16"/>
    <p:sldId id="278" r:id="rId17"/>
    <p:sldId id="275"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324" r:id="rId39"/>
    <p:sldId id="299" r:id="rId40"/>
    <p:sldId id="300" r:id="rId41"/>
    <p:sldId id="301" r:id="rId42"/>
    <p:sldId id="304" r:id="rId43"/>
    <p:sldId id="305" r:id="rId44"/>
    <p:sldId id="306" r:id="rId45"/>
    <p:sldId id="307" r:id="rId46"/>
    <p:sldId id="308" r:id="rId47"/>
    <p:sldId id="309" r:id="rId48"/>
    <p:sldId id="310" r:id="rId49"/>
    <p:sldId id="323" r:id="rId50"/>
    <p:sldId id="311" r:id="rId51"/>
    <p:sldId id="312" r:id="rId52"/>
    <p:sldId id="313" r:id="rId53"/>
    <p:sldId id="314" r:id="rId54"/>
    <p:sldId id="315" r:id="rId55"/>
    <p:sldId id="316" r:id="rId56"/>
    <p:sldId id="317" r:id="rId57"/>
    <p:sldId id="318" r:id="rId58"/>
    <p:sldId id="319" r:id="rId59"/>
    <p:sldId id="325" r:id="rId60"/>
    <p:sldId id="320" r:id="rId61"/>
    <p:sldId id="321"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8" autoAdjust="0"/>
    <p:restoredTop sz="94660"/>
  </p:normalViewPr>
  <p:slideViewPr>
    <p:cSldViewPr>
      <p:cViewPr varScale="1">
        <p:scale>
          <a:sx n="86" d="100"/>
          <a:sy n="86" d="100"/>
        </p:scale>
        <p:origin x="1722"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191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25EF13-053C-4EE1-80E7-C26F261DD3F3}"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IN"/>
        </a:p>
      </dgm:t>
    </dgm:pt>
    <dgm:pt modelId="{A4545069-5E8C-4070-A77F-F10AD9557FFA}">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initiation</a:t>
          </a:r>
        </a:p>
      </dgm:t>
    </dgm:pt>
    <dgm:pt modelId="{F67CB6C0-EEC9-43FA-A2BC-BB5AF7CCC0CB}" type="parTrans" cxnId="{EAC0FCC5-6F30-45BB-BF9C-D17F85D94BB6}">
      <dgm:prSet/>
      <dgm:spPr/>
      <dgm:t>
        <a:bodyPr/>
        <a:lstStyle/>
        <a:p>
          <a:pPr algn="ctr"/>
          <a:endParaRPr lang="en-IN" sz="1800" b="1">
            <a:latin typeface="Times New Roman" pitchFamily="18" charset="0"/>
            <a:cs typeface="Times New Roman" pitchFamily="18" charset="0"/>
          </a:endParaRPr>
        </a:p>
      </dgm:t>
    </dgm:pt>
    <dgm:pt modelId="{884694B4-462C-47D0-87E3-5F9C23FDF899}" type="sibTrans" cxnId="{EAC0FCC5-6F30-45BB-BF9C-D17F85D94BB6}">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7869B11C-B7D4-4A4F-B1C2-8CE9A1DFDD7A}">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planning</a:t>
          </a:r>
        </a:p>
      </dgm:t>
    </dgm:pt>
    <dgm:pt modelId="{806554D4-EB54-4D42-B3F8-EA69D0F53AE9}" type="parTrans" cxnId="{D2B173AD-7C11-4E29-9188-FD1DE8AC1FE6}">
      <dgm:prSet/>
      <dgm:spPr/>
      <dgm:t>
        <a:bodyPr/>
        <a:lstStyle/>
        <a:p>
          <a:pPr algn="ctr"/>
          <a:endParaRPr lang="en-IN" sz="1800" b="1">
            <a:latin typeface="Times New Roman" pitchFamily="18" charset="0"/>
            <a:cs typeface="Times New Roman" pitchFamily="18" charset="0"/>
          </a:endParaRPr>
        </a:p>
      </dgm:t>
    </dgm:pt>
    <dgm:pt modelId="{57EF1C29-AB30-4E4E-9C62-D6D17AEA43C8}" type="sibTrans" cxnId="{D2B173AD-7C11-4E29-9188-FD1DE8AC1FE6}">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A907BFF8-1DC6-4CC3-B968-05B89B1CE6C8}">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execution</a:t>
          </a:r>
        </a:p>
      </dgm:t>
    </dgm:pt>
    <dgm:pt modelId="{DF19A846-DF57-4341-8D5D-779AB48D806C}" type="parTrans" cxnId="{EEA8B21C-F8A5-45E0-83E1-16936A45909D}">
      <dgm:prSet/>
      <dgm:spPr/>
      <dgm:t>
        <a:bodyPr/>
        <a:lstStyle/>
        <a:p>
          <a:pPr algn="ctr"/>
          <a:endParaRPr lang="en-IN" sz="1800" b="1">
            <a:latin typeface="Times New Roman" pitchFamily="18" charset="0"/>
            <a:cs typeface="Times New Roman" pitchFamily="18" charset="0"/>
          </a:endParaRPr>
        </a:p>
      </dgm:t>
    </dgm:pt>
    <dgm:pt modelId="{6703D2FB-F677-4E07-B2DA-F0B34119215E}" type="sibTrans" cxnId="{EEA8B21C-F8A5-45E0-83E1-16936A45909D}">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6F9FAE3F-30B2-44A5-969D-30BCF13438DD}">
      <dgm:prSet phldrT="[Text]" custT="1"/>
      <dgm:spPr>
        <a:solidFill>
          <a:schemeClr val="bg1">
            <a:lumMod val="65000"/>
          </a:schemeClr>
        </a:solidFill>
      </dgm:spPr>
      <dgm:t>
        <a:bodyPr/>
        <a:lstStyle/>
        <a:p>
          <a:pPr algn="ctr"/>
          <a:r>
            <a:rPr lang="en-IN" sz="1800" b="1" baseline="0" dirty="0">
              <a:solidFill>
                <a:sysClr val="windowText" lastClr="000000"/>
              </a:solidFill>
              <a:latin typeface="Times New Roman" pitchFamily="18" charset="0"/>
              <a:cs typeface="Times New Roman" pitchFamily="18" charset="0"/>
            </a:rPr>
            <a:t>Project monitoring and control</a:t>
          </a:r>
        </a:p>
      </dgm:t>
    </dgm:pt>
    <dgm:pt modelId="{6E345D51-157E-47CA-AA31-75438A4D14FA}" type="parTrans" cxnId="{BD89E30D-867C-4B2A-A105-E8FE9298EC00}">
      <dgm:prSet/>
      <dgm:spPr/>
      <dgm:t>
        <a:bodyPr/>
        <a:lstStyle/>
        <a:p>
          <a:pPr algn="ctr"/>
          <a:endParaRPr lang="en-IN" sz="1800" b="1">
            <a:latin typeface="Times New Roman" pitchFamily="18" charset="0"/>
            <a:cs typeface="Times New Roman" pitchFamily="18" charset="0"/>
          </a:endParaRPr>
        </a:p>
      </dgm:t>
    </dgm:pt>
    <dgm:pt modelId="{75CF3569-E3C2-4057-9289-B93876197355}" type="sibTrans" cxnId="{BD89E30D-867C-4B2A-A105-E8FE9298EC00}">
      <dgm:prSet custT="1"/>
      <dgm:spPr>
        <a:ln>
          <a:solidFill>
            <a:schemeClr val="tx1"/>
          </a:solidFill>
        </a:ln>
      </dgm:spPr>
      <dgm:t>
        <a:bodyPr/>
        <a:lstStyle/>
        <a:p>
          <a:pPr algn="ctr"/>
          <a:endParaRPr lang="en-IN" sz="1800" b="1">
            <a:latin typeface="Times New Roman" pitchFamily="18" charset="0"/>
            <a:cs typeface="Times New Roman" pitchFamily="18" charset="0"/>
          </a:endParaRPr>
        </a:p>
      </dgm:t>
    </dgm:pt>
    <dgm:pt modelId="{7B72F3EB-14FB-4DE1-83F7-18E16FFC04F3}">
      <dgm:prSet phldrT="[Text]" custT="1"/>
      <dgm:spPr>
        <a:solidFill>
          <a:schemeClr val="bg1">
            <a:lumMod val="65000"/>
          </a:schemeClr>
        </a:solidFill>
      </dgm:spPr>
      <dgm:t>
        <a:bodyPr/>
        <a:lstStyle/>
        <a:p>
          <a:pPr algn="ctr"/>
          <a:r>
            <a:rPr lang="en-IN" sz="1800" b="1" baseline="0">
              <a:solidFill>
                <a:sysClr val="windowText" lastClr="000000"/>
              </a:solidFill>
              <a:latin typeface="Times New Roman" pitchFamily="18" charset="0"/>
              <a:cs typeface="Times New Roman" pitchFamily="18" charset="0"/>
            </a:rPr>
            <a:t>Project closing</a:t>
          </a:r>
        </a:p>
      </dgm:t>
    </dgm:pt>
    <dgm:pt modelId="{3ADA99C3-4571-40ED-824A-86FF648C01F6}" type="parTrans" cxnId="{96DD4B75-8FA1-43E0-BFD1-BA9772914138}">
      <dgm:prSet/>
      <dgm:spPr/>
      <dgm:t>
        <a:bodyPr/>
        <a:lstStyle/>
        <a:p>
          <a:pPr algn="ctr"/>
          <a:endParaRPr lang="en-IN" sz="1800" b="1">
            <a:latin typeface="Times New Roman" pitchFamily="18" charset="0"/>
            <a:cs typeface="Times New Roman" pitchFamily="18" charset="0"/>
          </a:endParaRPr>
        </a:p>
      </dgm:t>
    </dgm:pt>
    <dgm:pt modelId="{6E60D9F8-41F1-43F5-B66D-8FBF1C696D8D}" type="sibTrans" cxnId="{96DD4B75-8FA1-43E0-BFD1-BA9772914138}">
      <dgm:prSet/>
      <dgm:spPr>
        <a:ln>
          <a:solidFill>
            <a:schemeClr val="tx1"/>
          </a:solidFill>
        </a:ln>
      </dgm:spPr>
      <dgm:t>
        <a:bodyPr/>
        <a:lstStyle/>
        <a:p>
          <a:endParaRPr lang="en-IN" sz="1800" b="1"/>
        </a:p>
      </dgm:t>
    </dgm:pt>
    <dgm:pt modelId="{3567398C-90EB-4EBB-916E-B4728ACFECD0}" type="pres">
      <dgm:prSet presAssocID="{9625EF13-053C-4EE1-80E7-C26F261DD3F3}" presName="cycle" presStyleCnt="0">
        <dgm:presLayoutVars>
          <dgm:dir/>
          <dgm:resizeHandles val="exact"/>
        </dgm:presLayoutVars>
      </dgm:prSet>
      <dgm:spPr/>
      <dgm:t>
        <a:bodyPr/>
        <a:lstStyle/>
        <a:p>
          <a:endParaRPr lang="en-IN"/>
        </a:p>
      </dgm:t>
    </dgm:pt>
    <dgm:pt modelId="{4E13C969-8EC9-4AA2-8584-76F91347EB24}" type="pres">
      <dgm:prSet presAssocID="{A4545069-5E8C-4070-A77F-F10AD9557FFA}" presName="node" presStyleLbl="node1" presStyleIdx="0" presStyleCnt="5" custScaleX="76473" custScaleY="68506" custRadScaleRad="91725" custRadScaleInc="10897">
        <dgm:presLayoutVars>
          <dgm:bulletEnabled val="1"/>
        </dgm:presLayoutVars>
      </dgm:prSet>
      <dgm:spPr/>
      <dgm:t>
        <a:bodyPr/>
        <a:lstStyle/>
        <a:p>
          <a:endParaRPr lang="en-IN"/>
        </a:p>
      </dgm:t>
    </dgm:pt>
    <dgm:pt modelId="{9809B6A4-34A9-408A-9B90-527473676A18}" type="pres">
      <dgm:prSet presAssocID="{A4545069-5E8C-4070-A77F-F10AD9557FFA}" presName="spNode" presStyleCnt="0"/>
      <dgm:spPr/>
    </dgm:pt>
    <dgm:pt modelId="{AB0A24DE-8A10-41A5-ACD2-178C99C09FEF}" type="pres">
      <dgm:prSet presAssocID="{884694B4-462C-47D0-87E3-5F9C23FDF899}" presName="sibTrans" presStyleLbl="sibTrans1D1" presStyleIdx="0" presStyleCnt="5"/>
      <dgm:spPr/>
      <dgm:t>
        <a:bodyPr/>
        <a:lstStyle/>
        <a:p>
          <a:endParaRPr lang="en-IN"/>
        </a:p>
      </dgm:t>
    </dgm:pt>
    <dgm:pt modelId="{7512461C-5B52-4FA8-A4DF-2E5982B7BFB1}" type="pres">
      <dgm:prSet presAssocID="{7869B11C-B7D4-4A4F-B1C2-8CE9A1DFDD7A}" presName="node" presStyleLbl="node1" presStyleIdx="1" presStyleCnt="5" custScaleX="81674" custScaleY="55989" custRadScaleRad="100614" custRadScaleInc="19383">
        <dgm:presLayoutVars>
          <dgm:bulletEnabled val="1"/>
        </dgm:presLayoutVars>
      </dgm:prSet>
      <dgm:spPr/>
      <dgm:t>
        <a:bodyPr/>
        <a:lstStyle/>
        <a:p>
          <a:endParaRPr lang="en-IN"/>
        </a:p>
      </dgm:t>
    </dgm:pt>
    <dgm:pt modelId="{549A3E0B-B0C9-4510-AC6B-71D0F07B6F35}" type="pres">
      <dgm:prSet presAssocID="{7869B11C-B7D4-4A4F-B1C2-8CE9A1DFDD7A}" presName="spNode" presStyleCnt="0"/>
      <dgm:spPr/>
    </dgm:pt>
    <dgm:pt modelId="{302F4554-D6FB-40F7-84A5-6F748F6F8533}" type="pres">
      <dgm:prSet presAssocID="{57EF1C29-AB30-4E4E-9C62-D6D17AEA43C8}" presName="sibTrans" presStyleLbl="sibTrans1D1" presStyleIdx="1" presStyleCnt="5"/>
      <dgm:spPr/>
      <dgm:t>
        <a:bodyPr/>
        <a:lstStyle/>
        <a:p>
          <a:endParaRPr lang="en-IN"/>
        </a:p>
      </dgm:t>
    </dgm:pt>
    <dgm:pt modelId="{4BEAF183-DCA9-4BC8-A933-0AB2AB725F70}" type="pres">
      <dgm:prSet presAssocID="{A907BFF8-1DC6-4CC3-B968-05B89B1CE6C8}" presName="node" presStyleLbl="node1" presStyleIdx="2" presStyleCnt="5" custScaleX="91980" custScaleY="68359" custRadScaleRad="105166" custRadScaleInc="-60282">
        <dgm:presLayoutVars>
          <dgm:bulletEnabled val="1"/>
        </dgm:presLayoutVars>
      </dgm:prSet>
      <dgm:spPr/>
      <dgm:t>
        <a:bodyPr/>
        <a:lstStyle/>
        <a:p>
          <a:endParaRPr lang="en-IN"/>
        </a:p>
      </dgm:t>
    </dgm:pt>
    <dgm:pt modelId="{2EFEDBB2-45BD-43A7-A754-DECA6789205E}" type="pres">
      <dgm:prSet presAssocID="{A907BFF8-1DC6-4CC3-B968-05B89B1CE6C8}" presName="spNode" presStyleCnt="0"/>
      <dgm:spPr/>
    </dgm:pt>
    <dgm:pt modelId="{B400C9F1-D8B5-4F34-8E9D-33E0FD06F196}" type="pres">
      <dgm:prSet presAssocID="{6703D2FB-F677-4E07-B2DA-F0B34119215E}" presName="sibTrans" presStyleLbl="sibTrans1D1" presStyleIdx="2" presStyleCnt="5"/>
      <dgm:spPr/>
      <dgm:t>
        <a:bodyPr/>
        <a:lstStyle/>
        <a:p>
          <a:endParaRPr lang="en-IN"/>
        </a:p>
      </dgm:t>
    </dgm:pt>
    <dgm:pt modelId="{69CA215E-090C-463E-8697-21382FC4A552}" type="pres">
      <dgm:prSet presAssocID="{6F9FAE3F-30B2-44A5-969D-30BCF13438DD}" presName="node" presStyleLbl="node1" presStyleIdx="3" presStyleCnt="5" custScaleX="121953" custScaleY="73996" custRadScaleRad="104661" custRadScaleInc="79342">
        <dgm:presLayoutVars>
          <dgm:bulletEnabled val="1"/>
        </dgm:presLayoutVars>
      </dgm:prSet>
      <dgm:spPr/>
      <dgm:t>
        <a:bodyPr/>
        <a:lstStyle/>
        <a:p>
          <a:endParaRPr lang="en-IN"/>
        </a:p>
      </dgm:t>
    </dgm:pt>
    <dgm:pt modelId="{B5DC2503-FEB9-4A31-91CF-DBC647306E89}" type="pres">
      <dgm:prSet presAssocID="{6F9FAE3F-30B2-44A5-969D-30BCF13438DD}" presName="spNode" presStyleCnt="0"/>
      <dgm:spPr/>
    </dgm:pt>
    <dgm:pt modelId="{A716563A-A122-463A-882C-18CB48371727}" type="pres">
      <dgm:prSet presAssocID="{75CF3569-E3C2-4057-9289-B93876197355}" presName="sibTrans" presStyleLbl="sibTrans1D1" presStyleIdx="3" presStyleCnt="5"/>
      <dgm:spPr/>
      <dgm:t>
        <a:bodyPr/>
        <a:lstStyle/>
        <a:p>
          <a:endParaRPr lang="en-IN"/>
        </a:p>
      </dgm:t>
    </dgm:pt>
    <dgm:pt modelId="{9324F680-944C-4FC2-9921-6C09D47ACB8C}" type="pres">
      <dgm:prSet presAssocID="{7B72F3EB-14FB-4DE1-83F7-18E16FFC04F3}" presName="node" presStyleLbl="node1" presStyleIdx="4" presStyleCnt="5" custScaleX="69487" custScaleY="65371" custRadScaleRad="95925" custRadScaleInc="21906">
        <dgm:presLayoutVars>
          <dgm:bulletEnabled val="1"/>
        </dgm:presLayoutVars>
      </dgm:prSet>
      <dgm:spPr/>
      <dgm:t>
        <a:bodyPr/>
        <a:lstStyle/>
        <a:p>
          <a:endParaRPr lang="en-IN"/>
        </a:p>
      </dgm:t>
    </dgm:pt>
    <dgm:pt modelId="{1840829F-933D-4A26-BEBA-94AD069FEE48}" type="pres">
      <dgm:prSet presAssocID="{7B72F3EB-14FB-4DE1-83F7-18E16FFC04F3}" presName="spNode" presStyleCnt="0"/>
      <dgm:spPr/>
    </dgm:pt>
    <dgm:pt modelId="{AA6441ED-859B-4A68-8D8E-4EACDC435406}" type="pres">
      <dgm:prSet presAssocID="{6E60D9F8-41F1-43F5-B66D-8FBF1C696D8D}" presName="sibTrans" presStyleLbl="sibTrans1D1" presStyleIdx="4" presStyleCnt="5"/>
      <dgm:spPr/>
      <dgm:t>
        <a:bodyPr/>
        <a:lstStyle/>
        <a:p>
          <a:endParaRPr lang="en-IN"/>
        </a:p>
      </dgm:t>
    </dgm:pt>
  </dgm:ptLst>
  <dgm:cxnLst>
    <dgm:cxn modelId="{3429D5CD-792C-41E6-BDC7-26237B8CBB86}" type="presOf" srcId="{75CF3569-E3C2-4057-9289-B93876197355}" destId="{A716563A-A122-463A-882C-18CB48371727}" srcOrd="0" destOrd="0" presId="urn:microsoft.com/office/officeart/2005/8/layout/cycle5"/>
    <dgm:cxn modelId="{D2B173AD-7C11-4E29-9188-FD1DE8AC1FE6}" srcId="{9625EF13-053C-4EE1-80E7-C26F261DD3F3}" destId="{7869B11C-B7D4-4A4F-B1C2-8CE9A1DFDD7A}" srcOrd="1" destOrd="0" parTransId="{806554D4-EB54-4D42-B3F8-EA69D0F53AE9}" sibTransId="{57EF1C29-AB30-4E4E-9C62-D6D17AEA43C8}"/>
    <dgm:cxn modelId="{EAC0FCC5-6F30-45BB-BF9C-D17F85D94BB6}" srcId="{9625EF13-053C-4EE1-80E7-C26F261DD3F3}" destId="{A4545069-5E8C-4070-A77F-F10AD9557FFA}" srcOrd="0" destOrd="0" parTransId="{F67CB6C0-EEC9-43FA-A2BC-BB5AF7CCC0CB}" sibTransId="{884694B4-462C-47D0-87E3-5F9C23FDF899}"/>
    <dgm:cxn modelId="{08A658C0-CA5E-47BB-A4D2-CC6D058961A6}" type="presOf" srcId="{A907BFF8-1DC6-4CC3-B968-05B89B1CE6C8}" destId="{4BEAF183-DCA9-4BC8-A933-0AB2AB725F70}" srcOrd="0" destOrd="0" presId="urn:microsoft.com/office/officeart/2005/8/layout/cycle5"/>
    <dgm:cxn modelId="{BD89E30D-867C-4B2A-A105-E8FE9298EC00}" srcId="{9625EF13-053C-4EE1-80E7-C26F261DD3F3}" destId="{6F9FAE3F-30B2-44A5-969D-30BCF13438DD}" srcOrd="3" destOrd="0" parTransId="{6E345D51-157E-47CA-AA31-75438A4D14FA}" sibTransId="{75CF3569-E3C2-4057-9289-B93876197355}"/>
    <dgm:cxn modelId="{40F8FAD5-5F15-4FC6-B483-E3DFE6AF6D5A}" type="presOf" srcId="{7869B11C-B7D4-4A4F-B1C2-8CE9A1DFDD7A}" destId="{7512461C-5B52-4FA8-A4DF-2E5982B7BFB1}" srcOrd="0" destOrd="0" presId="urn:microsoft.com/office/officeart/2005/8/layout/cycle5"/>
    <dgm:cxn modelId="{CB29FCE2-73DE-4110-9304-086844F869A4}" type="presOf" srcId="{884694B4-462C-47D0-87E3-5F9C23FDF899}" destId="{AB0A24DE-8A10-41A5-ACD2-178C99C09FEF}" srcOrd="0" destOrd="0" presId="urn:microsoft.com/office/officeart/2005/8/layout/cycle5"/>
    <dgm:cxn modelId="{4F811AC1-39AF-4A16-81BA-61DBC258E262}" type="presOf" srcId="{9625EF13-053C-4EE1-80E7-C26F261DD3F3}" destId="{3567398C-90EB-4EBB-916E-B4728ACFECD0}" srcOrd="0" destOrd="0" presId="urn:microsoft.com/office/officeart/2005/8/layout/cycle5"/>
    <dgm:cxn modelId="{795B53EC-1655-4DC4-BC94-3C11C7D3560C}" type="presOf" srcId="{6F9FAE3F-30B2-44A5-969D-30BCF13438DD}" destId="{69CA215E-090C-463E-8697-21382FC4A552}" srcOrd="0" destOrd="0" presId="urn:microsoft.com/office/officeart/2005/8/layout/cycle5"/>
    <dgm:cxn modelId="{A0E3D101-3519-44D1-97E5-387A79E9F852}" type="presOf" srcId="{6E60D9F8-41F1-43F5-B66D-8FBF1C696D8D}" destId="{AA6441ED-859B-4A68-8D8E-4EACDC435406}" srcOrd="0" destOrd="0" presId="urn:microsoft.com/office/officeart/2005/8/layout/cycle5"/>
    <dgm:cxn modelId="{DB32A263-9F6E-4E6B-B0D1-8D252F3DB48A}" type="presOf" srcId="{A4545069-5E8C-4070-A77F-F10AD9557FFA}" destId="{4E13C969-8EC9-4AA2-8584-76F91347EB24}" srcOrd="0" destOrd="0" presId="urn:microsoft.com/office/officeart/2005/8/layout/cycle5"/>
    <dgm:cxn modelId="{4E940B54-449D-42A7-A289-EA1D450D9A92}" type="presOf" srcId="{7B72F3EB-14FB-4DE1-83F7-18E16FFC04F3}" destId="{9324F680-944C-4FC2-9921-6C09D47ACB8C}" srcOrd="0" destOrd="0" presId="urn:microsoft.com/office/officeart/2005/8/layout/cycle5"/>
    <dgm:cxn modelId="{EEA8B21C-F8A5-45E0-83E1-16936A45909D}" srcId="{9625EF13-053C-4EE1-80E7-C26F261DD3F3}" destId="{A907BFF8-1DC6-4CC3-B968-05B89B1CE6C8}" srcOrd="2" destOrd="0" parTransId="{DF19A846-DF57-4341-8D5D-779AB48D806C}" sibTransId="{6703D2FB-F677-4E07-B2DA-F0B34119215E}"/>
    <dgm:cxn modelId="{461083EB-A53F-44ED-ABA4-1FCCF84BDE4E}" type="presOf" srcId="{6703D2FB-F677-4E07-B2DA-F0B34119215E}" destId="{B400C9F1-D8B5-4F34-8E9D-33E0FD06F196}" srcOrd="0" destOrd="0" presId="urn:microsoft.com/office/officeart/2005/8/layout/cycle5"/>
    <dgm:cxn modelId="{96DD4B75-8FA1-43E0-BFD1-BA9772914138}" srcId="{9625EF13-053C-4EE1-80E7-C26F261DD3F3}" destId="{7B72F3EB-14FB-4DE1-83F7-18E16FFC04F3}" srcOrd="4" destOrd="0" parTransId="{3ADA99C3-4571-40ED-824A-86FF648C01F6}" sibTransId="{6E60D9F8-41F1-43F5-B66D-8FBF1C696D8D}"/>
    <dgm:cxn modelId="{29F91F7A-59BC-4609-AD6C-3477B0DF0B2E}" type="presOf" srcId="{57EF1C29-AB30-4E4E-9C62-D6D17AEA43C8}" destId="{302F4554-D6FB-40F7-84A5-6F748F6F8533}" srcOrd="0" destOrd="0" presId="urn:microsoft.com/office/officeart/2005/8/layout/cycle5"/>
    <dgm:cxn modelId="{BEFB2EC0-6339-49B7-9086-3B476AE7C76C}" type="presParOf" srcId="{3567398C-90EB-4EBB-916E-B4728ACFECD0}" destId="{4E13C969-8EC9-4AA2-8584-76F91347EB24}" srcOrd="0" destOrd="0" presId="urn:microsoft.com/office/officeart/2005/8/layout/cycle5"/>
    <dgm:cxn modelId="{FA35E18C-9B6F-4834-B80B-10DFEC02472D}" type="presParOf" srcId="{3567398C-90EB-4EBB-916E-B4728ACFECD0}" destId="{9809B6A4-34A9-408A-9B90-527473676A18}" srcOrd="1" destOrd="0" presId="urn:microsoft.com/office/officeart/2005/8/layout/cycle5"/>
    <dgm:cxn modelId="{04B92466-F844-4F54-8E69-ABCC3C481838}" type="presParOf" srcId="{3567398C-90EB-4EBB-916E-B4728ACFECD0}" destId="{AB0A24DE-8A10-41A5-ACD2-178C99C09FEF}" srcOrd="2" destOrd="0" presId="urn:microsoft.com/office/officeart/2005/8/layout/cycle5"/>
    <dgm:cxn modelId="{9684FAE2-BD3C-47B7-A8D3-A7D9C211B317}" type="presParOf" srcId="{3567398C-90EB-4EBB-916E-B4728ACFECD0}" destId="{7512461C-5B52-4FA8-A4DF-2E5982B7BFB1}" srcOrd="3" destOrd="0" presId="urn:microsoft.com/office/officeart/2005/8/layout/cycle5"/>
    <dgm:cxn modelId="{AB819BE3-927E-4187-A0A4-E282CCF4A2AB}" type="presParOf" srcId="{3567398C-90EB-4EBB-916E-B4728ACFECD0}" destId="{549A3E0B-B0C9-4510-AC6B-71D0F07B6F35}" srcOrd="4" destOrd="0" presId="urn:microsoft.com/office/officeart/2005/8/layout/cycle5"/>
    <dgm:cxn modelId="{F872AF01-035B-4A01-B2E8-9D76C3649B3E}" type="presParOf" srcId="{3567398C-90EB-4EBB-916E-B4728ACFECD0}" destId="{302F4554-D6FB-40F7-84A5-6F748F6F8533}" srcOrd="5" destOrd="0" presId="urn:microsoft.com/office/officeart/2005/8/layout/cycle5"/>
    <dgm:cxn modelId="{98DE6419-FBCE-4C54-B548-2096BA53556F}" type="presParOf" srcId="{3567398C-90EB-4EBB-916E-B4728ACFECD0}" destId="{4BEAF183-DCA9-4BC8-A933-0AB2AB725F70}" srcOrd="6" destOrd="0" presId="urn:microsoft.com/office/officeart/2005/8/layout/cycle5"/>
    <dgm:cxn modelId="{2E06E4C2-A2F7-4915-987E-162D00E46872}" type="presParOf" srcId="{3567398C-90EB-4EBB-916E-B4728ACFECD0}" destId="{2EFEDBB2-45BD-43A7-A754-DECA6789205E}" srcOrd="7" destOrd="0" presId="urn:microsoft.com/office/officeart/2005/8/layout/cycle5"/>
    <dgm:cxn modelId="{15FD9B06-4C42-4CB4-9D00-0C1C4D74290D}" type="presParOf" srcId="{3567398C-90EB-4EBB-916E-B4728ACFECD0}" destId="{B400C9F1-D8B5-4F34-8E9D-33E0FD06F196}" srcOrd="8" destOrd="0" presId="urn:microsoft.com/office/officeart/2005/8/layout/cycle5"/>
    <dgm:cxn modelId="{D982815E-7249-4CA5-ADF9-E1FC5DB641C0}" type="presParOf" srcId="{3567398C-90EB-4EBB-916E-B4728ACFECD0}" destId="{69CA215E-090C-463E-8697-21382FC4A552}" srcOrd="9" destOrd="0" presId="urn:microsoft.com/office/officeart/2005/8/layout/cycle5"/>
    <dgm:cxn modelId="{9B1FB78F-4667-47CD-9440-C41820BC88C3}" type="presParOf" srcId="{3567398C-90EB-4EBB-916E-B4728ACFECD0}" destId="{B5DC2503-FEB9-4A31-91CF-DBC647306E89}" srcOrd="10" destOrd="0" presId="urn:microsoft.com/office/officeart/2005/8/layout/cycle5"/>
    <dgm:cxn modelId="{F153B37E-D800-4976-BBFA-6F72736F0D5B}" type="presParOf" srcId="{3567398C-90EB-4EBB-916E-B4728ACFECD0}" destId="{A716563A-A122-463A-882C-18CB48371727}" srcOrd="11" destOrd="0" presId="urn:microsoft.com/office/officeart/2005/8/layout/cycle5"/>
    <dgm:cxn modelId="{EA7C6CC6-2A8A-458B-B5A4-A7452171AE99}" type="presParOf" srcId="{3567398C-90EB-4EBB-916E-B4728ACFECD0}" destId="{9324F680-944C-4FC2-9921-6C09D47ACB8C}" srcOrd="12" destOrd="0" presId="urn:microsoft.com/office/officeart/2005/8/layout/cycle5"/>
    <dgm:cxn modelId="{0D655F0F-8339-4475-AEA7-CCA0AE1C8C67}" type="presParOf" srcId="{3567398C-90EB-4EBB-916E-B4728ACFECD0}" destId="{1840829F-933D-4A26-BEBA-94AD069FEE48}" srcOrd="13" destOrd="0" presId="urn:microsoft.com/office/officeart/2005/8/layout/cycle5"/>
    <dgm:cxn modelId="{9334DB2C-534B-4823-8C10-172B5B5F2629}" type="presParOf" srcId="{3567398C-90EB-4EBB-916E-B4728ACFECD0}" destId="{AA6441ED-859B-4A68-8D8E-4EACDC435406}"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3C969-8EC9-4AA2-8584-76F91347EB24}">
      <dsp:nvSpPr>
        <dsp:cNvPr id="0" name=""/>
        <dsp:cNvSpPr/>
      </dsp:nvSpPr>
      <dsp:spPr>
        <a:xfrm>
          <a:off x="2626891" y="257246"/>
          <a:ext cx="1223720" cy="712551"/>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initiation</a:t>
          </a:r>
        </a:p>
      </dsp:txBody>
      <dsp:txXfrm>
        <a:off x="2661675" y="292030"/>
        <a:ext cx="1154152" cy="642983"/>
      </dsp:txXfrm>
    </dsp:sp>
    <dsp:sp modelId="{AB0A24DE-8A10-41A5-ACD2-178C99C09FEF}">
      <dsp:nvSpPr>
        <dsp:cNvPr id="0" name=""/>
        <dsp:cNvSpPr/>
      </dsp:nvSpPr>
      <dsp:spPr>
        <a:xfrm>
          <a:off x="1188910" y="661504"/>
          <a:ext cx="4162424" cy="4162424"/>
        </a:xfrm>
        <a:custGeom>
          <a:avLst/>
          <a:gdLst/>
          <a:ahLst/>
          <a:cxnLst/>
          <a:rect l="0" t="0" r="0" b="0"/>
          <a:pathLst>
            <a:path>
              <a:moveTo>
                <a:pt x="2960795" y="195004"/>
              </a:moveTo>
              <a:arcTo wR="2081212" hR="2081212" stAng="17700045" swAng="1654631"/>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7512461C-5B52-4FA8-A4DF-2E5982B7BFB1}">
      <dsp:nvSpPr>
        <dsp:cNvPr id="0" name=""/>
        <dsp:cNvSpPr/>
      </dsp:nvSpPr>
      <dsp:spPr>
        <a:xfrm>
          <a:off x="4535595" y="1745914"/>
          <a:ext cx="1306947" cy="582358"/>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planning</a:t>
          </a:r>
        </a:p>
      </dsp:txBody>
      <dsp:txXfrm>
        <a:off x="4564023" y="1774342"/>
        <a:ext cx="1250091" cy="525502"/>
      </dsp:txXfrm>
    </dsp:sp>
    <dsp:sp modelId="{302F4554-D6FB-40F7-84A5-6F748F6F8533}">
      <dsp:nvSpPr>
        <dsp:cNvPr id="0" name=""/>
        <dsp:cNvSpPr/>
      </dsp:nvSpPr>
      <dsp:spPr>
        <a:xfrm>
          <a:off x="1106052" y="608834"/>
          <a:ext cx="4162424" cy="4162424"/>
        </a:xfrm>
        <a:custGeom>
          <a:avLst/>
          <a:gdLst/>
          <a:ahLst/>
          <a:cxnLst/>
          <a:rect l="0" t="0" r="0" b="0"/>
          <a:pathLst>
            <a:path>
              <a:moveTo>
                <a:pt x="4159214" y="1965651"/>
              </a:moveTo>
              <a:arcTo wR="2081212" hR="2081212" stAng="21409018" swAng="1260519"/>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4BEAF183-DCA9-4BC8-A933-0AB2AB725F70}">
      <dsp:nvSpPr>
        <dsp:cNvPr id="0" name=""/>
        <dsp:cNvSpPr/>
      </dsp:nvSpPr>
      <dsp:spPr>
        <a:xfrm>
          <a:off x="4103804" y="3558169"/>
          <a:ext cx="1471863" cy="711022"/>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execution</a:t>
          </a:r>
        </a:p>
      </dsp:txBody>
      <dsp:txXfrm>
        <a:off x="4138513" y="3592878"/>
        <a:ext cx="1402445" cy="641604"/>
      </dsp:txXfrm>
    </dsp:sp>
    <dsp:sp modelId="{B400C9F1-D8B5-4F34-8E9D-33E0FD06F196}">
      <dsp:nvSpPr>
        <dsp:cNvPr id="0" name=""/>
        <dsp:cNvSpPr/>
      </dsp:nvSpPr>
      <dsp:spPr>
        <a:xfrm>
          <a:off x="1073111" y="573732"/>
          <a:ext cx="4162424" cy="4162424"/>
        </a:xfrm>
        <a:custGeom>
          <a:avLst/>
          <a:gdLst/>
          <a:ahLst/>
          <a:cxnLst/>
          <a:rect l="0" t="0" r="0" b="0"/>
          <a:pathLst>
            <a:path>
              <a:moveTo>
                <a:pt x="2925705" y="3983389"/>
              </a:moveTo>
              <a:arcTo wR="2081212" hR="2081212" stAng="3963638" swAng="3161178"/>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69CA215E-090C-463E-8697-21382FC4A552}">
      <dsp:nvSpPr>
        <dsp:cNvPr id="0" name=""/>
        <dsp:cNvSpPr/>
      </dsp:nvSpPr>
      <dsp:spPr>
        <a:xfrm>
          <a:off x="390691" y="3383762"/>
          <a:ext cx="1951491" cy="769654"/>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dirty="0">
              <a:solidFill>
                <a:sysClr val="windowText" lastClr="000000"/>
              </a:solidFill>
              <a:latin typeface="Times New Roman" pitchFamily="18" charset="0"/>
              <a:cs typeface="Times New Roman" pitchFamily="18" charset="0"/>
            </a:rPr>
            <a:t>Project monitoring and control</a:t>
          </a:r>
        </a:p>
      </dsp:txBody>
      <dsp:txXfrm>
        <a:off x="428262" y="3421333"/>
        <a:ext cx="1876349" cy="694512"/>
      </dsp:txXfrm>
    </dsp:sp>
    <dsp:sp modelId="{A716563A-A122-463A-882C-18CB48371727}">
      <dsp:nvSpPr>
        <dsp:cNvPr id="0" name=""/>
        <dsp:cNvSpPr/>
      </dsp:nvSpPr>
      <dsp:spPr>
        <a:xfrm>
          <a:off x="1071102" y="728691"/>
          <a:ext cx="4162424" cy="4162424"/>
        </a:xfrm>
        <a:custGeom>
          <a:avLst/>
          <a:gdLst/>
          <a:ahLst/>
          <a:cxnLst/>
          <a:rect l="0" t="0" r="0" b="0"/>
          <a:pathLst>
            <a:path>
              <a:moveTo>
                <a:pt x="24376" y="2398816"/>
              </a:moveTo>
              <a:arcTo wR="2081212" hR="2081212" stAng="10273323" swAng="1338645"/>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9324F680-944C-4FC2-9921-6C09D47ACB8C}">
      <dsp:nvSpPr>
        <dsp:cNvPr id="0" name=""/>
        <dsp:cNvSpPr/>
      </dsp:nvSpPr>
      <dsp:spPr>
        <a:xfrm>
          <a:off x="761505" y="1392248"/>
          <a:ext cx="1111930" cy="679943"/>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1" kern="1200" baseline="0">
              <a:solidFill>
                <a:sysClr val="windowText" lastClr="000000"/>
              </a:solidFill>
              <a:latin typeface="Times New Roman" pitchFamily="18" charset="0"/>
              <a:cs typeface="Times New Roman" pitchFamily="18" charset="0"/>
            </a:rPr>
            <a:t>Project closing</a:t>
          </a:r>
        </a:p>
      </dsp:txBody>
      <dsp:txXfrm>
        <a:off x="794697" y="1425440"/>
        <a:ext cx="1045546" cy="613559"/>
      </dsp:txXfrm>
    </dsp:sp>
    <dsp:sp modelId="{AA6441ED-859B-4A68-8D8E-4EACDC435406}">
      <dsp:nvSpPr>
        <dsp:cNvPr id="0" name=""/>
        <dsp:cNvSpPr/>
      </dsp:nvSpPr>
      <dsp:spPr>
        <a:xfrm>
          <a:off x="1036249" y="626430"/>
          <a:ext cx="4162424" cy="4162424"/>
        </a:xfrm>
        <a:custGeom>
          <a:avLst/>
          <a:gdLst/>
          <a:ahLst/>
          <a:cxnLst/>
          <a:rect l="0" t="0" r="0" b="0"/>
          <a:pathLst>
            <a:path>
              <a:moveTo>
                <a:pt x="648701" y="571458"/>
              </a:moveTo>
              <a:arcTo wR="2081212" hR="2081212" stAng="13590230" swAng="1353533"/>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FAB55B-8060-4334-B3F4-E00E744B04F7}" type="datetimeFigureOut">
              <a:rPr lang="en-IN" smtClean="0"/>
              <a:pPr/>
              <a:t>05-02-2026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1E6871-E79D-4FFD-A6D6-476B5F6A5FEF}" type="slidenum">
              <a:rPr lang="en-IN" smtClean="0"/>
              <a:pPr/>
              <a:t>‹#›</a:t>
            </a:fld>
            <a:endParaRPr lang="en-IN"/>
          </a:p>
        </p:txBody>
      </p:sp>
    </p:spTree>
    <p:extLst>
      <p:ext uri="{BB962C8B-B14F-4D97-AF65-F5344CB8AC3E}">
        <p14:creationId xmlns:p14="http://schemas.microsoft.com/office/powerpoint/2010/main" val="33459562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ABE418-337B-4933-B86B-1F6EFCC97095}" type="datetimeFigureOut">
              <a:rPr lang="en-IN" smtClean="0"/>
              <a:pPr/>
              <a:t>05-02-2026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BC1DF-EE50-4D88-9503-331CD839A608}" type="slidenum">
              <a:rPr lang="en-IN" smtClean="0"/>
              <a:pPr/>
              <a:t>‹#›</a:t>
            </a:fld>
            <a:endParaRPr lang="en-IN"/>
          </a:p>
        </p:txBody>
      </p:sp>
    </p:spTree>
    <p:extLst>
      <p:ext uri="{BB962C8B-B14F-4D97-AF65-F5344CB8AC3E}">
        <p14:creationId xmlns:p14="http://schemas.microsoft.com/office/powerpoint/2010/main" val="140749396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1139626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lvl1pPr>
              <a:defRPr sz="3200" b="1">
                <a:solidFill>
                  <a:srgbClr val="0000FF"/>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066800"/>
            <a:ext cx="8229600" cy="5562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a:bodyPr>
          <a:lstStyle/>
          <a:p>
            <a:r>
              <a:rPr lang="en-IN" sz="4400" b="1" dirty="0" smtClean="0">
                <a:solidFill>
                  <a:srgbClr val="0000FF"/>
                </a:solidFill>
                <a:latin typeface="Times New Roman" pitchFamily="18" charset="0"/>
                <a:cs typeface="Times New Roman" pitchFamily="18" charset="0"/>
              </a:rPr>
              <a:t>Chapter - 4</a:t>
            </a:r>
            <a:endParaRPr lang="en-IN" sz="44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2438400"/>
            <a:ext cx="8229600" cy="4191000"/>
          </a:xfrm>
        </p:spPr>
        <p:txBody>
          <a:bodyPr>
            <a:normAutofit/>
          </a:bodyPr>
          <a:lstStyle/>
          <a:p>
            <a:pPr algn="ctr">
              <a:buNone/>
            </a:pPr>
            <a:r>
              <a:rPr lang="en-IN" sz="4400" b="1" dirty="0" smtClean="0">
                <a:latin typeface="Times New Roman" pitchFamily="18" charset="0"/>
                <a:cs typeface="Times New Roman" pitchFamily="18" charset="0"/>
              </a:rPr>
              <a:t>Software Project Management</a:t>
            </a:r>
            <a:endParaRPr lang="en-IN" sz="4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Introduction</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r>
              <a:rPr lang="en-US" sz="2400" dirty="0" smtClean="0"/>
              <a:t>Software project management is an activity crucial to the success of software projects.</a:t>
            </a:r>
          </a:p>
          <a:p>
            <a:r>
              <a:rPr lang="en-US" sz="2400" dirty="0" smtClean="0"/>
              <a:t>Software products are more complex entities in which defects are mostly discovered during development. </a:t>
            </a:r>
          </a:p>
          <a:p>
            <a:r>
              <a:rPr lang="en-US" sz="2400" dirty="0" smtClean="0"/>
              <a:t>Software changes are limited to changes in programs and the volume of change depends on understanding requirements of customers and developers.</a:t>
            </a:r>
            <a:r>
              <a:rPr lang="en-IN" sz="2400" dirty="0" smtClean="0"/>
              <a:t> </a:t>
            </a:r>
            <a:r>
              <a:rPr lang="en-US" sz="2400" dirty="0" smtClean="0"/>
              <a:t> </a:t>
            </a:r>
          </a:p>
          <a:p>
            <a:r>
              <a:rPr lang="en-US" sz="2400" dirty="0" smtClean="0"/>
              <a:t>In the current scenario, people working on a project to develop software are geographically distributed; hence, proper coordination and communication management is required among them.</a:t>
            </a:r>
            <a:endParaRPr lang="en-IN"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Goal of SPM</a:t>
            </a:r>
            <a:endParaRPr lang="en-IN" dirty="0"/>
          </a:p>
        </p:txBody>
      </p:sp>
      <p:sp>
        <p:nvSpPr>
          <p:cNvPr id="3" name="Content Placeholder 2"/>
          <p:cNvSpPr>
            <a:spLocks noGrp="1"/>
          </p:cNvSpPr>
          <p:nvPr>
            <p:ph idx="1"/>
          </p:nvPr>
        </p:nvSpPr>
        <p:spPr>
          <a:xfrm>
            <a:off x="457200" y="1447800"/>
            <a:ext cx="8229600" cy="5181600"/>
          </a:xfrm>
        </p:spPr>
        <p:txBody>
          <a:bodyPr>
            <a:normAutofit/>
          </a:bodyPr>
          <a:lstStyle/>
          <a:p>
            <a:r>
              <a:rPr lang="en-US" sz="2400" smtClean="0"/>
              <a:t>Development of quality software is the primary objective of software project management.   </a:t>
            </a:r>
            <a:endParaRPr lang="en-IN" sz="2400" smtClean="0"/>
          </a:p>
          <a:p>
            <a:r>
              <a:rPr lang="en-US" sz="2400" i="1" smtClean="0"/>
              <a:t>The goal of software project management is to enable a group of people to work efficiently on a project, using a systematic process, in order to produce a quality software product. </a:t>
            </a:r>
          </a:p>
          <a:p>
            <a:r>
              <a:rPr lang="en-US" sz="2400" smtClean="0"/>
              <a:t>Software project management uses a more established and specialized approach as compared to general project management.</a:t>
            </a:r>
            <a:endParaRPr lang="en-IN"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Essentials</a:t>
            </a:r>
            <a:endParaRPr lang="en-IN" dirty="0"/>
          </a:p>
        </p:txBody>
      </p:sp>
      <p:sp>
        <p:nvSpPr>
          <p:cNvPr id="206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049" name="Group 1"/>
          <p:cNvGrpSpPr>
            <a:grpSpLocks noChangeAspect="1"/>
          </p:cNvGrpSpPr>
          <p:nvPr/>
        </p:nvGrpSpPr>
        <p:grpSpPr bwMode="auto">
          <a:xfrm>
            <a:off x="1524000" y="1600200"/>
            <a:ext cx="6934200" cy="4659072"/>
            <a:chOff x="3692" y="3058"/>
            <a:chExt cx="4731" cy="3386"/>
          </a:xfrm>
        </p:grpSpPr>
        <p:sp>
          <p:nvSpPr>
            <p:cNvPr id="2060" name="AutoShape 12"/>
            <p:cNvSpPr>
              <a:spLocks noChangeAspect="1" noChangeArrowheads="1" noTextEdit="1"/>
            </p:cNvSpPr>
            <p:nvPr/>
          </p:nvSpPr>
          <p:spPr bwMode="auto">
            <a:xfrm>
              <a:off x="3692" y="3058"/>
              <a:ext cx="4731" cy="3386"/>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9" name="Oval 11"/>
            <p:cNvSpPr>
              <a:spLocks noChangeArrowheads="1"/>
            </p:cNvSpPr>
            <p:nvPr/>
          </p:nvSpPr>
          <p:spPr bwMode="auto">
            <a:xfrm>
              <a:off x="5181" y="3739"/>
              <a:ext cx="1477" cy="1292"/>
            </a:xfrm>
            <a:prstGeom prst="ellipse">
              <a:avLst/>
            </a:prstGeom>
            <a:solidFill>
              <a:schemeClr val="bg1">
                <a:lumMod val="95000"/>
              </a:schemeClr>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Software project management</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8" name="AutoShape 10"/>
            <p:cNvSpPr>
              <a:spLocks noChangeArrowheads="1"/>
            </p:cNvSpPr>
            <p:nvPr/>
          </p:nvSpPr>
          <p:spPr bwMode="auto">
            <a:xfrm>
              <a:off x="3750" y="3196"/>
              <a:ext cx="819" cy="416"/>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People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7" name="AutoShape 9"/>
            <p:cNvSpPr>
              <a:spLocks noChangeArrowheads="1"/>
            </p:cNvSpPr>
            <p:nvPr/>
          </p:nvSpPr>
          <p:spPr bwMode="auto">
            <a:xfrm>
              <a:off x="7189" y="5354"/>
              <a:ext cx="899" cy="414"/>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6" name="AutoShape 8"/>
            <p:cNvSpPr>
              <a:spLocks noChangeArrowheads="1"/>
            </p:cNvSpPr>
            <p:nvPr/>
          </p:nvSpPr>
          <p:spPr bwMode="auto">
            <a:xfrm>
              <a:off x="7339" y="3196"/>
              <a:ext cx="830" cy="415"/>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Process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5" name="AutoShape 7"/>
            <p:cNvSpPr>
              <a:spLocks noChangeArrowheads="1"/>
            </p:cNvSpPr>
            <p:nvPr/>
          </p:nvSpPr>
          <p:spPr bwMode="auto">
            <a:xfrm>
              <a:off x="3819" y="5354"/>
              <a:ext cx="852" cy="416"/>
            </a:xfrm>
            <a:prstGeom prst="roundRect">
              <a:avLst>
                <a:gd name="adj" fmla="val 16667"/>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54" name="AutoShape 6"/>
            <p:cNvSpPr>
              <a:spLocks noChangeShapeType="1"/>
            </p:cNvSpPr>
            <p:nvPr/>
          </p:nvSpPr>
          <p:spPr bwMode="auto">
            <a:xfrm>
              <a:off x="4587" y="3556"/>
              <a:ext cx="810" cy="37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3" name="AutoShape 5"/>
            <p:cNvSpPr>
              <a:spLocks noChangeShapeType="1"/>
            </p:cNvSpPr>
            <p:nvPr/>
          </p:nvSpPr>
          <p:spPr bwMode="auto">
            <a:xfrm flipV="1">
              <a:off x="4587" y="4842"/>
              <a:ext cx="810" cy="51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2" name="AutoShape 4"/>
            <p:cNvSpPr>
              <a:spLocks noChangeShapeType="1"/>
            </p:cNvSpPr>
            <p:nvPr/>
          </p:nvSpPr>
          <p:spPr bwMode="auto">
            <a:xfrm flipV="1">
              <a:off x="6442" y="3556"/>
              <a:ext cx="897" cy="37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1" name="AutoShape 3"/>
            <p:cNvSpPr>
              <a:spLocks noChangeShapeType="1"/>
            </p:cNvSpPr>
            <p:nvPr/>
          </p:nvSpPr>
          <p:spPr bwMode="auto">
            <a:xfrm>
              <a:off x="6442" y="4842"/>
              <a:ext cx="889" cy="51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2050" name="Text Box 2"/>
            <p:cNvSpPr txBox="1">
              <a:spLocks noChangeArrowheads="1"/>
            </p:cNvSpPr>
            <p:nvPr/>
          </p:nvSpPr>
          <p:spPr bwMode="auto">
            <a:xfrm>
              <a:off x="3750" y="6167"/>
              <a:ext cx="4189" cy="277"/>
            </a:xfrm>
            <a:prstGeom prst="rect">
              <a:avLst/>
            </a:prstGeom>
            <a:solidFill>
              <a:schemeClr val="bg1">
                <a:lumMod val="95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n-US" sz="2000" b="1" dirty="0" smtClean="0">
                  <a:latin typeface="Times New Roman" pitchFamily="18" charset="0"/>
                  <a:ea typeface="Times New Roman" pitchFamily="18" charset="0"/>
                  <a:cs typeface="Times New Roman" pitchFamily="18" charset="0"/>
                </a:rPr>
                <a:t>Figure 4.1: Software project management essentials</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r>
              <a:rPr lang="en-US" sz="2400" smtClean="0"/>
              <a:t>A </a:t>
            </a:r>
            <a:r>
              <a:rPr lang="en-US" sz="2400" i="1" smtClean="0"/>
              <a:t>project</a:t>
            </a:r>
            <a:r>
              <a:rPr lang="en-US" sz="2400" smtClean="0"/>
              <a:t> is a temporary endeavor with defined starting and ending deadlines, roles and responsibilities, conditions, budgets and plans, undertaken to accomplish aim and objectives. </a:t>
            </a:r>
          </a:p>
          <a:p>
            <a:r>
              <a:rPr lang="en-US" sz="2400" smtClean="0"/>
              <a:t>Each project has a unique purpose even if there are multiple projects in a single domain. </a:t>
            </a:r>
          </a:p>
          <a:p>
            <a:r>
              <a:rPr lang="en-US" sz="2400" smtClean="0"/>
              <a:t>Projects are basically temporary in nature due to their flexibility to change. </a:t>
            </a:r>
          </a:p>
          <a:p>
            <a:r>
              <a:rPr lang="en-US" sz="2400" smtClean="0"/>
              <a:t>Uncertainties are involved in a software project.</a:t>
            </a:r>
          </a:p>
          <a:p>
            <a:r>
              <a:rPr lang="en-US" sz="2400" smtClean="0"/>
              <a:t>Requires resources (hardware, software, and human resources), typically from different areas.</a:t>
            </a:r>
            <a:endParaRPr lang="en-IN"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People</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r>
              <a:rPr lang="en-US" sz="2400" i="1" smtClean="0"/>
              <a:t>People (or stakeholders) in a project are those who are either involved in or are affected by the project.</a:t>
            </a:r>
            <a:r>
              <a:rPr lang="en-US" sz="2400" smtClean="0"/>
              <a:t> </a:t>
            </a:r>
          </a:p>
          <a:p>
            <a:r>
              <a:rPr lang="en-US" sz="2400" smtClean="0"/>
              <a:t>Each person in the project has certain roles and responsibilities according to their skill sets. </a:t>
            </a:r>
          </a:p>
          <a:p>
            <a:r>
              <a:rPr lang="en-US" sz="2400" smtClean="0"/>
              <a:t>They should be motivated, trained, rewarded, deployed, and retained as and when required to improve their capabilities.</a:t>
            </a:r>
          </a:p>
          <a:p>
            <a:r>
              <a:rPr lang="en-US" sz="2400" smtClean="0"/>
              <a:t>Poor management sometimes leads to project failures.</a:t>
            </a:r>
            <a:endParaRPr lang="en-IN"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People Involved in Project</a:t>
            </a:r>
            <a:endParaRPr lang="en-IN" dirty="0"/>
          </a:p>
        </p:txBody>
      </p:sp>
      <p:sp>
        <p:nvSpPr>
          <p:cNvPr id="3" name="Content Placeholder 2"/>
          <p:cNvSpPr>
            <a:spLocks noGrp="1"/>
          </p:cNvSpPr>
          <p:nvPr>
            <p:ph idx="1"/>
          </p:nvPr>
        </p:nvSpPr>
        <p:spPr>
          <a:xfrm>
            <a:off x="1524000" y="1371600"/>
            <a:ext cx="7162800" cy="5257800"/>
          </a:xfrm>
        </p:spPr>
        <p:txBody>
          <a:bodyPr>
            <a:normAutofit/>
          </a:bodyPr>
          <a:lstStyle/>
          <a:p>
            <a:r>
              <a:rPr lang="en-IN" sz="2400" smtClean="0"/>
              <a:t>Senior Managers</a:t>
            </a:r>
          </a:p>
          <a:p>
            <a:r>
              <a:rPr lang="en-IN" sz="2400" smtClean="0"/>
              <a:t>Project Managers</a:t>
            </a:r>
          </a:p>
          <a:p>
            <a:r>
              <a:rPr lang="en-IN" sz="2400" smtClean="0"/>
              <a:t>Programmers</a:t>
            </a:r>
          </a:p>
          <a:p>
            <a:r>
              <a:rPr lang="en-IN" sz="2400" smtClean="0"/>
              <a:t>Support Staff</a:t>
            </a:r>
          </a:p>
          <a:p>
            <a:r>
              <a:rPr lang="en-IN" sz="2400" smtClean="0"/>
              <a:t>Customers</a:t>
            </a:r>
          </a:p>
          <a:p>
            <a:r>
              <a:rPr lang="en-IN" sz="2400" smtClean="0"/>
              <a:t>End Users</a:t>
            </a:r>
          </a:p>
          <a:p>
            <a:r>
              <a:rPr lang="en-IN" sz="2400" smtClean="0"/>
              <a:t>Project Sponsors</a:t>
            </a:r>
          </a:p>
          <a:p>
            <a:r>
              <a:rPr lang="en-IN" sz="2400" smtClean="0"/>
              <a:t>Competitors </a:t>
            </a:r>
          </a:p>
          <a:p>
            <a:r>
              <a:rPr lang="en-IN" sz="2400" smtClean="0"/>
              <a:t>Suppliers </a:t>
            </a:r>
            <a:endParaRPr lang="en-IN"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Process</a:t>
            </a:r>
            <a:endParaRPr lang="en-IN" dirty="0"/>
          </a:p>
        </p:txBody>
      </p:sp>
      <p:sp>
        <p:nvSpPr>
          <p:cNvPr id="3" name="Content Placeholder 2"/>
          <p:cNvSpPr>
            <a:spLocks noGrp="1"/>
          </p:cNvSpPr>
          <p:nvPr>
            <p:ph idx="1"/>
          </p:nvPr>
        </p:nvSpPr>
        <p:spPr>
          <a:xfrm>
            <a:off x="457200" y="1371600"/>
            <a:ext cx="8229600" cy="4724400"/>
          </a:xfrm>
        </p:spPr>
        <p:txBody>
          <a:bodyPr>
            <a:normAutofit/>
          </a:bodyPr>
          <a:lstStyle/>
          <a:p>
            <a:r>
              <a:rPr lang="en-US" sz="2400" smtClean="0"/>
              <a:t>A software process describes the characteristics and organization of activities in order to produce software. </a:t>
            </a:r>
          </a:p>
          <a:p>
            <a:r>
              <a:rPr lang="en-US" sz="2400" smtClean="0"/>
              <a:t>The general activities of software processes include </a:t>
            </a:r>
          </a:p>
          <a:p>
            <a:pPr lvl="1"/>
            <a:r>
              <a:rPr lang="en-US" sz="2400" smtClean="0"/>
              <a:t>Definition</a:t>
            </a:r>
          </a:p>
          <a:p>
            <a:pPr lvl="1"/>
            <a:r>
              <a:rPr lang="en-US" sz="2400" smtClean="0"/>
              <a:t>Development</a:t>
            </a:r>
          </a:p>
          <a:p>
            <a:pPr lvl="1"/>
            <a:r>
              <a:rPr lang="en-US" sz="2400" smtClean="0"/>
              <a:t>Implementation</a:t>
            </a:r>
            <a:endParaRPr lang="en-IN" sz="2400" smtClean="0"/>
          </a:p>
          <a:p>
            <a:r>
              <a:rPr lang="en-US" sz="2400" smtClean="0"/>
              <a:t>The selection of an appropriate software process model according to the project is a challenge for the project manager. </a:t>
            </a:r>
          </a:p>
          <a:p>
            <a:r>
              <a:rPr lang="en-US" sz="2400" smtClean="0"/>
              <a:t>Process models ultimately affect the product quality.</a:t>
            </a:r>
            <a:endParaRPr lang="en-US" sz="24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Product</a:t>
            </a:r>
            <a:endParaRPr lang="en-IN" dirty="0"/>
          </a:p>
        </p:txBody>
      </p:sp>
      <p:sp>
        <p:nvSpPr>
          <p:cNvPr id="3" name="Content Placeholder 2"/>
          <p:cNvSpPr>
            <a:spLocks noGrp="1"/>
          </p:cNvSpPr>
          <p:nvPr>
            <p:ph idx="1"/>
          </p:nvPr>
        </p:nvSpPr>
        <p:spPr>
          <a:xfrm>
            <a:off x="457200" y="1447800"/>
            <a:ext cx="8229600" cy="5181600"/>
          </a:xfrm>
        </p:spPr>
        <p:txBody>
          <a:bodyPr>
            <a:normAutofit/>
          </a:bodyPr>
          <a:lstStyle/>
          <a:p>
            <a:r>
              <a:rPr lang="en-US" sz="2400" smtClean="0"/>
              <a:t>A product is the final outcome of a project. </a:t>
            </a:r>
          </a:p>
          <a:p>
            <a:r>
              <a:rPr lang="en-US" sz="2400" smtClean="0"/>
              <a:t>It is produced with an effective project management process. </a:t>
            </a:r>
          </a:p>
          <a:p>
            <a:r>
              <a:rPr lang="en-US" sz="2400" smtClean="0"/>
              <a:t>The project manager must determine the requirements and the expected outcomes at the beginning of the project. </a:t>
            </a:r>
          </a:p>
          <a:p>
            <a:r>
              <a:rPr lang="en-US" sz="2400" smtClean="0"/>
              <a:t>Project scope of the product must be clearly defined, which helps us to produce a quality product. </a:t>
            </a:r>
          </a:p>
          <a:p>
            <a:r>
              <a:rPr lang="en-US" sz="2400" smtClean="0"/>
              <a:t>Project scope is refined into discrete functional units and the development schedule is planned for each functional units. </a:t>
            </a:r>
          </a:p>
          <a:p>
            <a:r>
              <a:rPr lang="en-US" sz="2400" smtClean="0"/>
              <a:t>The quality of the product also depends on the process being used for product development.</a:t>
            </a:r>
            <a:endParaRPr lang="en-IN"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Project Management?</a:t>
            </a:r>
            <a:endParaRPr lang="en-IN" dirty="0"/>
          </a:p>
        </p:txBody>
      </p:sp>
      <p:sp>
        <p:nvSpPr>
          <p:cNvPr id="3" name="Content Placeholder 2"/>
          <p:cNvSpPr>
            <a:spLocks noGrp="1"/>
          </p:cNvSpPr>
          <p:nvPr>
            <p:ph idx="1"/>
          </p:nvPr>
        </p:nvSpPr>
        <p:spPr>
          <a:xfrm>
            <a:off x="457200" y="1295400"/>
            <a:ext cx="8229600" cy="5257800"/>
          </a:xfrm>
        </p:spPr>
        <p:txBody>
          <a:bodyPr>
            <a:normAutofit fontScale="85000" lnSpcReduction="10000"/>
          </a:bodyPr>
          <a:lstStyle/>
          <a:p>
            <a:r>
              <a:rPr lang="en-IN" sz="2800" dirty="0" smtClean="0"/>
              <a:t>Effective project management has a direct impact on the project success and organizational growth.</a:t>
            </a:r>
            <a:endParaRPr lang="en-US" sz="2800" i="1" dirty="0" smtClean="0"/>
          </a:p>
          <a:p>
            <a:r>
              <a:rPr lang="en-IN" sz="2800" dirty="0" smtClean="0"/>
              <a:t>Good project management produces a quality product, provides sufficient communication across the team, reduces risks, and defines strategic objectives and goals. Project management is necessary to find the pitfalls and create outlets to avoid the unintended consequences of the project.</a:t>
            </a:r>
            <a:endParaRPr lang="en-US" sz="2800" i="1" dirty="0" smtClean="0"/>
          </a:p>
          <a:p>
            <a:r>
              <a:rPr lang="en-US" sz="2800" i="1" dirty="0" smtClean="0"/>
              <a:t>Project management is the application of knowledge, skills, tools, and techniques for performing project activities in order to satisfy the expectations of the stakeholders from a project.</a:t>
            </a:r>
          </a:p>
          <a:p>
            <a:r>
              <a:rPr lang="en-US" sz="2800" dirty="0" smtClean="0"/>
              <a:t>Project management is necessary to find the pitfalls and create outlets to avoid the unintended consequences of the project. </a:t>
            </a:r>
          </a:p>
          <a:p>
            <a:r>
              <a:rPr lang="en-US" sz="2800" dirty="0" smtClean="0"/>
              <a:t>Software project management is the key to successful delivery of software projects as per customers’ expectations. </a:t>
            </a:r>
            <a:endParaRPr lang="en-IN"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Knowledge Areas</a:t>
            </a:r>
            <a:endParaRPr lang="en-IN" dirty="0"/>
          </a:p>
        </p:txBody>
      </p:sp>
      <p:sp>
        <p:nvSpPr>
          <p:cNvPr id="3" name="Content Placeholder 2"/>
          <p:cNvSpPr>
            <a:spLocks noGrp="1"/>
          </p:cNvSpPr>
          <p:nvPr>
            <p:ph idx="1"/>
          </p:nvPr>
        </p:nvSpPr>
        <p:spPr/>
        <p:txBody>
          <a:bodyPr>
            <a:noAutofit/>
          </a:bodyPr>
          <a:lstStyle/>
          <a:p>
            <a:r>
              <a:rPr lang="en-US" sz="2400" dirty="0" smtClean="0"/>
              <a:t>The knowledge areas are the competencies of the process, practice, tools, and techniques that the project managers must have for managing the projects. </a:t>
            </a:r>
          </a:p>
          <a:p>
            <a:r>
              <a:rPr lang="en-US" sz="2400" dirty="0" smtClean="0"/>
              <a:t>The main knowledge areas for project management are:</a:t>
            </a:r>
          </a:p>
          <a:p>
            <a:pPr lvl="1"/>
            <a:r>
              <a:rPr lang="en-US" sz="2400" dirty="0" smtClean="0"/>
              <a:t>Scope			</a:t>
            </a:r>
          </a:p>
          <a:p>
            <a:pPr lvl="1"/>
            <a:r>
              <a:rPr lang="en-US" sz="2400" dirty="0" smtClean="0"/>
              <a:t>Time</a:t>
            </a:r>
          </a:p>
          <a:p>
            <a:pPr lvl="1"/>
            <a:r>
              <a:rPr lang="en-US" sz="2400" dirty="0" smtClean="0"/>
              <a:t>Cost</a:t>
            </a:r>
          </a:p>
          <a:p>
            <a:pPr lvl="1"/>
            <a:r>
              <a:rPr lang="en-US" sz="2400" dirty="0" smtClean="0"/>
              <a:t>Quality</a:t>
            </a:r>
          </a:p>
          <a:p>
            <a:pPr lvl="1"/>
            <a:r>
              <a:rPr lang="en-US" sz="2400" dirty="0" smtClean="0"/>
              <a:t>People</a:t>
            </a:r>
          </a:p>
          <a:p>
            <a:pPr lvl="1"/>
            <a:r>
              <a:rPr lang="en-US" sz="2400" dirty="0" smtClean="0"/>
              <a:t>Communications</a:t>
            </a:r>
          </a:p>
          <a:p>
            <a:pPr lvl="1"/>
            <a:r>
              <a:rPr lang="en-US" sz="2400" dirty="0" smtClean="0"/>
              <a:t>Risk, </a:t>
            </a:r>
          </a:p>
          <a:p>
            <a:pPr lvl="1"/>
            <a:r>
              <a:rPr lang="en-US" sz="2400" dirty="0" smtClean="0"/>
              <a:t>Procurement</a:t>
            </a:r>
          </a:p>
          <a:p>
            <a:pPr lvl="1"/>
            <a:r>
              <a:rPr lang="en-US" sz="2400" dirty="0" smtClean="0"/>
              <a:t>Project Integration Management</a:t>
            </a:r>
            <a:endParaRPr lang="en-IN"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Knowledge Areas</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r>
              <a:rPr lang="en-US" sz="2400" dirty="0" smtClean="0"/>
              <a:t>Each of these knowledge areas has some processes for its execution in order to achieve an effective project management program. </a:t>
            </a:r>
          </a:p>
          <a:p>
            <a:r>
              <a:rPr lang="en-US" sz="2400" dirty="0" smtClean="0"/>
              <a:t>Project management skills include:</a:t>
            </a:r>
          </a:p>
          <a:p>
            <a:pPr lvl="1"/>
            <a:r>
              <a:rPr lang="en-US" sz="2400" dirty="0" smtClean="0"/>
              <a:t>General Management</a:t>
            </a:r>
          </a:p>
          <a:p>
            <a:pPr lvl="1"/>
            <a:r>
              <a:rPr lang="en-US" sz="2400" dirty="0" smtClean="0"/>
              <a:t>Human Resource Management</a:t>
            </a:r>
          </a:p>
          <a:p>
            <a:pPr lvl="1"/>
            <a:r>
              <a:rPr lang="en-US" sz="2400" dirty="0" smtClean="0"/>
              <a:t>Procurement Management</a:t>
            </a:r>
          </a:p>
          <a:p>
            <a:pPr lvl="1"/>
            <a:r>
              <a:rPr lang="en-US" sz="2400" dirty="0" smtClean="0"/>
              <a:t>Communication Management</a:t>
            </a:r>
          </a:p>
          <a:p>
            <a:pPr lvl="1"/>
            <a:r>
              <a:rPr lang="en-US" sz="2400" dirty="0" smtClean="0"/>
              <a:t>Risk Management. </a:t>
            </a:r>
          </a:p>
          <a:p>
            <a:r>
              <a:rPr lang="en-US" sz="2400" dirty="0" smtClean="0"/>
              <a:t>Project management tools and techniques assist in carrying out the activities of project managers. </a:t>
            </a:r>
            <a:endParaRPr lang="en-IN"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Failures</a:t>
            </a:r>
            <a:endParaRPr lang="en-IN" dirty="0"/>
          </a:p>
        </p:txBody>
      </p:sp>
      <p:sp>
        <p:nvSpPr>
          <p:cNvPr id="3" name="Content Placeholder 2"/>
          <p:cNvSpPr>
            <a:spLocks noGrp="1"/>
          </p:cNvSpPr>
          <p:nvPr>
            <p:ph idx="1"/>
          </p:nvPr>
        </p:nvSpPr>
        <p:spPr>
          <a:xfrm>
            <a:off x="457200" y="1143000"/>
            <a:ext cx="8229600" cy="5257800"/>
          </a:xfrm>
        </p:spPr>
        <p:txBody>
          <a:bodyPr>
            <a:normAutofit/>
          </a:bodyPr>
          <a:lstStyle/>
          <a:p>
            <a:pPr lvl="0"/>
            <a:r>
              <a:rPr lang="en-US" sz="2000" dirty="0" smtClean="0"/>
              <a:t>Inability to clearly understand customer needs</a:t>
            </a:r>
            <a:endParaRPr lang="en-IN" sz="2000" dirty="0" smtClean="0"/>
          </a:p>
          <a:p>
            <a:pPr lvl="0"/>
            <a:r>
              <a:rPr lang="en-US" sz="2000" dirty="0" smtClean="0"/>
              <a:t>Lack of user involvement </a:t>
            </a:r>
            <a:endParaRPr lang="en-IN" sz="2000" dirty="0" smtClean="0"/>
          </a:p>
          <a:p>
            <a:pPr lvl="0"/>
            <a:r>
              <a:rPr lang="en-US" sz="2000" dirty="0" smtClean="0"/>
              <a:t>Unrealistic expectations</a:t>
            </a:r>
            <a:endParaRPr lang="en-IN" sz="2000" dirty="0" smtClean="0"/>
          </a:p>
          <a:p>
            <a:pPr lvl="0"/>
            <a:r>
              <a:rPr lang="en-US" sz="2000" dirty="0" smtClean="0"/>
              <a:t>Lack of top management support </a:t>
            </a:r>
            <a:endParaRPr lang="en-IN" sz="2000" dirty="0" smtClean="0"/>
          </a:p>
          <a:p>
            <a:pPr lvl="0"/>
            <a:r>
              <a:rPr lang="en-US" sz="2000" dirty="0" smtClean="0"/>
              <a:t>Incomplete requirements and specifications</a:t>
            </a:r>
            <a:endParaRPr lang="en-IN" sz="2000" dirty="0" smtClean="0"/>
          </a:p>
          <a:p>
            <a:pPr lvl="0"/>
            <a:r>
              <a:rPr lang="en-US" sz="2000" dirty="0" smtClean="0"/>
              <a:t>Lack of resources (hardware, software, and people)</a:t>
            </a:r>
            <a:endParaRPr lang="en-IN" sz="2000" dirty="0" smtClean="0"/>
          </a:p>
          <a:p>
            <a:pPr lvl="0"/>
            <a:r>
              <a:rPr lang="en-US" sz="2000" dirty="0" smtClean="0"/>
              <a:t>Lack of good planning</a:t>
            </a:r>
            <a:endParaRPr lang="en-IN" sz="2000" dirty="0" smtClean="0"/>
          </a:p>
          <a:p>
            <a:pPr lvl="0"/>
            <a:r>
              <a:rPr lang="en-US" sz="2000" dirty="0" smtClean="0"/>
              <a:t>Technical incompetence</a:t>
            </a:r>
            <a:endParaRPr lang="en-IN" sz="2000" dirty="0" smtClean="0"/>
          </a:p>
          <a:p>
            <a:pPr lvl="0"/>
            <a:r>
              <a:rPr lang="en-US" sz="2000" dirty="0" smtClean="0"/>
              <a:t>Changing business needs and requirements </a:t>
            </a:r>
            <a:endParaRPr lang="en-IN" sz="2000" dirty="0" smtClean="0"/>
          </a:p>
          <a:p>
            <a:pPr lvl="0"/>
            <a:r>
              <a:rPr lang="en-US" sz="2000" dirty="0" smtClean="0"/>
              <a:t>Changes are managed poorly</a:t>
            </a:r>
            <a:endParaRPr lang="en-IN" sz="2000" dirty="0" smtClean="0"/>
          </a:p>
          <a:p>
            <a:pPr lvl="0"/>
            <a:r>
              <a:rPr lang="en-US" sz="2000" dirty="0" smtClean="0"/>
              <a:t>Lack of best practices</a:t>
            </a:r>
            <a:endParaRPr lang="en-IN" sz="2000" dirty="0" smtClean="0"/>
          </a:p>
          <a:p>
            <a:pPr lvl="0"/>
            <a:r>
              <a:rPr lang="en-US" sz="2000" dirty="0" smtClean="0"/>
              <a:t>The chosen technology changes</a:t>
            </a:r>
            <a:endParaRPr lang="en-IN" sz="2000" dirty="0" smtClean="0"/>
          </a:p>
          <a:p>
            <a:pPr lvl="0"/>
            <a:r>
              <a:rPr lang="en-US" sz="2000" dirty="0" smtClean="0"/>
              <a:t>Ill-defined responsibility of team members </a:t>
            </a:r>
            <a:endParaRPr lang="en-IN" sz="2000" dirty="0" smtClean="0"/>
          </a:p>
          <a:p>
            <a:pPr lvl="0"/>
            <a:r>
              <a:rPr lang="en-US" sz="2000" dirty="0" smtClean="0"/>
              <a:t>Lack of communication among team members</a:t>
            </a:r>
            <a:endParaRPr lang="en-IN" sz="20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Success</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pPr lvl="0"/>
            <a:r>
              <a:rPr lang="en-US" sz="2000" smtClean="0"/>
              <a:t>Strong support from the top management </a:t>
            </a:r>
            <a:endParaRPr lang="en-IN" sz="2000" smtClean="0"/>
          </a:p>
          <a:p>
            <a:pPr lvl="0"/>
            <a:r>
              <a:rPr lang="en-US" sz="2000" smtClean="0"/>
              <a:t>A sound methodology for the project</a:t>
            </a:r>
            <a:endParaRPr lang="en-IN" sz="2000" smtClean="0"/>
          </a:p>
          <a:p>
            <a:pPr lvl="0"/>
            <a:r>
              <a:rPr lang="en-US" sz="2000" smtClean="0"/>
              <a:t>Tactical and technical leadership by competent people</a:t>
            </a:r>
            <a:endParaRPr lang="en-IN" sz="2000" smtClean="0"/>
          </a:p>
          <a:p>
            <a:pPr lvl="0"/>
            <a:r>
              <a:rPr lang="en-US" sz="2000" smtClean="0"/>
              <a:t>User involvement in each activity</a:t>
            </a:r>
            <a:endParaRPr lang="en-IN" sz="2000" smtClean="0"/>
          </a:p>
          <a:p>
            <a:pPr lvl="0"/>
            <a:r>
              <a:rPr lang="en-US" sz="2000" smtClean="0"/>
              <a:t>Experienced project manager</a:t>
            </a:r>
            <a:endParaRPr lang="en-IN" sz="2000" smtClean="0"/>
          </a:p>
          <a:p>
            <a:pPr lvl="0"/>
            <a:r>
              <a:rPr lang="en-US" sz="2000" smtClean="0"/>
              <a:t>Clearly defined business goals</a:t>
            </a:r>
            <a:endParaRPr lang="en-IN" sz="2000" smtClean="0"/>
          </a:p>
          <a:p>
            <a:pPr lvl="0"/>
            <a:r>
              <a:rPr lang="en-US" sz="2000" smtClean="0"/>
              <a:t>Clearly defined project scope </a:t>
            </a:r>
            <a:endParaRPr lang="en-IN" sz="2000" smtClean="0"/>
          </a:p>
          <a:p>
            <a:pPr lvl="0"/>
            <a:r>
              <a:rPr lang="en-US" sz="2000" smtClean="0"/>
              <a:t>Feedback mechanism   </a:t>
            </a:r>
            <a:endParaRPr lang="en-IN" sz="2000" smtClean="0"/>
          </a:p>
          <a:p>
            <a:pPr lvl="0"/>
            <a:r>
              <a:rPr lang="en-US" sz="2000" smtClean="0"/>
              <a:t>Sufficient resource allocation</a:t>
            </a:r>
            <a:endParaRPr lang="en-IN" sz="2000" smtClean="0"/>
          </a:p>
          <a:p>
            <a:pPr lvl="0"/>
            <a:r>
              <a:rPr lang="en-US" sz="2000" smtClean="0"/>
              <a:t>Adequate communication channels</a:t>
            </a:r>
            <a:endParaRPr lang="en-IN" sz="2000" smtClean="0"/>
          </a:p>
          <a:p>
            <a:pPr lvl="0"/>
            <a:r>
              <a:rPr lang="en-US" sz="2000" smtClean="0"/>
              <a:t>Troubleshooting capabilities</a:t>
            </a:r>
            <a:endParaRPr lang="en-IN" sz="2000" smtClean="0"/>
          </a:p>
          <a:p>
            <a:pPr lvl="0"/>
            <a:r>
              <a:rPr lang="en-US" sz="2000" smtClean="0"/>
              <a:t>Reliable estimates </a:t>
            </a:r>
            <a:endParaRPr lang="en-IN" sz="2000" smtClean="0"/>
          </a:p>
          <a:p>
            <a:pPr lvl="0"/>
            <a:r>
              <a:rPr lang="en-US" sz="2000" smtClean="0"/>
              <a:t>Clearly specified deadlines </a:t>
            </a:r>
            <a:endParaRPr lang="en-IN" sz="2000" smtClean="0"/>
          </a:p>
          <a:p>
            <a:pPr lvl="0"/>
            <a:r>
              <a:rPr lang="en-US" sz="2000" smtClean="0"/>
              <a:t>Parties sticking to the commitment</a:t>
            </a:r>
            <a:endParaRPr lang="en-IN" sz="20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Management Team</a:t>
            </a:r>
            <a:endParaRPr lang="en-IN" dirty="0"/>
          </a:p>
        </p:txBody>
      </p:sp>
      <p:sp>
        <p:nvSpPr>
          <p:cNvPr id="3" name="Content Placeholder 2"/>
          <p:cNvSpPr>
            <a:spLocks noGrp="1"/>
          </p:cNvSpPr>
          <p:nvPr>
            <p:ph idx="1"/>
          </p:nvPr>
        </p:nvSpPr>
        <p:spPr>
          <a:xfrm>
            <a:off x="457200" y="1447800"/>
            <a:ext cx="8229600" cy="5181600"/>
          </a:xfrm>
        </p:spPr>
        <p:txBody>
          <a:bodyPr>
            <a:normAutofit lnSpcReduction="10000"/>
          </a:bodyPr>
          <a:lstStyle/>
          <a:p>
            <a:pPr>
              <a:spcBef>
                <a:spcPts val="0"/>
              </a:spcBef>
            </a:pPr>
            <a:r>
              <a:rPr lang="en-US" sz="2400" dirty="0" smtClean="0"/>
              <a:t>The people who work together on a project are referred to as a </a:t>
            </a:r>
            <a:r>
              <a:rPr lang="en-US" sz="2400" i="1" dirty="0" smtClean="0"/>
              <a:t>team</a:t>
            </a:r>
            <a:r>
              <a:rPr lang="en-US" sz="2400" dirty="0" smtClean="0"/>
              <a:t>. </a:t>
            </a:r>
          </a:p>
          <a:p>
            <a:pPr>
              <a:spcBef>
                <a:spcPts val="0"/>
              </a:spcBef>
            </a:pPr>
            <a:r>
              <a:rPr lang="en-US" sz="2400" dirty="0" smtClean="0"/>
              <a:t>A team is a cohesive group of one or more related roles and/or subordinate teams that collaborate to perform a cohesive set of tasks. </a:t>
            </a:r>
          </a:p>
          <a:p>
            <a:pPr>
              <a:spcBef>
                <a:spcPts val="0"/>
              </a:spcBef>
            </a:pPr>
            <a:r>
              <a:rPr lang="en-US" sz="2400" i="1" dirty="0" smtClean="0"/>
              <a:t>Teamwork</a:t>
            </a:r>
            <a:r>
              <a:rPr lang="en-US" sz="2400" dirty="0" smtClean="0"/>
              <a:t> refers to a group of people working together in order to achieve a common goal. </a:t>
            </a:r>
          </a:p>
          <a:p>
            <a:pPr>
              <a:spcBef>
                <a:spcPts val="0"/>
              </a:spcBef>
            </a:pPr>
            <a:r>
              <a:rPr lang="en-US" sz="2400" dirty="0" smtClean="0"/>
              <a:t>Organizations must develop a culture of team building. </a:t>
            </a:r>
          </a:p>
          <a:p>
            <a:pPr>
              <a:spcBef>
                <a:spcPts val="0"/>
              </a:spcBef>
            </a:pPr>
            <a:r>
              <a:rPr lang="en-US" sz="2400" dirty="0" smtClean="0"/>
              <a:t>A project management team typically consists of project manager, configuration manager, metrics analyst, process engineer, quality engineer, scheduler, technical leader and so on. </a:t>
            </a:r>
          </a:p>
          <a:p>
            <a:pPr>
              <a:spcBef>
                <a:spcPts val="0"/>
              </a:spcBef>
            </a:pPr>
            <a:r>
              <a:rPr lang="en-US" sz="2400" dirty="0" smtClean="0"/>
              <a:t>The team performs the overall (administrative) management and risk management for a single project.</a:t>
            </a:r>
            <a:endParaRPr lang="en-IN" sz="24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Team Structures</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r>
              <a:rPr lang="en-US" sz="2400" smtClean="0"/>
              <a:t>A team structure could consist of a number of teams, each with a team leader.</a:t>
            </a:r>
          </a:p>
          <a:p>
            <a:r>
              <a:rPr lang="en-US" sz="2400" smtClean="0"/>
              <a:t>Each team and its members have an identified expertise or skill that is needed to complete the tasks. </a:t>
            </a:r>
          </a:p>
          <a:p>
            <a:r>
              <a:rPr lang="en-US" sz="2400" smtClean="0"/>
              <a:t>Usually, the team is headed by the project manager. </a:t>
            </a:r>
          </a:p>
          <a:p>
            <a:r>
              <a:rPr lang="en-US" sz="2400" smtClean="0"/>
              <a:t>There are three types of team structure: </a:t>
            </a:r>
          </a:p>
          <a:p>
            <a:pPr lvl="1"/>
            <a:r>
              <a:rPr lang="en-US" sz="2400" i="1" smtClean="0"/>
              <a:t>Chief Programmer Team Structure </a:t>
            </a:r>
          </a:p>
          <a:p>
            <a:pPr lvl="1"/>
            <a:r>
              <a:rPr lang="en-US" sz="2400" i="1" smtClean="0"/>
              <a:t>Hierarchical Team Structure </a:t>
            </a:r>
          </a:p>
          <a:p>
            <a:pPr lvl="1"/>
            <a:r>
              <a:rPr lang="en-US" sz="2400" i="1" smtClean="0"/>
              <a:t>Egoless Team Structure </a:t>
            </a:r>
            <a:endParaRPr lang="en-IN" sz="2400" i="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Chief Programmer Team Structure</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pPr marL="342900" lvl="1" indent="-342900">
              <a:buFont typeface="Arial" pitchFamily="34" charset="0"/>
              <a:buChar char="•"/>
            </a:pPr>
            <a:r>
              <a:rPr lang="en-US" sz="2400" smtClean="0"/>
              <a:t>Chief programmer team structure Consists of :</a:t>
            </a:r>
          </a:p>
          <a:p>
            <a:pPr lvl="1"/>
            <a:r>
              <a:rPr lang="en-US" sz="2400" smtClean="0"/>
              <a:t>A Chief Programmer, </a:t>
            </a:r>
          </a:p>
          <a:p>
            <a:pPr lvl="1"/>
            <a:r>
              <a:rPr lang="en-US" sz="2400" smtClean="0"/>
              <a:t>Programmers, </a:t>
            </a:r>
          </a:p>
          <a:p>
            <a:pPr lvl="1"/>
            <a:r>
              <a:rPr lang="en-US" sz="2400" smtClean="0"/>
              <a:t>Backup Programmers</a:t>
            </a:r>
          </a:p>
          <a:p>
            <a:pPr lvl="1"/>
            <a:r>
              <a:rPr lang="en-US" sz="2400" smtClean="0"/>
              <a:t>A Programming Librarian</a:t>
            </a:r>
          </a:p>
          <a:p>
            <a:r>
              <a:rPr lang="en-US" sz="2400" smtClean="0"/>
              <a:t>It is a centralized automatic structure in which all information passes through the chief programmer. </a:t>
            </a:r>
          </a:p>
          <a:p>
            <a:r>
              <a:rPr lang="en-US" sz="2400" smtClean="0"/>
              <a:t>The chief programmer breaks down the task into small tasks and assigns them to the programmers and team members. </a:t>
            </a:r>
          </a:p>
          <a:p>
            <a:r>
              <a:rPr lang="en-US" sz="2400" smtClean="0"/>
              <a:t>After the completion of each task, he verifies and integrates the work products.</a:t>
            </a:r>
            <a:endParaRPr lang="en-IN"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Chief Programmer Team Structure</a:t>
            </a:r>
            <a:endParaRPr lang="en-IN" dirty="0"/>
          </a:p>
        </p:txBody>
      </p:sp>
      <p:sp>
        <p:nvSpPr>
          <p:cNvPr id="36879"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6865" name="Group 1"/>
          <p:cNvGrpSpPr>
            <a:grpSpLocks noChangeAspect="1"/>
          </p:cNvGrpSpPr>
          <p:nvPr/>
        </p:nvGrpSpPr>
        <p:grpSpPr bwMode="auto">
          <a:xfrm>
            <a:off x="381000" y="1524000"/>
            <a:ext cx="5246154" cy="3714161"/>
            <a:chOff x="2306" y="6188"/>
            <a:chExt cx="3832" cy="2713"/>
          </a:xfrm>
        </p:grpSpPr>
        <p:sp>
          <p:nvSpPr>
            <p:cNvPr id="36878" name="AutoShape 14"/>
            <p:cNvSpPr>
              <a:spLocks noChangeAspect="1" noChangeArrowheads="1" noTextEdit="1"/>
            </p:cNvSpPr>
            <p:nvPr/>
          </p:nvSpPr>
          <p:spPr bwMode="auto">
            <a:xfrm>
              <a:off x="2306" y="6188"/>
              <a:ext cx="3832" cy="2713"/>
            </a:xfrm>
            <a:prstGeom prst="rect">
              <a:avLst/>
            </a:prstGeom>
            <a:noFill/>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7" name="Oval 13"/>
            <p:cNvSpPr>
              <a:spLocks noChangeArrowheads="1"/>
            </p:cNvSpPr>
            <p:nvPr/>
          </p:nvSpPr>
          <p:spPr bwMode="auto">
            <a:xfrm>
              <a:off x="3876" y="6269"/>
              <a:ext cx="393" cy="3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6" name="Oval 12"/>
            <p:cNvSpPr>
              <a:spLocks noChangeArrowheads="1"/>
            </p:cNvSpPr>
            <p:nvPr/>
          </p:nvSpPr>
          <p:spPr bwMode="auto">
            <a:xfrm>
              <a:off x="3104" y="7762"/>
              <a:ext cx="393" cy="39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5" name="Oval 11"/>
            <p:cNvSpPr>
              <a:spLocks noChangeArrowheads="1"/>
            </p:cNvSpPr>
            <p:nvPr/>
          </p:nvSpPr>
          <p:spPr bwMode="auto">
            <a:xfrm>
              <a:off x="3876" y="7764"/>
              <a:ext cx="393" cy="3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4" name="Oval 10"/>
            <p:cNvSpPr>
              <a:spLocks noChangeArrowheads="1"/>
            </p:cNvSpPr>
            <p:nvPr/>
          </p:nvSpPr>
          <p:spPr bwMode="auto">
            <a:xfrm>
              <a:off x="4649" y="7760"/>
              <a:ext cx="394" cy="3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3" name="AutoShape 9"/>
            <p:cNvSpPr>
              <a:spLocks noChangeShapeType="1"/>
            </p:cNvSpPr>
            <p:nvPr/>
          </p:nvSpPr>
          <p:spPr bwMode="auto">
            <a:xfrm flipH="1">
              <a:off x="3301" y="6606"/>
              <a:ext cx="633" cy="11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2" name="AutoShape 8"/>
            <p:cNvSpPr>
              <a:spLocks noChangeShapeType="1"/>
            </p:cNvSpPr>
            <p:nvPr/>
          </p:nvSpPr>
          <p:spPr bwMode="auto">
            <a:xfrm>
              <a:off x="4073" y="6663"/>
              <a:ext cx="1" cy="110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1" name="AutoShape 7"/>
            <p:cNvSpPr>
              <a:spLocks noChangeShapeType="1"/>
            </p:cNvSpPr>
            <p:nvPr/>
          </p:nvSpPr>
          <p:spPr bwMode="auto">
            <a:xfrm>
              <a:off x="4211" y="6606"/>
              <a:ext cx="635" cy="1154"/>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70" name="Text Box 6"/>
            <p:cNvSpPr txBox="1">
              <a:spLocks noChangeArrowheads="1"/>
            </p:cNvSpPr>
            <p:nvPr/>
          </p:nvSpPr>
          <p:spPr bwMode="auto">
            <a:xfrm>
              <a:off x="4394" y="6342"/>
              <a:ext cx="1409"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Chief programmer</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6869" name="Text Box 5"/>
            <p:cNvSpPr txBox="1">
              <a:spLocks noChangeArrowheads="1"/>
            </p:cNvSpPr>
            <p:nvPr/>
          </p:nvSpPr>
          <p:spPr bwMode="auto">
            <a:xfrm>
              <a:off x="5122" y="7764"/>
              <a:ext cx="1016" cy="39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Back-up programmer</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6868" name="Text Box 4"/>
            <p:cNvSpPr txBox="1">
              <a:spLocks noChangeArrowheads="1"/>
            </p:cNvSpPr>
            <p:nvPr/>
          </p:nvSpPr>
          <p:spPr bwMode="auto">
            <a:xfrm>
              <a:off x="3746" y="8277"/>
              <a:ext cx="1034"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Programmers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6867" name="Text Box 3"/>
            <p:cNvSpPr txBox="1">
              <a:spLocks noChangeArrowheads="1"/>
            </p:cNvSpPr>
            <p:nvPr/>
          </p:nvSpPr>
          <p:spPr bwMode="auto">
            <a:xfrm>
              <a:off x="2306" y="7838"/>
              <a:ext cx="706" cy="226"/>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Librarian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6866" name="Text Box 2"/>
            <p:cNvSpPr txBox="1">
              <a:spLocks noChangeArrowheads="1"/>
            </p:cNvSpPr>
            <p:nvPr/>
          </p:nvSpPr>
          <p:spPr bwMode="auto">
            <a:xfrm>
              <a:off x="3627" y="8591"/>
              <a:ext cx="1495" cy="3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Structure</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36895" name="Rectangle 3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6885" name="Group 21"/>
          <p:cNvGrpSpPr>
            <a:grpSpLocks noChangeAspect="1"/>
          </p:cNvGrpSpPr>
          <p:nvPr/>
        </p:nvGrpSpPr>
        <p:grpSpPr bwMode="auto">
          <a:xfrm>
            <a:off x="5638800" y="1524000"/>
            <a:ext cx="2879725" cy="3740485"/>
            <a:chOff x="2722" y="5826"/>
            <a:chExt cx="2104" cy="2733"/>
          </a:xfrm>
        </p:grpSpPr>
        <p:sp>
          <p:nvSpPr>
            <p:cNvPr id="36894" name="AutoShape 30"/>
            <p:cNvSpPr>
              <a:spLocks noChangeAspect="1" noChangeArrowheads="1" noTextEdit="1"/>
            </p:cNvSpPr>
            <p:nvPr/>
          </p:nvSpPr>
          <p:spPr bwMode="auto">
            <a:xfrm>
              <a:off x="2722" y="5826"/>
              <a:ext cx="2104" cy="2733"/>
            </a:xfrm>
            <a:prstGeom prst="rect">
              <a:avLst/>
            </a:prstGeom>
            <a:noFill/>
          </p:spPr>
          <p:txBody>
            <a:bodyPr vert="horz" wrap="square" lIns="91440" tIns="45720" rIns="91440" bIns="45720" numCol="1" anchor="t" anchorCtr="0" compatLnSpc="1">
              <a:prstTxWarp prst="textNoShape">
                <a:avLst/>
              </a:prstTxWarp>
            </a:bodyPr>
            <a:lstStyle/>
            <a:p>
              <a:endParaRPr lang="en-IN" b="1" dirty="0">
                <a:latin typeface="Times New Roman" pitchFamily="18" charset="0"/>
                <a:cs typeface="Times New Roman" pitchFamily="18" charset="0"/>
              </a:endParaRPr>
            </a:p>
          </p:txBody>
        </p:sp>
        <p:sp>
          <p:nvSpPr>
            <p:cNvPr id="36893" name="Oval 29"/>
            <p:cNvSpPr>
              <a:spLocks noChangeArrowheads="1"/>
            </p:cNvSpPr>
            <p:nvPr/>
          </p:nvSpPr>
          <p:spPr bwMode="auto">
            <a:xfrm>
              <a:off x="3517" y="5826"/>
              <a:ext cx="392" cy="3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92" name="Oval 28"/>
            <p:cNvSpPr>
              <a:spLocks noChangeArrowheads="1"/>
            </p:cNvSpPr>
            <p:nvPr/>
          </p:nvSpPr>
          <p:spPr bwMode="auto">
            <a:xfrm>
              <a:off x="2840" y="7317"/>
              <a:ext cx="394" cy="3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91" name="Oval 27"/>
            <p:cNvSpPr>
              <a:spLocks noChangeArrowheads="1"/>
            </p:cNvSpPr>
            <p:nvPr/>
          </p:nvSpPr>
          <p:spPr bwMode="auto">
            <a:xfrm>
              <a:off x="3517" y="7319"/>
              <a:ext cx="395" cy="39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90" name="Oval 26"/>
            <p:cNvSpPr>
              <a:spLocks noChangeArrowheads="1"/>
            </p:cNvSpPr>
            <p:nvPr/>
          </p:nvSpPr>
          <p:spPr bwMode="auto">
            <a:xfrm>
              <a:off x="4305" y="7317"/>
              <a:ext cx="394" cy="3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9" name="AutoShape 25"/>
            <p:cNvSpPr>
              <a:spLocks noChangeShapeType="1"/>
            </p:cNvSpPr>
            <p:nvPr/>
          </p:nvSpPr>
          <p:spPr bwMode="auto">
            <a:xfrm flipH="1">
              <a:off x="3037" y="6162"/>
              <a:ext cx="537" cy="115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8" name="AutoShape 24"/>
            <p:cNvSpPr>
              <a:spLocks noChangeShapeType="1"/>
            </p:cNvSpPr>
            <p:nvPr/>
          </p:nvSpPr>
          <p:spPr bwMode="auto">
            <a:xfrm>
              <a:off x="3713" y="6220"/>
              <a:ext cx="1" cy="109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7" name="AutoShape 23"/>
            <p:cNvSpPr>
              <a:spLocks noChangeShapeType="1"/>
            </p:cNvSpPr>
            <p:nvPr/>
          </p:nvSpPr>
          <p:spPr bwMode="auto">
            <a:xfrm>
              <a:off x="3851" y="6162"/>
              <a:ext cx="651" cy="115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36886" name="Text Box 22"/>
            <p:cNvSpPr txBox="1">
              <a:spLocks noChangeArrowheads="1"/>
            </p:cNvSpPr>
            <p:nvPr/>
          </p:nvSpPr>
          <p:spPr bwMode="auto">
            <a:xfrm>
              <a:off x="2840" y="8244"/>
              <a:ext cx="1859" cy="21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 Communication path</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36897" name="Text Box 33"/>
          <p:cNvSpPr txBox="1">
            <a:spLocks noChangeArrowheads="1"/>
          </p:cNvSpPr>
          <p:nvPr/>
        </p:nvSpPr>
        <p:spPr bwMode="auto">
          <a:xfrm>
            <a:off x="2514600" y="5867400"/>
            <a:ext cx="5334000" cy="37465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4.2: Chief programmer team structure</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Hierarchical Team Structure</a:t>
            </a:r>
            <a:endParaRPr lang="en-IN" dirty="0"/>
          </a:p>
        </p:txBody>
      </p:sp>
      <p:sp>
        <p:nvSpPr>
          <p:cNvPr id="3" name="Content Placeholder 2"/>
          <p:cNvSpPr>
            <a:spLocks noGrp="1"/>
          </p:cNvSpPr>
          <p:nvPr>
            <p:ph idx="1"/>
          </p:nvPr>
        </p:nvSpPr>
        <p:spPr>
          <a:xfrm>
            <a:off x="457200" y="1219200"/>
            <a:ext cx="8229600" cy="5181600"/>
          </a:xfrm>
        </p:spPr>
        <p:txBody>
          <a:bodyPr>
            <a:noAutofit/>
          </a:bodyPr>
          <a:lstStyle/>
          <a:p>
            <a:pPr marL="342900" lvl="1" indent="-342900">
              <a:buFont typeface="Arial" pitchFamily="34" charset="0"/>
              <a:buChar char="•"/>
            </a:pPr>
            <a:r>
              <a:rPr lang="en-US" sz="2400" dirty="0" smtClean="0"/>
              <a:t>Hierarchical Team Structure Consists of:</a:t>
            </a:r>
          </a:p>
          <a:p>
            <a:pPr lvl="1"/>
            <a:r>
              <a:rPr lang="en-US" sz="2400" dirty="0" smtClean="0"/>
              <a:t>Programmers </a:t>
            </a:r>
          </a:p>
          <a:p>
            <a:pPr lvl="1"/>
            <a:r>
              <a:rPr lang="en-US" sz="2400" dirty="0" smtClean="0"/>
              <a:t>Database Manager </a:t>
            </a:r>
          </a:p>
          <a:p>
            <a:pPr lvl="1"/>
            <a:r>
              <a:rPr lang="en-US" sz="2400" dirty="0" smtClean="0"/>
              <a:t>Network Administrators </a:t>
            </a:r>
          </a:p>
          <a:p>
            <a:pPr lvl="1"/>
            <a:r>
              <a:rPr lang="en-US" sz="2400" dirty="0" smtClean="0"/>
              <a:t>Testers and so on</a:t>
            </a:r>
          </a:p>
          <a:p>
            <a:r>
              <a:rPr lang="en-US" sz="2400" dirty="0" smtClean="0"/>
              <a:t>The project manager is responsible for handling the project activities. </a:t>
            </a:r>
          </a:p>
          <a:p>
            <a:r>
              <a:rPr lang="en-US" sz="2400" dirty="0" smtClean="0"/>
              <a:t>There will be senior programmers or project leaders who report to the project manager. </a:t>
            </a:r>
          </a:p>
          <a:p>
            <a:r>
              <a:rPr lang="en-US" sz="2400" dirty="0" smtClean="0"/>
              <a:t>The senior programmers or project leaders will then be responsible to the project team members. </a:t>
            </a:r>
          </a:p>
          <a:p>
            <a:r>
              <a:rPr lang="en-US" sz="2400" dirty="0" smtClean="0"/>
              <a:t>The project manager will coordinate with the project leaders to solve the problems relating to the project.</a:t>
            </a:r>
            <a:endParaRPr lang="en-IN"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Hierarchical Team Structure</a:t>
            </a:r>
            <a:endParaRPr lang="en-IN" dirty="0"/>
          </a:p>
        </p:txBody>
      </p:sp>
      <p:sp>
        <p:nvSpPr>
          <p:cNvPr id="39960" name="Rectangle 2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9937" name="Group 1"/>
          <p:cNvGrpSpPr>
            <a:grpSpLocks noChangeAspect="1"/>
          </p:cNvGrpSpPr>
          <p:nvPr/>
        </p:nvGrpSpPr>
        <p:grpSpPr bwMode="auto">
          <a:xfrm>
            <a:off x="304800" y="1371600"/>
            <a:ext cx="4385734" cy="4114800"/>
            <a:chOff x="3189" y="6846"/>
            <a:chExt cx="3059" cy="2975"/>
          </a:xfrm>
        </p:grpSpPr>
        <p:sp>
          <p:nvSpPr>
            <p:cNvPr id="39959" name="AutoShape 23"/>
            <p:cNvSpPr>
              <a:spLocks noChangeAspect="1" noChangeArrowheads="1" noTextEdit="1"/>
            </p:cNvSpPr>
            <p:nvPr/>
          </p:nvSpPr>
          <p:spPr bwMode="auto">
            <a:xfrm>
              <a:off x="3189" y="6846"/>
              <a:ext cx="3059" cy="2975"/>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8" name="Text Box 22"/>
            <p:cNvSpPr txBox="1">
              <a:spLocks noChangeArrowheads="1"/>
            </p:cNvSpPr>
            <p:nvPr/>
          </p:nvSpPr>
          <p:spPr bwMode="auto">
            <a:xfrm>
              <a:off x="4906" y="6952"/>
              <a:ext cx="1264"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manager</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9957" name="Oval 21"/>
            <p:cNvSpPr>
              <a:spLocks noChangeArrowheads="1"/>
            </p:cNvSpPr>
            <p:nvPr/>
          </p:nvSpPr>
          <p:spPr bwMode="auto">
            <a:xfrm>
              <a:off x="5381" y="7734"/>
              <a:ext cx="362" cy="27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6" name="Oval 20"/>
            <p:cNvSpPr>
              <a:spLocks noChangeArrowheads="1"/>
            </p:cNvSpPr>
            <p:nvPr/>
          </p:nvSpPr>
          <p:spPr bwMode="auto">
            <a:xfrm>
              <a:off x="4994" y="8898"/>
              <a:ext cx="241"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5" name="AutoShape 19"/>
            <p:cNvSpPr>
              <a:spLocks noChangeShapeType="1"/>
            </p:cNvSpPr>
            <p:nvPr/>
          </p:nvSpPr>
          <p:spPr bwMode="auto">
            <a:xfrm flipH="1">
              <a:off x="5115" y="7971"/>
              <a:ext cx="319" cy="92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4" name="AutoShape 18"/>
            <p:cNvSpPr>
              <a:spLocks noChangeShapeType="1"/>
            </p:cNvSpPr>
            <p:nvPr/>
          </p:nvSpPr>
          <p:spPr bwMode="auto">
            <a:xfrm>
              <a:off x="5562" y="8012"/>
              <a:ext cx="6" cy="89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3" name="AutoShape 17"/>
            <p:cNvSpPr>
              <a:spLocks noChangeShapeType="1"/>
            </p:cNvSpPr>
            <p:nvPr/>
          </p:nvSpPr>
          <p:spPr bwMode="auto">
            <a:xfrm>
              <a:off x="5690" y="7971"/>
              <a:ext cx="360" cy="929"/>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2" name="Oval 16"/>
            <p:cNvSpPr>
              <a:spLocks noChangeArrowheads="1"/>
            </p:cNvSpPr>
            <p:nvPr/>
          </p:nvSpPr>
          <p:spPr bwMode="auto">
            <a:xfrm>
              <a:off x="5449" y="8904"/>
              <a:ext cx="240"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1" name="Oval 15"/>
            <p:cNvSpPr>
              <a:spLocks noChangeArrowheads="1"/>
            </p:cNvSpPr>
            <p:nvPr/>
          </p:nvSpPr>
          <p:spPr bwMode="auto">
            <a:xfrm>
              <a:off x="5929" y="8900"/>
              <a:ext cx="241"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50" name="Oval 14"/>
            <p:cNvSpPr>
              <a:spLocks noChangeArrowheads="1"/>
            </p:cNvSpPr>
            <p:nvPr/>
          </p:nvSpPr>
          <p:spPr bwMode="auto">
            <a:xfrm>
              <a:off x="3672" y="7734"/>
              <a:ext cx="375" cy="27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9" name="Oval 13"/>
            <p:cNvSpPr>
              <a:spLocks noChangeArrowheads="1"/>
            </p:cNvSpPr>
            <p:nvPr/>
          </p:nvSpPr>
          <p:spPr bwMode="auto">
            <a:xfrm>
              <a:off x="3281" y="8898"/>
              <a:ext cx="249"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8" name="AutoShape 12"/>
            <p:cNvSpPr>
              <a:spLocks noChangeShapeType="1"/>
            </p:cNvSpPr>
            <p:nvPr/>
          </p:nvSpPr>
          <p:spPr bwMode="auto">
            <a:xfrm flipH="1">
              <a:off x="3406" y="7970"/>
              <a:ext cx="321" cy="92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7" name="AutoShape 11"/>
            <p:cNvSpPr>
              <a:spLocks noChangeShapeType="1"/>
            </p:cNvSpPr>
            <p:nvPr/>
          </p:nvSpPr>
          <p:spPr bwMode="auto">
            <a:xfrm flipH="1">
              <a:off x="3849" y="8011"/>
              <a:ext cx="11" cy="88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6" name="AutoShape 10"/>
            <p:cNvSpPr>
              <a:spLocks noChangeShapeType="1"/>
            </p:cNvSpPr>
            <p:nvPr/>
          </p:nvSpPr>
          <p:spPr bwMode="auto">
            <a:xfrm>
              <a:off x="3973" y="7970"/>
              <a:ext cx="257" cy="928"/>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5" name="Oval 9"/>
            <p:cNvSpPr>
              <a:spLocks noChangeArrowheads="1"/>
            </p:cNvSpPr>
            <p:nvPr/>
          </p:nvSpPr>
          <p:spPr bwMode="auto">
            <a:xfrm>
              <a:off x="3724" y="8898"/>
              <a:ext cx="249"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4" name="Oval 8"/>
            <p:cNvSpPr>
              <a:spLocks noChangeArrowheads="1"/>
            </p:cNvSpPr>
            <p:nvPr/>
          </p:nvSpPr>
          <p:spPr bwMode="auto">
            <a:xfrm>
              <a:off x="4106" y="8898"/>
              <a:ext cx="249"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3" name="Oval 7"/>
            <p:cNvSpPr>
              <a:spLocks noChangeArrowheads="1"/>
            </p:cNvSpPr>
            <p:nvPr/>
          </p:nvSpPr>
          <p:spPr bwMode="auto">
            <a:xfrm>
              <a:off x="4515" y="6927"/>
              <a:ext cx="317" cy="28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2" name="AutoShape 6"/>
            <p:cNvSpPr>
              <a:spLocks noChangeShapeType="1"/>
            </p:cNvSpPr>
            <p:nvPr/>
          </p:nvSpPr>
          <p:spPr bwMode="auto">
            <a:xfrm flipV="1">
              <a:off x="3860" y="7173"/>
              <a:ext cx="701" cy="56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1" name="AutoShape 5"/>
            <p:cNvSpPr>
              <a:spLocks noChangeShapeType="1"/>
            </p:cNvSpPr>
            <p:nvPr/>
          </p:nvSpPr>
          <p:spPr bwMode="auto">
            <a:xfrm>
              <a:off x="4786" y="7173"/>
              <a:ext cx="776" cy="56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40" name="Text Box 4"/>
            <p:cNvSpPr txBox="1">
              <a:spLocks noChangeArrowheads="1"/>
            </p:cNvSpPr>
            <p:nvPr/>
          </p:nvSpPr>
          <p:spPr bwMode="auto">
            <a:xfrm>
              <a:off x="4213" y="9614"/>
              <a:ext cx="1022"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 Structure</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39939" name="Text Box 3"/>
            <p:cNvSpPr txBox="1">
              <a:spLocks noChangeArrowheads="1"/>
            </p:cNvSpPr>
            <p:nvPr/>
          </p:nvSpPr>
          <p:spPr bwMode="auto">
            <a:xfrm>
              <a:off x="3720" y="9237"/>
              <a:ext cx="2179" cy="22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Junior programmers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9938" name="Text Box 2"/>
            <p:cNvSpPr txBox="1">
              <a:spLocks noChangeArrowheads="1"/>
            </p:cNvSpPr>
            <p:nvPr/>
          </p:nvSpPr>
          <p:spPr bwMode="auto">
            <a:xfrm>
              <a:off x="4146" y="7587"/>
              <a:ext cx="1071" cy="38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Senior</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programmers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
        <p:nvSpPr>
          <p:cNvPr id="39987" name="Rectangle 5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9966" name="Group 30"/>
          <p:cNvGrpSpPr>
            <a:grpSpLocks noChangeAspect="1"/>
          </p:cNvGrpSpPr>
          <p:nvPr/>
        </p:nvGrpSpPr>
        <p:grpSpPr bwMode="auto">
          <a:xfrm>
            <a:off x="4800600" y="1447800"/>
            <a:ext cx="3630429" cy="4038600"/>
            <a:chOff x="3454" y="6846"/>
            <a:chExt cx="2532" cy="2975"/>
          </a:xfrm>
        </p:grpSpPr>
        <p:sp>
          <p:nvSpPr>
            <p:cNvPr id="39986" name="AutoShape 50"/>
            <p:cNvSpPr>
              <a:spLocks noChangeAspect="1" noChangeArrowheads="1" noTextEdit="1"/>
            </p:cNvSpPr>
            <p:nvPr/>
          </p:nvSpPr>
          <p:spPr bwMode="auto">
            <a:xfrm>
              <a:off x="3454" y="6846"/>
              <a:ext cx="2532" cy="2975"/>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5" name="Oval 49"/>
            <p:cNvSpPr>
              <a:spLocks noChangeArrowheads="1"/>
            </p:cNvSpPr>
            <p:nvPr/>
          </p:nvSpPr>
          <p:spPr bwMode="auto">
            <a:xfrm>
              <a:off x="5355" y="7734"/>
              <a:ext cx="336" cy="27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4" name="Oval 48"/>
            <p:cNvSpPr>
              <a:spLocks noChangeArrowheads="1"/>
            </p:cNvSpPr>
            <p:nvPr/>
          </p:nvSpPr>
          <p:spPr bwMode="auto">
            <a:xfrm>
              <a:off x="5132"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3" name="AutoShape 47"/>
            <p:cNvSpPr>
              <a:spLocks noChangeShapeType="1"/>
            </p:cNvSpPr>
            <p:nvPr/>
          </p:nvSpPr>
          <p:spPr bwMode="auto">
            <a:xfrm flipH="1">
              <a:off x="5244" y="7971"/>
              <a:ext cx="161" cy="933"/>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2" name="AutoShape 46"/>
            <p:cNvSpPr>
              <a:spLocks noChangeShapeType="1"/>
            </p:cNvSpPr>
            <p:nvPr/>
          </p:nvSpPr>
          <p:spPr bwMode="auto">
            <a:xfrm>
              <a:off x="5523" y="8012"/>
              <a:ext cx="7" cy="89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1" name="AutoShape 45"/>
            <p:cNvSpPr>
              <a:spLocks noChangeShapeType="1"/>
            </p:cNvSpPr>
            <p:nvPr/>
          </p:nvSpPr>
          <p:spPr bwMode="auto">
            <a:xfrm>
              <a:off x="5641" y="7971"/>
              <a:ext cx="233" cy="933"/>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80" name="Oval 44"/>
            <p:cNvSpPr>
              <a:spLocks noChangeArrowheads="1"/>
            </p:cNvSpPr>
            <p:nvPr/>
          </p:nvSpPr>
          <p:spPr bwMode="auto">
            <a:xfrm>
              <a:off x="5418"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9" name="Oval 43"/>
            <p:cNvSpPr>
              <a:spLocks noChangeArrowheads="1"/>
            </p:cNvSpPr>
            <p:nvPr/>
          </p:nvSpPr>
          <p:spPr bwMode="auto">
            <a:xfrm>
              <a:off x="5763"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8" name="Oval 42"/>
            <p:cNvSpPr>
              <a:spLocks noChangeArrowheads="1"/>
            </p:cNvSpPr>
            <p:nvPr/>
          </p:nvSpPr>
          <p:spPr bwMode="auto">
            <a:xfrm>
              <a:off x="3752" y="7734"/>
              <a:ext cx="336" cy="27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7" name="Oval 41"/>
            <p:cNvSpPr>
              <a:spLocks noChangeArrowheads="1"/>
            </p:cNvSpPr>
            <p:nvPr/>
          </p:nvSpPr>
          <p:spPr bwMode="auto">
            <a:xfrm>
              <a:off x="3454"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6" name="AutoShape 40"/>
            <p:cNvSpPr>
              <a:spLocks noChangeShapeType="1"/>
            </p:cNvSpPr>
            <p:nvPr/>
          </p:nvSpPr>
          <p:spPr bwMode="auto">
            <a:xfrm flipH="1">
              <a:off x="3566" y="7971"/>
              <a:ext cx="235" cy="933"/>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5" name="AutoShape 39"/>
            <p:cNvSpPr>
              <a:spLocks noChangeShapeType="1"/>
            </p:cNvSpPr>
            <p:nvPr/>
          </p:nvSpPr>
          <p:spPr bwMode="auto">
            <a:xfrm flipH="1">
              <a:off x="3912" y="8012"/>
              <a:ext cx="8" cy="89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4" name="AutoShape 38"/>
            <p:cNvSpPr>
              <a:spLocks noChangeShapeType="1"/>
            </p:cNvSpPr>
            <p:nvPr/>
          </p:nvSpPr>
          <p:spPr bwMode="auto">
            <a:xfrm>
              <a:off x="4022" y="7971"/>
              <a:ext cx="303" cy="936"/>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3" name="Oval 37"/>
            <p:cNvSpPr>
              <a:spLocks noChangeArrowheads="1"/>
            </p:cNvSpPr>
            <p:nvPr/>
          </p:nvSpPr>
          <p:spPr bwMode="auto">
            <a:xfrm>
              <a:off x="3801"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2" name="Oval 36"/>
            <p:cNvSpPr>
              <a:spLocks noChangeArrowheads="1"/>
            </p:cNvSpPr>
            <p:nvPr/>
          </p:nvSpPr>
          <p:spPr bwMode="auto">
            <a:xfrm>
              <a:off x="4213" y="8904"/>
              <a:ext cx="223" cy="20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1" name="Oval 35"/>
            <p:cNvSpPr>
              <a:spLocks noChangeArrowheads="1"/>
            </p:cNvSpPr>
            <p:nvPr/>
          </p:nvSpPr>
          <p:spPr bwMode="auto">
            <a:xfrm>
              <a:off x="4515" y="6927"/>
              <a:ext cx="317" cy="28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70" name="Text Box 34"/>
            <p:cNvSpPr txBox="1">
              <a:spLocks noChangeArrowheads="1"/>
            </p:cNvSpPr>
            <p:nvPr/>
          </p:nvSpPr>
          <p:spPr bwMode="auto">
            <a:xfrm>
              <a:off x="3677" y="9614"/>
              <a:ext cx="2014"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(b) Communication path</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9969" name="AutoShape 33"/>
            <p:cNvSpPr>
              <a:spLocks noChangeShapeType="1"/>
            </p:cNvSpPr>
            <p:nvPr/>
          </p:nvSpPr>
          <p:spPr bwMode="auto">
            <a:xfrm>
              <a:off x="4786" y="7173"/>
              <a:ext cx="737" cy="56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68" name="AutoShape 32"/>
            <p:cNvSpPr>
              <a:spLocks noChangeShapeType="1"/>
            </p:cNvSpPr>
            <p:nvPr/>
          </p:nvSpPr>
          <p:spPr bwMode="auto">
            <a:xfrm flipV="1">
              <a:off x="3920" y="7173"/>
              <a:ext cx="641" cy="56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39967" name="AutoShape 31"/>
            <p:cNvSpPr>
              <a:spLocks noChangeShapeType="1"/>
            </p:cNvSpPr>
            <p:nvPr/>
          </p:nvSpPr>
          <p:spPr bwMode="auto">
            <a:xfrm>
              <a:off x="4088" y="7873"/>
              <a:ext cx="1267"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
        <p:nvSpPr>
          <p:cNvPr id="39989" name="Text Box 53"/>
          <p:cNvSpPr txBox="1">
            <a:spLocks noChangeArrowheads="1"/>
          </p:cNvSpPr>
          <p:nvPr/>
        </p:nvSpPr>
        <p:spPr bwMode="auto">
          <a:xfrm>
            <a:off x="2743200" y="5943600"/>
            <a:ext cx="4348163" cy="533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4.3: Hierarchical team structure </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Egoless Team Structure</a:t>
            </a:r>
            <a:endParaRPr lang="en-IN" dirty="0"/>
          </a:p>
        </p:txBody>
      </p:sp>
      <p:sp>
        <p:nvSpPr>
          <p:cNvPr id="3" name="Content Placeholder 2"/>
          <p:cNvSpPr>
            <a:spLocks noGrp="1"/>
          </p:cNvSpPr>
          <p:nvPr>
            <p:ph idx="1"/>
          </p:nvPr>
        </p:nvSpPr>
        <p:spPr>
          <a:xfrm>
            <a:off x="457200" y="1371600"/>
            <a:ext cx="8229600" cy="5257800"/>
          </a:xfrm>
        </p:spPr>
        <p:txBody>
          <a:bodyPr>
            <a:noAutofit/>
          </a:bodyPr>
          <a:lstStyle/>
          <a:p>
            <a:r>
              <a:rPr lang="en-US" sz="2400" dirty="0" smtClean="0"/>
              <a:t>The egoless team structure is also known as the democratic team structure. </a:t>
            </a:r>
          </a:p>
          <a:p>
            <a:r>
              <a:rPr lang="en-US" sz="2400" dirty="0" smtClean="0"/>
              <a:t>It does not enforce any formal team hierarchy</a:t>
            </a:r>
          </a:p>
          <a:p>
            <a:r>
              <a:rPr lang="en-US" sz="2400" dirty="0" smtClean="0"/>
              <a:t>The manager provides the administrative leadership. </a:t>
            </a:r>
          </a:p>
          <a:p>
            <a:r>
              <a:rPr lang="en-US" sz="2400" dirty="0" smtClean="0"/>
              <a:t>Leadership rotates among different team members at different times, which becomes the responsibility of the individual with the abilities that are currently needed. </a:t>
            </a:r>
          </a:p>
          <a:p>
            <a:r>
              <a:rPr lang="en-US" sz="2400" dirty="0" smtClean="0"/>
              <a:t>The democratic organization structure leads to higher morale and job satisfaction. </a:t>
            </a:r>
          </a:p>
          <a:p>
            <a:r>
              <a:rPr lang="en-US" sz="2400" dirty="0" smtClean="0"/>
              <a:t>Consequently, it suffers from less manpower turnover. </a:t>
            </a:r>
          </a:p>
          <a:p>
            <a:r>
              <a:rPr lang="en-US" sz="2400" dirty="0" smtClean="0"/>
              <a:t>People are in different knowledge areas and have different experience levels. </a:t>
            </a:r>
          </a:p>
          <a:p>
            <a:r>
              <a:rPr lang="en-US" sz="2400" dirty="0" smtClean="0"/>
              <a:t>Here, everybody can communicate with everybody.</a:t>
            </a:r>
            <a:endParaRPr lang="en-I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Egoless Team Structure</a:t>
            </a:r>
            <a:endParaRPr lang="en-IN" dirty="0"/>
          </a:p>
        </p:txBody>
      </p:sp>
      <p:sp>
        <p:nvSpPr>
          <p:cNvPr id="42000"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1985" name="Group 1"/>
          <p:cNvGrpSpPr>
            <a:grpSpLocks noChangeAspect="1"/>
          </p:cNvGrpSpPr>
          <p:nvPr/>
        </p:nvGrpSpPr>
        <p:grpSpPr bwMode="auto">
          <a:xfrm>
            <a:off x="533400" y="1295400"/>
            <a:ext cx="3830638" cy="4338038"/>
            <a:chOff x="3172" y="9157"/>
            <a:chExt cx="1963" cy="2139"/>
          </a:xfrm>
        </p:grpSpPr>
        <p:sp>
          <p:nvSpPr>
            <p:cNvPr id="41999" name="AutoShape 15"/>
            <p:cNvSpPr>
              <a:spLocks noChangeAspect="1" noChangeArrowheads="1" noTextEdit="1"/>
            </p:cNvSpPr>
            <p:nvPr/>
          </p:nvSpPr>
          <p:spPr bwMode="auto">
            <a:xfrm>
              <a:off x="3172" y="9157"/>
              <a:ext cx="1963" cy="2139"/>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8" name="Oval 14"/>
            <p:cNvSpPr>
              <a:spLocks noChangeArrowheads="1"/>
            </p:cNvSpPr>
            <p:nvPr/>
          </p:nvSpPr>
          <p:spPr bwMode="auto">
            <a:xfrm>
              <a:off x="4004" y="9398"/>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7" name="Oval 13"/>
            <p:cNvSpPr>
              <a:spLocks noChangeArrowheads="1"/>
            </p:cNvSpPr>
            <p:nvPr/>
          </p:nvSpPr>
          <p:spPr bwMode="auto">
            <a:xfrm>
              <a:off x="4747" y="9785"/>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6" name="Oval 12"/>
            <p:cNvSpPr>
              <a:spLocks noChangeArrowheads="1"/>
            </p:cNvSpPr>
            <p:nvPr/>
          </p:nvSpPr>
          <p:spPr bwMode="auto">
            <a:xfrm>
              <a:off x="4004" y="10683"/>
              <a:ext cx="278" cy="25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5" name="Oval 11"/>
            <p:cNvSpPr>
              <a:spLocks noChangeArrowheads="1"/>
            </p:cNvSpPr>
            <p:nvPr/>
          </p:nvSpPr>
          <p:spPr bwMode="auto">
            <a:xfrm>
              <a:off x="3247" y="10361"/>
              <a:ext cx="275"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4" name="Oval 10"/>
            <p:cNvSpPr>
              <a:spLocks noChangeArrowheads="1"/>
            </p:cNvSpPr>
            <p:nvPr/>
          </p:nvSpPr>
          <p:spPr bwMode="auto">
            <a:xfrm>
              <a:off x="4760" y="10361"/>
              <a:ext cx="278"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3" name="Oval 9"/>
            <p:cNvSpPr>
              <a:spLocks noChangeArrowheads="1"/>
            </p:cNvSpPr>
            <p:nvPr/>
          </p:nvSpPr>
          <p:spPr bwMode="auto">
            <a:xfrm>
              <a:off x="3240" y="9785"/>
              <a:ext cx="277" cy="25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2" name="Text Box 8"/>
            <p:cNvSpPr txBox="1">
              <a:spLocks noChangeArrowheads="1"/>
            </p:cNvSpPr>
            <p:nvPr/>
          </p:nvSpPr>
          <p:spPr bwMode="auto">
            <a:xfrm>
              <a:off x="3593" y="11089"/>
              <a:ext cx="1021"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 Structure</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1991" name="AutoShape 7"/>
            <p:cNvSpPr>
              <a:spLocks noChangeShapeType="1"/>
            </p:cNvSpPr>
            <p:nvPr/>
          </p:nvSpPr>
          <p:spPr bwMode="auto">
            <a:xfrm flipV="1">
              <a:off x="3476" y="9528"/>
              <a:ext cx="528" cy="2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90" name="AutoShape 6"/>
            <p:cNvSpPr>
              <a:spLocks noChangeShapeType="1"/>
            </p:cNvSpPr>
            <p:nvPr/>
          </p:nvSpPr>
          <p:spPr bwMode="auto">
            <a:xfrm>
              <a:off x="4281" y="9528"/>
              <a:ext cx="506" cy="2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9" name="AutoShape 5"/>
            <p:cNvSpPr>
              <a:spLocks noChangeShapeType="1"/>
            </p:cNvSpPr>
            <p:nvPr/>
          </p:nvSpPr>
          <p:spPr bwMode="auto">
            <a:xfrm>
              <a:off x="3379" y="10043"/>
              <a:ext cx="6" cy="31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8" name="AutoShape 4"/>
            <p:cNvSpPr>
              <a:spLocks noChangeShapeType="1"/>
            </p:cNvSpPr>
            <p:nvPr/>
          </p:nvSpPr>
          <p:spPr bwMode="auto">
            <a:xfrm>
              <a:off x="3482" y="10584"/>
              <a:ext cx="522" cy="22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7" name="AutoShape 3"/>
            <p:cNvSpPr>
              <a:spLocks noChangeShapeType="1"/>
            </p:cNvSpPr>
            <p:nvPr/>
          </p:nvSpPr>
          <p:spPr bwMode="auto">
            <a:xfrm flipV="1">
              <a:off x="4282" y="10584"/>
              <a:ext cx="519" cy="22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1986" name="AutoShape 2"/>
            <p:cNvSpPr>
              <a:spLocks noChangeShapeType="1"/>
            </p:cNvSpPr>
            <p:nvPr/>
          </p:nvSpPr>
          <p:spPr bwMode="auto">
            <a:xfrm>
              <a:off x="4886" y="10045"/>
              <a:ext cx="13" cy="31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
        <p:nvSpPr>
          <p:cNvPr id="42026" name="Rectangle 4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2002" name="Group 18"/>
          <p:cNvGrpSpPr>
            <a:grpSpLocks noChangeAspect="1"/>
          </p:cNvGrpSpPr>
          <p:nvPr/>
        </p:nvGrpSpPr>
        <p:grpSpPr bwMode="auto">
          <a:xfrm>
            <a:off x="4648200" y="1219200"/>
            <a:ext cx="3983038" cy="4338038"/>
            <a:chOff x="3172" y="9157"/>
            <a:chExt cx="1963" cy="2139"/>
          </a:xfrm>
        </p:grpSpPr>
        <p:sp>
          <p:nvSpPr>
            <p:cNvPr id="42025" name="AutoShape 41"/>
            <p:cNvSpPr>
              <a:spLocks noChangeAspect="1" noChangeArrowheads="1" noTextEdit="1"/>
            </p:cNvSpPr>
            <p:nvPr/>
          </p:nvSpPr>
          <p:spPr bwMode="auto">
            <a:xfrm>
              <a:off x="3172" y="9157"/>
              <a:ext cx="1963" cy="2139"/>
            </a:xfrm>
            <a:prstGeom prst="rect">
              <a:avLst/>
            </a:prstGeom>
            <a:noFill/>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4" name="Oval 40"/>
            <p:cNvSpPr>
              <a:spLocks noChangeArrowheads="1"/>
            </p:cNvSpPr>
            <p:nvPr/>
          </p:nvSpPr>
          <p:spPr bwMode="auto">
            <a:xfrm>
              <a:off x="4004" y="9398"/>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3" name="Oval 39"/>
            <p:cNvSpPr>
              <a:spLocks noChangeArrowheads="1"/>
            </p:cNvSpPr>
            <p:nvPr/>
          </p:nvSpPr>
          <p:spPr bwMode="auto">
            <a:xfrm>
              <a:off x="4747" y="9785"/>
              <a:ext cx="277"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2" name="Oval 38"/>
            <p:cNvSpPr>
              <a:spLocks noChangeArrowheads="1"/>
            </p:cNvSpPr>
            <p:nvPr/>
          </p:nvSpPr>
          <p:spPr bwMode="auto">
            <a:xfrm>
              <a:off x="4004" y="10683"/>
              <a:ext cx="278" cy="25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1" name="Oval 37"/>
            <p:cNvSpPr>
              <a:spLocks noChangeArrowheads="1"/>
            </p:cNvSpPr>
            <p:nvPr/>
          </p:nvSpPr>
          <p:spPr bwMode="auto">
            <a:xfrm>
              <a:off x="3247" y="10361"/>
              <a:ext cx="275"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20" name="Oval 36"/>
            <p:cNvSpPr>
              <a:spLocks noChangeArrowheads="1"/>
            </p:cNvSpPr>
            <p:nvPr/>
          </p:nvSpPr>
          <p:spPr bwMode="auto">
            <a:xfrm>
              <a:off x="4760" y="10361"/>
              <a:ext cx="278" cy="26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9" name="Oval 35"/>
            <p:cNvSpPr>
              <a:spLocks noChangeArrowheads="1"/>
            </p:cNvSpPr>
            <p:nvPr/>
          </p:nvSpPr>
          <p:spPr bwMode="auto">
            <a:xfrm>
              <a:off x="3240" y="9785"/>
              <a:ext cx="277" cy="25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8" name="Text Box 34"/>
            <p:cNvSpPr txBox="1">
              <a:spLocks noChangeArrowheads="1"/>
            </p:cNvSpPr>
            <p:nvPr/>
          </p:nvSpPr>
          <p:spPr bwMode="auto">
            <a:xfrm>
              <a:off x="3172" y="11089"/>
              <a:ext cx="1910"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(b) Communication path</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2017" name="AutoShape 33"/>
            <p:cNvSpPr>
              <a:spLocks noChangeShapeType="1"/>
            </p:cNvSpPr>
            <p:nvPr/>
          </p:nvSpPr>
          <p:spPr bwMode="auto">
            <a:xfrm flipV="1">
              <a:off x="3476" y="9528"/>
              <a:ext cx="528" cy="29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6" name="AutoShape 32"/>
            <p:cNvSpPr>
              <a:spLocks noChangeShapeType="1"/>
            </p:cNvSpPr>
            <p:nvPr/>
          </p:nvSpPr>
          <p:spPr bwMode="auto">
            <a:xfrm>
              <a:off x="4281" y="9528"/>
              <a:ext cx="506" cy="29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5" name="AutoShape 31"/>
            <p:cNvSpPr>
              <a:spLocks noChangeShapeType="1"/>
            </p:cNvSpPr>
            <p:nvPr/>
          </p:nvSpPr>
          <p:spPr bwMode="auto">
            <a:xfrm>
              <a:off x="3379" y="10043"/>
              <a:ext cx="6" cy="318"/>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4" name="AutoShape 30"/>
            <p:cNvSpPr>
              <a:spLocks noChangeShapeType="1"/>
            </p:cNvSpPr>
            <p:nvPr/>
          </p:nvSpPr>
          <p:spPr bwMode="auto">
            <a:xfrm>
              <a:off x="3482" y="10584"/>
              <a:ext cx="522" cy="22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3" name="AutoShape 29"/>
            <p:cNvSpPr>
              <a:spLocks noChangeShapeType="1"/>
            </p:cNvSpPr>
            <p:nvPr/>
          </p:nvSpPr>
          <p:spPr bwMode="auto">
            <a:xfrm flipV="1">
              <a:off x="4282" y="10584"/>
              <a:ext cx="519" cy="22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2" name="AutoShape 28"/>
            <p:cNvSpPr>
              <a:spLocks noChangeShapeType="1"/>
            </p:cNvSpPr>
            <p:nvPr/>
          </p:nvSpPr>
          <p:spPr bwMode="auto">
            <a:xfrm>
              <a:off x="4886" y="10045"/>
              <a:ext cx="13" cy="316"/>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1" name="AutoShape 27"/>
            <p:cNvSpPr>
              <a:spLocks noChangeShapeType="1"/>
            </p:cNvSpPr>
            <p:nvPr/>
          </p:nvSpPr>
          <p:spPr bwMode="auto">
            <a:xfrm flipH="1" flipV="1">
              <a:off x="4142" y="9658"/>
              <a:ext cx="1" cy="102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10" name="AutoShape 26"/>
            <p:cNvSpPr>
              <a:spLocks noChangeShapeType="1"/>
            </p:cNvSpPr>
            <p:nvPr/>
          </p:nvSpPr>
          <p:spPr bwMode="auto">
            <a:xfrm>
              <a:off x="3522" y="10491"/>
              <a:ext cx="1238"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9" name="AutoShape 25"/>
            <p:cNvSpPr>
              <a:spLocks noChangeShapeType="1"/>
            </p:cNvSpPr>
            <p:nvPr/>
          </p:nvSpPr>
          <p:spPr bwMode="auto">
            <a:xfrm>
              <a:off x="3517" y="9914"/>
              <a:ext cx="1230"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8" name="AutoShape 24"/>
            <p:cNvSpPr>
              <a:spLocks noChangeShapeType="1"/>
            </p:cNvSpPr>
            <p:nvPr/>
          </p:nvSpPr>
          <p:spPr bwMode="auto">
            <a:xfrm>
              <a:off x="3517" y="9914"/>
              <a:ext cx="1243" cy="577"/>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7" name="AutoShape 23"/>
            <p:cNvSpPr>
              <a:spLocks noChangeShapeType="1"/>
            </p:cNvSpPr>
            <p:nvPr/>
          </p:nvSpPr>
          <p:spPr bwMode="auto">
            <a:xfrm flipV="1">
              <a:off x="3496" y="10007"/>
              <a:ext cx="1291" cy="39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6" name="AutoShape 22"/>
            <p:cNvSpPr>
              <a:spLocks noChangeShapeType="1"/>
            </p:cNvSpPr>
            <p:nvPr/>
          </p:nvSpPr>
          <p:spPr bwMode="auto">
            <a:xfrm flipH="1">
              <a:off x="3385" y="9620"/>
              <a:ext cx="660" cy="74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5" name="AutoShape 21"/>
            <p:cNvSpPr>
              <a:spLocks noChangeShapeType="1"/>
            </p:cNvSpPr>
            <p:nvPr/>
          </p:nvSpPr>
          <p:spPr bwMode="auto">
            <a:xfrm>
              <a:off x="4240" y="9620"/>
              <a:ext cx="561" cy="779"/>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4" name="AutoShape 20"/>
            <p:cNvSpPr>
              <a:spLocks noChangeShapeType="1"/>
            </p:cNvSpPr>
            <p:nvPr/>
          </p:nvSpPr>
          <p:spPr bwMode="auto">
            <a:xfrm flipH="1">
              <a:off x="4242" y="10045"/>
              <a:ext cx="644" cy="675"/>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sp>
          <p:nvSpPr>
            <p:cNvPr id="42003" name="AutoShape 19"/>
            <p:cNvSpPr>
              <a:spLocks noChangeShapeType="1"/>
            </p:cNvSpPr>
            <p:nvPr/>
          </p:nvSpPr>
          <p:spPr bwMode="auto">
            <a:xfrm>
              <a:off x="3476" y="10006"/>
              <a:ext cx="569" cy="714"/>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latin typeface="Times New Roman" pitchFamily="18" charset="0"/>
                <a:cs typeface="Times New Roman" pitchFamily="18" charset="0"/>
              </a:endParaRPr>
            </a:p>
          </p:txBody>
        </p:sp>
      </p:grpSp>
      <p:sp>
        <p:nvSpPr>
          <p:cNvPr id="42028" name="Text Box 44"/>
          <p:cNvSpPr txBox="1">
            <a:spLocks noChangeArrowheads="1"/>
          </p:cNvSpPr>
          <p:nvPr/>
        </p:nvSpPr>
        <p:spPr bwMode="auto">
          <a:xfrm>
            <a:off x="2743200" y="5867400"/>
            <a:ext cx="4652963" cy="3048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4.4: Egoless team structure </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Organization</a:t>
            </a:r>
            <a:endParaRPr lang="en-IN" dirty="0"/>
          </a:p>
        </p:txBody>
      </p:sp>
      <p:sp>
        <p:nvSpPr>
          <p:cNvPr id="3" name="Content Placeholder 2"/>
          <p:cNvSpPr>
            <a:spLocks noGrp="1"/>
          </p:cNvSpPr>
          <p:nvPr>
            <p:ph idx="1"/>
          </p:nvPr>
        </p:nvSpPr>
        <p:spPr>
          <a:xfrm>
            <a:off x="457200" y="1600200"/>
            <a:ext cx="8229600" cy="4191000"/>
          </a:xfrm>
        </p:spPr>
        <p:txBody>
          <a:bodyPr/>
          <a:lstStyle/>
          <a:p>
            <a:r>
              <a:rPr lang="en-US" smtClean="0"/>
              <a:t>There are several methods for allocating tasks to a team in an organization. </a:t>
            </a:r>
          </a:p>
          <a:p>
            <a:r>
              <a:rPr lang="en-US" smtClean="0"/>
              <a:t>Typical structures are </a:t>
            </a:r>
          </a:p>
          <a:p>
            <a:pPr lvl="1"/>
            <a:r>
              <a:rPr lang="en-US" i="1" smtClean="0"/>
              <a:t>Project Format, </a:t>
            </a:r>
          </a:p>
          <a:p>
            <a:pPr lvl="1"/>
            <a:r>
              <a:rPr lang="en-US" i="1" smtClean="0"/>
              <a:t>Functional Format</a:t>
            </a:r>
          </a:p>
          <a:p>
            <a:pPr lvl="1"/>
            <a:r>
              <a:rPr lang="en-US" i="1" smtClean="0"/>
              <a:t>Matrix Format</a:t>
            </a:r>
            <a:endParaRPr lang="en-IN"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Format</a:t>
            </a:r>
            <a:endParaRPr lang="en-IN" dirty="0"/>
          </a:p>
        </p:txBody>
      </p:sp>
      <p:sp>
        <p:nvSpPr>
          <p:cNvPr id="3" name="Content Placeholder 2"/>
          <p:cNvSpPr>
            <a:spLocks noGrp="1"/>
          </p:cNvSpPr>
          <p:nvPr>
            <p:ph idx="1"/>
          </p:nvPr>
        </p:nvSpPr>
        <p:spPr>
          <a:xfrm>
            <a:off x="457200" y="1295400"/>
            <a:ext cx="8229600" cy="4800600"/>
          </a:xfrm>
        </p:spPr>
        <p:txBody>
          <a:bodyPr>
            <a:normAutofit/>
          </a:bodyPr>
          <a:lstStyle/>
          <a:p>
            <a:r>
              <a:rPr lang="en-US" sz="2400" smtClean="0"/>
              <a:t>The project development staff members are divided based on the project for which they work. </a:t>
            </a:r>
          </a:p>
          <a:p>
            <a:r>
              <a:rPr lang="en-US" sz="2400" smtClean="0"/>
              <a:t>Each project has its own team and all the necessary resources. </a:t>
            </a:r>
          </a:p>
          <a:p>
            <a:r>
              <a:rPr lang="en-US" sz="2400" smtClean="0"/>
              <a:t>The project team is assigned to start and finish the project. </a:t>
            </a:r>
          </a:p>
          <a:p>
            <a:r>
              <a:rPr lang="en-US" sz="2400" smtClean="0"/>
              <a:t>It will be responsible for planning, requirement analysis, design, development, testing, deployment, and maintenance. </a:t>
            </a:r>
          </a:p>
          <a:p>
            <a:r>
              <a:rPr lang="en-US" sz="2400" smtClean="0"/>
              <a:t>The project manager has the decision-making authority. The longevity of the team depends on the project duration.</a:t>
            </a:r>
            <a:endParaRPr lang="en-IN"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Format</a:t>
            </a:r>
            <a:endParaRPr lang="en-IN" dirty="0"/>
          </a:p>
        </p:txBody>
      </p:sp>
      <p:sp>
        <p:nvSpPr>
          <p:cNvPr id="44045"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4033" name="Group 1"/>
          <p:cNvGrpSpPr>
            <a:grpSpLocks noChangeAspect="1"/>
          </p:cNvGrpSpPr>
          <p:nvPr/>
        </p:nvGrpSpPr>
        <p:grpSpPr bwMode="auto">
          <a:xfrm>
            <a:off x="609600" y="1905000"/>
            <a:ext cx="7960878" cy="2743200"/>
            <a:chOff x="1834" y="73"/>
            <a:chExt cx="5469" cy="1886"/>
          </a:xfrm>
        </p:grpSpPr>
        <p:sp>
          <p:nvSpPr>
            <p:cNvPr id="44044" name="AutoShape 12"/>
            <p:cNvSpPr>
              <a:spLocks noChangeAspect="1" noChangeArrowheads="1" noTextEdit="1"/>
            </p:cNvSpPr>
            <p:nvPr/>
          </p:nvSpPr>
          <p:spPr bwMode="auto">
            <a:xfrm>
              <a:off x="1834" y="73"/>
              <a:ext cx="5469" cy="1886"/>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43" name="Rectangle 11"/>
            <p:cNvSpPr>
              <a:spLocks noChangeArrowheads="1"/>
            </p:cNvSpPr>
            <p:nvPr/>
          </p:nvSpPr>
          <p:spPr bwMode="auto">
            <a:xfrm>
              <a:off x="3969" y="162"/>
              <a:ext cx="1431" cy="28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Top management</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42" name="Rectangle 10"/>
            <p:cNvSpPr>
              <a:spLocks noChangeArrowheads="1"/>
            </p:cNvSpPr>
            <p:nvPr/>
          </p:nvSpPr>
          <p:spPr bwMode="auto">
            <a:xfrm>
              <a:off x="2123" y="1251"/>
              <a:ext cx="819" cy="5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a:t>
              </a:r>
              <a:endParaRPr kumimoji="0" lang="en-US" sz="20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team 1</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41" name="Rectangle 9"/>
            <p:cNvSpPr>
              <a:spLocks noChangeArrowheads="1"/>
            </p:cNvSpPr>
            <p:nvPr/>
          </p:nvSpPr>
          <p:spPr bwMode="auto">
            <a:xfrm>
              <a:off x="3797" y="1251"/>
              <a:ext cx="760" cy="5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a:t>
              </a:r>
              <a:endParaRPr kumimoji="0" lang="en-US" sz="20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team 2</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40" name="Rectangle 8"/>
            <p:cNvSpPr>
              <a:spLocks noChangeArrowheads="1"/>
            </p:cNvSpPr>
            <p:nvPr/>
          </p:nvSpPr>
          <p:spPr bwMode="auto">
            <a:xfrm>
              <a:off x="6059" y="1251"/>
              <a:ext cx="910" cy="5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a:t>
              </a:r>
              <a:endParaRPr kumimoji="0" lang="en-US" sz="20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team </a:t>
              </a:r>
              <a:r>
                <a:rPr kumimoji="0" lang="en-US" sz="2000" b="1" i="1"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39" name="Text Box 7"/>
            <p:cNvSpPr txBox="1">
              <a:spLocks noChangeArrowheads="1"/>
            </p:cNvSpPr>
            <p:nvPr/>
          </p:nvSpPr>
          <p:spPr bwMode="auto">
            <a:xfrm>
              <a:off x="5171" y="1383"/>
              <a:ext cx="310" cy="23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 .</a:t>
              </a:r>
              <a:endParaRPr kumimoji="0" lang="en-US" sz="2000" b="1" i="0" u="none" strike="noStrike" cap="none" normalizeH="0" baseline="0" smtClean="0">
                <a:ln>
                  <a:noFill/>
                </a:ln>
                <a:solidFill>
                  <a:schemeClr val="tx1"/>
                </a:solidFill>
                <a:effectLst/>
                <a:latin typeface="Arial" pitchFamily="34" charset="0"/>
                <a:cs typeface="Arial" pitchFamily="34" charset="0"/>
              </a:endParaRPr>
            </a:p>
          </p:txBody>
        </p:sp>
        <p:sp>
          <p:nvSpPr>
            <p:cNvPr id="44038" name="AutoShape 6"/>
            <p:cNvSpPr>
              <a:spLocks noChangeShapeType="1"/>
            </p:cNvSpPr>
            <p:nvPr/>
          </p:nvSpPr>
          <p:spPr bwMode="auto">
            <a:xfrm>
              <a:off x="2526" y="741"/>
              <a:ext cx="3989"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7" name="AutoShape 5"/>
            <p:cNvSpPr>
              <a:spLocks noChangeShapeType="1"/>
            </p:cNvSpPr>
            <p:nvPr/>
          </p:nvSpPr>
          <p:spPr bwMode="auto">
            <a:xfrm>
              <a:off x="2532" y="741"/>
              <a:ext cx="1" cy="5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6" name="AutoShape 4"/>
            <p:cNvSpPr>
              <a:spLocks noChangeShapeType="1"/>
            </p:cNvSpPr>
            <p:nvPr/>
          </p:nvSpPr>
          <p:spPr bwMode="auto">
            <a:xfrm>
              <a:off x="4176" y="741"/>
              <a:ext cx="1" cy="5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5" name="AutoShape 3"/>
            <p:cNvSpPr>
              <a:spLocks noChangeShapeType="1"/>
            </p:cNvSpPr>
            <p:nvPr/>
          </p:nvSpPr>
          <p:spPr bwMode="auto">
            <a:xfrm>
              <a:off x="6505" y="741"/>
              <a:ext cx="10" cy="5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44034" name="AutoShape 2"/>
            <p:cNvSpPr>
              <a:spLocks noChangeShapeType="1"/>
            </p:cNvSpPr>
            <p:nvPr/>
          </p:nvSpPr>
          <p:spPr bwMode="auto">
            <a:xfrm flipH="1">
              <a:off x="4684" y="443"/>
              <a:ext cx="1" cy="29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grpSp>
      <p:sp>
        <p:nvSpPr>
          <p:cNvPr id="44051" name="Text Box 19"/>
          <p:cNvSpPr txBox="1">
            <a:spLocks noChangeArrowheads="1"/>
          </p:cNvSpPr>
          <p:nvPr/>
        </p:nvSpPr>
        <p:spPr bwMode="auto">
          <a:xfrm>
            <a:off x="3505200" y="5105400"/>
            <a:ext cx="3200400" cy="41751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4.5: Project format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Functional Format</a:t>
            </a:r>
            <a:endParaRPr lang="en-IN" dirty="0"/>
          </a:p>
        </p:txBody>
      </p:sp>
      <p:sp>
        <p:nvSpPr>
          <p:cNvPr id="3" name="Content Placeholder 2"/>
          <p:cNvSpPr>
            <a:spLocks noGrp="1"/>
          </p:cNvSpPr>
          <p:nvPr>
            <p:ph idx="1"/>
          </p:nvPr>
        </p:nvSpPr>
        <p:spPr>
          <a:xfrm>
            <a:off x="457200" y="1600200"/>
            <a:ext cx="8229600" cy="3962400"/>
          </a:xfrm>
        </p:spPr>
        <p:txBody>
          <a:bodyPr>
            <a:normAutofit/>
          </a:bodyPr>
          <a:lstStyle/>
          <a:p>
            <a:r>
              <a:rPr lang="en-US" sz="2400" smtClean="0"/>
              <a:t>Teams are made on the basis of functional competency to which they belong. </a:t>
            </a:r>
          </a:p>
          <a:p>
            <a:r>
              <a:rPr lang="en-US" sz="2400" smtClean="0"/>
              <a:t>Different teams perform different tasks of the project and the work products pass from team to team till the completion of the project. </a:t>
            </a:r>
          </a:p>
          <a:p>
            <a:r>
              <a:rPr lang="en-US" sz="2400" smtClean="0"/>
              <a:t>For example, requirement analysis will be performed by the requirement team, design by the design team, and so on.</a:t>
            </a:r>
            <a:endParaRPr lang="en-IN"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Functional Format</a:t>
            </a:r>
            <a:endParaRPr lang="en-IN" dirty="0"/>
          </a:p>
        </p:txBody>
      </p:sp>
      <p:sp>
        <p:nvSpPr>
          <p:cNvPr id="4712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7105" name="Group 1"/>
          <p:cNvGrpSpPr>
            <a:grpSpLocks noChangeAspect="1"/>
          </p:cNvGrpSpPr>
          <p:nvPr/>
        </p:nvGrpSpPr>
        <p:grpSpPr bwMode="auto">
          <a:xfrm>
            <a:off x="1371600" y="1295400"/>
            <a:ext cx="6473068" cy="5029200"/>
            <a:chOff x="2330" y="6552"/>
            <a:chExt cx="5020" cy="3952"/>
          </a:xfrm>
        </p:grpSpPr>
        <p:sp>
          <p:nvSpPr>
            <p:cNvPr id="47128" name="AutoShape 24"/>
            <p:cNvSpPr>
              <a:spLocks noChangeAspect="1" noChangeArrowheads="1" noTextEdit="1"/>
            </p:cNvSpPr>
            <p:nvPr/>
          </p:nvSpPr>
          <p:spPr bwMode="auto">
            <a:xfrm>
              <a:off x="2330" y="6552"/>
              <a:ext cx="5020" cy="3952"/>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p>
          </p:txBody>
        </p:sp>
        <p:sp>
          <p:nvSpPr>
            <p:cNvPr id="47127" name="Rectangle 23"/>
            <p:cNvSpPr>
              <a:spLocks noChangeArrowheads="1"/>
            </p:cNvSpPr>
            <p:nvPr/>
          </p:nvSpPr>
          <p:spPr bwMode="auto">
            <a:xfrm>
              <a:off x="4096" y="6695"/>
              <a:ext cx="1661" cy="32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Top management</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6" name="Rectangle 22"/>
            <p:cNvSpPr>
              <a:spLocks noChangeArrowheads="1"/>
            </p:cNvSpPr>
            <p:nvPr/>
          </p:nvSpPr>
          <p:spPr bwMode="auto">
            <a:xfrm>
              <a:off x="2540" y="7859"/>
              <a:ext cx="999" cy="289"/>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Planning</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5" name="Rectangle 21"/>
            <p:cNvSpPr>
              <a:spLocks noChangeArrowheads="1"/>
            </p:cNvSpPr>
            <p:nvPr/>
          </p:nvSpPr>
          <p:spPr bwMode="auto">
            <a:xfrm>
              <a:off x="2540" y="8286"/>
              <a:ext cx="999" cy="25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Analysis</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4" name="Rectangle 20"/>
            <p:cNvSpPr>
              <a:spLocks noChangeArrowheads="1"/>
            </p:cNvSpPr>
            <p:nvPr/>
          </p:nvSpPr>
          <p:spPr bwMode="auto">
            <a:xfrm>
              <a:off x="2540" y="8689"/>
              <a:ext cx="999" cy="26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3" name="Rectangle 19"/>
            <p:cNvSpPr>
              <a:spLocks noChangeArrowheads="1"/>
            </p:cNvSpPr>
            <p:nvPr/>
          </p:nvSpPr>
          <p:spPr bwMode="auto">
            <a:xfrm>
              <a:off x="2539" y="9082"/>
              <a:ext cx="1000" cy="24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Coding</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2" name="Rectangle 18"/>
            <p:cNvSpPr>
              <a:spLocks noChangeArrowheads="1"/>
            </p:cNvSpPr>
            <p:nvPr/>
          </p:nvSpPr>
          <p:spPr bwMode="auto">
            <a:xfrm>
              <a:off x="2538" y="9439"/>
              <a:ext cx="1001" cy="23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Testing</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1" name="Rectangle 17"/>
            <p:cNvSpPr>
              <a:spLocks noChangeArrowheads="1"/>
            </p:cNvSpPr>
            <p:nvPr/>
          </p:nvSpPr>
          <p:spPr bwMode="auto">
            <a:xfrm>
              <a:off x="2537" y="9774"/>
              <a:ext cx="1002" cy="23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Deployment </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20" name="Rectangle 16"/>
            <p:cNvSpPr>
              <a:spLocks noChangeArrowheads="1"/>
            </p:cNvSpPr>
            <p:nvPr/>
          </p:nvSpPr>
          <p:spPr bwMode="auto">
            <a:xfrm>
              <a:off x="2540" y="10143"/>
              <a:ext cx="999" cy="23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Maintenance</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9" name="Text Box 15"/>
            <p:cNvSpPr txBox="1">
              <a:spLocks noChangeArrowheads="1"/>
            </p:cNvSpPr>
            <p:nvPr/>
          </p:nvSpPr>
          <p:spPr bwMode="auto">
            <a:xfrm>
              <a:off x="2388" y="7420"/>
              <a:ext cx="1400" cy="23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Functional groups</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8" name="Text Box 14"/>
            <p:cNvSpPr txBox="1">
              <a:spLocks noChangeArrowheads="1"/>
            </p:cNvSpPr>
            <p:nvPr/>
          </p:nvSpPr>
          <p:spPr bwMode="auto">
            <a:xfrm>
              <a:off x="5906" y="7420"/>
              <a:ext cx="1270" cy="28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Project progress</a:t>
              </a:r>
              <a:endParaRPr kumimoji="0" lang="en-US" b="1" i="0" u="none" strike="noStrike" cap="none" normalizeH="0" baseline="0" dirty="0" smtClean="0">
                <a:ln>
                  <a:noFill/>
                </a:ln>
                <a:solidFill>
                  <a:schemeClr val="tx1"/>
                </a:solidFill>
                <a:effectLst/>
                <a:latin typeface="Arial" pitchFamily="34" charset="0"/>
                <a:cs typeface="Arial" pitchFamily="34" charset="0"/>
              </a:endParaRPr>
            </a:p>
          </p:txBody>
        </p:sp>
        <p:sp>
          <p:nvSpPr>
            <p:cNvPr id="47117" name="Rectangle 13"/>
            <p:cNvSpPr>
              <a:spLocks noChangeArrowheads="1"/>
            </p:cNvSpPr>
            <p:nvPr/>
          </p:nvSpPr>
          <p:spPr bwMode="auto">
            <a:xfrm>
              <a:off x="5906" y="7860"/>
              <a:ext cx="1248" cy="28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team 1</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6" name="Rectangle 12"/>
            <p:cNvSpPr>
              <a:spLocks noChangeArrowheads="1"/>
            </p:cNvSpPr>
            <p:nvPr/>
          </p:nvSpPr>
          <p:spPr bwMode="auto">
            <a:xfrm>
              <a:off x="5906" y="8285"/>
              <a:ext cx="1248" cy="25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team 2</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5" name="Rectangle 11"/>
            <p:cNvSpPr>
              <a:spLocks noChangeArrowheads="1"/>
            </p:cNvSpPr>
            <p:nvPr/>
          </p:nvSpPr>
          <p:spPr bwMode="auto">
            <a:xfrm>
              <a:off x="5906" y="10143"/>
              <a:ext cx="1248" cy="231"/>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Project team </a:t>
              </a:r>
              <a:r>
                <a:rPr kumimoji="0" lang="en-US"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a:t>
              </a:r>
              <a:endParaRPr kumimoji="0" lang="en-US" b="1" i="0" u="none" strike="noStrike" cap="none" normalizeH="0" baseline="0" dirty="0" smtClean="0">
                <a:ln>
                  <a:noFill/>
                </a:ln>
                <a:solidFill>
                  <a:schemeClr val="tx1"/>
                </a:solidFill>
                <a:effectLst/>
                <a:latin typeface="Arial" pitchFamily="34" charset="0"/>
                <a:cs typeface="Arial" pitchFamily="34" charset="0"/>
              </a:endParaRPr>
            </a:p>
          </p:txBody>
        </p:sp>
        <p:sp>
          <p:nvSpPr>
            <p:cNvPr id="47114" name="Text Box 10"/>
            <p:cNvSpPr txBox="1">
              <a:spLocks noChangeArrowheads="1"/>
            </p:cNvSpPr>
            <p:nvPr/>
          </p:nvSpPr>
          <p:spPr bwMode="auto">
            <a:xfrm>
              <a:off x="6399" y="8954"/>
              <a:ext cx="130" cy="63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1" i="0" u="none" strike="noStrike" cap="none" normalizeH="0" baseline="0" smtClean="0">
                <a:ln>
                  <a:noFill/>
                </a:ln>
                <a:solidFill>
                  <a:schemeClr val="tx1"/>
                </a:solidFill>
                <a:effectLst/>
                <a:latin typeface="Arial" pitchFamily="34" charset="0"/>
                <a:cs typeface="Arial" pitchFamily="34" charset="0"/>
              </a:endParaRPr>
            </a:p>
          </p:txBody>
        </p:sp>
        <p:sp>
          <p:nvSpPr>
            <p:cNvPr id="47113" name="AutoShape 9"/>
            <p:cNvSpPr>
              <a:spLocks noChangeShapeType="1"/>
            </p:cNvSpPr>
            <p:nvPr/>
          </p:nvSpPr>
          <p:spPr bwMode="auto">
            <a:xfrm>
              <a:off x="3091" y="7203"/>
              <a:ext cx="3308"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12" name="AutoShape 8"/>
            <p:cNvSpPr>
              <a:spLocks noChangeShapeType="1"/>
            </p:cNvSpPr>
            <p:nvPr/>
          </p:nvSpPr>
          <p:spPr bwMode="auto">
            <a:xfrm>
              <a:off x="3091" y="7203"/>
              <a:ext cx="1" cy="2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11" name="AutoShape 7"/>
            <p:cNvSpPr>
              <a:spLocks noChangeShapeType="1"/>
            </p:cNvSpPr>
            <p:nvPr/>
          </p:nvSpPr>
          <p:spPr bwMode="auto">
            <a:xfrm>
              <a:off x="6399" y="7203"/>
              <a:ext cx="1" cy="24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10" name="AutoShape 6"/>
            <p:cNvSpPr>
              <a:spLocks noChangeShapeType="1"/>
            </p:cNvSpPr>
            <p:nvPr/>
          </p:nvSpPr>
          <p:spPr bwMode="auto">
            <a:xfrm>
              <a:off x="4927" y="7017"/>
              <a:ext cx="1" cy="18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7109" name="AutoShape 5"/>
            <p:cNvSpPr>
              <a:spLocks noChangeShapeType="1"/>
            </p:cNvSpPr>
            <p:nvPr/>
          </p:nvSpPr>
          <p:spPr bwMode="auto">
            <a:xfrm>
              <a:off x="3539" y="8002"/>
              <a:ext cx="2367"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7108" name="AutoShape 4"/>
            <p:cNvSpPr>
              <a:spLocks noChangeShapeType="1"/>
            </p:cNvSpPr>
            <p:nvPr/>
          </p:nvSpPr>
          <p:spPr bwMode="auto">
            <a:xfrm>
              <a:off x="3539" y="10259"/>
              <a:ext cx="2367"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7107" name="AutoShape 3"/>
            <p:cNvSpPr>
              <a:spLocks noChangeShapeType="1"/>
            </p:cNvSpPr>
            <p:nvPr/>
          </p:nvSpPr>
          <p:spPr bwMode="auto">
            <a:xfrm flipV="1">
              <a:off x="3788" y="8221"/>
              <a:ext cx="1958" cy="167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7106" name="AutoShape 2"/>
            <p:cNvSpPr>
              <a:spLocks noChangeShapeType="1"/>
            </p:cNvSpPr>
            <p:nvPr/>
          </p:nvSpPr>
          <p:spPr bwMode="auto">
            <a:xfrm>
              <a:off x="3691" y="8148"/>
              <a:ext cx="2066" cy="17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grpSp>
      <p:sp>
        <p:nvSpPr>
          <p:cNvPr id="47168" name="Rectangle 6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47222" name="Text Box 118"/>
          <p:cNvSpPr txBox="1">
            <a:spLocks noChangeArrowheads="1"/>
          </p:cNvSpPr>
          <p:nvPr/>
        </p:nvSpPr>
        <p:spPr bwMode="auto">
          <a:xfrm>
            <a:off x="2057400" y="6400800"/>
            <a:ext cx="4486275" cy="152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4.6: Functional format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Matrix Format</a:t>
            </a:r>
            <a:endParaRPr lang="en-IN" dirty="0"/>
          </a:p>
        </p:txBody>
      </p:sp>
      <p:sp>
        <p:nvSpPr>
          <p:cNvPr id="3" name="Content Placeholder 2"/>
          <p:cNvSpPr>
            <a:spLocks noGrp="1"/>
          </p:cNvSpPr>
          <p:nvPr>
            <p:ph idx="1"/>
          </p:nvPr>
        </p:nvSpPr>
        <p:spPr>
          <a:xfrm>
            <a:off x="457200" y="1447800"/>
            <a:ext cx="8229600" cy="5181600"/>
          </a:xfrm>
        </p:spPr>
        <p:txBody>
          <a:bodyPr>
            <a:normAutofit/>
          </a:bodyPr>
          <a:lstStyle/>
          <a:p>
            <a:r>
              <a:rPr lang="en-US" sz="2400" smtClean="0"/>
              <a:t>It is a multidimensional structure which takes the best of the project format and the functional format. </a:t>
            </a:r>
          </a:p>
          <a:p>
            <a:r>
              <a:rPr lang="en-US" sz="2400" smtClean="0"/>
              <a:t>The functional structure is designed for each project and it then proceeds in the project format. </a:t>
            </a:r>
          </a:p>
          <a:p>
            <a:r>
              <a:rPr lang="en-US" sz="2400" smtClean="0"/>
              <a:t>Each development project is assigned to a project manager. </a:t>
            </a:r>
          </a:p>
          <a:p>
            <a:r>
              <a:rPr lang="en-US" sz="2400" smtClean="0"/>
              <a:t>The project manager participates in most of the activities of product development. </a:t>
            </a:r>
          </a:p>
          <a:p>
            <a:r>
              <a:rPr lang="en-US" sz="2400" smtClean="0"/>
              <a:t>People with similar specialization are pooled for work assignments.</a:t>
            </a:r>
          </a:p>
          <a:p>
            <a:r>
              <a:rPr lang="en-US" sz="2400" smtClean="0"/>
              <a:t>Each specialist may have to work under several managers to perform his job.</a:t>
            </a:r>
            <a:endParaRPr lang="en-IN"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Matrix Format</a:t>
            </a:r>
            <a:endParaRPr lang="en-IN" dirty="0"/>
          </a:p>
        </p:txBody>
      </p:sp>
      <p:sp>
        <p:nvSpPr>
          <p:cNvPr id="49202" name="Rectangle 5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9153" name="Group 1"/>
          <p:cNvGrpSpPr>
            <a:grpSpLocks noChangeAspect="1"/>
          </p:cNvGrpSpPr>
          <p:nvPr/>
        </p:nvGrpSpPr>
        <p:grpSpPr bwMode="auto">
          <a:xfrm>
            <a:off x="533400" y="1219200"/>
            <a:ext cx="8305800" cy="4808812"/>
            <a:chOff x="2781" y="6022"/>
            <a:chExt cx="6530" cy="4149"/>
          </a:xfrm>
        </p:grpSpPr>
        <p:sp>
          <p:nvSpPr>
            <p:cNvPr id="49201" name="AutoShape 49"/>
            <p:cNvSpPr>
              <a:spLocks noChangeAspect="1" noChangeArrowheads="1" noTextEdit="1"/>
            </p:cNvSpPr>
            <p:nvPr/>
          </p:nvSpPr>
          <p:spPr bwMode="auto">
            <a:xfrm>
              <a:off x="2781" y="6022"/>
              <a:ext cx="6530" cy="4149"/>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200" name="Rectangle 48"/>
            <p:cNvSpPr>
              <a:spLocks noChangeArrowheads="1"/>
            </p:cNvSpPr>
            <p:nvPr/>
          </p:nvSpPr>
          <p:spPr bwMode="auto">
            <a:xfrm>
              <a:off x="5399" y="6096"/>
              <a:ext cx="1929" cy="33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Top management</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9" name="Rectangle 47"/>
            <p:cNvSpPr>
              <a:spLocks noChangeArrowheads="1"/>
            </p:cNvSpPr>
            <p:nvPr/>
          </p:nvSpPr>
          <p:spPr bwMode="auto">
            <a:xfrm>
              <a:off x="4396" y="7041"/>
              <a:ext cx="681"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Analysis</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8" name="Rectangle 46"/>
            <p:cNvSpPr>
              <a:spLocks noChangeArrowheads="1"/>
            </p:cNvSpPr>
            <p:nvPr/>
          </p:nvSpPr>
          <p:spPr bwMode="auto">
            <a:xfrm>
              <a:off x="5399" y="7041"/>
              <a:ext cx="716"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7" name="Rectangle 45"/>
            <p:cNvSpPr>
              <a:spLocks noChangeArrowheads="1"/>
            </p:cNvSpPr>
            <p:nvPr/>
          </p:nvSpPr>
          <p:spPr bwMode="auto">
            <a:xfrm>
              <a:off x="6416" y="7041"/>
              <a:ext cx="691"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Coding</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6" name="Rectangle 44"/>
            <p:cNvSpPr>
              <a:spLocks noChangeArrowheads="1"/>
            </p:cNvSpPr>
            <p:nvPr/>
          </p:nvSpPr>
          <p:spPr bwMode="auto">
            <a:xfrm>
              <a:off x="7382" y="7041"/>
              <a:ext cx="610" cy="243"/>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Testing</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5" name="Rectangle 43"/>
            <p:cNvSpPr>
              <a:spLocks noChangeArrowheads="1"/>
            </p:cNvSpPr>
            <p:nvPr/>
          </p:nvSpPr>
          <p:spPr bwMode="auto">
            <a:xfrm>
              <a:off x="4338" y="7681"/>
              <a:ext cx="738" cy="23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4" name="Rectangle 42"/>
            <p:cNvSpPr>
              <a:spLocks noChangeArrowheads="1"/>
            </p:cNvSpPr>
            <p:nvPr/>
          </p:nvSpPr>
          <p:spPr bwMode="auto">
            <a:xfrm>
              <a:off x="5399" y="7679"/>
              <a:ext cx="716" cy="23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3" name="Rectangle 41"/>
            <p:cNvSpPr>
              <a:spLocks noChangeArrowheads="1"/>
            </p:cNvSpPr>
            <p:nvPr/>
          </p:nvSpPr>
          <p:spPr bwMode="auto">
            <a:xfrm>
              <a:off x="6416" y="7677"/>
              <a:ext cx="694" cy="23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2" name="Rectangle 40"/>
            <p:cNvSpPr>
              <a:spLocks noChangeArrowheads="1"/>
            </p:cNvSpPr>
            <p:nvPr/>
          </p:nvSpPr>
          <p:spPr bwMode="auto">
            <a:xfrm>
              <a:off x="7419" y="7677"/>
              <a:ext cx="646" cy="234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1" name="Rectangle 39"/>
            <p:cNvSpPr>
              <a:spLocks noChangeArrowheads="1"/>
            </p:cNvSpPr>
            <p:nvPr/>
          </p:nvSpPr>
          <p:spPr bwMode="auto">
            <a:xfrm>
              <a:off x="3118" y="7679"/>
              <a:ext cx="908" cy="4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manager 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90" name="Rectangle 38"/>
            <p:cNvSpPr>
              <a:spLocks noChangeArrowheads="1"/>
            </p:cNvSpPr>
            <p:nvPr/>
          </p:nvSpPr>
          <p:spPr bwMode="auto">
            <a:xfrm>
              <a:off x="3116" y="8530"/>
              <a:ext cx="910" cy="427"/>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manager 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9" name="Rectangle 37"/>
            <p:cNvSpPr>
              <a:spLocks noChangeArrowheads="1"/>
            </p:cNvSpPr>
            <p:nvPr/>
          </p:nvSpPr>
          <p:spPr bwMode="auto">
            <a:xfrm>
              <a:off x="3116" y="9523"/>
              <a:ext cx="910" cy="43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manager n</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8" name="Rectangle 36"/>
            <p:cNvSpPr>
              <a:spLocks noChangeArrowheads="1"/>
            </p:cNvSpPr>
            <p:nvPr/>
          </p:nvSpPr>
          <p:spPr bwMode="auto">
            <a:xfrm>
              <a:off x="8168" y="7041"/>
              <a:ext cx="1073" cy="24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Maintenance</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7" name="Rectangle 35"/>
            <p:cNvSpPr>
              <a:spLocks noChangeArrowheads="1"/>
            </p:cNvSpPr>
            <p:nvPr/>
          </p:nvSpPr>
          <p:spPr bwMode="auto">
            <a:xfrm>
              <a:off x="8378" y="7681"/>
              <a:ext cx="643" cy="234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Sub projects</a:t>
              </a:r>
              <a:endParaRPr kumimoji="0" lang="en-US" sz="1400" b="1"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49186" name="AutoShape 34"/>
            <p:cNvSpPr>
              <a:spLocks noChangeShapeType="1"/>
            </p:cNvSpPr>
            <p:nvPr/>
          </p:nvSpPr>
          <p:spPr bwMode="auto">
            <a:xfrm>
              <a:off x="2930" y="6263"/>
              <a:ext cx="2" cy="3479"/>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5" name="AutoShape 33"/>
            <p:cNvSpPr>
              <a:spLocks noChangeShapeType="1"/>
            </p:cNvSpPr>
            <p:nvPr/>
          </p:nvSpPr>
          <p:spPr bwMode="auto">
            <a:xfrm>
              <a:off x="2930" y="6263"/>
              <a:ext cx="2469" cy="0"/>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4" name="AutoShape 32"/>
            <p:cNvSpPr>
              <a:spLocks noChangeShapeType="1"/>
            </p:cNvSpPr>
            <p:nvPr/>
          </p:nvSpPr>
          <p:spPr bwMode="auto">
            <a:xfrm>
              <a:off x="2932" y="7896"/>
              <a:ext cx="186"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3" name="AutoShape 31"/>
            <p:cNvSpPr>
              <a:spLocks noChangeShapeType="1"/>
            </p:cNvSpPr>
            <p:nvPr/>
          </p:nvSpPr>
          <p:spPr bwMode="auto">
            <a:xfrm flipH="1" flipV="1">
              <a:off x="2932" y="9741"/>
              <a:ext cx="184"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2" name="AutoShape 30"/>
            <p:cNvSpPr>
              <a:spLocks noChangeShapeType="1"/>
            </p:cNvSpPr>
            <p:nvPr/>
          </p:nvSpPr>
          <p:spPr bwMode="auto">
            <a:xfrm>
              <a:off x="2930" y="8743"/>
              <a:ext cx="186"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1" name="AutoShape 29"/>
            <p:cNvSpPr>
              <a:spLocks noChangeShapeType="1"/>
            </p:cNvSpPr>
            <p:nvPr/>
          </p:nvSpPr>
          <p:spPr bwMode="auto">
            <a:xfrm>
              <a:off x="4737" y="6765"/>
              <a:ext cx="4014"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80" name="AutoShape 28"/>
            <p:cNvSpPr>
              <a:spLocks noChangeShapeType="1"/>
            </p:cNvSpPr>
            <p:nvPr/>
          </p:nvSpPr>
          <p:spPr bwMode="auto">
            <a:xfrm>
              <a:off x="4736" y="6764"/>
              <a:ext cx="1" cy="27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9" name="AutoShape 27"/>
            <p:cNvSpPr>
              <a:spLocks noChangeShapeType="1"/>
            </p:cNvSpPr>
            <p:nvPr/>
          </p:nvSpPr>
          <p:spPr bwMode="auto">
            <a:xfrm flipH="1" flipV="1">
              <a:off x="8747" y="6767"/>
              <a:ext cx="4" cy="27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8" name="AutoShape 26"/>
            <p:cNvSpPr>
              <a:spLocks noChangeShapeType="1"/>
            </p:cNvSpPr>
            <p:nvPr/>
          </p:nvSpPr>
          <p:spPr bwMode="auto">
            <a:xfrm flipH="1">
              <a:off x="4707" y="7288"/>
              <a:ext cx="2" cy="3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7" name="AutoShape 25"/>
            <p:cNvSpPr>
              <a:spLocks noChangeShapeType="1"/>
            </p:cNvSpPr>
            <p:nvPr/>
          </p:nvSpPr>
          <p:spPr bwMode="auto">
            <a:xfrm flipV="1">
              <a:off x="5758" y="7284"/>
              <a:ext cx="1" cy="3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6" name="AutoShape 24"/>
            <p:cNvSpPr>
              <a:spLocks noChangeShapeType="1"/>
            </p:cNvSpPr>
            <p:nvPr/>
          </p:nvSpPr>
          <p:spPr bwMode="auto">
            <a:xfrm>
              <a:off x="6761" y="7284"/>
              <a:ext cx="2" cy="3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5" name="AutoShape 23"/>
            <p:cNvSpPr>
              <a:spLocks noChangeShapeType="1"/>
            </p:cNvSpPr>
            <p:nvPr/>
          </p:nvSpPr>
          <p:spPr bwMode="auto">
            <a:xfrm>
              <a:off x="7687" y="7284"/>
              <a:ext cx="1" cy="39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4" name="AutoShape 22"/>
            <p:cNvSpPr>
              <a:spLocks noChangeShapeType="1"/>
            </p:cNvSpPr>
            <p:nvPr/>
          </p:nvSpPr>
          <p:spPr bwMode="auto">
            <a:xfrm flipH="1">
              <a:off x="6357" y="6430"/>
              <a:ext cx="7" cy="33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3" name="AutoShape 21"/>
            <p:cNvSpPr>
              <a:spLocks noChangeShapeType="1"/>
            </p:cNvSpPr>
            <p:nvPr/>
          </p:nvSpPr>
          <p:spPr bwMode="auto">
            <a:xfrm>
              <a:off x="4026" y="7898"/>
              <a:ext cx="313"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2" name="AutoShape 20"/>
            <p:cNvSpPr>
              <a:spLocks noChangeShapeType="1"/>
            </p:cNvSpPr>
            <p:nvPr/>
          </p:nvSpPr>
          <p:spPr bwMode="auto">
            <a:xfrm>
              <a:off x="5077" y="7935"/>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1" name="AutoShape 19"/>
            <p:cNvSpPr>
              <a:spLocks noChangeShapeType="1"/>
            </p:cNvSpPr>
            <p:nvPr/>
          </p:nvSpPr>
          <p:spPr bwMode="auto">
            <a:xfrm>
              <a:off x="7107" y="7929"/>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70" name="AutoShape 18"/>
            <p:cNvSpPr>
              <a:spLocks noChangeShapeType="1"/>
            </p:cNvSpPr>
            <p:nvPr/>
          </p:nvSpPr>
          <p:spPr bwMode="auto">
            <a:xfrm>
              <a:off x="6115" y="7931"/>
              <a:ext cx="311"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9" name="AutoShape 17"/>
            <p:cNvSpPr>
              <a:spLocks noChangeShapeType="1"/>
            </p:cNvSpPr>
            <p:nvPr/>
          </p:nvSpPr>
          <p:spPr bwMode="auto">
            <a:xfrm>
              <a:off x="8065" y="7928"/>
              <a:ext cx="313"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8" name="AutoShape 16"/>
            <p:cNvSpPr>
              <a:spLocks noChangeShapeType="1"/>
            </p:cNvSpPr>
            <p:nvPr/>
          </p:nvSpPr>
          <p:spPr bwMode="auto">
            <a:xfrm flipV="1">
              <a:off x="8700" y="7287"/>
              <a:ext cx="5" cy="39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7" name="AutoShape 15"/>
            <p:cNvSpPr>
              <a:spLocks noChangeShapeType="1"/>
            </p:cNvSpPr>
            <p:nvPr/>
          </p:nvSpPr>
          <p:spPr bwMode="auto">
            <a:xfrm>
              <a:off x="4026" y="8806"/>
              <a:ext cx="313"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6" name="AutoShape 14"/>
            <p:cNvSpPr>
              <a:spLocks noChangeShapeType="1"/>
            </p:cNvSpPr>
            <p:nvPr/>
          </p:nvSpPr>
          <p:spPr bwMode="auto">
            <a:xfrm>
              <a:off x="4026" y="9708"/>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5" name="AutoShape 13"/>
            <p:cNvSpPr>
              <a:spLocks noChangeShapeType="1"/>
            </p:cNvSpPr>
            <p:nvPr/>
          </p:nvSpPr>
          <p:spPr bwMode="auto">
            <a:xfrm>
              <a:off x="6115" y="9709"/>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4" name="AutoShape 12"/>
            <p:cNvSpPr>
              <a:spLocks noChangeShapeType="1"/>
            </p:cNvSpPr>
            <p:nvPr/>
          </p:nvSpPr>
          <p:spPr bwMode="auto">
            <a:xfrm>
              <a:off x="5088" y="9704"/>
              <a:ext cx="311"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3" name="AutoShape 11"/>
            <p:cNvSpPr>
              <a:spLocks noChangeShapeType="1"/>
            </p:cNvSpPr>
            <p:nvPr/>
          </p:nvSpPr>
          <p:spPr bwMode="auto">
            <a:xfrm>
              <a:off x="8065" y="8799"/>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2" name="AutoShape 10"/>
            <p:cNvSpPr>
              <a:spLocks noChangeShapeType="1"/>
            </p:cNvSpPr>
            <p:nvPr/>
          </p:nvSpPr>
          <p:spPr bwMode="auto">
            <a:xfrm>
              <a:off x="7107" y="8800"/>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1" name="AutoShape 9"/>
            <p:cNvSpPr>
              <a:spLocks noChangeShapeType="1"/>
            </p:cNvSpPr>
            <p:nvPr/>
          </p:nvSpPr>
          <p:spPr bwMode="auto">
            <a:xfrm>
              <a:off x="6115" y="8802"/>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60" name="AutoShape 8"/>
            <p:cNvSpPr>
              <a:spLocks noChangeShapeType="1"/>
            </p:cNvSpPr>
            <p:nvPr/>
          </p:nvSpPr>
          <p:spPr bwMode="auto">
            <a:xfrm>
              <a:off x="5087" y="8804"/>
              <a:ext cx="312" cy="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9" name="AutoShape 7"/>
            <p:cNvSpPr>
              <a:spLocks noChangeShapeType="1"/>
            </p:cNvSpPr>
            <p:nvPr/>
          </p:nvSpPr>
          <p:spPr bwMode="auto">
            <a:xfrm>
              <a:off x="8065" y="9703"/>
              <a:ext cx="312" cy="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8" name="AutoShape 6"/>
            <p:cNvSpPr>
              <a:spLocks noChangeShapeType="1"/>
            </p:cNvSpPr>
            <p:nvPr/>
          </p:nvSpPr>
          <p:spPr bwMode="auto">
            <a:xfrm>
              <a:off x="7108" y="9711"/>
              <a:ext cx="311" cy="3"/>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7" name="AutoShape 5"/>
            <p:cNvSpPr>
              <a:spLocks noChangeShapeType="1"/>
            </p:cNvSpPr>
            <p:nvPr/>
          </p:nvSpPr>
          <p:spPr bwMode="auto">
            <a:xfrm flipV="1">
              <a:off x="5758" y="6767"/>
              <a:ext cx="1" cy="27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6" name="AutoShape 4"/>
            <p:cNvSpPr>
              <a:spLocks noChangeShapeType="1"/>
            </p:cNvSpPr>
            <p:nvPr/>
          </p:nvSpPr>
          <p:spPr bwMode="auto">
            <a:xfrm flipV="1">
              <a:off x="6761" y="6764"/>
              <a:ext cx="1" cy="27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5" name="AutoShape 3"/>
            <p:cNvSpPr>
              <a:spLocks noChangeShapeType="1"/>
            </p:cNvSpPr>
            <p:nvPr/>
          </p:nvSpPr>
          <p:spPr bwMode="auto">
            <a:xfrm flipV="1">
              <a:off x="7687" y="6765"/>
              <a:ext cx="1" cy="27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49154" name="AutoShape 2"/>
            <p:cNvSpPr>
              <a:spLocks noChangeShapeType="1"/>
            </p:cNvSpPr>
            <p:nvPr/>
          </p:nvSpPr>
          <p:spPr bwMode="auto">
            <a:xfrm>
              <a:off x="3530" y="9096"/>
              <a:ext cx="0" cy="242"/>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IN" sz="1400" b="1"/>
            </a:p>
          </p:txBody>
        </p:sp>
      </p:grpSp>
      <p:sp>
        <p:nvSpPr>
          <p:cNvPr id="49217" name="Text Box 65"/>
          <p:cNvSpPr txBox="1">
            <a:spLocks noChangeArrowheads="1"/>
          </p:cNvSpPr>
          <p:nvPr/>
        </p:nvSpPr>
        <p:spPr bwMode="auto">
          <a:xfrm>
            <a:off x="2819400" y="6172201"/>
            <a:ext cx="3352800" cy="152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4.7: Matrix format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Manager</a:t>
            </a:r>
            <a:endParaRPr lang="en-IN" dirty="0"/>
          </a:p>
        </p:txBody>
      </p:sp>
      <p:sp>
        <p:nvSpPr>
          <p:cNvPr id="3" name="Content Placeholder 2"/>
          <p:cNvSpPr>
            <a:spLocks noGrp="1"/>
          </p:cNvSpPr>
          <p:nvPr>
            <p:ph idx="1"/>
          </p:nvPr>
        </p:nvSpPr>
        <p:spPr>
          <a:xfrm>
            <a:off x="457200" y="1295400"/>
            <a:ext cx="8229600" cy="5334000"/>
          </a:xfrm>
        </p:spPr>
        <p:txBody>
          <a:bodyPr>
            <a:normAutofit/>
          </a:bodyPr>
          <a:lstStyle/>
          <a:p>
            <a:r>
              <a:rPr lang="en-US" sz="2400" dirty="0" smtClean="0"/>
              <a:t>Is the person who has the overall responsibility for the successful planning, execution, monitoring, control, and closure of a project. </a:t>
            </a:r>
          </a:p>
          <a:p>
            <a:r>
              <a:rPr lang="en-US" sz="2400" dirty="0" smtClean="0"/>
              <a:t>The project manager is responsible for making decisions, handling risks, and minimizing uncertainty in product development. </a:t>
            </a:r>
          </a:p>
          <a:p>
            <a:r>
              <a:rPr lang="en-US" sz="2400" dirty="0" smtClean="0"/>
              <a:t>Project managers use project management software to organize their tasks and workforce. </a:t>
            </a:r>
          </a:p>
          <a:p>
            <a:r>
              <a:rPr lang="en-US" sz="2400" dirty="0" smtClean="0"/>
              <a:t>Project manager is the one who tackles all the project-related issues at both development and customer site. </a:t>
            </a:r>
          </a:p>
          <a:p>
            <a:r>
              <a:rPr lang="en-US" sz="2400" dirty="0" smtClean="0"/>
              <a:t>During project management, project manager coordinates and communicates with upper-level managers and lower-level engineers working on the project.</a:t>
            </a:r>
            <a:endParaRPr lang="en-I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IN" dirty="0" smtClean="0"/>
              <a:t>Project Manager’s Activities</a:t>
            </a:r>
            <a:endParaRPr lang="en-IN" dirty="0"/>
          </a:p>
        </p:txBody>
      </p:sp>
      <p:sp>
        <p:nvSpPr>
          <p:cNvPr id="3" name="Content Placeholder 2"/>
          <p:cNvSpPr>
            <a:spLocks noGrp="1"/>
          </p:cNvSpPr>
          <p:nvPr>
            <p:ph idx="1"/>
          </p:nvPr>
        </p:nvSpPr>
        <p:spPr>
          <a:xfrm>
            <a:off x="457200" y="990600"/>
            <a:ext cx="8458200" cy="5334000"/>
          </a:xfrm>
        </p:spPr>
        <p:txBody>
          <a:bodyPr>
            <a:noAutofit/>
          </a:bodyPr>
          <a:lstStyle/>
          <a:p>
            <a:pPr lvl="0"/>
            <a:r>
              <a:rPr lang="en-US" sz="1600" dirty="0" smtClean="0"/>
              <a:t>Defining project scope, goals, and deliverables that support the business goals </a:t>
            </a:r>
            <a:endParaRPr lang="en-IN" sz="1600" dirty="0" smtClean="0"/>
          </a:p>
          <a:p>
            <a:pPr lvl="0"/>
            <a:r>
              <a:rPr lang="en-US" sz="1600" dirty="0" smtClean="0"/>
              <a:t>Project planning and sequencing </a:t>
            </a:r>
            <a:endParaRPr lang="en-IN" sz="1600" dirty="0" smtClean="0"/>
          </a:p>
          <a:p>
            <a:pPr lvl="0"/>
            <a:r>
              <a:rPr lang="en-US" sz="1600" dirty="0" smtClean="0"/>
              <a:t>Planning resources and budget </a:t>
            </a:r>
            <a:endParaRPr lang="en-IN" sz="1600" dirty="0" smtClean="0"/>
          </a:p>
          <a:p>
            <a:pPr lvl="0"/>
            <a:r>
              <a:rPr lang="en-US" sz="1600" dirty="0" smtClean="0"/>
              <a:t>Identifying and resolving the issues and conflicts within the project team</a:t>
            </a:r>
            <a:endParaRPr lang="en-IN" sz="1600" dirty="0" smtClean="0"/>
          </a:p>
          <a:p>
            <a:pPr lvl="0"/>
            <a:r>
              <a:rPr lang="en-US" sz="1600" dirty="0" smtClean="0"/>
              <a:t>Developing schedules, project timelines, and milestones </a:t>
            </a:r>
            <a:endParaRPr lang="en-IN" sz="1600" dirty="0" smtClean="0"/>
          </a:p>
          <a:p>
            <a:pPr lvl="0"/>
            <a:r>
              <a:rPr lang="en-US" sz="1600" dirty="0" smtClean="0"/>
              <a:t>Time and cost estimation </a:t>
            </a:r>
            <a:endParaRPr lang="en-IN" sz="1600" dirty="0" smtClean="0"/>
          </a:p>
          <a:p>
            <a:pPr lvl="0"/>
            <a:r>
              <a:rPr lang="en-US" sz="1600" dirty="0" smtClean="0"/>
              <a:t>Developing and delivering proposals, documentation, and presentations</a:t>
            </a:r>
            <a:endParaRPr lang="en-IN" sz="1600" dirty="0" smtClean="0"/>
          </a:p>
          <a:p>
            <a:pPr lvl="0"/>
            <a:r>
              <a:rPr lang="en-US" sz="1600" dirty="0" smtClean="0"/>
              <a:t>Identifying and resolving risks</a:t>
            </a:r>
            <a:r>
              <a:rPr lang="en-US" sz="1600" i="1" dirty="0" smtClean="0"/>
              <a:t> </a:t>
            </a:r>
            <a:endParaRPr lang="en-IN" sz="1600" dirty="0" smtClean="0"/>
          </a:p>
          <a:p>
            <a:pPr lvl="0"/>
            <a:r>
              <a:rPr lang="en-US" sz="1600" dirty="0" smtClean="0"/>
              <a:t>Monitoring and reporting progress reports</a:t>
            </a:r>
            <a:endParaRPr lang="en-IN" sz="1600" dirty="0" smtClean="0"/>
          </a:p>
          <a:p>
            <a:pPr lvl="0"/>
            <a:r>
              <a:rPr lang="en-US" sz="1600" dirty="0" smtClean="0"/>
              <a:t>Team leadership to coach, mentor, motivate, and supervise the stakeholders </a:t>
            </a:r>
            <a:endParaRPr lang="en-IN" sz="1600" dirty="0" smtClean="0"/>
          </a:p>
          <a:p>
            <a:pPr lvl="0"/>
            <a:r>
              <a:rPr lang="en-US" sz="1600" dirty="0" smtClean="0"/>
              <a:t>Strategic planning and influencing </a:t>
            </a:r>
            <a:endParaRPr lang="en-IN" sz="1600" dirty="0" smtClean="0"/>
          </a:p>
          <a:p>
            <a:pPr lvl="0"/>
            <a:r>
              <a:rPr lang="en-US" sz="1600" dirty="0" smtClean="0"/>
              <a:t>Business relationships for project success  </a:t>
            </a:r>
            <a:endParaRPr lang="en-IN" sz="1600" dirty="0" smtClean="0"/>
          </a:p>
          <a:p>
            <a:pPr lvl="0"/>
            <a:r>
              <a:rPr lang="en-US" sz="1600" dirty="0" smtClean="0"/>
              <a:t>Performing scalability, interoperability, and portability analysis </a:t>
            </a:r>
            <a:endParaRPr lang="en-IN" sz="1600" dirty="0" smtClean="0"/>
          </a:p>
          <a:p>
            <a:pPr lvl="0"/>
            <a:r>
              <a:rPr lang="en-US" sz="1600" dirty="0" smtClean="0"/>
              <a:t>Controlling quality and defining parameters to achieve a quality product</a:t>
            </a:r>
            <a:endParaRPr lang="en-IN" sz="1600" dirty="0" smtClean="0"/>
          </a:p>
          <a:p>
            <a:pPr lvl="0"/>
            <a:r>
              <a:rPr lang="en-US" sz="1600" dirty="0" smtClean="0"/>
              <a:t>Conducting project postmortems and preparing a recommendations report in order to identify the successful and unsuccessful project elements</a:t>
            </a:r>
            <a:endParaRPr lang="en-IN" sz="1600" dirty="0" smtClean="0"/>
          </a:p>
          <a:p>
            <a:pPr lvl="0"/>
            <a:r>
              <a:rPr lang="en-US" sz="1600" dirty="0" smtClean="0"/>
              <a:t>Developing best practices and tools for project execution and management</a:t>
            </a:r>
            <a:endParaRPr lang="en-IN" sz="1600" dirty="0" smtClean="0"/>
          </a:p>
          <a:p>
            <a:pPr lvl="0"/>
            <a:r>
              <a:rPr lang="en-US" sz="1600" dirty="0" smtClean="0"/>
              <a:t>Managing the client relationship</a:t>
            </a:r>
            <a:endParaRPr lang="en-IN" sz="16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Manager’s Roles and Skills</a:t>
            </a:r>
            <a:endParaRPr lang="en-IN" dirty="0"/>
          </a:p>
        </p:txBody>
      </p:sp>
      <p:sp>
        <p:nvSpPr>
          <p:cNvPr id="3" name="Content Placeholder 2"/>
          <p:cNvSpPr>
            <a:spLocks noGrp="1"/>
          </p:cNvSpPr>
          <p:nvPr>
            <p:ph idx="1"/>
          </p:nvPr>
        </p:nvSpPr>
        <p:spPr>
          <a:xfrm>
            <a:off x="457200" y="1447800"/>
            <a:ext cx="8229600" cy="3733800"/>
          </a:xfrm>
        </p:spPr>
        <p:txBody>
          <a:bodyPr numCol="2">
            <a:normAutofit/>
          </a:bodyPr>
          <a:lstStyle/>
          <a:p>
            <a:r>
              <a:rPr lang="en-IN" sz="2400" smtClean="0"/>
              <a:t>Role</a:t>
            </a:r>
          </a:p>
          <a:p>
            <a:pPr lvl="1"/>
            <a:r>
              <a:rPr lang="en-IN" sz="2400" smtClean="0"/>
              <a:t>Leader</a:t>
            </a:r>
          </a:p>
          <a:p>
            <a:pPr lvl="1"/>
            <a:r>
              <a:rPr lang="en-IN" sz="2400" smtClean="0"/>
              <a:t>Manager</a:t>
            </a:r>
          </a:p>
          <a:p>
            <a:pPr lvl="1"/>
            <a:r>
              <a:rPr lang="en-IN" sz="2400" smtClean="0"/>
              <a:t>Facilitator</a:t>
            </a:r>
          </a:p>
          <a:p>
            <a:pPr lvl="1"/>
            <a:r>
              <a:rPr lang="en-IN" sz="2400" smtClean="0"/>
              <a:t>Mentor</a:t>
            </a:r>
          </a:p>
          <a:p>
            <a:endParaRPr lang="en-IN" sz="2400" smtClean="0"/>
          </a:p>
          <a:p>
            <a:endParaRPr lang="en-IN" sz="2400" smtClean="0"/>
          </a:p>
          <a:p>
            <a:endParaRPr lang="en-IN" sz="2400" smtClean="0"/>
          </a:p>
          <a:p>
            <a:r>
              <a:rPr lang="en-IN" sz="2400" smtClean="0"/>
              <a:t>Skills</a:t>
            </a:r>
          </a:p>
          <a:p>
            <a:pPr lvl="1"/>
            <a:r>
              <a:rPr lang="en-IN" sz="2400" smtClean="0"/>
              <a:t>Personal Skills</a:t>
            </a:r>
          </a:p>
          <a:p>
            <a:pPr lvl="1"/>
            <a:r>
              <a:rPr lang="en-IN" sz="2400" smtClean="0"/>
              <a:t>Technical Skills</a:t>
            </a:r>
          </a:p>
          <a:p>
            <a:pPr lvl="1"/>
            <a:r>
              <a:rPr lang="en-IN" sz="2400" smtClean="0"/>
              <a:t>Managerial Skills</a:t>
            </a:r>
          </a:p>
          <a:p>
            <a:pPr lvl="1"/>
            <a:r>
              <a:rPr lang="en-IN" sz="2400" smtClean="0"/>
              <a:t>Adoptive Skills </a:t>
            </a:r>
            <a:endParaRPr lang="en-IN"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Life Cycle</a:t>
            </a:r>
            <a:endParaRPr lang="en-IN" dirty="0"/>
          </a:p>
        </p:txBody>
      </p:sp>
      <p:sp>
        <p:nvSpPr>
          <p:cNvPr id="3" name="Content Placeholder 2"/>
          <p:cNvSpPr>
            <a:spLocks noGrp="1"/>
          </p:cNvSpPr>
          <p:nvPr>
            <p:ph idx="1"/>
          </p:nvPr>
        </p:nvSpPr>
        <p:spPr>
          <a:xfrm>
            <a:off x="457200" y="1295400"/>
            <a:ext cx="8229600" cy="5181600"/>
          </a:xfrm>
        </p:spPr>
        <p:txBody>
          <a:bodyPr>
            <a:normAutofit fontScale="92500" lnSpcReduction="10000"/>
          </a:bodyPr>
          <a:lstStyle/>
          <a:p>
            <a:r>
              <a:rPr lang="en-IN" sz="2400" dirty="0" smtClean="0"/>
              <a:t>As software development life cycle is meant for product development process, the project life cycle is designated for project management process. </a:t>
            </a:r>
          </a:p>
          <a:p>
            <a:r>
              <a:rPr lang="en-IN" sz="2400" dirty="0" smtClean="0"/>
              <a:t>The project management process concentrates on planning and managing a series of activities that need to be accomplished within a specific time and a budget. </a:t>
            </a:r>
          </a:p>
          <a:p>
            <a:r>
              <a:rPr lang="en-IN" sz="2400" dirty="0" smtClean="0"/>
              <a:t>A project life cycle or </a:t>
            </a:r>
            <a:r>
              <a:rPr lang="en-IN" sz="2400" i="1" dirty="0" smtClean="0"/>
              <a:t>project management process</a:t>
            </a:r>
            <a:r>
              <a:rPr lang="en-IN" sz="2400" dirty="0" smtClean="0"/>
              <a:t> is a collection of project phases which are necessary for accomplishing project objectives or goals. </a:t>
            </a:r>
          </a:p>
          <a:p>
            <a:r>
              <a:rPr lang="en-IN" sz="2400" i="1" dirty="0" smtClean="0"/>
              <a:t>The Project Management Book of Knowledge</a:t>
            </a:r>
            <a:r>
              <a:rPr lang="en-IN" sz="2400" dirty="0" smtClean="0"/>
              <a:t> (PMBOK), there are five phases in project life cycle; namely, initiating, planning, executing, monitoring and controlling, and closing. </a:t>
            </a:r>
          </a:p>
          <a:p>
            <a:r>
              <a:rPr lang="en-IN" sz="2400" dirty="0" smtClean="0"/>
              <a:t>These phases are called </a:t>
            </a:r>
            <a:r>
              <a:rPr lang="en-IN" sz="2400" i="1" dirty="0" smtClean="0"/>
              <a:t>process groups.</a:t>
            </a:r>
            <a:r>
              <a:rPr lang="en-IN" sz="2400" dirty="0" smtClean="0"/>
              <a:t> </a:t>
            </a:r>
          </a:p>
          <a:p>
            <a:r>
              <a:rPr lang="en-IN" sz="2400" dirty="0" smtClean="0"/>
              <a:t>Each of the five project management process groups is characterized by the completion of a certain task in the project.</a:t>
            </a:r>
          </a:p>
          <a:p>
            <a:endParaRPr lang="en-US" sz="2400"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Life Cycle</a:t>
            </a:r>
            <a:endParaRPr lang="en-IN" dirty="0"/>
          </a:p>
        </p:txBody>
      </p:sp>
      <p:sp>
        <p:nvSpPr>
          <p:cNvPr id="51217"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5" name="Diagram 24"/>
          <p:cNvGraphicFramePr/>
          <p:nvPr/>
        </p:nvGraphicFramePr>
        <p:xfrm>
          <a:off x="1600200" y="1371600"/>
          <a:ext cx="6400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26" name="Arc 2"/>
          <p:cNvSpPr>
            <a:spLocks/>
          </p:cNvSpPr>
          <p:nvPr/>
        </p:nvSpPr>
        <p:spPr bwMode="auto">
          <a:xfrm rot="5033597" flipH="1">
            <a:off x="4558508" y="4670411"/>
            <a:ext cx="477837" cy="1334688"/>
          </a:xfrm>
          <a:custGeom>
            <a:avLst/>
            <a:gdLst>
              <a:gd name="G0" fmla="+- 0 0 0"/>
              <a:gd name="G1" fmla="+- 17645 0 0"/>
              <a:gd name="G2" fmla="+- 21600 0 0"/>
              <a:gd name="T0" fmla="*/ 12459 w 21600"/>
              <a:gd name="T1" fmla="*/ 0 h 25217"/>
              <a:gd name="T2" fmla="*/ 20229 w 21600"/>
              <a:gd name="T3" fmla="*/ 25217 h 25217"/>
              <a:gd name="T4" fmla="*/ 0 w 21600"/>
              <a:gd name="T5" fmla="*/ 17645 h 25217"/>
            </a:gdLst>
            <a:ahLst/>
            <a:cxnLst>
              <a:cxn ang="0">
                <a:pos x="T0" y="T1"/>
              </a:cxn>
              <a:cxn ang="0">
                <a:pos x="T2" y="T3"/>
              </a:cxn>
              <a:cxn ang="0">
                <a:pos x="T4" y="T5"/>
              </a:cxn>
            </a:cxnLst>
            <a:rect l="0" t="0" r="r" b="b"/>
            <a:pathLst>
              <a:path w="21600" h="25217" fill="none" extrusionOk="0">
                <a:moveTo>
                  <a:pt x="12458" y="0"/>
                </a:moveTo>
                <a:cubicBezTo>
                  <a:pt x="18191" y="4047"/>
                  <a:pt x="21600" y="10627"/>
                  <a:pt x="21600" y="17645"/>
                </a:cubicBezTo>
                <a:cubicBezTo>
                  <a:pt x="21600" y="20230"/>
                  <a:pt x="21135" y="22795"/>
                  <a:pt x="20229" y="25217"/>
                </a:cubicBezTo>
              </a:path>
              <a:path w="21600" h="25217" stroke="0" extrusionOk="0">
                <a:moveTo>
                  <a:pt x="12458" y="0"/>
                </a:moveTo>
                <a:cubicBezTo>
                  <a:pt x="18191" y="4047"/>
                  <a:pt x="21600" y="10627"/>
                  <a:pt x="21600" y="17645"/>
                </a:cubicBezTo>
                <a:cubicBezTo>
                  <a:pt x="21600" y="20230"/>
                  <a:pt x="21135" y="22795"/>
                  <a:pt x="20229" y="25217"/>
                </a:cubicBezTo>
                <a:lnTo>
                  <a:pt x="0" y="17645"/>
                </a:lnTo>
                <a:close/>
              </a:path>
            </a:pathLst>
          </a:custGeom>
          <a:noFill/>
          <a:ln w="9525">
            <a:solidFill>
              <a:srgbClr val="000000"/>
            </a:solidFill>
            <a:prstDash val="dash"/>
            <a:round/>
            <a:headEnd type="arrow" w="lg" len="med"/>
            <a:tailEnd/>
          </a:ln>
        </p:spPr>
        <p:txBody>
          <a:bodyPr vert="horz" wrap="square" lIns="91440" tIns="45720" rIns="91440" bIns="45720" numCol="1" anchor="t" anchorCtr="0" compatLnSpc="1">
            <a:prstTxWarp prst="textNoShape">
              <a:avLst/>
            </a:prstTxWarp>
          </a:bodyPr>
          <a:lstStyle/>
          <a:p>
            <a:endParaRPr lang="en-IN"/>
          </a:p>
        </p:txBody>
      </p:sp>
      <p:sp>
        <p:nvSpPr>
          <p:cNvPr id="1029" name="Text Box 5"/>
          <p:cNvSpPr txBox="1">
            <a:spLocks noChangeArrowheads="1"/>
          </p:cNvSpPr>
          <p:nvPr/>
        </p:nvSpPr>
        <p:spPr bwMode="auto">
          <a:xfrm>
            <a:off x="4029075" y="5334000"/>
            <a:ext cx="1381125" cy="228600"/>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algn="ctr" fontAlgn="base">
              <a:spcBef>
                <a:spcPct val="0"/>
              </a:spcBef>
              <a:spcAft>
                <a:spcPct val="0"/>
              </a:spcAft>
            </a:pPr>
            <a:r>
              <a:rPr lang="en-IN" dirty="0" smtClean="0">
                <a:latin typeface="Times New Roman" pitchFamily="18" charset="0"/>
                <a:cs typeface="Arial" pitchFamily="34" charset="0"/>
              </a:rPr>
              <a:t>Work the plan</a:t>
            </a:r>
            <a:endParaRPr lang="en-US" dirty="0" smtClean="0">
              <a:latin typeface="Times New Roman" pitchFamily="18" charset="0"/>
              <a:cs typeface="Arial" pitchFamily="34" charset="0"/>
            </a:endParaRPr>
          </a:p>
        </p:txBody>
      </p:sp>
      <p:sp>
        <p:nvSpPr>
          <p:cNvPr id="1030" name="Text Box 6"/>
          <p:cNvSpPr txBox="1">
            <a:spLocks noChangeArrowheads="1"/>
          </p:cNvSpPr>
          <p:nvPr/>
        </p:nvSpPr>
        <p:spPr bwMode="auto">
          <a:xfrm>
            <a:off x="4114800" y="4495800"/>
            <a:ext cx="1524000" cy="371475"/>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Track and review progress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1" name="Text Box 7"/>
          <p:cNvSpPr txBox="1">
            <a:spLocks noChangeArrowheads="1"/>
          </p:cNvSpPr>
          <p:nvPr/>
        </p:nvSpPr>
        <p:spPr bwMode="auto">
          <a:xfrm>
            <a:off x="1295400" y="3733800"/>
            <a:ext cx="1371600" cy="53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Verified plan and deliverables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2" name="Text Box 8"/>
          <p:cNvSpPr txBox="1">
            <a:spLocks noChangeArrowheads="1"/>
          </p:cNvSpPr>
          <p:nvPr/>
        </p:nvSpPr>
        <p:spPr bwMode="auto">
          <a:xfrm>
            <a:off x="1981200" y="1905000"/>
            <a:ext cx="1600200" cy="373063"/>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Project success and review</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3" name="Text Box 9"/>
          <p:cNvSpPr txBox="1">
            <a:spLocks noChangeArrowheads="1"/>
          </p:cNvSpPr>
          <p:nvPr/>
        </p:nvSpPr>
        <p:spPr bwMode="auto">
          <a:xfrm>
            <a:off x="3733800" y="3657600"/>
            <a:ext cx="1905000" cy="381000"/>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b="1" i="0" u="none" strike="noStrike" cap="none" normalizeH="0" baseline="0" dirty="0" smtClean="0">
                <a:ln>
                  <a:noFill/>
                </a:ln>
                <a:solidFill>
                  <a:schemeClr val="tx1"/>
                </a:solidFill>
                <a:effectLst/>
                <a:latin typeface="Times New Roman" pitchFamily="18" charset="0"/>
                <a:cs typeface="Arial" pitchFamily="34" charset="0"/>
              </a:rPr>
              <a:t>Project life cycle</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4" name="Text Box 10"/>
          <p:cNvSpPr txBox="1">
            <a:spLocks noChangeArrowheads="1"/>
          </p:cNvSpPr>
          <p:nvPr/>
        </p:nvSpPr>
        <p:spPr bwMode="auto">
          <a:xfrm>
            <a:off x="6172200" y="2057400"/>
            <a:ext cx="1600200" cy="381000"/>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Project   definition</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1035" name="Text Box 11"/>
          <p:cNvSpPr txBox="1">
            <a:spLocks noChangeArrowheads="1"/>
          </p:cNvSpPr>
          <p:nvPr/>
        </p:nvSpPr>
        <p:spPr bwMode="auto">
          <a:xfrm>
            <a:off x="7010400" y="4114800"/>
            <a:ext cx="1371600" cy="371475"/>
          </a:xfrm>
          <a:prstGeom prst="rect">
            <a:avLst/>
          </a:prstGeom>
          <a:solidFill>
            <a:schemeClr val="bg1">
              <a:lumMod val="95000"/>
            </a:scheme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IN" b="0" i="0" u="none" strike="noStrike" cap="none" normalizeH="0" baseline="0" dirty="0" smtClean="0">
                <a:ln>
                  <a:noFill/>
                </a:ln>
                <a:solidFill>
                  <a:schemeClr val="tx1"/>
                </a:solidFill>
                <a:effectLst/>
                <a:latin typeface="Times New Roman" pitchFamily="18" charset="0"/>
                <a:cs typeface="Arial" pitchFamily="34" charset="0"/>
              </a:rPr>
              <a:t>Detailed    planning </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Initiation</a:t>
            </a:r>
            <a:endParaRPr lang="en-IN" dirty="0"/>
          </a:p>
        </p:txBody>
      </p:sp>
      <p:sp>
        <p:nvSpPr>
          <p:cNvPr id="3" name="Content Placeholder 2"/>
          <p:cNvSpPr>
            <a:spLocks noGrp="1"/>
          </p:cNvSpPr>
          <p:nvPr>
            <p:ph idx="1"/>
          </p:nvPr>
        </p:nvSpPr>
        <p:spPr>
          <a:xfrm>
            <a:off x="457200" y="1143000"/>
            <a:ext cx="8229600" cy="5257800"/>
          </a:xfrm>
        </p:spPr>
        <p:txBody>
          <a:bodyPr>
            <a:normAutofit fontScale="92500" lnSpcReduction="20000"/>
          </a:bodyPr>
          <a:lstStyle/>
          <a:p>
            <a:r>
              <a:rPr lang="en-US" sz="2400" dirty="0" smtClean="0"/>
              <a:t>Project is initiated by defining its purpose and scope, the justification for initiating it, and the solution to be implemented. </a:t>
            </a:r>
          </a:p>
          <a:p>
            <a:r>
              <a:rPr lang="en-US" sz="2400" dirty="0" smtClean="0"/>
              <a:t>Once the project is confirmed, a project team is formally introduced that will work on the client's project. </a:t>
            </a:r>
          </a:p>
          <a:p>
            <a:r>
              <a:rPr lang="en-IN" sz="2400" dirty="0" smtClean="0"/>
              <a:t>A project plan is developed and presented in a document called </a:t>
            </a:r>
            <a:r>
              <a:rPr lang="en-IN" sz="2400" i="1" dirty="0" smtClean="0"/>
              <a:t>project charter</a:t>
            </a:r>
            <a:r>
              <a:rPr lang="en-IN" sz="2400" dirty="0" smtClean="0"/>
              <a:t> that defines the critical aspects of the project. </a:t>
            </a:r>
          </a:p>
          <a:p>
            <a:r>
              <a:rPr lang="en-IN" sz="2400" dirty="0" smtClean="0"/>
              <a:t>This project plan focuses on the identification of stakeholders, assumptions, feasibility report, contingencies, and risks. </a:t>
            </a:r>
          </a:p>
          <a:p>
            <a:r>
              <a:rPr lang="en-IN" sz="2400" dirty="0" smtClean="0"/>
              <a:t>Business objectives are set with minor and major milestones and success criteria for the project. </a:t>
            </a:r>
          </a:p>
          <a:p>
            <a:r>
              <a:rPr lang="en-IN" sz="2400" dirty="0" smtClean="0"/>
              <a:t>A project manager (PM) is assigned to monitor and supervise the project. </a:t>
            </a:r>
          </a:p>
          <a:p>
            <a:r>
              <a:rPr lang="en-IN" sz="2400" dirty="0" smtClean="0"/>
              <a:t>A team leader (TL) is appointed under the PM, who is a fully dedicated to the project development. </a:t>
            </a:r>
          </a:p>
          <a:p>
            <a:r>
              <a:rPr lang="en-IN" sz="2400" dirty="0" smtClean="0"/>
              <a:t>The TL is responsible for the day to day activities and timeline keeping of the project, for technical supervision, and for providing guidance to his team members. </a:t>
            </a:r>
            <a:endParaRPr lang="en-IN" sz="2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Planning</a:t>
            </a:r>
            <a:endParaRPr lang="en-IN" dirty="0"/>
          </a:p>
        </p:txBody>
      </p:sp>
      <p:sp>
        <p:nvSpPr>
          <p:cNvPr id="3" name="Content Placeholder 2"/>
          <p:cNvSpPr>
            <a:spLocks noGrp="1"/>
          </p:cNvSpPr>
          <p:nvPr>
            <p:ph idx="1"/>
          </p:nvPr>
        </p:nvSpPr>
        <p:spPr>
          <a:xfrm>
            <a:off x="457200" y="1219200"/>
            <a:ext cx="8229600" cy="5029200"/>
          </a:xfrm>
        </p:spPr>
        <p:txBody>
          <a:bodyPr>
            <a:noAutofit/>
          </a:bodyPr>
          <a:lstStyle/>
          <a:p>
            <a:r>
              <a:rPr lang="en-US" sz="2200" dirty="0" smtClean="0"/>
              <a:t>The planning phase is considered the most important phase in the project life cycle. </a:t>
            </a:r>
          </a:p>
          <a:p>
            <a:r>
              <a:rPr lang="en-US" sz="2200" dirty="0" smtClean="0"/>
              <a:t>A more detailed project plan with resource requirements, financial issues, quality parameters, and acceptance criteria is defined. </a:t>
            </a:r>
          </a:p>
          <a:p>
            <a:r>
              <a:rPr lang="en-US" sz="2200" dirty="0" smtClean="0"/>
              <a:t>This phase minimizes the time, cost, confusion, and rework during the execution of the project. </a:t>
            </a:r>
          </a:p>
          <a:p>
            <a:r>
              <a:rPr lang="en-US" sz="2200" dirty="0" smtClean="0"/>
              <a:t>It defines the project activities to be performed, the products that will be produced, and how these activities will be carried out and managed. </a:t>
            </a:r>
          </a:p>
          <a:p>
            <a:r>
              <a:rPr lang="en-US" sz="2200" dirty="0" smtClean="0"/>
              <a:t>This phase also defines the major tasks. </a:t>
            </a:r>
          </a:p>
          <a:p>
            <a:r>
              <a:rPr lang="en-IN" sz="2400" dirty="0" smtClean="0"/>
              <a:t>During planning, the major activities are more accurate cost and schedule estimates, identifying milestones, finalizing project sponsor, project staffing, quality control plan, risk management plan, and so on.</a:t>
            </a:r>
            <a:endParaRPr lang="en-IN"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Execution</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r>
              <a:rPr lang="en-US" sz="2400" dirty="0" smtClean="0"/>
              <a:t>In this phase, the deliverables are physically built and presented to the customer for acceptance. </a:t>
            </a:r>
          </a:p>
          <a:p>
            <a:r>
              <a:rPr lang="en-US" sz="2400" dirty="0" smtClean="0"/>
              <a:t>Project management processes are undertaken to monitor and control the construction of deliverables in the project. </a:t>
            </a:r>
          </a:p>
          <a:p>
            <a:r>
              <a:rPr lang="en-US" sz="2400" dirty="0" smtClean="0"/>
              <a:t>These processes include time, cost, quality, change, risks issues, suppliers, customers, and communication management. </a:t>
            </a:r>
          </a:p>
          <a:p>
            <a:r>
              <a:rPr lang="en-US" sz="2400" dirty="0" smtClean="0"/>
              <a:t>Once all the deliverables have been produced and the customer has accepted the final solution, the project is ready for closure. </a:t>
            </a:r>
          </a:p>
          <a:p>
            <a:r>
              <a:rPr lang="en-IN" sz="2400" dirty="0" smtClean="0"/>
              <a:t>The executing process coordinates people and other resources to execute the project plan and produces the product, services, or results of the project or any phase.</a:t>
            </a:r>
            <a:endParaRPr lang="en-IN"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fontScale="90000"/>
          </a:bodyPr>
          <a:lstStyle/>
          <a:p>
            <a:r>
              <a:rPr lang="en-IN" dirty="0" smtClean="0"/>
              <a:t/>
            </a:r>
            <a:br>
              <a:rPr lang="en-IN" dirty="0" smtClean="0"/>
            </a:br>
            <a:r>
              <a:rPr lang="en-IN" dirty="0" smtClean="0"/>
              <a:t>Monitoring and control</a:t>
            </a:r>
            <a:br>
              <a:rPr lang="en-IN" dirty="0" smtClean="0"/>
            </a:br>
            <a:endParaRPr lang="en-IN" dirty="0" smtClean="0"/>
          </a:p>
        </p:txBody>
      </p:sp>
      <p:sp>
        <p:nvSpPr>
          <p:cNvPr id="3" name="Content Placeholder 2"/>
          <p:cNvSpPr>
            <a:spLocks noGrp="1"/>
          </p:cNvSpPr>
          <p:nvPr>
            <p:ph idx="1"/>
          </p:nvPr>
        </p:nvSpPr>
        <p:spPr>
          <a:xfrm>
            <a:off x="457200" y="990600"/>
            <a:ext cx="8229600" cy="5562600"/>
          </a:xfrm>
        </p:spPr>
        <p:txBody>
          <a:bodyPr>
            <a:noAutofit/>
          </a:bodyPr>
          <a:lstStyle/>
          <a:p>
            <a:r>
              <a:rPr lang="en-IN" sz="2400" dirty="0" smtClean="0"/>
              <a:t>It includes measuring and monitoring progress on a regular basis to ensure that the project team and its activities are moving in the right direction to achieve the project objectives. </a:t>
            </a:r>
          </a:p>
          <a:p>
            <a:r>
              <a:rPr lang="en-IN" sz="2400" dirty="0" smtClean="0"/>
              <a:t>In general, </a:t>
            </a:r>
            <a:r>
              <a:rPr lang="en-IN" sz="2400" i="1" dirty="0" smtClean="0"/>
              <a:t>earned value method</a:t>
            </a:r>
            <a:r>
              <a:rPr lang="en-IN" sz="2400" dirty="0" smtClean="0"/>
              <a:t> is used to assess the progress, which tells the project manager how far ahead or behind schedule, and above or below cost, the project is relative to its planned schedule and cost at that point in time. </a:t>
            </a:r>
          </a:p>
          <a:p>
            <a:r>
              <a:rPr lang="en-IN" sz="2400" dirty="0" smtClean="0"/>
              <a:t>Corrective actions can be taken when project teams do not perform and progress against the plan. </a:t>
            </a:r>
          </a:p>
          <a:p>
            <a:r>
              <a:rPr lang="en-IN" sz="2400" dirty="0" smtClean="0"/>
              <a:t>This process monitors and controls the time, cost, quality, change, risks issues, suppliers, customers, and communication management. </a:t>
            </a:r>
          </a:p>
          <a:p>
            <a:r>
              <a:rPr lang="en-IN" sz="2400" dirty="0" smtClean="0"/>
              <a:t>Once all the deliverables have been produced and the customer has accepted the final solution, the project is ready for closure.</a:t>
            </a:r>
          </a:p>
          <a:p>
            <a:endParaRPr lang="en-IN"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Closure</a:t>
            </a:r>
            <a:endParaRPr lang="en-IN" dirty="0"/>
          </a:p>
        </p:txBody>
      </p:sp>
      <p:sp>
        <p:nvSpPr>
          <p:cNvPr id="3" name="Content Placeholder 2"/>
          <p:cNvSpPr>
            <a:spLocks noGrp="1"/>
          </p:cNvSpPr>
          <p:nvPr>
            <p:ph idx="1"/>
          </p:nvPr>
        </p:nvSpPr>
        <p:spPr>
          <a:xfrm>
            <a:off x="457200" y="1447800"/>
            <a:ext cx="8229600" cy="4800600"/>
          </a:xfrm>
        </p:spPr>
        <p:txBody>
          <a:bodyPr>
            <a:normAutofit/>
          </a:bodyPr>
          <a:lstStyle/>
          <a:p>
            <a:r>
              <a:rPr lang="en-IN" sz="2400" dirty="0" smtClean="0"/>
              <a:t>The</a:t>
            </a:r>
            <a:r>
              <a:rPr lang="en-IN" sz="2400" b="1" dirty="0" smtClean="0"/>
              <a:t> </a:t>
            </a:r>
            <a:r>
              <a:rPr lang="en-IN" sz="2400" dirty="0" smtClean="0"/>
              <a:t>closing process is performed after the development of a product.</a:t>
            </a:r>
          </a:p>
          <a:p>
            <a:r>
              <a:rPr lang="en-US" sz="2400" dirty="0" smtClean="0"/>
              <a:t>The project closure phase puts emphasis on releasing the final deliverables to the customer, handing over the project documentation to the business, terminating supplier contracts, releasing project resources, and communicating the closure of the project for all stakeholders. </a:t>
            </a:r>
          </a:p>
          <a:p>
            <a:r>
              <a:rPr lang="en-US" sz="2400" dirty="0" smtClean="0"/>
              <a:t>The organization records the lessons learned in the project, which will help the future project teams. </a:t>
            </a:r>
          </a:p>
          <a:p>
            <a:r>
              <a:rPr lang="en-IN" sz="2400" dirty="0" smtClean="0"/>
              <a:t>This phase is also called </a:t>
            </a:r>
            <a:r>
              <a:rPr lang="en-IN" sz="2400" i="1" dirty="0" smtClean="0"/>
              <a:t>post-mortem analysis</a:t>
            </a:r>
            <a:r>
              <a:rPr lang="en-IN" sz="2400" dirty="0" smtClean="0"/>
              <a:t>.</a:t>
            </a:r>
            <a:r>
              <a:rPr lang="en-US" sz="2400" dirty="0" smtClean="0"/>
              <a:t> </a:t>
            </a:r>
            <a:r>
              <a:rPr lang="en-IN" sz="2400" dirty="0" smtClean="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v/s Product Life Cycle</a:t>
            </a:r>
            <a:endParaRPr lang="en-IN" dirty="0"/>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r>
              <a:rPr lang="en-US" smtClean="0"/>
              <a:t>Project life cycle and product life cycle both are separate processes used in every organization.</a:t>
            </a:r>
          </a:p>
          <a:p>
            <a:r>
              <a:rPr lang="en-US" smtClean="0"/>
              <a:t>Project is executed to produce a product and product is the outcome of a project. </a:t>
            </a:r>
          </a:p>
          <a:p>
            <a:r>
              <a:rPr lang="en-US" smtClean="0"/>
              <a:t>The product life cycle starts with a business plan with several ideas or features to be incorporated in the software product. </a:t>
            </a:r>
          </a:p>
          <a:p>
            <a:r>
              <a:rPr lang="en-US" smtClean="0"/>
              <a:t>Software product is then developed and installed in customer site for operation. </a:t>
            </a:r>
          </a:p>
          <a:p>
            <a:r>
              <a:rPr lang="en-US" smtClean="0"/>
              <a:t>During its operational life, it goes through maintenance activities and finally it is reengineered on modern platform. </a:t>
            </a:r>
          </a:p>
          <a:p>
            <a:r>
              <a:rPr lang="en-US" smtClean="0"/>
              <a:t>The project life cycle goes through a series of phases to develop the product. </a:t>
            </a:r>
          </a:p>
          <a:p>
            <a:r>
              <a:rPr lang="en-US" smtClean="0"/>
              <a:t>Project life cycle defines the tasks to be accomplished in each phase and a team is responsible for each phase defined.</a:t>
            </a:r>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Project v/s Product Life Cycle</a:t>
            </a:r>
            <a:endParaRPr lang="en-IN" dirty="0"/>
          </a:p>
        </p:txBody>
      </p:sp>
      <p:sp>
        <p:nvSpPr>
          <p:cNvPr id="56359" name="Rectangle 3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56321" name="Group 1"/>
          <p:cNvGrpSpPr>
            <a:grpSpLocks noChangeAspect="1"/>
          </p:cNvGrpSpPr>
          <p:nvPr/>
        </p:nvGrpSpPr>
        <p:grpSpPr bwMode="auto">
          <a:xfrm>
            <a:off x="685801" y="1447800"/>
            <a:ext cx="7924800" cy="4495800"/>
            <a:chOff x="2959" y="8845"/>
            <a:chExt cx="6784" cy="3177"/>
          </a:xfrm>
        </p:grpSpPr>
        <p:sp>
          <p:nvSpPr>
            <p:cNvPr id="56358" name="AutoShape 38"/>
            <p:cNvSpPr>
              <a:spLocks noChangeAspect="1" noChangeArrowheads="1" noTextEdit="1"/>
            </p:cNvSpPr>
            <p:nvPr/>
          </p:nvSpPr>
          <p:spPr bwMode="auto">
            <a:xfrm>
              <a:off x="2959" y="8845"/>
              <a:ext cx="6784" cy="317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57" name="AutoShape 37"/>
            <p:cNvSpPr>
              <a:spLocks noChangeShapeType="1"/>
            </p:cNvSpPr>
            <p:nvPr/>
          </p:nvSpPr>
          <p:spPr bwMode="auto">
            <a:xfrm>
              <a:off x="3034" y="10471"/>
              <a:ext cx="5204" cy="1"/>
            </a:xfrm>
            <a:prstGeom prst="straightConnector1">
              <a:avLst/>
            </a:prstGeom>
            <a:noFill/>
            <a:ln w="254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6" name="AutoShape 36"/>
            <p:cNvSpPr>
              <a:spLocks noChangeShapeType="1"/>
            </p:cNvSpPr>
            <p:nvPr/>
          </p:nvSpPr>
          <p:spPr bwMode="auto">
            <a:xfrm>
              <a:off x="5237" y="11586"/>
              <a:ext cx="2229" cy="1"/>
            </a:xfrm>
            <a:prstGeom prst="straightConnector1">
              <a:avLst/>
            </a:prstGeom>
            <a:noFill/>
            <a:ln w="254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5" name="AutoShape 35"/>
            <p:cNvSpPr>
              <a:spLocks noChangeShapeType="1"/>
            </p:cNvSpPr>
            <p:nvPr/>
          </p:nvSpPr>
          <p:spPr bwMode="auto">
            <a:xfrm>
              <a:off x="3034" y="9513"/>
              <a:ext cx="5203" cy="1"/>
            </a:xfrm>
            <a:prstGeom prst="straightConnector1">
              <a:avLst/>
            </a:prstGeom>
            <a:noFill/>
            <a:ln w="254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4" name="AutoShape 34"/>
            <p:cNvSpPr>
              <a:spLocks noChangeShapeType="1"/>
            </p:cNvSpPr>
            <p:nvPr/>
          </p:nvSpPr>
          <p:spPr bwMode="auto">
            <a:xfrm flipV="1">
              <a:off x="4165" y="10352"/>
              <a:ext cx="0" cy="11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3" name="AutoShape 33"/>
            <p:cNvSpPr>
              <a:spLocks noChangeShapeType="1"/>
            </p:cNvSpPr>
            <p:nvPr/>
          </p:nvSpPr>
          <p:spPr bwMode="auto">
            <a:xfrm flipV="1">
              <a:off x="5237" y="10352"/>
              <a:ext cx="1" cy="12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2" name="AutoShape 32"/>
            <p:cNvSpPr>
              <a:spLocks noChangeShapeType="1"/>
            </p:cNvSpPr>
            <p:nvPr/>
          </p:nvSpPr>
          <p:spPr bwMode="auto">
            <a:xfrm flipV="1">
              <a:off x="7465" y="10352"/>
              <a:ext cx="0" cy="11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1" name="AutoShape 31"/>
            <p:cNvSpPr>
              <a:spLocks noChangeShapeType="1"/>
            </p:cNvSpPr>
            <p:nvPr/>
          </p:nvSpPr>
          <p:spPr bwMode="auto">
            <a:xfrm flipV="1">
              <a:off x="8237" y="10351"/>
              <a:ext cx="1" cy="12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50" name="AutoShape 30"/>
            <p:cNvSpPr>
              <a:spLocks noChangeShapeType="1"/>
            </p:cNvSpPr>
            <p:nvPr/>
          </p:nvSpPr>
          <p:spPr bwMode="auto">
            <a:xfrm flipV="1">
              <a:off x="5758" y="10471"/>
              <a:ext cx="11" cy="1115"/>
            </a:xfrm>
            <a:prstGeom prst="straightConnector1">
              <a:avLst/>
            </a:prstGeom>
            <a:noFill/>
            <a:ln w="9525">
              <a:solidFill>
                <a:srgbClr val="000000"/>
              </a:solidFill>
              <a:prstDash val="dash"/>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9" name="AutoShape 29"/>
            <p:cNvSpPr>
              <a:spLocks noChangeShapeType="1"/>
            </p:cNvSpPr>
            <p:nvPr/>
          </p:nvSpPr>
          <p:spPr bwMode="auto">
            <a:xfrm>
              <a:off x="6335" y="10472"/>
              <a:ext cx="1" cy="111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8" name="AutoShape 28"/>
            <p:cNvSpPr>
              <a:spLocks noChangeShapeType="1"/>
            </p:cNvSpPr>
            <p:nvPr/>
          </p:nvSpPr>
          <p:spPr bwMode="auto">
            <a:xfrm flipV="1">
              <a:off x="6923" y="10472"/>
              <a:ext cx="1" cy="1114"/>
            </a:xfrm>
            <a:prstGeom prst="straightConnector1">
              <a:avLst/>
            </a:prstGeom>
            <a:noFill/>
            <a:ln w="9525">
              <a:solidFill>
                <a:srgbClr val="000000"/>
              </a:solidFill>
              <a:prstDash val="dash"/>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7" name="AutoShape 27"/>
            <p:cNvSpPr>
              <a:spLocks noChangeShapeType="1"/>
            </p:cNvSpPr>
            <p:nvPr/>
          </p:nvSpPr>
          <p:spPr bwMode="auto">
            <a:xfrm>
              <a:off x="5238" y="10471"/>
              <a:ext cx="1" cy="111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6" name="AutoShape 26"/>
            <p:cNvSpPr>
              <a:spLocks noChangeShapeType="1"/>
            </p:cNvSpPr>
            <p:nvPr/>
          </p:nvSpPr>
          <p:spPr bwMode="auto">
            <a:xfrm>
              <a:off x="7463" y="10472"/>
              <a:ext cx="2" cy="111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a:p>
          </p:txBody>
        </p:sp>
        <p:sp>
          <p:nvSpPr>
            <p:cNvPr id="56345" name="Text Box 25"/>
            <p:cNvSpPr txBox="1">
              <a:spLocks noChangeArrowheads="1"/>
            </p:cNvSpPr>
            <p:nvPr/>
          </p:nvSpPr>
          <p:spPr bwMode="auto">
            <a:xfrm>
              <a:off x="3323" y="10094"/>
              <a:ext cx="688" cy="258"/>
            </a:xfrm>
            <a:prstGeom prst="rect">
              <a:avLst/>
            </a:prstGeom>
            <a:solidFill>
              <a:srgbClr val="FFFFFF"/>
            </a:solidFill>
            <a:ln w="9525">
              <a:solidFill>
                <a:srgbClr val="FFFFFF"/>
              </a:solidFill>
              <a:miter lim="800000"/>
              <a:headEnd/>
              <a:tailEnd/>
            </a:ln>
          </p:spPr>
          <p:txBody>
            <a:bodyPr vert="horz" wrap="non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Initiating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4" name="Text Box 24"/>
            <p:cNvSpPr txBox="1">
              <a:spLocks noChangeArrowheads="1"/>
            </p:cNvSpPr>
            <p:nvPr/>
          </p:nvSpPr>
          <p:spPr bwMode="auto">
            <a:xfrm>
              <a:off x="4361" y="10094"/>
              <a:ext cx="692" cy="25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Planning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3" name="Text Box 23"/>
            <p:cNvSpPr txBox="1">
              <a:spLocks noChangeArrowheads="1"/>
            </p:cNvSpPr>
            <p:nvPr/>
          </p:nvSpPr>
          <p:spPr bwMode="auto">
            <a:xfrm>
              <a:off x="5918" y="10094"/>
              <a:ext cx="888" cy="25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Executing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2" name="Text Box 22"/>
            <p:cNvSpPr txBox="1">
              <a:spLocks noChangeArrowheads="1"/>
            </p:cNvSpPr>
            <p:nvPr/>
          </p:nvSpPr>
          <p:spPr bwMode="auto">
            <a:xfrm>
              <a:off x="7569" y="10094"/>
              <a:ext cx="669" cy="25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Closing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1" name="Text Box 21"/>
            <p:cNvSpPr txBox="1">
              <a:spLocks noChangeArrowheads="1"/>
            </p:cNvSpPr>
            <p:nvPr/>
          </p:nvSpPr>
          <p:spPr bwMode="auto">
            <a:xfrm>
              <a:off x="7649" y="11380"/>
              <a:ext cx="1627" cy="20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Development process</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40" name="Text Box 20"/>
            <p:cNvSpPr txBox="1">
              <a:spLocks noChangeArrowheads="1"/>
            </p:cNvSpPr>
            <p:nvPr/>
          </p:nvSpPr>
          <p:spPr bwMode="auto">
            <a:xfrm>
              <a:off x="8296" y="10352"/>
              <a:ext cx="1373"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life cycle</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9" name="AutoShape 19"/>
            <p:cNvSpPr>
              <a:spLocks noChangeShapeType="1"/>
            </p:cNvSpPr>
            <p:nvPr/>
          </p:nvSpPr>
          <p:spPr bwMode="auto">
            <a:xfrm>
              <a:off x="3034" y="9373"/>
              <a:ext cx="2" cy="13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8" name="AutoShape 18"/>
            <p:cNvSpPr>
              <a:spLocks noChangeShapeType="1"/>
            </p:cNvSpPr>
            <p:nvPr/>
          </p:nvSpPr>
          <p:spPr bwMode="auto">
            <a:xfrm flipV="1">
              <a:off x="4227" y="9375"/>
              <a:ext cx="1" cy="13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7" name="AutoShape 17"/>
            <p:cNvSpPr>
              <a:spLocks noChangeShapeType="1"/>
            </p:cNvSpPr>
            <p:nvPr/>
          </p:nvSpPr>
          <p:spPr bwMode="auto">
            <a:xfrm flipV="1">
              <a:off x="5916" y="9375"/>
              <a:ext cx="2" cy="13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6" name="AutoShape 16"/>
            <p:cNvSpPr>
              <a:spLocks noChangeShapeType="1"/>
            </p:cNvSpPr>
            <p:nvPr/>
          </p:nvSpPr>
          <p:spPr bwMode="auto">
            <a:xfrm flipV="1">
              <a:off x="7222" y="9377"/>
              <a:ext cx="1" cy="13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5" name="AutoShape 15"/>
            <p:cNvSpPr>
              <a:spLocks noChangeShapeType="1"/>
            </p:cNvSpPr>
            <p:nvPr/>
          </p:nvSpPr>
          <p:spPr bwMode="auto">
            <a:xfrm flipV="1">
              <a:off x="8237" y="9373"/>
              <a:ext cx="0" cy="13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4" name="Text Box 14"/>
            <p:cNvSpPr txBox="1">
              <a:spLocks noChangeArrowheads="1"/>
            </p:cNvSpPr>
            <p:nvPr/>
          </p:nvSpPr>
          <p:spPr bwMode="auto">
            <a:xfrm>
              <a:off x="8296" y="9373"/>
              <a:ext cx="1373"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life cycle</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3" name="AutoShape 13"/>
            <p:cNvSpPr>
              <a:spLocks noChangeShapeType="1"/>
            </p:cNvSpPr>
            <p:nvPr/>
          </p:nvSpPr>
          <p:spPr bwMode="auto">
            <a:xfrm flipV="1">
              <a:off x="3034" y="10351"/>
              <a:ext cx="2" cy="12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6332" name="Text Box 12"/>
            <p:cNvSpPr txBox="1">
              <a:spLocks noChangeArrowheads="1"/>
            </p:cNvSpPr>
            <p:nvPr/>
          </p:nvSpPr>
          <p:spPr bwMode="auto">
            <a:xfrm>
              <a:off x="3265" y="9246"/>
              <a:ext cx="646" cy="18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Concept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1" name="Text Box 11"/>
            <p:cNvSpPr txBox="1">
              <a:spLocks noChangeArrowheads="1"/>
            </p:cNvSpPr>
            <p:nvPr/>
          </p:nvSpPr>
          <p:spPr bwMode="auto">
            <a:xfrm>
              <a:off x="4430" y="8986"/>
              <a:ext cx="1050" cy="44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development</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30" name="Text Box 10"/>
            <p:cNvSpPr txBox="1">
              <a:spLocks noChangeArrowheads="1"/>
            </p:cNvSpPr>
            <p:nvPr/>
          </p:nvSpPr>
          <p:spPr bwMode="auto">
            <a:xfrm>
              <a:off x="6056" y="8986"/>
              <a:ext cx="1167" cy="44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Operation and maintenance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9" name="Text Box 9"/>
            <p:cNvSpPr txBox="1">
              <a:spLocks noChangeArrowheads="1"/>
            </p:cNvSpPr>
            <p:nvPr/>
          </p:nvSpPr>
          <p:spPr bwMode="auto">
            <a:xfrm>
              <a:off x="7282" y="9246"/>
              <a:ext cx="839" cy="18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Retirement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8" name="AutoShape 8"/>
            <p:cNvSpPr>
              <a:spLocks noChangeShapeType="1"/>
            </p:cNvSpPr>
            <p:nvPr/>
          </p:nvSpPr>
          <p:spPr bwMode="auto">
            <a:xfrm flipH="1">
              <a:off x="3036" y="9510"/>
              <a:ext cx="1221" cy="72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a:p>
          </p:txBody>
        </p:sp>
        <p:sp>
          <p:nvSpPr>
            <p:cNvPr id="56327" name="AutoShape 7"/>
            <p:cNvSpPr>
              <a:spLocks noChangeShapeType="1"/>
            </p:cNvSpPr>
            <p:nvPr/>
          </p:nvSpPr>
          <p:spPr bwMode="auto">
            <a:xfrm>
              <a:off x="5854" y="9486"/>
              <a:ext cx="2050" cy="608"/>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a:p>
          </p:txBody>
        </p:sp>
        <p:sp>
          <p:nvSpPr>
            <p:cNvPr id="56326" name="AutoShape 6"/>
            <p:cNvSpPr>
              <a:spLocks noChangeShapeType="1"/>
            </p:cNvSpPr>
            <p:nvPr/>
          </p:nvSpPr>
          <p:spPr bwMode="auto">
            <a:xfrm>
              <a:off x="3036" y="11031"/>
              <a:ext cx="50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56325" name="AutoShape 5"/>
            <p:cNvSpPr>
              <a:spLocks noChangeShapeType="1"/>
            </p:cNvSpPr>
            <p:nvPr/>
          </p:nvSpPr>
          <p:spPr bwMode="auto">
            <a:xfrm>
              <a:off x="3036" y="11496"/>
              <a:ext cx="500" cy="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56324" name="Text Box 4"/>
            <p:cNvSpPr txBox="1">
              <a:spLocks noChangeArrowheads="1"/>
            </p:cNvSpPr>
            <p:nvPr/>
          </p:nvSpPr>
          <p:spPr bwMode="auto">
            <a:xfrm>
              <a:off x="3708" y="10884"/>
              <a:ext cx="549" cy="28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Task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3" name="Text Box 3"/>
            <p:cNvSpPr txBox="1">
              <a:spLocks noChangeArrowheads="1"/>
            </p:cNvSpPr>
            <p:nvPr/>
          </p:nvSpPr>
          <p:spPr bwMode="auto">
            <a:xfrm>
              <a:off x="3708" y="11380"/>
              <a:ext cx="653" cy="21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Control </a:t>
              </a:r>
              <a:endParaRPr kumimoji="0" lang="en-US" i="0" u="none" strike="noStrike" cap="none" normalizeH="0" baseline="0" smtClean="0">
                <a:ln>
                  <a:noFill/>
                </a:ln>
                <a:solidFill>
                  <a:schemeClr val="tx1"/>
                </a:solidFill>
                <a:effectLst/>
                <a:latin typeface="Arial" pitchFamily="34" charset="0"/>
                <a:cs typeface="Arial" pitchFamily="34" charset="0"/>
              </a:endParaRPr>
            </a:p>
          </p:txBody>
        </p:sp>
        <p:sp>
          <p:nvSpPr>
            <p:cNvPr id="56322" name="Text Box 2"/>
            <p:cNvSpPr txBox="1">
              <a:spLocks noChangeArrowheads="1"/>
            </p:cNvSpPr>
            <p:nvPr/>
          </p:nvSpPr>
          <p:spPr bwMode="auto">
            <a:xfrm>
              <a:off x="5461" y="11681"/>
              <a:ext cx="2002" cy="257"/>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Progress and monitoring </a:t>
              </a:r>
              <a:endParaRPr kumimoji="0" lang="en-US" i="0" u="none" strike="noStrike" cap="none" normalizeH="0" baseline="0" dirty="0" smtClean="0">
                <a:ln>
                  <a:noFill/>
                </a:ln>
                <a:solidFill>
                  <a:schemeClr val="tx1"/>
                </a:solidFill>
                <a:effectLst/>
                <a:latin typeface="Arial" pitchFamily="34" charset="0"/>
                <a:cs typeface="Arial" pitchFamily="34" charset="0"/>
              </a:endParaRPr>
            </a:p>
          </p:txBody>
        </p:sp>
      </p:grpSp>
      <p:sp>
        <p:nvSpPr>
          <p:cNvPr id="56374" name="Text Box 54"/>
          <p:cNvSpPr txBox="1">
            <a:spLocks noChangeArrowheads="1"/>
          </p:cNvSpPr>
          <p:nvPr/>
        </p:nvSpPr>
        <p:spPr bwMode="auto">
          <a:xfrm>
            <a:off x="914400" y="6019800"/>
            <a:ext cx="8229600" cy="1523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000" b="0" i="0" u="none" strike="noStrike" cap="none" normalizeH="0" baseline="0" dirty="0" smtClean="0">
                <a:ln>
                  <a:noFill/>
                </a:ln>
                <a:solidFill>
                  <a:schemeClr val="tx1"/>
                </a:solidFill>
                <a:effectLst/>
                <a:latin typeface="Times New Roman" pitchFamily="18" charset="0"/>
                <a:cs typeface="Arial" pitchFamily="34" charset="0"/>
              </a:rPr>
              <a:t>Figure 4.9: Relationship between project life cycle and product life cycle</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3" name="Content Placeholder 2"/>
          <p:cNvSpPr>
            <a:spLocks noGrp="1"/>
          </p:cNvSpPr>
          <p:nvPr>
            <p:ph idx="1"/>
          </p:nvPr>
        </p:nvSpPr>
        <p:spPr>
          <a:xfrm>
            <a:off x="457200" y="1219200"/>
            <a:ext cx="8229600" cy="5410200"/>
          </a:xfrm>
        </p:spPr>
        <p:txBody>
          <a:bodyPr>
            <a:noAutofit/>
          </a:bodyPr>
          <a:lstStyle/>
          <a:p>
            <a:r>
              <a:rPr lang="en-US" sz="2200" smtClean="0"/>
              <a:t>Software configuration management is concerned with identification, tracking, and change of control of software configuration. </a:t>
            </a:r>
          </a:p>
          <a:p>
            <a:r>
              <a:rPr lang="en-US" sz="2200" i="1" smtClean="0"/>
              <a:t>Software configuration management (SCM)</a:t>
            </a:r>
            <a:r>
              <a:rPr lang="en-US" sz="2200" smtClean="0"/>
              <a:t> or </a:t>
            </a:r>
            <a:r>
              <a:rPr lang="en-US" sz="2200" i="1" smtClean="0"/>
              <a:t>configuration management (CM)</a:t>
            </a:r>
            <a:r>
              <a:rPr lang="en-US" sz="2200" smtClean="0"/>
              <a:t> is the discipline of identifying the configuration of a system at any time for the purpose of systematically controlling changes to the configuration throughout the system life cycle.</a:t>
            </a:r>
          </a:p>
          <a:p>
            <a:r>
              <a:rPr lang="en-US" sz="2200" smtClean="0"/>
              <a:t>The purpose of CM is to establish and maintain the integrity of a software product throughout software the development life cycle.</a:t>
            </a:r>
          </a:p>
          <a:p>
            <a:r>
              <a:rPr lang="en-US" sz="2200" smtClean="0"/>
              <a:t>The CM process improves product visibility, product protection, product control, customer confidence, and team communication. </a:t>
            </a:r>
          </a:p>
          <a:p>
            <a:r>
              <a:rPr lang="en-US" sz="2200" smtClean="0"/>
              <a:t>A systematic CM process reduces rework, confusions, and project risks</a:t>
            </a:r>
            <a:endParaRPr lang="en-US" sz="2200" dirty="0"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r>
              <a:rPr lang="en-US" sz="2400" smtClean="0"/>
              <a:t>The project management process provides a systematic CM plan and monitors the status of the SCM process. </a:t>
            </a:r>
          </a:p>
          <a:p>
            <a:r>
              <a:rPr lang="en-US" sz="2400" smtClean="0"/>
              <a:t>The </a:t>
            </a:r>
            <a:r>
              <a:rPr lang="en-US" sz="2400" i="1" smtClean="0"/>
              <a:t>configuration management officer (CMO)</a:t>
            </a:r>
            <a:r>
              <a:rPr lang="en-US" sz="2400" smtClean="0"/>
              <a:t> implements and maintains the CM process according to the CM plan. </a:t>
            </a:r>
          </a:p>
          <a:p>
            <a:r>
              <a:rPr lang="en-US" sz="2400" smtClean="0"/>
              <a:t>The CMO coordinates, supports, and performs the CM activities and reports to the project manager. </a:t>
            </a:r>
          </a:p>
          <a:p>
            <a:r>
              <a:rPr lang="en-US" sz="2400" smtClean="0"/>
              <a:t>The </a:t>
            </a:r>
            <a:r>
              <a:rPr lang="en-US" sz="2400" i="1" smtClean="0"/>
              <a:t>Configuration Control Board (CCB)</a:t>
            </a:r>
            <a:r>
              <a:rPr lang="en-US" sz="2400" smtClean="0"/>
              <a:t> approves and disapproves the changes to be performed in the product. </a:t>
            </a:r>
          </a:p>
          <a:p>
            <a:r>
              <a:rPr lang="en-US" sz="2400" smtClean="0"/>
              <a:t>The CCB consists of technical and administrative representatives for configuration planning and execution. </a:t>
            </a:r>
          </a:p>
          <a:p>
            <a:r>
              <a:rPr lang="en-US" sz="2400" smtClean="0"/>
              <a:t>The approved changes are performed through the development process.</a:t>
            </a:r>
            <a:endParaRPr lang="en-IN"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62481"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62465" name="Group 1"/>
          <p:cNvGrpSpPr>
            <a:grpSpLocks noChangeAspect="1"/>
          </p:cNvGrpSpPr>
          <p:nvPr/>
        </p:nvGrpSpPr>
        <p:grpSpPr bwMode="auto">
          <a:xfrm>
            <a:off x="762000" y="1676400"/>
            <a:ext cx="7924800" cy="4495800"/>
            <a:chOff x="1800" y="1522"/>
            <a:chExt cx="7590" cy="4185"/>
          </a:xfrm>
        </p:grpSpPr>
        <p:sp>
          <p:nvSpPr>
            <p:cNvPr id="62480" name="AutoShape 16"/>
            <p:cNvSpPr>
              <a:spLocks noChangeAspect="1" noChangeArrowheads="1" noTextEdit="1"/>
            </p:cNvSpPr>
            <p:nvPr/>
          </p:nvSpPr>
          <p:spPr bwMode="auto">
            <a:xfrm>
              <a:off x="1800" y="1522"/>
              <a:ext cx="7590" cy="4185"/>
            </a:xfrm>
            <a:prstGeom prst="rect">
              <a:avLst/>
            </a:prstGeom>
            <a:noFill/>
          </p:spPr>
          <p:txBody>
            <a:bodyPr vert="horz" wrap="square" lIns="91440" tIns="45720" rIns="91440" bIns="45720" numCol="1" anchor="t" anchorCtr="0" compatLnSpc="1">
              <a:prstTxWarp prst="textNoShape">
                <a:avLst/>
              </a:prstTxWarp>
            </a:bodyPr>
            <a:lstStyle/>
            <a:p>
              <a:endParaRPr lang="en-IN" sz="2000"/>
            </a:p>
          </p:txBody>
        </p:sp>
        <p:sp>
          <p:nvSpPr>
            <p:cNvPr id="62479" name="Rectangle 15"/>
            <p:cNvSpPr>
              <a:spLocks noChangeArrowheads="1"/>
            </p:cNvSpPr>
            <p:nvPr/>
          </p:nvSpPr>
          <p:spPr bwMode="auto">
            <a:xfrm>
              <a:off x="1965" y="1605"/>
              <a:ext cx="2205" cy="15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management process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8" name="Rectangle 14"/>
            <p:cNvSpPr>
              <a:spLocks noChangeArrowheads="1"/>
            </p:cNvSpPr>
            <p:nvPr/>
          </p:nvSpPr>
          <p:spPr bwMode="auto">
            <a:xfrm>
              <a:off x="7260" y="1605"/>
              <a:ext cx="1980" cy="157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Project management process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7" name="Rectangle 13"/>
            <p:cNvSpPr>
              <a:spLocks noChangeArrowheads="1"/>
            </p:cNvSpPr>
            <p:nvPr/>
          </p:nvSpPr>
          <p:spPr bwMode="auto">
            <a:xfrm>
              <a:off x="1965" y="4349"/>
              <a:ext cx="7335" cy="74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Product development process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6" name="Text Box 12"/>
            <p:cNvSpPr txBox="1">
              <a:spLocks noChangeArrowheads="1"/>
            </p:cNvSpPr>
            <p:nvPr/>
          </p:nvSpPr>
          <p:spPr bwMode="auto">
            <a:xfrm>
              <a:off x="2895" y="5242"/>
              <a:ext cx="5685" cy="376"/>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4.10: Software configuration management process</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62475" name="AutoShape 11"/>
            <p:cNvSpPr>
              <a:spLocks noChangeShapeType="1"/>
            </p:cNvSpPr>
            <p:nvPr/>
          </p:nvSpPr>
          <p:spPr bwMode="auto">
            <a:xfrm flipV="1">
              <a:off x="2173" y="3104"/>
              <a:ext cx="2" cy="1244"/>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IN" sz="2000"/>
            </a:p>
          </p:txBody>
        </p:sp>
        <p:sp>
          <p:nvSpPr>
            <p:cNvPr id="62474" name="AutoShape 10"/>
            <p:cNvSpPr>
              <a:spLocks noChangeShapeType="1"/>
            </p:cNvSpPr>
            <p:nvPr/>
          </p:nvSpPr>
          <p:spPr bwMode="auto">
            <a:xfrm flipV="1">
              <a:off x="4034" y="3104"/>
              <a:ext cx="1" cy="1245"/>
            </a:xfrm>
            <a:prstGeom prst="straightConnector1">
              <a:avLst/>
            </a:pr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IN" sz="2000"/>
            </a:p>
          </p:txBody>
        </p:sp>
        <p:sp>
          <p:nvSpPr>
            <p:cNvPr id="62473" name="AutoShape 9"/>
            <p:cNvSpPr>
              <a:spLocks noChangeShapeType="1"/>
            </p:cNvSpPr>
            <p:nvPr/>
          </p:nvSpPr>
          <p:spPr bwMode="auto">
            <a:xfrm>
              <a:off x="4170" y="2819"/>
              <a:ext cx="309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p>
          </p:txBody>
        </p:sp>
        <p:sp>
          <p:nvSpPr>
            <p:cNvPr id="62472" name="AutoShape 8"/>
            <p:cNvSpPr>
              <a:spLocks noChangeShapeType="1"/>
            </p:cNvSpPr>
            <p:nvPr/>
          </p:nvSpPr>
          <p:spPr bwMode="auto">
            <a:xfrm flipH="1">
              <a:off x="4170" y="2085"/>
              <a:ext cx="309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2000"/>
            </a:p>
          </p:txBody>
        </p:sp>
        <p:sp>
          <p:nvSpPr>
            <p:cNvPr id="62471" name="Text Box 7"/>
            <p:cNvSpPr txBox="1">
              <a:spLocks noChangeArrowheads="1"/>
            </p:cNvSpPr>
            <p:nvPr/>
          </p:nvSpPr>
          <p:spPr bwMode="auto">
            <a:xfrm>
              <a:off x="4920" y="1695"/>
              <a:ext cx="1425" cy="31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Planning data</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70" name="Text Box 6"/>
            <p:cNvSpPr txBox="1">
              <a:spLocks noChangeArrowheads="1"/>
            </p:cNvSpPr>
            <p:nvPr/>
          </p:nvSpPr>
          <p:spPr bwMode="auto">
            <a:xfrm>
              <a:off x="5145" y="2445"/>
              <a:ext cx="900" cy="27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CM plan </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9" name="Text Box 5"/>
            <p:cNvSpPr txBox="1">
              <a:spLocks noChangeArrowheads="1"/>
            </p:cNvSpPr>
            <p:nvPr/>
          </p:nvSpPr>
          <p:spPr bwMode="auto">
            <a:xfrm>
              <a:off x="4245" y="2879"/>
              <a:ext cx="2895" cy="3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Status reports and audits results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8" name="Text Box 4"/>
            <p:cNvSpPr txBox="1">
              <a:spLocks noChangeArrowheads="1"/>
            </p:cNvSpPr>
            <p:nvPr/>
          </p:nvSpPr>
          <p:spPr bwMode="auto">
            <a:xfrm>
              <a:off x="2265" y="3390"/>
              <a:ext cx="1680" cy="58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Work products,</a:t>
              </a:r>
              <a:endParaRPr kumimoji="0" lang="en-US" sz="20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change requests </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7" name="Text Box 3"/>
            <p:cNvSpPr txBox="1">
              <a:spLocks noChangeArrowheads="1"/>
            </p:cNvSpPr>
            <p:nvPr/>
          </p:nvSpPr>
          <p:spPr bwMode="auto">
            <a:xfrm>
              <a:off x="4170" y="3465"/>
              <a:ext cx="2625" cy="70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Approved change requests, controlled work products</a:t>
              </a:r>
              <a:endParaRPr kumimoji="0" lang="en-US" sz="2000" b="0" i="0" u="none" strike="noStrike" cap="none" normalizeH="0" baseline="0" smtClean="0">
                <a:ln>
                  <a:noFill/>
                </a:ln>
                <a:solidFill>
                  <a:schemeClr val="tx1"/>
                </a:solidFill>
                <a:effectLst/>
                <a:latin typeface="Arial" pitchFamily="34" charset="0"/>
                <a:cs typeface="Arial" pitchFamily="34" charset="0"/>
              </a:endParaRPr>
            </a:p>
          </p:txBody>
        </p:sp>
        <p:sp>
          <p:nvSpPr>
            <p:cNvPr id="62466" name="AutoShape 2"/>
            <p:cNvSpPr>
              <a:spLocks noChangeShapeType="1"/>
            </p:cNvSpPr>
            <p:nvPr/>
          </p:nvSpPr>
          <p:spPr bwMode="auto">
            <a:xfrm>
              <a:off x="8250" y="3179"/>
              <a:ext cx="1" cy="117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Software Configuration Management</a:t>
            </a:r>
            <a:endParaRPr lang="en-IN" dirty="0"/>
          </a:p>
        </p:txBody>
      </p:sp>
      <p:sp>
        <p:nvSpPr>
          <p:cNvPr id="3" name="Content Placeholder 2"/>
          <p:cNvSpPr>
            <a:spLocks noGrp="1"/>
          </p:cNvSpPr>
          <p:nvPr>
            <p:ph idx="1"/>
          </p:nvPr>
        </p:nvSpPr>
        <p:spPr/>
        <p:txBody>
          <a:bodyPr>
            <a:normAutofit/>
          </a:bodyPr>
          <a:lstStyle/>
          <a:p>
            <a:pPr indent="228600" algn="just">
              <a:lnSpc>
                <a:spcPct val="115000"/>
              </a:lnSpc>
              <a:spcAft>
                <a:spcPts val="600"/>
              </a:spcAft>
            </a:pPr>
            <a:r>
              <a:rPr lang="en-US" sz="2800" smtClean="0"/>
              <a:t>The CM process consists of the following four activities</a:t>
            </a:r>
            <a:endParaRPr lang="en-IN" sz="2800" smtClean="0"/>
          </a:p>
          <a:p>
            <a:pPr lvl="1" algn="just">
              <a:spcAft>
                <a:spcPts val="600"/>
              </a:spcAft>
            </a:pPr>
            <a:r>
              <a:rPr lang="en-US" sz="2400" i="1" smtClean="0"/>
              <a:t>Configuration identification </a:t>
            </a:r>
          </a:p>
          <a:p>
            <a:pPr lvl="1" algn="just">
              <a:spcAft>
                <a:spcPts val="600"/>
              </a:spcAft>
            </a:pPr>
            <a:r>
              <a:rPr lang="en-US" sz="2400" i="1" smtClean="0"/>
              <a:t>Configuration change control</a:t>
            </a:r>
          </a:p>
          <a:p>
            <a:pPr lvl="1" algn="just">
              <a:spcAft>
                <a:spcPts val="600"/>
              </a:spcAft>
            </a:pPr>
            <a:r>
              <a:rPr lang="en-US" sz="2400" i="1" smtClean="0"/>
              <a:t>Configuration version control</a:t>
            </a:r>
            <a:endParaRPr lang="en-IN" sz="2400" i="1" smtClean="0"/>
          </a:p>
          <a:p>
            <a:pPr lvl="1">
              <a:spcAft>
                <a:spcPts val="600"/>
              </a:spcAft>
            </a:pPr>
            <a:r>
              <a:rPr lang="en-US" sz="2400" i="1" smtClean="0"/>
              <a:t>Configuration auditing</a:t>
            </a:r>
            <a:endParaRPr lang="en-IN" sz="2400" i="1" dirty="0"/>
          </a:p>
        </p:txBody>
      </p:sp>
      <p:sp>
        <p:nvSpPr>
          <p:cNvPr id="6759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67585" name="Group 1"/>
          <p:cNvGrpSpPr>
            <a:grpSpLocks noChangeAspect="1"/>
          </p:cNvGrpSpPr>
          <p:nvPr/>
        </p:nvGrpSpPr>
        <p:grpSpPr bwMode="auto">
          <a:xfrm>
            <a:off x="457200" y="4419600"/>
            <a:ext cx="8321853" cy="2209800"/>
            <a:chOff x="2827" y="13974"/>
            <a:chExt cx="6496" cy="1725"/>
          </a:xfrm>
        </p:grpSpPr>
        <p:sp>
          <p:nvSpPr>
            <p:cNvPr id="67598" name="AutoShape 14"/>
            <p:cNvSpPr>
              <a:spLocks noChangeAspect="1" noChangeArrowheads="1" noTextEdit="1"/>
            </p:cNvSpPr>
            <p:nvPr/>
          </p:nvSpPr>
          <p:spPr bwMode="auto">
            <a:xfrm>
              <a:off x="2827" y="13974"/>
              <a:ext cx="6496" cy="17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67597" name="Rectangle 13"/>
            <p:cNvSpPr>
              <a:spLocks noChangeArrowheads="1"/>
            </p:cNvSpPr>
            <p:nvPr/>
          </p:nvSpPr>
          <p:spPr bwMode="auto">
            <a:xfrm>
              <a:off x="2965" y="14131"/>
              <a:ext cx="1200" cy="6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identification</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67596" name="Rectangle 12"/>
            <p:cNvSpPr>
              <a:spLocks noChangeArrowheads="1"/>
            </p:cNvSpPr>
            <p:nvPr/>
          </p:nvSpPr>
          <p:spPr bwMode="auto">
            <a:xfrm>
              <a:off x="4534" y="14131"/>
              <a:ext cx="1224" cy="6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change control</a:t>
              </a:r>
              <a:endParaRPr kumimoji="0" lang="en-US"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67595" name="Rectangle 11"/>
            <p:cNvSpPr>
              <a:spLocks noChangeArrowheads="1"/>
            </p:cNvSpPr>
            <p:nvPr/>
          </p:nvSpPr>
          <p:spPr bwMode="auto">
            <a:xfrm>
              <a:off x="6079" y="14130"/>
              <a:ext cx="1317" cy="63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Configuration version control</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67594" name="Rectangle 10"/>
            <p:cNvSpPr>
              <a:spLocks noChangeArrowheads="1"/>
            </p:cNvSpPr>
            <p:nvPr/>
          </p:nvSpPr>
          <p:spPr bwMode="auto">
            <a:xfrm>
              <a:off x="7742" y="14130"/>
              <a:ext cx="1316" cy="6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Configuration audits</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67593" name="Text Box 9"/>
            <p:cNvSpPr txBox="1">
              <a:spLocks noChangeArrowheads="1"/>
            </p:cNvSpPr>
            <p:nvPr/>
          </p:nvSpPr>
          <p:spPr bwMode="auto">
            <a:xfrm>
              <a:off x="4293" y="15399"/>
              <a:ext cx="3786"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4.11: Configuration management activities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67592" name="AutoShape 8"/>
            <p:cNvSpPr>
              <a:spLocks noChangeShapeType="1"/>
            </p:cNvSpPr>
            <p:nvPr/>
          </p:nvSpPr>
          <p:spPr bwMode="auto">
            <a:xfrm>
              <a:off x="4165" y="14449"/>
              <a:ext cx="36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67591" name="AutoShape 7"/>
            <p:cNvSpPr>
              <a:spLocks noChangeShapeType="1"/>
            </p:cNvSpPr>
            <p:nvPr/>
          </p:nvSpPr>
          <p:spPr bwMode="auto">
            <a:xfrm>
              <a:off x="5758" y="14449"/>
              <a:ext cx="32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67590" name="AutoShape 6"/>
            <p:cNvSpPr>
              <a:spLocks noChangeShapeType="1"/>
            </p:cNvSpPr>
            <p:nvPr/>
          </p:nvSpPr>
          <p:spPr bwMode="auto">
            <a:xfrm flipV="1">
              <a:off x="7396" y="14448"/>
              <a:ext cx="346"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67589" name="AutoShape 5"/>
            <p:cNvSpPr>
              <a:spLocks noChangeShapeType="1"/>
            </p:cNvSpPr>
            <p:nvPr/>
          </p:nvSpPr>
          <p:spPr bwMode="auto">
            <a:xfrm>
              <a:off x="3566" y="15146"/>
              <a:ext cx="5653"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67588" name="AutoShape 4"/>
            <p:cNvSpPr>
              <a:spLocks noChangeShapeType="1"/>
            </p:cNvSpPr>
            <p:nvPr/>
          </p:nvSpPr>
          <p:spPr bwMode="auto">
            <a:xfrm>
              <a:off x="9058" y="14448"/>
              <a:ext cx="161"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67587" name="AutoShape 3"/>
            <p:cNvSpPr>
              <a:spLocks noChangeShapeType="1"/>
            </p:cNvSpPr>
            <p:nvPr/>
          </p:nvSpPr>
          <p:spPr bwMode="auto">
            <a:xfrm>
              <a:off x="9219" y="14449"/>
              <a:ext cx="0" cy="69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67586" name="AutoShape 2"/>
            <p:cNvSpPr>
              <a:spLocks noChangeShapeType="1"/>
            </p:cNvSpPr>
            <p:nvPr/>
          </p:nvSpPr>
          <p:spPr bwMode="auto">
            <a:xfrm flipV="1">
              <a:off x="3563" y="14766"/>
              <a:ext cx="2" cy="38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Identification</a:t>
            </a:r>
            <a:endParaRPr lang="en-IN" dirty="0"/>
          </a:p>
        </p:txBody>
      </p:sp>
      <p:sp>
        <p:nvSpPr>
          <p:cNvPr id="3" name="Content Placeholder 2"/>
          <p:cNvSpPr>
            <a:spLocks noGrp="1"/>
          </p:cNvSpPr>
          <p:nvPr>
            <p:ph idx="1"/>
          </p:nvPr>
        </p:nvSpPr>
        <p:spPr>
          <a:xfrm>
            <a:off x="457200" y="1295400"/>
            <a:ext cx="8229600" cy="5334000"/>
          </a:xfrm>
        </p:spPr>
        <p:txBody>
          <a:bodyPr>
            <a:noAutofit/>
          </a:bodyPr>
          <a:lstStyle/>
          <a:p>
            <a:r>
              <a:rPr lang="en-US" sz="2400" smtClean="0"/>
              <a:t>A </a:t>
            </a:r>
            <a:r>
              <a:rPr lang="en-US" sz="2400" i="1" smtClean="0"/>
              <a:t>software configuration item (SCI)</a:t>
            </a:r>
            <a:r>
              <a:rPr lang="en-US" sz="2400" smtClean="0"/>
              <a:t> or </a:t>
            </a:r>
            <a:r>
              <a:rPr lang="en-US" sz="2400" i="1" smtClean="0"/>
              <a:t>configuration item (CI)</a:t>
            </a:r>
            <a:r>
              <a:rPr lang="en-US" sz="2400" smtClean="0"/>
              <a:t> is a work product that is designated for configuration management. </a:t>
            </a:r>
          </a:p>
          <a:p>
            <a:r>
              <a:rPr lang="en-US" sz="2400" smtClean="0"/>
              <a:t>The work products in SCI may include plans, process descriptions, requirements, design data and models, product specifications, source codes, compilers, product data files, etc.</a:t>
            </a:r>
          </a:p>
          <a:p>
            <a:r>
              <a:rPr lang="en-US" sz="2400" smtClean="0"/>
              <a:t>The status of the CIs at a given point in time is called </a:t>
            </a:r>
            <a:r>
              <a:rPr lang="en-US" sz="2400" i="1" smtClean="0"/>
              <a:t>baseline.</a:t>
            </a:r>
          </a:p>
          <a:p>
            <a:r>
              <a:rPr lang="en-US" sz="2400" smtClean="0"/>
              <a:t>Each new baseline is the sum total of an older baseline plus a series of approved changes done on the CI. </a:t>
            </a:r>
          </a:p>
          <a:p>
            <a:r>
              <a:rPr lang="en-US" sz="2400" smtClean="0"/>
              <a:t>A baseline together with all approved changes to the baseline represents the </a:t>
            </a:r>
            <a:r>
              <a:rPr lang="en-US" sz="2400" i="1" smtClean="0"/>
              <a:t>current configuration</a:t>
            </a:r>
            <a:r>
              <a:rPr lang="en-US" sz="2400" smtClean="0"/>
              <a:t>. </a:t>
            </a:r>
            <a:endParaRPr lang="en-IN"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Change Control</a:t>
            </a:r>
            <a:endParaRPr lang="en-IN" dirty="0"/>
          </a:p>
        </p:txBody>
      </p:sp>
      <p:sp>
        <p:nvSpPr>
          <p:cNvPr id="3" name="Content Placeholder 2"/>
          <p:cNvSpPr>
            <a:spLocks noGrp="1"/>
          </p:cNvSpPr>
          <p:nvPr>
            <p:ph idx="1"/>
          </p:nvPr>
        </p:nvSpPr>
        <p:spPr>
          <a:xfrm>
            <a:off x="457200" y="1219200"/>
            <a:ext cx="8229600" cy="5410200"/>
          </a:xfrm>
        </p:spPr>
        <p:txBody>
          <a:bodyPr>
            <a:noAutofit/>
          </a:bodyPr>
          <a:lstStyle/>
          <a:p>
            <a:r>
              <a:rPr lang="en-US" sz="2200" smtClean="0"/>
              <a:t>The activities of change control (CC) are to identify what changes to make, the authority for approving changes, and support for the implementation of those changes. </a:t>
            </a:r>
          </a:p>
          <a:p>
            <a:r>
              <a:rPr lang="en-US" sz="2200" smtClean="0"/>
              <a:t>A change request (CR) for changes to software configuration items may be originated by anyone at any point in the software life cycle and may include a suggested solution and requested priority. </a:t>
            </a:r>
          </a:p>
          <a:p>
            <a:r>
              <a:rPr lang="en-US" sz="2200" smtClean="0"/>
              <a:t>The CRs are usually recorded on the software change request (SCR) form. </a:t>
            </a:r>
          </a:p>
          <a:p>
            <a:r>
              <a:rPr lang="en-US" sz="2200" smtClean="0"/>
              <a:t>Once an SCR is received, a technical evaluation is performed to determine the extent of modifications that would be necessary should the change request be accepted. </a:t>
            </a:r>
          </a:p>
          <a:p>
            <a:r>
              <a:rPr lang="en-US" sz="2200" smtClean="0"/>
              <a:t>An established authority, Configuration Control Board (CCB), will evaluate the technical and managerial aspects of the change request and accept, modify, reject, or defer the proposed change. </a:t>
            </a:r>
            <a:endParaRPr lang="en-IN" sz="2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version control</a:t>
            </a:r>
            <a:endParaRPr lang="en-IN" dirty="0"/>
          </a:p>
        </p:txBody>
      </p:sp>
      <p:sp>
        <p:nvSpPr>
          <p:cNvPr id="3" name="Content Placeholder 2"/>
          <p:cNvSpPr>
            <a:spLocks noGrp="1"/>
          </p:cNvSpPr>
          <p:nvPr>
            <p:ph idx="1"/>
          </p:nvPr>
        </p:nvSpPr>
        <p:spPr>
          <a:xfrm>
            <a:off x="457200" y="1295400"/>
            <a:ext cx="8229600" cy="5334000"/>
          </a:xfrm>
        </p:spPr>
        <p:txBody>
          <a:bodyPr>
            <a:normAutofit fontScale="77500" lnSpcReduction="20000"/>
          </a:bodyPr>
          <a:lstStyle/>
          <a:p>
            <a:r>
              <a:rPr lang="en-IN" dirty="0" smtClean="0"/>
              <a:t>The configuration version control records and reports the information needed for effective management of the software configuration. </a:t>
            </a:r>
          </a:p>
          <a:p>
            <a:r>
              <a:rPr lang="en-IN" i="1" dirty="0" smtClean="0"/>
              <a:t>Version control </a:t>
            </a:r>
            <a:r>
              <a:rPr lang="en-IN" dirty="0" smtClean="0"/>
              <a:t>is the book-keeping process of each release for </a:t>
            </a:r>
            <a:r>
              <a:rPr lang="en-IN" dirty="0" err="1" smtClean="0"/>
              <a:t>CIs</a:t>
            </a:r>
            <a:r>
              <a:rPr lang="en-IN" dirty="0" smtClean="0"/>
              <a:t>.</a:t>
            </a:r>
          </a:p>
          <a:p>
            <a:r>
              <a:rPr lang="en-IN" dirty="0" smtClean="0"/>
              <a:t>There are various automated tools such as source code control system (SCCS), revision control system (RCS), etc., which are used for version management.</a:t>
            </a:r>
          </a:p>
          <a:p>
            <a:r>
              <a:rPr lang="en-IN" dirty="0" smtClean="0"/>
              <a:t>Version management involves tracking what is there in each version of software and the changes that lead to this version. </a:t>
            </a:r>
          </a:p>
          <a:p>
            <a:pPr lvl="1"/>
            <a:r>
              <a:rPr lang="en-IN" dirty="0" smtClean="0"/>
              <a:t>It keeps a record of all the changes made to the previous baseline to reach the new baseline, known as </a:t>
            </a:r>
            <a:r>
              <a:rPr lang="en-IN" i="1" dirty="0" smtClean="0"/>
              <a:t>deltas</a:t>
            </a:r>
            <a:r>
              <a:rPr lang="en-IN" dirty="0" smtClean="0"/>
              <a:t>.  Each delta is a list of changed lines. </a:t>
            </a:r>
          </a:p>
          <a:p>
            <a:r>
              <a:rPr lang="en-IN" dirty="0" smtClean="0"/>
              <a:t>A </a:t>
            </a:r>
            <a:r>
              <a:rPr lang="en-IN" i="1" dirty="0" smtClean="0"/>
              <a:t>software release</a:t>
            </a:r>
            <a:r>
              <a:rPr lang="en-IN" dirty="0" smtClean="0"/>
              <a:t> is a version of a software that is delivered to customer for use. </a:t>
            </a:r>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version control</a:t>
            </a:r>
            <a:endParaRPr lang="en-IN" dirty="0"/>
          </a:p>
        </p:txBody>
      </p:sp>
      <p:sp>
        <p:nvSpPr>
          <p:cNvPr id="2107" name="Rectangle 5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2269" name="Rectangle 2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211" name="Group 163"/>
          <p:cNvGrpSpPr>
            <a:grpSpLocks noChangeAspect="1"/>
          </p:cNvGrpSpPr>
          <p:nvPr/>
        </p:nvGrpSpPr>
        <p:grpSpPr bwMode="auto">
          <a:xfrm>
            <a:off x="838200" y="1295400"/>
            <a:ext cx="7696200" cy="4969612"/>
            <a:chOff x="1905" y="6759"/>
            <a:chExt cx="8475" cy="5472"/>
          </a:xfrm>
        </p:grpSpPr>
        <p:sp>
          <p:nvSpPr>
            <p:cNvPr id="2268" name="AutoShape 220"/>
            <p:cNvSpPr>
              <a:spLocks noChangeAspect="1" noChangeArrowheads="1" noTextEdit="1"/>
            </p:cNvSpPr>
            <p:nvPr/>
          </p:nvSpPr>
          <p:spPr bwMode="auto">
            <a:xfrm>
              <a:off x="1905" y="6759"/>
              <a:ext cx="8475" cy="5472"/>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67" name="Rectangle 219"/>
            <p:cNvSpPr>
              <a:spLocks noChangeArrowheads="1"/>
            </p:cNvSpPr>
            <p:nvPr/>
          </p:nvSpPr>
          <p:spPr bwMode="auto">
            <a:xfrm>
              <a:off x="3671" y="8612"/>
              <a:ext cx="751"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66" name="Rectangle 218"/>
            <p:cNvSpPr>
              <a:spLocks noChangeArrowheads="1"/>
            </p:cNvSpPr>
            <p:nvPr/>
          </p:nvSpPr>
          <p:spPr bwMode="auto">
            <a:xfrm>
              <a:off x="2066" y="7261"/>
              <a:ext cx="751" cy="388"/>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65" name="Rectangle 217"/>
            <p:cNvSpPr>
              <a:spLocks noChangeArrowheads="1"/>
            </p:cNvSpPr>
            <p:nvPr/>
          </p:nvSpPr>
          <p:spPr bwMode="auto">
            <a:xfrm>
              <a:off x="2218" y="7395"/>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64" name="Rectangle 216"/>
            <p:cNvSpPr>
              <a:spLocks noChangeArrowheads="1"/>
            </p:cNvSpPr>
            <p:nvPr/>
          </p:nvSpPr>
          <p:spPr bwMode="auto">
            <a:xfrm>
              <a:off x="2368" y="7545"/>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3" name="Rectangle 215"/>
            <p:cNvSpPr>
              <a:spLocks noChangeArrowheads="1"/>
            </p:cNvSpPr>
            <p:nvPr/>
          </p:nvSpPr>
          <p:spPr bwMode="auto">
            <a:xfrm>
              <a:off x="3671" y="7547"/>
              <a:ext cx="751" cy="389"/>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V1.0</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2" name="Rectangle 214"/>
            <p:cNvSpPr>
              <a:spLocks noChangeArrowheads="1"/>
            </p:cNvSpPr>
            <p:nvPr/>
          </p:nvSpPr>
          <p:spPr bwMode="auto">
            <a:xfrm>
              <a:off x="5533" y="7547"/>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1" name="Rectangle 213"/>
            <p:cNvSpPr>
              <a:spLocks noChangeArrowheads="1"/>
            </p:cNvSpPr>
            <p:nvPr/>
          </p:nvSpPr>
          <p:spPr bwMode="auto">
            <a:xfrm>
              <a:off x="7197" y="7546"/>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60" name="Rectangle 212"/>
            <p:cNvSpPr>
              <a:spLocks noChangeArrowheads="1"/>
            </p:cNvSpPr>
            <p:nvPr/>
          </p:nvSpPr>
          <p:spPr bwMode="auto">
            <a:xfrm>
              <a:off x="8862" y="7545"/>
              <a:ext cx="751" cy="390"/>
            </a:xfrm>
            <a:prstGeom prst="rect">
              <a:avLst/>
            </a:prstGeom>
            <a:solidFill>
              <a:srgbClr val="FFFFFF"/>
            </a:solidFill>
            <a:ln w="19050">
              <a:solidFill>
                <a:srgbClr val="808080"/>
              </a:solidFill>
              <a:miter lim="800000"/>
              <a:headEnd/>
              <a:tailEnd/>
            </a:ln>
            <a:effectLst>
              <a:outerShdw dist="35921" dir="2700000" algn="ctr" rotWithShape="0">
                <a:srgbClr val="868686"/>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V1.3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9" name="Rectangle 211"/>
            <p:cNvSpPr>
              <a:spLocks noChangeArrowheads="1"/>
            </p:cNvSpPr>
            <p:nvPr/>
          </p:nvSpPr>
          <p:spPr bwMode="auto">
            <a:xfrm>
              <a:off x="3821" y="8806"/>
              <a:ext cx="750"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58" name="Rectangle 210"/>
            <p:cNvSpPr>
              <a:spLocks noChangeArrowheads="1"/>
            </p:cNvSpPr>
            <p:nvPr/>
          </p:nvSpPr>
          <p:spPr bwMode="auto">
            <a:xfrm>
              <a:off x="4016" y="8925"/>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7" name="Rectangle 209"/>
            <p:cNvSpPr>
              <a:spLocks noChangeArrowheads="1"/>
            </p:cNvSpPr>
            <p:nvPr/>
          </p:nvSpPr>
          <p:spPr bwMode="auto">
            <a:xfrm>
              <a:off x="5533" y="8925"/>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6" name="Rectangle 208"/>
            <p:cNvSpPr>
              <a:spLocks noChangeArrowheads="1"/>
            </p:cNvSpPr>
            <p:nvPr/>
          </p:nvSpPr>
          <p:spPr bwMode="auto">
            <a:xfrm>
              <a:off x="7242" y="8926"/>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5" name="Rectangle 207"/>
            <p:cNvSpPr>
              <a:spLocks noChangeArrowheads="1"/>
            </p:cNvSpPr>
            <p:nvPr/>
          </p:nvSpPr>
          <p:spPr bwMode="auto">
            <a:xfrm>
              <a:off x="8862" y="8926"/>
              <a:ext cx="751" cy="390"/>
            </a:xfrm>
            <a:prstGeom prst="rect">
              <a:avLst/>
            </a:prstGeom>
            <a:solidFill>
              <a:srgbClr val="FFFFFF"/>
            </a:solidFill>
            <a:ln w="19050">
              <a:solidFill>
                <a:srgbClr val="808080"/>
              </a:solidFill>
              <a:miter lim="800000"/>
              <a:headEnd/>
              <a:tailEnd/>
            </a:ln>
            <a:effectLst>
              <a:outerShdw dist="35921" dir="2700000" algn="ctr" rotWithShape="0">
                <a:srgbClr val="868686"/>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4" name="Text Box 206"/>
            <p:cNvSpPr txBox="1">
              <a:spLocks noChangeArrowheads="1"/>
            </p:cNvSpPr>
            <p:nvPr/>
          </p:nvSpPr>
          <p:spPr bwMode="auto">
            <a:xfrm>
              <a:off x="2096" y="8086"/>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Version 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3" name="Text Box 205"/>
            <p:cNvSpPr txBox="1">
              <a:spLocks noChangeArrowheads="1"/>
            </p:cNvSpPr>
            <p:nvPr/>
          </p:nvSpPr>
          <p:spPr bwMode="auto">
            <a:xfrm>
              <a:off x="3671" y="9405"/>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Version 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2" name="Text Box 204"/>
            <p:cNvSpPr txBox="1">
              <a:spLocks noChangeArrowheads="1"/>
            </p:cNvSpPr>
            <p:nvPr/>
          </p:nvSpPr>
          <p:spPr bwMode="auto">
            <a:xfrm>
              <a:off x="8563" y="6857"/>
              <a:ext cx="1050"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Release 1</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1" name="Text Box 203"/>
            <p:cNvSpPr txBox="1">
              <a:spLocks noChangeArrowheads="1"/>
            </p:cNvSpPr>
            <p:nvPr/>
          </p:nvSpPr>
          <p:spPr bwMode="auto">
            <a:xfrm>
              <a:off x="5321" y="6857"/>
              <a:ext cx="1188"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Pre-release</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50" name="AutoShape 202"/>
            <p:cNvSpPr>
              <a:spLocks noChangeShapeType="1"/>
            </p:cNvSpPr>
            <p:nvPr/>
          </p:nvSpPr>
          <p:spPr bwMode="auto">
            <a:xfrm flipV="1">
              <a:off x="5909" y="7110"/>
              <a:ext cx="6" cy="42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9" name="AutoShape 201"/>
            <p:cNvSpPr>
              <a:spLocks noChangeShapeType="1"/>
            </p:cNvSpPr>
            <p:nvPr/>
          </p:nvSpPr>
          <p:spPr bwMode="auto">
            <a:xfrm flipV="1">
              <a:off x="9240" y="7125"/>
              <a:ext cx="6" cy="4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8" name="AutoShape 200"/>
            <p:cNvSpPr>
              <a:spLocks noChangeShapeType="1"/>
            </p:cNvSpPr>
            <p:nvPr/>
          </p:nvSpPr>
          <p:spPr bwMode="auto">
            <a:xfrm>
              <a:off x="3119" y="7740"/>
              <a:ext cx="537"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7" name="AutoShape 199"/>
            <p:cNvSpPr>
              <a:spLocks noChangeShapeType="1"/>
            </p:cNvSpPr>
            <p:nvPr/>
          </p:nvSpPr>
          <p:spPr bwMode="auto">
            <a:xfrm>
              <a:off x="3821" y="7966"/>
              <a:ext cx="1" cy="6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6" name="AutoShape 198"/>
            <p:cNvSpPr>
              <a:spLocks noChangeShapeType="1"/>
            </p:cNvSpPr>
            <p:nvPr/>
          </p:nvSpPr>
          <p:spPr bwMode="auto">
            <a:xfrm>
              <a:off x="4437" y="7742"/>
              <a:ext cx="108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5" name="AutoShape 197"/>
            <p:cNvSpPr>
              <a:spLocks noChangeShapeType="1"/>
            </p:cNvSpPr>
            <p:nvPr/>
          </p:nvSpPr>
          <p:spPr bwMode="auto">
            <a:xfrm flipV="1">
              <a:off x="6299" y="7741"/>
              <a:ext cx="88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4" name="AutoShape 196"/>
            <p:cNvSpPr>
              <a:spLocks noChangeShapeType="1"/>
            </p:cNvSpPr>
            <p:nvPr/>
          </p:nvSpPr>
          <p:spPr bwMode="auto">
            <a:xfrm flipV="1">
              <a:off x="7963" y="7740"/>
              <a:ext cx="884"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3" name="AutoShape 195"/>
            <p:cNvSpPr>
              <a:spLocks noChangeShapeType="1"/>
            </p:cNvSpPr>
            <p:nvPr/>
          </p:nvSpPr>
          <p:spPr bwMode="auto">
            <a:xfrm>
              <a:off x="4767" y="9120"/>
              <a:ext cx="751"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2" name="AutoShape 194"/>
            <p:cNvSpPr>
              <a:spLocks noChangeShapeType="1"/>
            </p:cNvSpPr>
            <p:nvPr/>
          </p:nvSpPr>
          <p:spPr bwMode="auto">
            <a:xfrm>
              <a:off x="6299" y="9120"/>
              <a:ext cx="928"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1" name="AutoShape 193"/>
            <p:cNvSpPr>
              <a:spLocks noChangeShapeType="1"/>
            </p:cNvSpPr>
            <p:nvPr/>
          </p:nvSpPr>
          <p:spPr bwMode="auto">
            <a:xfrm>
              <a:off x="8008" y="9121"/>
              <a:ext cx="83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40" name="Rectangle 192"/>
            <p:cNvSpPr>
              <a:spLocks noChangeArrowheads="1"/>
            </p:cNvSpPr>
            <p:nvPr/>
          </p:nvSpPr>
          <p:spPr bwMode="auto">
            <a:xfrm>
              <a:off x="5413" y="9991"/>
              <a:ext cx="751"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39" name="Rectangle 191"/>
            <p:cNvSpPr>
              <a:spLocks noChangeArrowheads="1"/>
            </p:cNvSpPr>
            <p:nvPr/>
          </p:nvSpPr>
          <p:spPr bwMode="auto">
            <a:xfrm>
              <a:off x="5563" y="10185"/>
              <a:ext cx="750" cy="389"/>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IN" sz="1400" b="1"/>
            </a:p>
          </p:txBody>
        </p:sp>
        <p:sp>
          <p:nvSpPr>
            <p:cNvPr id="2238" name="Rectangle 190"/>
            <p:cNvSpPr>
              <a:spLocks noChangeArrowheads="1"/>
            </p:cNvSpPr>
            <p:nvPr/>
          </p:nvSpPr>
          <p:spPr bwMode="auto">
            <a:xfrm>
              <a:off x="5758" y="10304"/>
              <a:ext cx="751" cy="390"/>
            </a:xfrm>
            <a:prstGeom prst="rect">
              <a:avLst/>
            </a:prstGeom>
            <a:gradFill rotWithShape="0">
              <a:gsLst>
                <a:gs pos="0">
                  <a:srgbClr val="FFFFFF"/>
                </a:gs>
                <a:gs pos="100000">
                  <a:srgbClr val="999999"/>
                </a:gs>
              </a:gsLst>
              <a:lin ang="54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7" name="Rectangle 189"/>
            <p:cNvSpPr>
              <a:spLocks noChangeArrowheads="1"/>
            </p:cNvSpPr>
            <p:nvPr/>
          </p:nvSpPr>
          <p:spPr bwMode="auto">
            <a:xfrm>
              <a:off x="7227" y="10305"/>
              <a:ext cx="751" cy="390"/>
            </a:xfrm>
            <a:prstGeom prst="rect">
              <a:avLst/>
            </a:prstGeom>
            <a:solidFill>
              <a:srgbClr val="FFFFFF"/>
            </a:solidFill>
            <a:ln w="19050">
              <a:solidFill>
                <a:srgbClr val="80808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6" name="Rectangle 188"/>
            <p:cNvSpPr>
              <a:spLocks noChangeArrowheads="1"/>
            </p:cNvSpPr>
            <p:nvPr/>
          </p:nvSpPr>
          <p:spPr bwMode="auto">
            <a:xfrm>
              <a:off x="8833" y="10304"/>
              <a:ext cx="751" cy="390"/>
            </a:xfrm>
            <a:prstGeom prst="rect">
              <a:avLst/>
            </a:prstGeom>
            <a:solidFill>
              <a:srgbClr val="FFFFFF"/>
            </a:solidFill>
            <a:ln w="19050">
              <a:solidFill>
                <a:srgbClr val="808080"/>
              </a:solidFill>
              <a:miter lim="800000"/>
              <a:headEnd/>
              <a:tailEnd/>
            </a:ln>
            <a:effectLst>
              <a:outerShdw dist="35921" dir="2700000" algn="ctr" rotWithShape="0">
                <a:srgbClr val="868686"/>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V2.3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5" name="AutoShape 187"/>
            <p:cNvSpPr>
              <a:spLocks noChangeShapeType="1"/>
            </p:cNvSpPr>
            <p:nvPr/>
          </p:nvSpPr>
          <p:spPr bwMode="auto">
            <a:xfrm>
              <a:off x="6539" y="10499"/>
              <a:ext cx="67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34" name="AutoShape 186"/>
            <p:cNvSpPr>
              <a:spLocks noChangeShapeType="1"/>
            </p:cNvSpPr>
            <p:nvPr/>
          </p:nvSpPr>
          <p:spPr bwMode="auto">
            <a:xfrm>
              <a:off x="7993" y="10498"/>
              <a:ext cx="839"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33" name="Text Box 185"/>
            <p:cNvSpPr txBox="1">
              <a:spLocks noChangeArrowheads="1"/>
            </p:cNvSpPr>
            <p:nvPr/>
          </p:nvSpPr>
          <p:spPr bwMode="auto">
            <a:xfrm>
              <a:off x="8713" y="8359"/>
              <a:ext cx="1050"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Release 2</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2" name="Text Box 184"/>
            <p:cNvSpPr txBox="1">
              <a:spLocks noChangeArrowheads="1"/>
            </p:cNvSpPr>
            <p:nvPr/>
          </p:nvSpPr>
          <p:spPr bwMode="auto">
            <a:xfrm>
              <a:off x="8683" y="9738"/>
              <a:ext cx="1050" cy="25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Release 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31" name="AutoShape 183"/>
            <p:cNvSpPr>
              <a:spLocks noChangeShapeType="1"/>
            </p:cNvSpPr>
            <p:nvPr/>
          </p:nvSpPr>
          <p:spPr bwMode="auto">
            <a:xfrm>
              <a:off x="5640" y="9316"/>
              <a:ext cx="1" cy="6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30" name="Text Box 182"/>
            <p:cNvSpPr txBox="1">
              <a:spLocks noChangeArrowheads="1"/>
            </p:cNvSpPr>
            <p:nvPr/>
          </p:nvSpPr>
          <p:spPr bwMode="auto">
            <a:xfrm>
              <a:off x="5486" y="10801"/>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Version 3</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26" name="AutoShape 178"/>
            <p:cNvSpPr>
              <a:spLocks noChangeShapeType="1"/>
            </p:cNvSpPr>
            <p:nvPr/>
          </p:nvSpPr>
          <p:spPr bwMode="auto">
            <a:xfrm flipH="1" flipV="1">
              <a:off x="5909" y="7952"/>
              <a:ext cx="6" cy="34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25" name="AutoShape 177"/>
            <p:cNvSpPr>
              <a:spLocks noChangeShapeType="1"/>
            </p:cNvSpPr>
            <p:nvPr/>
          </p:nvSpPr>
          <p:spPr bwMode="auto">
            <a:xfrm flipV="1">
              <a:off x="7572" y="7951"/>
              <a:ext cx="1" cy="34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24" name="AutoShape 176"/>
            <p:cNvSpPr>
              <a:spLocks noChangeShapeType="1"/>
            </p:cNvSpPr>
            <p:nvPr/>
          </p:nvSpPr>
          <p:spPr bwMode="auto">
            <a:xfrm flipV="1">
              <a:off x="7617" y="9331"/>
              <a:ext cx="1" cy="34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23" name="AutoShape 175"/>
            <p:cNvSpPr>
              <a:spLocks noChangeArrowheads="1"/>
            </p:cNvSpPr>
            <p:nvPr/>
          </p:nvSpPr>
          <p:spPr bwMode="auto">
            <a:xfrm>
              <a:off x="4648" y="8086"/>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22" name="AutoShape 174"/>
            <p:cNvSpPr>
              <a:spLocks noChangeArrowheads="1"/>
            </p:cNvSpPr>
            <p:nvPr/>
          </p:nvSpPr>
          <p:spPr bwMode="auto">
            <a:xfrm>
              <a:off x="6539" y="9467"/>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21" name="AutoShape 173"/>
            <p:cNvSpPr>
              <a:spLocks noChangeArrowheads="1"/>
            </p:cNvSpPr>
            <p:nvPr/>
          </p:nvSpPr>
          <p:spPr bwMode="auto">
            <a:xfrm>
              <a:off x="8323" y="8086"/>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20" name="AutoShape 172"/>
            <p:cNvSpPr>
              <a:spLocks noChangeArrowheads="1"/>
            </p:cNvSpPr>
            <p:nvPr/>
          </p:nvSpPr>
          <p:spPr bwMode="auto">
            <a:xfrm>
              <a:off x="6539" y="8086"/>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19" name="AutoShape 171"/>
            <p:cNvSpPr>
              <a:spLocks noChangeArrowheads="1"/>
            </p:cNvSpPr>
            <p:nvPr/>
          </p:nvSpPr>
          <p:spPr bwMode="auto">
            <a:xfrm>
              <a:off x="8323" y="9467"/>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18" name="AutoShape 170"/>
            <p:cNvSpPr>
              <a:spLocks noChangeArrowheads="1"/>
            </p:cNvSpPr>
            <p:nvPr/>
          </p:nvSpPr>
          <p:spPr bwMode="auto">
            <a:xfrm>
              <a:off x="8231" y="10863"/>
              <a:ext cx="240" cy="207"/>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sz="1400" b="1"/>
            </a:p>
          </p:txBody>
        </p:sp>
        <p:sp>
          <p:nvSpPr>
            <p:cNvPr id="2217" name="Text Box 169"/>
            <p:cNvSpPr txBox="1">
              <a:spLocks noChangeArrowheads="1"/>
            </p:cNvSpPr>
            <p:nvPr/>
          </p:nvSpPr>
          <p:spPr bwMode="auto">
            <a:xfrm>
              <a:off x="7992" y="11272"/>
              <a:ext cx="691"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Delta</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16" name="Text Box 168"/>
            <p:cNvSpPr txBox="1">
              <a:spLocks noChangeArrowheads="1"/>
            </p:cNvSpPr>
            <p:nvPr/>
          </p:nvSpPr>
          <p:spPr bwMode="auto">
            <a:xfrm>
              <a:off x="3549" y="11772"/>
              <a:ext cx="5792" cy="35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4.12 Example Configuration version control and release</a:t>
              </a: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
          <p:nvSpPr>
            <p:cNvPr id="2215" name="AutoShape 167"/>
            <p:cNvSpPr>
              <a:spLocks noChangeShapeType="1"/>
            </p:cNvSpPr>
            <p:nvPr/>
          </p:nvSpPr>
          <p:spPr bwMode="auto">
            <a:xfrm flipV="1">
              <a:off x="9238" y="8612"/>
              <a:ext cx="1" cy="29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14" name="AutoShape 166"/>
            <p:cNvSpPr>
              <a:spLocks noChangeShapeType="1"/>
            </p:cNvSpPr>
            <p:nvPr/>
          </p:nvSpPr>
          <p:spPr bwMode="auto">
            <a:xfrm flipH="1" flipV="1">
              <a:off x="9208" y="9991"/>
              <a:ext cx="1" cy="29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sp>
          <p:nvSpPr>
            <p:cNvPr id="2213" name="Text Box 165"/>
            <p:cNvSpPr txBox="1">
              <a:spLocks noChangeArrowheads="1"/>
            </p:cNvSpPr>
            <p:nvPr/>
          </p:nvSpPr>
          <p:spPr bwMode="auto">
            <a:xfrm>
              <a:off x="2096" y="6857"/>
              <a:ext cx="1053"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ea typeface="Times New Roman" pitchFamily="18" charset="0"/>
                  <a:cs typeface="Times New Roman" pitchFamily="18" charset="0"/>
                </a:rPr>
                <a:t>Features</a:t>
              </a:r>
              <a:endParaRPr kumimoji="0" lang="en-US" sz="1400" b="1" i="0" u="none" strike="noStrike" cap="none" normalizeH="0" baseline="0" smtClean="0">
                <a:ln>
                  <a:noFill/>
                </a:ln>
                <a:solidFill>
                  <a:schemeClr val="tx1"/>
                </a:solidFill>
                <a:effectLst/>
                <a:latin typeface="Arial" pitchFamily="34" charset="0"/>
                <a:cs typeface="Arial" pitchFamily="34" charset="0"/>
              </a:endParaRPr>
            </a:p>
          </p:txBody>
        </p:sp>
        <p:sp>
          <p:nvSpPr>
            <p:cNvPr id="2212" name="AutoShape 164"/>
            <p:cNvSpPr>
              <a:spLocks noChangeShapeType="1"/>
            </p:cNvSpPr>
            <p:nvPr/>
          </p:nvSpPr>
          <p:spPr bwMode="auto">
            <a:xfrm flipH="1">
              <a:off x="8338" y="11070"/>
              <a:ext cx="13" cy="20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400" b="1"/>
            </a:p>
          </p:txBody>
        </p:sp>
      </p:grpSp>
      <p:cxnSp>
        <p:nvCxnSpPr>
          <p:cNvPr id="183" name="Elbow Connector 182"/>
          <p:cNvCxnSpPr>
            <a:stCxn id="2236" idx="2"/>
            <a:endCxn id="2237" idx="2"/>
          </p:cNvCxnSpPr>
          <p:nvPr/>
        </p:nvCxnSpPr>
        <p:spPr>
          <a:xfrm rot="5400000">
            <a:off x="6740891" y="4140370"/>
            <a:ext cx="908" cy="1458419"/>
          </a:xfrm>
          <a:prstGeom prst="bentConnector3">
            <a:avLst>
              <a:gd name="adj1" fmla="val 3987104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6" name="Elbow Connector 185"/>
          <p:cNvCxnSpPr>
            <a:stCxn id="2255" idx="2"/>
            <a:endCxn id="2257" idx="2"/>
          </p:cNvCxnSpPr>
          <p:nvPr/>
        </p:nvCxnSpPr>
        <p:spPr>
          <a:xfrm rot="5400000" flipH="1">
            <a:off x="5984892" y="2105643"/>
            <a:ext cx="908" cy="3023086"/>
          </a:xfrm>
          <a:prstGeom prst="bentConnector3">
            <a:avLst>
              <a:gd name="adj1" fmla="val -38311576"/>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2" name="Elbow Connector 191"/>
          <p:cNvCxnSpPr>
            <a:stCxn id="2260" idx="2"/>
            <a:endCxn id="2263" idx="2"/>
          </p:cNvCxnSpPr>
          <p:nvPr/>
        </p:nvCxnSpPr>
        <p:spPr>
          <a:xfrm rot="5400000">
            <a:off x="5139446" y="6896"/>
            <a:ext cx="908" cy="4713979"/>
          </a:xfrm>
          <a:prstGeom prst="bentConnector3">
            <a:avLst>
              <a:gd name="adj1" fmla="val 36952104"/>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Configuration Auditing</a:t>
            </a:r>
            <a:endParaRPr lang="en-IN" dirty="0"/>
          </a:p>
        </p:txBody>
      </p:sp>
      <p:sp>
        <p:nvSpPr>
          <p:cNvPr id="3" name="Content Placeholder 2"/>
          <p:cNvSpPr>
            <a:spLocks noGrp="1"/>
          </p:cNvSpPr>
          <p:nvPr>
            <p:ph idx="1"/>
          </p:nvPr>
        </p:nvSpPr>
        <p:spPr>
          <a:xfrm>
            <a:off x="457200" y="1143000"/>
            <a:ext cx="8229600" cy="5105400"/>
          </a:xfrm>
        </p:spPr>
        <p:txBody>
          <a:bodyPr>
            <a:normAutofit/>
          </a:bodyPr>
          <a:lstStyle/>
          <a:p>
            <a:r>
              <a:rPr lang="en-US" sz="2400" smtClean="0"/>
              <a:t>Configuration auditing determines the extent to which an item satisfies the required functionalities. </a:t>
            </a:r>
          </a:p>
          <a:p>
            <a:r>
              <a:rPr lang="en-US" sz="2400" smtClean="0"/>
              <a:t>Configuration audit is performed to evaluate the conformance of software products and processes to applicable regulations, standards, guidelines, plans, and procedures. </a:t>
            </a:r>
          </a:p>
          <a:p>
            <a:r>
              <a:rPr lang="en-US" sz="2400" smtClean="0"/>
              <a:t>Auditing is performed according to a well-defined process consisting of various auditor roles and responsibilities. </a:t>
            </a:r>
          </a:p>
          <a:p>
            <a:r>
              <a:rPr lang="en-US" sz="2400" smtClean="0"/>
              <a:t>Expertise of people is required and some automated tools also support the planning and conduct of an audit process. </a:t>
            </a:r>
            <a:endParaRPr lang="en-IN"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Management</a:t>
            </a:r>
            <a:endParaRPr lang="en-IN" dirty="0"/>
          </a:p>
        </p:txBody>
      </p:sp>
      <p:sp>
        <p:nvSpPr>
          <p:cNvPr id="3" name="Content Placeholder 2"/>
          <p:cNvSpPr>
            <a:spLocks noGrp="1"/>
          </p:cNvSpPr>
          <p:nvPr>
            <p:ph idx="1"/>
          </p:nvPr>
        </p:nvSpPr>
        <p:spPr>
          <a:xfrm>
            <a:off x="457200" y="1524000"/>
            <a:ext cx="8229600" cy="5105400"/>
          </a:xfrm>
        </p:spPr>
        <p:txBody>
          <a:bodyPr>
            <a:normAutofit/>
          </a:bodyPr>
          <a:lstStyle/>
          <a:p>
            <a:r>
              <a:rPr lang="en-US" sz="2400" i="1" dirty="0" smtClean="0"/>
              <a:t>Risk is an unfavorable situation that may lead to an undesirable outcome</a:t>
            </a:r>
            <a:r>
              <a:rPr lang="en-US" sz="2400" dirty="0" smtClean="0"/>
              <a:t>.</a:t>
            </a:r>
          </a:p>
          <a:p>
            <a:r>
              <a:rPr lang="en-US" sz="2400" dirty="0" smtClean="0"/>
              <a:t>Potential problems or losses are also called risks. Risk may include product estimation, business issues, customer, process, technology, development environment, and project planning. </a:t>
            </a:r>
            <a:endParaRPr lang="en-IN" sz="2400" dirty="0" smtClean="0"/>
          </a:p>
          <a:p>
            <a:r>
              <a:rPr lang="en-US" sz="2400" dirty="0" smtClean="0"/>
              <a:t>Risk management is a proactive approach for minimizing the uncertainty and potential problems associated with a project by providing insights to support informed decision making. </a:t>
            </a:r>
          </a:p>
          <a:p>
            <a:r>
              <a:rPr lang="en-US" sz="2400" dirty="0" smtClean="0"/>
              <a:t>It is an ongoing activity from the initiation to the retirement of a software product. </a:t>
            </a:r>
            <a:endParaRPr lang="en-IN"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Management</a:t>
            </a:r>
            <a:endParaRPr lang="en-IN" dirty="0"/>
          </a:p>
        </p:txBody>
      </p:sp>
      <p:sp>
        <p:nvSpPr>
          <p:cNvPr id="3" name="Content Placeholder 2"/>
          <p:cNvSpPr>
            <a:spLocks noGrp="1"/>
          </p:cNvSpPr>
          <p:nvPr>
            <p:ph idx="1"/>
          </p:nvPr>
        </p:nvSpPr>
        <p:spPr>
          <a:xfrm>
            <a:off x="457200" y="1371600"/>
            <a:ext cx="8229600" cy="5257800"/>
          </a:xfrm>
        </p:spPr>
        <p:txBody>
          <a:bodyPr>
            <a:normAutofit fontScale="92500" lnSpcReduction="20000"/>
          </a:bodyPr>
          <a:lstStyle/>
          <a:p>
            <a:r>
              <a:rPr lang="en-US" smtClean="0"/>
              <a:t>Software risk management is necessary for the following reasons:</a:t>
            </a:r>
            <a:endParaRPr lang="en-IN" smtClean="0"/>
          </a:p>
          <a:p>
            <a:pPr lvl="1"/>
            <a:r>
              <a:rPr lang="en-US" smtClean="0"/>
              <a:t>To reduce the rework caused by missing, erroneous, or ambiguous requirements, design, or code, which typically consumes 40–50% of the total cost of software development</a:t>
            </a:r>
            <a:endParaRPr lang="en-IN" smtClean="0"/>
          </a:p>
          <a:p>
            <a:pPr lvl="1"/>
            <a:r>
              <a:rPr lang="en-US" smtClean="0"/>
              <a:t>To avoid software project disasters, including overrun of budgets and schedules, defect-ridden software products, and operational failures</a:t>
            </a:r>
            <a:endParaRPr lang="en-IN" smtClean="0"/>
          </a:p>
          <a:p>
            <a:pPr lvl="1"/>
            <a:r>
              <a:rPr lang="en-US" smtClean="0"/>
              <a:t>To  stimulate a win-win software solution where the customer receives the product they need and the vendor makes the profits they expect.</a:t>
            </a:r>
            <a:endParaRPr lang="en-IN" smtClean="0"/>
          </a:p>
          <a:p>
            <a:pPr lvl="1"/>
            <a:r>
              <a:rPr lang="en-US" smtClean="0"/>
              <a:t>To keep provision for the detection and prevention mechanisms of risks.</a:t>
            </a:r>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Categories</a:t>
            </a:r>
            <a:endParaRPr lang="en-IN" dirty="0"/>
          </a:p>
        </p:txBody>
      </p:sp>
      <p:sp>
        <p:nvSpPr>
          <p:cNvPr id="3" name="Content Placeholder 2"/>
          <p:cNvSpPr>
            <a:spLocks noGrp="1"/>
          </p:cNvSpPr>
          <p:nvPr>
            <p:ph idx="1"/>
          </p:nvPr>
        </p:nvSpPr>
        <p:spPr>
          <a:xfrm>
            <a:off x="457200" y="1219200"/>
            <a:ext cx="8229600" cy="5410200"/>
          </a:xfrm>
        </p:spPr>
        <p:txBody>
          <a:bodyPr>
            <a:normAutofit/>
          </a:bodyPr>
          <a:lstStyle/>
          <a:p>
            <a:r>
              <a:rPr lang="en-US" sz="2400" smtClean="0"/>
              <a:t>Risks basically threaten the project, product, and hence the business. </a:t>
            </a:r>
          </a:p>
          <a:p>
            <a:r>
              <a:rPr lang="en-US" sz="2400" smtClean="0"/>
              <a:t>There are basically three categories of risk occurrence:</a:t>
            </a:r>
          </a:p>
          <a:p>
            <a:pPr lvl="1"/>
            <a:r>
              <a:rPr lang="en-US" sz="2400" i="1" smtClean="0"/>
              <a:t>Project Risks</a:t>
            </a:r>
          </a:p>
          <a:p>
            <a:pPr lvl="1"/>
            <a:r>
              <a:rPr lang="en-US" sz="2400" i="1" smtClean="0"/>
              <a:t>Products Risks</a:t>
            </a:r>
          </a:p>
          <a:p>
            <a:pPr lvl="1"/>
            <a:r>
              <a:rPr lang="en-US" sz="2400" i="1" smtClean="0"/>
              <a:t>Business Risks</a:t>
            </a:r>
            <a:endParaRPr lang="en-IN" sz="2400" i="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Management Activities</a:t>
            </a:r>
            <a:endParaRPr lang="en-IN" dirty="0"/>
          </a:p>
        </p:txBody>
      </p:sp>
      <p:sp>
        <p:nvSpPr>
          <p:cNvPr id="3" name="Content Placeholder 2"/>
          <p:cNvSpPr>
            <a:spLocks noGrp="1"/>
          </p:cNvSpPr>
          <p:nvPr>
            <p:ph idx="1"/>
          </p:nvPr>
        </p:nvSpPr>
        <p:spPr>
          <a:xfrm>
            <a:off x="457200" y="1371600"/>
            <a:ext cx="8229600" cy="5257800"/>
          </a:xfrm>
        </p:spPr>
        <p:txBody>
          <a:bodyPr>
            <a:normAutofit lnSpcReduction="10000"/>
          </a:bodyPr>
          <a:lstStyle/>
          <a:p>
            <a:r>
              <a:rPr lang="en-US" smtClean="0"/>
              <a:t>Some risks have great effect and some risks may be tolerated. </a:t>
            </a:r>
          </a:p>
          <a:p>
            <a:r>
              <a:rPr lang="en-US" smtClean="0"/>
              <a:t>Risks must be analyzed to find their potential and remedial actions. </a:t>
            </a:r>
          </a:p>
          <a:p>
            <a:r>
              <a:rPr lang="en-US" smtClean="0"/>
              <a:t>The risk management process includes the following activities:</a:t>
            </a:r>
            <a:endParaRPr lang="en-IN" smtClean="0"/>
          </a:p>
          <a:p>
            <a:pPr lvl="1"/>
            <a:r>
              <a:rPr lang="en-US" i="1" smtClean="0"/>
              <a:t>Risk Identification</a:t>
            </a:r>
            <a:endParaRPr lang="en-IN" i="1" smtClean="0"/>
          </a:p>
          <a:p>
            <a:pPr lvl="1"/>
            <a:r>
              <a:rPr lang="en-US" i="1" smtClean="0"/>
              <a:t>Risk Analysis and evaluation</a:t>
            </a:r>
            <a:endParaRPr lang="en-IN" i="1" smtClean="0"/>
          </a:p>
          <a:p>
            <a:pPr lvl="1"/>
            <a:r>
              <a:rPr lang="en-US" i="1" smtClean="0"/>
              <a:t>Risk Planning</a:t>
            </a:r>
            <a:endParaRPr lang="en-IN" i="1" smtClean="0"/>
          </a:p>
          <a:p>
            <a:pPr lvl="1"/>
            <a:r>
              <a:rPr lang="en-US" i="1" smtClean="0"/>
              <a:t>Risk Monitoring and Control </a:t>
            </a:r>
            <a:endParaRPr lang="en-IN" i="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Management Activities</a:t>
            </a:r>
            <a:endParaRPr lang="en-IN" dirty="0"/>
          </a:p>
        </p:txBody>
      </p:sp>
      <p:sp>
        <p:nvSpPr>
          <p:cNvPr id="68632" name="Rectangle 2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sp>
        <p:nvSpPr>
          <p:cNvPr id="10264" name="Rectangle 2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0241" name="Group 1"/>
          <p:cNvGrpSpPr>
            <a:grpSpLocks noChangeAspect="1"/>
          </p:cNvGrpSpPr>
          <p:nvPr/>
        </p:nvGrpSpPr>
        <p:grpSpPr bwMode="auto">
          <a:xfrm>
            <a:off x="457200" y="1524000"/>
            <a:ext cx="8229600" cy="4419600"/>
            <a:chOff x="3150" y="9837"/>
            <a:chExt cx="5607" cy="3064"/>
          </a:xfrm>
        </p:grpSpPr>
        <p:sp>
          <p:nvSpPr>
            <p:cNvPr id="10263" name="AutoShape 23"/>
            <p:cNvSpPr>
              <a:spLocks noChangeAspect="1" noChangeArrowheads="1" noTextEdit="1"/>
            </p:cNvSpPr>
            <p:nvPr/>
          </p:nvSpPr>
          <p:spPr bwMode="auto">
            <a:xfrm>
              <a:off x="3150" y="9837"/>
              <a:ext cx="5607" cy="3064"/>
            </a:xfrm>
            <a:prstGeom prst="rect">
              <a:avLst/>
            </a:prstGeom>
            <a:noFill/>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62" name="AutoShape 22"/>
            <p:cNvSpPr>
              <a:spLocks noChangeArrowheads="1"/>
            </p:cNvSpPr>
            <p:nvPr/>
          </p:nvSpPr>
          <p:spPr bwMode="auto">
            <a:xfrm>
              <a:off x="3277" y="10126"/>
              <a:ext cx="1108" cy="779"/>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identification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61" name="AutoShape 21"/>
            <p:cNvSpPr>
              <a:spLocks noChangeArrowheads="1"/>
            </p:cNvSpPr>
            <p:nvPr/>
          </p:nvSpPr>
          <p:spPr bwMode="auto">
            <a:xfrm>
              <a:off x="4685" y="10126"/>
              <a:ext cx="1107" cy="779"/>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analysis and evaluation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60" name="AutoShape 20"/>
            <p:cNvSpPr>
              <a:spLocks noChangeArrowheads="1"/>
            </p:cNvSpPr>
            <p:nvPr/>
          </p:nvSpPr>
          <p:spPr bwMode="auto">
            <a:xfrm>
              <a:off x="6104" y="10126"/>
              <a:ext cx="1107" cy="779"/>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planning</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9" name="AutoShape 19"/>
            <p:cNvSpPr>
              <a:spLocks noChangeArrowheads="1"/>
            </p:cNvSpPr>
            <p:nvPr/>
          </p:nvSpPr>
          <p:spPr bwMode="auto">
            <a:xfrm>
              <a:off x="7511" y="10126"/>
              <a:ext cx="1108" cy="779"/>
            </a:xfrm>
            <a:prstGeom prst="roundRect">
              <a:avLst>
                <a:gd name="adj" fmla="val 16667"/>
              </a:avLst>
            </a:prstGeom>
            <a:solidFill>
              <a:srgbClr val="FFFFFF"/>
            </a:solidFill>
            <a:ln w="95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monitoring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and control</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8" name="Rectangle 18"/>
            <p:cNvSpPr>
              <a:spLocks noChangeArrowheads="1"/>
            </p:cNvSpPr>
            <p:nvPr/>
          </p:nvSpPr>
          <p:spPr bwMode="auto">
            <a:xfrm>
              <a:off x="4685" y="11526"/>
              <a:ext cx="1107" cy="64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influences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7" name="Rectangle 17"/>
            <p:cNvSpPr>
              <a:spLocks noChangeArrowheads="1"/>
            </p:cNvSpPr>
            <p:nvPr/>
          </p:nvSpPr>
          <p:spPr bwMode="auto">
            <a:xfrm>
              <a:off x="3278" y="11526"/>
              <a:ext cx="1107" cy="6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Potential risks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6" name="Rectangle 16"/>
            <p:cNvSpPr>
              <a:spLocks noChangeArrowheads="1"/>
            </p:cNvSpPr>
            <p:nvPr/>
          </p:nvSpPr>
          <p:spPr bwMode="auto">
            <a:xfrm>
              <a:off x="6104" y="11526"/>
              <a:ext cx="1107" cy="6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resolution plan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5" name="Rectangle 15"/>
            <p:cNvSpPr>
              <a:spLocks noChangeArrowheads="1"/>
            </p:cNvSpPr>
            <p:nvPr/>
          </p:nvSpPr>
          <p:spPr bwMode="auto">
            <a:xfrm>
              <a:off x="7511" y="11526"/>
              <a:ext cx="1108" cy="64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Risk assessment</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254" name="AutoShape 14"/>
            <p:cNvSpPr>
              <a:spLocks noChangeShapeType="1"/>
            </p:cNvSpPr>
            <p:nvPr/>
          </p:nvSpPr>
          <p:spPr bwMode="auto">
            <a:xfrm>
              <a:off x="3831"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3" name="AutoShape 13"/>
            <p:cNvSpPr>
              <a:spLocks noChangeShapeType="1"/>
            </p:cNvSpPr>
            <p:nvPr/>
          </p:nvSpPr>
          <p:spPr bwMode="auto">
            <a:xfrm>
              <a:off x="5239"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2" name="AutoShape 12"/>
            <p:cNvSpPr>
              <a:spLocks noChangeShapeType="1"/>
            </p:cNvSpPr>
            <p:nvPr/>
          </p:nvSpPr>
          <p:spPr bwMode="auto">
            <a:xfrm>
              <a:off x="6658"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1" name="AutoShape 11"/>
            <p:cNvSpPr>
              <a:spLocks noChangeShapeType="1"/>
            </p:cNvSpPr>
            <p:nvPr/>
          </p:nvSpPr>
          <p:spPr bwMode="auto">
            <a:xfrm>
              <a:off x="8066" y="10905"/>
              <a:ext cx="1" cy="62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50" name="AutoShape 10"/>
            <p:cNvSpPr>
              <a:spLocks noChangeShapeType="1"/>
            </p:cNvSpPr>
            <p:nvPr/>
          </p:nvSpPr>
          <p:spPr bwMode="auto">
            <a:xfrm>
              <a:off x="3832" y="9839"/>
              <a:ext cx="4234"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9" name="AutoShape 9"/>
            <p:cNvSpPr>
              <a:spLocks noChangeShapeType="1"/>
            </p:cNvSpPr>
            <p:nvPr/>
          </p:nvSpPr>
          <p:spPr bwMode="auto">
            <a:xfrm flipH="1">
              <a:off x="8066" y="9837"/>
              <a:ext cx="1" cy="28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8" name="AutoShape 8"/>
            <p:cNvSpPr>
              <a:spLocks noChangeShapeType="1"/>
            </p:cNvSpPr>
            <p:nvPr/>
          </p:nvSpPr>
          <p:spPr bwMode="auto">
            <a:xfrm flipH="1">
              <a:off x="3831" y="9839"/>
              <a:ext cx="2" cy="28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7" name="AutoShape 7"/>
            <p:cNvSpPr>
              <a:spLocks noChangeShapeType="1"/>
            </p:cNvSpPr>
            <p:nvPr/>
          </p:nvSpPr>
          <p:spPr bwMode="auto">
            <a:xfrm>
              <a:off x="5238" y="9838"/>
              <a:ext cx="1" cy="28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6" name="AutoShape 6"/>
            <p:cNvSpPr>
              <a:spLocks noChangeShapeType="1"/>
            </p:cNvSpPr>
            <p:nvPr/>
          </p:nvSpPr>
          <p:spPr bwMode="auto">
            <a:xfrm>
              <a:off x="6657" y="9838"/>
              <a:ext cx="1" cy="28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5" name="Text Box 5"/>
            <p:cNvSpPr txBox="1">
              <a:spLocks noChangeArrowheads="1"/>
            </p:cNvSpPr>
            <p:nvPr/>
          </p:nvSpPr>
          <p:spPr bwMode="auto">
            <a:xfrm>
              <a:off x="4685" y="12506"/>
              <a:ext cx="3380" cy="26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Figure 4.11: Risk Management Process</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0244" name="AutoShape 4"/>
            <p:cNvSpPr>
              <a:spLocks noChangeShapeType="1"/>
            </p:cNvSpPr>
            <p:nvPr/>
          </p:nvSpPr>
          <p:spPr bwMode="auto">
            <a:xfrm>
              <a:off x="4385" y="10515"/>
              <a:ext cx="30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3" name="AutoShape 3"/>
            <p:cNvSpPr>
              <a:spLocks noChangeShapeType="1"/>
            </p:cNvSpPr>
            <p:nvPr/>
          </p:nvSpPr>
          <p:spPr bwMode="auto">
            <a:xfrm>
              <a:off x="5792" y="10515"/>
              <a:ext cx="312"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10242" name="AutoShape 2"/>
            <p:cNvSpPr>
              <a:spLocks noChangeShapeType="1"/>
            </p:cNvSpPr>
            <p:nvPr/>
          </p:nvSpPr>
          <p:spPr bwMode="auto">
            <a:xfrm>
              <a:off x="7211" y="10515"/>
              <a:ext cx="300"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Identification</a:t>
            </a:r>
            <a:endParaRPr lang="en-IN" dirty="0"/>
          </a:p>
        </p:txBody>
      </p:sp>
      <p:sp>
        <p:nvSpPr>
          <p:cNvPr id="3" name="Content Placeholder 2"/>
          <p:cNvSpPr>
            <a:spLocks noGrp="1"/>
          </p:cNvSpPr>
          <p:nvPr>
            <p:ph idx="1"/>
          </p:nvPr>
        </p:nvSpPr>
        <p:spPr>
          <a:xfrm>
            <a:off x="457200" y="1295400"/>
            <a:ext cx="8229600" cy="5105400"/>
          </a:xfrm>
        </p:spPr>
        <p:txBody>
          <a:bodyPr>
            <a:normAutofit fontScale="85000" lnSpcReduction="10000"/>
          </a:bodyPr>
          <a:lstStyle/>
          <a:p>
            <a:r>
              <a:rPr lang="en-US" smtClean="0"/>
              <a:t>Potential risks are identified with their consequences, effects, sources, root causes, and categories. </a:t>
            </a:r>
          </a:p>
          <a:p>
            <a:r>
              <a:rPr lang="en-US" smtClean="0"/>
              <a:t>The output of this activity is a list of project-specific risks that have the potential of compromising the project's success. </a:t>
            </a:r>
          </a:p>
          <a:p>
            <a:r>
              <a:rPr lang="en-US" smtClean="0"/>
              <a:t>There are various types of risks that may arise.</a:t>
            </a:r>
          </a:p>
          <a:p>
            <a:pPr lvl="1"/>
            <a:r>
              <a:rPr lang="en-US" smtClean="0"/>
              <a:t>Requirements Risks </a:t>
            </a:r>
          </a:p>
          <a:p>
            <a:pPr lvl="1"/>
            <a:r>
              <a:rPr lang="en-US" smtClean="0"/>
              <a:t>Technology Risks </a:t>
            </a:r>
          </a:p>
          <a:p>
            <a:pPr lvl="1"/>
            <a:r>
              <a:rPr lang="en-US" smtClean="0"/>
              <a:t>Organizational Risks</a:t>
            </a:r>
          </a:p>
          <a:p>
            <a:pPr lvl="1"/>
            <a:r>
              <a:rPr lang="en-US" smtClean="0"/>
              <a:t>Tools Risks </a:t>
            </a:r>
          </a:p>
          <a:p>
            <a:pPr lvl="1"/>
            <a:r>
              <a:rPr lang="en-US" smtClean="0"/>
              <a:t>Human Resources Risks</a:t>
            </a:r>
          </a:p>
          <a:p>
            <a:pPr lvl="1"/>
            <a:r>
              <a:rPr lang="en-US" smtClean="0"/>
              <a:t>Estimation Risks and so on. </a:t>
            </a:r>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Identification Techniques</a:t>
            </a:r>
            <a:endParaRPr lang="en-IN" dirty="0"/>
          </a:p>
        </p:txBody>
      </p:sp>
      <p:sp>
        <p:nvSpPr>
          <p:cNvPr id="3" name="Content Placeholder 2"/>
          <p:cNvSpPr>
            <a:spLocks noGrp="1"/>
          </p:cNvSpPr>
          <p:nvPr>
            <p:ph idx="1"/>
          </p:nvPr>
        </p:nvSpPr>
        <p:spPr>
          <a:xfrm>
            <a:off x="457200" y="1371600"/>
            <a:ext cx="8229600" cy="5029200"/>
          </a:xfrm>
        </p:spPr>
        <p:txBody>
          <a:bodyPr>
            <a:normAutofit fontScale="77500" lnSpcReduction="20000"/>
          </a:bodyPr>
          <a:lstStyle/>
          <a:p>
            <a:r>
              <a:rPr lang="en-US" smtClean="0"/>
              <a:t>Brainstorming is a preferred technique because of its flexibility and capability of generating a wide and diverse range of risks. </a:t>
            </a:r>
          </a:p>
          <a:p>
            <a:r>
              <a:rPr lang="en-US" smtClean="0"/>
              <a:t>Risk identification is performed on the basis of historical data, theoretical analysis, empirical data and analysis, informed opinions of the project team and other experts, and the concerns of stakeholders.</a:t>
            </a:r>
          </a:p>
          <a:p>
            <a:r>
              <a:rPr lang="en-US" smtClean="0"/>
              <a:t>Other techniques are:</a:t>
            </a:r>
          </a:p>
          <a:p>
            <a:pPr lvl="1"/>
            <a:r>
              <a:rPr lang="en-US" i="1" smtClean="0"/>
              <a:t>Interviewing</a:t>
            </a:r>
          </a:p>
          <a:p>
            <a:pPr lvl="1"/>
            <a:r>
              <a:rPr lang="en-US" i="1" smtClean="0"/>
              <a:t>Reporting</a:t>
            </a:r>
          </a:p>
          <a:p>
            <a:pPr lvl="1"/>
            <a:r>
              <a:rPr lang="en-US" i="1" smtClean="0"/>
              <a:t>Decomposition</a:t>
            </a:r>
          </a:p>
          <a:p>
            <a:pPr lvl="1"/>
            <a:r>
              <a:rPr lang="en-US" i="1" smtClean="0"/>
              <a:t>Assumption analysis</a:t>
            </a:r>
          </a:p>
          <a:p>
            <a:pPr lvl="1"/>
            <a:r>
              <a:rPr lang="en-US" i="1" smtClean="0"/>
              <a:t>Critical Path Analysis</a:t>
            </a:r>
          </a:p>
          <a:p>
            <a:pPr lvl="1"/>
            <a:r>
              <a:rPr lang="en-US" i="1" smtClean="0"/>
              <a:t>Utilization of Risk Taxonomies</a:t>
            </a:r>
            <a:endParaRPr lang="en-IN" i="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Risk Analysis and Evaluation</a:t>
            </a:r>
            <a:endParaRPr lang="en-IN" dirty="0"/>
          </a:p>
        </p:txBody>
      </p:sp>
      <p:sp>
        <p:nvSpPr>
          <p:cNvPr id="3" name="Content Placeholder 2"/>
          <p:cNvSpPr>
            <a:spLocks noGrp="1"/>
          </p:cNvSpPr>
          <p:nvPr>
            <p:ph idx="1"/>
          </p:nvPr>
        </p:nvSpPr>
        <p:spPr>
          <a:xfrm>
            <a:off x="457200" y="1371600"/>
            <a:ext cx="8229600" cy="5029200"/>
          </a:xfrm>
        </p:spPr>
        <p:txBody>
          <a:bodyPr>
            <a:normAutofit/>
          </a:bodyPr>
          <a:lstStyle/>
          <a:p>
            <a:r>
              <a:rPr lang="en-US" sz="2400" smtClean="0"/>
              <a:t>Each risk is analyzed independently by examining the identified risk and assessing its impact, probability, risk exposure, and seriousness. </a:t>
            </a:r>
          </a:p>
          <a:p>
            <a:r>
              <a:rPr lang="en-US" sz="2400" smtClean="0"/>
              <a:t>The list of risks is then grouped and prioritized/ranked based on the results of risk analysis. </a:t>
            </a:r>
          </a:p>
          <a:p>
            <a:r>
              <a:rPr lang="en-US" sz="2400" smtClean="0"/>
              <a:t>Risk prioritization helps in resource allocation and management.</a:t>
            </a:r>
          </a:p>
          <a:p>
            <a:pPr lvl="1"/>
            <a:r>
              <a:rPr lang="en-US" sz="2400" smtClean="0"/>
              <a:t>RE = Probability (UO) x Loss (UO), where RE is risk exposure and UO is unexpected outcome.</a:t>
            </a:r>
            <a:endParaRPr lang="en-IN"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r>
              <a:rPr lang="en-IN" dirty="0" smtClean="0"/>
              <a:t>Examples of Risks and their analysis</a:t>
            </a:r>
            <a:endParaRPr lang="en-IN" dirty="0"/>
          </a:p>
        </p:txBody>
      </p:sp>
      <p:graphicFrame>
        <p:nvGraphicFramePr>
          <p:cNvPr id="4" name="Table 3"/>
          <p:cNvGraphicFramePr>
            <a:graphicFrameLocks noGrp="1"/>
          </p:cNvGraphicFramePr>
          <p:nvPr/>
        </p:nvGraphicFramePr>
        <p:xfrm>
          <a:off x="381000" y="838200"/>
          <a:ext cx="8458199" cy="6017830"/>
        </p:xfrm>
        <a:graphic>
          <a:graphicData uri="http://schemas.openxmlformats.org/drawingml/2006/table">
            <a:tbl>
              <a:tblPr/>
              <a:tblGrid>
                <a:gridCol w="4482028">
                  <a:extLst>
                    <a:ext uri="{9D8B030D-6E8A-4147-A177-3AD203B41FA5}">
                      <a16:colId xmlns:a16="http://schemas.microsoft.com/office/drawing/2014/main" val="20000"/>
                    </a:ext>
                  </a:extLst>
                </a:gridCol>
                <a:gridCol w="1291606">
                  <a:extLst>
                    <a:ext uri="{9D8B030D-6E8A-4147-A177-3AD203B41FA5}">
                      <a16:colId xmlns:a16="http://schemas.microsoft.com/office/drawing/2014/main" val="20001"/>
                    </a:ext>
                  </a:extLst>
                </a:gridCol>
                <a:gridCol w="1341818">
                  <a:extLst>
                    <a:ext uri="{9D8B030D-6E8A-4147-A177-3AD203B41FA5}">
                      <a16:colId xmlns:a16="http://schemas.microsoft.com/office/drawing/2014/main" val="20002"/>
                    </a:ext>
                  </a:extLst>
                </a:gridCol>
                <a:gridCol w="1342747">
                  <a:extLst>
                    <a:ext uri="{9D8B030D-6E8A-4147-A177-3AD203B41FA5}">
                      <a16:colId xmlns:a16="http://schemas.microsoft.com/office/drawing/2014/main" val="20003"/>
                    </a:ext>
                  </a:extLst>
                </a:gridCol>
              </a:tblGrid>
              <a:tr h="190410">
                <a:tc>
                  <a:txBody>
                    <a:bodyPr/>
                    <a:lstStyle/>
                    <a:p>
                      <a:pPr algn="ctr">
                        <a:lnSpc>
                          <a:spcPct val="115000"/>
                        </a:lnSpc>
                        <a:spcAft>
                          <a:spcPts val="0"/>
                        </a:spcAft>
                      </a:pPr>
                      <a:r>
                        <a:rPr lang="en-IN" sz="1400" b="1" dirty="0">
                          <a:latin typeface="Times New Roman" pitchFamily="18" charset="0"/>
                          <a:ea typeface="Times New Roman"/>
                          <a:cs typeface="Times New Roman" pitchFamily="18" charset="0"/>
                        </a:rPr>
                        <a:t>Risk</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en-IN" sz="1400" b="1">
                          <a:latin typeface="Times New Roman" pitchFamily="18" charset="0"/>
                          <a:ea typeface="Times New Roman"/>
                          <a:cs typeface="Times New Roman" pitchFamily="18" charset="0"/>
                        </a:rPr>
                        <a:t>Effect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en-IN" sz="1400" b="1">
                          <a:latin typeface="Times New Roman" pitchFamily="18" charset="0"/>
                          <a:ea typeface="Times New Roman"/>
                          <a:cs typeface="Times New Roman" pitchFamily="18" charset="0"/>
                        </a:rPr>
                        <a:t>Probability</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0"/>
                        </a:spcAft>
                      </a:pPr>
                      <a:r>
                        <a:rPr lang="en-IN" sz="1400" b="1">
                          <a:latin typeface="Times New Roman" pitchFamily="18" charset="0"/>
                          <a:ea typeface="Times New Roman"/>
                          <a:cs typeface="Times New Roman" pitchFamily="18" charset="0"/>
                        </a:rPr>
                        <a:t>Impact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Unrealistic schedule and budget estimates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and business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Shortage of budget due to organizational financial crisis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and business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Catastrophic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041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Non-conformance to meet requirements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Business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Catastrophic</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Experienced and skilled staff turnover before project completion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Catastrophic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041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Lack of required training for staff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Gold plating by staff</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and product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Difficulty in recruiting experienced or required skilled staff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97370">
                <a:tc>
                  <a:txBody>
                    <a:bodyPr/>
                    <a:lstStyle/>
                    <a:p>
                      <a:pPr>
                        <a:lnSpc>
                          <a:spcPct val="115000"/>
                        </a:lnSpc>
                        <a:spcAft>
                          <a:spcPts val="0"/>
                        </a:spcAft>
                      </a:pPr>
                      <a:r>
                        <a:rPr lang="en-IN" sz="1200" b="1" dirty="0">
                          <a:latin typeface="Times New Roman" pitchFamily="18" charset="0"/>
                          <a:ea typeface="Times New Roman"/>
                          <a:cs typeface="Times New Roman" pitchFamily="18" charset="0"/>
                        </a:rPr>
                        <a:t>Organizational changes at management level</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and business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Technology changed during development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Business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Inability to integrate or underperformance of  software tools</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Product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Lack of sufficient reuse than anticipated</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Repairing reusable components before reuse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Product and project</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Low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Customer requirements changed</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Product and 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Insufficient code generated by code generation tolls as anticipated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Product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IN" sz="1200" b="1">
                          <a:latin typeface="Times New Roman" pitchFamily="18" charset="0"/>
                          <a:ea typeface="Times New Roman"/>
                          <a:cs typeface="Times New Roman" pitchFamily="18" charset="0"/>
                        </a:rPr>
                        <a:t>Negligible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Size of software underestimated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Project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Tolerable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93175">
                <a:tc>
                  <a:txBody>
                    <a:bodyPr/>
                    <a:lstStyle/>
                    <a:p>
                      <a:pPr>
                        <a:lnSpc>
                          <a:spcPct val="115000"/>
                        </a:lnSpc>
                        <a:spcAft>
                          <a:spcPts val="0"/>
                        </a:spcAft>
                      </a:pPr>
                      <a:r>
                        <a:rPr lang="en-IN" sz="1200" b="1">
                          <a:latin typeface="Times New Roman" pitchFamily="18" charset="0"/>
                          <a:ea typeface="Times New Roman"/>
                          <a:cs typeface="Times New Roman" pitchFamily="18" charset="0"/>
                        </a:rPr>
                        <a:t>Underperformance of database system</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Product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Moderate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Serious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397370">
                <a:tc>
                  <a:txBody>
                    <a:bodyPr/>
                    <a:lstStyle/>
                    <a:p>
                      <a:pPr>
                        <a:lnSpc>
                          <a:spcPct val="115000"/>
                        </a:lnSpc>
                        <a:spcAft>
                          <a:spcPts val="0"/>
                        </a:spcAft>
                      </a:pPr>
                      <a:r>
                        <a:rPr lang="en-IN" sz="1200" b="1">
                          <a:latin typeface="Times New Roman" pitchFamily="18" charset="0"/>
                          <a:ea typeface="Times New Roman"/>
                          <a:cs typeface="Times New Roman" pitchFamily="18" charset="0"/>
                        </a:rPr>
                        <a:t>Competitive product is launched before system is developed</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Business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a:latin typeface="Times New Roman" pitchFamily="18" charset="0"/>
                          <a:ea typeface="Times New Roman"/>
                          <a:cs typeface="Times New Roman" pitchFamily="18" charset="0"/>
                        </a:rPr>
                        <a:t>High </a:t>
                      </a: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IN" sz="1200" b="1" dirty="0">
                          <a:latin typeface="Times New Roman" pitchFamily="18" charset="0"/>
                          <a:ea typeface="Times New Roman"/>
                          <a:cs typeface="Times New Roman" pitchFamily="18" charset="0"/>
                        </a:rPr>
                        <a:t>Serious </a:t>
                      </a:r>
                      <a:r>
                        <a:rPr lang="en-US" sz="1200" b="1" dirty="0">
                          <a:latin typeface="Times New Roman" pitchFamily="18" charset="0"/>
                          <a:ea typeface="Times New Roman"/>
                          <a:cs typeface="Times New Roman" pitchFamily="18" charset="0"/>
                        </a:rPr>
                        <a:t> </a:t>
                      </a:r>
                      <a:endParaRPr lang="en-IN" sz="1200" b="1" dirty="0">
                        <a:latin typeface="Times New Roman" pitchFamily="18" charset="0"/>
                        <a:ea typeface="Times New Roman"/>
                        <a:cs typeface="Times New Roman" pitchFamily="18" charset="0"/>
                      </a:endParaRPr>
                    </a:p>
                  </a:txBody>
                  <a:tcPr marL="42811" marR="4281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Planning</a:t>
            </a:r>
            <a:endParaRPr lang="en-IN" dirty="0"/>
          </a:p>
        </p:txBody>
      </p:sp>
      <p:sp>
        <p:nvSpPr>
          <p:cNvPr id="3" name="Content Placeholder 2"/>
          <p:cNvSpPr>
            <a:spLocks noGrp="1"/>
          </p:cNvSpPr>
          <p:nvPr>
            <p:ph idx="1"/>
          </p:nvPr>
        </p:nvSpPr>
        <p:spPr>
          <a:xfrm>
            <a:off x="457200" y="1371600"/>
            <a:ext cx="8229600" cy="5257800"/>
          </a:xfrm>
        </p:spPr>
        <p:txBody>
          <a:bodyPr>
            <a:normAutofit/>
          </a:bodyPr>
          <a:lstStyle/>
          <a:p>
            <a:r>
              <a:rPr lang="en-US" sz="2400" dirty="0" smtClean="0"/>
              <a:t>Once the risks are identified and prioritized, an appropriate risk management plan is developed for modifying the risks. </a:t>
            </a:r>
          </a:p>
          <a:p>
            <a:r>
              <a:rPr lang="en-US" sz="2400" dirty="0" smtClean="0"/>
              <a:t>General risk management strategies are </a:t>
            </a:r>
          </a:p>
          <a:p>
            <a:pPr lvl="1"/>
            <a:r>
              <a:rPr lang="en-US" sz="2400" i="1" dirty="0" smtClean="0"/>
              <a:t>Risk Avoidance</a:t>
            </a:r>
          </a:p>
          <a:p>
            <a:pPr lvl="1"/>
            <a:r>
              <a:rPr lang="en-US" sz="2400" i="1" dirty="0" smtClean="0"/>
              <a:t>Risk Minimization</a:t>
            </a:r>
          </a:p>
          <a:p>
            <a:pPr lvl="1"/>
            <a:r>
              <a:rPr lang="en-US" sz="2400" i="1" dirty="0" smtClean="0"/>
              <a:t>Risk Acceptance</a:t>
            </a:r>
          </a:p>
          <a:p>
            <a:pPr lvl="1"/>
            <a:r>
              <a:rPr lang="en-US" sz="2400" i="1" dirty="0" smtClean="0"/>
              <a:t>Risk Transfer</a:t>
            </a:r>
            <a:endParaRPr lang="en-IN" sz="2400" i="1"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Risk Monitoring and Control</a:t>
            </a:r>
            <a:endParaRPr lang="en-IN" dirty="0"/>
          </a:p>
        </p:txBody>
      </p:sp>
      <p:sp>
        <p:nvSpPr>
          <p:cNvPr id="3" name="Content Placeholder 2"/>
          <p:cNvSpPr>
            <a:spLocks noGrp="1"/>
          </p:cNvSpPr>
          <p:nvPr>
            <p:ph idx="1"/>
          </p:nvPr>
        </p:nvSpPr>
        <p:spPr>
          <a:xfrm>
            <a:off x="457200" y="1524000"/>
            <a:ext cx="8229600" cy="4724400"/>
          </a:xfrm>
        </p:spPr>
        <p:txBody>
          <a:bodyPr>
            <a:noAutofit/>
          </a:bodyPr>
          <a:lstStyle/>
          <a:p>
            <a:r>
              <a:rPr lang="en-US" sz="2400" dirty="0" smtClean="0"/>
              <a:t>Risk monitoring and control ensures new risks are detected and managed. </a:t>
            </a:r>
          </a:p>
          <a:p>
            <a:r>
              <a:rPr lang="en-US" sz="2400" dirty="0" smtClean="0"/>
              <a:t>Risk action plans are implemented to reduce the impact of risks. </a:t>
            </a:r>
          </a:p>
          <a:p>
            <a:r>
              <a:rPr lang="en-US" sz="2400" dirty="0" smtClean="0"/>
              <a:t>Policies and standards compliances are regularly carried out and the standard performance is reviewed to identify the opportunities for improvement. </a:t>
            </a:r>
          </a:p>
          <a:p>
            <a:r>
              <a:rPr lang="en-US" sz="2400" dirty="0" smtClean="0"/>
              <a:t>The monitoring process provides assurance that appropriate controls have been taken for the organization’s activities and that the procedures are in place. </a:t>
            </a:r>
          </a:p>
          <a:p>
            <a:r>
              <a:rPr lang="en-US" sz="2400" dirty="0" smtClean="0"/>
              <a:t>If needed, changes are made in the organizational environment to cope with risks.</a:t>
            </a:r>
            <a:endParaRPr lang="en-IN"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768</TotalTime>
  <Words>4463</Words>
  <Application>Microsoft Office PowerPoint</Application>
  <PresentationFormat>On-screen Show (4:3)</PresentationFormat>
  <Paragraphs>585</Paragraphs>
  <Slides>61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Times New Roman</vt:lpstr>
      <vt:lpstr>Office Theme</vt:lpstr>
      <vt:lpstr>Chapter - 4</vt:lpstr>
      <vt:lpstr>Introduction</vt:lpstr>
      <vt:lpstr>Goal of SPM</vt:lpstr>
      <vt:lpstr>Project Management Essentials</vt:lpstr>
      <vt:lpstr>Project</vt:lpstr>
      <vt:lpstr>People</vt:lpstr>
      <vt:lpstr>People Involved in Project</vt:lpstr>
      <vt:lpstr>Process</vt:lpstr>
      <vt:lpstr>Product</vt:lpstr>
      <vt:lpstr>What is Project Management?</vt:lpstr>
      <vt:lpstr>Project Management Knowledge Areas</vt:lpstr>
      <vt:lpstr>Project Management Knowledge Areas</vt:lpstr>
      <vt:lpstr>Project Failures</vt:lpstr>
      <vt:lpstr>Project Success</vt:lpstr>
      <vt:lpstr>Project Management Team</vt:lpstr>
      <vt:lpstr>Team Structures</vt:lpstr>
      <vt:lpstr>Chief Programmer Team Structure</vt:lpstr>
      <vt:lpstr>Chief Programmer Team Structure</vt:lpstr>
      <vt:lpstr>Hierarchical Team Structure</vt:lpstr>
      <vt:lpstr>Hierarchical Team Structure</vt:lpstr>
      <vt:lpstr>Egoless Team Structure</vt:lpstr>
      <vt:lpstr>Egoless Team Structure</vt:lpstr>
      <vt:lpstr>Project Organization</vt:lpstr>
      <vt:lpstr>Project Format</vt:lpstr>
      <vt:lpstr>Project Format</vt:lpstr>
      <vt:lpstr>Functional Format</vt:lpstr>
      <vt:lpstr>Functional Format</vt:lpstr>
      <vt:lpstr>Matrix Format</vt:lpstr>
      <vt:lpstr>Matrix Format</vt:lpstr>
      <vt:lpstr>Project Manager</vt:lpstr>
      <vt:lpstr>Project Manager’s Activities</vt:lpstr>
      <vt:lpstr>Project Manager’s Roles and Skills</vt:lpstr>
      <vt:lpstr>Project Life Cycle</vt:lpstr>
      <vt:lpstr>Project Life Cycle</vt:lpstr>
      <vt:lpstr>Project Initiation</vt:lpstr>
      <vt:lpstr>Project Planning</vt:lpstr>
      <vt:lpstr>Project Execution</vt:lpstr>
      <vt:lpstr> Monitoring and control </vt:lpstr>
      <vt:lpstr>Project Closure</vt:lpstr>
      <vt:lpstr>Project v/s Product Life Cycle</vt:lpstr>
      <vt:lpstr>Project v/s Product Life Cycle</vt:lpstr>
      <vt:lpstr>Software Configuration Management</vt:lpstr>
      <vt:lpstr>Software Configuration Management</vt:lpstr>
      <vt:lpstr>Software Configuration Management</vt:lpstr>
      <vt:lpstr>Software Configuration Management</vt:lpstr>
      <vt:lpstr>Configuration Identification</vt:lpstr>
      <vt:lpstr>Configuration Change Control</vt:lpstr>
      <vt:lpstr>Configuration version control</vt:lpstr>
      <vt:lpstr>Configuration version control</vt:lpstr>
      <vt:lpstr>Configuration Auditing</vt:lpstr>
      <vt:lpstr>Risk Management</vt:lpstr>
      <vt:lpstr>Risk Management</vt:lpstr>
      <vt:lpstr>Risk Categories</vt:lpstr>
      <vt:lpstr>Risk Management Activities</vt:lpstr>
      <vt:lpstr>Risk Management Activities</vt:lpstr>
      <vt:lpstr>Risk Identification</vt:lpstr>
      <vt:lpstr>Risk Identification Techniques</vt:lpstr>
      <vt:lpstr>Risk Analysis and Evaluation</vt:lpstr>
      <vt:lpstr>Examples of Risks and their analysis</vt:lpstr>
      <vt:lpstr>Risk Planning</vt:lpstr>
      <vt:lpstr>Risk Monitoring and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202</cp:revision>
  <dcterms:created xsi:type="dcterms:W3CDTF">2006-08-16T00:00:00Z</dcterms:created>
  <dcterms:modified xsi:type="dcterms:W3CDTF">2026-02-05T06:28:18Z</dcterms:modified>
</cp:coreProperties>
</file>