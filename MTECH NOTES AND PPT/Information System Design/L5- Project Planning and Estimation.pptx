
<file path=[Content_Types].xml><?xml version="1.0" encoding="utf-8"?>
<Types xmlns="http://schemas.openxmlformats.org/package/2006/content-types">
  <Default Extension="bin" ContentType="application/vnd.openxmlformats-officedocument.oleObject"/>
  <Default Extension="wmf" ContentType="image/x-wmf"/>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8"/>
  </p:notesMasterIdLst>
  <p:handoutMasterIdLst>
    <p:handoutMasterId r:id="rId109"/>
  </p:handoutMasterIdLst>
  <p:sldIdLst>
    <p:sldId id="256" r:id="rId2"/>
    <p:sldId id="257" r:id="rId3"/>
    <p:sldId id="263" r:id="rId4"/>
    <p:sldId id="378" r:id="rId5"/>
    <p:sldId id="377" r:id="rId6"/>
    <p:sldId id="379" r:id="rId7"/>
    <p:sldId id="272" r:id="rId8"/>
    <p:sldId id="380" r:id="rId9"/>
    <p:sldId id="273" r:id="rId10"/>
    <p:sldId id="276" r:id="rId11"/>
    <p:sldId id="277" r:id="rId12"/>
    <p:sldId id="278" r:id="rId13"/>
    <p:sldId id="280" r:id="rId14"/>
    <p:sldId id="281" r:id="rId15"/>
    <p:sldId id="282" r:id="rId16"/>
    <p:sldId id="284" r:id="rId17"/>
    <p:sldId id="384" r:id="rId18"/>
    <p:sldId id="385" r:id="rId19"/>
    <p:sldId id="386" r:id="rId20"/>
    <p:sldId id="387" r:id="rId21"/>
    <p:sldId id="388" r:id="rId22"/>
    <p:sldId id="401" r:id="rId23"/>
    <p:sldId id="389" r:id="rId24"/>
    <p:sldId id="390" r:id="rId25"/>
    <p:sldId id="391" r:id="rId26"/>
    <p:sldId id="392" r:id="rId27"/>
    <p:sldId id="393" r:id="rId28"/>
    <p:sldId id="395" r:id="rId29"/>
    <p:sldId id="288" r:id="rId30"/>
    <p:sldId id="290" r:id="rId31"/>
    <p:sldId id="396" r:id="rId32"/>
    <p:sldId id="397" r:id="rId33"/>
    <p:sldId id="398" r:id="rId34"/>
    <p:sldId id="399" r:id="rId35"/>
    <p:sldId id="400" r:id="rId36"/>
    <p:sldId id="291" r:id="rId37"/>
    <p:sldId id="292" r:id="rId38"/>
    <p:sldId id="296" r:id="rId39"/>
    <p:sldId id="297" r:id="rId40"/>
    <p:sldId id="298" r:id="rId41"/>
    <p:sldId id="299" r:id="rId42"/>
    <p:sldId id="305" r:id="rId43"/>
    <p:sldId id="306" r:id="rId44"/>
    <p:sldId id="300" r:id="rId45"/>
    <p:sldId id="301" r:id="rId46"/>
    <p:sldId id="307" r:id="rId47"/>
    <p:sldId id="308" r:id="rId48"/>
    <p:sldId id="309" r:id="rId49"/>
    <p:sldId id="310" r:id="rId50"/>
    <p:sldId id="311" r:id="rId51"/>
    <p:sldId id="359" r:id="rId52"/>
    <p:sldId id="360" r:id="rId53"/>
    <p:sldId id="312" r:id="rId54"/>
    <p:sldId id="361" r:id="rId55"/>
    <p:sldId id="313" r:id="rId56"/>
    <p:sldId id="362" r:id="rId57"/>
    <p:sldId id="363" r:id="rId58"/>
    <p:sldId id="314" r:id="rId59"/>
    <p:sldId id="364" r:id="rId60"/>
    <p:sldId id="365" r:id="rId61"/>
    <p:sldId id="367" r:id="rId62"/>
    <p:sldId id="372" r:id="rId63"/>
    <p:sldId id="316" r:id="rId64"/>
    <p:sldId id="318" r:id="rId65"/>
    <p:sldId id="319" r:id="rId66"/>
    <p:sldId id="317" r:id="rId67"/>
    <p:sldId id="303" r:id="rId68"/>
    <p:sldId id="368" r:id="rId69"/>
    <p:sldId id="322" r:id="rId70"/>
    <p:sldId id="323" r:id="rId71"/>
    <p:sldId id="324" r:id="rId72"/>
    <p:sldId id="302" r:id="rId73"/>
    <p:sldId id="373" r:id="rId74"/>
    <p:sldId id="374" r:id="rId75"/>
    <p:sldId id="375" r:id="rId76"/>
    <p:sldId id="376" r:id="rId77"/>
    <p:sldId id="325" r:id="rId78"/>
    <p:sldId id="326" r:id="rId79"/>
    <p:sldId id="327" r:id="rId80"/>
    <p:sldId id="328" r:id="rId81"/>
    <p:sldId id="329" r:id="rId82"/>
    <p:sldId id="330" r:id="rId83"/>
    <p:sldId id="331" r:id="rId84"/>
    <p:sldId id="333" r:id="rId85"/>
    <p:sldId id="337" r:id="rId86"/>
    <p:sldId id="338" r:id="rId87"/>
    <p:sldId id="339" r:id="rId88"/>
    <p:sldId id="340" r:id="rId89"/>
    <p:sldId id="341" r:id="rId90"/>
    <p:sldId id="371" r:id="rId91"/>
    <p:sldId id="334" r:id="rId92"/>
    <p:sldId id="335" r:id="rId93"/>
    <p:sldId id="336" r:id="rId94"/>
    <p:sldId id="342" r:id="rId95"/>
    <p:sldId id="346" r:id="rId96"/>
    <p:sldId id="348" r:id="rId97"/>
    <p:sldId id="347" r:id="rId98"/>
    <p:sldId id="349" r:id="rId99"/>
    <p:sldId id="350" r:id="rId100"/>
    <p:sldId id="351" r:id="rId101"/>
    <p:sldId id="352" r:id="rId102"/>
    <p:sldId id="353" r:id="rId103"/>
    <p:sldId id="354" r:id="rId104"/>
    <p:sldId id="355" r:id="rId105"/>
    <p:sldId id="356" r:id="rId106"/>
    <p:sldId id="357" r:id="rId10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6" d="100"/>
          <a:sy n="86" d="100"/>
        </p:scale>
        <p:origin x="1524" y="96"/>
      </p:cViewPr>
      <p:guideLst>
        <p:guide orient="horz" pos="2160"/>
        <p:guide pos="2880"/>
      </p:guideLst>
    </p:cSldViewPr>
  </p:slideViewPr>
  <p:notesTextViewPr>
    <p:cViewPr>
      <p:scale>
        <a:sx n="1" d="1"/>
        <a:sy n="1" d="1"/>
      </p:scale>
      <p:origin x="0" y="0"/>
    </p:cViewPr>
  </p:notesTextViewPr>
  <p:sorterViewPr>
    <p:cViewPr varScale="1">
      <p:scale>
        <a:sx n="100" d="100"/>
        <a:sy n="100" d="100"/>
      </p:scale>
      <p:origin x="0" y="-1356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handoutMaster" Target="handoutMasters/handoutMaster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4.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5.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7.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61A87270-67D5-4615-A77B-E25DF18E1265}" type="datetimeFigureOut">
              <a:rPr lang="en-IN" smtClean="0"/>
              <a:t>06-10-2026</a:t>
            </a:fld>
            <a:endParaRPr lang="en-IN"/>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FFED7D-9E32-4EF9-B328-9EEB05F34FDA}" type="slidenum">
              <a:rPr lang="en-IN" smtClean="0"/>
              <a:t>‹#›</a:t>
            </a:fld>
            <a:endParaRPr lang="en-IN"/>
          </a:p>
        </p:txBody>
      </p:sp>
    </p:spTree>
    <p:extLst>
      <p:ext uri="{BB962C8B-B14F-4D97-AF65-F5344CB8AC3E}">
        <p14:creationId xmlns:p14="http://schemas.microsoft.com/office/powerpoint/2010/main" val="30050473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52999F2-D925-4B5D-84FE-92030FC1ECE7}" type="datetimeFigureOut">
              <a:rPr lang="en-IN" smtClean="0"/>
              <a:pPr/>
              <a:t>06-10-2026</a:t>
            </a:fld>
            <a:endParaRPr lang="en-IN"/>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17BD1E0-82FE-48A4-9CB2-4E803663DDC6}" type="slidenum">
              <a:rPr lang="en-IN" smtClean="0"/>
              <a:pPr/>
              <a:t>‹#›</a:t>
            </a:fld>
            <a:endParaRPr lang="en-IN"/>
          </a:p>
        </p:txBody>
      </p:sp>
    </p:spTree>
    <p:extLst>
      <p:ext uri="{BB962C8B-B14F-4D97-AF65-F5344CB8AC3E}">
        <p14:creationId xmlns:p14="http://schemas.microsoft.com/office/powerpoint/2010/main" val="1235450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FCB49626-B804-4F2D-81C1-6BBD1E9B55BB}" type="slidenum">
              <a:rPr lang="en-US" altLang="en-US" b="0" smtClean="0">
                <a:latin typeface="Arial" panose="020B0604020202020204" pitchFamily="34" charset="0"/>
              </a:rPr>
              <a:pPr/>
              <a:t>17</a:t>
            </a:fld>
            <a:endParaRPr lang="en-US" altLang="en-US" b="0" smtClean="0">
              <a:latin typeface="Arial" panose="020B0604020202020204" pitchFamily="34" charset="0"/>
            </a:endParaRPr>
          </a:p>
        </p:txBody>
      </p:sp>
      <p:sp>
        <p:nvSpPr>
          <p:cNvPr id="33795" name="Rectangle 2"/>
          <p:cNvSpPr>
            <a:spLocks noGrp="1" noRot="1" noChangeAspect="1" noChangeArrowheads="1" noTextEdit="1"/>
          </p:cNvSpPr>
          <p:nvPr>
            <p:ph type="sldImg"/>
          </p:nvPr>
        </p:nvSpPr>
        <p:spPr>
          <a:ln/>
        </p:spPr>
      </p:sp>
      <p:sp>
        <p:nvSpPr>
          <p:cNvPr id="337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21314463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10BBA71B-561C-4478-A4AD-889B165B390E}" type="slidenum">
              <a:rPr lang="en-US" altLang="en-US" b="0" smtClean="0">
                <a:latin typeface="Arial" panose="020B0604020202020204" pitchFamily="34" charset="0"/>
              </a:rPr>
              <a:pPr/>
              <a:t>18</a:t>
            </a:fld>
            <a:endParaRPr lang="en-US" altLang="en-US" b="0" smtClean="0">
              <a:latin typeface="Arial" panose="020B0604020202020204" pitchFamily="34" charset="0"/>
            </a:endParaRPr>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850308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D1778ED4-C7C9-4815-8E11-2E6FFD9EF31F}" type="slidenum">
              <a:rPr lang="en-US" altLang="en-US" b="0" smtClean="0">
                <a:latin typeface="Arial" panose="020B0604020202020204" pitchFamily="34" charset="0"/>
              </a:rPr>
              <a:pPr/>
              <a:t>19</a:t>
            </a:fld>
            <a:endParaRPr lang="en-US" altLang="en-US" b="0" smtClean="0">
              <a:latin typeface="Arial" panose="020B0604020202020204" pitchFamily="34" charset="0"/>
            </a:endParaRP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40860614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5D2B85FD-CE8A-4A83-A5DC-9FE0821DCCA2}" type="slidenum">
              <a:rPr lang="en-US" altLang="en-US" b="0" smtClean="0">
                <a:latin typeface="Arial" panose="020B0604020202020204" pitchFamily="34" charset="0"/>
              </a:rPr>
              <a:pPr/>
              <a:t>20</a:t>
            </a:fld>
            <a:endParaRPr lang="en-US" altLang="en-US" b="0" smtClean="0">
              <a:latin typeface="Arial" panose="020B0604020202020204" pitchFamily="34" charset="0"/>
            </a:endParaRPr>
          </a:p>
        </p:txBody>
      </p:sp>
      <p:sp>
        <p:nvSpPr>
          <p:cNvPr id="41987" name="Rectangle 2"/>
          <p:cNvSpPr>
            <a:spLocks noGrp="1" noRot="1" noChangeAspect="1" noChangeArrowheads="1" noTextEdit="1"/>
          </p:cNvSpPr>
          <p:nvPr>
            <p:ph type="sldImg"/>
          </p:nvPr>
        </p:nvSpPr>
        <p:spPr>
          <a:ln/>
        </p:spPr>
      </p:sp>
      <p:sp>
        <p:nvSpPr>
          <p:cNvPr id="419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3708134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0C5E6C99-BB50-499D-A461-DAF57D3C644C}" type="slidenum">
              <a:rPr lang="en-US" altLang="en-US" b="0" smtClean="0">
                <a:latin typeface="Arial" panose="020B0604020202020204" pitchFamily="34" charset="0"/>
              </a:rPr>
              <a:pPr/>
              <a:t>21</a:t>
            </a:fld>
            <a:endParaRPr lang="en-US" altLang="en-US" b="0" smtClean="0">
              <a:latin typeface="Arial" panose="020B0604020202020204" pitchFamily="34" charset="0"/>
            </a:endParaRPr>
          </a:p>
        </p:txBody>
      </p:sp>
      <p:sp>
        <p:nvSpPr>
          <p:cNvPr id="44035" name="Rectangle 2"/>
          <p:cNvSpPr>
            <a:spLocks noGrp="1" noRot="1" noChangeAspect="1" noChangeArrowheads="1" noTextEdit="1"/>
          </p:cNvSpPr>
          <p:nvPr>
            <p:ph type="sldImg"/>
          </p:nvPr>
        </p:nvSpPr>
        <p:spPr>
          <a:ln/>
        </p:spPr>
      </p:sp>
      <p:sp>
        <p:nvSpPr>
          <p:cNvPr id="440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19668634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DE40AAF4-CA93-4831-AE4D-7F85A0CFDD16}" type="slidenum">
              <a:rPr lang="en-US" altLang="en-US" b="0" smtClean="0">
                <a:latin typeface="Arial" panose="020B0604020202020204" pitchFamily="34" charset="0"/>
              </a:rPr>
              <a:pPr/>
              <a:t>22</a:t>
            </a:fld>
            <a:endParaRPr lang="en-US" altLang="en-US" b="0" smtClean="0">
              <a:latin typeface="Arial" panose="020B0604020202020204" pitchFamily="34" charset="0"/>
            </a:endParaRPr>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27856491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53CC22B9-7111-4405-9E5B-7991993FEAB2}" type="slidenum">
              <a:rPr lang="en-US" altLang="en-US" b="0" smtClean="0">
                <a:latin typeface="Arial" panose="020B0604020202020204" pitchFamily="34" charset="0"/>
              </a:rPr>
              <a:pPr/>
              <a:t>23</a:t>
            </a:fld>
            <a:endParaRPr lang="en-US" altLang="en-US" b="0" smtClean="0">
              <a:latin typeface="Arial" panose="020B0604020202020204" pitchFamily="34" charset="0"/>
            </a:endParaRPr>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13586700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F8547B40-C80E-40D5-A9E0-06B073EFD05D}" type="slidenum">
              <a:rPr lang="en-US" altLang="en-US" b="0" smtClean="0">
                <a:latin typeface="Arial" panose="020B0604020202020204" pitchFamily="34" charset="0"/>
              </a:rPr>
              <a:pPr/>
              <a:t>24</a:t>
            </a:fld>
            <a:endParaRPr lang="en-US" altLang="en-US" b="0" smtClean="0">
              <a:latin typeface="Arial" panose="020B0604020202020204" pitchFamily="34" charset="0"/>
            </a:endParaRPr>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2235896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E5E9631F-4C9C-4CA4-B3C5-940F565DEB7D}" type="slidenum">
              <a:rPr lang="en-US" altLang="en-US" b="0" smtClean="0">
                <a:latin typeface="Arial" panose="020B0604020202020204" pitchFamily="34" charset="0"/>
              </a:rPr>
              <a:pPr/>
              <a:t>25</a:t>
            </a:fld>
            <a:endParaRPr lang="en-US" altLang="en-US" b="0" smtClean="0">
              <a:latin typeface="Arial" panose="020B0604020202020204" pitchFamily="34"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253136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A9F819F4-44AE-4FB2-BB83-D865502FDDEF}" type="slidenum">
              <a:rPr lang="en-US" altLang="en-US" b="0" smtClean="0">
                <a:latin typeface="Arial" panose="020B0604020202020204" pitchFamily="34" charset="0"/>
              </a:rPr>
              <a:pPr/>
              <a:t>26</a:t>
            </a:fld>
            <a:endParaRPr lang="en-US" altLang="en-US" b="0" smtClean="0">
              <a:latin typeface="Arial" panose="020B0604020202020204" pitchFamily="34"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3466927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b="1">
                <a:solidFill>
                  <a:schemeClr val="tx1"/>
                </a:solidFill>
                <a:latin typeface="Times New Roman" panose="02020603050405020304" pitchFamily="18" charset="0"/>
              </a:defRPr>
            </a:lvl1pPr>
            <a:lvl2pPr marL="742950" indent="-285750">
              <a:defRPr b="1">
                <a:solidFill>
                  <a:schemeClr val="tx1"/>
                </a:solidFill>
                <a:latin typeface="Times New Roman" panose="02020603050405020304" pitchFamily="18" charset="0"/>
              </a:defRPr>
            </a:lvl2pPr>
            <a:lvl3pPr marL="1143000" indent="-228600">
              <a:defRPr b="1">
                <a:solidFill>
                  <a:schemeClr val="tx1"/>
                </a:solidFill>
                <a:latin typeface="Times New Roman" panose="02020603050405020304" pitchFamily="18" charset="0"/>
              </a:defRPr>
            </a:lvl3pPr>
            <a:lvl4pPr marL="1600200" indent="-228600">
              <a:defRPr b="1">
                <a:solidFill>
                  <a:schemeClr val="tx1"/>
                </a:solidFill>
                <a:latin typeface="Times New Roman" panose="02020603050405020304" pitchFamily="18" charset="0"/>
              </a:defRPr>
            </a:lvl4pPr>
            <a:lvl5pPr marL="2057400" indent="-228600">
              <a:defRPr b="1">
                <a:solidFill>
                  <a:schemeClr val="tx1"/>
                </a:solidFill>
                <a:latin typeface="Times New Roman" panose="02020603050405020304" pitchFamily="18" charset="0"/>
              </a:defRPr>
            </a:lvl5pPr>
            <a:lvl6pPr marL="2514600" indent="-228600" eaLnBrk="0" fontAlgn="base" hangingPunct="0">
              <a:spcBef>
                <a:spcPct val="0"/>
              </a:spcBef>
              <a:spcAft>
                <a:spcPct val="0"/>
              </a:spcAft>
              <a:defRPr b="1">
                <a:solidFill>
                  <a:schemeClr val="tx1"/>
                </a:solidFill>
                <a:latin typeface="Times New Roman" panose="02020603050405020304" pitchFamily="18" charset="0"/>
              </a:defRPr>
            </a:lvl6pPr>
            <a:lvl7pPr marL="2971800" indent="-228600" eaLnBrk="0" fontAlgn="base" hangingPunct="0">
              <a:spcBef>
                <a:spcPct val="0"/>
              </a:spcBef>
              <a:spcAft>
                <a:spcPct val="0"/>
              </a:spcAft>
              <a:defRPr b="1">
                <a:solidFill>
                  <a:schemeClr val="tx1"/>
                </a:solidFill>
                <a:latin typeface="Times New Roman" panose="02020603050405020304" pitchFamily="18" charset="0"/>
              </a:defRPr>
            </a:lvl7pPr>
            <a:lvl8pPr marL="3429000" indent="-228600" eaLnBrk="0" fontAlgn="base" hangingPunct="0">
              <a:spcBef>
                <a:spcPct val="0"/>
              </a:spcBef>
              <a:spcAft>
                <a:spcPct val="0"/>
              </a:spcAft>
              <a:defRPr b="1">
                <a:solidFill>
                  <a:schemeClr val="tx1"/>
                </a:solidFill>
                <a:latin typeface="Times New Roman" panose="02020603050405020304" pitchFamily="18" charset="0"/>
              </a:defRPr>
            </a:lvl8pPr>
            <a:lvl9pPr marL="3886200" indent="-228600" eaLnBrk="0" fontAlgn="base" hangingPunct="0">
              <a:spcBef>
                <a:spcPct val="0"/>
              </a:spcBef>
              <a:spcAft>
                <a:spcPct val="0"/>
              </a:spcAft>
              <a:defRPr b="1">
                <a:solidFill>
                  <a:schemeClr val="tx1"/>
                </a:solidFill>
                <a:latin typeface="Times New Roman" panose="02020603050405020304" pitchFamily="18" charset="0"/>
              </a:defRPr>
            </a:lvl9pPr>
          </a:lstStyle>
          <a:p>
            <a:fld id="{1E2D059C-CDFF-4A85-90E1-C7C0F3BC3A45}" type="slidenum">
              <a:rPr lang="en-US" altLang="en-US" b="0" smtClean="0">
                <a:latin typeface="Arial" panose="020B0604020202020204" pitchFamily="34" charset="0"/>
              </a:rPr>
              <a:pPr/>
              <a:t>27</a:t>
            </a:fld>
            <a:endParaRPr lang="en-US" altLang="en-US" b="0" smtClean="0">
              <a:latin typeface="Arial" panose="020B0604020202020204" pitchFamily="34"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latin typeface="Arial" panose="020B0604020202020204" pitchFamily="34" charset="0"/>
            </a:endParaRPr>
          </a:p>
        </p:txBody>
      </p:sp>
    </p:spTree>
    <p:extLst>
      <p:ext uri="{BB962C8B-B14F-4D97-AF65-F5344CB8AC3E}">
        <p14:creationId xmlns:p14="http://schemas.microsoft.com/office/powerpoint/2010/main" val="3160825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8A894D38-B2FE-40AA-8520-F66C39DB8580}" type="datetime1">
              <a:rPr lang="en-IN" smtClean="0"/>
              <a:pPr/>
              <a:t>06-10-2026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1785249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4F91F0C7-952A-4EEC-AC26-0DBB372B609A}" type="datetime1">
              <a:rPr lang="en-IN" smtClean="0"/>
              <a:pPr/>
              <a:t>06-10-2026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2808807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E90A009-CF3B-4801-B285-541AD264B0BB}" type="datetime1">
              <a:rPr lang="en-IN" smtClean="0"/>
              <a:pPr/>
              <a:t>06-10-2026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25652478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45E1B8FA-9B9C-4BCB-9953-CBAF9BE9CC2D}" type="datetime1">
              <a:rPr lang="en-IN" smtClean="0"/>
              <a:pPr/>
              <a:t>06-10-2026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1551927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7EAA621E-467B-429C-A5BB-63CA0AC0DB19}" type="datetime1">
              <a:rPr lang="en-IN" smtClean="0"/>
              <a:pPr/>
              <a:t>06-10-2026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43793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8E7BC443-F5B3-4E93-81B4-C9859C44084D}" type="datetime1">
              <a:rPr lang="en-IN" smtClean="0"/>
              <a:pPr/>
              <a:t>06-10-2026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897725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3BFDBF-95B7-455E-BA6F-81F11560746C}" type="datetime1">
              <a:rPr lang="en-IN" smtClean="0"/>
              <a:pPr/>
              <a:t>06-10-2026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3387016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18F0155-DF98-446D-870F-954C8A5F134F}" type="datetime1">
              <a:rPr lang="en-IN" smtClean="0"/>
              <a:pPr/>
              <a:t>06-10-2026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780142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8AFD7EF-FCB0-40F8-8A8E-16EC13E6563C}" type="datetime1">
              <a:rPr lang="en-IN" smtClean="0"/>
              <a:pPr/>
              <a:t>06-10-2026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1490437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12704D1F-98A9-4DE0-90BD-58E5CA8DB74C}" type="datetime1">
              <a:rPr lang="en-IN" smtClean="0"/>
              <a:pPr/>
              <a:t>06-10-2026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36522142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29D4ED6F-9343-42C9-B8F0-4DDE2C4D3FD7}" type="datetime1">
              <a:rPr lang="en-IN" smtClean="0"/>
              <a:pPr/>
              <a:t>06-10-2026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C087B72-CC60-4FF0-9C96-8509CDF76D05}" type="slidenum">
              <a:rPr lang="en-IN" smtClean="0"/>
              <a:pPr/>
              <a:t>‹#›</a:t>
            </a:fld>
            <a:endParaRPr lang="en-IN"/>
          </a:p>
        </p:txBody>
      </p:sp>
    </p:spTree>
    <p:extLst>
      <p:ext uri="{BB962C8B-B14F-4D97-AF65-F5344CB8AC3E}">
        <p14:creationId xmlns:p14="http://schemas.microsoft.com/office/powerpoint/2010/main" val="10292002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B83A1B-C037-4FC4-A80A-D0643E052A2B}" type="datetime1">
              <a:rPr lang="en-IN" smtClean="0"/>
              <a:pPr/>
              <a:t>06-10-2026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087B72-CC60-4FF0-9C96-8509CDF76D05}" type="slidenum">
              <a:rPr lang="en-IN" smtClean="0"/>
              <a:pPr/>
              <a:t>‹#›</a:t>
            </a:fld>
            <a:endParaRPr lang="en-IN"/>
          </a:p>
        </p:txBody>
      </p:sp>
    </p:spTree>
    <p:extLst>
      <p:ext uri="{BB962C8B-B14F-4D97-AF65-F5344CB8AC3E}">
        <p14:creationId xmlns:p14="http://schemas.microsoft.com/office/powerpoint/2010/main" val="2971394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1.wmf"/><Relationship Id="rId4" Type="http://schemas.openxmlformats.org/officeDocument/2006/relationships/oleObject" Target="../embeddings/oleObject1.bin"/></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vmlDrawing" Target="../drawings/vmlDrawing2.vml"/><Relationship Id="rId5" Type="http://schemas.openxmlformats.org/officeDocument/2006/relationships/image" Target="../media/image2.wmf"/><Relationship Id="rId4" Type="http://schemas.openxmlformats.org/officeDocument/2006/relationships/oleObject" Target="../embeddings/oleObject2.bin"/></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vmlDrawing" Target="../drawings/vmlDrawing3.vml"/><Relationship Id="rId5" Type="http://schemas.openxmlformats.org/officeDocument/2006/relationships/image" Target="../media/image3.emf"/><Relationship Id="rId4" Type="http://schemas.openxmlformats.org/officeDocument/2006/relationships/oleObject" Target="../embeddings/oleObject3.bin"/></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mlDrawing" Target="../drawings/vmlDrawing4.vml"/><Relationship Id="rId5" Type="http://schemas.openxmlformats.org/officeDocument/2006/relationships/image" Target="../media/image4.wmf"/><Relationship Id="rId4" Type="http://schemas.openxmlformats.org/officeDocument/2006/relationships/oleObject" Target="../embeddings/oleObject4.bin"/></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5.vml"/><Relationship Id="rId5" Type="http://schemas.openxmlformats.org/officeDocument/2006/relationships/image" Target="../media/image5.wmf"/><Relationship Id="rId4" Type="http://schemas.openxmlformats.org/officeDocument/2006/relationships/oleObject" Target="../embeddings/oleObject5.bin"/></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vmlDrawing" Target="../drawings/vmlDrawing6.vml"/><Relationship Id="rId5" Type="http://schemas.openxmlformats.org/officeDocument/2006/relationships/image" Target="../media/image6.wmf"/><Relationship Id="rId4" Type="http://schemas.openxmlformats.org/officeDocument/2006/relationships/oleObject" Target="../embeddings/oleObject6.bin"/></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mlDrawing" Target="../drawings/vmlDrawing7.vml"/><Relationship Id="rId5" Type="http://schemas.openxmlformats.org/officeDocument/2006/relationships/image" Target="../media/image7.wmf"/><Relationship Id="rId4" Type="http://schemas.openxmlformats.org/officeDocument/2006/relationships/oleObject" Target="../embeddings/oleObject7.bin"/></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vmlDrawing" Target="../drawings/vmlDrawing8.vml"/><Relationship Id="rId5" Type="http://schemas.openxmlformats.org/officeDocument/2006/relationships/image" Target="../media/image8.emf"/><Relationship Id="rId4" Type="http://schemas.openxmlformats.org/officeDocument/2006/relationships/oleObject" Target="../embeddings/oleObject8.bin"/></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vmlDrawing" Target="../drawings/vmlDrawing9.vml"/><Relationship Id="rId5" Type="http://schemas.openxmlformats.org/officeDocument/2006/relationships/image" Target="../media/image4.wmf"/><Relationship Id="rId4" Type="http://schemas.openxmlformats.org/officeDocument/2006/relationships/oleObject" Target="../embeddings/oleObject9.bin"/></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55576" y="2708920"/>
            <a:ext cx="7772400" cy="1470025"/>
          </a:xfrm>
        </p:spPr>
        <p:txBody>
          <a:bodyPr>
            <a:normAutofit fontScale="90000"/>
          </a:bodyPr>
          <a:lstStyle/>
          <a:p>
            <a:r>
              <a:rPr lang="en-IN" b="1" dirty="0">
                <a:solidFill>
                  <a:srgbClr val="0000FF"/>
                </a:solidFill>
                <a:latin typeface="Times New Roman" pitchFamily="18" charset="0"/>
                <a:cs typeface="Times New Roman" pitchFamily="18" charset="0"/>
              </a:rPr>
              <a:t>Project Planning and Estimation</a:t>
            </a:r>
            <a:r>
              <a:rPr lang="en-IN" sz="3600" dirty="0">
                <a:solidFill>
                  <a:srgbClr val="0000FF"/>
                </a:solidFill>
                <a:latin typeface="Times New Roman" pitchFamily="18" charset="0"/>
                <a:cs typeface="Times New Roman" pitchFamily="18" charset="0"/>
              </a:rPr>
              <a:t/>
            </a:r>
            <a:br>
              <a:rPr lang="en-IN" sz="3600" dirty="0">
                <a:solidFill>
                  <a:srgbClr val="0000FF"/>
                </a:solidFill>
                <a:latin typeface="Times New Roman" pitchFamily="18" charset="0"/>
                <a:cs typeface="Times New Roman" pitchFamily="18" charset="0"/>
              </a:rPr>
            </a:br>
            <a:endParaRPr lang="en-IN" sz="3600" dirty="0">
              <a:solidFill>
                <a:srgbClr val="0000FF"/>
              </a:solidFill>
              <a:latin typeface="Times New Roman" pitchFamily="18" charset="0"/>
              <a:cs typeface="Times New Roman" pitchFamily="18" charset="0"/>
            </a:endParaRPr>
          </a:p>
        </p:txBody>
      </p:sp>
      <p:sp>
        <p:nvSpPr>
          <p:cNvPr id="3" name="Subtitle 2"/>
          <p:cNvSpPr>
            <a:spLocks noGrp="1"/>
          </p:cNvSpPr>
          <p:nvPr>
            <p:ph type="subTitle" idx="1"/>
          </p:nvPr>
        </p:nvSpPr>
        <p:spPr>
          <a:xfrm>
            <a:off x="1115616" y="1124744"/>
            <a:ext cx="6400800" cy="1008112"/>
          </a:xfrm>
        </p:spPr>
        <p:txBody>
          <a:bodyPr>
            <a:normAutofit/>
          </a:bodyPr>
          <a:lstStyle/>
          <a:p>
            <a:r>
              <a:rPr lang="en-IN" sz="4400" b="1" dirty="0" smtClean="0">
                <a:solidFill>
                  <a:schemeClr val="tx1"/>
                </a:solidFill>
                <a:latin typeface="Times New Roman" pitchFamily="18" charset="0"/>
                <a:cs typeface="Times New Roman" pitchFamily="18" charset="0"/>
              </a:rPr>
              <a:t>Chapter - 5</a:t>
            </a:r>
            <a:endParaRPr lang="en-IN" sz="4400" dirty="0">
              <a:solidFill>
                <a:schemeClr val="tx1"/>
              </a:solidFill>
            </a:endParaRPr>
          </a:p>
        </p:txBody>
      </p:sp>
    </p:spTree>
    <p:extLst>
      <p:ext uri="{BB962C8B-B14F-4D97-AF65-F5344CB8AC3E}">
        <p14:creationId xmlns:p14="http://schemas.microsoft.com/office/powerpoint/2010/main" val="44829478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46"/>
          </a:xfrm>
        </p:spPr>
        <p:txBody>
          <a:bodyPr>
            <a:normAutofit/>
          </a:bodyPr>
          <a:lstStyle/>
          <a:p>
            <a:r>
              <a:rPr lang="en-IN" sz="3200" b="1" dirty="0" smtClean="0">
                <a:solidFill>
                  <a:srgbClr val="0000FF"/>
                </a:solidFill>
                <a:latin typeface="Times New Roman" pitchFamily="18" charset="0"/>
                <a:cs typeface="Times New Roman" pitchFamily="18" charset="0"/>
              </a:rPr>
              <a:t>Introduction</a:t>
            </a:r>
            <a:endParaRPr lang="en-IN" sz="3200" dirty="0"/>
          </a:p>
        </p:txBody>
      </p:sp>
      <p:sp>
        <p:nvSpPr>
          <p:cNvPr id="3" name="Content Placeholder 2"/>
          <p:cNvSpPr>
            <a:spLocks noGrp="1"/>
          </p:cNvSpPr>
          <p:nvPr>
            <p:ph idx="1"/>
          </p:nvPr>
        </p:nvSpPr>
        <p:spPr>
          <a:xfrm>
            <a:off x="457200" y="1214422"/>
            <a:ext cx="8229600" cy="5286412"/>
          </a:xfrm>
        </p:spPr>
        <p:txBody>
          <a:bodyPr>
            <a:normAutofit lnSpcReduction="10000"/>
          </a:bodyPr>
          <a:lstStyle/>
          <a:p>
            <a:pPr algn="just"/>
            <a:r>
              <a:rPr lang="en-IN" sz="2400" dirty="0">
                <a:latin typeface="Times New Roman" pitchFamily="18" charset="0"/>
                <a:cs typeface="Times New Roman" pitchFamily="18" charset="0"/>
              </a:rPr>
              <a:t>A successful project is possible only through good project planning.</a:t>
            </a:r>
          </a:p>
          <a:p>
            <a:pPr algn="just"/>
            <a:r>
              <a:rPr lang="en-IN" sz="2400" dirty="0">
                <a:latin typeface="Times New Roman" pitchFamily="18" charset="0"/>
                <a:cs typeface="Times New Roman" pitchFamily="18" charset="0"/>
              </a:rPr>
              <a:t>Project planning concentrates on estimating resources, time, budgets, and monitoring and controlling the activities of project management</a:t>
            </a:r>
            <a:r>
              <a:rPr lang="en-IN" sz="2400" dirty="0" smtClean="0">
                <a:latin typeface="Times New Roman" pitchFamily="18" charset="0"/>
                <a:cs typeface="Times New Roman" pitchFamily="18" charset="0"/>
              </a:rPr>
              <a:t>.</a:t>
            </a:r>
          </a:p>
          <a:p>
            <a:pPr algn="just"/>
            <a:r>
              <a:rPr lang="en-IN" sz="2400" dirty="0" smtClean="0">
                <a:latin typeface="Times New Roman" pitchFamily="18" charset="0"/>
                <a:cs typeface="Times New Roman" pitchFamily="18" charset="0"/>
              </a:rPr>
              <a:t> The project plan provides the basis for performing and managing the activities of a software project and addresses the commitment to stakeholder’s resource constraints and capabilities of the software project. </a:t>
            </a:r>
          </a:p>
          <a:p>
            <a:pPr algn="just"/>
            <a:r>
              <a:rPr lang="en-IN" sz="2400" dirty="0" smtClean="0">
                <a:latin typeface="Times New Roman" pitchFamily="18" charset="0"/>
                <a:cs typeface="Times New Roman" pitchFamily="18" charset="0"/>
              </a:rPr>
              <a:t>The main goal of the project plan is to establish a pragmatic strategy for controlling, tracking, and monitoring a project.</a:t>
            </a:r>
          </a:p>
          <a:p>
            <a:pPr algn="just"/>
            <a:r>
              <a:rPr lang="en-IN" sz="2400" dirty="0" smtClean="0">
                <a:latin typeface="Times New Roman" pitchFamily="18" charset="0"/>
                <a:cs typeface="Times New Roman" pitchFamily="18" charset="0"/>
              </a:rPr>
              <a:t>A typical project plan includes project scope, project estimates, schedule, requirements, risk management plan, control strategy, and various other plans.</a:t>
            </a:r>
          </a:p>
          <a:p>
            <a:pPr algn="just"/>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2</a:t>
            </a:fld>
            <a:endParaRPr lang="en-IN"/>
          </a:p>
        </p:txBody>
      </p:sp>
    </p:spTree>
    <p:extLst>
      <p:ext uri="{BB962C8B-B14F-4D97-AF65-F5344CB8AC3E}">
        <p14:creationId xmlns:p14="http://schemas.microsoft.com/office/powerpoint/2010/main" val="171568247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Planning Activities</a:t>
            </a:r>
            <a:endParaRPr lang="en-IN" sz="3200" dirty="0"/>
          </a:p>
        </p:txBody>
      </p:sp>
      <p:sp>
        <p:nvSpPr>
          <p:cNvPr id="3" name="Content Placeholder 2"/>
          <p:cNvSpPr>
            <a:spLocks noGrp="1"/>
          </p:cNvSpPr>
          <p:nvPr>
            <p:ph idx="1"/>
          </p:nvPr>
        </p:nvSpPr>
        <p:spPr>
          <a:xfrm>
            <a:off x="428596" y="1428736"/>
            <a:ext cx="8229600" cy="1114419"/>
          </a:xfrm>
        </p:spPr>
        <p:txBody>
          <a:bodyPr>
            <a:normAutofit lnSpcReduction="10000"/>
          </a:bodyPr>
          <a:lstStyle/>
          <a:p>
            <a:r>
              <a:rPr lang="en-IN" sz="2400" dirty="0" smtClean="0">
                <a:latin typeface="Times New Roman" pitchFamily="18" charset="0"/>
                <a:cs typeface="Times New Roman" pitchFamily="18" charset="0"/>
              </a:rPr>
              <a:t>A </a:t>
            </a:r>
            <a:r>
              <a:rPr lang="en-IN" sz="2400" dirty="0">
                <a:latin typeface="Times New Roman" pitchFamily="18" charset="0"/>
                <a:cs typeface="Times New Roman" pitchFamily="18" charset="0"/>
              </a:rPr>
              <a:t>general project plan includes the following project planning activities, beginning with project initiation to project </a:t>
            </a:r>
            <a:r>
              <a:rPr lang="en-IN" sz="2400" dirty="0" smtClean="0">
                <a:latin typeface="Times New Roman" pitchFamily="18" charset="0"/>
                <a:cs typeface="Times New Roman" pitchFamily="18" charset="0"/>
              </a:rPr>
              <a:t>completion. </a:t>
            </a:r>
            <a:endParaRPr lang="en-IN" sz="2400" dirty="0">
              <a:latin typeface="Times New Roman" pitchFamily="18" charset="0"/>
              <a:cs typeface="Times New Roman" pitchFamily="18" charset="0"/>
            </a:endParaRPr>
          </a:p>
        </p:txBody>
      </p:sp>
      <p:sp>
        <p:nvSpPr>
          <p:cNvPr id="4" name="Content Placeholder 2"/>
          <p:cNvSpPr txBox="1">
            <a:spLocks/>
          </p:cNvSpPr>
          <p:nvPr/>
        </p:nvSpPr>
        <p:spPr>
          <a:xfrm>
            <a:off x="576199" y="2500306"/>
            <a:ext cx="8229600" cy="3857652"/>
          </a:xfrm>
          <a:prstGeom prst="rect">
            <a:avLst/>
          </a:prstGeom>
        </p:spPr>
        <p:txBody>
          <a:bodyPr vert="horz" lIns="91440" tIns="45720" rIns="91440" bIns="45720" numCol="2"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r>
              <a:rPr lang="en-IN" sz="2400" i="1" dirty="0">
                <a:latin typeface="Times New Roman" pitchFamily="18" charset="0"/>
                <a:cs typeface="Times New Roman" pitchFamily="18" charset="0"/>
              </a:rPr>
              <a:t>Defining business objectives and project </a:t>
            </a:r>
            <a:r>
              <a:rPr lang="en-IN" sz="2400" i="1" dirty="0" smtClean="0">
                <a:latin typeface="Times New Roman" pitchFamily="18" charset="0"/>
                <a:cs typeface="Times New Roman" pitchFamily="18" charset="0"/>
              </a:rPr>
              <a:t>scope</a:t>
            </a:r>
          </a:p>
          <a:p>
            <a:pPr lvl="1"/>
            <a:r>
              <a:rPr lang="en-IN" sz="2400" i="1" dirty="0">
                <a:latin typeface="Times New Roman" pitchFamily="18" charset="0"/>
                <a:cs typeface="Times New Roman" pitchFamily="18" charset="0"/>
              </a:rPr>
              <a:t>Project </a:t>
            </a:r>
            <a:r>
              <a:rPr lang="en-IN" sz="2400" i="1" dirty="0" smtClean="0">
                <a:latin typeface="Times New Roman" pitchFamily="18" charset="0"/>
                <a:cs typeface="Times New Roman" pitchFamily="18" charset="0"/>
              </a:rPr>
              <a:t>estimations</a:t>
            </a:r>
          </a:p>
          <a:p>
            <a:pPr lvl="1"/>
            <a:r>
              <a:rPr lang="en-IN" sz="2400" i="1" dirty="0">
                <a:latin typeface="Times New Roman" pitchFamily="18" charset="0"/>
                <a:cs typeface="Times New Roman" pitchFamily="18" charset="0"/>
              </a:rPr>
              <a:t>Project </a:t>
            </a:r>
            <a:r>
              <a:rPr lang="en-IN" sz="2400" i="1" dirty="0" smtClean="0">
                <a:latin typeface="Times New Roman" pitchFamily="18" charset="0"/>
                <a:cs typeface="Times New Roman" pitchFamily="18" charset="0"/>
              </a:rPr>
              <a:t>scheduling</a:t>
            </a:r>
          </a:p>
          <a:p>
            <a:pPr lvl="1"/>
            <a:r>
              <a:rPr lang="en-IN" sz="2400" i="1" dirty="0">
                <a:latin typeface="Times New Roman" pitchFamily="18" charset="0"/>
                <a:cs typeface="Times New Roman" pitchFamily="18" charset="0"/>
              </a:rPr>
              <a:t>Resource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Financial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Staffing-level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Development </a:t>
            </a:r>
            <a:r>
              <a:rPr lang="en-IN" sz="2400" i="1" dirty="0" smtClean="0">
                <a:latin typeface="Times New Roman" pitchFamily="18" charset="0"/>
                <a:cs typeface="Times New Roman" pitchFamily="18" charset="0"/>
              </a:rPr>
              <a:t>planning</a:t>
            </a:r>
            <a:endParaRPr lang="en-IN" sz="2400" dirty="0">
              <a:latin typeface="Times New Roman" pitchFamily="18" charset="0"/>
              <a:cs typeface="Times New Roman" pitchFamily="18" charset="0"/>
            </a:endParaRPr>
          </a:p>
          <a:p>
            <a:pPr lvl="1"/>
            <a:r>
              <a:rPr lang="en-IN" sz="2400" i="1" dirty="0">
                <a:latin typeface="Times New Roman" pitchFamily="18" charset="0"/>
                <a:cs typeface="Times New Roman" pitchFamily="18" charset="0"/>
              </a:rPr>
              <a:t>Project monitoring and control </a:t>
            </a:r>
            <a:r>
              <a:rPr lang="en-IN" sz="2400" i="1" dirty="0" smtClean="0">
                <a:latin typeface="Times New Roman" pitchFamily="18" charset="0"/>
                <a:cs typeface="Times New Roman" pitchFamily="18" charset="0"/>
              </a:rPr>
              <a:t>plan</a:t>
            </a:r>
          </a:p>
          <a:p>
            <a:pPr lvl="1"/>
            <a:r>
              <a:rPr lang="en-IN" sz="2400" i="1" dirty="0">
                <a:latin typeface="Times New Roman" pitchFamily="18" charset="0"/>
                <a:cs typeface="Times New Roman" pitchFamily="18" charset="0"/>
              </a:rPr>
              <a:t>Risk management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Quality assurance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Configuration management </a:t>
            </a:r>
            <a:r>
              <a:rPr lang="en-IN" sz="2400" i="1" dirty="0" smtClean="0">
                <a:latin typeface="Times New Roman" pitchFamily="18" charset="0"/>
                <a:cs typeface="Times New Roman" pitchFamily="18" charset="0"/>
              </a:rPr>
              <a:t>planning</a:t>
            </a:r>
          </a:p>
          <a:p>
            <a:pPr lvl="1"/>
            <a:r>
              <a:rPr lang="en-IN" sz="2400" i="1" dirty="0">
                <a:latin typeface="Times New Roman" pitchFamily="18" charset="0"/>
                <a:cs typeface="Times New Roman" pitchFamily="18" charset="0"/>
              </a:rPr>
              <a:t>Miscellaneous plans</a:t>
            </a:r>
            <a:endParaRPr lang="en-IN" sz="2400"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0C087B72-CC60-4FF0-9C96-8509CDF76D05}" type="slidenum">
              <a:rPr lang="en-IN" smtClean="0"/>
              <a:pPr/>
              <a:t>3</a:t>
            </a:fld>
            <a:endParaRPr lang="en-IN"/>
          </a:p>
        </p:txBody>
      </p:sp>
    </p:spTree>
    <p:extLst>
      <p:ext uri="{BB962C8B-B14F-4D97-AF65-F5344CB8AC3E}">
        <p14:creationId xmlns:p14="http://schemas.microsoft.com/office/powerpoint/2010/main" val="64676088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Software </a:t>
            </a:r>
            <a:r>
              <a:rPr lang="en-IN" sz="3200" b="1" dirty="0" smtClean="0">
                <a:solidFill>
                  <a:srgbClr val="0000FF"/>
                </a:solidFill>
                <a:latin typeface="Times New Roman" pitchFamily="18" charset="0"/>
                <a:cs typeface="Times New Roman" pitchFamily="18" charset="0"/>
              </a:rPr>
              <a:t>Product, Project and Process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517655"/>
            <a:ext cx="8229600" cy="4768865"/>
          </a:xfrm>
        </p:spPr>
        <p:txBody>
          <a:bodyPr>
            <a:normAutofit fontScale="92500" lnSpcReduction="10000"/>
          </a:bodyPr>
          <a:lstStyle/>
          <a:p>
            <a:pPr marL="0" indent="0" algn="just">
              <a:buNone/>
            </a:pPr>
            <a:r>
              <a:rPr lang="en-GB" sz="2400" b="1" dirty="0">
                <a:latin typeface="Times New Roman" pitchFamily="18" charset="0"/>
                <a:cs typeface="Times New Roman" pitchFamily="18" charset="0"/>
              </a:rPr>
              <a:t>Software Product</a:t>
            </a:r>
          </a:p>
          <a:p>
            <a:pPr algn="just"/>
            <a:r>
              <a:rPr lang="en-GB" sz="2400" dirty="0" smtClean="0">
                <a:latin typeface="Times New Roman" pitchFamily="18" charset="0"/>
                <a:cs typeface="Times New Roman" pitchFamily="18" charset="0"/>
              </a:rPr>
              <a:t>A </a:t>
            </a:r>
            <a:r>
              <a:rPr lang="en-GB" sz="2400" dirty="0">
                <a:latin typeface="Times New Roman" pitchFamily="18" charset="0"/>
                <a:cs typeface="Times New Roman" pitchFamily="18" charset="0"/>
              </a:rPr>
              <a:t>software product is the software system or application that is developed and delivered to users to solve a particular problem or perform specific tasks.</a:t>
            </a:r>
          </a:p>
          <a:p>
            <a:pPr marL="0" indent="0" algn="just">
              <a:buNone/>
            </a:pPr>
            <a:r>
              <a:rPr lang="en-GB" sz="2400" b="1" dirty="0" smtClean="0">
                <a:latin typeface="Times New Roman" pitchFamily="18" charset="0"/>
                <a:cs typeface="Times New Roman" pitchFamily="18" charset="0"/>
              </a:rPr>
              <a:t>Examples</a:t>
            </a:r>
            <a:r>
              <a:rPr lang="en-GB" sz="2400" b="1" dirty="0">
                <a:latin typeface="Times New Roman" pitchFamily="18" charset="0"/>
                <a:cs typeface="Times New Roman" pitchFamily="18" charset="0"/>
              </a:rPr>
              <a:t>:</a:t>
            </a:r>
          </a:p>
          <a:p>
            <a:pPr algn="just"/>
            <a:r>
              <a:rPr lang="en-GB" sz="2400" dirty="0" smtClean="0">
                <a:latin typeface="Times New Roman" pitchFamily="18" charset="0"/>
                <a:cs typeface="Times New Roman" pitchFamily="18" charset="0"/>
              </a:rPr>
              <a:t>Microsoft </a:t>
            </a:r>
            <a:r>
              <a:rPr lang="en-GB" sz="2400" dirty="0">
                <a:latin typeface="Times New Roman" pitchFamily="18" charset="0"/>
                <a:cs typeface="Times New Roman" pitchFamily="18" charset="0"/>
              </a:rPr>
              <a:t>Office</a:t>
            </a:r>
          </a:p>
          <a:p>
            <a:pPr algn="just"/>
            <a:r>
              <a:rPr lang="en-GB" sz="2400" dirty="0">
                <a:latin typeface="Times New Roman" pitchFamily="18" charset="0"/>
                <a:cs typeface="Times New Roman" pitchFamily="18" charset="0"/>
              </a:rPr>
              <a:t>Online Banking System</a:t>
            </a:r>
          </a:p>
          <a:p>
            <a:pPr algn="just"/>
            <a:r>
              <a:rPr lang="en-GB" sz="2400" dirty="0">
                <a:latin typeface="Times New Roman" pitchFamily="18" charset="0"/>
                <a:cs typeface="Times New Roman" pitchFamily="18" charset="0"/>
              </a:rPr>
              <a:t>Hospital Management System</a:t>
            </a:r>
          </a:p>
          <a:p>
            <a:pPr algn="just"/>
            <a:r>
              <a:rPr lang="en-GB" sz="2400" dirty="0">
                <a:latin typeface="Times New Roman" pitchFamily="18" charset="0"/>
                <a:cs typeface="Times New Roman" pitchFamily="18" charset="0"/>
              </a:rPr>
              <a:t>Mobile Banking App</a:t>
            </a:r>
          </a:p>
          <a:p>
            <a:pPr algn="just"/>
            <a:r>
              <a:rPr lang="en-GB" sz="2400" dirty="0">
                <a:latin typeface="Times New Roman" pitchFamily="18" charset="0"/>
                <a:cs typeface="Times New Roman" pitchFamily="18" charset="0"/>
              </a:rPr>
              <a:t>ERP </a:t>
            </a:r>
            <a:r>
              <a:rPr lang="en-GB" sz="2400" dirty="0" smtClean="0">
                <a:latin typeface="Times New Roman" pitchFamily="18" charset="0"/>
                <a:cs typeface="Times New Roman" pitchFamily="18" charset="0"/>
              </a:rPr>
              <a:t>software</a:t>
            </a:r>
          </a:p>
          <a:p>
            <a:pPr algn="just"/>
            <a:r>
              <a:rPr lang="en-GB" sz="2400" dirty="0">
                <a:latin typeface="Times New Roman" pitchFamily="18" charset="0"/>
                <a:cs typeface="Times New Roman" pitchFamily="18" charset="0"/>
              </a:rPr>
              <a:t>A college develops an Online Examination System. The completed system </a:t>
            </a:r>
            <a:r>
              <a:rPr lang="en-GB" sz="2400" dirty="0" smtClean="0">
                <a:latin typeface="Times New Roman" pitchFamily="18" charset="0"/>
                <a:cs typeface="Times New Roman" pitchFamily="18" charset="0"/>
              </a:rPr>
              <a:t>that is used </a:t>
            </a:r>
            <a:r>
              <a:rPr lang="en-GB" sz="2400" dirty="0">
                <a:latin typeface="Times New Roman" pitchFamily="18" charset="0"/>
                <a:cs typeface="Times New Roman" pitchFamily="18" charset="0"/>
              </a:rPr>
              <a:t>by </a:t>
            </a:r>
            <a:r>
              <a:rPr lang="en-GB" sz="2400" dirty="0" smtClean="0">
                <a:latin typeface="Times New Roman" pitchFamily="18" charset="0"/>
                <a:cs typeface="Times New Roman" pitchFamily="18" charset="0"/>
              </a:rPr>
              <a:t>the students </a:t>
            </a:r>
            <a:r>
              <a:rPr lang="en-GB" sz="2400" dirty="0">
                <a:latin typeface="Times New Roman" pitchFamily="18" charset="0"/>
                <a:cs typeface="Times New Roman" pitchFamily="18" charset="0"/>
              </a:rPr>
              <a:t>and teachers is a</a:t>
            </a:r>
            <a:r>
              <a:rPr lang="en-GB" sz="2400" dirty="0" smtClean="0">
                <a:latin typeface="Times New Roman" pitchFamily="18" charset="0"/>
                <a:cs typeface="Times New Roman" pitchFamily="18" charset="0"/>
              </a:rPr>
              <a:t> </a:t>
            </a:r>
            <a:r>
              <a:rPr lang="en-GB" sz="2400" dirty="0">
                <a:latin typeface="Times New Roman" pitchFamily="18" charset="0"/>
                <a:cs typeface="Times New Roman" pitchFamily="18" charset="0"/>
              </a:rPr>
              <a:t>software product.</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a:t>
            </a:fld>
            <a:endParaRPr lang="en-IN"/>
          </a:p>
        </p:txBody>
      </p:sp>
    </p:spTree>
    <p:extLst>
      <p:ext uri="{BB962C8B-B14F-4D97-AF65-F5344CB8AC3E}">
        <p14:creationId xmlns:p14="http://schemas.microsoft.com/office/powerpoint/2010/main" val="155849194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Software </a:t>
            </a:r>
            <a:r>
              <a:rPr lang="en-IN" sz="3200" b="1" dirty="0" smtClean="0">
                <a:solidFill>
                  <a:srgbClr val="0000FF"/>
                </a:solidFill>
                <a:latin typeface="Times New Roman" pitchFamily="18" charset="0"/>
                <a:cs typeface="Times New Roman" pitchFamily="18" charset="0"/>
              </a:rPr>
              <a:t>Product, Project and Process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517655"/>
            <a:ext cx="8229600" cy="4768865"/>
          </a:xfrm>
        </p:spPr>
        <p:txBody>
          <a:bodyPr>
            <a:normAutofit/>
          </a:bodyPr>
          <a:lstStyle/>
          <a:p>
            <a:pPr marL="0" indent="0" algn="just">
              <a:buNone/>
            </a:pPr>
            <a:r>
              <a:rPr lang="en-GB" sz="2400" b="1" dirty="0">
                <a:latin typeface="Times New Roman" pitchFamily="18" charset="0"/>
                <a:cs typeface="Times New Roman" pitchFamily="18" charset="0"/>
              </a:rPr>
              <a:t>Software Project</a:t>
            </a:r>
          </a:p>
          <a:p>
            <a:pPr algn="just"/>
            <a:r>
              <a:rPr lang="en-GB" sz="2400" dirty="0" smtClean="0">
                <a:latin typeface="Times New Roman" pitchFamily="18" charset="0"/>
                <a:cs typeface="Times New Roman" pitchFamily="18" charset="0"/>
              </a:rPr>
              <a:t>A </a:t>
            </a:r>
            <a:r>
              <a:rPr lang="en-GB" sz="2400" dirty="0">
                <a:latin typeface="Times New Roman" pitchFamily="18" charset="0"/>
                <a:cs typeface="Times New Roman" pitchFamily="18" charset="0"/>
              </a:rPr>
              <a:t>software project is a planned set of activities undertaken to develop, modify, or maintain a software product within specified time, cost, scope, and quality constraints</a:t>
            </a:r>
            <a:r>
              <a:rPr lang="en-GB" sz="2400" dirty="0" smtClean="0">
                <a:latin typeface="Times New Roman" pitchFamily="18" charset="0"/>
                <a:cs typeface="Times New Roman" pitchFamily="18" charset="0"/>
              </a:rPr>
              <a:t>.</a:t>
            </a:r>
          </a:p>
          <a:p>
            <a:pPr marL="0" indent="0" algn="just">
              <a:buNone/>
            </a:pPr>
            <a:r>
              <a:rPr lang="en-GB" sz="2400" b="1" dirty="0">
                <a:latin typeface="Times New Roman" pitchFamily="18" charset="0"/>
                <a:cs typeface="Times New Roman" pitchFamily="18" charset="0"/>
              </a:rPr>
              <a:t>Example:</a:t>
            </a:r>
          </a:p>
          <a:p>
            <a:pPr algn="just"/>
            <a:r>
              <a:rPr lang="en-GB" sz="2400" dirty="0">
                <a:latin typeface="Times New Roman" pitchFamily="18" charset="0"/>
                <a:cs typeface="Times New Roman" pitchFamily="18" charset="0"/>
              </a:rPr>
              <a:t>Developing an Online Examination System in six months with a team of 8 developers is a software project</a:t>
            </a:r>
            <a:r>
              <a:rPr lang="en-GB" sz="2400" dirty="0" smtClean="0">
                <a:latin typeface="Times New Roman" pitchFamily="18" charset="0"/>
                <a:cs typeface="Times New Roman" pitchFamily="18" charset="0"/>
              </a:rPr>
              <a:t>. </a:t>
            </a:r>
            <a:endParaRPr lang="en-GB" sz="2400" dirty="0">
              <a:latin typeface="Times New Roman" pitchFamily="18" charset="0"/>
              <a:cs typeface="Times New Roman" pitchFamily="18" charset="0"/>
            </a:endParaRPr>
          </a:p>
          <a:p>
            <a:pPr algn="just"/>
            <a:r>
              <a:rPr lang="en-GB" sz="2400" dirty="0" smtClean="0">
                <a:latin typeface="Times New Roman" pitchFamily="18" charset="0"/>
                <a:cs typeface="Times New Roman" pitchFamily="18" charset="0"/>
              </a:rPr>
              <a:t>A </a:t>
            </a:r>
            <a:r>
              <a:rPr lang="en-GB" sz="2400" dirty="0">
                <a:latin typeface="Times New Roman" pitchFamily="18" charset="0"/>
                <a:cs typeface="Times New Roman" pitchFamily="18" charset="0"/>
              </a:rPr>
              <a:t>project eventually produces a</a:t>
            </a:r>
            <a:r>
              <a:rPr lang="en-GB" sz="2400" dirty="0" smtClean="0">
                <a:latin typeface="Times New Roman" pitchFamily="18" charset="0"/>
                <a:cs typeface="Times New Roman" pitchFamily="18" charset="0"/>
              </a:rPr>
              <a:t> </a:t>
            </a:r>
            <a:r>
              <a:rPr lang="en-GB" sz="2400" dirty="0">
                <a:latin typeface="Times New Roman" pitchFamily="18" charset="0"/>
                <a:cs typeface="Times New Roman" pitchFamily="18" charset="0"/>
              </a:rPr>
              <a:t>software product.</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a:t>
            </a:fld>
            <a:endParaRPr lang="en-IN"/>
          </a:p>
        </p:txBody>
      </p:sp>
    </p:spTree>
    <p:extLst>
      <p:ext uri="{BB962C8B-B14F-4D97-AF65-F5344CB8AC3E}">
        <p14:creationId xmlns:p14="http://schemas.microsoft.com/office/powerpoint/2010/main" val="175894545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256"/>
            <a:ext cx="8229600" cy="926976"/>
          </a:xfrm>
        </p:spPr>
        <p:txBody>
          <a:bodyPr>
            <a:normAutofit/>
          </a:bodyPr>
          <a:lstStyle/>
          <a:p>
            <a:r>
              <a:rPr lang="en-IN" sz="3200" b="1" dirty="0">
                <a:solidFill>
                  <a:srgbClr val="0000FF"/>
                </a:solidFill>
                <a:latin typeface="Times New Roman" pitchFamily="18" charset="0"/>
                <a:cs typeface="Times New Roman" pitchFamily="18" charset="0"/>
              </a:rPr>
              <a:t>Software </a:t>
            </a:r>
            <a:r>
              <a:rPr lang="en-IN" sz="3200" b="1" dirty="0" smtClean="0">
                <a:solidFill>
                  <a:srgbClr val="0000FF"/>
                </a:solidFill>
                <a:latin typeface="Times New Roman" pitchFamily="18" charset="0"/>
                <a:cs typeface="Times New Roman" pitchFamily="18" charset="0"/>
              </a:rPr>
              <a:t>Product, Project and Process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248102"/>
            <a:ext cx="8229600" cy="4768865"/>
          </a:xfrm>
        </p:spPr>
        <p:txBody>
          <a:bodyPr>
            <a:normAutofit lnSpcReduction="10000"/>
          </a:bodyPr>
          <a:lstStyle/>
          <a:p>
            <a:pPr marL="0" indent="0" algn="just">
              <a:buNone/>
            </a:pPr>
            <a:r>
              <a:rPr lang="en-GB" sz="2400" b="1" dirty="0">
                <a:latin typeface="Times New Roman" pitchFamily="18" charset="0"/>
                <a:cs typeface="Times New Roman" pitchFamily="18" charset="0"/>
              </a:rPr>
              <a:t>Software Process</a:t>
            </a:r>
          </a:p>
          <a:p>
            <a:pPr algn="just"/>
            <a:r>
              <a:rPr lang="en-GB" sz="2400" dirty="0" smtClean="0">
                <a:latin typeface="Times New Roman" pitchFamily="18" charset="0"/>
                <a:cs typeface="Times New Roman" pitchFamily="18" charset="0"/>
              </a:rPr>
              <a:t>A </a:t>
            </a:r>
            <a:r>
              <a:rPr lang="en-GB" sz="2400" dirty="0">
                <a:latin typeface="Times New Roman" pitchFamily="18" charset="0"/>
                <a:cs typeface="Times New Roman" pitchFamily="18" charset="0"/>
              </a:rPr>
              <a:t>software process is a systematic set of activities, methods, and practices used to develop, deliver, and maintain </a:t>
            </a:r>
            <a:r>
              <a:rPr lang="en-GB" sz="2400" dirty="0" smtClean="0">
                <a:latin typeface="Times New Roman" pitchFamily="18" charset="0"/>
                <a:cs typeface="Times New Roman" pitchFamily="18" charset="0"/>
              </a:rPr>
              <a:t>a software.</a:t>
            </a:r>
          </a:p>
          <a:p>
            <a:pPr marL="0" indent="0" algn="just">
              <a:buNone/>
            </a:pPr>
            <a:r>
              <a:rPr lang="en-GB" sz="2400" dirty="0">
                <a:latin typeface="Times New Roman" pitchFamily="18" charset="0"/>
                <a:cs typeface="Times New Roman" pitchFamily="18" charset="0"/>
              </a:rPr>
              <a:t>A typical </a:t>
            </a:r>
            <a:r>
              <a:rPr lang="en-GB" sz="2400" b="1" dirty="0">
                <a:latin typeface="Times New Roman" pitchFamily="18" charset="0"/>
                <a:cs typeface="Times New Roman" pitchFamily="18" charset="0"/>
              </a:rPr>
              <a:t>software process </a:t>
            </a:r>
            <a:r>
              <a:rPr lang="en-GB" sz="2400" dirty="0">
                <a:latin typeface="Times New Roman" pitchFamily="18" charset="0"/>
                <a:cs typeface="Times New Roman" pitchFamily="18" charset="0"/>
              </a:rPr>
              <a:t>includes:</a:t>
            </a:r>
          </a:p>
          <a:p>
            <a:pPr algn="just"/>
            <a:r>
              <a:rPr lang="en-GB" sz="2400" dirty="0" smtClean="0">
                <a:latin typeface="Times New Roman" pitchFamily="18" charset="0"/>
                <a:cs typeface="Times New Roman" pitchFamily="18" charset="0"/>
              </a:rPr>
              <a:t>Requirement </a:t>
            </a:r>
            <a:r>
              <a:rPr lang="en-GB" sz="2400" dirty="0">
                <a:latin typeface="Times New Roman" pitchFamily="18" charset="0"/>
                <a:cs typeface="Times New Roman" pitchFamily="18" charset="0"/>
              </a:rPr>
              <a:t>Analysis – Identify what the customer needs.</a:t>
            </a:r>
          </a:p>
          <a:p>
            <a:pPr algn="just"/>
            <a:r>
              <a:rPr lang="en-GB" sz="2400" dirty="0">
                <a:latin typeface="Times New Roman" pitchFamily="18" charset="0"/>
                <a:cs typeface="Times New Roman" pitchFamily="18" charset="0"/>
              </a:rPr>
              <a:t>Design – Plan the structure and architecture of the software.</a:t>
            </a:r>
          </a:p>
          <a:p>
            <a:pPr algn="just"/>
            <a:r>
              <a:rPr lang="en-GB" sz="2400" dirty="0">
                <a:latin typeface="Times New Roman" pitchFamily="18" charset="0"/>
                <a:cs typeface="Times New Roman" pitchFamily="18" charset="0"/>
              </a:rPr>
              <a:t>Implementation/Coding – Write the program.</a:t>
            </a:r>
          </a:p>
          <a:p>
            <a:pPr algn="just"/>
            <a:r>
              <a:rPr lang="en-GB" sz="2400" dirty="0">
                <a:latin typeface="Times New Roman" pitchFamily="18" charset="0"/>
                <a:cs typeface="Times New Roman" pitchFamily="18" charset="0"/>
              </a:rPr>
              <a:t>Testing – Find and correct defects.</a:t>
            </a:r>
          </a:p>
          <a:p>
            <a:pPr algn="just"/>
            <a:r>
              <a:rPr lang="en-GB" sz="2400" dirty="0">
                <a:latin typeface="Times New Roman" pitchFamily="18" charset="0"/>
                <a:cs typeface="Times New Roman" pitchFamily="18" charset="0"/>
              </a:rPr>
              <a:t>Deployment – Deliver the software to users.</a:t>
            </a:r>
          </a:p>
          <a:p>
            <a:pPr algn="just"/>
            <a:r>
              <a:rPr lang="en-GB" sz="2400" dirty="0">
                <a:latin typeface="Times New Roman" pitchFamily="18" charset="0"/>
                <a:cs typeface="Times New Roman" pitchFamily="18" charset="0"/>
              </a:rPr>
              <a:t>Maintenance – Modify and improve the software after delivery</a:t>
            </a:r>
            <a:r>
              <a:rPr lang="en-GB" sz="2400" dirty="0" smtClean="0">
                <a:latin typeface="Times New Roman" pitchFamily="18" charset="0"/>
                <a:cs typeface="Times New Roman" pitchFamily="18" charset="0"/>
              </a:rPr>
              <a:t>.</a:t>
            </a:r>
          </a:p>
          <a:p>
            <a:pPr algn="just"/>
            <a:endParaRPr lang="en-GB" sz="2400" dirty="0" smtClean="0">
              <a:latin typeface="Times New Roman" pitchFamily="18" charset="0"/>
              <a:cs typeface="Times New Roman" pitchFamily="18" charset="0"/>
            </a:endParaRPr>
          </a:p>
          <a:p>
            <a:pPr algn="just"/>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a:t>
            </a:fld>
            <a:endParaRPr lang="en-IN"/>
          </a:p>
        </p:txBody>
      </p:sp>
    </p:spTree>
    <p:extLst>
      <p:ext uri="{BB962C8B-B14F-4D97-AF65-F5344CB8AC3E}">
        <p14:creationId xmlns:p14="http://schemas.microsoft.com/office/powerpoint/2010/main" val="48110749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Software Metrics and Measurements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517655"/>
            <a:ext cx="8229600" cy="4768865"/>
          </a:xfrm>
        </p:spPr>
        <p:txBody>
          <a:bodyPr>
            <a:normAutofit/>
          </a:bodyPr>
          <a:lstStyle/>
          <a:p>
            <a:pPr marL="0" indent="0" algn="just">
              <a:buNone/>
            </a:pPr>
            <a:r>
              <a:rPr lang="en-GB" sz="2400" dirty="0">
                <a:latin typeface="Times New Roman" pitchFamily="18" charset="0"/>
                <a:cs typeface="Times New Roman" pitchFamily="18" charset="0"/>
              </a:rPr>
              <a:t>Examples of </a:t>
            </a:r>
            <a:r>
              <a:rPr lang="en-GB" sz="2400" b="1" dirty="0">
                <a:latin typeface="Times New Roman" pitchFamily="18" charset="0"/>
                <a:cs typeface="Times New Roman" pitchFamily="18" charset="0"/>
              </a:rPr>
              <a:t>software process </a:t>
            </a:r>
            <a:r>
              <a:rPr lang="en-GB" sz="2400" dirty="0">
                <a:latin typeface="Times New Roman" pitchFamily="18" charset="0"/>
                <a:cs typeface="Times New Roman" pitchFamily="18" charset="0"/>
              </a:rPr>
              <a:t>models:</a:t>
            </a:r>
          </a:p>
          <a:p>
            <a:pPr algn="just"/>
            <a:r>
              <a:rPr lang="en-GB" sz="2400" dirty="0" smtClean="0">
                <a:latin typeface="Times New Roman" pitchFamily="18" charset="0"/>
                <a:cs typeface="Times New Roman" pitchFamily="18" charset="0"/>
              </a:rPr>
              <a:t>Waterfall </a:t>
            </a:r>
            <a:r>
              <a:rPr lang="en-GB" sz="2400" dirty="0">
                <a:latin typeface="Times New Roman" pitchFamily="18" charset="0"/>
                <a:cs typeface="Times New Roman" pitchFamily="18" charset="0"/>
              </a:rPr>
              <a:t>Model</a:t>
            </a:r>
          </a:p>
          <a:p>
            <a:pPr algn="just"/>
            <a:r>
              <a:rPr lang="en-GB" sz="2400" dirty="0">
                <a:latin typeface="Times New Roman" pitchFamily="18" charset="0"/>
                <a:cs typeface="Times New Roman" pitchFamily="18" charset="0"/>
              </a:rPr>
              <a:t>Incremental Model</a:t>
            </a:r>
          </a:p>
          <a:p>
            <a:pPr algn="just"/>
            <a:r>
              <a:rPr lang="en-GB" sz="2400" dirty="0">
                <a:latin typeface="Times New Roman" pitchFamily="18" charset="0"/>
                <a:cs typeface="Times New Roman" pitchFamily="18" charset="0"/>
              </a:rPr>
              <a:t>Spiral Model</a:t>
            </a:r>
          </a:p>
          <a:p>
            <a:pPr algn="just"/>
            <a:r>
              <a:rPr lang="en-GB" sz="2400" dirty="0">
                <a:latin typeface="Times New Roman" pitchFamily="18" charset="0"/>
                <a:cs typeface="Times New Roman" pitchFamily="18" charset="0"/>
              </a:rPr>
              <a:t>Agile Model</a:t>
            </a:r>
          </a:p>
          <a:p>
            <a:pPr algn="just"/>
            <a:r>
              <a:rPr lang="en-GB" sz="2400" dirty="0">
                <a:latin typeface="Times New Roman" pitchFamily="18" charset="0"/>
                <a:cs typeface="Times New Roman" pitchFamily="18" charset="0"/>
              </a:rPr>
              <a:t>Evolutionary Development Model</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7</a:t>
            </a:fld>
            <a:endParaRPr lang="en-IN"/>
          </a:p>
        </p:txBody>
      </p:sp>
    </p:spTree>
    <p:extLst>
      <p:ext uri="{BB962C8B-B14F-4D97-AF65-F5344CB8AC3E}">
        <p14:creationId xmlns:p14="http://schemas.microsoft.com/office/powerpoint/2010/main" val="125353154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Software Metrics and Measurements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517655"/>
            <a:ext cx="8229600" cy="4768865"/>
          </a:xfrm>
        </p:spPr>
        <p:txBody>
          <a:bodyPr>
            <a:normAutofit lnSpcReduction="10000"/>
          </a:bodyPr>
          <a:lstStyle/>
          <a:p>
            <a:pPr algn="just"/>
            <a:r>
              <a:rPr lang="en-IN" sz="2400" dirty="0">
                <a:latin typeface="Times New Roman" pitchFamily="18" charset="0"/>
                <a:cs typeface="Times New Roman" pitchFamily="18" charset="0"/>
              </a:rPr>
              <a:t>Software metric is the unit of measurement of software product, project, and process attributes.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Measuring </a:t>
            </a:r>
            <a:r>
              <a:rPr lang="en-IN" sz="2400" dirty="0">
                <a:latin typeface="Times New Roman" pitchFamily="18" charset="0"/>
                <a:cs typeface="Times New Roman" pitchFamily="18" charset="0"/>
              </a:rPr>
              <a:t>software process or project provides a foundation to predict the parameters of project </a:t>
            </a:r>
            <a:r>
              <a:rPr lang="en-IN" sz="2400" dirty="0" smtClean="0">
                <a:latin typeface="Times New Roman" pitchFamily="18" charset="0"/>
                <a:cs typeface="Times New Roman" pitchFamily="18" charset="0"/>
              </a:rPr>
              <a:t>planning.</a:t>
            </a:r>
          </a:p>
          <a:p>
            <a:pPr algn="just"/>
            <a:r>
              <a:rPr lang="en-IN" sz="2400" dirty="0">
                <a:latin typeface="Times New Roman" pitchFamily="18" charset="0"/>
                <a:cs typeface="Times New Roman" pitchFamily="18" charset="0"/>
              </a:rPr>
              <a:t>Effective use of metrics helps to measure product quality, manage projects, and assess processes. </a:t>
            </a:r>
          </a:p>
          <a:p>
            <a:pPr algn="just"/>
            <a:r>
              <a:rPr lang="en-IN" sz="2400" dirty="0">
                <a:latin typeface="Times New Roman" pitchFamily="18" charset="0"/>
                <a:cs typeface="Times New Roman" pitchFamily="18" charset="0"/>
              </a:rPr>
              <a:t>Metrics provide necessary information for monitoring the progress of the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There are three types of metrics used in software projects:</a:t>
            </a:r>
          </a:p>
          <a:p>
            <a:pPr lvl="1" algn="just"/>
            <a:r>
              <a:rPr lang="en-IN" sz="2400" i="1" dirty="0" smtClean="0">
                <a:latin typeface="Times New Roman" pitchFamily="18" charset="0"/>
                <a:cs typeface="Times New Roman" pitchFamily="18" charset="0"/>
              </a:rPr>
              <a:t>Product metrics, </a:t>
            </a:r>
          </a:p>
          <a:p>
            <a:pPr lvl="1" algn="just"/>
            <a:r>
              <a:rPr lang="en-IN" sz="2400" i="1" dirty="0" smtClean="0">
                <a:latin typeface="Times New Roman" pitchFamily="18" charset="0"/>
                <a:cs typeface="Times New Roman" pitchFamily="18" charset="0"/>
              </a:rPr>
              <a:t>Process metrics, </a:t>
            </a:r>
          </a:p>
          <a:p>
            <a:pPr lvl="1" algn="just"/>
            <a:r>
              <a:rPr lang="en-IN" sz="2400" i="1" dirty="0" smtClean="0">
                <a:latin typeface="Times New Roman" pitchFamily="18" charset="0"/>
                <a:cs typeface="Times New Roman" pitchFamily="18" charset="0"/>
              </a:rPr>
              <a:t>Project metrics.</a:t>
            </a:r>
          </a:p>
          <a:p>
            <a:pPr algn="just"/>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8</a:t>
            </a:fld>
            <a:endParaRPr lang="en-IN"/>
          </a:p>
        </p:txBody>
      </p:sp>
    </p:spTree>
    <p:extLst>
      <p:ext uri="{BB962C8B-B14F-4D97-AF65-F5344CB8AC3E}">
        <p14:creationId xmlns:p14="http://schemas.microsoft.com/office/powerpoint/2010/main" val="158163694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Software Metrics and Measurements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algn="just"/>
            <a:r>
              <a:rPr lang="en-IN" sz="2400" i="1" dirty="0" smtClean="0">
                <a:latin typeface="Times New Roman" pitchFamily="18" charset="0"/>
                <a:cs typeface="Times New Roman" pitchFamily="18" charset="0"/>
              </a:rPr>
              <a:t>Product metrics </a:t>
            </a:r>
            <a:r>
              <a:rPr lang="en-IN" sz="2400" dirty="0" smtClean="0">
                <a:latin typeface="Times New Roman" pitchFamily="18" charset="0"/>
                <a:cs typeface="Times New Roman" pitchFamily="18" charset="0"/>
              </a:rPr>
              <a:t>are used to measure product characteristics such as product quality factors (reliability, maintainability, defects, etc.) and product operational characteristics. </a:t>
            </a:r>
          </a:p>
          <a:p>
            <a:pPr algn="just"/>
            <a:r>
              <a:rPr lang="en-IN" sz="2400" i="1" dirty="0" smtClean="0">
                <a:latin typeface="Times New Roman" pitchFamily="18" charset="0"/>
                <a:cs typeface="Times New Roman" pitchFamily="18" charset="0"/>
              </a:rPr>
              <a:t>Process metrics </a:t>
            </a:r>
            <a:r>
              <a:rPr lang="en-IN" sz="2400" dirty="0" smtClean="0">
                <a:latin typeface="Times New Roman" pitchFamily="18" charset="0"/>
                <a:cs typeface="Times New Roman" pitchFamily="18" charset="0"/>
              </a:rPr>
              <a:t>assess the effectiveness of software processes and ensure conformance of standards and guidelines. </a:t>
            </a:r>
          </a:p>
          <a:p>
            <a:pPr lvl="1" algn="just"/>
            <a:r>
              <a:rPr lang="en-IN" sz="2400" dirty="0" smtClean="0">
                <a:latin typeface="Times New Roman" pitchFamily="18" charset="0"/>
                <a:cs typeface="Times New Roman" pitchFamily="18" charset="0"/>
              </a:rPr>
              <a:t>Process metrics provide some attributes that help to improve the process maturity. </a:t>
            </a:r>
          </a:p>
          <a:p>
            <a:pPr algn="just"/>
            <a:r>
              <a:rPr lang="en-IN" sz="2400" i="1" dirty="0" smtClean="0">
                <a:latin typeface="Times New Roman" pitchFamily="18" charset="0"/>
                <a:cs typeface="Times New Roman" pitchFamily="18" charset="0"/>
              </a:rPr>
              <a:t>Project metrics </a:t>
            </a:r>
            <a:r>
              <a:rPr lang="en-IN" sz="2400" dirty="0" smtClean="0">
                <a:latin typeface="Times New Roman" pitchFamily="18" charset="0"/>
                <a:cs typeface="Times New Roman" pitchFamily="18" charset="0"/>
              </a:rPr>
              <a:t>are used to monitor the project plan, track progress, and estimate the project attributes. </a:t>
            </a:r>
          </a:p>
          <a:p>
            <a:pPr lvl="1" algn="just"/>
            <a:r>
              <a:rPr lang="en-IN" sz="2400" dirty="0" smtClean="0">
                <a:latin typeface="Times New Roman" pitchFamily="18" charset="0"/>
                <a:cs typeface="Times New Roman" pitchFamily="18" charset="0"/>
              </a:rPr>
              <a:t>It measures the size, cost, efforts, schedule, and risks.</a:t>
            </a:r>
          </a:p>
        </p:txBody>
      </p:sp>
      <p:sp>
        <p:nvSpPr>
          <p:cNvPr id="4" name="Slide Number Placeholder 3"/>
          <p:cNvSpPr>
            <a:spLocks noGrp="1"/>
          </p:cNvSpPr>
          <p:nvPr>
            <p:ph type="sldNum" sz="quarter" idx="12"/>
          </p:nvPr>
        </p:nvSpPr>
        <p:spPr/>
        <p:txBody>
          <a:bodyPr/>
          <a:lstStyle/>
          <a:p>
            <a:fld id="{0C087B72-CC60-4FF0-9C96-8509CDF76D05}" type="slidenum">
              <a:rPr lang="en-IN" smtClean="0"/>
              <a:pPr/>
              <a:t>9</a:t>
            </a:fld>
            <a:endParaRPr lang="en-IN"/>
          </a:p>
        </p:txBody>
      </p:sp>
    </p:spTree>
    <p:extLst>
      <p:ext uri="{BB962C8B-B14F-4D97-AF65-F5344CB8AC3E}">
        <p14:creationId xmlns:p14="http://schemas.microsoft.com/office/powerpoint/2010/main" val="37631783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p>
        </p:txBody>
      </p:sp>
      <p:sp>
        <p:nvSpPr>
          <p:cNvPr id="3" name="Content Placeholder 2"/>
          <p:cNvSpPr>
            <a:spLocks noGrp="1"/>
          </p:cNvSpPr>
          <p:nvPr>
            <p:ph idx="1"/>
          </p:nvPr>
        </p:nvSpPr>
        <p:spPr/>
        <p:txBody>
          <a:bodyPr>
            <a:noAutofit/>
          </a:bodyPr>
          <a:lstStyle/>
          <a:p>
            <a:pPr algn="just"/>
            <a:r>
              <a:rPr lang="en-IN" sz="2200" dirty="0">
                <a:latin typeface="Times New Roman" pitchFamily="18" charset="0"/>
                <a:cs typeface="Times New Roman" pitchFamily="18" charset="0"/>
              </a:rPr>
              <a:t>Size measurement is the initial step for estimating the other attributes of software.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It </a:t>
            </a:r>
            <a:r>
              <a:rPr lang="en-IN" sz="2200" dirty="0">
                <a:latin typeface="Times New Roman" pitchFamily="18" charset="0"/>
                <a:cs typeface="Times New Roman" pitchFamily="18" charset="0"/>
              </a:rPr>
              <a:t>is a direct measurement, which is based on the problem size.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There </a:t>
            </a:r>
            <a:r>
              <a:rPr lang="en-IN" sz="2200" dirty="0">
                <a:latin typeface="Times New Roman" pitchFamily="18" charset="0"/>
                <a:cs typeface="Times New Roman" pitchFamily="18" charset="0"/>
              </a:rPr>
              <a:t>are various units of size measurement, such as </a:t>
            </a:r>
            <a:endParaRPr lang="en-IN" sz="2200" dirty="0" smtClean="0">
              <a:latin typeface="Times New Roman" pitchFamily="18" charset="0"/>
              <a:cs typeface="Times New Roman" pitchFamily="18" charset="0"/>
            </a:endParaRPr>
          </a:p>
          <a:p>
            <a:pPr lvl="1" algn="just"/>
            <a:r>
              <a:rPr lang="en-IN" sz="2200" i="1" dirty="0" smtClean="0">
                <a:latin typeface="Times New Roman" pitchFamily="18" charset="0"/>
                <a:cs typeface="Times New Roman" pitchFamily="18" charset="0"/>
              </a:rPr>
              <a:t>Lines of code (LOC), </a:t>
            </a:r>
          </a:p>
          <a:p>
            <a:pPr lvl="1" algn="just"/>
            <a:r>
              <a:rPr lang="en-IN" sz="2200" i="1" dirty="0" smtClean="0">
                <a:latin typeface="Times New Roman" pitchFamily="18" charset="0"/>
                <a:cs typeface="Times New Roman" pitchFamily="18" charset="0"/>
              </a:rPr>
              <a:t>Function point (FP), </a:t>
            </a:r>
          </a:p>
          <a:p>
            <a:pPr lvl="1" algn="just"/>
            <a:r>
              <a:rPr lang="en-IN" sz="2200" i="1" dirty="0" smtClean="0">
                <a:latin typeface="Times New Roman" pitchFamily="18" charset="0"/>
                <a:cs typeface="Times New Roman" pitchFamily="18" charset="0"/>
              </a:rPr>
              <a:t>Token count (TC), </a:t>
            </a:r>
          </a:p>
          <a:p>
            <a:pPr lvl="1" algn="just"/>
            <a:r>
              <a:rPr lang="en-IN" sz="2200" i="1" dirty="0" smtClean="0">
                <a:latin typeface="Times New Roman" pitchFamily="18" charset="0"/>
                <a:cs typeface="Times New Roman" pitchFamily="18" charset="0"/>
              </a:rPr>
              <a:t>Fuzzy logic sizing, </a:t>
            </a:r>
          </a:p>
          <a:p>
            <a:pPr lvl="1" algn="just"/>
            <a:r>
              <a:rPr lang="en-IN" sz="2200" i="1" dirty="0" smtClean="0">
                <a:latin typeface="Times New Roman" pitchFamily="18" charset="0"/>
                <a:cs typeface="Times New Roman" pitchFamily="18" charset="0"/>
              </a:rPr>
              <a:t>Object Point (OP), </a:t>
            </a:r>
          </a:p>
          <a:p>
            <a:pPr lvl="1" algn="just"/>
            <a:r>
              <a:rPr lang="en-IN" sz="2200" i="1" dirty="0" smtClean="0">
                <a:latin typeface="Times New Roman" pitchFamily="18" charset="0"/>
                <a:cs typeface="Times New Roman" pitchFamily="18" charset="0"/>
              </a:rPr>
              <a:t>Standard component sizing, and many more. </a:t>
            </a:r>
          </a:p>
          <a:p>
            <a:pPr marL="0" indent="0" algn="just">
              <a:buNone/>
            </a:pP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a:t>
            </a:fld>
            <a:endParaRPr lang="en-IN"/>
          </a:p>
        </p:txBody>
      </p:sp>
    </p:spTree>
    <p:extLst>
      <p:ext uri="{BB962C8B-B14F-4D97-AF65-F5344CB8AC3E}">
        <p14:creationId xmlns:p14="http://schemas.microsoft.com/office/powerpoint/2010/main" val="393108842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a:xfrm>
            <a:off x="457200" y="1285860"/>
            <a:ext cx="8229600" cy="4525963"/>
          </a:xfrm>
        </p:spPr>
        <p:txBody>
          <a:bodyPr>
            <a:noAutofit/>
          </a:bodyPr>
          <a:lstStyle/>
          <a:p>
            <a:pPr marL="457200" lvl="1" indent="0" algn="just">
              <a:buNone/>
            </a:pPr>
            <a:r>
              <a:rPr lang="en-IN" sz="2400" dirty="0" smtClean="0">
                <a:solidFill>
                  <a:srgbClr val="00B0F0"/>
                </a:solidFill>
                <a:latin typeface="Times New Roman" pitchFamily="18" charset="0"/>
                <a:cs typeface="Times New Roman" pitchFamily="18" charset="0"/>
              </a:rPr>
              <a:t>Lines of Code </a:t>
            </a:r>
          </a:p>
          <a:p>
            <a:pPr marL="342900" lvl="1" indent="-342900" algn="just">
              <a:buFont typeface="Arial" pitchFamily="34" charset="0"/>
              <a:buChar char="•"/>
            </a:pPr>
            <a:r>
              <a:rPr lang="en-IN" sz="2000" dirty="0">
                <a:latin typeface="Times New Roman" pitchFamily="18" charset="0"/>
                <a:cs typeface="Times New Roman" pitchFamily="18" charset="0"/>
              </a:rPr>
              <a:t>A line of code (LOC) metric is based on the measurement of the source lines of the code in a program. </a:t>
            </a:r>
            <a:endParaRPr lang="en-IN" sz="2000" dirty="0" smtClean="0">
              <a:latin typeface="Times New Roman" pitchFamily="18" charset="0"/>
              <a:cs typeface="Times New Roman" pitchFamily="18" charset="0"/>
            </a:endParaRPr>
          </a:p>
          <a:p>
            <a:pPr marL="342900" lvl="1" indent="-342900" algn="just">
              <a:buFont typeface="Arial" pitchFamily="34" charset="0"/>
              <a:buChar char="•"/>
            </a:pPr>
            <a:r>
              <a:rPr lang="en-IN" sz="2000" dirty="0">
                <a:latin typeface="Times New Roman" pitchFamily="18" charset="0"/>
                <a:cs typeface="Times New Roman" pitchFamily="18" charset="0"/>
              </a:rPr>
              <a:t>It is simply measured by counting the program header, declarations, executable, and non-executable lines in the source program. </a:t>
            </a:r>
            <a:endParaRPr lang="en-IN" sz="2000" dirty="0" smtClean="0">
              <a:latin typeface="Times New Roman" pitchFamily="18" charset="0"/>
              <a:cs typeface="Times New Roman" pitchFamily="18" charset="0"/>
            </a:endParaRPr>
          </a:p>
          <a:p>
            <a:pPr marL="342900" lvl="1" indent="-342900" algn="just">
              <a:buFont typeface="Arial" pitchFamily="34" charset="0"/>
              <a:buChar char="•"/>
            </a:pPr>
            <a:r>
              <a:rPr lang="en-IN" sz="2000" dirty="0">
                <a:latin typeface="Times New Roman" pitchFamily="18" charset="0"/>
                <a:cs typeface="Times New Roman" pitchFamily="18" charset="0"/>
              </a:rPr>
              <a:t>Comments lines, blank lines, and header lines are usually not considered during the LOC measurement</a:t>
            </a:r>
            <a:r>
              <a:rPr lang="en-IN" sz="2000" dirty="0" smtClean="0">
                <a:latin typeface="Times New Roman" pitchFamily="18" charset="0"/>
                <a:cs typeface="Times New Roman" pitchFamily="18" charset="0"/>
              </a:rPr>
              <a:t>. </a:t>
            </a:r>
          </a:p>
          <a:p>
            <a:pPr marL="342900" lvl="1" indent="-342900" algn="just">
              <a:buFont typeface="Arial" pitchFamily="34" charset="0"/>
              <a:buChar char="•"/>
            </a:pPr>
            <a:r>
              <a:rPr lang="en-IN" sz="2000" dirty="0" smtClean="0">
                <a:latin typeface="Times New Roman" pitchFamily="18" charset="0"/>
                <a:cs typeface="Times New Roman" pitchFamily="18" charset="0"/>
              </a:rPr>
              <a:t>LOC is generally counted in kilo (thousand) line of codes (KLOC) per person-month (PM). </a:t>
            </a:r>
          </a:p>
          <a:p>
            <a:pPr marL="342900" lvl="1" indent="-342900" algn="just">
              <a:buFont typeface="Arial" pitchFamily="34" charset="0"/>
              <a:buChar char="•"/>
            </a:pPr>
            <a:r>
              <a:rPr lang="en-IN" sz="2000" dirty="0" smtClean="0">
                <a:latin typeface="Times New Roman" pitchFamily="18" charset="0"/>
                <a:cs typeface="Times New Roman" pitchFamily="18" charset="0"/>
              </a:rPr>
              <a:t>Size measurement of the source lines helps to measure </a:t>
            </a:r>
          </a:p>
          <a:p>
            <a:pPr marL="742950" lvl="2" indent="-342900" algn="just"/>
            <a:r>
              <a:rPr lang="en-IN" sz="2000" dirty="0" smtClean="0">
                <a:latin typeface="Times New Roman" pitchFamily="18" charset="0"/>
                <a:cs typeface="Times New Roman" pitchFamily="18" charset="0"/>
              </a:rPr>
              <a:t>Defects per KLOC, </a:t>
            </a:r>
          </a:p>
          <a:p>
            <a:pPr marL="742950" lvl="2" indent="-342900" algn="just"/>
            <a:r>
              <a:rPr lang="en-IN" sz="2000" dirty="0" smtClean="0">
                <a:latin typeface="Times New Roman" pitchFamily="18" charset="0"/>
                <a:cs typeface="Times New Roman" pitchFamily="18" charset="0"/>
              </a:rPr>
              <a:t>Errors per KLOC, </a:t>
            </a:r>
          </a:p>
          <a:p>
            <a:pPr marL="742950" lvl="2" indent="-342900" algn="just"/>
            <a:r>
              <a:rPr lang="en-IN" sz="2000" dirty="0" smtClean="0">
                <a:latin typeface="Times New Roman" pitchFamily="18" charset="0"/>
                <a:cs typeface="Times New Roman" pitchFamily="18" charset="0"/>
              </a:rPr>
              <a:t>Dollars per KLOC, </a:t>
            </a:r>
          </a:p>
          <a:p>
            <a:pPr marL="742950" lvl="2" indent="-342900" algn="just"/>
            <a:r>
              <a:rPr lang="en-IN" sz="2000" dirty="0" smtClean="0">
                <a:latin typeface="Times New Roman" pitchFamily="18" charset="0"/>
                <a:cs typeface="Times New Roman" pitchFamily="18" charset="0"/>
              </a:rPr>
              <a:t>Pages of documentation per KLOC, and so on.</a:t>
            </a:r>
          </a:p>
        </p:txBody>
      </p:sp>
      <p:sp>
        <p:nvSpPr>
          <p:cNvPr id="4" name="Slide Number Placeholder 3"/>
          <p:cNvSpPr>
            <a:spLocks noGrp="1"/>
          </p:cNvSpPr>
          <p:nvPr>
            <p:ph type="sldNum" sz="quarter" idx="12"/>
          </p:nvPr>
        </p:nvSpPr>
        <p:spPr/>
        <p:txBody>
          <a:bodyPr/>
          <a:lstStyle/>
          <a:p>
            <a:fld id="{0C087B72-CC60-4FF0-9C96-8509CDF76D05}" type="slidenum">
              <a:rPr lang="en-IN" smtClean="0"/>
              <a:pPr/>
              <a:t>11</a:t>
            </a:fld>
            <a:endParaRPr lang="en-IN"/>
          </a:p>
        </p:txBody>
      </p:sp>
    </p:spTree>
    <p:extLst>
      <p:ext uri="{BB962C8B-B14F-4D97-AF65-F5344CB8AC3E}">
        <p14:creationId xmlns:p14="http://schemas.microsoft.com/office/powerpoint/2010/main" val="325196918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13905"/>
            <a:ext cx="8229600" cy="1143000"/>
          </a:xfrm>
        </p:spPr>
        <p:txBody>
          <a:bodyPr numCol="1">
            <a:normAutofit/>
          </a:bodyPr>
          <a:lstStyle/>
          <a:p>
            <a:r>
              <a:rPr lang="en-IN" sz="3200" b="1" dirty="0">
                <a:solidFill>
                  <a:srgbClr val="0000FF"/>
                </a:solidFill>
                <a:latin typeface="Times New Roman" pitchFamily="18" charset="0"/>
                <a:cs typeface="Times New Roman" pitchFamily="18" charset="0"/>
              </a:rPr>
              <a:t>Project </a:t>
            </a:r>
            <a:r>
              <a:rPr lang="en-IN" sz="3200" b="1" dirty="0" smtClean="0">
                <a:solidFill>
                  <a:srgbClr val="0000FF"/>
                </a:solidFill>
                <a:latin typeface="Times New Roman" pitchFamily="18" charset="0"/>
                <a:cs typeface="Times New Roman" pitchFamily="18" charset="0"/>
              </a:rPr>
              <a:t>Size Estimation</a:t>
            </a:r>
            <a:endParaRPr lang="en-IN" sz="3200" dirty="0"/>
          </a:p>
        </p:txBody>
      </p:sp>
      <p:sp>
        <p:nvSpPr>
          <p:cNvPr id="4" name="Text Box 8"/>
          <p:cNvSpPr txBox="1">
            <a:spLocks noChangeArrowheads="1"/>
          </p:cNvSpPr>
          <p:nvPr/>
        </p:nvSpPr>
        <p:spPr bwMode="auto">
          <a:xfrm>
            <a:off x="611560" y="1928802"/>
            <a:ext cx="8208912" cy="3733586"/>
          </a:xfrm>
          <a:prstGeom prst="rect">
            <a:avLst/>
          </a:prstGeom>
          <a:solidFill>
            <a:srgbClr val="FFFFFF"/>
          </a:solidFill>
          <a:ln w="9525">
            <a:noFill/>
            <a:miter lim="800000"/>
            <a:headEnd/>
            <a:tailEnd/>
          </a:ln>
        </p:spPr>
        <p:txBody>
          <a:bodyPr rot="0" vert="horz" wrap="square" lIns="0" tIns="0" rIns="0" bIns="0" numCol="2" anchor="t" anchorCtr="0" upright="1">
            <a:noAutofit/>
          </a:bodyPr>
          <a:lstStyle/>
          <a:p>
            <a:pPr lvl="0">
              <a:lnSpc>
                <a:spcPct val="115000"/>
              </a:lnSpc>
              <a:spcAft>
                <a:spcPts val="0"/>
              </a:spcAft>
            </a:pPr>
            <a:endParaRPr lang="en-IN" dirty="0">
              <a:effectLst/>
              <a:latin typeface="Times New Roman" pitchFamily="18" charset="0"/>
              <a:ea typeface="Times New Roman"/>
              <a:cs typeface="Times New Roman" pitchFamily="18" charset="0"/>
            </a:endParaRPr>
          </a:p>
          <a:p>
            <a:pPr lvl="0">
              <a:lnSpc>
                <a:spcPct val="115000"/>
              </a:lnSpc>
              <a:spcAft>
                <a:spcPts val="0"/>
              </a:spcAft>
            </a:pPr>
            <a:r>
              <a:rPr lang="en-IN" dirty="0">
                <a:effectLst/>
                <a:latin typeface="Times New Roman" pitchFamily="18" charset="0"/>
                <a:ea typeface="Times New Roman"/>
                <a:cs typeface="Times New Roman" pitchFamily="18" charset="0"/>
              </a:rPr>
              <a:t>#include&lt;</a:t>
            </a:r>
            <a:r>
              <a:rPr lang="en-IN" dirty="0" err="1">
                <a:effectLst/>
                <a:latin typeface="Times New Roman" pitchFamily="18" charset="0"/>
                <a:ea typeface="Times New Roman"/>
                <a:cs typeface="Times New Roman" pitchFamily="18" charset="0"/>
              </a:rPr>
              <a:t>stdio.h</a:t>
            </a:r>
            <a:r>
              <a:rPr lang="en-IN" dirty="0">
                <a:effectLst/>
                <a:latin typeface="Times New Roman" pitchFamily="18" charset="0"/>
                <a:ea typeface="Times New Roman"/>
                <a:cs typeface="Times New Roman" pitchFamily="18" charset="0"/>
              </a:rPr>
              <a:t>&gt;</a:t>
            </a:r>
          </a:p>
          <a:p>
            <a:pPr lvl="0">
              <a:lnSpc>
                <a:spcPct val="115000"/>
              </a:lnSpc>
              <a:spcAft>
                <a:spcPts val="0"/>
              </a:spcAft>
            </a:pPr>
            <a:r>
              <a:rPr lang="en-IN" dirty="0">
                <a:effectLst/>
                <a:latin typeface="Times New Roman" pitchFamily="18" charset="0"/>
                <a:ea typeface="Times New Roman"/>
                <a:cs typeface="Times New Roman" pitchFamily="18" charset="0"/>
              </a:rPr>
              <a:t>#include&lt;</a:t>
            </a:r>
            <a:r>
              <a:rPr lang="en-IN" dirty="0" err="1">
                <a:effectLst/>
                <a:latin typeface="Times New Roman" pitchFamily="18" charset="0"/>
                <a:ea typeface="Times New Roman"/>
                <a:cs typeface="Times New Roman" pitchFamily="18" charset="0"/>
              </a:rPr>
              <a:t>conio.h</a:t>
            </a:r>
            <a:r>
              <a:rPr lang="en-IN" dirty="0">
                <a:effectLst/>
                <a:latin typeface="Times New Roman" pitchFamily="18" charset="0"/>
                <a:ea typeface="Times New Roman"/>
                <a:cs typeface="Times New Roman" pitchFamily="18" charset="0"/>
              </a:rPr>
              <a:t>&gt;</a:t>
            </a:r>
          </a:p>
          <a:p>
            <a:pPr lvl="0">
              <a:lnSpc>
                <a:spcPct val="115000"/>
              </a:lnSpc>
              <a:spcAft>
                <a:spcPts val="0"/>
              </a:spcAft>
            </a:pPr>
            <a:r>
              <a:rPr lang="en-IN" dirty="0">
                <a:effectLst/>
                <a:latin typeface="Times New Roman" pitchFamily="18" charset="0"/>
                <a:ea typeface="Times New Roman"/>
                <a:cs typeface="Times New Roman" pitchFamily="18" charset="0"/>
              </a:rPr>
              <a:t>#include &lt;</a:t>
            </a:r>
            <a:r>
              <a:rPr lang="en-IN" dirty="0" err="1">
                <a:effectLst/>
                <a:latin typeface="Times New Roman" pitchFamily="18" charset="0"/>
                <a:ea typeface="Times New Roman"/>
                <a:cs typeface="Times New Roman" pitchFamily="18" charset="0"/>
              </a:rPr>
              <a:t>string.h</a:t>
            </a:r>
            <a:r>
              <a:rPr lang="en-IN" dirty="0">
                <a:effectLst/>
                <a:latin typeface="Times New Roman" pitchFamily="18" charset="0"/>
                <a:ea typeface="Times New Roman"/>
                <a:cs typeface="Times New Roman" pitchFamily="18" charset="0"/>
              </a:rPr>
              <a:t>&gt;</a:t>
            </a:r>
          </a:p>
          <a:p>
            <a:pPr lvl="0">
              <a:lnSpc>
                <a:spcPct val="115000"/>
              </a:lnSpc>
              <a:spcAft>
                <a:spcPts val="0"/>
              </a:spcAft>
            </a:pPr>
            <a:r>
              <a:rPr lang="en-IN" dirty="0">
                <a:effectLst/>
                <a:latin typeface="Times New Roman" pitchFamily="18" charset="0"/>
                <a:ea typeface="Times New Roman"/>
                <a:cs typeface="Times New Roman" pitchFamily="18" charset="0"/>
              </a:rPr>
              <a:t> </a:t>
            </a:r>
          </a:p>
          <a:p>
            <a:pPr lvl="0">
              <a:lnSpc>
                <a:spcPct val="115000"/>
              </a:lnSpc>
              <a:spcAft>
                <a:spcPts val="0"/>
              </a:spcAft>
            </a:pPr>
            <a:r>
              <a:rPr lang="en-IN" dirty="0">
                <a:effectLst/>
                <a:latin typeface="Times New Roman" pitchFamily="18" charset="0"/>
                <a:ea typeface="Times New Roman"/>
                <a:cs typeface="Times New Roman" pitchFamily="18" charset="0"/>
              </a:rPr>
              <a:t>void main(</a:t>
            </a:r>
            <a:r>
              <a:rPr lang="en-IN" dirty="0" err="1">
                <a:effectLst/>
                <a:latin typeface="Times New Roman" pitchFamily="18" charset="0"/>
                <a:ea typeface="Times New Roman"/>
                <a:cs typeface="Times New Roman" pitchFamily="18" charset="0"/>
              </a:rPr>
              <a:t>int</a:t>
            </a:r>
            <a:r>
              <a:rPr lang="en-IN" dirty="0">
                <a:effectLst/>
                <a:latin typeface="Times New Roman" pitchFamily="18" charset="0"/>
                <a:ea typeface="Times New Roman"/>
                <a:cs typeface="Times New Roman" pitchFamily="18" charset="0"/>
              </a:rPr>
              <a:t> </a:t>
            </a:r>
            <a:r>
              <a:rPr lang="en-IN" dirty="0" err="1">
                <a:effectLst/>
                <a:latin typeface="Times New Roman" pitchFamily="18" charset="0"/>
                <a:ea typeface="Times New Roman"/>
                <a:cs typeface="Times New Roman" pitchFamily="18" charset="0"/>
              </a:rPr>
              <a:t>argc,char</a:t>
            </a:r>
            <a:r>
              <a:rPr lang="en-IN" dirty="0">
                <a:effectLst/>
                <a:latin typeface="Times New Roman" pitchFamily="18" charset="0"/>
                <a:ea typeface="Times New Roman"/>
                <a:cs typeface="Times New Roman" pitchFamily="18" charset="0"/>
              </a:rPr>
              <a:t> * </a:t>
            </a:r>
            <a:r>
              <a:rPr lang="en-IN" dirty="0" err="1">
                <a:effectLst/>
                <a:latin typeface="Times New Roman" pitchFamily="18" charset="0"/>
                <a:ea typeface="Times New Roman"/>
                <a:cs typeface="Times New Roman" pitchFamily="18" charset="0"/>
              </a:rPr>
              <a:t>argv</a:t>
            </a:r>
            <a:r>
              <a:rPr lang="en-IN" dirty="0">
                <a:effectLst/>
                <a:latin typeface="Times New Roman" pitchFamily="18" charset="0"/>
                <a:ea typeface="Times New Roman"/>
                <a:cs typeface="Times New Roman" pitchFamily="18" charset="0"/>
              </a:rPr>
              <a:t>[])</a:t>
            </a:r>
          </a:p>
          <a:p>
            <a:pPr lvl="0">
              <a:lnSpc>
                <a:spcPct val="115000"/>
              </a:lnSpc>
              <a:spcAft>
                <a:spcPts val="0"/>
              </a:spcAft>
            </a:pPr>
            <a:r>
              <a:rPr lang="en-IN" dirty="0">
                <a:effectLst/>
                <a:latin typeface="Times New Roman" pitchFamily="18" charset="0"/>
                <a:ea typeface="Times New Roman"/>
                <a:cs typeface="Times New Roman" pitchFamily="18" charset="0"/>
              </a:rPr>
              <a:t>{         char  *temp;</a:t>
            </a:r>
          </a:p>
          <a:p>
            <a:pPr lvl="0">
              <a:lnSpc>
                <a:spcPct val="115000"/>
              </a:lnSpc>
              <a:spcAft>
                <a:spcPts val="0"/>
              </a:spcAft>
            </a:pPr>
            <a:r>
              <a:rPr lang="en-IN" dirty="0">
                <a:effectLst/>
                <a:latin typeface="Times New Roman" pitchFamily="18" charset="0"/>
                <a:ea typeface="Times New Roman"/>
                <a:cs typeface="Times New Roman" pitchFamily="18" charset="0"/>
              </a:rPr>
              <a:t>    </a:t>
            </a:r>
            <a:r>
              <a:rPr lang="en-IN" dirty="0" err="1">
                <a:effectLst/>
                <a:latin typeface="Times New Roman" pitchFamily="18" charset="0"/>
                <a:ea typeface="Times New Roman"/>
                <a:cs typeface="Times New Roman" pitchFamily="18" charset="0"/>
              </a:rPr>
              <a:t>int</a:t>
            </a:r>
            <a:r>
              <a:rPr lang="en-IN" dirty="0">
                <a:effectLst/>
                <a:latin typeface="Times New Roman" pitchFamily="18" charset="0"/>
                <a:ea typeface="Times New Roman"/>
                <a:cs typeface="Times New Roman" pitchFamily="18" charset="0"/>
              </a:rPr>
              <a:t> start, end ; </a:t>
            </a:r>
          </a:p>
          <a:p>
            <a:pPr lvl="0">
              <a:lnSpc>
                <a:spcPct val="115000"/>
              </a:lnSpc>
              <a:spcAft>
                <a:spcPts val="0"/>
              </a:spcAft>
            </a:pPr>
            <a:r>
              <a:rPr lang="en-IN" dirty="0">
                <a:effectLst/>
                <a:latin typeface="Times New Roman" pitchFamily="18" charset="0"/>
                <a:ea typeface="Times New Roman"/>
                <a:cs typeface="Times New Roman" pitchFamily="18" charset="0"/>
              </a:rPr>
              <a:t>    </a:t>
            </a:r>
            <a:r>
              <a:rPr lang="en-IN" dirty="0" err="1">
                <a:effectLst/>
                <a:latin typeface="Times New Roman" pitchFamily="18" charset="0"/>
                <a:ea typeface="Times New Roman"/>
                <a:cs typeface="Times New Roman" pitchFamily="18" charset="0"/>
              </a:rPr>
              <a:t>clrscr</a:t>
            </a:r>
            <a:r>
              <a:rPr lang="en-IN" dirty="0">
                <a:effectLst/>
                <a:latin typeface="Times New Roman" pitchFamily="18" charset="0"/>
                <a:ea typeface="Times New Roman"/>
                <a:cs typeface="Times New Roman" pitchFamily="18" charset="0"/>
              </a:rPr>
              <a:t>();</a:t>
            </a:r>
          </a:p>
          <a:p>
            <a:pPr lvl="0">
              <a:lnSpc>
                <a:spcPct val="115000"/>
              </a:lnSpc>
              <a:spcAft>
                <a:spcPts val="0"/>
              </a:spcAft>
            </a:pPr>
            <a:r>
              <a:rPr lang="en-IN" dirty="0">
                <a:effectLst/>
                <a:latin typeface="Times New Roman" pitchFamily="18" charset="0"/>
                <a:ea typeface="Times New Roman"/>
                <a:cs typeface="Times New Roman" pitchFamily="18" charset="0"/>
              </a:rPr>
              <a:t> </a:t>
            </a:r>
          </a:p>
          <a:p>
            <a:pPr lvl="0">
              <a:lnSpc>
                <a:spcPct val="115000"/>
              </a:lnSpc>
              <a:spcAft>
                <a:spcPts val="0"/>
              </a:spcAft>
            </a:pPr>
            <a:r>
              <a:rPr lang="en-IN" dirty="0">
                <a:effectLst/>
                <a:latin typeface="Times New Roman" pitchFamily="18" charset="0"/>
                <a:ea typeface="Times New Roman"/>
                <a:cs typeface="Times New Roman" pitchFamily="18" charset="0"/>
              </a:rPr>
              <a:t>if(</a:t>
            </a:r>
            <a:r>
              <a:rPr lang="en-IN" dirty="0" err="1">
                <a:effectLst/>
                <a:latin typeface="Times New Roman" pitchFamily="18" charset="0"/>
                <a:ea typeface="Times New Roman"/>
                <a:cs typeface="Times New Roman" pitchFamily="18" charset="0"/>
              </a:rPr>
              <a:t>argc</a:t>
            </a:r>
            <a:r>
              <a:rPr lang="en-IN" dirty="0">
                <a:effectLst/>
                <a:latin typeface="Times New Roman" pitchFamily="18" charset="0"/>
                <a:ea typeface="Times New Roman"/>
                <a:cs typeface="Times New Roman" pitchFamily="18" charset="0"/>
              </a:rPr>
              <a:t>==4)</a:t>
            </a:r>
          </a:p>
          <a:p>
            <a:pPr lvl="0">
              <a:lnSpc>
                <a:spcPct val="115000"/>
              </a:lnSpc>
              <a:spcAft>
                <a:spcPts val="0"/>
              </a:spcAft>
            </a:pPr>
            <a:r>
              <a:rPr lang="en-IN" dirty="0">
                <a:effectLst/>
                <a:latin typeface="Times New Roman" pitchFamily="18" charset="0"/>
                <a:ea typeface="Times New Roman"/>
                <a:cs typeface="Times New Roman" pitchFamily="18" charset="0"/>
              </a:rPr>
              <a:t>{</a:t>
            </a:r>
          </a:p>
          <a:p>
            <a:pPr lvl="0">
              <a:lnSpc>
                <a:spcPct val="115000"/>
              </a:lnSpc>
              <a:spcAft>
                <a:spcPts val="0"/>
              </a:spcAft>
            </a:pPr>
            <a:endParaRPr lang="en-IN" dirty="0" smtClean="0">
              <a:effectLst/>
              <a:latin typeface="Times New Roman" pitchFamily="18" charset="0"/>
              <a:ea typeface="Times New Roman"/>
              <a:cs typeface="Times New Roman" pitchFamily="18" charset="0"/>
            </a:endParaRPr>
          </a:p>
          <a:p>
            <a:pPr lvl="0">
              <a:lnSpc>
                <a:spcPct val="115000"/>
              </a:lnSpc>
              <a:spcAft>
                <a:spcPts val="0"/>
              </a:spcAft>
            </a:pPr>
            <a:endParaRPr lang="en-IN" dirty="0" smtClean="0">
              <a:latin typeface="Times New Roman" pitchFamily="18" charset="0"/>
              <a:ea typeface="Times New Roman"/>
              <a:cs typeface="Times New Roman" pitchFamily="18" charset="0"/>
            </a:endParaRPr>
          </a:p>
          <a:p>
            <a:pPr lvl="0">
              <a:lnSpc>
                <a:spcPct val="115000"/>
              </a:lnSpc>
              <a:spcAft>
                <a:spcPts val="0"/>
              </a:spcAft>
            </a:pPr>
            <a:endParaRPr lang="en-IN" dirty="0" smtClean="0">
              <a:effectLst/>
              <a:latin typeface="Times New Roman" pitchFamily="18" charset="0"/>
              <a:ea typeface="Times New Roman"/>
              <a:cs typeface="Times New Roman" pitchFamily="18" charset="0"/>
            </a:endParaRPr>
          </a:p>
          <a:p>
            <a:pPr lvl="0">
              <a:lnSpc>
                <a:spcPct val="115000"/>
              </a:lnSpc>
              <a:spcAft>
                <a:spcPts val="0"/>
              </a:spcAft>
            </a:pPr>
            <a:endParaRPr lang="en-IN" dirty="0" smtClean="0">
              <a:latin typeface="Times New Roman" pitchFamily="18" charset="0"/>
              <a:ea typeface="Times New Roman"/>
              <a:cs typeface="Times New Roman" pitchFamily="18" charset="0"/>
            </a:endParaRPr>
          </a:p>
          <a:p>
            <a:pPr lvl="0">
              <a:lnSpc>
                <a:spcPct val="115000"/>
              </a:lnSpc>
              <a:spcAft>
                <a:spcPts val="0"/>
              </a:spcAft>
            </a:pPr>
            <a:r>
              <a:rPr lang="en-IN" dirty="0" smtClean="0">
                <a:effectLst/>
                <a:latin typeface="Times New Roman" pitchFamily="18" charset="0"/>
                <a:ea typeface="Times New Roman"/>
                <a:cs typeface="Times New Roman" pitchFamily="18" charset="0"/>
              </a:rPr>
              <a:t>start = </a:t>
            </a:r>
            <a:r>
              <a:rPr lang="en-IN" dirty="0" err="1" smtClean="0">
                <a:effectLst/>
                <a:latin typeface="Times New Roman" pitchFamily="18" charset="0"/>
                <a:ea typeface="Times New Roman"/>
                <a:cs typeface="Times New Roman" pitchFamily="18" charset="0"/>
              </a:rPr>
              <a:t>atoi</a:t>
            </a:r>
            <a:r>
              <a:rPr lang="en-IN" dirty="0" smtClean="0">
                <a:effectLst/>
                <a:latin typeface="Times New Roman" pitchFamily="18" charset="0"/>
                <a:ea typeface="Times New Roman"/>
                <a:cs typeface="Times New Roman" pitchFamily="18" charset="0"/>
              </a:rPr>
              <a:t>(</a:t>
            </a:r>
            <a:r>
              <a:rPr lang="en-IN" dirty="0" err="1" smtClean="0">
                <a:effectLst/>
                <a:latin typeface="Times New Roman" pitchFamily="18" charset="0"/>
                <a:ea typeface="Times New Roman"/>
                <a:cs typeface="Times New Roman" pitchFamily="18" charset="0"/>
              </a:rPr>
              <a:t>argv</a:t>
            </a:r>
            <a:r>
              <a:rPr lang="en-IN" dirty="0" smtClean="0">
                <a:effectLst/>
                <a:latin typeface="Times New Roman" pitchFamily="18" charset="0"/>
                <a:ea typeface="Times New Roman"/>
                <a:cs typeface="Times New Roman" pitchFamily="18" charset="0"/>
              </a:rPr>
              <a:t>[2</a:t>
            </a:r>
            <a:r>
              <a:rPr lang="en-IN" dirty="0">
                <a:effectLst/>
                <a:latin typeface="Times New Roman" pitchFamily="18" charset="0"/>
                <a:ea typeface="Times New Roman"/>
                <a:cs typeface="Times New Roman" pitchFamily="18" charset="0"/>
              </a:rPr>
              <a:t>]);</a:t>
            </a:r>
          </a:p>
          <a:p>
            <a:pPr lvl="0">
              <a:lnSpc>
                <a:spcPct val="115000"/>
              </a:lnSpc>
              <a:spcAft>
                <a:spcPts val="0"/>
              </a:spcAft>
            </a:pPr>
            <a:r>
              <a:rPr lang="en-IN" dirty="0">
                <a:effectLst/>
                <a:latin typeface="Times New Roman" pitchFamily="18" charset="0"/>
                <a:ea typeface="Times New Roman"/>
                <a:cs typeface="Times New Roman" pitchFamily="18" charset="0"/>
              </a:rPr>
              <a:t>end = </a:t>
            </a:r>
            <a:r>
              <a:rPr lang="en-IN" dirty="0" err="1">
                <a:effectLst/>
                <a:latin typeface="Times New Roman" pitchFamily="18" charset="0"/>
                <a:ea typeface="Times New Roman"/>
                <a:cs typeface="Times New Roman" pitchFamily="18" charset="0"/>
              </a:rPr>
              <a:t>atoi</a:t>
            </a:r>
            <a:r>
              <a:rPr lang="en-IN" dirty="0">
                <a:effectLst/>
                <a:latin typeface="Times New Roman" pitchFamily="18" charset="0"/>
                <a:ea typeface="Times New Roman"/>
                <a:cs typeface="Times New Roman" pitchFamily="18" charset="0"/>
              </a:rPr>
              <a:t>(</a:t>
            </a:r>
            <a:r>
              <a:rPr lang="en-IN" dirty="0" err="1">
                <a:effectLst/>
                <a:latin typeface="Times New Roman" pitchFamily="18" charset="0"/>
                <a:ea typeface="Times New Roman"/>
                <a:cs typeface="Times New Roman" pitchFamily="18" charset="0"/>
              </a:rPr>
              <a:t>argv</a:t>
            </a:r>
            <a:r>
              <a:rPr lang="en-IN" dirty="0">
                <a:effectLst/>
                <a:latin typeface="Times New Roman" pitchFamily="18" charset="0"/>
                <a:ea typeface="Times New Roman"/>
                <a:cs typeface="Times New Roman" pitchFamily="18" charset="0"/>
              </a:rPr>
              <a:t>[3]);</a:t>
            </a:r>
          </a:p>
          <a:p>
            <a:pPr lvl="0">
              <a:lnSpc>
                <a:spcPct val="115000"/>
              </a:lnSpc>
              <a:spcAft>
                <a:spcPts val="0"/>
              </a:spcAft>
            </a:pPr>
            <a:r>
              <a:rPr lang="en-IN" dirty="0" err="1">
                <a:effectLst/>
                <a:latin typeface="Times New Roman" pitchFamily="18" charset="0"/>
                <a:ea typeface="Times New Roman"/>
                <a:cs typeface="Times New Roman" pitchFamily="18" charset="0"/>
              </a:rPr>
              <a:t>strncpy</a:t>
            </a:r>
            <a:r>
              <a:rPr lang="en-IN" dirty="0">
                <a:effectLst/>
                <a:latin typeface="Times New Roman" pitchFamily="18" charset="0"/>
                <a:ea typeface="Times New Roman"/>
                <a:cs typeface="Times New Roman" pitchFamily="18" charset="0"/>
              </a:rPr>
              <a:t>(</a:t>
            </a:r>
            <a:r>
              <a:rPr lang="en-IN" dirty="0" err="1">
                <a:effectLst/>
                <a:latin typeface="Times New Roman" pitchFamily="18" charset="0"/>
                <a:ea typeface="Times New Roman"/>
                <a:cs typeface="Times New Roman" pitchFamily="18" charset="0"/>
              </a:rPr>
              <a:t>temp,argv</a:t>
            </a:r>
            <a:r>
              <a:rPr lang="en-IN" dirty="0">
                <a:effectLst/>
                <a:latin typeface="Times New Roman" pitchFamily="18" charset="0"/>
                <a:ea typeface="Times New Roman"/>
                <a:cs typeface="Times New Roman" pitchFamily="18" charset="0"/>
              </a:rPr>
              <a:t>[1]+</a:t>
            </a:r>
            <a:r>
              <a:rPr lang="en-IN" dirty="0" err="1">
                <a:effectLst/>
                <a:latin typeface="Times New Roman" pitchFamily="18" charset="0"/>
                <a:ea typeface="Times New Roman"/>
                <a:cs typeface="Times New Roman" pitchFamily="18" charset="0"/>
              </a:rPr>
              <a:t>start,end</a:t>
            </a:r>
            <a:r>
              <a:rPr lang="en-IN" dirty="0">
                <a:effectLst/>
                <a:latin typeface="Times New Roman" pitchFamily="18" charset="0"/>
                <a:ea typeface="Times New Roman"/>
                <a:cs typeface="Times New Roman" pitchFamily="18" charset="0"/>
              </a:rPr>
              <a:t>);</a:t>
            </a:r>
          </a:p>
          <a:p>
            <a:pPr lvl="0">
              <a:lnSpc>
                <a:spcPct val="115000"/>
              </a:lnSpc>
              <a:spcAft>
                <a:spcPts val="0"/>
              </a:spcAft>
            </a:pPr>
            <a:r>
              <a:rPr lang="en-IN" dirty="0">
                <a:effectLst/>
                <a:latin typeface="Times New Roman" pitchFamily="18" charset="0"/>
                <a:ea typeface="Times New Roman"/>
                <a:cs typeface="Times New Roman" pitchFamily="18" charset="0"/>
              </a:rPr>
              <a:t>temp[end]='\0';</a:t>
            </a:r>
          </a:p>
          <a:p>
            <a:pPr marL="363538" lvl="0">
              <a:lnSpc>
                <a:spcPct val="115000"/>
              </a:lnSpc>
              <a:spcAft>
                <a:spcPts val="0"/>
              </a:spcAft>
            </a:pPr>
            <a:r>
              <a:rPr lang="en-IN" dirty="0" err="1">
                <a:effectLst/>
                <a:latin typeface="Times New Roman" pitchFamily="18" charset="0"/>
                <a:ea typeface="Times New Roman"/>
                <a:cs typeface="Times New Roman" pitchFamily="18" charset="0"/>
              </a:rPr>
              <a:t>printf</a:t>
            </a:r>
            <a:r>
              <a:rPr lang="en-IN" dirty="0">
                <a:effectLst/>
                <a:latin typeface="Times New Roman" pitchFamily="18" charset="0"/>
                <a:ea typeface="Times New Roman"/>
                <a:cs typeface="Times New Roman" pitchFamily="18" charset="0"/>
              </a:rPr>
              <a:t>("entered string  : %s\n ",</a:t>
            </a:r>
            <a:r>
              <a:rPr lang="en-IN" dirty="0" err="1">
                <a:effectLst/>
                <a:latin typeface="Times New Roman" pitchFamily="18" charset="0"/>
                <a:ea typeface="Times New Roman"/>
                <a:cs typeface="Times New Roman" pitchFamily="18" charset="0"/>
              </a:rPr>
              <a:t>argv</a:t>
            </a:r>
            <a:r>
              <a:rPr lang="en-IN" dirty="0">
                <a:effectLst/>
                <a:latin typeface="Times New Roman" pitchFamily="18" charset="0"/>
                <a:ea typeface="Times New Roman"/>
                <a:cs typeface="Times New Roman" pitchFamily="18" charset="0"/>
              </a:rPr>
              <a:t>[1]);</a:t>
            </a:r>
          </a:p>
          <a:p>
            <a:pPr marL="363538" lvl="0">
              <a:lnSpc>
                <a:spcPct val="115000"/>
              </a:lnSpc>
              <a:spcAft>
                <a:spcPts val="0"/>
              </a:spcAft>
            </a:pPr>
            <a:r>
              <a:rPr lang="en-IN" dirty="0" err="1">
                <a:effectLst/>
                <a:latin typeface="Times New Roman" pitchFamily="18" charset="0"/>
                <a:ea typeface="Times New Roman"/>
                <a:cs typeface="Times New Roman" pitchFamily="18" charset="0"/>
              </a:rPr>
              <a:t>printf</a:t>
            </a:r>
            <a:r>
              <a:rPr lang="en-IN" dirty="0">
                <a:effectLst/>
                <a:latin typeface="Times New Roman" pitchFamily="18" charset="0"/>
                <a:ea typeface="Times New Roman"/>
                <a:cs typeface="Times New Roman" pitchFamily="18" charset="0"/>
              </a:rPr>
              <a:t>("\</a:t>
            </a:r>
            <a:r>
              <a:rPr lang="en-IN" dirty="0" err="1">
                <a:effectLst/>
                <a:latin typeface="Times New Roman" pitchFamily="18" charset="0"/>
                <a:ea typeface="Times New Roman"/>
                <a:cs typeface="Times New Roman" pitchFamily="18" charset="0"/>
              </a:rPr>
              <a:t>nsubstring</a:t>
            </a:r>
            <a:r>
              <a:rPr lang="en-IN" dirty="0">
                <a:effectLst/>
                <a:latin typeface="Times New Roman" pitchFamily="18" charset="0"/>
                <a:ea typeface="Times New Roman"/>
                <a:cs typeface="Times New Roman" pitchFamily="18" charset="0"/>
              </a:rPr>
              <a:t> : %s ",temp);</a:t>
            </a:r>
          </a:p>
          <a:p>
            <a:pPr marL="363538" lvl="0">
              <a:lnSpc>
                <a:spcPct val="115000"/>
              </a:lnSpc>
              <a:spcAft>
                <a:spcPts val="0"/>
              </a:spcAft>
            </a:pPr>
            <a:r>
              <a:rPr lang="en-IN" dirty="0">
                <a:effectLst/>
                <a:latin typeface="Times New Roman" pitchFamily="18" charset="0"/>
                <a:ea typeface="Times New Roman"/>
                <a:cs typeface="Times New Roman" pitchFamily="18" charset="0"/>
              </a:rPr>
              <a:t> }</a:t>
            </a:r>
          </a:p>
          <a:p>
            <a:pPr marL="363538" lvl="0">
              <a:lnSpc>
                <a:spcPct val="115000"/>
              </a:lnSpc>
              <a:spcAft>
                <a:spcPts val="0"/>
              </a:spcAft>
            </a:pPr>
            <a:r>
              <a:rPr lang="en-IN" dirty="0">
                <a:effectLst/>
                <a:latin typeface="Times New Roman" pitchFamily="18" charset="0"/>
                <a:ea typeface="Times New Roman"/>
                <a:cs typeface="Times New Roman" pitchFamily="18" charset="0"/>
              </a:rPr>
              <a:t>else</a:t>
            </a:r>
          </a:p>
          <a:p>
            <a:pPr marL="363538" lvl="0">
              <a:lnSpc>
                <a:spcPct val="115000"/>
              </a:lnSpc>
              <a:spcAft>
                <a:spcPts val="0"/>
              </a:spcAft>
            </a:pPr>
            <a:r>
              <a:rPr lang="en-IN" dirty="0" err="1">
                <a:effectLst/>
                <a:latin typeface="Times New Roman" pitchFamily="18" charset="0"/>
                <a:ea typeface="Times New Roman"/>
                <a:cs typeface="Times New Roman" pitchFamily="18" charset="0"/>
              </a:rPr>
              <a:t>printf</a:t>
            </a:r>
            <a:r>
              <a:rPr lang="en-IN" dirty="0">
                <a:effectLst/>
                <a:latin typeface="Times New Roman" pitchFamily="18" charset="0"/>
                <a:ea typeface="Times New Roman"/>
                <a:cs typeface="Times New Roman" pitchFamily="18" charset="0"/>
              </a:rPr>
              <a:t>("incorrect </a:t>
            </a:r>
            <a:r>
              <a:rPr lang="en-IN" dirty="0" err="1">
                <a:effectLst/>
                <a:latin typeface="Times New Roman" pitchFamily="18" charset="0"/>
                <a:ea typeface="Times New Roman"/>
                <a:cs typeface="Times New Roman" pitchFamily="18" charset="0"/>
              </a:rPr>
              <a:t>arrgument</a:t>
            </a:r>
            <a:r>
              <a:rPr lang="en-IN" dirty="0">
                <a:effectLst/>
                <a:latin typeface="Times New Roman" pitchFamily="18" charset="0"/>
                <a:ea typeface="Times New Roman"/>
                <a:cs typeface="Times New Roman" pitchFamily="18" charset="0"/>
              </a:rPr>
              <a:t> ");</a:t>
            </a:r>
          </a:p>
          <a:p>
            <a:pPr marL="363538" lvl="0">
              <a:lnSpc>
                <a:spcPct val="115000"/>
              </a:lnSpc>
              <a:spcAft>
                <a:spcPts val="600"/>
              </a:spcAft>
            </a:pPr>
            <a:r>
              <a:rPr lang="en-IN" dirty="0" err="1">
                <a:effectLst/>
                <a:latin typeface="Times New Roman" pitchFamily="18" charset="0"/>
                <a:ea typeface="Times New Roman"/>
                <a:cs typeface="Times New Roman" pitchFamily="18" charset="0"/>
              </a:rPr>
              <a:t>getch</a:t>
            </a:r>
            <a:r>
              <a:rPr lang="en-IN" dirty="0">
                <a:effectLst/>
                <a:latin typeface="Times New Roman" pitchFamily="18" charset="0"/>
                <a:ea typeface="Times New Roman"/>
                <a:cs typeface="Times New Roman" pitchFamily="18" charset="0"/>
              </a:rPr>
              <a:t>(); </a:t>
            </a:r>
          </a:p>
          <a:p>
            <a:pPr marL="363538" lvl="0">
              <a:lnSpc>
                <a:spcPct val="115000"/>
              </a:lnSpc>
              <a:spcAft>
                <a:spcPts val="600"/>
              </a:spcAft>
            </a:pPr>
            <a:r>
              <a:rPr lang="en-IN" dirty="0" smtClean="0">
                <a:effectLst/>
                <a:latin typeface="Times New Roman" pitchFamily="18" charset="0"/>
                <a:ea typeface="Times New Roman"/>
                <a:cs typeface="Times New Roman" pitchFamily="18" charset="0"/>
              </a:rPr>
              <a:t>}</a:t>
            </a:r>
          </a:p>
          <a:p>
            <a:pPr marL="363538" lvl="0">
              <a:lnSpc>
                <a:spcPct val="115000"/>
              </a:lnSpc>
              <a:spcAft>
                <a:spcPts val="600"/>
              </a:spcAft>
            </a:pPr>
            <a:r>
              <a:rPr lang="en-US" sz="2400" dirty="0" smtClean="0">
                <a:solidFill>
                  <a:srgbClr val="00B0F0"/>
                </a:solidFill>
              </a:rPr>
              <a:t>LOC = LOC counted as 17.</a:t>
            </a:r>
            <a:endParaRPr lang="en-IN" sz="2400" dirty="0">
              <a:solidFill>
                <a:srgbClr val="00B0F0"/>
              </a:solidFill>
              <a:effectLst/>
              <a:latin typeface="Times New Roman" pitchFamily="18" charset="0"/>
              <a:ea typeface="Times New Roman"/>
              <a:cs typeface="Times New Roman" pitchFamily="18" charset="0"/>
            </a:endParaRPr>
          </a:p>
        </p:txBody>
      </p:sp>
      <p:sp>
        <p:nvSpPr>
          <p:cNvPr id="5" name="Slide Number Placeholder 4"/>
          <p:cNvSpPr>
            <a:spLocks noGrp="1"/>
          </p:cNvSpPr>
          <p:nvPr>
            <p:ph type="sldNum" sz="quarter" idx="12"/>
          </p:nvPr>
        </p:nvSpPr>
        <p:spPr/>
        <p:txBody>
          <a:bodyPr/>
          <a:lstStyle/>
          <a:p>
            <a:fld id="{0C087B72-CC60-4FF0-9C96-8509CDF76D05}" type="slidenum">
              <a:rPr lang="en-IN" smtClean="0"/>
              <a:pPr/>
              <a:t>12</a:t>
            </a:fld>
            <a:endParaRPr lang="en-IN" dirty="0"/>
          </a:p>
        </p:txBody>
      </p:sp>
      <p:sp>
        <p:nvSpPr>
          <p:cNvPr id="8" name="Rectangle 7"/>
          <p:cNvSpPr/>
          <p:nvPr/>
        </p:nvSpPr>
        <p:spPr>
          <a:xfrm>
            <a:off x="467544" y="1196752"/>
            <a:ext cx="7890670" cy="1046440"/>
          </a:xfrm>
          <a:prstGeom prst="rect">
            <a:avLst/>
          </a:prstGeom>
        </p:spPr>
        <p:txBody>
          <a:bodyPr wrap="square" lIns="0" tIns="0" rIns="0" bIns="0">
            <a:spAutoFit/>
          </a:bodyPr>
          <a:lstStyle/>
          <a:p>
            <a:pPr marL="711200" lvl="0" indent="-174625"/>
            <a:r>
              <a:rPr lang="en-IN" sz="2400" b="1" dirty="0" smtClean="0">
                <a:solidFill>
                  <a:srgbClr val="00B0F0"/>
                </a:solidFill>
                <a:latin typeface="Times New Roman" pitchFamily="18" charset="0"/>
                <a:cs typeface="Times New Roman" pitchFamily="18" charset="0"/>
              </a:rPr>
              <a:t>Example of LOC</a:t>
            </a:r>
          </a:p>
          <a:p>
            <a:pPr marL="711200" lvl="0" indent="-174625"/>
            <a:r>
              <a:rPr lang="en-IN" sz="2000" b="1" dirty="0" smtClean="0">
                <a:latin typeface="Times New Roman" pitchFamily="18" charset="0"/>
                <a:ea typeface="Times New Roman"/>
                <a:cs typeface="Times New Roman" pitchFamily="18" charset="0"/>
              </a:rPr>
              <a:t>/* This program finds a substring in</a:t>
            </a:r>
            <a:r>
              <a:rPr lang="en-IN" sz="2000" b="1" dirty="0" smtClean="0">
                <a:solidFill>
                  <a:srgbClr val="008080"/>
                </a:solidFill>
                <a:latin typeface="Times New Roman" pitchFamily="18" charset="0"/>
                <a:ea typeface="Times New Roman"/>
                <a:cs typeface="Times New Roman" pitchFamily="18" charset="0"/>
              </a:rPr>
              <a:t> </a:t>
            </a:r>
            <a:r>
              <a:rPr lang="en-IN" sz="2000" b="1" dirty="0" smtClean="0">
                <a:latin typeface="Times New Roman" pitchFamily="18" charset="0"/>
                <a:ea typeface="Times New Roman"/>
                <a:cs typeface="Times New Roman" pitchFamily="18" charset="0"/>
              </a:rPr>
              <a:t>a given string */</a:t>
            </a:r>
          </a:p>
          <a:p>
            <a:pPr marL="711200" indent="-174625">
              <a:buNone/>
            </a:pPr>
            <a:r>
              <a:rPr lang="en-IN" sz="2400" dirty="0" smtClean="0">
                <a:solidFill>
                  <a:srgbClr val="00B0F0"/>
                </a:solidFill>
                <a:latin typeface="Times New Roman" pitchFamily="18" charset="0"/>
                <a:cs typeface="Times New Roman" pitchFamily="18" charset="0"/>
              </a:rPr>
              <a:t> </a:t>
            </a:r>
          </a:p>
        </p:txBody>
      </p:sp>
    </p:spTree>
    <p:extLst>
      <p:ext uri="{BB962C8B-B14F-4D97-AF65-F5344CB8AC3E}">
        <p14:creationId xmlns:p14="http://schemas.microsoft.com/office/powerpoint/2010/main" val="84388936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p:txBody>
          <a:bodyPr>
            <a:normAutofit fontScale="92500"/>
          </a:bodyPr>
          <a:lstStyle/>
          <a:p>
            <a:pPr marL="711200" indent="-174625" algn="just">
              <a:buNone/>
            </a:pPr>
            <a:r>
              <a:rPr lang="en-IN" sz="2600" dirty="0">
                <a:solidFill>
                  <a:srgbClr val="00B0F0"/>
                </a:solidFill>
                <a:latin typeface="Times New Roman" pitchFamily="18" charset="0"/>
                <a:cs typeface="Times New Roman" pitchFamily="18" charset="0"/>
              </a:rPr>
              <a:t>Lines of Code </a:t>
            </a:r>
            <a:r>
              <a:rPr lang="en-IN" sz="2600" dirty="0" smtClean="0">
                <a:solidFill>
                  <a:srgbClr val="00B0F0"/>
                </a:solidFill>
                <a:latin typeface="Times New Roman" pitchFamily="18" charset="0"/>
                <a:cs typeface="Times New Roman" pitchFamily="18" charset="0"/>
              </a:rPr>
              <a:t>: Disadvantages</a:t>
            </a:r>
          </a:p>
          <a:p>
            <a:pPr lvl="1" algn="just"/>
            <a:r>
              <a:rPr lang="en-IN" sz="2400" dirty="0">
                <a:latin typeface="Times New Roman" pitchFamily="18" charset="0"/>
                <a:cs typeface="Times New Roman" pitchFamily="18" charset="0"/>
              </a:rPr>
              <a:t>The value of LOC measurement varies with the programmer, programming language, and the project complexity. </a:t>
            </a:r>
            <a:endParaRPr lang="en-IN" sz="2400" dirty="0" smtClean="0">
              <a:latin typeface="Times New Roman" pitchFamily="18" charset="0"/>
              <a:cs typeface="Times New Roman" pitchFamily="18" charset="0"/>
            </a:endParaRPr>
          </a:p>
          <a:p>
            <a:pPr lvl="1" algn="just"/>
            <a:r>
              <a:rPr lang="en-IN" sz="2400" dirty="0">
                <a:latin typeface="Times New Roman" pitchFamily="18" charset="0"/>
                <a:cs typeface="Times New Roman" pitchFamily="18" charset="0"/>
              </a:rPr>
              <a:t>Every programmer has different technical skills, programming styles, and logical ability. Therefore, the LOC value may differ during estimation. </a:t>
            </a:r>
            <a:endParaRPr lang="en-IN" sz="2400" dirty="0" smtClean="0">
              <a:latin typeface="Times New Roman" pitchFamily="18" charset="0"/>
              <a:cs typeface="Times New Roman" pitchFamily="18" charset="0"/>
            </a:endParaRPr>
          </a:p>
          <a:p>
            <a:pPr lvl="1" algn="just"/>
            <a:r>
              <a:rPr lang="en-IN" sz="2400" dirty="0">
                <a:latin typeface="Times New Roman" pitchFamily="18" charset="0"/>
                <a:cs typeface="Times New Roman" pitchFamily="18" charset="0"/>
              </a:rPr>
              <a:t>Different programming languages have their different programming techniques. The actual number of the source lines may vary in programs. </a:t>
            </a:r>
            <a:endParaRPr lang="en-IN" sz="2400" dirty="0" smtClean="0">
              <a:latin typeface="Times New Roman" pitchFamily="18" charset="0"/>
              <a:cs typeface="Times New Roman" pitchFamily="18" charset="0"/>
            </a:endParaRPr>
          </a:p>
          <a:p>
            <a:pPr lvl="1" algn="just"/>
            <a:r>
              <a:rPr lang="en-IN" sz="2400" dirty="0">
                <a:latin typeface="Times New Roman" pitchFamily="18" charset="0"/>
                <a:cs typeface="Times New Roman" pitchFamily="18" charset="0"/>
              </a:rPr>
              <a:t>LOC only considers the source code. But some projects are highly complex and they need much effort at the design and analysis phases. </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13</a:t>
            </a:fld>
            <a:endParaRPr lang="en-IN"/>
          </a:p>
        </p:txBody>
      </p:sp>
    </p:spTree>
    <p:extLst>
      <p:ext uri="{BB962C8B-B14F-4D97-AF65-F5344CB8AC3E}">
        <p14:creationId xmlns:p14="http://schemas.microsoft.com/office/powerpoint/2010/main" val="317459915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p:txBody>
          <a:bodyPr>
            <a:normAutofit/>
          </a:bodyPr>
          <a:lstStyle/>
          <a:p>
            <a:pPr marL="711200" indent="-174625" algn="just">
              <a:buNone/>
            </a:pPr>
            <a:r>
              <a:rPr lang="en-IN" sz="2400" dirty="0">
                <a:solidFill>
                  <a:srgbClr val="00B0F0"/>
                </a:solidFill>
                <a:latin typeface="Times New Roman" pitchFamily="18" charset="0"/>
                <a:cs typeface="Times New Roman" pitchFamily="18" charset="0"/>
              </a:rPr>
              <a:t>Lines of Code </a:t>
            </a:r>
            <a:r>
              <a:rPr lang="en-IN" sz="2400" dirty="0" smtClean="0">
                <a:solidFill>
                  <a:srgbClr val="00B0F0"/>
                </a:solidFill>
                <a:latin typeface="Times New Roman" pitchFamily="18" charset="0"/>
                <a:cs typeface="Times New Roman" pitchFamily="18" charset="0"/>
              </a:rPr>
              <a:t>: Disadvantages</a:t>
            </a:r>
          </a:p>
          <a:p>
            <a:pPr lvl="1" algn="just"/>
            <a:r>
              <a:rPr lang="en-IN" sz="2400" dirty="0">
                <a:latin typeface="Times New Roman" pitchFamily="18" charset="0"/>
                <a:cs typeface="Times New Roman" pitchFamily="18" charset="0"/>
              </a:rPr>
              <a:t>LOC is not suitable for component or reuse- based programming technologies where the components are considered as the unit of measurement. </a:t>
            </a:r>
            <a:endParaRPr lang="en-IN" sz="2400" dirty="0" smtClean="0">
              <a:latin typeface="Times New Roman" pitchFamily="18" charset="0"/>
              <a:cs typeface="Times New Roman" pitchFamily="18" charset="0"/>
            </a:endParaRPr>
          </a:p>
          <a:p>
            <a:pPr lvl="1" algn="just"/>
            <a:r>
              <a:rPr lang="en-IN" sz="2400" dirty="0">
                <a:latin typeface="Times New Roman" pitchFamily="18" charset="0"/>
                <a:cs typeface="Times New Roman" pitchFamily="18" charset="0"/>
              </a:rPr>
              <a:t>Also, it is very difficult to accurately estimate the project size from the requirement specification or project nature</a:t>
            </a:r>
            <a:r>
              <a:rPr lang="en-IN" sz="2400" dirty="0" smtClean="0">
                <a:latin typeface="Times New Roman" pitchFamily="18" charset="0"/>
                <a:cs typeface="Times New Roman" pitchFamily="18" charset="0"/>
              </a:rPr>
              <a:t>.</a:t>
            </a:r>
          </a:p>
          <a:p>
            <a:pPr lvl="1" algn="just"/>
            <a:r>
              <a:rPr lang="en-IN" sz="2400" dirty="0">
                <a:latin typeface="Times New Roman" pitchFamily="18" charset="0"/>
                <a:cs typeface="Times New Roman" pitchFamily="18" charset="0"/>
              </a:rPr>
              <a:t>There is a lack of standard tools for counting the source lines. </a:t>
            </a:r>
            <a:endParaRPr lang="en-IN" sz="2400" dirty="0" smtClean="0">
              <a:latin typeface="Times New Roman" pitchFamily="18" charset="0"/>
              <a:cs typeface="Times New Roman" pitchFamily="18" charset="0"/>
            </a:endParaRPr>
          </a:p>
          <a:p>
            <a:pPr lvl="1"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quality of code is the main focus for quality software, which is poorly considered during size measurement. </a:t>
            </a:r>
          </a:p>
          <a:p>
            <a:pPr lvl="1" algn="just"/>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14</a:t>
            </a:fld>
            <a:endParaRPr lang="en-IN"/>
          </a:p>
        </p:txBody>
      </p:sp>
    </p:spTree>
    <p:extLst>
      <p:ext uri="{BB962C8B-B14F-4D97-AF65-F5344CB8AC3E}">
        <p14:creationId xmlns:p14="http://schemas.microsoft.com/office/powerpoint/2010/main" val="178586592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a:xfrm>
            <a:off x="457200" y="1600200"/>
            <a:ext cx="8229600" cy="4853136"/>
          </a:xfrm>
        </p:spPr>
        <p:txBody>
          <a:bodyPr>
            <a:normAutofit fontScale="92500"/>
          </a:bodyPr>
          <a:lstStyle/>
          <a:p>
            <a:pPr marL="711200" indent="-174625" algn="just">
              <a:buNone/>
            </a:pPr>
            <a:r>
              <a:rPr lang="en-IN" sz="2600" dirty="0" smtClean="0">
                <a:solidFill>
                  <a:srgbClr val="00B0F0"/>
                </a:solidFill>
                <a:latin typeface="Times New Roman" pitchFamily="18" charset="0"/>
                <a:cs typeface="Times New Roman" pitchFamily="18" charset="0"/>
              </a:rPr>
              <a:t>Function Point Analysis </a:t>
            </a:r>
          </a:p>
          <a:p>
            <a:pPr lvl="1" algn="just"/>
            <a:r>
              <a:rPr lang="en-IN" sz="2400" dirty="0">
                <a:latin typeface="Times New Roman" pitchFamily="18" charset="0"/>
                <a:cs typeface="Times New Roman" pitchFamily="18" charset="0"/>
              </a:rPr>
              <a:t>To overcome the limitations of the LOC-based measurement, </a:t>
            </a:r>
            <a:r>
              <a:rPr lang="en-IN" sz="2400" dirty="0">
                <a:solidFill>
                  <a:srgbClr val="00B0F0"/>
                </a:solidFill>
                <a:latin typeface="Times New Roman" pitchFamily="18" charset="0"/>
                <a:cs typeface="Times New Roman" pitchFamily="18" charset="0"/>
              </a:rPr>
              <a:t>Alan Albrecht </a:t>
            </a:r>
            <a:r>
              <a:rPr lang="en-IN" sz="2400" dirty="0">
                <a:latin typeface="Times New Roman" pitchFamily="18" charset="0"/>
                <a:cs typeface="Times New Roman" pitchFamily="18" charset="0"/>
              </a:rPr>
              <a:t>proposed another size estimation technique called the function point (FP) </a:t>
            </a:r>
            <a:r>
              <a:rPr lang="en-IN" sz="2400" dirty="0" smtClean="0">
                <a:latin typeface="Times New Roman" pitchFamily="18" charset="0"/>
                <a:cs typeface="Times New Roman" pitchFamily="18" charset="0"/>
              </a:rPr>
              <a:t>analysis.</a:t>
            </a:r>
          </a:p>
          <a:p>
            <a:pPr lvl="1"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size of the project is estimated on the basis of functions or services requested by the customer in the requirement specification</a:t>
            </a:r>
            <a:r>
              <a:rPr lang="en-IN" sz="2400" dirty="0" smtClean="0">
                <a:latin typeface="Times New Roman" pitchFamily="18" charset="0"/>
                <a:cs typeface="Times New Roman" pitchFamily="18" charset="0"/>
              </a:rPr>
              <a:t>.</a:t>
            </a:r>
          </a:p>
          <a:p>
            <a:pPr lvl="1" algn="just"/>
            <a:r>
              <a:rPr lang="en-IN" sz="2400" dirty="0">
                <a:latin typeface="Times New Roman" pitchFamily="18" charset="0"/>
                <a:cs typeface="Times New Roman" pitchFamily="18" charset="0"/>
              </a:rPr>
              <a:t>It is a structured technique that decomposes systems down into smaller components so that they can be better understood and </a:t>
            </a:r>
            <a:r>
              <a:rPr lang="en-IN" sz="2400" dirty="0" smtClean="0">
                <a:latin typeface="Times New Roman" pitchFamily="18" charset="0"/>
                <a:cs typeface="Times New Roman" pitchFamily="18" charset="0"/>
              </a:rPr>
              <a:t>analysed. </a:t>
            </a:r>
            <a:endParaRPr lang="en-IN" sz="2400" dirty="0">
              <a:latin typeface="Times New Roman" pitchFamily="18" charset="0"/>
              <a:cs typeface="Times New Roman" pitchFamily="18" charset="0"/>
            </a:endParaRPr>
          </a:p>
          <a:p>
            <a:pPr lvl="1" algn="just"/>
            <a:r>
              <a:rPr lang="en-IN" sz="2400" dirty="0">
                <a:latin typeface="Times New Roman" pitchFamily="18" charset="0"/>
                <a:cs typeface="Times New Roman" pitchFamily="18" charset="0"/>
              </a:rPr>
              <a:t>It relies on the product features delivered to the customer. </a:t>
            </a:r>
          </a:p>
          <a:p>
            <a:pPr lvl="1" algn="just"/>
            <a:r>
              <a:rPr lang="en-IN" sz="2400" dirty="0">
                <a:latin typeface="Times New Roman" pitchFamily="18" charset="0"/>
                <a:cs typeface="Times New Roman" pitchFamily="18" charset="0"/>
              </a:rPr>
              <a:t>The actual number of function points can be verified at the end of each stage of a project. </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15</a:t>
            </a:fld>
            <a:endParaRPr lang="en-IN"/>
          </a:p>
        </p:txBody>
      </p:sp>
    </p:spTree>
    <p:extLst>
      <p:ext uri="{BB962C8B-B14F-4D97-AF65-F5344CB8AC3E}">
        <p14:creationId xmlns:p14="http://schemas.microsoft.com/office/powerpoint/2010/main" val="428779398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2346" y="-18132"/>
            <a:ext cx="8229600" cy="796908"/>
          </a:xfrm>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a:xfrm>
            <a:off x="471694" y="767695"/>
            <a:ext cx="8229600" cy="4637112"/>
          </a:xfrm>
        </p:spPr>
        <p:txBody>
          <a:bodyPr>
            <a:noAutofit/>
          </a:bodyPr>
          <a:lstStyle/>
          <a:p>
            <a:pPr marL="711200" indent="-174625" algn="just">
              <a:buNone/>
            </a:pPr>
            <a:r>
              <a:rPr lang="en-IN" sz="2200" dirty="0">
                <a:solidFill>
                  <a:srgbClr val="00B0F0"/>
                </a:solidFill>
                <a:latin typeface="Times New Roman" pitchFamily="18" charset="0"/>
                <a:cs typeface="Times New Roman" pitchFamily="18" charset="0"/>
              </a:rPr>
              <a:t>Function Point </a:t>
            </a:r>
            <a:r>
              <a:rPr lang="en-IN" sz="2200" dirty="0" smtClean="0">
                <a:solidFill>
                  <a:srgbClr val="00B0F0"/>
                </a:solidFill>
                <a:latin typeface="Times New Roman" pitchFamily="18" charset="0"/>
                <a:cs typeface="Times New Roman" pitchFamily="18" charset="0"/>
              </a:rPr>
              <a:t>Analysis</a:t>
            </a:r>
          </a:p>
          <a:p>
            <a:pPr marL="711200" indent="-174625" algn="just">
              <a:buNone/>
            </a:pPr>
            <a:r>
              <a:rPr lang="en-GB" sz="2200" dirty="0" smtClean="0">
                <a:latin typeface="Times New Roman" pitchFamily="18" charset="0"/>
                <a:cs typeface="Times New Roman" pitchFamily="18" charset="0"/>
              </a:rPr>
              <a:t>- Function </a:t>
            </a:r>
            <a:r>
              <a:rPr lang="en-GB" sz="2200" dirty="0">
                <a:latin typeface="Times New Roman" pitchFamily="18" charset="0"/>
                <a:cs typeface="Times New Roman" pitchFamily="18" charset="0"/>
              </a:rPr>
              <a:t>Point (FP) based estimation is a software estimation technique used to measure the functional size of software based on the functionality provided to the user, rather than the number of lines of code.</a:t>
            </a:r>
            <a:r>
              <a:rPr lang="en-IN" sz="2200" dirty="0">
                <a:latin typeface="Times New Roman" pitchFamily="18" charset="0"/>
                <a:cs typeface="Times New Roman" pitchFamily="18" charset="0"/>
              </a:rPr>
              <a:t> </a:t>
            </a:r>
          </a:p>
          <a:p>
            <a:pPr lvl="1" algn="just"/>
            <a:r>
              <a:rPr lang="en-IN" sz="2200" dirty="0" smtClean="0">
                <a:latin typeface="Times New Roman" pitchFamily="18" charset="0"/>
                <a:cs typeface="Times New Roman" pitchFamily="18" charset="0"/>
              </a:rPr>
              <a:t>FP-based </a:t>
            </a:r>
            <a:r>
              <a:rPr lang="en-IN" sz="2200" dirty="0">
                <a:latin typeface="Times New Roman" pitchFamily="18" charset="0"/>
                <a:cs typeface="Times New Roman" pitchFamily="18" charset="0"/>
              </a:rPr>
              <a:t>estimations are based on the following five information domain values and their complexities in a particular project</a:t>
            </a:r>
            <a:r>
              <a:rPr lang="en-IN" sz="2200" dirty="0" smtClean="0">
                <a:latin typeface="Times New Roman" pitchFamily="18" charset="0"/>
                <a:cs typeface="Times New Roman" pitchFamily="18" charset="0"/>
              </a:rPr>
              <a:t>.</a:t>
            </a:r>
            <a:r>
              <a:rPr lang="en-IN" sz="2200" dirty="0">
                <a:latin typeface="Times New Roman" pitchFamily="18" charset="0"/>
                <a:cs typeface="Times New Roman" pitchFamily="18" charset="0"/>
              </a:rPr>
              <a:t> </a:t>
            </a:r>
            <a:endParaRPr lang="en-IN" sz="2200" dirty="0" smtClean="0">
              <a:latin typeface="Times New Roman" pitchFamily="18" charset="0"/>
              <a:cs typeface="Times New Roman" pitchFamily="18" charset="0"/>
            </a:endParaRPr>
          </a:p>
          <a:p>
            <a:pPr lvl="2" algn="just">
              <a:buFont typeface="Wingdings" pitchFamily="2" charset="2"/>
              <a:buChar char="§"/>
            </a:pPr>
            <a:r>
              <a:rPr lang="en-IN" sz="2200" dirty="0">
                <a:latin typeface="Times New Roman" pitchFamily="18" charset="0"/>
                <a:cs typeface="Times New Roman" pitchFamily="18" charset="0"/>
              </a:rPr>
              <a:t>Number of inputs</a:t>
            </a:r>
          </a:p>
          <a:p>
            <a:pPr lvl="2" algn="just">
              <a:buFont typeface="Wingdings" pitchFamily="2" charset="2"/>
              <a:buChar char="§"/>
            </a:pPr>
            <a:r>
              <a:rPr lang="en-IN" sz="2200" dirty="0">
                <a:latin typeface="Times New Roman" pitchFamily="18" charset="0"/>
                <a:cs typeface="Times New Roman" pitchFamily="18" charset="0"/>
              </a:rPr>
              <a:t>Number of outputs</a:t>
            </a:r>
          </a:p>
          <a:p>
            <a:pPr lvl="2" algn="just">
              <a:buFont typeface="Wingdings" pitchFamily="2" charset="2"/>
              <a:buChar char="§"/>
            </a:pPr>
            <a:r>
              <a:rPr lang="en-IN" sz="2200" dirty="0">
                <a:latin typeface="Times New Roman" pitchFamily="18" charset="0"/>
                <a:cs typeface="Times New Roman" pitchFamily="18" charset="0"/>
              </a:rPr>
              <a:t>Number of inquiries</a:t>
            </a:r>
          </a:p>
          <a:p>
            <a:pPr lvl="2" algn="just">
              <a:buFont typeface="Wingdings" pitchFamily="2" charset="2"/>
              <a:buChar char="§"/>
            </a:pPr>
            <a:r>
              <a:rPr lang="en-IN" sz="2200" dirty="0">
                <a:latin typeface="Times New Roman" pitchFamily="18" charset="0"/>
                <a:cs typeface="Times New Roman" pitchFamily="18" charset="0"/>
              </a:rPr>
              <a:t>Number of </a:t>
            </a:r>
            <a:r>
              <a:rPr lang="en-IN" sz="2200" dirty="0" smtClean="0">
                <a:latin typeface="Times New Roman" pitchFamily="18" charset="0"/>
                <a:cs typeface="Times New Roman" pitchFamily="18" charset="0"/>
              </a:rPr>
              <a:t>logical </a:t>
            </a:r>
            <a:r>
              <a:rPr lang="en-IN" sz="2200" dirty="0">
                <a:latin typeface="Times New Roman" pitchFamily="18" charset="0"/>
                <a:cs typeface="Times New Roman" pitchFamily="18" charset="0"/>
              </a:rPr>
              <a:t>files</a:t>
            </a:r>
          </a:p>
          <a:p>
            <a:pPr lvl="2" algn="just">
              <a:buFont typeface="Wingdings" pitchFamily="2" charset="2"/>
              <a:buChar char="§"/>
            </a:pPr>
            <a:r>
              <a:rPr lang="en-IN" sz="2200" dirty="0">
                <a:latin typeface="Times New Roman" pitchFamily="18" charset="0"/>
                <a:cs typeface="Times New Roman" pitchFamily="18" charset="0"/>
              </a:rPr>
              <a:t>Number of external interfaces</a:t>
            </a: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value of each of these five information domains is collected and a subjective evaluation is performed to categorize them as simple, average, and complex.</a:t>
            </a:r>
          </a:p>
          <a:p>
            <a:pPr lvl="1" algn="just"/>
            <a:endParaRPr lang="en-IN" sz="2200" dirty="0" smtClean="0">
              <a:latin typeface="Times New Roman" pitchFamily="18" charset="0"/>
              <a:cs typeface="Times New Roman" pitchFamily="18" charset="0"/>
            </a:endParaRPr>
          </a:p>
          <a:p>
            <a:pPr lvl="2" algn="just">
              <a:buFont typeface="Wingdings" pitchFamily="2" charset="2"/>
              <a:buChar char="§"/>
            </a:pPr>
            <a:endParaRPr lang="en-IN" sz="2200" dirty="0" smtClean="0">
              <a:latin typeface="Times New Roman" pitchFamily="18" charset="0"/>
              <a:cs typeface="Times New Roman" pitchFamily="18" charset="0"/>
            </a:endParaRPr>
          </a:p>
          <a:p>
            <a:pPr marL="457200" lvl="1" indent="0" algn="just">
              <a:buNone/>
            </a:pPr>
            <a:r>
              <a:rPr lang="en-IN" sz="2200" dirty="0" smtClean="0">
                <a:latin typeface="Times New Roman" pitchFamily="18" charset="0"/>
                <a:cs typeface="Times New Roman" pitchFamily="18" charset="0"/>
              </a:rPr>
              <a:t> </a:t>
            </a:r>
            <a:endParaRPr lang="en-IN" sz="2200" dirty="0">
              <a:latin typeface="Times New Roman" pitchFamily="18" charset="0"/>
              <a:cs typeface="Times New Roman" pitchFamily="18" charset="0"/>
            </a:endParaRPr>
          </a:p>
          <a:p>
            <a:pPr lvl="1" algn="just"/>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16</a:t>
            </a:fld>
            <a:endParaRPr lang="en-IN"/>
          </a:p>
        </p:txBody>
      </p:sp>
    </p:spTree>
    <p:extLst>
      <p:ext uri="{BB962C8B-B14F-4D97-AF65-F5344CB8AC3E}">
        <p14:creationId xmlns:p14="http://schemas.microsoft.com/office/powerpoint/2010/main" val="42877939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pPr>
              <a:defRPr/>
            </a:pPr>
            <a:r>
              <a:rPr lang="en-US"/>
              <a:t>Information System Design</a:t>
            </a:r>
          </a:p>
        </p:txBody>
      </p:sp>
      <p:sp>
        <p:nvSpPr>
          <p:cNvPr id="32771" name="Rectangle 2"/>
          <p:cNvSpPr>
            <a:spLocks noGrp="1" noChangeArrowheads="1"/>
          </p:cNvSpPr>
          <p:nvPr>
            <p:ph type="title"/>
          </p:nvPr>
        </p:nvSpPr>
        <p:spPr>
          <a:xfrm>
            <a:off x="457200" y="274638"/>
            <a:ext cx="8229600" cy="792162"/>
          </a:xfrm>
        </p:spPr>
        <p:txBody>
          <a:bodyPr>
            <a:normAutofit fontScale="90000"/>
          </a:bodyPr>
          <a:lstStyle/>
          <a:p>
            <a:pPr eaLnBrk="1" hangingPunct="1"/>
            <a:r>
              <a:rPr lang="en-US" altLang="en-US" sz="3200" b="1" dirty="0" smtClean="0">
                <a:solidFill>
                  <a:srgbClr val="0000CC"/>
                </a:solidFill>
                <a:latin typeface="Times New Roman" panose="02020603050405020304" pitchFamily="18" charset="0"/>
              </a:rPr>
              <a:t>Function oriented metrics (FP)</a:t>
            </a:r>
            <a:br>
              <a:rPr lang="en-US" altLang="en-US" sz="3200" b="1" dirty="0" smtClean="0">
                <a:solidFill>
                  <a:srgbClr val="0000CC"/>
                </a:solidFill>
                <a:latin typeface="Times New Roman" panose="02020603050405020304" pitchFamily="18" charset="0"/>
              </a:rPr>
            </a:br>
            <a:endParaRPr lang="en-US" altLang="en-US" sz="3200" b="1" dirty="0" smtClean="0">
              <a:solidFill>
                <a:srgbClr val="0000CC"/>
              </a:solidFill>
              <a:latin typeface="Times New Roman" panose="02020603050405020304" pitchFamily="18" charset="0"/>
            </a:endParaRPr>
          </a:p>
        </p:txBody>
      </p:sp>
      <p:sp>
        <p:nvSpPr>
          <p:cNvPr id="32772" name="Rectangle 3"/>
          <p:cNvSpPr>
            <a:spLocks noGrp="1" noChangeArrowheads="1"/>
          </p:cNvSpPr>
          <p:nvPr>
            <p:ph type="body" idx="1"/>
          </p:nvPr>
        </p:nvSpPr>
        <p:spPr>
          <a:xfrm>
            <a:off x="457200" y="914400"/>
            <a:ext cx="8229600" cy="4648200"/>
          </a:xfrm>
        </p:spPr>
        <p:txBody>
          <a:bodyPr/>
          <a:lstStyle/>
          <a:p>
            <a:pPr algn="just" eaLnBrk="1" hangingPunct="1">
              <a:lnSpc>
                <a:spcPct val="80000"/>
              </a:lnSpc>
            </a:pPr>
            <a:r>
              <a:rPr lang="en-US" altLang="en-US" sz="2400" dirty="0" smtClean="0">
                <a:latin typeface="Times New Roman" panose="02020603050405020304" pitchFamily="18" charset="0"/>
              </a:rPr>
              <a:t>The idea behind FP metric is that the size of a software product is directly dependent on the number of different functions or features it supports.</a:t>
            </a:r>
          </a:p>
          <a:p>
            <a:pPr algn="just" eaLnBrk="1" hangingPunct="1">
              <a:lnSpc>
                <a:spcPct val="80000"/>
              </a:lnSpc>
            </a:pPr>
            <a:r>
              <a:rPr lang="en-US" altLang="en-US" sz="2400" dirty="0" smtClean="0">
                <a:latin typeface="Times New Roman" panose="02020603050405020304" pitchFamily="18" charset="0"/>
              </a:rPr>
              <a:t>They are derived using an empirical relationship based on countable measures of software’s information domain and assessment of complexity.</a:t>
            </a:r>
          </a:p>
          <a:p>
            <a:pPr algn="just">
              <a:lnSpc>
                <a:spcPct val="80000"/>
              </a:lnSpc>
            </a:pPr>
            <a:r>
              <a:rPr lang="en-US" altLang="en-US" sz="2400" dirty="0" smtClean="0">
                <a:latin typeface="Times New Roman" panose="02020603050405020304" pitchFamily="18" charset="0"/>
              </a:rPr>
              <a:t>FP is computed based on </a:t>
            </a:r>
            <a:r>
              <a:rPr lang="en-US" altLang="en-US" sz="2400" dirty="0">
                <a:latin typeface="Times New Roman" panose="02020603050405020304" pitchFamily="18" charset="0"/>
              </a:rPr>
              <a:t>following </a:t>
            </a:r>
            <a:r>
              <a:rPr lang="en-US" altLang="en-US" sz="2400" dirty="0" smtClean="0">
                <a:latin typeface="Times New Roman" panose="02020603050405020304" pitchFamily="18" charset="0"/>
              </a:rPr>
              <a:t>5 information domain characteristics:</a:t>
            </a:r>
          </a:p>
          <a:p>
            <a:pPr lvl="1" algn="just" eaLnBrk="1" hangingPunct="1">
              <a:lnSpc>
                <a:spcPct val="80000"/>
              </a:lnSpc>
            </a:pPr>
            <a:r>
              <a:rPr lang="en-US" altLang="en-US" sz="2400" dirty="0" smtClean="0">
                <a:solidFill>
                  <a:srgbClr val="FF0000"/>
                </a:solidFill>
                <a:latin typeface="Times New Roman" panose="02020603050405020304" pitchFamily="18" charset="0"/>
              </a:rPr>
              <a:t>Number of user inputs</a:t>
            </a:r>
          </a:p>
          <a:p>
            <a:pPr lvl="1" algn="just" eaLnBrk="1" hangingPunct="1">
              <a:lnSpc>
                <a:spcPct val="80000"/>
              </a:lnSpc>
            </a:pPr>
            <a:r>
              <a:rPr lang="en-US" altLang="en-US" sz="2400" dirty="0" smtClean="0">
                <a:solidFill>
                  <a:srgbClr val="FF0000"/>
                </a:solidFill>
                <a:latin typeface="Times New Roman" panose="02020603050405020304" pitchFamily="18" charset="0"/>
              </a:rPr>
              <a:t>Number of user outputs</a:t>
            </a:r>
          </a:p>
          <a:p>
            <a:pPr lvl="1" algn="just" eaLnBrk="1" hangingPunct="1">
              <a:lnSpc>
                <a:spcPct val="80000"/>
              </a:lnSpc>
            </a:pPr>
            <a:r>
              <a:rPr lang="en-US" altLang="en-US" sz="2400" dirty="0" smtClean="0">
                <a:solidFill>
                  <a:srgbClr val="FF0000"/>
                </a:solidFill>
                <a:latin typeface="Times New Roman" panose="02020603050405020304" pitchFamily="18" charset="0"/>
              </a:rPr>
              <a:t>Number of user inquiries</a:t>
            </a:r>
          </a:p>
          <a:p>
            <a:pPr lvl="1" algn="just" eaLnBrk="1" hangingPunct="1">
              <a:lnSpc>
                <a:spcPct val="80000"/>
              </a:lnSpc>
            </a:pPr>
            <a:r>
              <a:rPr lang="en-US" altLang="en-US" sz="2400" dirty="0" smtClean="0">
                <a:solidFill>
                  <a:srgbClr val="FF0000"/>
                </a:solidFill>
                <a:latin typeface="Times New Roman" panose="02020603050405020304" pitchFamily="18" charset="0"/>
              </a:rPr>
              <a:t>Number of files</a:t>
            </a:r>
          </a:p>
          <a:p>
            <a:pPr lvl="1" algn="just" eaLnBrk="1" hangingPunct="1">
              <a:lnSpc>
                <a:spcPct val="80000"/>
              </a:lnSpc>
            </a:pPr>
            <a:r>
              <a:rPr lang="en-US" altLang="en-US" sz="2400" dirty="0" smtClean="0">
                <a:solidFill>
                  <a:srgbClr val="FF0000"/>
                </a:solidFill>
                <a:latin typeface="Times New Roman" panose="02020603050405020304" pitchFamily="18" charset="0"/>
              </a:rPr>
              <a:t>Number of external interfaces</a:t>
            </a:r>
          </a:p>
          <a:p>
            <a:pPr lvl="1" algn="just" eaLnBrk="1" hangingPunct="1">
              <a:lnSpc>
                <a:spcPct val="80000"/>
              </a:lnSpc>
              <a:buFontTx/>
              <a:buNone/>
            </a:pPr>
            <a:endParaRPr lang="en-US" altLang="en-US" sz="2400" dirty="0" smtClean="0">
              <a:solidFill>
                <a:schemeClr val="accent2"/>
              </a:solidFill>
              <a:latin typeface="Times New Roman" panose="02020603050405020304" pitchFamily="18" charset="0"/>
            </a:endParaRPr>
          </a:p>
          <a:p>
            <a:pPr marL="0" indent="0" algn="just" eaLnBrk="1" hangingPunct="1">
              <a:lnSpc>
                <a:spcPct val="80000"/>
              </a:lnSpc>
              <a:buNone/>
            </a:pPr>
            <a:endParaRPr lang="en-US" altLang="en-US" sz="2400" dirty="0" smtClean="0">
              <a:latin typeface="Times New Roman" panose="02020603050405020304" pitchFamily="18" charset="0"/>
            </a:endParaRPr>
          </a:p>
        </p:txBody>
      </p:sp>
      <p:sp>
        <p:nvSpPr>
          <p:cNvPr id="32773"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0702A084-ABAD-454D-8996-525390603DA3}" type="slidenum">
              <a:rPr lang="en-US" altLang="en-US" sz="1400" smtClean="0"/>
              <a:pPr>
                <a:spcBef>
                  <a:spcPct val="0"/>
                </a:spcBef>
                <a:buFontTx/>
                <a:buNone/>
              </a:pPr>
              <a:t>17</a:t>
            </a:fld>
            <a:endParaRPr lang="en-US" altLang="en-US" sz="1400" smtClean="0"/>
          </a:p>
        </p:txBody>
      </p:sp>
    </p:spTree>
    <p:extLst>
      <p:ext uri="{BB962C8B-B14F-4D97-AF65-F5344CB8AC3E}">
        <p14:creationId xmlns:p14="http://schemas.microsoft.com/office/powerpoint/2010/main" val="12028541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pPr>
              <a:defRPr/>
            </a:pPr>
            <a:r>
              <a:rPr lang="en-US"/>
              <a:t>Information System Design</a:t>
            </a:r>
          </a:p>
        </p:txBody>
      </p:sp>
      <p:sp>
        <p:nvSpPr>
          <p:cNvPr id="36867" name="Rectangle 2"/>
          <p:cNvSpPr>
            <a:spLocks noGrp="1" noChangeArrowheads="1"/>
          </p:cNvSpPr>
          <p:nvPr>
            <p:ph type="title"/>
          </p:nvPr>
        </p:nvSpPr>
        <p:spPr/>
        <p:txBody>
          <a:bodyPr/>
          <a:lstStyle/>
          <a:p>
            <a:pPr eaLnBrk="1" hangingPunct="1"/>
            <a:r>
              <a:rPr lang="en-US" altLang="en-US" sz="3200" b="1" i="1" smtClean="0">
                <a:solidFill>
                  <a:srgbClr val="0000CC"/>
                </a:solidFill>
                <a:latin typeface="Times New Roman" panose="02020603050405020304" pitchFamily="18" charset="0"/>
              </a:rPr>
              <a:t>CountTotal</a:t>
            </a:r>
            <a:r>
              <a:rPr lang="en-US" altLang="en-US" sz="3200" b="1" smtClean="0">
                <a:solidFill>
                  <a:srgbClr val="0000CC"/>
                </a:solidFill>
                <a:latin typeface="Times New Roman" panose="02020603050405020304" pitchFamily="18" charset="0"/>
              </a:rPr>
              <a:t> in FP-Based Metric</a:t>
            </a:r>
          </a:p>
        </p:txBody>
      </p:sp>
      <p:sp>
        <p:nvSpPr>
          <p:cNvPr id="36868" name="Rectangle 3"/>
          <p:cNvSpPr>
            <a:spLocks noChangeArrowheads="1"/>
          </p:cNvSpPr>
          <p:nvPr/>
        </p:nvSpPr>
        <p:spPr bwMode="auto">
          <a:xfrm>
            <a:off x="3490913" y="33289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endParaRPr lang="en-US" altLang="en-US" sz="1800">
              <a:latin typeface="Times New Roman" panose="02020603050405020304" pitchFamily="18" charset="0"/>
            </a:endParaRPr>
          </a:p>
        </p:txBody>
      </p:sp>
      <p:graphicFrame>
        <p:nvGraphicFramePr>
          <p:cNvPr id="36869" name="Object 4"/>
          <p:cNvGraphicFramePr>
            <a:graphicFrameLocks noChangeAspect="1"/>
          </p:cNvGraphicFramePr>
          <p:nvPr/>
        </p:nvGraphicFramePr>
        <p:xfrm>
          <a:off x="685800" y="1676400"/>
          <a:ext cx="7848600" cy="3757613"/>
        </p:xfrm>
        <a:graphic>
          <a:graphicData uri="http://schemas.openxmlformats.org/presentationml/2006/ole">
            <mc:AlternateContent xmlns:mc="http://schemas.openxmlformats.org/markup-compatibility/2006">
              <mc:Choice xmlns:v="urn:schemas-microsoft-com:vml" Requires="v">
                <p:oleObj spid="_x0000_s2087" name="VISIO" r:id="rId4" imgW="5885024" imgH="2811666" progId="Visio.Drawing.5">
                  <p:embed/>
                </p:oleObj>
              </mc:Choice>
              <mc:Fallback>
                <p:oleObj name="VISIO" r:id="rId4" imgW="5885024" imgH="2811666" progId="Visio.Drawing.5">
                  <p:embed/>
                  <p:pic>
                    <p:nvPicPr>
                      <p:cNvPr id="36869"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5800" y="1676400"/>
                        <a:ext cx="7848600" cy="3757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6870"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18FAA59A-2DCC-4826-9772-E53D1B100130}" type="slidenum">
              <a:rPr lang="en-US" altLang="en-US" sz="1400" smtClean="0"/>
              <a:pPr>
                <a:spcBef>
                  <a:spcPct val="0"/>
                </a:spcBef>
                <a:buFontTx/>
                <a:buNone/>
              </a:pPr>
              <a:t>18</a:t>
            </a:fld>
            <a:endParaRPr lang="en-US" altLang="en-US" sz="1400" smtClean="0"/>
          </a:p>
        </p:txBody>
      </p:sp>
    </p:spTree>
    <p:extLst>
      <p:ext uri="{BB962C8B-B14F-4D97-AF65-F5344CB8AC3E}">
        <p14:creationId xmlns:p14="http://schemas.microsoft.com/office/powerpoint/2010/main" val="342867444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pPr>
              <a:defRPr/>
            </a:pPr>
            <a:r>
              <a:rPr lang="en-US"/>
              <a:t>Information System Design</a:t>
            </a:r>
          </a:p>
        </p:txBody>
      </p:sp>
      <p:sp>
        <p:nvSpPr>
          <p:cNvPr id="38915" name="Rectangle 2"/>
          <p:cNvSpPr>
            <a:spLocks noGrp="1" noChangeArrowheads="1"/>
          </p:cNvSpPr>
          <p:nvPr>
            <p:ph type="title"/>
          </p:nvPr>
        </p:nvSpPr>
        <p:spPr>
          <a:xfrm>
            <a:off x="457200" y="0"/>
            <a:ext cx="8229600" cy="1143000"/>
          </a:xfrm>
        </p:spPr>
        <p:txBody>
          <a:bodyPr/>
          <a:lstStyle/>
          <a:p>
            <a:pPr eaLnBrk="1" hangingPunct="1"/>
            <a:r>
              <a:rPr lang="en-US" altLang="en-US" sz="3200" b="1" i="1" smtClean="0">
                <a:solidFill>
                  <a:srgbClr val="0000CC"/>
                </a:solidFill>
                <a:latin typeface="Times New Roman" panose="02020603050405020304" pitchFamily="18" charset="0"/>
              </a:rPr>
              <a:t>VAF</a:t>
            </a:r>
            <a:r>
              <a:rPr lang="en-US" altLang="en-US" sz="3200" b="1" smtClean="0">
                <a:solidFill>
                  <a:srgbClr val="0000CC"/>
                </a:solidFill>
                <a:latin typeface="Times New Roman" panose="02020603050405020304" pitchFamily="18" charset="0"/>
              </a:rPr>
              <a:t> in FP-Based Metric</a:t>
            </a:r>
          </a:p>
        </p:txBody>
      </p:sp>
      <p:sp>
        <p:nvSpPr>
          <p:cNvPr id="38916" name="Rectangle 3"/>
          <p:cNvSpPr>
            <a:spLocks noChangeArrowheads="1"/>
          </p:cNvSpPr>
          <p:nvPr/>
        </p:nvSpPr>
        <p:spPr bwMode="auto">
          <a:xfrm>
            <a:off x="3490913" y="33289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endParaRPr lang="en-US" altLang="en-US" sz="1800">
              <a:latin typeface="Times New Roman" panose="02020603050405020304" pitchFamily="18" charset="0"/>
            </a:endParaRPr>
          </a:p>
        </p:txBody>
      </p:sp>
      <p:graphicFrame>
        <p:nvGraphicFramePr>
          <p:cNvPr id="38917" name="Object 4"/>
          <p:cNvGraphicFramePr>
            <a:graphicFrameLocks noChangeAspect="1"/>
          </p:cNvGraphicFramePr>
          <p:nvPr/>
        </p:nvGraphicFramePr>
        <p:xfrm>
          <a:off x="838200" y="1371600"/>
          <a:ext cx="7696200" cy="4548188"/>
        </p:xfrm>
        <a:graphic>
          <a:graphicData uri="http://schemas.openxmlformats.org/presentationml/2006/ole">
            <mc:AlternateContent xmlns:mc="http://schemas.openxmlformats.org/markup-compatibility/2006">
              <mc:Choice xmlns:v="urn:schemas-microsoft-com:vml" Requires="v">
                <p:oleObj spid="_x0000_s3111" name="Document" r:id="rId4" imgW="5632704" imgH="3329940" progId="Word.Document.8">
                  <p:embed/>
                </p:oleObj>
              </mc:Choice>
              <mc:Fallback>
                <p:oleObj name="Document" r:id="rId4" imgW="5632704" imgH="3329940" progId="Word.Document.8">
                  <p:embed/>
                  <p:pic>
                    <p:nvPicPr>
                      <p:cNvPr id="38917"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1371600"/>
                        <a:ext cx="7696200" cy="4548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8918"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771A2F1A-F6A3-4B29-AB0A-DE717CEF5F1E}" type="slidenum">
              <a:rPr lang="en-US" altLang="en-US" sz="1400" smtClean="0"/>
              <a:pPr>
                <a:spcBef>
                  <a:spcPct val="0"/>
                </a:spcBef>
                <a:buFontTx/>
                <a:buNone/>
              </a:pPr>
              <a:t>19</a:t>
            </a:fld>
            <a:endParaRPr lang="en-US" altLang="en-US" sz="1400" smtClean="0"/>
          </a:p>
        </p:txBody>
      </p:sp>
    </p:spTree>
    <p:extLst>
      <p:ext uri="{BB962C8B-B14F-4D97-AF65-F5344CB8AC3E}">
        <p14:creationId xmlns:p14="http://schemas.microsoft.com/office/powerpoint/2010/main" val="2175844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pPr>
              <a:defRPr/>
            </a:pPr>
            <a:r>
              <a:rPr lang="en-US"/>
              <a:t>Information System Design</a:t>
            </a:r>
          </a:p>
        </p:txBody>
      </p:sp>
      <p:sp>
        <p:nvSpPr>
          <p:cNvPr id="40963" name="Rectangle 2"/>
          <p:cNvSpPr>
            <a:spLocks noGrp="1" noChangeArrowheads="1"/>
          </p:cNvSpPr>
          <p:nvPr>
            <p:ph type="title"/>
          </p:nvPr>
        </p:nvSpPr>
        <p:spPr>
          <a:xfrm>
            <a:off x="457200" y="0"/>
            <a:ext cx="8229600" cy="1143000"/>
          </a:xfrm>
        </p:spPr>
        <p:txBody>
          <a:bodyPr/>
          <a:lstStyle/>
          <a:p>
            <a:pPr eaLnBrk="1" hangingPunct="1"/>
            <a:r>
              <a:rPr lang="en-US" altLang="en-US" sz="3200" b="1" i="1" smtClean="0">
                <a:solidFill>
                  <a:srgbClr val="0000CC"/>
                </a:solidFill>
                <a:latin typeface="Times New Roman" panose="02020603050405020304" pitchFamily="18" charset="0"/>
              </a:rPr>
              <a:t>VAF</a:t>
            </a:r>
            <a:r>
              <a:rPr lang="en-US" altLang="en-US" sz="3200" b="1" smtClean="0">
                <a:solidFill>
                  <a:srgbClr val="0000CC"/>
                </a:solidFill>
                <a:latin typeface="Times New Roman" panose="02020603050405020304" pitchFamily="18" charset="0"/>
              </a:rPr>
              <a:t> in FP-Based Metric </a:t>
            </a:r>
            <a:r>
              <a:rPr lang="en-US" altLang="en-US" sz="2000" smtClean="0">
                <a:solidFill>
                  <a:srgbClr val="0000CC"/>
                </a:solidFill>
                <a:latin typeface="Times New Roman" panose="02020603050405020304" pitchFamily="18" charset="0"/>
              </a:rPr>
              <a:t>(Cont’d)</a:t>
            </a:r>
          </a:p>
        </p:txBody>
      </p:sp>
      <p:sp>
        <p:nvSpPr>
          <p:cNvPr id="40964" name="Rectangle 3"/>
          <p:cNvSpPr>
            <a:spLocks noChangeArrowheads="1"/>
          </p:cNvSpPr>
          <p:nvPr/>
        </p:nvSpPr>
        <p:spPr bwMode="auto">
          <a:xfrm>
            <a:off x="3490913" y="33289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endParaRPr lang="en-US" altLang="en-US" sz="1800">
              <a:latin typeface="Times New Roman" panose="02020603050405020304" pitchFamily="18" charset="0"/>
            </a:endParaRPr>
          </a:p>
        </p:txBody>
      </p:sp>
      <p:graphicFrame>
        <p:nvGraphicFramePr>
          <p:cNvPr id="40965" name="Object 4"/>
          <p:cNvGraphicFramePr>
            <a:graphicFrameLocks noChangeAspect="1"/>
          </p:cNvGraphicFramePr>
          <p:nvPr/>
        </p:nvGraphicFramePr>
        <p:xfrm>
          <a:off x="914400" y="1295400"/>
          <a:ext cx="7391400" cy="4816475"/>
        </p:xfrm>
        <a:graphic>
          <a:graphicData uri="http://schemas.openxmlformats.org/presentationml/2006/ole">
            <mc:AlternateContent xmlns:mc="http://schemas.openxmlformats.org/markup-compatibility/2006">
              <mc:Choice xmlns:v="urn:schemas-microsoft-com:vml" Requires="v">
                <p:oleObj spid="_x0000_s4135" name="Document" r:id="rId4" imgW="5628859" imgH="3673934" progId="Word.Document.8">
                  <p:embed/>
                </p:oleObj>
              </mc:Choice>
              <mc:Fallback>
                <p:oleObj name="Document" r:id="rId4" imgW="5628859" imgH="3673934" progId="Word.Document.8">
                  <p:embed/>
                  <p:pic>
                    <p:nvPicPr>
                      <p:cNvPr id="40965"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400" y="1295400"/>
                        <a:ext cx="7391400" cy="481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0966"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7F3A2475-79C8-4F72-A6CE-9EB5F0727C3D}" type="slidenum">
              <a:rPr lang="en-US" altLang="en-US" sz="1400" smtClean="0"/>
              <a:pPr>
                <a:spcBef>
                  <a:spcPct val="0"/>
                </a:spcBef>
                <a:buFontTx/>
                <a:buNone/>
              </a:pPr>
              <a:t>20</a:t>
            </a:fld>
            <a:endParaRPr lang="en-US" altLang="en-US" sz="1400" smtClean="0"/>
          </a:p>
        </p:txBody>
      </p:sp>
    </p:spTree>
    <p:extLst>
      <p:ext uri="{BB962C8B-B14F-4D97-AF65-F5344CB8AC3E}">
        <p14:creationId xmlns:p14="http://schemas.microsoft.com/office/powerpoint/2010/main" val="31689259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pPr>
              <a:defRPr/>
            </a:pPr>
            <a:r>
              <a:rPr lang="en-US"/>
              <a:t>Information System Design</a:t>
            </a:r>
          </a:p>
        </p:txBody>
      </p:sp>
      <p:sp>
        <p:nvSpPr>
          <p:cNvPr id="43011"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Values in FP-Based Metric</a:t>
            </a:r>
          </a:p>
        </p:txBody>
      </p:sp>
      <p:sp>
        <p:nvSpPr>
          <p:cNvPr id="43012" name="Rectangle 3"/>
          <p:cNvSpPr>
            <a:spLocks noGrp="1" noChangeArrowheads="1"/>
          </p:cNvSpPr>
          <p:nvPr>
            <p:ph type="body" idx="1"/>
          </p:nvPr>
        </p:nvSpPr>
        <p:spPr/>
        <p:txBody>
          <a:bodyPr/>
          <a:lstStyle/>
          <a:p>
            <a:pPr eaLnBrk="1" hangingPunct="1"/>
            <a:r>
              <a:rPr lang="en-US" altLang="en-US" sz="2800" dirty="0" smtClean="0">
                <a:latin typeface="Times New Roman" panose="02020603050405020304" pitchFamily="18" charset="0"/>
              </a:rPr>
              <a:t>Each of the </a:t>
            </a:r>
            <a:r>
              <a:rPr lang="en-US" altLang="en-US" sz="2800" b="1" i="1" dirty="0" smtClean="0">
                <a:latin typeface="Times New Roman" panose="02020603050405020304" pitchFamily="18" charset="0"/>
              </a:rPr>
              <a:t>VAF</a:t>
            </a:r>
            <a:r>
              <a:rPr lang="en-US" altLang="en-US" sz="2800" dirty="0" smtClean="0">
                <a:latin typeface="Times New Roman" panose="02020603050405020304" pitchFamily="18" charset="0"/>
              </a:rPr>
              <a:t> is evaluated in scale of range from 0 (not important or applicable) to 5 (absolute essential)</a:t>
            </a:r>
          </a:p>
          <a:p>
            <a:pPr eaLnBrk="1" hangingPunct="1"/>
            <a:endParaRPr lang="en-US" altLang="en-US" sz="2800" dirty="0" smtClean="0">
              <a:latin typeface="Times New Roman" panose="02020603050405020304" pitchFamily="18" charset="0"/>
            </a:endParaRPr>
          </a:p>
          <a:p>
            <a:pPr eaLnBrk="1" hangingPunct="1"/>
            <a:r>
              <a:rPr lang="en-US" altLang="en-US" sz="2800" dirty="0" smtClean="0">
                <a:latin typeface="Times New Roman" panose="02020603050405020304" pitchFamily="18" charset="0"/>
              </a:rPr>
              <a:t>The constant values in the equation of FP is decided empirically</a:t>
            </a:r>
          </a:p>
          <a:p>
            <a:pPr eaLnBrk="1" hangingPunct="1"/>
            <a:endParaRPr lang="en-US" altLang="en-US" sz="2800" dirty="0" smtClean="0">
              <a:latin typeface="Times New Roman" panose="02020603050405020304" pitchFamily="18" charset="0"/>
            </a:endParaRPr>
          </a:p>
          <a:p>
            <a:pPr eaLnBrk="1" hangingPunct="1"/>
            <a:r>
              <a:rPr lang="en-US" altLang="en-US" sz="2800" dirty="0" smtClean="0">
                <a:latin typeface="Times New Roman" panose="02020603050405020304" pitchFamily="18" charset="0"/>
              </a:rPr>
              <a:t>The values for weighting factors that are applied to information domain counts are also determined empirically </a:t>
            </a:r>
          </a:p>
        </p:txBody>
      </p:sp>
      <p:sp>
        <p:nvSpPr>
          <p:cNvPr id="43013"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5BDAAB02-B865-4A7F-8B29-5771A104BDF9}" type="slidenum">
              <a:rPr lang="en-US" altLang="en-US" sz="1400" smtClean="0"/>
              <a:pPr>
                <a:spcBef>
                  <a:spcPct val="0"/>
                </a:spcBef>
                <a:buFontTx/>
                <a:buNone/>
              </a:pPr>
              <a:t>21</a:t>
            </a:fld>
            <a:endParaRPr lang="en-US" altLang="en-US" sz="1400" smtClean="0"/>
          </a:p>
        </p:txBody>
      </p:sp>
    </p:spTree>
    <p:extLst>
      <p:ext uri="{BB962C8B-B14F-4D97-AF65-F5344CB8AC3E}">
        <p14:creationId xmlns:p14="http://schemas.microsoft.com/office/powerpoint/2010/main" val="252029699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pPr>
              <a:defRPr/>
            </a:pPr>
            <a:r>
              <a:rPr lang="en-US"/>
              <a:t>Information System Design</a:t>
            </a:r>
          </a:p>
        </p:txBody>
      </p:sp>
      <p:sp>
        <p:nvSpPr>
          <p:cNvPr id="34819"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Project Size Estimation: FP-Based Metric</a:t>
            </a:r>
          </a:p>
        </p:txBody>
      </p:sp>
      <p:sp>
        <p:nvSpPr>
          <p:cNvPr id="34820" name="Rectangle 3"/>
          <p:cNvSpPr>
            <a:spLocks noGrp="1" noChangeArrowheads="1"/>
          </p:cNvSpPr>
          <p:nvPr>
            <p:ph type="body" idx="1"/>
          </p:nvPr>
        </p:nvSpPr>
        <p:spPr>
          <a:xfrm>
            <a:off x="457200" y="1371600"/>
            <a:ext cx="8229600" cy="4525963"/>
          </a:xfrm>
        </p:spPr>
        <p:txBody>
          <a:bodyPr/>
          <a:lstStyle/>
          <a:p>
            <a:pPr eaLnBrk="1" hangingPunct="1"/>
            <a:r>
              <a:rPr lang="en-US" altLang="en-US" sz="2800" smtClean="0">
                <a:latin typeface="Times New Roman" panose="02020603050405020304" pitchFamily="18" charset="0"/>
              </a:rPr>
              <a:t>To compute function points (FP), the following empirical relationship is used</a:t>
            </a:r>
          </a:p>
          <a:p>
            <a:pPr eaLnBrk="1" hangingPunct="1"/>
            <a:endParaRPr lang="en-US" altLang="en-US" sz="2800" smtClean="0">
              <a:latin typeface="Times New Roman" panose="02020603050405020304" pitchFamily="18" charset="0"/>
            </a:endParaRPr>
          </a:p>
          <a:p>
            <a:pPr eaLnBrk="1" hangingPunct="1"/>
            <a:endParaRPr lang="en-US" altLang="en-US" sz="2800" smtClean="0">
              <a:latin typeface="Times New Roman" panose="02020603050405020304" pitchFamily="18" charset="0"/>
            </a:endParaRPr>
          </a:p>
          <a:p>
            <a:pPr eaLnBrk="1" hangingPunct="1">
              <a:buFontTx/>
              <a:buNone/>
            </a:pPr>
            <a:endParaRPr lang="en-US" altLang="en-US" sz="1000" smtClean="0">
              <a:latin typeface="Times New Roman" panose="02020603050405020304" pitchFamily="18" charset="0"/>
            </a:endParaRPr>
          </a:p>
          <a:p>
            <a:pPr eaLnBrk="1" hangingPunct="1">
              <a:buFontTx/>
              <a:buNone/>
            </a:pPr>
            <a:r>
              <a:rPr lang="en-US" altLang="en-US" sz="2800" smtClean="0">
                <a:latin typeface="Times New Roman" panose="02020603050405020304" pitchFamily="18" charset="0"/>
              </a:rPr>
              <a:t>	Here  </a:t>
            </a:r>
            <a:r>
              <a:rPr lang="en-US" altLang="en-US" sz="2800" i="1" smtClean="0">
                <a:latin typeface="Times New Roman" panose="02020603050405020304" pitchFamily="18" charset="0"/>
              </a:rPr>
              <a:t>CountTotal</a:t>
            </a:r>
            <a:r>
              <a:rPr lang="en-US" altLang="en-US" sz="2800" smtClean="0">
                <a:latin typeface="Times New Roman" panose="02020603050405020304" pitchFamily="18" charset="0"/>
              </a:rPr>
              <a:t> is the sum of all FP entries</a:t>
            </a:r>
          </a:p>
          <a:p>
            <a:pPr eaLnBrk="1" hangingPunct="1">
              <a:buFontTx/>
              <a:buNone/>
            </a:pPr>
            <a:r>
              <a:rPr lang="en-US" altLang="en-US" sz="2800" smtClean="0">
                <a:latin typeface="Times New Roman" panose="02020603050405020304" pitchFamily="18" charset="0"/>
              </a:rPr>
              <a:t>	The </a:t>
            </a:r>
            <a:r>
              <a:rPr lang="en-US" altLang="en-US" sz="2800" i="1" smtClean="0">
                <a:latin typeface="Times New Roman" panose="02020603050405020304" pitchFamily="18" charset="0"/>
              </a:rPr>
              <a:t>F</a:t>
            </a:r>
            <a:r>
              <a:rPr lang="en-US" altLang="en-US" sz="2800" i="1" baseline="-25000" smtClean="0">
                <a:latin typeface="Times New Roman" panose="02020603050405020304" pitchFamily="18" charset="0"/>
              </a:rPr>
              <a:t>i</a:t>
            </a:r>
            <a:r>
              <a:rPr lang="en-US" altLang="en-US" sz="2800" i="1" smtClean="0">
                <a:latin typeface="Times New Roman" panose="02020603050405020304" pitchFamily="18" charset="0"/>
              </a:rPr>
              <a:t> </a:t>
            </a:r>
            <a:r>
              <a:rPr lang="en-US" altLang="en-US" sz="2800" smtClean="0">
                <a:latin typeface="Times New Roman" panose="02020603050405020304" pitchFamily="18" charset="0"/>
              </a:rPr>
              <a:t>(i = 1 to 14) are </a:t>
            </a:r>
            <a:r>
              <a:rPr lang="en-US" altLang="en-US" sz="2800" i="1" smtClean="0">
                <a:latin typeface="Times New Roman" panose="02020603050405020304" pitchFamily="18" charset="0"/>
              </a:rPr>
              <a:t>value adjustment factor</a:t>
            </a:r>
            <a:r>
              <a:rPr lang="en-US" altLang="en-US" sz="2800" smtClean="0">
                <a:latin typeface="Times New Roman" panose="02020603050405020304" pitchFamily="18" charset="0"/>
              </a:rPr>
              <a:t> (</a:t>
            </a:r>
            <a:r>
              <a:rPr lang="en-US" altLang="en-US" sz="2800" b="1" i="1" smtClean="0">
                <a:latin typeface="Times New Roman" panose="02020603050405020304" pitchFamily="18" charset="0"/>
              </a:rPr>
              <a:t>VAF</a:t>
            </a:r>
            <a:r>
              <a:rPr lang="en-US" altLang="en-US" sz="2800" smtClean="0">
                <a:latin typeface="Times New Roman" panose="02020603050405020304" pitchFamily="18" charset="0"/>
              </a:rPr>
              <a:t>)</a:t>
            </a:r>
          </a:p>
        </p:txBody>
      </p:sp>
      <p:sp>
        <p:nvSpPr>
          <p:cNvPr id="34821" name="Rectangle 4"/>
          <p:cNvSpPr>
            <a:spLocks noChangeArrowheads="1"/>
          </p:cNvSpPr>
          <p:nvPr/>
        </p:nvSpPr>
        <p:spPr bwMode="auto">
          <a:xfrm>
            <a:off x="3490913" y="33289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endParaRPr lang="en-US" altLang="en-US" sz="1800">
              <a:latin typeface="Times New Roman" panose="02020603050405020304" pitchFamily="18" charset="0"/>
            </a:endParaRPr>
          </a:p>
        </p:txBody>
      </p:sp>
      <p:graphicFrame>
        <p:nvGraphicFramePr>
          <p:cNvPr id="34822" name="Object 5"/>
          <p:cNvGraphicFramePr>
            <a:graphicFrameLocks noChangeAspect="1"/>
          </p:cNvGraphicFramePr>
          <p:nvPr/>
        </p:nvGraphicFramePr>
        <p:xfrm>
          <a:off x="1752600" y="2819400"/>
          <a:ext cx="4662488" cy="431800"/>
        </p:xfrm>
        <a:graphic>
          <a:graphicData uri="http://schemas.openxmlformats.org/presentationml/2006/ole">
            <mc:AlternateContent xmlns:mc="http://schemas.openxmlformats.org/markup-compatibility/2006">
              <mc:Choice xmlns:v="urn:schemas-microsoft-com:vml" Requires="v">
                <p:oleObj spid="_x0000_s10244" r:id="rId4" imgW="2159000" imgH="203200" progId="Equation.3">
                  <p:embed/>
                </p:oleObj>
              </mc:Choice>
              <mc:Fallback>
                <p:oleObj r:id="rId4" imgW="2159000" imgH="203200" progId="Equation.3">
                  <p:embed/>
                  <p:pic>
                    <p:nvPicPr>
                      <p:cNvPr id="3482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52600" y="2819400"/>
                        <a:ext cx="46624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4823"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F5C85484-15BB-428E-AE1D-38EF941F6678}" type="slidenum">
              <a:rPr lang="en-US" altLang="en-US" sz="1400" smtClean="0"/>
              <a:pPr>
                <a:spcBef>
                  <a:spcPct val="0"/>
                </a:spcBef>
                <a:buFontTx/>
                <a:buNone/>
              </a:pPr>
              <a:t>22</a:t>
            </a:fld>
            <a:endParaRPr lang="en-US" altLang="en-US" sz="1400" smtClean="0"/>
          </a:p>
        </p:txBody>
      </p:sp>
    </p:spTree>
    <p:extLst>
      <p:ext uri="{BB962C8B-B14F-4D97-AF65-F5344CB8AC3E}">
        <p14:creationId xmlns:p14="http://schemas.microsoft.com/office/powerpoint/2010/main" val="75985049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pPr>
              <a:defRPr/>
            </a:pPr>
            <a:r>
              <a:rPr lang="en-US"/>
              <a:t>Information System Design</a:t>
            </a:r>
          </a:p>
        </p:txBody>
      </p:sp>
      <p:sp>
        <p:nvSpPr>
          <p:cNvPr id="45059"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An Example of FP-Based Estimation</a:t>
            </a:r>
          </a:p>
        </p:txBody>
      </p:sp>
      <p:graphicFrame>
        <p:nvGraphicFramePr>
          <p:cNvPr id="45060" name="Object 3"/>
          <p:cNvGraphicFramePr>
            <a:graphicFrameLocks noChangeAspect="1"/>
          </p:cNvGraphicFramePr>
          <p:nvPr/>
        </p:nvGraphicFramePr>
        <p:xfrm>
          <a:off x="533400" y="1752600"/>
          <a:ext cx="8077200" cy="3521075"/>
        </p:xfrm>
        <a:graphic>
          <a:graphicData uri="http://schemas.openxmlformats.org/presentationml/2006/ole">
            <mc:AlternateContent xmlns:mc="http://schemas.openxmlformats.org/markup-compatibility/2006">
              <mc:Choice xmlns:v="urn:schemas-microsoft-com:vml" Requires="v">
                <p:oleObj spid="_x0000_s5159" name="VISIO" r:id="rId4" imgW="6440358" imgH="2799494" progId="Visio.Drawing.5">
                  <p:embed/>
                </p:oleObj>
              </mc:Choice>
              <mc:Fallback>
                <p:oleObj name="VISIO" r:id="rId4" imgW="6440358" imgH="2799494" progId="Visio.Drawing.5">
                  <p:embed/>
                  <p:pic>
                    <p:nvPicPr>
                      <p:cNvPr id="4506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 y="1752600"/>
                        <a:ext cx="8077200" cy="352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06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034749D4-256C-4C8E-AA8C-D4CA4DE84D9F}" type="slidenum">
              <a:rPr lang="en-US" altLang="en-US" sz="1400" smtClean="0"/>
              <a:pPr>
                <a:spcBef>
                  <a:spcPct val="0"/>
                </a:spcBef>
                <a:buFontTx/>
                <a:buNone/>
              </a:pPr>
              <a:t>23</a:t>
            </a:fld>
            <a:endParaRPr lang="en-US" altLang="en-US" sz="1400" smtClean="0"/>
          </a:p>
        </p:txBody>
      </p:sp>
    </p:spTree>
    <p:extLst>
      <p:ext uri="{BB962C8B-B14F-4D97-AF65-F5344CB8AC3E}">
        <p14:creationId xmlns:p14="http://schemas.microsoft.com/office/powerpoint/2010/main" val="16956988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pPr>
              <a:defRPr/>
            </a:pPr>
            <a:r>
              <a:rPr lang="en-US"/>
              <a:t>Information System Design</a:t>
            </a:r>
          </a:p>
        </p:txBody>
      </p:sp>
      <p:sp>
        <p:nvSpPr>
          <p:cNvPr id="47107"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An Example of FP-Based Estimation</a:t>
            </a:r>
          </a:p>
        </p:txBody>
      </p:sp>
      <p:sp>
        <p:nvSpPr>
          <p:cNvPr id="47108" name="Rectangle 3"/>
          <p:cNvSpPr>
            <a:spLocks noGrp="1" noChangeArrowheads="1"/>
          </p:cNvSpPr>
          <p:nvPr>
            <p:ph type="body" idx="1"/>
          </p:nvPr>
        </p:nvSpPr>
        <p:spPr>
          <a:xfrm>
            <a:off x="457200" y="1600200"/>
            <a:ext cx="3581400" cy="4525963"/>
          </a:xfrm>
        </p:spPr>
        <p:txBody>
          <a:bodyPr/>
          <a:lstStyle/>
          <a:p>
            <a:pPr eaLnBrk="1" hangingPunct="1">
              <a:buFontTx/>
              <a:buNone/>
            </a:pPr>
            <a:r>
              <a:rPr lang="en-US" altLang="en-US" sz="1400" b="1" smtClean="0">
                <a:latin typeface="Times New Roman" panose="02020603050405020304" pitchFamily="18" charset="0"/>
              </a:rPr>
              <a:t>External inputs</a:t>
            </a:r>
          </a:p>
          <a:p>
            <a:pPr eaLnBrk="1" hangingPunct="1">
              <a:buFontTx/>
              <a:buNone/>
            </a:pPr>
            <a:r>
              <a:rPr lang="en-US" altLang="en-US" sz="1400" smtClean="0">
                <a:latin typeface="Times New Roman" panose="02020603050405020304" pitchFamily="18" charset="0"/>
              </a:rPr>
              <a:t>	Password</a:t>
            </a:r>
          </a:p>
          <a:p>
            <a:pPr eaLnBrk="1" hangingPunct="1">
              <a:buFontTx/>
              <a:buNone/>
            </a:pPr>
            <a:r>
              <a:rPr lang="en-US" altLang="en-US" sz="1400" smtClean="0">
                <a:latin typeface="Times New Roman" panose="02020603050405020304" pitchFamily="18" charset="0"/>
              </a:rPr>
              <a:t>	Panic Button</a:t>
            </a:r>
          </a:p>
          <a:p>
            <a:pPr eaLnBrk="1" hangingPunct="1">
              <a:buFontTx/>
              <a:buNone/>
            </a:pPr>
            <a:r>
              <a:rPr lang="en-US" altLang="en-US" sz="1400" smtClean="0">
                <a:latin typeface="Times New Roman" panose="02020603050405020304" pitchFamily="18" charset="0"/>
              </a:rPr>
              <a:t>	Activate/deactivate</a:t>
            </a:r>
          </a:p>
          <a:p>
            <a:pPr eaLnBrk="1" hangingPunct="1">
              <a:buFontTx/>
              <a:buNone/>
            </a:pPr>
            <a:r>
              <a:rPr lang="en-US" altLang="en-US" sz="1400" b="1" smtClean="0">
                <a:latin typeface="Times New Roman" panose="02020603050405020304" pitchFamily="18" charset="0"/>
              </a:rPr>
              <a:t>External outputs</a:t>
            </a:r>
          </a:p>
          <a:p>
            <a:pPr eaLnBrk="1" hangingPunct="1">
              <a:buFontTx/>
              <a:buNone/>
            </a:pPr>
            <a:r>
              <a:rPr lang="en-US" altLang="en-US" sz="1400" smtClean="0">
                <a:latin typeface="Times New Roman" panose="02020603050405020304" pitchFamily="18" charset="0"/>
              </a:rPr>
              <a:t>	Messages</a:t>
            </a:r>
          </a:p>
          <a:p>
            <a:pPr eaLnBrk="1" hangingPunct="1">
              <a:buFontTx/>
              <a:buNone/>
            </a:pPr>
            <a:r>
              <a:rPr lang="en-US" altLang="en-US" sz="1400" smtClean="0">
                <a:latin typeface="Times New Roman" panose="02020603050405020304" pitchFamily="18" charset="0"/>
              </a:rPr>
              <a:t>	Sensor status</a:t>
            </a:r>
          </a:p>
          <a:p>
            <a:pPr eaLnBrk="1" hangingPunct="1">
              <a:buFontTx/>
              <a:buNone/>
            </a:pPr>
            <a:r>
              <a:rPr lang="en-US" altLang="en-US" sz="1400" b="1" smtClean="0">
                <a:latin typeface="Times New Roman" panose="02020603050405020304" pitchFamily="18" charset="0"/>
              </a:rPr>
              <a:t>External inquiries</a:t>
            </a:r>
          </a:p>
          <a:p>
            <a:pPr eaLnBrk="1" hangingPunct="1">
              <a:buFontTx/>
              <a:buNone/>
            </a:pPr>
            <a:r>
              <a:rPr lang="en-US" altLang="en-US" sz="1400" smtClean="0">
                <a:latin typeface="Times New Roman" panose="02020603050405020304" pitchFamily="18" charset="0"/>
              </a:rPr>
              <a:t>	Zone inquiry</a:t>
            </a:r>
          </a:p>
          <a:p>
            <a:pPr eaLnBrk="1" hangingPunct="1">
              <a:buFontTx/>
              <a:buNone/>
            </a:pPr>
            <a:r>
              <a:rPr lang="en-US" altLang="en-US" sz="1400" smtClean="0">
                <a:latin typeface="Times New Roman" panose="02020603050405020304" pitchFamily="18" charset="0"/>
              </a:rPr>
              <a:t>	Sensor inquiry</a:t>
            </a:r>
          </a:p>
          <a:p>
            <a:pPr eaLnBrk="1" hangingPunct="1">
              <a:buFontTx/>
              <a:buNone/>
            </a:pPr>
            <a:r>
              <a:rPr lang="en-US" altLang="en-US" sz="1400" b="1" smtClean="0">
                <a:latin typeface="Times New Roman" panose="02020603050405020304" pitchFamily="18" charset="0"/>
              </a:rPr>
              <a:t>Internal Logical file</a:t>
            </a:r>
          </a:p>
          <a:p>
            <a:pPr eaLnBrk="1" hangingPunct="1">
              <a:buFontTx/>
              <a:buNone/>
            </a:pPr>
            <a:r>
              <a:rPr lang="en-US" altLang="en-US" sz="1400" smtClean="0">
                <a:latin typeface="Times New Roman" panose="02020603050405020304" pitchFamily="18" charset="0"/>
              </a:rPr>
              <a:t>	System configuration file</a:t>
            </a:r>
          </a:p>
          <a:p>
            <a:pPr eaLnBrk="1" hangingPunct="1">
              <a:buFontTx/>
              <a:buNone/>
            </a:pPr>
            <a:r>
              <a:rPr lang="en-US" altLang="en-US" sz="1400" b="1" smtClean="0">
                <a:latin typeface="Times New Roman" panose="02020603050405020304" pitchFamily="18" charset="0"/>
              </a:rPr>
              <a:t>External Interface Files</a:t>
            </a:r>
          </a:p>
          <a:p>
            <a:pPr eaLnBrk="1" hangingPunct="1">
              <a:buFontTx/>
              <a:buNone/>
            </a:pPr>
            <a:r>
              <a:rPr lang="en-US" altLang="en-US" sz="1400" smtClean="0">
                <a:latin typeface="Times New Roman" panose="02020603050405020304" pitchFamily="18" charset="0"/>
              </a:rPr>
              <a:t>	Test sensors</a:t>
            </a:r>
          </a:p>
          <a:p>
            <a:pPr eaLnBrk="1" hangingPunct="1">
              <a:buFontTx/>
              <a:buNone/>
            </a:pPr>
            <a:r>
              <a:rPr lang="en-US" altLang="en-US" sz="1400" smtClean="0">
                <a:latin typeface="Times New Roman" panose="02020603050405020304" pitchFamily="18" charset="0"/>
              </a:rPr>
              <a:t>	Zone setting</a:t>
            </a:r>
          </a:p>
          <a:p>
            <a:pPr eaLnBrk="1" hangingPunct="1">
              <a:buFontTx/>
              <a:buNone/>
            </a:pPr>
            <a:r>
              <a:rPr lang="en-US" altLang="en-US" sz="1400" smtClean="0">
                <a:latin typeface="Times New Roman" panose="02020603050405020304" pitchFamily="18" charset="0"/>
              </a:rPr>
              <a:t>	Activate/deactivate</a:t>
            </a:r>
          </a:p>
          <a:p>
            <a:pPr eaLnBrk="1" hangingPunct="1">
              <a:buFontTx/>
              <a:buNone/>
            </a:pPr>
            <a:r>
              <a:rPr lang="en-US" altLang="en-US" sz="1400" smtClean="0">
                <a:latin typeface="Times New Roman" panose="02020603050405020304" pitchFamily="18" charset="0"/>
              </a:rPr>
              <a:t>	Alarm alert</a:t>
            </a:r>
          </a:p>
        </p:txBody>
      </p:sp>
      <p:graphicFrame>
        <p:nvGraphicFramePr>
          <p:cNvPr id="47109" name="Object 4"/>
          <p:cNvGraphicFramePr>
            <a:graphicFrameLocks noChangeAspect="1"/>
          </p:cNvGraphicFramePr>
          <p:nvPr/>
        </p:nvGraphicFramePr>
        <p:xfrm>
          <a:off x="2057400" y="2057400"/>
          <a:ext cx="7086600" cy="3087688"/>
        </p:xfrm>
        <a:graphic>
          <a:graphicData uri="http://schemas.openxmlformats.org/presentationml/2006/ole">
            <mc:AlternateContent xmlns:mc="http://schemas.openxmlformats.org/markup-compatibility/2006">
              <mc:Choice xmlns:v="urn:schemas-microsoft-com:vml" Requires="v">
                <p:oleObj spid="_x0000_s6183" name="VISIO" r:id="rId4" imgW="6440358" imgH="2799494" progId="Visio.Drawing.5">
                  <p:embed/>
                </p:oleObj>
              </mc:Choice>
              <mc:Fallback>
                <p:oleObj name="VISIO" r:id="rId4" imgW="6440358" imgH="2799494" progId="Visio.Drawing.5">
                  <p:embed/>
                  <p:pic>
                    <p:nvPicPr>
                      <p:cNvPr id="47109"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57400" y="2057400"/>
                        <a:ext cx="7086600" cy="3087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7110"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18D15B07-D0DC-49DE-B4CC-27CE511EC941}" type="slidenum">
              <a:rPr lang="en-US" altLang="en-US" sz="1400" smtClean="0"/>
              <a:pPr>
                <a:spcBef>
                  <a:spcPct val="0"/>
                </a:spcBef>
                <a:buFontTx/>
                <a:buNone/>
              </a:pPr>
              <a:t>24</a:t>
            </a:fld>
            <a:endParaRPr lang="en-US" altLang="en-US" sz="1400" smtClean="0"/>
          </a:p>
        </p:txBody>
      </p:sp>
    </p:spTree>
    <p:extLst>
      <p:ext uri="{BB962C8B-B14F-4D97-AF65-F5344CB8AC3E}">
        <p14:creationId xmlns:p14="http://schemas.microsoft.com/office/powerpoint/2010/main" val="22034139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pPr>
              <a:defRPr/>
            </a:pPr>
            <a:r>
              <a:rPr lang="en-US"/>
              <a:t>Information System Design</a:t>
            </a:r>
          </a:p>
        </p:txBody>
      </p:sp>
      <p:sp>
        <p:nvSpPr>
          <p:cNvPr id="49155"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An Example of FP-Based Estimation</a:t>
            </a:r>
          </a:p>
        </p:txBody>
      </p:sp>
      <p:sp>
        <p:nvSpPr>
          <p:cNvPr id="49156" name="Rectangle 3"/>
          <p:cNvSpPr>
            <a:spLocks noGrp="1" noChangeArrowheads="1"/>
          </p:cNvSpPr>
          <p:nvPr>
            <p:ph type="body" idx="1"/>
          </p:nvPr>
        </p:nvSpPr>
        <p:spPr>
          <a:xfrm>
            <a:off x="457200" y="1600200"/>
            <a:ext cx="3581400" cy="4525963"/>
          </a:xfrm>
        </p:spPr>
        <p:txBody>
          <a:bodyPr/>
          <a:lstStyle/>
          <a:p>
            <a:pPr eaLnBrk="1" hangingPunct="1">
              <a:buFontTx/>
              <a:buNone/>
            </a:pPr>
            <a:r>
              <a:rPr lang="en-US" altLang="en-US" sz="1400" b="1" smtClean="0">
                <a:latin typeface="Times New Roman" panose="02020603050405020304" pitchFamily="18" charset="0"/>
              </a:rPr>
              <a:t>External inputs</a:t>
            </a:r>
          </a:p>
          <a:p>
            <a:pPr eaLnBrk="1" hangingPunct="1">
              <a:buFontTx/>
              <a:buNone/>
            </a:pPr>
            <a:r>
              <a:rPr lang="en-US" altLang="en-US" sz="1400" smtClean="0">
                <a:latin typeface="Times New Roman" panose="02020603050405020304" pitchFamily="18" charset="0"/>
              </a:rPr>
              <a:t>	Password</a:t>
            </a:r>
          </a:p>
          <a:p>
            <a:pPr eaLnBrk="1" hangingPunct="1">
              <a:buFontTx/>
              <a:buNone/>
            </a:pPr>
            <a:r>
              <a:rPr lang="en-US" altLang="en-US" sz="1400" smtClean="0">
                <a:latin typeface="Times New Roman" panose="02020603050405020304" pitchFamily="18" charset="0"/>
              </a:rPr>
              <a:t>	Panic Button</a:t>
            </a:r>
          </a:p>
          <a:p>
            <a:pPr eaLnBrk="1" hangingPunct="1">
              <a:buFontTx/>
              <a:buNone/>
            </a:pPr>
            <a:r>
              <a:rPr lang="en-US" altLang="en-US" sz="1400" smtClean="0">
                <a:latin typeface="Times New Roman" panose="02020603050405020304" pitchFamily="18" charset="0"/>
              </a:rPr>
              <a:t>	Activate/deactivate</a:t>
            </a:r>
          </a:p>
          <a:p>
            <a:pPr eaLnBrk="1" hangingPunct="1">
              <a:buFontTx/>
              <a:buNone/>
            </a:pPr>
            <a:r>
              <a:rPr lang="en-US" altLang="en-US" sz="1400" b="1" smtClean="0">
                <a:latin typeface="Times New Roman" panose="02020603050405020304" pitchFamily="18" charset="0"/>
              </a:rPr>
              <a:t>External outputs</a:t>
            </a:r>
          </a:p>
          <a:p>
            <a:pPr eaLnBrk="1" hangingPunct="1">
              <a:buFontTx/>
              <a:buNone/>
            </a:pPr>
            <a:r>
              <a:rPr lang="en-US" altLang="en-US" sz="1400" smtClean="0">
                <a:latin typeface="Times New Roman" panose="02020603050405020304" pitchFamily="18" charset="0"/>
              </a:rPr>
              <a:t>	Messages</a:t>
            </a:r>
          </a:p>
          <a:p>
            <a:pPr eaLnBrk="1" hangingPunct="1">
              <a:buFontTx/>
              <a:buNone/>
            </a:pPr>
            <a:r>
              <a:rPr lang="en-US" altLang="en-US" sz="1400" smtClean="0">
                <a:latin typeface="Times New Roman" panose="02020603050405020304" pitchFamily="18" charset="0"/>
              </a:rPr>
              <a:t>	Sensor status</a:t>
            </a:r>
          </a:p>
          <a:p>
            <a:pPr eaLnBrk="1" hangingPunct="1">
              <a:buFontTx/>
              <a:buNone/>
            </a:pPr>
            <a:r>
              <a:rPr lang="en-US" altLang="en-US" sz="1400" b="1" smtClean="0">
                <a:latin typeface="Times New Roman" panose="02020603050405020304" pitchFamily="18" charset="0"/>
              </a:rPr>
              <a:t>External inquiries</a:t>
            </a:r>
          </a:p>
          <a:p>
            <a:pPr eaLnBrk="1" hangingPunct="1">
              <a:buFontTx/>
              <a:buNone/>
            </a:pPr>
            <a:r>
              <a:rPr lang="en-US" altLang="en-US" sz="1400" smtClean="0">
                <a:latin typeface="Times New Roman" panose="02020603050405020304" pitchFamily="18" charset="0"/>
              </a:rPr>
              <a:t>	Zone inquiry</a:t>
            </a:r>
          </a:p>
          <a:p>
            <a:pPr eaLnBrk="1" hangingPunct="1">
              <a:buFontTx/>
              <a:buNone/>
            </a:pPr>
            <a:r>
              <a:rPr lang="en-US" altLang="en-US" sz="1400" smtClean="0">
                <a:latin typeface="Times New Roman" panose="02020603050405020304" pitchFamily="18" charset="0"/>
              </a:rPr>
              <a:t>	Sensor inquiry</a:t>
            </a:r>
          </a:p>
          <a:p>
            <a:pPr eaLnBrk="1" hangingPunct="1">
              <a:buFontTx/>
              <a:buNone/>
            </a:pPr>
            <a:r>
              <a:rPr lang="en-US" altLang="en-US" sz="1400" b="1" smtClean="0">
                <a:latin typeface="Times New Roman" panose="02020603050405020304" pitchFamily="18" charset="0"/>
              </a:rPr>
              <a:t>Internal Logical file</a:t>
            </a:r>
          </a:p>
          <a:p>
            <a:pPr eaLnBrk="1" hangingPunct="1">
              <a:buFontTx/>
              <a:buNone/>
            </a:pPr>
            <a:r>
              <a:rPr lang="en-US" altLang="en-US" sz="1400" smtClean="0">
                <a:latin typeface="Times New Roman" panose="02020603050405020304" pitchFamily="18" charset="0"/>
              </a:rPr>
              <a:t>	System configuration file</a:t>
            </a:r>
          </a:p>
          <a:p>
            <a:pPr eaLnBrk="1" hangingPunct="1">
              <a:buFontTx/>
              <a:buNone/>
            </a:pPr>
            <a:r>
              <a:rPr lang="en-US" altLang="en-US" sz="1400" b="1" smtClean="0">
                <a:latin typeface="Times New Roman" panose="02020603050405020304" pitchFamily="18" charset="0"/>
              </a:rPr>
              <a:t>External Interface Files</a:t>
            </a:r>
          </a:p>
          <a:p>
            <a:pPr eaLnBrk="1" hangingPunct="1">
              <a:buFontTx/>
              <a:buNone/>
            </a:pPr>
            <a:r>
              <a:rPr lang="en-US" altLang="en-US" sz="1400" smtClean="0">
                <a:latin typeface="Times New Roman" panose="02020603050405020304" pitchFamily="18" charset="0"/>
              </a:rPr>
              <a:t>	Test sensors</a:t>
            </a:r>
          </a:p>
          <a:p>
            <a:pPr eaLnBrk="1" hangingPunct="1">
              <a:buFontTx/>
              <a:buNone/>
            </a:pPr>
            <a:r>
              <a:rPr lang="en-US" altLang="en-US" sz="1400" smtClean="0">
                <a:latin typeface="Times New Roman" panose="02020603050405020304" pitchFamily="18" charset="0"/>
              </a:rPr>
              <a:t>	Zone setting</a:t>
            </a:r>
          </a:p>
          <a:p>
            <a:pPr eaLnBrk="1" hangingPunct="1">
              <a:buFontTx/>
              <a:buNone/>
            </a:pPr>
            <a:r>
              <a:rPr lang="en-US" altLang="en-US" sz="1400" smtClean="0">
                <a:latin typeface="Times New Roman" panose="02020603050405020304" pitchFamily="18" charset="0"/>
              </a:rPr>
              <a:t>	Activate/deactivate</a:t>
            </a:r>
          </a:p>
          <a:p>
            <a:pPr eaLnBrk="1" hangingPunct="1">
              <a:buFontTx/>
              <a:buNone/>
            </a:pPr>
            <a:r>
              <a:rPr lang="en-US" altLang="en-US" sz="1400" smtClean="0">
                <a:latin typeface="Times New Roman" panose="02020603050405020304" pitchFamily="18" charset="0"/>
              </a:rPr>
              <a:t>	Alarm alert</a:t>
            </a:r>
          </a:p>
        </p:txBody>
      </p:sp>
      <p:graphicFrame>
        <p:nvGraphicFramePr>
          <p:cNvPr id="49157" name="Object 4"/>
          <p:cNvGraphicFramePr>
            <a:graphicFrameLocks noChangeAspect="1"/>
          </p:cNvGraphicFramePr>
          <p:nvPr/>
        </p:nvGraphicFramePr>
        <p:xfrm>
          <a:off x="2971800" y="2057400"/>
          <a:ext cx="5930900" cy="2859088"/>
        </p:xfrm>
        <a:graphic>
          <a:graphicData uri="http://schemas.openxmlformats.org/presentationml/2006/ole">
            <mc:AlternateContent xmlns:mc="http://schemas.openxmlformats.org/markup-compatibility/2006">
              <mc:Choice xmlns:v="urn:schemas-microsoft-com:vml" Requires="v">
                <p:oleObj spid="_x0000_s7207" name="VISIO" r:id="rId4" imgW="5921539" imgH="2848181" progId="Visio.Drawing.5">
                  <p:embed/>
                </p:oleObj>
              </mc:Choice>
              <mc:Fallback>
                <p:oleObj name="VISIO" r:id="rId4" imgW="5921539" imgH="2848181" progId="Visio.Drawing.5">
                  <p:embed/>
                  <p:pic>
                    <p:nvPicPr>
                      <p:cNvPr id="49157"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71800" y="2057400"/>
                        <a:ext cx="5930900" cy="285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9158"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CB8CCBF3-0086-417E-BBA8-EF4090D66C28}" type="slidenum">
              <a:rPr lang="en-US" altLang="en-US" sz="1400" smtClean="0"/>
              <a:pPr>
                <a:spcBef>
                  <a:spcPct val="0"/>
                </a:spcBef>
                <a:buFontTx/>
                <a:buNone/>
              </a:pPr>
              <a:t>25</a:t>
            </a:fld>
            <a:endParaRPr lang="en-US" altLang="en-US" sz="1400" smtClean="0"/>
          </a:p>
        </p:txBody>
      </p:sp>
    </p:spTree>
    <p:extLst>
      <p:ext uri="{BB962C8B-B14F-4D97-AF65-F5344CB8AC3E}">
        <p14:creationId xmlns:p14="http://schemas.microsoft.com/office/powerpoint/2010/main" val="12556484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pPr>
              <a:defRPr/>
            </a:pPr>
            <a:r>
              <a:rPr lang="en-US" dirty="0"/>
              <a:t>Information System Design</a:t>
            </a:r>
          </a:p>
        </p:txBody>
      </p:sp>
      <p:sp>
        <p:nvSpPr>
          <p:cNvPr id="51203" name="Rectangle 2"/>
          <p:cNvSpPr>
            <a:spLocks noGrp="1" noChangeArrowheads="1"/>
          </p:cNvSpPr>
          <p:nvPr>
            <p:ph type="title"/>
          </p:nvPr>
        </p:nvSpPr>
        <p:spPr/>
        <p:txBody>
          <a:bodyPr/>
          <a:lstStyle/>
          <a:p>
            <a:pPr eaLnBrk="1" hangingPunct="1"/>
            <a:r>
              <a:rPr lang="en-US" altLang="en-US" sz="3200" b="1" smtClean="0">
                <a:solidFill>
                  <a:srgbClr val="0000CC"/>
                </a:solidFill>
                <a:latin typeface="Times New Roman" panose="02020603050405020304" pitchFamily="18" charset="0"/>
              </a:rPr>
              <a:t>An Example of FP-Based Estimation</a:t>
            </a:r>
          </a:p>
        </p:txBody>
      </p:sp>
      <p:graphicFrame>
        <p:nvGraphicFramePr>
          <p:cNvPr id="51204" name="Object 3"/>
          <p:cNvGraphicFramePr>
            <a:graphicFrameLocks noChangeAspect="1"/>
          </p:cNvGraphicFramePr>
          <p:nvPr/>
        </p:nvGraphicFramePr>
        <p:xfrm>
          <a:off x="1755775" y="1641475"/>
          <a:ext cx="6854825" cy="4348163"/>
        </p:xfrm>
        <a:graphic>
          <a:graphicData uri="http://schemas.openxmlformats.org/presentationml/2006/ole">
            <mc:AlternateContent xmlns:mc="http://schemas.openxmlformats.org/markup-compatibility/2006">
              <mc:Choice xmlns:v="urn:schemas-microsoft-com:vml" Requires="v">
                <p:oleObj spid="_x0000_s8231" name="Document" r:id="rId4" imgW="5628859" imgH="3567558" progId="Word.Document.8">
                  <p:embed/>
                </p:oleObj>
              </mc:Choice>
              <mc:Fallback>
                <p:oleObj name="Document" r:id="rId4" imgW="5628859" imgH="3567558" progId="Word.Document.8">
                  <p:embed/>
                  <p:pic>
                    <p:nvPicPr>
                      <p:cNvPr id="51204"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55775" y="1641475"/>
                        <a:ext cx="6854825" cy="4348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1205"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6C942F2A-CBEA-46C7-84A6-804089634189}" type="slidenum">
              <a:rPr lang="en-US" altLang="en-US" sz="1400" smtClean="0"/>
              <a:pPr>
                <a:spcBef>
                  <a:spcPct val="0"/>
                </a:spcBef>
                <a:buFontTx/>
                <a:buNone/>
              </a:pPr>
              <a:t>26</a:t>
            </a:fld>
            <a:endParaRPr lang="en-US" altLang="en-US" sz="1400" smtClean="0"/>
          </a:p>
        </p:txBody>
      </p:sp>
    </p:spTree>
    <p:extLst>
      <p:ext uri="{BB962C8B-B14F-4D97-AF65-F5344CB8AC3E}">
        <p14:creationId xmlns:p14="http://schemas.microsoft.com/office/powerpoint/2010/main" val="265371669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1" name="Rectangle 2"/>
          <p:cNvSpPr>
            <a:spLocks noGrp="1" noChangeArrowheads="1"/>
          </p:cNvSpPr>
          <p:nvPr>
            <p:ph type="title"/>
          </p:nvPr>
        </p:nvSpPr>
        <p:spPr>
          <a:xfrm>
            <a:off x="457200" y="-55563"/>
            <a:ext cx="8229600" cy="892275"/>
          </a:xfrm>
        </p:spPr>
        <p:txBody>
          <a:bodyPr/>
          <a:lstStyle/>
          <a:p>
            <a:pPr eaLnBrk="1" hangingPunct="1"/>
            <a:r>
              <a:rPr lang="en-US" altLang="en-US" sz="3200" b="1" dirty="0" smtClean="0">
                <a:solidFill>
                  <a:srgbClr val="0000CC"/>
                </a:solidFill>
                <a:latin typeface="Times New Roman" panose="02020603050405020304" pitchFamily="18" charset="0"/>
              </a:rPr>
              <a:t>An Example of FP-Based Estimation</a:t>
            </a:r>
          </a:p>
        </p:txBody>
      </p:sp>
      <p:sp>
        <p:nvSpPr>
          <p:cNvPr id="53252" name="Rectangle 3"/>
          <p:cNvSpPr>
            <a:spLocks noGrp="1" noChangeArrowheads="1"/>
          </p:cNvSpPr>
          <p:nvPr>
            <p:ph type="body" idx="1"/>
          </p:nvPr>
        </p:nvSpPr>
        <p:spPr/>
        <p:txBody>
          <a:bodyPr>
            <a:normAutofit lnSpcReduction="10000"/>
          </a:bodyPr>
          <a:lstStyle/>
          <a:p>
            <a:pPr eaLnBrk="1" hangingPunct="1"/>
            <a:r>
              <a:rPr lang="en-US" altLang="en-US" dirty="0" smtClean="0">
                <a:latin typeface="Times New Roman" panose="02020603050405020304" pitchFamily="18" charset="0"/>
              </a:rPr>
              <a:t>The estimated number of FP can be derived as</a:t>
            </a:r>
          </a:p>
          <a:p>
            <a:pPr eaLnBrk="1" hangingPunct="1"/>
            <a:endParaRPr lang="en-US" altLang="en-US" dirty="0" smtClean="0">
              <a:latin typeface="Times New Roman" panose="02020603050405020304" pitchFamily="18" charset="0"/>
            </a:endParaRPr>
          </a:p>
          <a:p>
            <a:pPr eaLnBrk="1" hangingPunct="1"/>
            <a:endParaRPr lang="en-US" altLang="en-US" dirty="0" smtClean="0">
              <a:latin typeface="Times New Roman" panose="02020603050405020304" pitchFamily="18" charset="0"/>
            </a:endParaRPr>
          </a:p>
          <a:p>
            <a:pPr eaLnBrk="1" hangingPunct="1">
              <a:buFontTx/>
              <a:buNone/>
            </a:pPr>
            <a:r>
              <a:rPr lang="en-US" altLang="en-US" dirty="0" smtClean="0">
                <a:latin typeface="Times New Roman" panose="02020603050405020304" pitchFamily="18" charset="0"/>
              </a:rPr>
              <a:t>			</a:t>
            </a:r>
            <a:r>
              <a:rPr lang="en-US" altLang="en-US" sz="2400" dirty="0" smtClean="0">
                <a:latin typeface="Times New Roman" panose="02020603050405020304" pitchFamily="18" charset="0"/>
              </a:rPr>
              <a:t>= 50 </a:t>
            </a:r>
            <a:r>
              <a:rPr lang="en-US" altLang="en-US" sz="2000" dirty="0" smtClean="0">
                <a:latin typeface="Arial Unicode MS" pitchFamily="34" charset="-128"/>
              </a:rPr>
              <a:t>X </a:t>
            </a:r>
            <a:r>
              <a:rPr lang="en-US" altLang="en-US" sz="2400" dirty="0" smtClean="0">
                <a:latin typeface="Times New Roman" panose="02020603050405020304" pitchFamily="18" charset="0"/>
              </a:rPr>
              <a:t>[0.65 + 0.01 </a:t>
            </a:r>
            <a:r>
              <a:rPr lang="en-US" altLang="en-US" sz="2000" dirty="0" smtClean="0">
                <a:latin typeface="Arial Unicode MS" pitchFamily="34" charset="-128"/>
              </a:rPr>
              <a:t>X </a:t>
            </a:r>
            <a:r>
              <a:rPr lang="en-US" altLang="en-US" sz="2400" dirty="0" smtClean="0">
                <a:latin typeface="Times New Roman" panose="02020603050405020304" pitchFamily="18" charset="0"/>
              </a:rPr>
              <a:t>62]</a:t>
            </a:r>
          </a:p>
          <a:p>
            <a:pPr eaLnBrk="1" hangingPunct="1">
              <a:buFontTx/>
              <a:buNone/>
            </a:pPr>
            <a:r>
              <a:rPr lang="en-US" altLang="en-US" sz="2400" dirty="0" smtClean="0">
                <a:latin typeface="Times New Roman" panose="02020603050405020304" pitchFamily="18" charset="0"/>
              </a:rPr>
              <a:t>			= 63.5</a:t>
            </a:r>
          </a:p>
          <a:p>
            <a:pPr>
              <a:buNone/>
            </a:pPr>
            <a:r>
              <a:rPr lang="en-GB" altLang="en-US" sz="2400" dirty="0">
                <a:latin typeface="Times New Roman" panose="02020603050405020304" pitchFamily="18" charset="0"/>
              </a:rPr>
              <a:t>Once FP is known, effort can be estimated using an organization's historical productivity</a:t>
            </a:r>
            <a:r>
              <a:rPr lang="en-GB" altLang="en-US" sz="2400" dirty="0" smtClean="0">
                <a:latin typeface="Times New Roman" panose="02020603050405020304" pitchFamily="18" charset="0"/>
              </a:rPr>
              <a:t>:</a:t>
            </a:r>
          </a:p>
          <a:p>
            <a:r>
              <a:rPr lang="en-IN" sz="2400" dirty="0" smtClean="0">
                <a:latin typeface="Times New Roman" panose="02020603050405020304" pitchFamily="18" charset="0"/>
              </a:rPr>
              <a:t>Effort=FP × Effort</a:t>
            </a:r>
            <a:r>
              <a:rPr lang="en-IN" sz="2400" dirty="0">
                <a:latin typeface="Times New Roman" panose="02020603050405020304" pitchFamily="18" charset="0"/>
              </a:rPr>
              <a:t> per FP</a:t>
            </a:r>
            <a:r>
              <a:rPr lang="en-IN" sz="2400" dirty="0" smtClean="0">
                <a:latin typeface="Times New Roman" panose="02020603050405020304" pitchFamily="18" charset="0"/>
              </a:rPr>
              <a:t>​</a:t>
            </a:r>
          </a:p>
          <a:p>
            <a:pPr marL="0" indent="0">
              <a:buNone/>
            </a:pPr>
            <a:r>
              <a:rPr lang="en-GB" altLang="en-US" sz="2400" dirty="0">
                <a:latin typeface="Times New Roman" panose="02020603050405020304" pitchFamily="18" charset="0"/>
              </a:rPr>
              <a:t>For example, if historical data indicates 8 person-hours per FP</a:t>
            </a:r>
            <a:r>
              <a:rPr lang="en-GB" altLang="en-US" sz="2400" dirty="0" smtClean="0">
                <a:latin typeface="Times New Roman" panose="02020603050405020304" pitchFamily="18" charset="0"/>
              </a:rPr>
              <a:t>:</a:t>
            </a:r>
          </a:p>
          <a:p>
            <a:pPr marL="0" indent="0">
              <a:buNone/>
            </a:pPr>
            <a:r>
              <a:rPr lang="en-GB" altLang="en-US" sz="2400" dirty="0" smtClean="0">
                <a:latin typeface="Times New Roman" panose="02020603050405020304" pitchFamily="18" charset="0"/>
              </a:rPr>
              <a:t>Effort = 63.5 </a:t>
            </a:r>
            <a:r>
              <a:rPr lang="en-IN" sz="2400" dirty="0">
                <a:latin typeface="Times New Roman" panose="02020603050405020304" pitchFamily="18" charset="0"/>
              </a:rPr>
              <a:t>× </a:t>
            </a:r>
            <a:r>
              <a:rPr lang="en-IN" sz="2400" dirty="0" smtClean="0">
                <a:latin typeface="Times New Roman" panose="02020603050405020304" pitchFamily="18" charset="0"/>
              </a:rPr>
              <a:t>8 = </a:t>
            </a:r>
            <a:r>
              <a:rPr lang="en-IN" sz="2400" b="1" dirty="0" smtClean="0">
                <a:latin typeface="Times New Roman" panose="02020603050405020304" pitchFamily="18" charset="0"/>
              </a:rPr>
              <a:t>508</a:t>
            </a:r>
            <a:r>
              <a:rPr lang="en-IN" sz="2400" dirty="0" smtClean="0">
                <a:latin typeface="Times New Roman" panose="02020603050405020304" pitchFamily="18" charset="0"/>
              </a:rPr>
              <a:t> person-hours</a:t>
            </a:r>
            <a:endParaRPr lang="en-US" altLang="en-US" sz="2400" dirty="0">
              <a:latin typeface="Times New Roman" panose="02020603050405020304" pitchFamily="18" charset="0"/>
            </a:endParaRPr>
          </a:p>
        </p:txBody>
      </p:sp>
      <p:graphicFrame>
        <p:nvGraphicFramePr>
          <p:cNvPr id="53253" name="Object 4"/>
          <p:cNvGraphicFramePr>
            <a:graphicFrameLocks noChangeAspect="1"/>
          </p:cNvGraphicFramePr>
          <p:nvPr/>
        </p:nvGraphicFramePr>
        <p:xfrm>
          <a:off x="1752600" y="2819400"/>
          <a:ext cx="4662488" cy="431800"/>
        </p:xfrm>
        <a:graphic>
          <a:graphicData uri="http://schemas.openxmlformats.org/presentationml/2006/ole">
            <mc:AlternateContent xmlns:mc="http://schemas.openxmlformats.org/markup-compatibility/2006">
              <mc:Choice xmlns:v="urn:schemas-microsoft-com:vml" Requires="v">
                <p:oleObj spid="_x0000_s9255" r:id="rId4" imgW="2159000" imgH="203200" progId="Equation.3">
                  <p:embed/>
                </p:oleObj>
              </mc:Choice>
              <mc:Fallback>
                <p:oleObj r:id="rId4" imgW="2159000" imgH="203200" progId="Equation.3">
                  <p:embed/>
                  <p:pic>
                    <p:nvPicPr>
                      <p:cNvPr id="53253"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52600" y="2819400"/>
                        <a:ext cx="46624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4"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8BB50853-DD15-4820-AF43-AE6E8E9FDC20}" type="slidenum">
              <a:rPr lang="en-US" altLang="en-US" sz="1400" smtClean="0"/>
              <a:pPr>
                <a:spcBef>
                  <a:spcPct val="0"/>
                </a:spcBef>
                <a:buFontTx/>
                <a:buNone/>
              </a:pPr>
              <a:t>27</a:t>
            </a:fld>
            <a:endParaRPr lang="en-US" altLang="en-US" sz="1400" smtClean="0"/>
          </a:p>
        </p:txBody>
      </p:sp>
      <p:sp>
        <p:nvSpPr>
          <p:cNvPr id="7" name="Footer Placeholder 4"/>
          <p:cNvSpPr>
            <a:spLocks noGrp="1"/>
          </p:cNvSpPr>
          <p:nvPr>
            <p:ph type="ftr" sz="quarter" idx="11"/>
          </p:nvPr>
        </p:nvSpPr>
        <p:spPr>
          <a:xfrm>
            <a:off x="3124200" y="6356350"/>
            <a:ext cx="2895600" cy="365125"/>
          </a:xfrm>
        </p:spPr>
        <p:txBody>
          <a:bodyPr/>
          <a:lstStyle/>
          <a:p>
            <a:pPr>
              <a:defRPr/>
            </a:pPr>
            <a:r>
              <a:rPr lang="en-US" dirty="0"/>
              <a:t>Information System Design</a:t>
            </a:r>
          </a:p>
        </p:txBody>
      </p:sp>
    </p:spTree>
    <p:extLst>
      <p:ext uri="{BB962C8B-B14F-4D97-AF65-F5344CB8AC3E}">
        <p14:creationId xmlns:p14="http://schemas.microsoft.com/office/powerpoint/2010/main" val="22652694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p:txBody>
          <a:bodyPr>
            <a:normAutofit/>
          </a:bodyPr>
          <a:lstStyle/>
          <a:p>
            <a:pPr algn="just"/>
            <a:r>
              <a:rPr lang="en-GB" dirty="0">
                <a:latin typeface="Times New Roman" panose="02020603050405020304" pitchFamily="18" charset="0"/>
              </a:rPr>
              <a:t>Productivity = </a:t>
            </a:r>
            <a:r>
              <a:rPr lang="en-GB" dirty="0" err="1" smtClean="0">
                <a:latin typeface="Times New Roman" panose="02020603050405020304" pitchFamily="18" charset="0"/>
              </a:rPr>
              <a:t>fp</a:t>
            </a:r>
            <a:r>
              <a:rPr lang="en-GB" dirty="0" smtClean="0">
                <a:latin typeface="Times New Roman" panose="02020603050405020304" pitchFamily="18" charset="0"/>
              </a:rPr>
              <a:t>/Effort</a:t>
            </a:r>
          </a:p>
          <a:p>
            <a:pPr marL="0" indent="0" algn="just">
              <a:buNone/>
            </a:pPr>
            <a:endParaRPr lang="en-IN" dirty="0">
              <a:latin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28</a:t>
            </a:fld>
            <a:endParaRPr lang="en-IN"/>
          </a:p>
        </p:txBody>
      </p:sp>
    </p:spTree>
    <p:extLst>
      <p:ext uri="{BB962C8B-B14F-4D97-AF65-F5344CB8AC3E}">
        <p14:creationId xmlns:p14="http://schemas.microsoft.com/office/powerpoint/2010/main" val="196825504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p:txBody>
          <a:bodyPr>
            <a:normAutofit/>
          </a:bodyPr>
          <a:lstStyle/>
          <a:p>
            <a:pPr marL="363538" indent="0" algn="just">
              <a:lnSpc>
                <a:spcPct val="80000"/>
              </a:lnSpc>
              <a:buNone/>
            </a:pPr>
            <a:r>
              <a:rPr lang="en-IN" sz="2400" dirty="0">
                <a:solidFill>
                  <a:srgbClr val="00B0F0"/>
                </a:solidFill>
                <a:latin typeface="Times New Roman" pitchFamily="18" charset="0"/>
                <a:cs typeface="Times New Roman" pitchFamily="18" charset="0"/>
              </a:rPr>
              <a:t>Example 4.1</a:t>
            </a:r>
          </a:p>
          <a:p>
            <a:pPr marL="363538" indent="0" algn="just">
              <a:buNone/>
            </a:pPr>
            <a:r>
              <a:rPr lang="en-IN" sz="2400" dirty="0">
                <a:latin typeface="Times New Roman" pitchFamily="18" charset="0"/>
                <a:cs typeface="Times New Roman" pitchFamily="18" charset="0"/>
              </a:rPr>
              <a:t>Compute the FP value for the grade calculation of students. Assume that it is an average complexity size project. The information domain values are as follows: number of inputs = 13, number of outputs = 4, number of inquiries = 2, number of external files = 5, number of interfaces = 2. The total value of complexity adjustment </a:t>
            </a:r>
            <a:r>
              <a:rPr lang="en-IN" sz="2400" dirty="0" smtClean="0">
                <a:latin typeface="Times New Roman" pitchFamily="18" charset="0"/>
                <a:cs typeface="Times New Roman" pitchFamily="18" charset="0"/>
              </a:rPr>
              <a:t>attributes (VAF) </a:t>
            </a:r>
            <a:r>
              <a:rPr lang="en-IN" sz="2400" dirty="0">
                <a:latin typeface="Times New Roman" pitchFamily="18" charset="0"/>
                <a:cs typeface="Times New Roman" pitchFamily="18" charset="0"/>
              </a:rPr>
              <a:t>is 13. </a:t>
            </a:r>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29</a:t>
            </a:fld>
            <a:endParaRPr lang="en-IN"/>
          </a:p>
        </p:txBody>
      </p:sp>
    </p:spTree>
    <p:extLst>
      <p:ext uri="{BB962C8B-B14F-4D97-AF65-F5344CB8AC3E}">
        <p14:creationId xmlns:p14="http://schemas.microsoft.com/office/powerpoint/2010/main" val="38097602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634082"/>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638252"/>
            <a:ext cx="8229600" cy="4709120"/>
          </a:xfrm>
        </p:spPr>
        <p:txBody>
          <a:bodyPr>
            <a:noAutofit/>
          </a:bodyPr>
          <a:lstStyle/>
          <a:p>
            <a:pPr marL="0" indent="0" algn="just">
              <a:buNone/>
            </a:pPr>
            <a:r>
              <a:rPr lang="en-IN" sz="2200" dirty="0">
                <a:solidFill>
                  <a:srgbClr val="00B0F0"/>
                </a:solidFill>
                <a:latin typeface="Times New Roman" pitchFamily="18" charset="0"/>
                <a:cs typeface="Times New Roman" pitchFamily="18" charset="0"/>
              </a:rPr>
              <a:t>Function Point </a:t>
            </a:r>
            <a:r>
              <a:rPr lang="en-IN" sz="2200" dirty="0" smtClean="0">
                <a:solidFill>
                  <a:srgbClr val="00B0F0"/>
                </a:solidFill>
                <a:latin typeface="Times New Roman" pitchFamily="18" charset="0"/>
                <a:cs typeface="Times New Roman" pitchFamily="18" charset="0"/>
              </a:rPr>
              <a:t>Analysis: Benefits</a:t>
            </a:r>
          </a:p>
          <a:p>
            <a:pPr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FP computation is useful to find other </a:t>
            </a:r>
            <a:r>
              <a:rPr lang="en-IN" sz="2200" dirty="0" smtClean="0">
                <a:latin typeface="Times New Roman" pitchFamily="18" charset="0"/>
                <a:cs typeface="Times New Roman" pitchFamily="18" charset="0"/>
              </a:rPr>
              <a:t>metrics of the project such as </a:t>
            </a:r>
            <a:r>
              <a:rPr lang="en-IN" sz="2200" dirty="0">
                <a:latin typeface="Times New Roman" pitchFamily="18" charset="0"/>
                <a:cs typeface="Times New Roman" pitchFamily="18" charset="0"/>
              </a:rPr>
              <a:t>defect per FP, cost per FP, FP per hour productivity, and so on. </a:t>
            </a:r>
            <a:endParaRPr lang="en-IN" sz="2200" dirty="0" smtClean="0">
              <a:latin typeface="Times New Roman" pitchFamily="18" charset="0"/>
              <a:cs typeface="Times New Roman" pitchFamily="18" charset="0"/>
            </a:endParaRPr>
          </a:p>
          <a:p>
            <a:pPr algn="just"/>
            <a:r>
              <a:rPr lang="en-GB" sz="2200" dirty="0">
                <a:latin typeface="Times New Roman" pitchFamily="18" charset="0"/>
                <a:cs typeface="Times New Roman" pitchFamily="18" charset="0"/>
              </a:rPr>
              <a:t>Independent of programming language</a:t>
            </a:r>
          </a:p>
          <a:p>
            <a:pPr marL="0" indent="0" algn="just">
              <a:buNone/>
            </a:pPr>
            <a:r>
              <a:rPr lang="en-GB" sz="2200" dirty="0" smtClean="0">
                <a:latin typeface="Times New Roman" pitchFamily="18" charset="0"/>
                <a:cs typeface="Times New Roman" pitchFamily="18" charset="0"/>
              </a:rPr>
              <a:t>       Function </a:t>
            </a:r>
            <a:r>
              <a:rPr lang="en-GB" sz="2200" dirty="0">
                <a:latin typeface="Times New Roman" pitchFamily="18" charset="0"/>
                <a:cs typeface="Times New Roman" pitchFamily="18" charset="0"/>
              </a:rPr>
              <a:t>points measure functionality rather than lines of code, so they </a:t>
            </a:r>
            <a:r>
              <a:rPr lang="en-GB" sz="2200" dirty="0" smtClean="0">
                <a:latin typeface="Times New Roman" pitchFamily="18" charset="0"/>
                <a:cs typeface="Times New Roman" pitchFamily="18" charset="0"/>
              </a:rPr>
              <a:t>  can </a:t>
            </a:r>
            <a:r>
              <a:rPr lang="en-GB" sz="2200" dirty="0">
                <a:latin typeface="Times New Roman" pitchFamily="18" charset="0"/>
                <a:cs typeface="Times New Roman" pitchFamily="18" charset="0"/>
              </a:rPr>
              <a:t>be used for Java, Python, C++, etc.</a:t>
            </a:r>
          </a:p>
          <a:p>
            <a:pPr algn="just"/>
            <a:r>
              <a:rPr lang="en-GB" sz="2200" dirty="0">
                <a:latin typeface="Times New Roman" pitchFamily="18" charset="0"/>
                <a:cs typeface="Times New Roman" pitchFamily="18" charset="0"/>
              </a:rPr>
              <a:t>Can be used early in development</a:t>
            </a:r>
          </a:p>
          <a:p>
            <a:pPr marL="0" indent="0" algn="just">
              <a:buNone/>
            </a:pPr>
            <a:r>
              <a:rPr lang="en-GB" sz="2200" dirty="0" smtClean="0">
                <a:latin typeface="Times New Roman" pitchFamily="18" charset="0"/>
                <a:cs typeface="Times New Roman" pitchFamily="18" charset="0"/>
              </a:rPr>
              <a:t>      Estimation </a:t>
            </a:r>
            <a:r>
              <a:rPr lang="en-GB" sz="2200" dirty="0">
                <a:latin typeface="Times New Roman" pitchFamily="18" charset="0"/>
                <a:cs typeface="Times New Roman" pitchFamily="18" charset="0"/>
              </a:rPr>
              <a:t>can be performed from requirements and specifications, even before coding begins.</a:t>
            </a:r>
          </a:p>
          <a:p>
            <a:pPr algn="just"/>
            <a:r>
              <a:rPr lang="en-GB" sz="2200" dirty="0">
                <a:latin typeface="Times New Roman" pitchFamily="18" charset="0"/>
                <a:cs typeface="Times New Roman" pitchFamily="18" charset="0"/>
              </a:rPr>
              <a:t>User-oriented measurement</a:t>
            </a:r>
          </a:p>
          <a:p>
            <a:pPr marL="0" indent="0" algn="just">
              <a:buNone/>
            </a:pPr>
            <a:r>
              <a:rPr lang="en-GB" sz="2200" dirty="0" smtClean="0">
                <a:latin typeface="Times New Roman" pitchFamily="18" charset="0"/>
                <a:cs typeface="Times New Roman" pitchFamily="18" charset="0"/>
              </a:rPr>
              <a:t>      It </a:t>
            </a:r>
            <a:r>
              <a:rPr lang="en-GB" sz="2200" dirty="0">
                <a:latin typeface="Times New Roman" pitchFamily="18" charset="0"/>
                <a:cs typeface="Times New Roman" pitchFamily="18" charset="0"/>
              </a:rPr>
              <a:t>measures software based on the functionality delivered to the user, making it easier to relate estimation to business requirements.</a:t>
            </a:r>
          </a:p>
          <a:p>
            <a:pPr algn="just"/>
            <a:r>
              <a:rPr lang="en-GB" sz="2200" dirty="0">
                <a:latin typeface="Times New Roman" pitchFamily="18" charset="0"/>
                <a:cs typeface="Times New Roman" pitchFamily="18" charset="0"/>
              </a:rPr>
              <a:t>Useful for effort and cost estimation</a:t>
            </a:r>
          </a:p>
          <a:p>
            <a:pPr marL="0" indent="0" algn="just">
              <a:buNone/>
            </a:pPr>
            <a:r>
              <a:rPr lang="en-GB" sz="2200" dirty="0" smtClean="0">
                <a:latin typeface="Times New Roman" pitchFamily="18" charset="0"/>
                <a:cs typeface="Times New Roman" pitchFamily="18" charset="0"/>
              </a:rPr>
              <a:t>      Function </a:t>
            </a:r>
            <a:r>
              <a:rPr lang="en-GB" sz="2200" dirty="0">
                <a:latin typeface="Times New Roman" pitchFamily="18" charset="0"/>
                <a:cs typeface="Times New Roman" pitchFamily="18" charset="0"/>
              </a:rPr>
              <a:t>points can be combined with historical productivity data to estimate development effort and project cost.</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30</a:t>
            </a:fld>
            <a:endParaRPr lang="en-IN"/>
          </a:p>
        </p:txBody>
      </p:sp>
    </p:spTree>
    <p:extLst>
      <p:ext uri="{BB962C8B-B14F-4D97-AF65-F5344CB8AC3E}">
        <p14:creationId xmlns:p14="http://schemas.microsoft.com/office/powerpoint/2010/main" val="184654363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634082"/>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638252"/>
            <a:ext cx="8229600" cy="4709120"/>
          </a:xfrm>
        </p:spPr>
        <p:txBody>
          <a:bodyPr>
            <a:noAutofit/>
          </a:bodyPr>
          <a:lstStyle/>
          <a:p>
            <a:pPr marL="0" indent="0" algn="just">
              <a:buNone/>
            </a:pPr>
            <a:r>
              <a:rPr lang="en-IN" sz="2100" dirty="0">
                <a:solidFill>
                  <a:srgbClr val="00B0F0"/>
                </a:solidFill>
                <a:latin typeface="Times New Roman" pitchFamily="18" charset="0"/>
                <a:cs typeface="Times New Roman" pitchFamily="18" charset="0"/>
              </a:rPr>
              <a:t>Function Point </a:t>
            </a:r>
            <a:r>
              <a:rPr lang="en-IN" sz="2100" dirty="0" smtClean="0">
                <a:solidFill>
                  <a:srgbClr val="00B0F0"/>
                </a:solidFill>
                <a:latin typeface="Times New Roman" pitchFamily="18" charset="0"/>
                <a:cs typeface="Times New Roman" pitchFamily="18" charset="0"/>
              </a:rPr>
              <a:t>Analysis: Benefits </a:t>
            </a:r>
          </a:p>
          <a:p>
            <a:pPr algn="just"/>
            <a:r>
              <a:rPr lang="en-GB" sz="2100" dirty="0">
                <a:latin typeface="Times New Roman" pitchFamily="18" charset="0"/>
                <a:cs typeface="Times New Roman" pitchFamily="18" charset="0"/>
              </a:rPr>
              <a:t>Better comparison between projects</a:t>
            </a:r>
          </a:p>
          <a:p>
            <a:pPr marL="0" indent="0" algn="just">
              <a:buNone/>
            </a:pPr>
            <a:r>
              <a:rPr lang="en-GB" sz="2100" dirty="0" smtClean="0">
                <a:latin typeface="Times New Roman" pitchFamily="18" charset="0"/>
                <a:cs typeface="Times New Roman" pitchFamily="18" charset="0"/>
              </a:rPr>
              <a:t>     Projects </a:t>
            </a:r>
            <a:r>
              <a:rPr lang="en-GB" sz="2100" dirty="0">
                <a:latin typeface="Times New Roman" pitchFamily="18" charset="0"/>
                <a:cs typeface="Times New Roman" pitchFamily="18" charset="0"/>
              </a:rPr>
              <a:t>developed using different programming languages or technologies can be compared using function points.</a:t>
            </a:r>
          </a:p>
          <a:p>
            <a:pPr algn="just"/>
            <a:r>
              <a:rPr lang="en-GB" sz="2100" dirty="0">
                <a:latin typeface="Times New Roman" pitchFamily="18" charset="0"/>
                <a:cs typeface="Times New Roman" pitchFamily="18" charset="0"/>
              </a:rPr>
              <a:t>Supports productivity </a:t>
            </a:r>
            <a:r>
              <a:rPr lang="en-GB" sz="2100" dirty="0" smtClean="0">
                <a:latin typeface="Times New Roman" pitchFamily="18" charset="0"/>
                <a:cs typeface="Times New Roman" pitchFamily="18" charset="0"/>
              </a:rPr>
              <a:t>measurement</a:t>
            </a:r>
          </a:p>
          <a:p>
            <a:pPr algn="just"/>
            <a:r>
              <a:rPr lang="en-GB" sz="2100" dirty="0">
                <a:latin typeface="Times New Roman" pitchFamily="18" charset="0"/>
                <a:cs typeface="Times New Roman" pitchFamily="18" charset="0"/>
              </a:rPr>
              <a:t>Useful for project planning</a:t>
            </a:r>
          </a:p>
          <a:p>
            <a:pPr marL="0" indent="0" algn="just">
              <a:buNone/>
            </a:pPr>
            <a:r>
              <a:rPr lang="en-GB" sz="2100" dirty="0" smtClean="0">
                <a:latin typeface="Times New Roman" pitchFamily="18" charset="0"/>
                <a:cs typeface="Times New Roman" pitchFamily="18" charset="0"/>
              </a:rPr>
              <a:t>     FP </a:t>
            </a:r>
            <a:r>
              <a:rPr lang="en-GB" sz="2100" dirty="0">
                <a:latin typeface="Times New Roman" pitchFamily="18" charset="0"/>
                <a:cs typeface="Times New Roman" pitchFamily="18" charset="0"/>
              </a:rPr>
              <a:t>estimates can help managers plan resources, schedules, staffing, and budgets.</a:t>
            </a:r>
          </a:p>
          <a:p>
            <a:pPr algn="just"/>
            <a:r>
              <a:rPr lang="en-GB" sz="2100" dirty="0">
                <a:latin typeface="Times New Roman" pitchFamily="18" charset="0"/>
                <a:cs typeface="Times New Roman" pitchFamily="18" charset="0"/>
              </a:rPr>
              <a:t>Less dependent on programmer coding style</a:t>
            </a:r>
          </a:p>
          <a:p>
            <a:pPr marL="0" indent="0" algn="just">
              <a:buNone/>
            </a:pPr>
            <a:r>
              <a:rPr lang="en-GB" sz="2100" dirty="0" smtClean="0">
                <a:latin typeface="Times New Roman" pitchFamily="18" charset="0"/>
                <a:cs typeface="Times New Roman" pitchFamily="18" charset="0"/>
              </a:rPr>
              <a:t>     Unlike </a:t>
            </a:r>
            <a:r>
              <a:rPr lang="en-GB" sz="2100" dirty="0">
                <a:latin typeface="Times New Roman" pitchFamily="18" charset="0"/>
                <a:cs typeface="Times New Roman" pitchFamily="18" charset="0"/>
              </a:rPr>
              <a:t>LOC-based estimation, function points are not significantly affected by coding practices or programming language.</a:t>
            </a:r>
          </a:p>
          <a:p>
            <a:pPr algn="just"/>
            <a:r>
              <a:rPr lang="en-GB" sz="2100" dirty="0">
                <a:latin typeface="Times New Roman" pitchFamily="18" charset="0"/>
                <a:cs typeface="Times New Roman" pitchFamily="18" charset="0"/>
              </a:rPr>
              <a:t>Supports historical analysis</a:t>
            </a:r>
          </a:p>
          <a:p>
            <a:pPr marL="0" indent="0" algn="just">
              <a:buNone/>
            </a:pPr>
            <a:r>
              <a:rPr lang="en-GB" sz="2100" dirty="0" smtClean="0">
                <a:latin typeface="Times New Roman" pitchFamily="18" charset="0"/>
                <a:cs typeface="Times New Roman" pitchFamily="18" charset="0"/>
              </a:rPr>
              <a:t>     Organizations </a:t>
            </a:r>
            <a:r>
              <a:rPr lang="en-GB" sz="2100" dirty="0">
                <a:latin typeface="Times New Roman" pitchFamily="18" charset="0"/>
                <a:cs typeface="Times New Roman" pitchFamily="18" charset="0"/>
              </a:rPr>
              <a:t>can maintain historical FP and effort data and use it to improve future estimates.</a:t>
            </a:r>
          </a:p>
          <a:p>
            <a:pPr algn="just"/>
            <a:r>
              <a:rPr lang="en-GB" sz="2100" dirty="0">
                <a:latin typeface="Times New Roman" pitchFamily="18" charset="0"/>
                <a:cs typeface="Times New Roman" pitchFamily="18" charset="0"/>
              </a:rPr>
              <a:t>Useful for maintenance and enhancement projects</a:t>
            </a:r>
          </a:p>
          <a:p>
            <a:pPr marL="0" indent="0" algn="just">
              <a:buNone/>
            </a:pPr>
            <a:r>
              <a:rPr lang="en-GB" sz="2100" dirty="0" smtClean="0">
                <a:latin typeface="Times New Roman" pitchFamily="18" charset="0"/>
                <a:cs typeface="Times New Roman" pitchFamily="18" charset="0"/>
              </a:rPr>
              <a:t>     Function </a:t>
            </a:r>
            <a:r>
              <a:rPr lang="en-GB" sz="2100" dirty="0">
                <a:latin typeface="Times New Roman" pitchFamily="18" charset="0"/>
                <a:cs typeface="Times New Roman" pitchFamily="18" charset="0"/>
              </a:rPr>
              <a:t>points can also be used to measure the size of changes made to existing software.</a:t>
            </a:r>
            <a:endParaRPr lang="en-IN" sz="21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31</a:t>
            </a:fld>
            <a:endParaRPr lang="en-IN"/>
          </a:p>
        </p:txBody>
      </p:sp>
    </p:spTree>
    <p:extLst>
      <p:ext uri="{BB962C8B-B14F-4D97-AF65-F5344CB8AC3E}">
        <p14:creationId xmlns:p14="http://schemas.microsoft.com/office/powerpoint/2010/main" val="67251774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634082"/>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638252"/>
            <a:ext cx="8229600" cy="4709120"/>
          </a:xfrm>
        </p:spPr>
        <p:txBody>
          <a:bodyPr>
            <a:noAutofit/>
          </a:bodyPr>
          <a:lstStyle/>
          <a:p>
            <a:pPr marL="0" indent="0" algn="just">
              <a:buNone/>
            </a:pPr>
            <a:r>
              <a:rPr lang="en-IN" sz="2100" dirty="0">
                <a:solidFill>
                  <a:srgbClr val="00B0F0"/>
                </a:solidFill>
                <a:latin typeface="Times New Roman" pitchFamily="18" charset="0"/>
                <a:cs typeface="Times New Roman" pitchFamily="18" charset="0"/>
              </a:rPr>
              <a:t>Function Point </a:t>
            </a:r>
            <a:r>
              <a:rPr lang="en-IN" sz="2100" dirty="0" smtClean="0">
                <a:solidFill>
                  <a:srgbClr val="00B0F0"/>
                </a:solidFill>
                <a:latin typeface="Times New Roman" pitchFamily="18" charset="0"/>
                <a:cs typeface="Times New Roman" pitchFamily="18" charset="0"/>
              </a:rPr>
              <a:t>Analysis: Benefits </a:t>
            </a:r>
          </a:p>
          <a:p>
            <a:pPr algn="just"/>
            <a:r>
              <a:rPr lang="en-GB" sz="2100" dirty="0">
                <a:latin typeface="Times New Roman" pitchFamily="18" charset="0"/>
                <a:cs typeface="Times New Roman" pitchFamily="18" charset="0"/>
              </a:rPr>
              <a:t>Function Point-based estimation is advantageous because it is user-oriented, language-independent, applicable early in the software life cycle, and useful for estimating effort, cost, productivity, and project resources.</a:t>
            </a:r>
            <a:endParaRPr lang="en-IN" sz="21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32</a:t>
            </a:fld>
            <a:endParaRPr lang="en-IN"/>
          </a:p>
        </p:txBody>
      </p:sp>
    </p:spTree>
    <p:extLst>
      <p:ext uri="{BB962C8B-B14F-4D97-AF65-F5344CB8AC3E}">
        <p14:creationId xmlns:p14="http://schemas.microsoft.com/office/powerpoint/2010/main" val="143756686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1264590"/>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1412776"/>
            <a:ext cx="8229600" cy="4709120"/>
          </a:xfrm>
        </p:spPr>
        <p:txBody>
          <a:bodyPr>
            <a:noAutofit/>
          </a:bodyPr>
          <a:lstStyle/>
          <a:p>
            <a:pPr marL="0" indent="0" algn="just">
              <a:buNone/>
            </a:pPr>
            <a:r>
              <a:rPr lang="en-IN" sz="2100" dirty="0">
                <a:solidFill>
                  <a:srgbClr val="00B0F0"/>
                </a:solidFill>
                <a:latin typeface="Times New Roman" pitchFamily="18" charset="0"/>
                <a:cs typeface="Times New Roman" pitchFamily="18" charset="0"/>
              </a:rPr>
              <a:t>Function Point </a:t>
            </a:r>
            <a:r>
              <a:rPr lang="en-IN" sz="2100" dirty="0" smtClean="0">
                <a:solidFill>
                  <a:srgbClr val="00B0F0"/>
                </a:solidFill>
                <a:latin typeface="Times New Roman" pitchFamily="18" charset="0"/>
                <a:cs typeface="Times New Roman" pitchFamily="18" charset="0"/>
              </a:rPr>
              <a:t>Analysis: Disadvantages</a:t>
            </a:r>
          </a:p>
          <a:p>
            <a:pPr algn="just"/>
            <a:r>
              <a:rPr lang="en-GB" sz="2100" dirty="0">
                <a:latin typeface="Times New Roman" pitchFamily="18" charset="0"/>
                <a:cs typeface="Times New Roman" pitchFamily="18" charset="0"/>
              </a:rPr>
              <a:t>Complex to calculate</a:t>
            </a:r>
          </a:p>
          <a:p>
            <a:pPr marL="0" indent="0" algn="just">
              <a:buNone/>
            </a:pPr>
            <a:r>
              <a:rPr lang="en-GB" sz="2100" dirty="0" smtClean="0">
                <a:latin typeface="Times New Roman" pitchFamily="18" charset="0"/>
                <a:cs typeface="Times New Roman" pitchFamily="18" charset="0"/>
              </a:rPr>
              <a:t>     Identifying </a:t>
            </a:r>
            <a:r>
              <a:rPr lang="en-GB" sz="2100" dirty="0">
                <a:latin typeface="Times New Roman" pitchFamily="18" charset="0"/>
                <a:cs typeface="Times New Roman" pitchFamily="18" charset="0"/>
              </a:rPr>
              <a:t>and classifying inputs, outputs, files, and inquiries requires experience and careful analysis.</a:t>
            </a:r>
          </a:p>
          <a:p>
            <a:pPr algn="just"/>
            <a:r>
              <a:rPr lang="en-GB" sz="2100" dirty="0">
                <a:latin typeface="Times New Roman" pitchFamily="18" charset="0"/>
                <a:cs typeface="Times New Roman" pitchFamily="18" charset="0"/>
              </a:rPr>
              <a:t>Subjective judgment</a:t>
            </a:r>
          </a:p>
          <a:p>
            <a:pPr marL="0" indent="0" algn="just">
              <a:buNone/>
            </a:pPr>
            <a:r>
              <a:rPr lang="en-GB" sz="2100" dirty="0" smtClean="0">
                <a:latin typeface="Times New Roman" pitchFamily="18" charset="0"/>
                <a:cs typeface="Times New Roman" pitchFamily="18" charset="0"/>
              </a:rPr>
              <a:t>     Determining </a:t>
            </a:r>
            <a:r>
              <a:rPr lang="en-GB" sz="2100" dirty="0">
                <a:latin typeface="Times New Roman" pitchFamily="18" charset="0"/>
                <a:cs typeface="Times New Roman" pitchFamily="18" charset="0"/>
              </a:rPr>
              <a:t>whether a function has low, average, or high complexity can depend on the estimator's judgment.</a:t>
            </a:r>
          </a:p>
          <a:p>
            <a:pPr algn="just"/>
            <a:r>
              <a:rPr lang="en-GB" sz="2100" dirty="0">
                <a:latin typeface="Times New Roman" pitchFamily="18" charset="0"/>
                <a:cs typeface="Times New Roman" pitchFamily="18" charset="0"/>
              </a:rPr>
              <a:t>Requires trained personnel</a:t>
            </a:r>
          </a:p>
          <a:p>
            <a:pPr marL="0" indent="0" algn="just">
              <a:buNone/>
            </a:pPr>
            <a:r>
              <a:rPr lang="en-GB" sz="2100" dirty="0" smtClean="0">
                <a:latin typeface="Times New Roman" pitchFamily="18" charset="0"/>
                <a:cs typeface="Times New Roman" pitchFamily="18" charset="0"/>
              </a:rPr>
              <a:t>     Accurate </a:t>
            </a:r>
            <a:r>
              <a:rPr lang="en-GB" sz="2100" dirty="0">
                <a:latin typeface="Times New Roman" pitchFamily="18" charset="0"/>
                <a:cs typeface="Times New Roman" pitchFamily="18" charset="0"/>
              </a:rPr>
              <a:t>Function Point estimation generally requires people who understand the FPA rules and have sufficient experience.</a:t>
            </a:r>
          </a:p>
          <a:p>
            <a:pPr algn="just"/>
            <a:r>
              <a:rPr lang="en-GB" sz="2100" dirty="0">
                <a:latin typeface="Times New Roman" pitchFamily="18" charset="0"/>
                <a:cs typeface="Times New Roman" pitchFamily="18" charset="0"/>
              </a:rPr>
              <a:t>Not suitable for all types of software</a:t>
            </a:r>
          </a:p>
          <a:p>
            <a:pPr marL="0" indent="0" algn="just">
              <a:buNone/>
            </a:pPr>
            <a:r>
              <a:rPr lang="en-GB" sz="2100" dirty="0" smtClean="0">
                <a:latin typeface="Times New Roman" pitchFamily="18" charset="0"/>
                <a:cs typeface="Times New Roman" pitchFamily="18" charset="0"/>
              </a:rPr>
              <a:t>      It </a:t>
            </a:r>
            <a:r>
              <a:rPr lang="en-GB" sz="2100" dirty="0">
                <a:latin typeface="Times New Roman" pitchFamily="18" charset="0"/>
                <a:cs typeface="Times New Roman" pitchFamily="18" charset="0"/>
              </a:rPr>
              <a:t>works well for business and information-processing systems but may be less suitable for real-time, scientific, embedded, or algorithm-intensive software.</a:t>
            </a:r>
            <a:endParaRPr lang="en-IN" sz="21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33</a:t>
            </a:fld>
            <a:endParaRPr lang="en-IN"/>
          </a:p>
        </p:txBody>
      </p:sp>
    </p:spTree>
    <p:extLst>
      <p:ext uri="{BB962C8B-B14F-4D97-AF65-F5344CB8AC3E}">
        <p14:creationId xmlns:p14="http://schemas.microsoft.com/office/powerpoint/2010/main" val="100578775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1264590"/>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1052736"/>
            <a:ext cx="8229600" cy="4709120"/>
          </a:xfrm>
        </p:spPr>
        <p:txBody>
          <a:bodyPr>
            <a:noAutofit/>
          </a:bodyPr>
          <a:lstStyle/>
          <a:p>
            <a:pPr marL="0" indent="0" algn="just">
              <a:buNone/>
            </a:pPr>
            <a:r>
              <a:rPr lang="en-IN" sz="2400" dirty="0">
                <a:solidFill>
                  <a:srgbClr val="00B0F0"/>
                </a:solidFill>
                <a:latin typeface="Times New Roman" pitchFamily="18" charset="0"/>
                <a:cs typeface="Times New Roman" pitchFamily="18" charset="0"/>
              </a:rPr>
              <a:t>Function Point </a:t>
            </a:r>
            <a:r>
              <a:rPr lang="en-IN" sz="2400" dirty="0" smtClean="0">
                <a:solidFill>
                  <a:srgbClr val="00B0F0"/>
                </a:solidFill>
                <a:latin typeface="Times New Roman" pitchFamily="18" charset="0"/>
                <a:cs typeface="Times New Roman" pitchFamily="18" charset="0"/>
              </a:rPr>
              <a:t>Analysis: Disadvantages</a:t>
            </a:r>
          </a:p>
          <a:p>
            <a:pPr algn="just"/>
            <a:r>
              <a:rPr lang="en-GB" sz="2400" dirty="0">
                <a:latin typeface="Times New Roman" pitchFamily="18" charset="0"/>
                <a:cs typeface="Times New Roman" pitchFamily="18" charset="0"/>
              </a:rPr>
              <a:t>Time-consuming for large projects</a:t>
            </a:r>
          </a:p>
          <a:p>
            <a:pPr marL="0" indent="0" algn="just">
              <a:buNone/>
            </a:pPr>
            <a:r>
              <a:rPr lang="en-GB" sz="2400" dirty="0" smtClean="0">
                <a:latin typeface="Times New Roman" pitchFamily="18" charset="0"/>
                <a:cs typeface="Times New Roman" pitchFamily="18" charset="0"/>
              </a:rPr>
              <a:t>      A </a:t>
            </a:r>
            <a:r>
              <a:rPr lang="en-GB" sz="2400" dirty="0">
                <a:latin typeface="Times New Roman" pitchFamily="18" charset="0"/>
                <a:cs typeface="Times New Roman" pitchFamily="18" charset="0"/>
              </a:rPr>
              <a:t>detailed function-point analysis can require considerable time, especially for complex systems.</a:t>
            </a:r>
          </a:p>
          <a:p>
            <a:pPr algn="just"/>
            <a:r>
              <a:rPr lang="en-GB" sz="2400" dirty="0">
                <a:latin typeface="Times New Roman" pitchFamily="18" charset="0"/>
                <a:cs typeface="Times New Roman" pitchFamily="18" charset="0"/>
              </a:rPr>
              <a:t>Does not directly measure code size</a:t>
            </a:r>
          </a:p>
          <a:p>
            <a:pPr marL="0" indent="0" algn="just">
              <a:buNone/>
            </a:pPr>
            <a:r>
              <a:rPr lang="en-GB" sz="2400" dirty="0" smtClean="0">
                <a:latin typeface="Times New Roman" pitchFamily="18" charset="0"/>
                <a:cs typeface="Times New Roman" pitchFamily="18" charset="0"/>
              </a:rPr>
              <a:t>      Function </a:t>
            </a:r>
            <a:r>
              <a:rPr lang="en-GB" sz="2400" dirty="0">
                <a:latin typeface="Times New Roman" pitchFamily="18" charset="0"/>
                <a:cs typeface="Times New Roman" pitchFamily="18" charset="0"/>
              </a:rPr>
              <a:t>points measure functionality, not the actual number of lines of code or programming complexity.</a:t>
            </a:r>
          </a:p>
          <a:p>
            <a:pPr algn="just"/>
            <a:r>
              <a:rPr lang="en-GB" sz="2400" dirty="0">
                <a:latin typeface="Times New Roman" pitchFamily="18" charset="0"/>
                <a:cs typeface="Times New Roman" pitchFamily="18" charset="0"/>
              </a:rPr>
              <a:t>Difficulty with changing requirements</a:t>
            </a:r>
          </a:p>
          <a:p>
            <a:pPr marL="0" indent="0" algn="just">
              <a:buNone/>
            </a:pPr>
            <a:r>
              <a:rPr lang="en-GB" sz="2400" dirty="0" smtClean="0">
                <a:latin typeface="Times New Roman" pitchFamily="18" charset="0"/>
                <a:cs typeface="Times New Roman" pitchFamily="18" charset="0"/>
              </a:rPr>
              <a:t>      Frequent </a:t>
            </a:r>
            <a:r>
              <a:rPr lang="en-GB" sz="2400" dirty="0">
                <a:latin typeface="Times New Roman" pitchFamily="18" charset="0"/>
                <a:cs typeface="Times New Roman" pitchFamily="18" charset="0"/>
              </a:rPr>
              <a:t>changes in requirements can require repeated Function Point calculations</a:t>
            </a:r>
            <a:r>
              <a:rPr lang="en-GB" sz="2400" dirty="0" smtClean="0">
                <a:latin typeface="Times New Roman" pitchFamily="18" charset="0"/>
                <a:cs typeface="Times New Roman" pitchFamily="18" charset="0"/>
              </a:rPr>
              <a:t>.</a:t>
            </a:r>
            <a:endParaRPr lang="en-GB"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34</a:t>
            </a:fld>
            <a:endParaRPr lang="en-IN"/>
          </a:p>
        </p:txBody>
      </p:sp>
    </p:spTree>
    <p:extLst>
      <p:ext uri="{BB962C8B-B14F-4D97-AF65-F5344CB8AC3E}">
        <p14:creationId xmlns:p14="http://schemas.microsoft.com/office/powerpoint/2010/main" val="66232523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170"/>
            <a:ext cx="8229600" cy="1264590"/>
          </a:xfrm>
        </p:spPr>
        <p:txBody>
          <a:bodyPr>
            <a:normAutofit/>
          </a:bodyPr>
          <a:lstStyle/>
          <a:p>
            <a:r>
              <a:rPr lang="en-IN" sz="2800" b="1" dirty="0">
                <a:solidFill>
                  <a:srgbClr val="0000FF"/>
                </a:solidFill>
                <a:latin typeface="Times New Roman" pitchFamily="18" charset="0"/>
                <a:cs typeface="Times New Roman" pitchFamily="18" charset="0"/>
              </a:rPr>
              <a:t>Project Size Estimation</a:t>
            </a:r>
            <a:endParaRPr lang="en-IN" sz="2800" dirty="0"/>
          </a:p>
        </p:txBody>
      </p:sp>
      <p:sp>
        <p:nvSpPr>
          <p:cNvPr id="3" name="Content Placeholder 2"/>
          <p:cNvSpPr>
            <a:spLocks noGrp="1"/>
          </p:cNvSpPr>
          <p:nvPr>
            <p:ph idx="1"/>
          </p:nvPr>
        </p:nvSpPr>
        <p:spPr>
          <a:xfrm>
            <a:off x="539552" y="1052736"/>
            <a:ext cx="8229600" cy="4709120"/>
          </a:xfrm>
        </p:spPr>
        <p:txBody>
          <a:bodyPr>
            <a:noAutofit/>
          </a:bodyPr>
          <a:lstStyle/>
          <a:p>
            <a:pPr marL="0" indent="0" algn="just">
              <a:buNone/>
            </a:pPr>
            <a:r>
              <a:rPr lang="en-IN" sz="2400" dirty="0">
                <a:solidFill>
                  <a:srgbClr val="00B0F0"/>
                </a:solidFill>
                <a:latin typeface="Times New Roman" pitchFamily="18" charset="0"/>
                <a:cs typeface="Times New Roman" pitchFamily="18" charset="0"/>
              </a:rPr>
              <a:t>Function Point </a:t>
            </a:r>
            <a:r>
              <a:rPr lang="en-IN" sz="2400" dirty="0" smtClean="0">
                <a:solidFill>
                  <a:srgbClr val="00B0F0"/>
                </a:solidFill>
                <a:latin typeface="Times New Roman" pitchFamily="18" charset="0"/>
                <a:cs typeface="Times New Roman" pitchFamily="18" charset="0"/>
              </a:rPr>
              <a:t>Analysis: Disadvantages</a:t>
            </a:r>
          </a:p>
          <a:p>
            <a:pPr algn="just"/>
            <a:r>
              <a:rPr lang="en-GB" sz="2400" dirty="0">
                <a:latin typeface="Times New Roman" pitchFamily="18" charset="0"/>
                <a:cs typeface="Times New Roman" pitchFamily="18" charset="0"/>
              </a:rPr>
              <a:t>Limited consideration of technical complexity</a:t>
            </a:r>
          </a:p>
          <a:p>
            <a:pPr marL="0" indent="0" algn="just">
              <a:buNone/>
            </a:pPr>
            <a:r>
              <a:rPr lang="en-GB" sz="2400" dirty="0">
                <a:latin typeface="Times New Roman" pitchFamily="18" charset="0"/>
                <a:cs typeface="Times New Roman" pitchFamily="18" charset="0"/>
              </a:rPr>
              <a:t>     Two systems with similar functional size may have very different technical difficulties, performance requirements, or architectural complexity.</a:t>
            </a:r>
          </a:p>
          <a:p>
            <a:pPr algn="just"/>
            <a:r>
              <a:rPr lang="en-GB" sz="2400" dirty="0">
                <a:latin typeface="Times New Roman" pitchFamily="18" charset="0"/>
                <a:cs typeface="Times New Roman" pitchFamily="18" charset="0"/>
              </a:rPr>
              <a:t>Accuracy depends on requirements</a:t>
            </a:r>
          </a:p>
          <a:p>
            <a:pPr marL="0" indent="0" algn="just">
              <a:buNone/>
            </a:pPr>
            <a:r>
              <a:rPr lang="en-GB" sz="2400" dirty="0">
                <a:latin typeface="Times New Roman" pitchFamily="18" charset="0"/>
                <a:cs typeface="Times New Roman" pitchFamily="18" charset="0"/>
              </a:rPr>
              <a:t>     If requirements are incomplete or unclear, the resulting Function Point estimate may be inaccurate.</a:t>
            </a:r>
          </a:p>
          <a:p>
            <a:pPr algn="just"/>
            <a:r>
              <a:rPr lang="en-GB" sz="2400" dirty="0">
                <a:latin typeface="Times New Roman" pitchFamily="18" charset="0"/>
                <a:cs typeface="Times New Roman" pitchFamily="18" charset="0"/>
              </a:rPr>
              <a:t>May require adjustment for different environments</a:t>
            </a:r>
          </a:p>
          <a:p>
            <a:pPr marL="0" indent="0" algn="just">
              <a:buNone/>
            </a:pPr>
            <a:r>
              <a:rPr lang="en-GB" sz="2400" dirty="0">
                <a:latin typeface="Times New Roman" pitchFamily="18" charset="0"/>
                <a:cs typeface="Times New Roman" pitchFamily="18" charset="0"/>
              </a:rPr>
              <a:t>      Historical productivity data may not apply directly when the development technology, team, or project environment changes.</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35</a:t>
            </a:fld>
            <a:endParaRPr lang="en-IN"/>
          </a:p>
        </p:txBody>
      </p:sp>
    </p:spTree>
    <p:extLst>
      <p:ext uri="{BB962C8B-B14F-4D97-AF65-F5344CB8AC3E}">
        <p14:creationId xmlns:p14="http://schemas.microsoft.com/office/powerpoint/2010/main" val="30483851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Size Estimation</a:t>
            </a:r>
            <a:endParaRPr lang="en-IN" sz="3200" dirty="0"/>
          </a:p>
        </p:txBody>
      </p:sp>
      <p:sp>
        <p:nvSpPr>
          <p:cNvPr id="3" name="Content Placeholder 2"/>
          <p:cNvSpPr>
            <a:spLocks noGrp="1"/>
          </p:cNvSpPr>
          <p:nvPr>
            <p:ph idx="1"/>
          </p:nvPr>
        </p:nvSpPr>
        <p:spPr/>
        <p:txBody>
          <a:bodyPr>
            <a:normAutofit fontScale="92500" lnSpcReduction="10000"/>
          </a:bodyPr>
          <a:lstStyle/>
          <a:p>
            <a:pPr marL="0" indent="0" algn="just">
              <a:lnSpc>
                <a:spcPct val="90000"/>
              </a:lnSpc>
              <a:buNone/>
            </a:pPr>
            <a:r>
              <a:rPr lang="en-IN" sz="2800" dirty="0">
                <a:solidFill>
                  <a:srgbClr val="00B0F0"/>
                </a:solidFill>
                <a:latin typeface="Times New Roman" pitchFamily="18" charset="0"/>
                <a:cs typeface="Times New Roman" pitchFamily="18" charset="0"/>
              </a:rPr>
              <a:t>Feature Point Metric</a:t>
            </a:r>
          </a:p>
          <a:p>
            <a:pPr algn="just"/>
            <a:r>
              <a:rPr lang="en-IN" sz="2400" dirty="0">
                <a:latin typeface="Times New Roman" pitchFamily="18" charset="0"/>
                <a:cs typeface="Times New Roman" pitchFamily="18" charset="0"/>
              </a:rPr>
              <a:t>The feature point metric is an extension of the function points that includes the algorithmic complexity of the software.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An </a:t>
            </a:r>
            <a:r>
              <a:rPr lang="en-IN" sz="2400" dirty="0">
                <a:latin typeface="Times New Roman" pitchFamily="18" charset="0"/>
                <a:cs typeface="Times New Roman" pitchFamily="18" charset="0"/>
              </a:rPr>
              <a:t>algorithm is a step-wise procedure with defined rules which are designed to solve a significant computational problem.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For </a:t>
            </a:r>
            <a:r>
              <a:rPr lang="en-IN" sz="2400" dirty="0">
                <a:latin typeface="Times New Roman" pitchFamily="18" charset="0"/>
                <a:cs typeface="Times New Roman" pitchFamily="18" charset="0"/>
              </a:rPr>
              <a:t>example, a sine routine can be considered as an algorithm. Each algorithm is assigned a weight ranging from 1 (elementary) to 10 (sophisticated algorithms).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feature point metric is the weighted sum of algorithms plus the function points.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It is especially useful for systems with a few inputs/outputs and a high algorithmic complexity, such as mathematical software, CAD, AI, discrete simulations, and military applications.</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36</a:t>
            </a:fld>
            <a:endParaRPr lang="en-IN"/>
          </a:p>
        </p:txBody>
      </p:sp>
    </p:spTree>
    <p:extLst>
      <p:ext uri="{BB962C8B-B14F-4D97-AF65-F5344CB8AC3E}">
        <p14:creationId xmlns:p14="http://schemas.microsoft.com/office/powerpoint/2010/main" val="232611684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a:t>
            </a:r>
            <a:r>
              <a:rPr lang="en-IN" sz="3200" b="1" dirty="0" smtClean="0">
                <a:solidFill>
                  <a:srgbClr val="0000FF"/>
                </a:solidFill>
                <a:latin typeface="Times New Roman" pitchFamily="18" charset="0"/>
                <a:cs typeface="Times New Roman" pitchFamily="18" charset="0"/>
              </a:rPr>
              <a:t>Estimation</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357298"/>
            <a:ext cx="8229600" cy="5072098"/>
          </a:xfrm>
        </p:spPr>
        <p:txBody>
          <a:bodyPr>
            <a:noAutofit/>
          </a:bodyPr>
          <a:lstStyle/>
          <a:p>
            <a:pPr algn="just"/>
            <a:r>
              <a:rPr lang="en-IN" sz="2400" dirty="0">
                <a:latin typeface="Times New Roman" pitchFamily="18" charset="0"/>
                <a:cs typeface="Times New Roman" pitchFamily="18" charset="0"/>
              </a:rPr>
              <a:t>Effort estimation predicts how much time is required to complete a project, how much it costs, and how many engineers are required for completing the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More </a:t>
            </a:r>
            <a:r>
              <a:rPr lang="en-IN" sz="2400" dirty="0">
                <a:latin typeface="Times New Roman" pitchFamily="18" charset="0"/>
                <a:cs typeface="Times New Roman" pitchFamily="18" charset="0"/>
              </a:rPr>
              <a:t>accurate estimates are possible as the project proceeds, i.e., during the feasibility study, requirement analysis, design, and subsequent phases.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There are various factors that affect cost estimation such as, capability of engineers,  product complexity,  product size, availability of delivery time, required reliability, and the level of technology. </a:t>
            </a:r>
          </a:p>
          <a:p>
            <a:pPr algn="just"/>
            <a:r>
              <a:rPr lang="en-IN" sz="2400" dirty="0" smtClean="0">
                <a:latin typeface="Times New Roman" pitchFamily="18" charset="0"/>
                <a:cs typeface="Times New Roman" pitchFamily="18" charset="0"/>
              </a:rPr>
              <a:t>Cost estimation can be performed either in a </a:t>
            </a:r>
            <a:r>
              <a:rPr lang="en-IN" sz="2400" i="1" dirty="0" smtClean="0">
                <a:latin typeface="Times New Roman" pitchFamily="18" charset="0"/>
                <a:cs typeface="Times New Roman" pitchFamily="18" charset="0"/>
              </a:rPr>
              <a:t>top-down</a:t>
            </a:r>
            <a:r>
              <a:rPr lang="en-IN" sz="2400" dirty="0" smtClean="0">
                <a:latin typeface="Times New Roman" pitchFamily="18" charset="0"/>
                <a:cs typeface="Times New Roman" pitchFamily="18" charset="0"/>
              </a:rPr>
              <a:t> or a </a:t>
            </a:r>
            <a:r>
              <a:rPr lang="en-IN" sz="2400" i="1" dirty="0" smtClean="0">
                <a:latin typeface="Times New Roman" pitchFamily="18" charset="0"/>
                <a:cs typeface="Times New Roman" pitchFamily="18" charset="0"/>
              </a:rPr>
              <a:t>bottom-up </a:t>
            </a:r>
            <a:r>
              <a:rPr lang="en-IN" sz="2400" dirty="0" smtClean="0">
                <a:latin typeface="Times New Roman" pitchFamily="18" charset="0"/>
                <a:cs typeface="Times New Roman" pitchFamily="18" charset="0"/>
              </a:rPr>
              <a:t>manner. </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37</a:t>
            </a:fld>
            <a:endParaRPr lang="en-IN"/>
          </a:p>
        </p:txBody>
      </p:sp>
    </p:spTree>
    <p:extLst>
      <p:ext uri="{BB962C8B-B14F-4D97-AF65-F5344CB8AC3E}">
        <p14:creationId xmlns:p14="http://schemas.microsoft.com/office/powerpoint/2010/main" val="295004867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a:t>
            </a:r>
            <a:r>
              <a:rPr lang="en-IN" sz="3200" b="1" dirty="0" smtClean="0">
                <a:solidFill>
                  <a:srgbClr val="0000FF"/>
                </a:solidFill>
                <a:latin typeface="Times New Roman" pitchFamily="18" charset="0"/>
                <a:cs typeface="Times New Roman" pitchFamily="18" charset="0"/>
              </a:rPr>
              <a:t>Approaches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395536" y="1412776"/>
            <a:ext cx="8229600" cy="4525963"/>
          </a:xfrm>
        </p:spPr>
        <p:txBody>
          <a:bodyPr>
            <a:normAutofit lnSpcReduction="10000"/>
          </a:bodyPr>
          <a:lstStyle/>
          <a:p>
            <a:pPr algn="just"/>
            <a:r>
              <a:rPr lang="en-IN" sz="2400" i="1" dirty="0" smtClean="0">
                <a:latin typeface="Times New Roman" pitchFamily="18" charset="0"/>
                <a:cs typeface="Times New Roman" pitchFamily="18" charset="0"/>
              </a:rPr>
              <a:t>Top-down </a:t>
            </a:r>
            <a:r>
              <a:rPr lang="en-IN" sz="2400" i="1" dirty="0">
                <a:latin typeface="Times New Roman" pitchFamily="18" charset="0"/>
                <a:cs typeface="Times New Roman" pitchFamily="18" charset="0"/>
              </a:rPr>
              <a:t>approach </a:t>
            </a:r>
            <a:r>
              <a:rPr lang="en-IN" sz="2400" dirty="0">
                <a:latin typeface="Times New Roman" pitchFamily="18" charset="0"/>
                <a:cs typeface="Times New Roman" pitchFamily="18" charset="0"/>
              </a:rPr>
              <a:t>estimates the project cost globally by estimating the system level costs of the overall project size.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system level cost includes the cost of resources for product development, configuration management, quality assurance, integration, installation, and deployment.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It </a:t>
            </a:r>
            <a:r>
              <a:rPr lang="en-IN" sz="2400" dirty="0">
                <a:latin typeface="Times New Roman" pitchFamily="18" charset="0"/>
                <a:cs typeface="Times New Roman" pitchFamily="18" charset="0"/>
              </a:rPr>
              <a:t>requires minimum project details and it is usually faster and easier to adopt.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This </a:t>
            </a:r>
            <a:r>
              <a:rPr lang="en-IN" sz="2400" dirty="0">
                <a:latin typeface="Times New Roman" pitchFamily="18" charset="0"/>
                <a:cs typeface="Times New Roman" pitchFamily="18" charset="0"/>
              </a:rPr>
              <a:t>approach does not consider other technical requirements for specific modules.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In </a:t>
            </a:r>
            <a:r>
              <a:rPr lang="en-IN" sz="2400" dirty="0">
                <a:latin typeface="Times New Roman" pitchFamily="18" charset="0"/>
                <a:cs typeface="Times New Roman" pitchFamily="18" charset="0"/>
              </a:rPr>
              <a:t>case of underestimation or overestimation, an inaccurate result of effort estimate may be produced that may lead to an under-budget or over-budget project. </a:t>
            </a:r>
          </a:p>
          <a:p>
            <a:pPr algn="just"/>
            <a:endParaRPr lang="en-IN" sz="24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38</a:t>
            </a:fld>
            <a:endParaRPr lang="en-IN"/>
          </a:p>
        </p:txBody>
      </p:sp>
    </p:spTree>
    <p:extLst>
      <p:ext uri="{BB962C8B-B14F-4D97-AF65-F5344CB8AC3E}">
        <p14:creationId xmlns:p14="http://schemas.microsoft.com/office/powerpoint/2010/main" val="125302606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a:t>
            </a:r>
            <a:r>
              <a:rPr lang="en-IN" sz="3200" b="1" dirty="0" smtClean="0">
                <a:solidFill>
                  <a:srgbClr val="0000FF"/>
                </a:solidFill>
                <a:latin typeface="Times New Roman" pitchFamily="18" charset="0"/>
                <a:cs typeface="Times New Roman" pitchFamily="18" charset="0"/>
              </a:rPr>
              <a:t>Approaches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algn="just"/>
            <a:r>
              <a:rPr lang="en-IN" sz="2400" dirty="0" smtClean="0">
                <a:latin typeface="Times New Roman" pitchFamily="18" charset="0"/>
                <a:cs typeface="Times New Roman" pitchFamily="18" charset="0"/>
              </a:rPr>
              <a:t>In </a:t>
            </a:r>
            <a:r>
              <a:rPr lang="en-IN" sz="2400" dirty="0">
                <a:latin typeface="Times New Roman" pitchFamily="18" charset="0"/>
                <a:cs typeface="Times New Roman" pitchFamily="18" charset="0"/>
              </a:rPr>
              <a:t>the </a:t>
            </a:r>
            <a:r>
              <a:rPr lang="en-IN" sz="2400" i="1" dirty="0">
                <a:latin typeface="Times New Roman" pitchFamily="18" charset="0"/>
                <a:cs typeface="Times New Roman" pitchFamily="18" charset="0"/>
              </a:rPr>
              <a:t>bottom-up approach</a:t>
            </a:r>
            <a:r>
              <a:rPr lang="en-IN" sz="2400" dirty="0">
                <a:latin typeface="Times New Roman" pitchFamily="18" charset="0"/>
                <a:cs typeface="Times New Roman" pitchFamily="18" charset="0"/>
              </a:rPr>
              <a:t>, the cost of individual modules is estimated and then all these costs are integrated to estimate the overall project cost.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This </a:t>
            </a:r>
            <a:r>
              <a:rPr lang="en-IN" sz="2400" dirty="0">
                <a:latin typeface="Times New Roman" pitchFamily="18" charset="0"/>
                <a:cs typeface="Times New Roman" pitchFamily="18" charset="0"/>
              </a:rPr>
              <a:t>approach can produce more accurate estimate due to the consideration of discrete parts for estimation</a:t>
            </a:r>
            <a:r>
              <a:rPr lang="en-IN" sz="2400" dirty="0" smtClean="0">
                <a:latin typeface="Times New Roman" pitchFamily="18" charset="0"/>
                <a:cs typeface="Times New Roman" pitchFamily="18" charset="0"/>
              </a:rPr>
              <a:t>.</a:t>
            </a:r>
          </a:p>
          <a:p>
            <a:pPr algn="just"/>
            <a:r>
              <a:rPr lang="en-IN" sz="2400" dirty="0" smtClean="0">
                <a:latin typeface="Times New Roman" pitchFamily="18" charset="0"/>
                <a:cs typeface="Times New Roman" pitchFamily="18" charset="0"/>
              </a:rPr>
              <a:t>It </a:t>
            </a:r>
            <a:r>
              <a:rPr lang="en-IN" sz="2400" dirty="0">
                <a:latin typeface="Times New Roman" pitchFamily="18" charset="0"/>
                <a:cs typeface="Times New Roman" pitchFamily="18" charset="0"/>
              </a:rPr>
              <a:t>is more stable as estimation errors in modules can be rectified and balanced. </a:t>
            </a:r>
            <a:r>
              <a:rPr lang="en-IN" sz="2400" dirty="0" smtClean="0">
                <a:latin typeface="Times New Roman" pitchFamily="18" charset="0"/>
                <a:cs typeface="Times New Roman" pitchFamily="18" charset="0"/>
              </a:rPr>
              <a:t>But </a:t>
            </a:r>
            <a:r>
              <a:rPr lang="en-IN" sz="2400" dirty="0">
                <a:latin typeface="Times New Roman" pitchFamily="18" charset="0"/>
                <a:cs typeface="Times New Roman" pitchFamily="18" charset="0"/>
              </a:rPr>
              <a:t>someone may overlook the system-level costs, such as quality assurance cost, configuration management cost, etc.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Size </a:t>
            </a:r>
            <a:r>
              <a:rPr lang="en-IN" sz="2400" dirty="0">
                <a:latin typeface="Times New Roman" pitchFamily="18" charset="0"/>
                <a:cs typeface="Times New Roman" pitchFamily="18" charset="0"/>
              </a:rPr>
              <a:t>estimate is the primary need for both top-down and bottom-up approaches.    </a:t>
            </a:r>
          </a:p>
          <a:p>
            <a:pPr algn="just"/>
            <a:endParaRPr lang="en-IN" sz="24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39</a:t>
            </a:fld>
            <a:endParaRPr lang="en-IN"/>
          </a:p>
        </p:txBody>
      </p:sp>
    </p:spTree>
    <p:extLst>
      <p:ext uri="{BB962C8B-B14F-4D97-AF65-F5344CB8AC3E}">
        <p14:creationId xmlns:p14="http://schemas.microsoft.com/office/powerpoint/2010/main" val="125302606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r>
              <a:rPr lang="en-IN" sz="2400" dirty="0">
                <a:latin typeface="Times New Roman" pitchFamily="18" charset="0"/>
                <a:cs typeface="Times New Roman" pitchFamily="18" charset="0"/>
              </a:rPr>
              <a:t>There are different techniques for effort estimation. Some of the most popular estimation techniques are </a:t>
            </a:r>
            <a:endParaRPr lang="en-IN" sz="2400" dirty="0" smtClean="0">
              <a:latin typeface="Times New Roman" pitchFamily="18" charset="0"/>
              <a:cs typeface="Times New Roman" pitchFamily="18" charset="0"/>
            </a:endParaRPr>
          </a:p>
          <a:p>
            <a:pPr lvl="1"/>
            <a:r>
              <a:rPr lang="en-IN" sz="2400" i="1" dirty="0" smtClean="0">
                <a:latin typeface="Times New Roman" pitchFamily="18" charset="0"/>
                <a:cs typeface="Times New Roman" pitchFamily="18" charset="0"/>
              </a:rPr>
              <a:t>Estimation by analogy, </a:t>
            </a:r>
          </a:p>
          <a:p>
            <a:pPr lvl="1"/>
            <a:r>
              <a:rPr lang="en-IN" sz="2400" i="1" dirty="0" smtClean="0">
                <a:latin typeface="Times New Roman" pitchFamily="18" charset="0"/>
                <a:cs typeface="Times New Roman" pitchFamily="18" charset="0"/>
              </a:rPr>
              <a:t>Delphi estimation, </a:t>
            </a:r>
          </a:p>
          <a:p>
            <a:pPr lvl="1"/>
            <a:r>
              <a:rPr lang="en-IN" sz="2400" i="1" dirty="0" smtClean="0">
                <a:latin typeface="Times New Roman" pitchFamily="18" charset="0"/>
                <a:cs typeface="Times New Roman" pitchFamily="18" charset="0"/>
              </a:rPr>
              <a:t>Algorithmic cost modelling, and </a:t>
            </a:r>
          </a:p>
          <a:p>
            <a:pPr lvl="1"/>
            <a:r>
              <a:rPr lang="en-IN" sz="2400" i="1" dirty="0" smtClean="0">
                <a:latin typeface="Times New Roman" pitchFamily="18" charset="0"/>
                <a:cs typeface="Times New Roman" pitchFamily="18" charset="0"/>
              </a:rPr>
              <a:t>Analytical techniques</a:t>
            </a:r>
            <a:endParaRPr lang="en-IN" sz="2400" i="1"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40</a:t>
            </a:fld>
            <a:endParaRPr lang="en-IN"/>
          </a:p>
        </p:txBody>
      </p:sp>
    </p:spTree>
    <p:extLst>
      <p:ext uri="{BB962C8B-B14F-4D97-AF65-F5344CB8AC3E}">
        <p14:creationId xmlns:p14="http://schemas.microsoft.com/office/powerpoint/2010/main" val="125302606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0" indent="0" algn="just">
              <a:buNone/>
            </a:pPr>
            <a:r>
              <a:rPr lang="en-IN" sz="2600" b="1" dirty="0">
                <a:solidFill>
                  <a:srgbClr val="00B0F0"/>
                </a:solidFill>
                <a:latin typeface="Times New Roman" pitchFamily="18" charset="0"/>
                <a:cs typeface="Times New Roman" pitchFamily="18" charset="0"/>
              </a:rPr>
              <a:t>Estimation by </a:t>
            </a:r>
            <a:r>
              <a:rPr lang="en-IN" sz="2600" b="1" dirty="0" smtClean="0">
                <a:solidFill>
                  <a:srgbClr val="00B0F0"/>
                </a:solidFill>
                <a:latin typeface="Times New Roman" pitchFamily="18" charset="0"/>
                <a:cs typeface="Times New Roman" pitchFamily="18" charset="0"/>
              </a:rPr>
              <a:t>analogy</a:t>
            </a:r>
          </a:p>
          <a:p>
            <a:pPr algn="just"/>
            <a:r>
              <a:rPr lang="en-IN" sz="2400" dirty="0">
                <a:latin typeface="Times New Roman" pitchFamily="18" charset="0"/>
                <a:cs typeface="Times New Roman" pitchFamily="18" charset="0"/>
              </a:rPr>
              <a:t>The estimation-by-analogy technique is based on the experiences of the past projects</a:t>
            </a:r>
            <a:r>
              <a:rPr lang="en-IN" sz="2400" dirty="0" smtClean="0">
                <a:latin typeface="Times New Roman" pitchFamily="18" charset="0"/>
                <a:cs typeface="Times New Roman" pitchFamily="18" charset="0"/>
              </a:rPr>
              <a:t>.</a:t>
            </a:r>
          </a:p>
          <a:p>
            <a:pPr algn="just"/>
            <a:r>
              <a:rPr lang="en-IN" sz="2400" dirty="0">
                <a:latin typeface="Times New Roman" pitchFamily="18" charset="0"/>
                <a:cs typeface="Times New Roman" pitchFamily="18" charset="0"/>
              </a:rPr>
              <a:t>The estimation-by-analogy method involves an expert for finding the analogous situations so as to give his opinion. </a:t>
            </a:r>
          </a:p>
          <a:p>
            <a:pPr algn="just"/>
            <a:r>
              <a:rPr lang="en-IN" sz="2400" dirty="0">
                <a:latin typeface="Times New Roman" pitchFamily="18" charset="0"/>
                <a:cs typeface="Times New Roman" pitchFamily="18" charset="0"/>
              </a:rPr>
              <a:t>This technique follows a top-down estimation approach. </a:t>
            </a:r>
          </a:p>
          <a:p>
            <a:pPr algn="just"/>
            <a:r>
              <a:rPr lang="en-IN" sz="2400" dirty="0">
                <a:latin typeface="Times New Roman" pitchFamily="18" charset="0"/>
                <a:cs typeface="Times New Roman" pitchFamily="18" charset="0"/>
              </a:rPr>
              <a:t>The project to be assessed is characterized on certain factors that become the basis for finding similar or analogous projects which have been completed and their efforts are known. </a:t>
            </a:r>
          </a:p>
          <a:p>
            <a:pPr algn="just"/>
            <a:r>
              <a:rPr lang="en-IN" sz="2400" dirty="0">
                <a:latin typeface="Times New Roman" pitchFamily="18" charset="0"/>
                <a:cs typeface="Times New Roman" pitchFamily="18" charset="0"/>
              </a:rPr>
              <a:t>Then the proposed project is compared with the previously completed similar projects</a:t>
            </a:r>
            <a:r>
              <a:rPr lang="en-IN" sz="2400" dirty="0" smtClean="0">
                <a:latin typeface="Times New Roman" pitchFamily="18" charset="0"/>
                <a:cs typeface="Times New Roman" pitchFamily="18" charset="0"/>
              </a:rPr>
              <a:t>.</a:t>
            </a:r>
          </a:p>
        </p:txBody>
      </p:sp>
      <p:sp>
        <p:nvSpPr>
          <p:cNvPr id="4" name="Slide Number Placeholder 3"/>
          <p:cNvSpPr>
            <a:spLocks noGrp="1"/>
          </p:cNvSpPr>
          <p:nvPr>
            <p:ph type="sldNum" sz="quarter" idx="12"/>
          </p:nvPr>
        </p:nvSpPr>
        <p:spPr/>
        <p:txBody>
          <a:bodyPr/>
          <a:lstStyle/>
          <a:p>
            <a:fld id="{0C087B72-CC60-4FF0-9C96-8509CDF76D05}" type="slidenum">
              <a:rPr lang="en-IN" smtClean="0"/>
              <a:pPr/>
              <a:t>41</a:t>
            </a:fld>
            <a:endParaRPr lang="en-IN" dirty="0"/>
          </a:p>
        </p:txBody>
      </p:sp>
    </p:spTree>
    <p:extLst>
      <p:ext uri="{BB962C8B-B14F-4D97-AF65-F5344CB8AC3E}">
        <p14:creationId xmlns:p14="http://schemas.microsoft.com/office/powerpoint/2010/main" val="125302606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268760"/>
            <a:ext cx="8229600" cy="5400600"/>
          </a:xfrm>
        </p:spPr>
        <p:txBody>
          <a:bodyPr>
            <a:normAutofit fontScale="70000" lnSpcReduction="20000"/>
          </a:bodyPr>
          <a:lstStyle/>
          <a:p>
            <a:pPr marL="0" indent="0" algn="just">
              <a:buNone/>
            </a:pPr>
            <a:r>
              <a:rPr lang="en-IN" sz="4000" dirty="0">
                <a:solidFill>
                  <a:srgbClr val="00B0F0"/>
                </a:solidFill>
                <a:latin typeface="Times New Roman" pitchFamily="18" charset="0"/>
                <a:cs typeface="Times New Roman" pitchFamily="18" charset="0"/>
              </a:rPr>
              <a:t>Estimation by </a:t>
            </a:r>
            <a:r>
              <a:rPr lang="en-IN" sz="4000" dirty="0" smtClean="0">
                <a:solidFill>
                  <a:srgbClr val="00B0F0"/>
                </a:solidFill>
                <a:latin typeface="Times New Roman" pitchFamily="18" charset="0"/>
                <a:cs typeface="Times New Roman" pitchFamily="18" charset="0"/>
              </a:rPr>
              <a:t>analogy: Problems</a:t>
            </a:r>
          </a:p>
          <a:p>
            <a:pPr algn="just"/>
            <a:r>
              <a:rPr lang="en-IN" sz="3400" dirty="0" smtClean="0">
                <a:latin typeface="Times New Roman" pitchFamily="18" charset="0"/>
                <a:cs typeface="Times New Roman" pitchFamily="18" charset="0"/>
              </a:rPr>
              <a:t>The estimators have to determine how best they can characterize the projects in terms of application domain, the number of inputs, the number of distinct entities referenced, the number of screens, and so on.</a:t>
            </a:r>
          </a:p>
          <a:p>
            <a:pPr algn="just"/>
            <a:r>
              <a:rPr lang="en-IN" sz="3400" dirty="0" smtClean="0">
                <a:latin typeface="Times New Roman" pitchFamily="18" charset="0"/>
                <a:cs typeface="Times New Roman" pitchFamily="18" charset="0"/>
              </a:rPr>
              <a:t>Another problem after project characterization is to determine similarity: how much confidence we can place in the analogies and how many projects need to be compared. </a:t>
            </a:r>
          </a:p>
          <a:p>
            <a:pPr algn="just"/>
            <a:r>
              <a:rPr lang="en-IN" sz="3400" dirty="0" smtClean="0">
                <a:latin typeface="Times New Roman" pitchFamily="18" charset="0"/>
                <a:cs typeface="Times New Roman" pitchFamily="18" charset="0"/>
              </a:rPr>
              <a:t>A few analogies might lead to maverick projects being used and too many analogies might lead to dilution of the effect of the closest analogies. </a:t>
            </a:r>
          </a:p>
          <a:p>
            <a:pPr algn="just"/>
            <a:r>
              <a:rPr lang="en-IN" sz="3400" dirty="0" smtClean="0">
                <a:latin typeface="Times New Roman" pitchFamily="18" charset="0"/>
                <a:cs typeface="Times New Roman" pitchFamily="18" charset="0"/>
              </a:rPr>
              <a:t>Lastly, it is very difficult what variables should be considered to estimate the new projects with known effort values from the analogous projects. </a:t>
            </a:r>
          </a:p>
          <a:p>
            <a:pPr algn="just"/>
            <a:r>
              <a:rPr lang="en-IN" sz="3400" dirty="0" smtClean="0">
                <a:latin typeface="Times New Roman" pitchFamily="18" charset="0"/>
                <a:cs typeface="Times New Roman" pitchFamily="18" charset="0"/>
              </a:rPr>
              <a:t>Means and weighted means can give more influence to the closer analogies. </a:t>
            </a:r>
          </a:p>
          <a:p>
            <a:pPr algn="just"/>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42</a:t>
            </a:fld>
            <a:endParaRPr lang="en-IN"/>
          </a:p>
        </p:txBody>
      </p:sp>
    </p:spTree>
    <p:extLst>
      <p:ext uri="{BB962C8B-B14F-4D97-AF65-F5344CB8AC3E}">
        <p14:creationId xmlns:p14="http://schemas.microsoft.com/office/powerpoint/2010/main" val="52073524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395536" y="1412776"/>
            <a:ext cx="8229600" cy="4997152"/>
          </a:xfrm>
        </p:spPr>
        <p:txBody>
          <a:bodyPr>
            <a:normAutofit fontScale="85000" lnSpcReduction="20000"/>
          </a:bodyPr>
          <a:lstStyle/>
          <a:p>
            <a:pPr marL="0" indent="0" algn="just">
              <a:buNone/>
            </a:pPr>
            <a:r>
              <a:rPr lang="en-IN" sz="2800" dirty="0" smtClean="0">
                <a:solidFill>
                  <a:srgbClr val="00B0F0"/>
                </a:solidFill>
                <a:latin typeface="Times New Roman" pitchFamily="18" charset="0"/>
                <a:cs typeface="Times New Roman" pitchFamily="18" charset="0"/>
              </a:rPr>
              <a:t>Delphi estimation</a:t>
            </a:r>
          </a:p>
          <a:p>
            <a:pPr algn="just"/>
            <a:r>
              <a:rPr lang="en-IN" sz="2600" dirty="0">
                <a:latin typeface="Times New Roman" pitchFamily="18" charset="0"/>
                <a:cs typeface="Times New Roman" pitchFamily="18" charset="0"/>
              </a:rPr>
              <a:t>Delphi cost estimation is a group consensus technique that relies on expert judgment and follows the top-down estimation approach with certain features of the bottom-up </a:t>
            </a:r>
            <a:r>
              <a:rPr lang="en-IN" sz="2600" dirty="0" smtClean="0">
                <a:latin typeface="Times New Roman" pitchFamily="18" charset="0"/>
                <a:cs typeface="Times New Roman" pitchFamily="18" charset="0"/>
              </a:rPr>
              <a:t>approach.</a:t>
            </a:r>
          </a:p>
          <a:p>
            <a:pPr algn="just"/>
            <a:r>
              <a:rPr lang="en-IN" sz="2600" dirty="0">
                <a:latin typeface="Times New Roman" pitchFamily="18" charset="0"/>
                <a:cs typeface="Times New Roman" pitchFamily="18" charset="0"/>
              </a:rPr>
              <a:t>The coordinator interacts with experts for providing necessary information and documents</a:t>
            </a:r>
            <a:r>
              <a:rPr lang="en-IN" sz="2600" dirty="0" smtClean="0">
                <a:latin typeface="Times New Roman" pitchFamily="18" charset="0"/>
                <a:cs typeface="Times New Roman" pitchFamily="18" charset="0"/>
              </a:rPr>
              <a:t>.</a:t>
            </a:r>
          </a:p>
          <a:p>
            <a:pPr algn="just"/>
            <a:r>
              <a:rPr lang="en-IN" sz="2600" dirty="0">
                <a:latin typeface="Times New Roman" pitchFamily="18" charset="0"/>
                <a:cs typeface="Times New Roman" pitchFamily="18" charset="0"/>
              </a:rPr>
              <a:t>The estimators go through the requirement document and make their estimates anonymously. </a:t>
            </a:r>
            <a:endParaRPr lang="en-IN" sz="2600" dirty="0" smtClean="0">
              <a:latin typeface="Times New Roman" pitchFamily="18" charset="0"/>
              <a:cs typeface="Times New Roman" pitchFamily="18" charset="0"/>
            </a:endParaRPr>
          </a:p>
          <a:p>
            <a:pPr algn="just"/>
            <a:r>
              <a:rPr lang="en-IN" sz="2600" dirty="0">
                <a:latin typeface="Times New Roman" pitchFamily="18" charset="0"/>
                <a:cs typeface="Times New Roman" pitchFamily="18" charset="0"/>
              </a:rPr>
              <a:t>The coordinator compiles the estimation reports and distributes a summary of the estimation responses. </a:t>
            </a:r>
            <a:endParaRPr lang="en-IN" sz="2600" dirty="0" smtClean="0">
              <a:latin typeface="Times New Roman" pitchFamily="18" charset="0"/>
              <a:cs typeface="Times New Roman" pitchFamily="18" charset="0"/>
            </a:endParaRPr>
          </a:p>
          <a:p>
            <a:pPr algn="just"/>
            <a:r>
              <a:rPr lang="en-IN" sz="2600" dirty="0" smtClean="0">
                <a:latin typeface="Times New Roman" pitchFamily="18" charset="0"/>
                <a:cs typeface="Times New Roman" pitchFamily="18" charset="0"/>
              </a:rPr>
              <a:t>The </a:t>
            </a:r>
            <a:r>
              <a:rPr lang="en-IN" sz="2600" dirty="0">
                <a:latin typeface="Times New Roman" pitchFamily="18" charset="0"/>
                <a:cs typeface="Times New Roman" pitchFamily="18" charset="0"/>
              </a:rPr>
              <a:t>estimation report specifies any unusual characteristic noted by the estimators. </a:t>
            </a:r>
          </a:p>
          <a:p>
            <a:pPr algn="just"/>
            <a:r>
              <a:rPr lang="en-IN" sz="2600" dirty="0">
                <a:latin typeface="Times New Roman" pitchFamily="18" charset="0"/>
                <a:cs typeface="Times New Roman" pitchFamily="18" charset="0"/>
              </a:rPr>
              <a:t>The coordinator can call a group meeting of experts to discuss points if the estimates vary widely. </a:t>
            </a:r>
          </a:p>
          <a:p>
            <a:pPr algn="just"/>
            <a:r>
              <a:rPr lang="en-IN" sz="2600" dirty="0">
                <a:latin typeface="Times New Roman" pitchFamily="18" charset="0"/>
                <a:cs typeface="Times New Roman" pitchFamily="18" charset="0"/>
              </a:rPr>
              <a:t>The estimation is iterated for as many rounds as appropriate for an accurate estimate.</a:t>
            </a:r>
          </a:p>
        </p:txBody>
      </p:sp>
      <p:sp>
        <p:nvSpPr>
          <p:cNvPr id="4" name="Slide Number Placeholder 3"/>
          <p:cNvSpPr>
            <a:spLocks noGrp="1"/>
          </p:cNvSpPr>
          <p:nvPr>
            <p:ph type="sldNum" sz="quarter" idx="12"/>
          </p:nvPr>
        </p:nvSpPr>
        <p:spPr/>
        <p:txBody>
          <a:bodyPr/>
          <a:lstStyle/>
          <a:p>
            <a:fld id="{0C087B72-CC60-4FF0-9C96-8509CDF76D05}" type="slidenum">
              <a:rPr lang="en-IN" smtClean="0"/>
              <a:pPr/>
              <a:t>43</a:t>
            </a:fld>
            <a:endParaRPr lang="en-IN" dirty="0"/>
          </a:p>
        </p:txBody>
      </p:sp>
    </p:spTree>
    <p:extLst>
      <p:ext uri="{BB962C8B-B14F-4D97-AF65-F5344CB8AC3E}">
        <p14:creationId xmlns:p14="http://schemas.microsoft.com/office/powerpoint/2010/main" val="52073524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323528" y="1412776"/>
            <a:ext cx="8229600" cy="4997152"/>
          </a:xfrm>
        </p:spPr>
        <p:txBody>
          <a:bodyPr>
            <a:normAutofit lnSpcReduction="10000"/>
          </a:bodyPr>
          <a:lstStyle/>
          <a:p>
            <a:pPr marL="0" indent="0" algn="just">
              <a:buNone/>
            </a:pPr>
            <a:r>
              <a:rPr lang="en-IN" sz="2400" dirty="0">
                <a:solidFill>
                  <a:srgbClr val="00B0F0"/>
                </a:solidFill>
                <a:latin typeface="Times New Roman" pitchFamily="18" charset="0"/>
                <a:cs typeface="Times New Roman" pitchFamily="18" charset="0"/>
              </a:rPr>
              <a:t>Delphi </a:t>
            </a:r>
            <a:r>
              <a:rPr lang="en-IN" sz="2400" dirty="0" smtClean="0">
                <a:solidFill>
                  <a:srgbClr val="00B0F0"/>
                </a:solidFill>
                <a:latin typeface="Times New Roman" pitchFamily="18" charset="0"/>
                <a:cs typeface="Times New Roman" pitchFamily="18" charset="0"/>
              </a:rPr>
              <a:t>estimation: Benefits</a:t>
            </a:r>
          </a:p>
          <a:p>
            <a:pPr algn="just"/>
            <a:r>
              <a:rPr lang="en-IN" sz="2200" dirty="0">
                <a:latin typeface="Times New Roman" pitchFamily="18" charset="0"/>
                <a:cs typeface="Times New Roman" pitchFamily="18" charset="0"/>
              </a:rPr>
              <a:t>The experts use their experiences of the past projects to assess the factors in the proposed project.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Each expert applies their distinguished expertise and knowledge to assess the project.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There </a:t>
            </a:r>
            <a:r>
              <a:rPr lang="en-IN" sz="2200" dirty="0">
                <a:latin typeface="Times New Roman" pitchFamily="18" charset="0"/>
                <a:cs typeface="Times New Roman" pitchFamily="18" charset="0"/>
              </a:rPr>
              <a:t>is less chance for bias due to group consensus.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There </a:t>
            </a:r>
            <a:r>
              <a:rPr lang="en-IN" sz="2200" dirty="0">
                <a:latin typeface="Times New Roman" pitchFamily="18" charset="0"/>
                <a:cs typeface="Times New Roman" pitchFamily="18" charset="0"/>
              </a:rPr>
              <a:t>are rare chances of bias if only a few experts, maybe one or two, are involved in the estimation process. </a:t>
            </a:r>
            <a:endParaRPr lang="en-IN" sz="2200" dirty="0" smtClean="0">
              <a:latin typeface="Times New Roman" pitchFamily="18" charset="0"/>
              <a:cs typeface="Times New Roman" pitchFamily="18" charset="0"/>
            </a:endParaRPr>
          </a:p>
          <a:p>
            <a:pPr marL="0" indent="0" algn="just">
              <a:buNone/>
            </a:pPr>
            <a:r>
              <a:rPr lang="en-IN" sz="2400" dirty="0">
                <a:solidFill>
                  <a:srgbClr val="00B0F0"/>
                </a:solidFill>
                <a:latin typeface="Times New Roman" pitchFamily="18" charset="0"/>
                <a:cs typeface="Times New Roman" pitchFamily="18" charset="0"/>
              </a:rPr>
              <a:t>Delphi estimation: </a:t>
            </a:r>
            <a:r>
              <a:rPr lang="en-IN" sz="2400" dirty="0" smtClean="0">
                <a:solidFill>
                  <a:srgbClr val="00B0F0"/>
                </a:solidFill>
                <a:latin typeface="Times New Roman" pitchFamily="18" charset="0"/>
                <a:cs typeface="Times New Roman" pitchFamily="18" charset="0"/>
              </a:rPr>
              <a:t>Problems </a:t>
            </a:r>
          </a:p>
          <a:p>
            <a:pPr algn="just"/>
            <a:r>
              <a:rPr lang="en-IN" sz="2200" dirty="0">
                <a:latin typeface="Times New Roman" pitchFamily="18" charset="0"/>
                <a:cs typeface="Times New Roman" pitchFamily="18" charset="0"/>
              </a:rPr>
              <a:t>The team may take pain in gathering some information that may not be useful for estimation in the proposed project. </a:t>
            </a:r>
          </a:p>
          <a:p>
            <a:pPr algn="just"/>
            <a:r>
              <a:rPr lang="en-IN" sz="2200" dirty="0">
                <a:latin typeface="Times New Roman" pitchFamily="18" charset="0"/>
                <a:cs typeface="Times New Roman" pitchFamily="18" charset="0"/>
              </a:rPr>
              <a:t>This method is very difficult to quantify. </a:t>
            </a:r>
          </a:p>
          <a:p>
            <a:pPr algn="just"/>
            <a:r>
              <a:rPr lang="en-IN" sz="2200" dirty="0">
                <a:latin typeface="Times New Roman" pitchFamily="18" charset="0"/>
                <a:cs typeface="Times New Roman" pitchFamily="18" charset="0"/>
              </a:rPr>
              <a:t>It is hard to document the factors used by the experts or expert groups. </a:t>
            </a:r>
          </a:p>
          <a:p>
            <a:pPr marL="0" indent="0" algn="just">
              <a:buNone/>
            </a:pPr>
            <a:endParaRPr lang="en-IN" sz="2400" dirty="0">
              <a:solidFill>
                <a:srgbClr val="00B0F0"/>
              </a:solidFill>
              <a:latin typeface="Times New Roman" pitchFamily="18" charset="0"/>
              <a:cs typeface="Times New Roman" pitchFamily="18" charset="0"/>
            </a:endParaRPr>
          </a:p>
          <a:p>
            <a:pPr marL="0" indent="0" algn="just">
              <a:buNone/>
            </a:pP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44</a:t>
            </a:fld>
            <a:endParaRPr lang="en-IN"/>
          </a:p>
        </p:txBody>
      </p:sp>
    </p:spTree>
    <p:extLst>
      <p:ext uri="{BB962C8B-B14F-4D97-AF65-F5344CB8AC3E}">
        <p14:creationId xmlns:p14="http://schemas.microsoft.com/office/powerpoint/2010/main" val="125302606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Autofit/>
          </a:bodyPr>
          <a:lstStyle/>
          <a:p>
            <a:pPr marL="0" indent="0" algn="just">
              <a:buNone/>
            </a:pPr>
            <a:r>
              <a:rPr lang="en-IN" sz="2400" dirty="0">
                <a:solidFill>
                  <a:srgbClr val="00B0F0"/>
                </a:solidFill>
                <a:latin typeface="Times New Roman" pitchFamily="18" charset="0"/>
                <a:cs typeface="Times New Roman" pitchFamily="18" charset="0"/>
              </a:rPr>
              <a:t>Algorithmic cost </a:t>
            </a:r>
            <a:r>
              <a:rPr lang="en-IN" sz="2400" dirty="0" smtClean="0">
                <a:solidFill>
                  <a:srgbClr val="00B0F0"/>
                </a:solidFill>
                <a:latin typeface="Times New Roman" pitchFamily="18" charset="0"/>
                <a:cs typeface="Times New Roman" pitchFamily="18" charset="0"/>
              </a:rPr>
              <a:t>models</a:t>
            </a:r>
          </a:p>
          <a:p>
            <a:pPr algn="just"/>
            <a:r>
              <a:rPr lang="en-IN" sz="2400" dirty="0">
                <a:latin typeface="Times New Roman" pitchFamily="18" charset="0"/>
                <a:cs typeface="Times New Roman" pitchFamily="18" charset="0"/>
              </a:rPr>
              <a:t>Algorithmic cost models use size estimation model, which is based upon certain project </a:t>
            </a:r>
            <a:r>
              <a:rPr lang="en-IN" sz="2400" dirty="0" smtClean="0">
                <a:latin typeface="Times New Roman" pitchFamily="18" charset="0"/>
                <a:cs typeface="Times New Roman" pitchFamily="18" charset="0"/>
              </a:rPr>
              <a:t>parameters.</a:t>
            </a:r>
          </a:p>
          <a:p>
            <a:pPr algn="just"/>
            <a:r>
              <a:rPr lang="en-IN" sz="2400" dirty="0">
                <a:latin typeface="Times New Roman" pitchFamily="18" charset="0"/>
                <a:cs typeface="Times New Roman" pitchFamily="18" charset="0"/>
              </a:rPr>
              <a:t>The value of these parameters depends on the project </a:t>
            </a:r>
            <a:r>
              <a:rPr lang="en-IN" sz="2400" dirty="0" smtClean="0">
                <a:latin typeface="Times New Roman" pitchFamily="18" charset="0"/>
                <a:cs typeface="Times New Roman" pitchFamily="18" charset="0"/>
              </a:rPr>
              <a:t>type:</a:t>
            </a:r>
          </a:p>
          <a:p>
            <a:pPr lvl="1" algn="just"/>
            <a:r>
              <a:rPr lang="en-IN" sz="2000" b="1" i="1" dirty="0" smtClean="0">
                <a:latin typeface="Times New Roman" pitchFamily="18" charset="0"/>
                <a:cs typeface="Times New Roman" pitchFamily="18" charset="0"/>
              </a:rPr>
              <a:t>Organic </a:t>
            </a:r>
            <a:r>
              <a:rPr lang="en-IN" sz="2000" b="1" i="1" dirty="0">
                <a:latin typeface="Times New Roman" pitchFamily="18" charset="0"/>
                <a:cs typeface="Times New Roman" pitchFamily="18" charset="0"/>
              </a:rPr>
              <a:t>projects</a:t>
            </a:r>
            <a:r>
              <a:rPr lang="en-IN" sz="2000" b="1" dirty="0">
                <a:latin typeface="Times New Roman" pitchFamily="18" charset="0"/>
                <a:cs typeface="Times New Roman" pitchFamily="18" charset="0"/>
              </a:rPr>
              <a:t> </a:t>
            </a:r>
            <a:r>
              <a:rPr lang="en-IN" sz="2000" dirty="0">
                <a:latin typeface="Times New Roman" pitchFamily="18" charset="0"/>
                <a:cs typeface="Times New Roman" pitchFamily="18" charset="0"/>
              </a:rPr>
              <a:t>are very simple and can be developed with a small-size team. </a:t>
            </a:r>
            <a:r>
              <a:rPr lang="en-IN" sz="2000" dirty="0" smtClean="0">
                <a:latin typeface="Times New Roman" pitchFamily="18" charset="0"/>
                <a:cs typeface="Times New Roman" pitchFamily="18" charset="0"/>
              </a:rPr>
              <a:t>A </a:t>
            </a:r>
            <a:r>
              <a:rPr lang="en-IN" sz="2000" dirty="0">
                <a:latin typeface="Times New Roman" pitchFamily="18" charset="0"/>
                <a:cs typeface="Times New Roman" pitchFamily="18" charset="0"/>
              </a:rPr>
              <a:t>simple data processing system is a good example of the organic category. </a:t>
            </a:r>
            <a:endParaRPr lang="en-IN" sz="2000" dirty="0" smtClean="0">
              <a:latin typeface="Times New Roman" pitchFamily="18" charset="0"/>
              <a:cs typeface="Times New Roman" pitchFamily="18" charset="0"/>
            </a:endParaRPr>
          </a:p>
          <a:p>
            <a:pPr lvl="1" algn="just"/>
            <a:r>
              <a:rPr lang="en-IN" sz="2000" b="1" i="1" dirty="0" smtClean="0">
                <a:latin typeface="Times New Roman" pitchFamily="18" charset="0"/>
                <a:cs typeface="Times New Roman" pitchFamily="18" charset="0"/>
              </a:rPr>
              <a:t>Embedded</a:t>
            </a:r>
            <a:r>
              <a:rPr lang="en-IN" sz="2000" b="1" dirty="0" smtClean="0">
                <a:latin typeface="Times New Roman" pitchFamily="18" charset="0"/>
                <a:cs typeface="Times New Roman" pitchFamily="18" charset="0"/>
              </a:rPr>
              <a:t> </a:t>
            </a:r>
            <a:r>
              <a:rPr lang="en-IN" sz="2000" b="1" i="1" dirty="0">
                <a:latin typeface="Times New Roman" pitchFamily="18" charset="0"/>
                <a:cs typeface="Times New Roman" pitchFamily="18" charset="0"/>
              </a:rPr>
              <a:t>projects</a:t>
            </a:r>
            <a:r>
              <a:rPr lang="en-IN" sz="2000" b="1" dirty="0">
                <a:latin typeface="Times New Roman" pitchFamily="18" charset="0"/>
                <a:cs typeface="Times New Roman" pitchFamily="18" charset="0"/>
              </a:rPr>
              <a:t> </a:t>
            </a:r>
            <a:r>
              <a:rPr lang="en-IN" sz="2000" dirty="0">
                <a:latin typeface="Times New Roman" pitchFamily="18" charset="0"/>
                <a:cs typeface="Times New Roman" pitchFamily="18" charset="0"/>
              </a:rPr>
              <a:t>are very complex and have stringent constraints, for example, flight control system for aircraft. </a:t>
            </a:r>
            <a:endParaRPr lang="en-IN" sz="2000" dirty="0" smtClean="0">
              <a:latin typeface="Times New Roman" pitchFamily="18" charset="0"/>
              <a:cs typeface="Times New Roman" pitchFamily="18" charset="0"/>
            </a:endParaRPr>
          </a:p>
          <a:p>
            <a:pPr lvl="1" algn="just"/>
            <a:r>
              <a:rPr lang="en-IN" sz="2000" b="1" i="1" dirty="0" smtClean="0">
                <a:latin typeface="Times New Roman" pitchFamily="18" charset="0"/>
                <a:cs typeface="Times New Roman" pitchFamily="18" charset="0"/>
              </a:rPr>
              <a:t>Semidetached </a:t>
            </a:r>
            <a:r>
              <a:rPr lang="en-IN" sz="2000" b="1" i="1" dirty="0">
                <a:latin typeface="Times New Roman" pitchFamily="18" charset="0"/>
                <a:cs typeface="Times New Roman" pitchFamily="18" charset="0"/>
              </a:rPr>
              <a:t>projects</a:t>
            </a:r>
            <a:r>
              <a:rPr lang="en-IN" sz="2000" b="1" dirty="0">
                <a:latin typeface="Times New Roman" pitchFamily="18" charset="0"/>
                <a:cs typeface="Times New Roman" pitchFamily="18" charset="0"/>
              </a:rPr>
              <a:t> </a:t>
            </a:r>
            <a:r>
              <a:rPr lang="en-IN" sz="2000" dirty="0">
                <a:latin typeface="Times New Roman" pitchFamily="18" charset="0"/>
                <a:cs typeface="Times New Roman" pitchFamily="18" charset="0"/>
              </a:rPr>
              <a:t>are intermediate in size and complexity. </a:t>
            </a:r>
            <a:r>
              <a:rPr lang="en-IN" sz="2000" dirty="0" smtClean="0">
                <a:latin typeface="Times New Roman" pitchFamily="18" charset="0"/>
                <a:cs typeface="Times New Roman" pitchFamily="18" charset="0"/>
              </a:rPr>
              <a:t>A </a:t>
            </a:r>
            <a:r>
              <a:rPr lang="en-IN" sz="2000" dirty="0">
                <a:latin typeface="Times New Roman" pitchFamily="18" charset="0"/>
                <a:cs typeface="Times New Roman" pitchFamily="18" charset="0"/>
              </a:rPr>
              <a:t>transaction processing system with fixed requirements for terminal hardware and database software is an example of the semi-detached category</a:t>
            </a:r>
            <a:r>
              <a:rPr lang="en-IN" sz="2000" dirty="0" smtClean="0">
                <a:latin typeface="Times New Roman" pitchFamily="18" charset="0"/>
                <a:cs typeface="Times New Roman" pitchFamily="18" charset="0"/>
              </a:rPr>
              <a:t>.</a:t>
            </a:r>
            <a:endParaRPr lang="en-IN" sz="20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a:xfrm>
            <a:off x="8143900" y="6356350"/>
            <a:ext cx="542900" cy="365125"/>
          </a:xfrm>
        </p:spPr>
        <p:txBody>
          <a:bodyPr/>
          <a:lstStyle/>
          <a:p>
            <a:fld id="{0C087B72-CC60-4FF0-9C96-8509CDF76D05}" type="slidenum">
              <a:rPr lang="en-IN" smtClean="0"/>
              <a:pPr/>
              <a:t>45</a:t>
            </a:fld>
            <a:endParaRPr lang="en-IN" dirty="0"/>
          </a:p>
        </p:txBody>
      </p:sp>
    </p:spTree>
    <p:extLst>
      <p:ext uri="{BB962C8B-B14F-4D97-AF65-F5344CB8AC3E}">
        <p14:creationId xmlns:p14="http://schemas.microsoft.com/office/powerpoint/2010/main" val="125302606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fontScale="92500" lnSpcReduction="10000"/>
          </a:bodyPr>
          <a:lstStyle/>
          <a:p>
            <a:pPr marL="0" indent="0" algn="just">
              <a:buNone/>
            </a:pPr>
            <a:r>
              <a:rPr lang="en-IN" sz="2600" dirty="0" smtClean="0">
                <a:solidFill>
                  <a:srgbClr val="00B0F0"/>
                </a:solidFill>
                <a:latin typeface="Times New Roman" pitchFamily="18" charset="0"/>
                <a:cs typeface="Times New Roman" pitchFamily="18" charset="0"/>
              </a:rPr>
              <a:t>COCOMO Model</a:t>
            </a:r>
          </a:p>
          <a:p>
            <a:pPr algn="just"/>
            <a:r>
              <a:rPr lang="en-IN" sz="2400" dirty="0">
                <a:latin typeface="Times New Roman" pitchFamily="18" charset="0"/>
                <a:cs typeface="Times New Roman" pitchFamily="18" charset="0"/>
              </a:rPr>
              <a:t>COCOMO (</a:t>
            </a:r>
            <a:r>
              <a:rPr lang="en-IN" sz="2400" dirty="0" err="1" smtClean="0">
                <a:latin typeface="Times New Roman" pitchFamily="18" charset="0"/>
                <a:cs typeface="Times New Roman" pitchFamily="18" charset="0"/>
              </a:rPr>
              <a:t>COnstructive</a:t>
            </a:r>
            <a:r>
              <a:rPr lang="en-IN" sz="2400" dirty="0" smtClean="0">
                <a:latin typeface="Times New Roman" pitchFamily="18" charset="0"/>
                <a:cs typeface="Times New Roman" pitchFamily="18" charset="0"/>
              </a:rPr>
              <a:t> </a:t>
            </a:r>
            <a:r>
              <a:rPr lang="en-IN" sz="2400" dirty="0" err="1" smtClean="0">
                <a:latin typeface="Times New Roman" pitchFamily="18" charset="0"/>
                <a:cs typeface="Times New Roman" pitchFamily="18" charset="0"/>
              </a:rPr>
              <a:t>COst</a:t>
            </a:r>
            <a:r>
              <a:rPr lang="en-IN" sz="2400" dirty="0" smtClean="0">
                <a:latin typeface="Times New Roman" pitchFamily="18" charset="0"/>
                <a:cs typeface="Times New Roman" pitchFamily="18" charset="0"/>
              </a:rPr>
              <a:t> </a:t>
            </a:r>
            <a:r>
              <a:rPr lang="en-IN" sz="2400" dirty="0" err="1" smtClean="0">
                <a:latin typeface="Times New Roman" pitchFamily="18" charset="0"/>
                <a:cs typeface="Times New Roman" pitchFamily="18" charset="0"/>
              </a:rPr>
              <a:t>MOdel</a:t>
            </a:r>
            <a:r>
              <a:rPr lang="en-IN" sz="2400" dirty="0">
                <a:latin typeface="Times New Roman" pitchFamily="18" charset="0"/>
                <a:cs typeface="Times New Roman" pitchFamily="18" charset="0"/>
              </a:rPr>
              <a:t>) is an algorithmic cost estimation technique proposed by Boehm, which works in a bottom-up </a:t>
            </a:r>
            <a:r>
              <a:rPr lang="en-IN" sz="2400" dirty="0" smtClean="0">
                <a:latin typeface="Times New Roman" pitchFamily="18" charset="0"/>
                <a:cs typeface="Times New Roman" pitchFamily="18" charset="0"/>
              </a:rPr>
              <a:t>manner.</a:t>
            </a:r>
          </a:p>
          <a:p>
            <a:pPr algn="just"/>
            <a:r>
              <a:rPr lang="en-IN" sz="2400" dirty="0">
                <a:latin typeface="Times New Roman" pitchFamily="18" charset="0"/>
                <a:cs typeface="Times New Roman" pitchFamily="18" charset="0"/>
              </a:rPr>
              <a:t>It is designed to provide some mathematical equations to estimate software projects</a:t>
            </a:r>
            <a:r>
              <a:rPr lang="en-IN" sz="2400" dirty="0" smtClean="0">
                <a:latin typeface="Times New Roman" pitchFamily="18" charset="0"/>
                <a:cs typeface="Times New Roman" pitchFamily="18" charset="0"/>
              </a:rPr>
              <a:t>.</a:t>
            </a:r>
          </a:p>
          <a:p>
            <a:pPr algn="just"/>
            <a:r>
              <a:rPr lang="en-IN" sz="2400" dirty="0">
                <a:latin typeface="Times New Roman" pitchFamily="18" charset="0"/>
                <a:cs typeface="Times New Roman" pitchFamily="18" charset="0"/>
              </a:rPr>
              <a:t>These mathematical equations are based on historical data and use project size in the form of KLOC.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COCOMO model uses a </a:t>
            </a:r>
            <a:r>
              <a:rPr lang="en-IN" sz="2400" i="1" dirty="0">
                <a:latin typeface="Times New Roman" pitchFamily="18" charset="0"/>
                <a:cs typeface="Times New Roman" pitchFamily="18" charset="0"/>
              </a:rPr>
              <a:t>multivariable</a:t>
            </a:r>
            <a:r>
              <a:rPr lang="en-IN" sz="2400" dirty="0">
                <a:latin typeface="Times New Roman" pitchFamily="18" charset="0"/>
                <a:cs typeface="Times New Roman" pitchFamily="18" charset="0"/>
              </a:rPr>
              <a:t> size estimation model for effort estimation.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A multivariable model depends on several variables, such as development environment, user involvement, memory constraints, technique used, etc. </a:t>
            </a: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46</a:t>
            </a:fld>
            <a:endParaRPr lang="en-IN"/>
          </a:p>
        </p:txBody>
      </p:sp>
    </p:spTree>
    <p:extLst>
      <p:ext uri="{BB962C8B-B14F-4D97-AF65-F5344CB8AC3E}">
        <p14:creationId xmlns:p14="http://schemas.microsoft.com/office/powerpoint/2010/main" val="234133357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17596"/>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467544" y="1071546"/>
            <a:ext cx="8229600" cy="4525963"/>
          </a:xfrm>
        </p:spPr>
        <p:txBody>
          <a:bodyPr>
            <a:normAutofit/>
          </a:bodyPr>
          <a:lstStyle/>
          <a:p>
            <a:pPr marL="0" indent="0">
              <a:buNone/>
            </a:pPr>
            <a:r>
              <a:rPr lang="en-IN" sz="2400" dirty="0" smtClean="0">
                <a:solidFill>
                  <a:srgbClr val="00B0F0"/>
                </a:solidFill>
                <a:latin typeface="Times New Roman" pitchFamily="18" charset="0"/>
                <a:cs typeface="Times New Roman" pitchFamily="18" charset="0"/>
              </a:rPr>
              <a:t>COCOMO Model</a:t>
            </a:r>
          </a:p>
          <a:p>
            <a:r>
              <a:rPr lang="en-IN" sz="2200" dirty="0">
                <a:latin typeface="Times New Roman" pitchFamily="18" charset="0"/>
                <a:cs typeface="Times New Roman" pitchFamily="18" charset="0"/>
              </a:rPr>
              <a:t>A </a:t>
            </a:r>
            <a:r>
              <a:rPr lang="en-IN" sz="2200" i="1" dirty="0">
                <a:latin typeface="Times New Roman" pitchFamily="18" charset="0"/>
                <a:cs typeface="Times New Roman" pitchFamily="18" charset="0"/>
              </a:rPr>
              <a:t>single variable</a:t>
            </a:r>
            <a:r>
              <a:rPr lang="en-IN" sz="2200" dirty="0">
                <a:latin typeface="Times New Roman" pitchFamily="18" charset="0"/>
                <a:cs typeface="Times New Roman" pitchFamily="18" charset="0"/>
              </a:rPr>
              <a:t> model is based only upon the size of the project, which is given as </a:t>
            </a:r>
            <a:endParaRPr lang="en-IN" sz="2200" dirty="0" smtClean="0">
              <a:latin typeface="Times New Roman" pitchFamily="18" charset="0"/>
              <a:cs typeface="Times New Roman" pitchFamily="18" charset="0"/>
            </a:endParaRPr>
          </a:p>
          <a:p>
            <a:pPr marL="0" indent="0">
              <a:buNone/>
            </a:pPr>
            <a:r>
              <a:rPr lang="en-IN" sz="2200" dirty="0" smtClean="0">
                <a:latin typeface="Times New Roman" pitchFamily="18" charset="0"/>
                <a:cs typeface="Times New Roman" pitchFamily="18" charset="0"/>
              </a:rPr>
              <a:t>		Effort </a:t>
            </a:r>
            <a:r>
              <a:rPr lang="en-IN" sz="2200" dirty="0">
                <a:latin typeface="Times New Roman" pitchFamily="18" charset="0"/>
                <a:cs typeface="Times New Roman" pitchFamily="18" charset="0"/>
              </a:rPr>
              <a:t>	  =    </a:t>
            </a:r>
            <a:r>
              <a:rPr lang="en-IN" sz="2200" i="1" dirty="0">
                <a:latin typeface="Times New Roman" pitchFamily="18" charset="0"/>
                <a:cs typeface="Times New Roman" pitchFamily="18" charset="0"/>
              </a:rPr>
              <a:t>a</a:t>
            </a:r>
            <a:r>
              <a:rPr lang="en-IN" sz="2200" dirty="0">
                <a:latin typeface="Times New Roman" pitchFamily="18" charset="0"/>
                <a:cs typeface="Times New Roman" pitchFamily="18" charset="0"/>
              </a:rPr>
              <a:t> × Size </a:t>
            </a:r>
            <a:r>
              <a:rPr lang="en-IN" sz="2200" i="1" baseline="30000" dirty="0">
                <a:latin typeface="Times New Roman" pitchFamily="18" charset="0"/>
                <a:cs typeface="Times New Roman" pitchFamily="18" charset="0"/>
              </a:rPr>
              <a:t>b</a:t>
            </a:r>
            <a:endParaRPr lang="en-IN" sz="2200" dirty="0">
              <a:latin typeface="Times New Roman" pitchFamily="18" charset="0"/>
              <a:cs typeface="Times New Roman" pitchFamily="18" charset="0"/>
            </a:endParaRPr>
          </a:p>
          <a:p>
            <a:r>
              <a:rPr lang="en-IN" sz="2200" dirty="0">
                <a:latin typeface="Times New Roman" pitchFamily="18" charset="0"/>
                <a:cs typeface="Times New Roman" pitchFamily="18" charset="0"/>
              </a:rPr>
              <a:t>The constants </a:t>
            </a:r>
            <a:r>
              <a:rPr lang="en-IN" sz="2200" i="1" dirty="0">
                <a:latin typeface="Times New Roman" pitchFamily="18" charset="0"/>
                <a:cs typeface="Times New Roman" pitchFamily="18" charset="0"/>
              </a:rPr>
              <a:t>a</a:t>
            </a:r>
            <a:r>
              <a:rPr lang="en-IN" sz="2200" dirty="0">
                <a:latin typeface="Times New Roman" pitchFamily="18" charset="0"/>
                <a:cs typeface="Times New Roman" pitchFamily="18" charset="0"/>
              </a:rPr>
              <a:t> and </a:t>
            </a:r>
            <a:r>
              <a:rPr lang="en-IN" sz="2200" i="1" dirty="0">
                <a:latin typeface="Times New Roman" pitchFamily="18" charset="0"/>
                <a:cs typeface="Times New Roman" pitchFamily="18" charset="0"/>
              </a:rPr>
              <a:t>b</a:t>
            </a:r>
            <a:r>
              <a:rPr lang="en-IN" sz="2200" dirty="0">
                <a:latin typeface="Times New Roman" pitchFamily="18" charset="0"/>
                <a:cs typeface="Times New Roman" pitchFamily="18" charset="0"/>
              </a:rPr>
              <a:t> are derived from the historical data of the past projects in the </a:t>
            </a:r>
            <a:r>
              <a:rPr lang="en-IN" sz="2200" dirty="0" smtClean="0">
                <a:latin typeface="Times New Roman" pitchFamily="18" charset="0"/>
                <a:cs typeface="Times New Roman" pitchFamily="18" charset="0"/>
              </a:rPr>
              <a:t>organizations. </a:t>
            </a:r>
          </a:p>
          <a:p>
            <a:endParaRPr lang="en-IN" sz="2400" b="1" dirty="0" smtClean="0">
              <a:solidFill>
                <a:srgbClr val="00B0F0"/>
              </a:solidFill>
              <a:latin typeface="Times New Roman" pitchFamily="18" charset="0"/>
              <a:cs typeface="Times New Roman" pitchFamily="18"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715253431"/>
              </p:ext>
            </p:extLst>
          </p:nvPr>
        </p:nvGraphicFramePr>
        <p:xfrm>
          <a:off x="928662" y="3643314"/>
          <a:ext cx="7413403" cy="2428892"/>
        </p:xfrm>
        <a:graphic>
          <a:graphicData uri="http://schemas.openxmlformats.org/drawingml/2006/table">
            <a:tbl>
              <a:tblPr firstRow="1" firstCol="1" bandRow="1">
                <a:tableStyleId>{BDBED569-4797-4DF1-A0F4-6AAB3CD982D8}</a:tableStyleId>
              </a:tblPr>
              <a:tblGrid>
                <a:gridCol w="2571768">
                  <a:extLst>
                    <a:ext uri="{9D8B030D-6E8A-4147-A177-3AD203B41FA5}">
                      <a16:colId xmlns:a16="http://schemas.microsoft.com/office/drawing/2014/main" val="20000"/>
                    </a:ext>
                  </a:extLst>
                </a:gridCol>
                <a:gridCol w="2071792">
                  <a:extLst>
                    <a:ext uri="{9D8B030D-6E8A-4147-A177-3AD203B41FA5}">
                      <a16:colId xmlns:a16="http://schemas.microsoft.com/office/drawing/2014/main" val="20001"/>
                    </a:ext>
                  </a:extLst>
                </a:gridCol>
                <a:gridCol w="2769843">
                  <a:extLst>
                    <a:ext uri="{9D8B030D-6E8A-4147-A177-3AD203B41FA5}">
                      <a16:colId xmlns:a16="http://schemas.microsoft.com/office/drawing/2014/main" val="20002"/>
                    </a:ext>
                  </a:extLst>
                </a:gridCol>
              </a:tblGrid>
              <a:tr h="607223">
                <a:tc>
                  <a:txBody>
                    <a:bodyPr/>
                    <a:lstStyle/>
                    <a:p>
                      <a:pPr algn="l">
                        <a:lnSpc>
                          <a:spcPct val="115000"/>
                        </a:lnSpc>
                        <a:spcAft>
                          <a:spcPts val="0"/>
                        </a:spcAft>
                      </a:pPr>
                      <a:r>
                        <a:rPr lang="en-IN" sz="2400" dirty="0">
                          <a:effectLst/>
                          <a:latin typeface="Times New Roman" pitchFamily="18" charset="0"/>
                          <a:cs typeface="Times New Roman" pitchFamily="18" charset="0"/>
                        </a:rPr>
                        <a:t>Project category</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1000"/>
                        </a:spcAft>
                      </a:pPr>
                      <a:r>
                        <a:rPr lang="en-IN" sz="2400" dirty="0">
                          <a:effectLst/>
                          <a:latin typeface="Times New Roman" pitchFamily="18" charset="0"/>
                          <a:cs typeface="Times New Roman" pitchFamily="18" charset="0"/>
                        </a:rPr>
                        <a:t>a</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1000"/>
                        </a:spcAft>
                      </a:pPr>
                      <a:r>
                        <a:rPr lang="en-IN" sz="2400" dirty="0">
                          <a:effectLst/>
                          <a:latin typeface="Times New Roman" pitchFamily="18" charset="0"/>
                          <a:cs typeface="Times New Roman" pitchFamily="18" charset="0"/>
                        </a:rPr>
                        <a:t>b</a:t>
                      </a:r>
                      <a:endParaRPr lang="en-IN" sz="2400" dirty="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0"/>
                  </a:ext>
                </a:extLst>
              </a:tr>
              <a:tr h="607223">
                <a:tc>
                  <a:txBody>
                    <a:bodyPr/>
                    <a:lstStyle/>
                    <a:p>
                      <a:pPr algn="l">
                        <a:lnSpc>
                          <a:spcPct val="115000"/>
                        </a:lnSpc>
                        <a:spcAft>
                          <a:spcPts val="0"/>
                        </a:spcAft>
                      </a:pPr>
                      <a:r>
                        <a:rPr lang="en-IN" sz="2400" b="0" dirty="0">
                          <a:effectLst/>
                          <a:latin typeface="Times New Roman" pitchFamily="18" charset="0"/>
                          <a:cs typeface="Times New Roman" pitchFamily="18" charset="0"/>
                        </a:rPr>
                        <a:t>Organic</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dirty="0">
                          <a:effectLst/>
                          <a:latin typeface="Times New Roman" pitchFamily="18" charset="0"/>
                          <a:cs typeface="Times New Roman" pitchFamily="18" charset="0"/>
                        </a:rPr>
                        <a:t>3.2</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1.05</a:t>
                      </a:r>
                      <a:endParaRPr lang="en-IN" sz="240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1"/>
                  </a:ext>
                </a:extLst>
              </a:tr>
              <a:tr h="607223">
                <a:tc>
                  <a:txBody>
                    <a:bodyPr/>
                    <a:lstStyle/>
                    <a:p>
                      <a:pPr algn="l">
                        <a:lnSpc>
                          <a:spcPct val="115000"/>
                        </a:lnSpc>
                        <a:spcAft>
                          <a:spcPts val="0"/>
                        </a:spcAft>
                      </a:pPr>
                      <a:r>
                        <a:rPr lang="en-IN" sz="2400" b="0" dirty="0">
                          <a:effectLst/>
                          <a:latin typeface="Times New Roman" pitchFamily="18" charset="0"/>
                          <a:cs typeface="Times New Roman" pitchFamily="18" charset="0"/>
                        </a:rPr>
                        <a:t>Semidetached</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dirty="0">
                          <a:effectLst/>
                          <a:latin typeface="Times New Roman" pitchFamily="18" charset="0"/>
                          <a:cs typeface="Times New Roman" pitchFamily="18" charset="0"/>
                        </a:rPr>
                        <a:t>3.0</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1.12</a:t>
                      </a:r>
                      <a:endParaRPr lang="en-IN" sz="240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2"/>
                  </a:ext>
                </a:extLst>
              </a:tr>
              <a:tr h="607223">
                <a:tc>
                  <a:txBody>
                    <a:bodyPr/>
                    <a:lstStyle/>
                    <a:p>
                      <a:pPr algn="l">
                        <a:lnSpc>
                          <a:spcPct val="115000"/>
                        </a:lnSpc>
                        <a:spcAft>
                          <a:spcPts val="0"/>
                        </a:spcAft>
                      </a:pPr>
                      <a:r>
                        <a:rPr lang="en-IN" sz="2400" b="0" dirty="0">
                          <a:effectLst/>
                          <a:latin typeface="Times New Roman" pitchFamily="18" charset="0"/>
                          <a:cs typeface="Times New Roman" pitchFamily="18" charset="0"/>
                        </a:rPr>
                        <a:t>Embedded</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dirty="0">
                          <a:effectLst/>
                          <a:latin typeface="Times New Roman" pitchFamily="18" charset="0"/>
                          <a:cs typeface="Times New Roman" pitchFamily="18" charset="0"/>
                        </a:rPr>
                        <a:t>2.8</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dirty="0">
                          <a:effectLst/>
                          <a:latin typeface="Times New Roman" pitchFamily="18" charset="0"/>
                          <a:cs typeface="Times New Roman" pitchFamily="18" charset="0"/>
                        </a:rPr>
                        <a:t>1.20</a:t>
                      </a:r>
                      <a:endParaRPr lang="en-IN" sz="2400" dirty="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3"/>
                  </a:ext>
                </a:extLst>
              </a:tr>
            </a:tbl>
          </a:graphicData>
        </a:graphic>
      </p:graphicFrame>
      <p:sp>
        <p:nvSpPr>
          <p:cNvPr id="6" name="Slide Number Placeholder 5"/>
          <p:cNvSpPr>
            <a:spLocks noGrp="1"/>
          </p:cNvSpPr>
          <p:nvPr>
            <p:ph type="sldNum" sz="quarter" idx="12"/>
          </p:nvPr>
        </p:nvSpPr>
        <p:spPr/>
        <p:txBody>
          <a:bodyPr/>
          <a:lstStyle/>
          <a:p>
            <a:fld id="{0C087B72-CC60-4FF0-9C96-8509CDF76D05}" type="slidenum">
              <a:rPr lang="en-IN" smtClean="0"/>
              <a:pPr/>
              <a:t>47</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a:bodyPr>
          <a:lstStyle/>
          <a:p>
            <a:pPr marL="0" indent="0">
              <a:buNone/>
            </a:pPr>
            <a:r>
              <a:rPr lang="en-IN" sz="2400" dirty="0" smtClean="0">
                <a:solidFill>
                  <a:srgbClr val="00B0F0"/>
                </a:solidFill>
                <a:latin typeface="Times New Roman" pitchFamily="18" charset="0"/>
                <a:cs typeface="Times New Roman" pitchFamily="18" charset="0"/>
              </a:rPr>
              <a:t>COCOMO Model</a:t>
            </a:r>
          </a:p>
          <a:p>
            <a:r>
              <a:rPr lang="en-GB" sz="2400" dirty="0">
                <a:latin typeface="Times New Roman" pitchFamily="18" charset="0"/>
                <a:cs typeface="Times New Roman" pitchFamily="18" charset="0"/>
              </a:rPr>
              <a:t>COCOMO estimation is a family of hierarchical models, which includes </a:t>
            </a:r>
            <a:endParaRPr lang="en-GB" sz="2400" dirty="0" smtClean="0">
              <a:latin typeface="Times New Roman" pitchFamily="18" charset="0"/>
              <a:cs typeface="Times New Roman" pitchFamily="18" charset="0"/>
            </a:endParaRPr>
          </a:p>
          <a:p>
            <a:pPr lvl="1"/>
            <a:r>
              <a:rPr lang="en-GB" sz="2400" i="1" dirty="0" smtClean="0">
                <a:latin typeface="Times New Roman" pitchFamily="18" charset="0"/>
                <a:cs typeface="Times New Roman" pitchFamily="18" charset="0"/>
              </a:rPr>
              <a:t>Basic, </a:t>
            </a:r>
          </a:p>
          <a:p>
            <a:pPr lvl="1"/>
            <a:r>
              <a:rPr lang="en-GB" sz="2400" i="1" dirty="0" smtClean="0">
                <a:latin typeface="Times New Roman" pitchFamily="18" charset="0"/>
                <a:cs typeface="Times New Roman" pitchFamily="18" charset="0"/>
              </a:rPr>
              <a:t>Intermediate,</a:t>
            </a:r>
            <a:r>
              <a:rPr lang="en-GB" sz="2400" dirty="0" smtClean="0">
                <a:latin typeface="Times New Roman" pitchFamily="18" charset="0"/>
                <a:cs typeface="Times New Roman" pitchFamily="18" charset="0"/>
              </a:rPr>
              <a:t> and </a:t>
            </a:r>
          </a:p>
          <a:p>
            <a:pPr lvl="1"/>
            <a:r>
              <a:rPr lang="en-GB" sz="2400" i="1" dirty="0" smtClean="0">
                <a:latin typeface="Times New Roman" pitchFamily="18" charset="0"/>
                <a:cs typeface="Times New Roman" pitchFamily="18" charset="0"/>
              </a:rPr>
              <a:t>Detailed COCOMO </a:t>
            </a:r>
            <a:r>
              <a:rPr lang="en-GB" sz="2400" dirty="0" smtClean="0">
                <a:latin typeface="Times New Roman" pitchFamily="18" charset="0"/>
                <a:cs typeface="Times New Roman" pitchFamily="18" charset="0"/>
              </a:rPr>
              <a:t>models. </a:t>
            </a:r>
          </a:p>
          <a:p>
            <a:r>
              <a:rPr lang="en-GB" sz="2400" dirty="0" smtClean="0">
                <a:latin typeface="Times New Roman" pitchFamily="18" charset="0"/>
                <a:cs typeface="Times New Roman" pitchFamily="18" charset="0"/>
              </a:rPr>
              <a:t>Each of the models </a:t>
            </a:r>
            <a:r>
              <a:rPr lang="en-GB" sz="2400" dirty="0">
                <a:latin typeface="Times New Roman" pitchFamily="18" charset="0"/>
                <a:cs typeface="Times New Roman" pitchFamily="18" charset="0"/>
              </a:rPr>
              <a:t>initially estimates efforts based on the total estimated KLOC. </a:t>
            </a:r>
            <a:endParaRPr lang="en-GB" sz="24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48</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GB" sz="2400" dirty="0" smtClean="0">
                <a:solidFill>
                  <a:srgbClr val="00B0F0"/>
                </a:solidFill>
                <a:latin typeface="Times New Roman" pitchFamily="18" charset="0"/>
                <a:cs typeface="Times New Roman" pitchFamily="18" charset="0"/>
              </a:rPr>
              <a:t>Basic</a:t>
            </a:r>
            <a:r>
              <a:rPr lang="en-GB" sz="2400" dirty="0" smtClean="0"/>
              <a:t> </a:t>
            </a:r>
            <a:r>
              <a:rPr lang="en-IN" sz="2400" dirty="0" smtClean="0">
                <a:solidFill>
                  <a:srgbClr val="00B0F0"/>
                </a:solidFill>
                <a:latin typeface="Times New Roman" pitchFamily="18" charset="0"/>
                <a:cs typeface="Times New Roman" pitchFamily="18" charset="0"/>
              </a:rPr>
              <a:t>COCOMO Model</a:t>
            </a:r>
          </a:p>
          <a:p>
            <a:pPr algn="just"/>
            <a:r>
              <a:rPr lang="en-GB" sz="2200" dirty="0">
                <a:latin typeface="Times New Roman" pitchFamily="18" charset="0"/>
                <a:cs typeface="Times New Roman" pitchFamily="18" charset="0"/>
              </a:rPr>
              <a:t>The basic COCOMO model estimates effort in a function of the estimated KLOC in the proposed project.  </a:t>
            </a:r>
            <a:endParaRPr lang="en-GB" sz="2200" dirty="0" smtClean="0">
              <a:latin typeface="Times New Roman" pitchFamily="18" charset="0"/>
              <a:cs typeface="Times New Roman" pitchFamily="18" charset="0"/>
            </a:endParaRPr>
          </a:p>
          <a:p>
            <a:pPr algn="just"/>
            <a:r>
              <a:rPr lang="en-GB" sz="2200" dirty="0" smtClean="0">
                <a:latin typeface="Times New Roman" pitchFamily="18" charset="0"/>
                <a:cs typeface="Times New Roman" pitchFamily="18" charset="0"/>
              </a:rPr>
              <a:t>The </a:t>
            </a:r>
            <a:r>
              <a:rPr lang="en-GB" sz="2200" dirty="0">
                <a:latin typeface="Times New Roman" pitchFamily="18" charset="0"/>
                <a:cs typeface="Times New Roman" pitchFamily="18" charset="0"/>
              </a:rPr>
              <a:t>basic COCOMO model is very simple, quick, and applicable to small to medium organic-type projects. It is given as follows:</a:t>
            </a:r>
            <a:endParaRPr lang="en-IN" sz="2200" dirty="0">
              <a:latin typeface="Times New Roman" pitchFamily="18" charset="0"/>
              <a:cs typeface="Times New Roman" pitchFamily="18" charset="0"/>
            </a:endParaRPr>
          </a:p>
          <a:p>
            <a:pPr marL="0" indent="0" algn="just">
              <a:buNone/>
            </a:pPr>
            <a:r>
              <a:rPr lang="en-GB" sz="2200" dirty="0" smtClean="0">
                <a:latin typeface="Times New Roman" pitchFamily="18" charset="0"/>
                <a:cs typeface="Times New Roman" pitchFamily="18" charset="0"/>
              </a:rPr>
              <a:t>	Development </a:t>
            </a:r>
            <a:r>
              <a:rPr lang="en-GB" sz="2200" dirty="0">
                <a:latin typeface="Times New Roman" pitchFamily="18" charset="0"/>
                <a:cs typeface="Times New Roman" pitchFamily="18" charset="0"/>
              </a:rPr>
              <a:t>effort (E) = </a:t>
            </a:r>
            <a:r>
              <a:rPr lang="en-GB" sz="2200" i="1" dirty="0">
                <a:latin typeface="Times New Roman" pitchFamily="18" charset="0"/>
                <a:cs typeface="Times New Roman" pitchFamily="18" charset="0"/>
              </a:rPr>
              <a:t>a</a:t>
            </a:r>
            <a:r>
              <a:rPr lang="en-GB" sz="2200" dirty="0">
                <a:latin typeface="Times New Roman" pitchFamily="18" charset="0"/>
                <a:cs typeface="Times New Roman" pitchFamily="18" charset="0"/>
              </a:rPr>
              <a:t> × (KLOC) </a:t>
            </a:r>
            <a:r>
              <a:rPr lang="en-GB" sz="2200" i="1" baseline="30000" dirty="0">
                <a:latin typeface="Times New Roman" pitchFamily="18" charset="0"/>
                <a:cs typeface="Times New Roman" pitchFamily="18" charset="0"/>
              </a:rPr>
              <a:t>b</a:t>
            </a:r>
            <a:endParaRPr lang="en-IN" sz="2200" dirty="0">
              <a:latin typeface="Times New Roman" pitchFamily="18" charset="0"/>
              <a:cs typeface="Times New Roman" pitchFamily="18" charset="0"/>
            </a:endParaRPr>
          </a:p>
          <a:p>
            <a:pPr marL="0" indent="0" algn="just">
              <a:buNone/>
            </a:pPr>
            <a:r>
              <a:rPr lang="en-GB" sz="2200" dirty="0" smtClean="0">
                <a:latin typeface="Times New Roman" pitchFamily="18" charset="0"/>
                <a:cs typeface="Times New Roman" pitchFamily="18" charset="0"/>
              </a:rPr>
              <a:t>	Development </a:t>
            </a:r>
            <a:r>
              <a:rPr lang="en-GB" sz="2200" dirty="0">
                <a:latin typeface="Times New Roman" pitchFamily="18" charset="0"/>
                <a:cs typeface="Times New Roman" pitchFamily="18" charset="0"/>
              </a:rPr>
              <a:t>time (T) = </a:t>
            </a:r>
            <a:r>
              <a:rPr lang="en-GB" sz="2200" i="1" dirty="0">
                <a:latin typeface="Times New Roman" pitchFamily="18" charset="0"/>
                <a:cs typeface="Times New Roman" pitchFamily="18" charset="0"/>
              </a:rPr>
              <a:t>c</a:t>
            </a:r>
            <a:r>
              <a:rPr lang="en-GB" sz="2200" dirty="0">
                <a:latin typeface="Times New Roman" pitchFamily="18" charset="0"/>
                <a:cs typeface="Times New Roman" pitchFamily="18" charset="0"/>
              </a:rPr>
              <a:t> × (E) </a:t>
            </a:r>
            <a:r>
              <a:rPr lang="en-GB" sz="2200" i="1" baseline="30000" dirty="0" smtClean="0">
                <a:latin typeface="Times New Roman" pitchFamily="18" charset="0"/>
                <a:cs typeface="Times New Roman" pitchFamily="18" charset="0"/>
              </a:rPr>
              <a:t>d</a:t>
            </a:r>
            <a:endParaRPr lang="en-IN" sz="2200" dirty="0" smtClean="0">
              <a:latin typeface="Times New Roman" pitchFamily="18" charset="0"/>
              <a:cs typeface="Times New Roman" pitchFamily="18" charset="0"/>
            </a:endParaRPr>
          </a:p>
          <a:p>
            <a:pPr algn="just"/>
            <a:r>
              <a:rPr lang="en-GB" sz="2200" dirty="0">
                <a:latin typeface="Times New Roman" pitchFamily="18" charset="0"/>
                <a:cs typeface="Times New Roman" pitchFamily="18" charset="0"/>
              </a:rPr>
              <a:t>Where </a:t>
            </a:r>
            <a:r>
              <a:rPr lang="en-GB" sz="2200" i="1" dirty="0">
                <a:latin typeface="Times New Roman" pitchFamily="18" charset="0"/>
                <a:cs typeface="Times New Roman" pitchFamily="18" charset="0"/>
              </a:rPr>
              <a:t>a, b, c,</a:t>
            </a:r>
            <a:r>
              <a:rPr lang="en-GB" sz="2200" dirty="0">
                <a:latin typeface="Times New Roman" pitchFamily="18" charset="0"/>
                <a:cs typeface="Times New Roman" pitchFamily="18" charset="0"/>
              </a:rPr>
              <a:t> and </a:t>
            </a:r>
            <a:r>
              <a:rPr lang="en-GB" sz="2200" i="1" dirty="0">
                <a:latin typeface="Times New Roman" pitchFamily="18" charset="0"/>
                <a:cs typeface="Times New Roman" pitchFamily="18" charset="0"/>
              </a:rPr>
              <a:t>d</a:t>
            </a:r>
            <a:r>
              <a:rPr lang="en-GB" sz="2200" dirty="0">
                <a:latin typeface="Times New Roman" pitchFamily="18" charset="0"/>
                <a:cs typeface="Times New Roman" pitchFamily="18" charset="0"/>
              </a:rPr>
              <a:t> are constants and these values are determined from the historical data of the past projects. </a:t>
            </a:r>
            <a:endParaRPr lang="en-GB" sz="2200" dirty="0" smtClean="0">
              <a:latin typeface="Times New Roman" pitchFamily="18" charset="0"/>
              <a:cs typeface="Times New Roman" pitchFamily="18" charset="0"/>
            </a:endParaRPr>
          </a:p>
          <a:p>
            <a:pPr algn="just"/>
            <a:r>
              <a:rPr lang="en-GB" sz="2200" dirty="0" smtClean="0">
                <a:latin typeface="Times New Roman" pitchFamily="18" charset="0"/>
                <a:cs typeface="Times New Roman" pitchFamily="18" charset="0"/>
              </a:rPr>
              <a:t>The </a:t>
            </a:r>
            <a:r>
              <a:rPr lang="en-GB" sz="2200" dirty="0">
                <a:latin typeface="Times New Roman" pitchFamily="18" charset="0"/>
                <a:cs typeface="Times New Roman" pitchFamily="18" charset="0"/>
              </a:rPr>
              <a:t>development time (T) is calculated from the initial development effort (E).    </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49</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a:bodyPr>
          <a:lstStyle/>
          <a:p>
            <a:pPr marL="0" indent="0">
              <a:buNone/>
            </a:pPr>
            <a:r>
              <a:rPr lang="en-GB" sz="2400" dirty="0">
                <a:solidFill>
                  <a:srgbClr val="00B0F0"/>
                </a:solidFill>
                <a:latin typeface="Times New Roman" pitchFamily="18" charset="0"/>
                <a:cs typeface="Times New Roman" pitchFamily="18" charset="0"/>
              </a:rPr>
              <a:t>Basic</a:t>
            </a:r>
            <a:r>
              <a:rPr lang="en-GB" sz="2400" dirty="0"/>
              <a:t> </a:t>
            </a:r>
            <a:r>
              <a:rPr lang="en-IN" sz="2400" dirty="0">
                <a:solidFill>
                  <a:srgbClr val="00B0F0"/>
                </a:solidFill>
                <a:latin typeface="Times New Roman" pitchFamily="18" charset="0"/>
                <a:cs typeface="Times New Roman" pitchFamily="18" charset="0"/>
              </a:rPr>
              <a:t>COCOMO </a:t>
            </a:r>
            <a:r>
              <a:rPr lang="en-IN" sz="2400" dirty="0" smtClean="0">
                <a:solidFill>
                  <a:srgbClr val="00B0F0"/>
                </a:solidFill>
                <a:latin typeface="Times New Roman" pitchFamily="18" charset="0"/>
                <a:cs typeface="Times New Roman" pitchFamily="18" charset="0"/>
              </a:rPr>
              <a:t>Model</a:t>
            </a:r>
            <a:endParaRPr lang="en-IN" sz="2400" dirty="0">
              <a:solidFill>
                <a:srgbClr val="00B0F0"/>
              </a:solidFill>
              <a:latin typeface="Times New Roman" pitchFamily="18" charset="0"/>
              <a:cs typeface="Times New Roman" pitchFamily="18" charset="0"/>
            </a:endParaRPr>
          </a:p>
          <a:p>
            <a:r>
              <a:rPr lang="en-GB" sz="2400" dirty="0" smtClean="0">
                <a:latin typeface="Times New Roman" pitchFamily="18" charset="0"/>
                <a:cs typeface="Times New Roman" pitchFamily="18" charset="0"/>
              </a:rPr>
              <a:t>The </a:t>
            </a:r>
            <a:r>
              <a:rPr lang="en-GB" sz="2400" dirty="0">
                <a:latin typeface="Times New Roman" pitchFamily="18" charset="0"/>
                <a:cs typeface="Times New Roman" pitchFamily="18" charset="0"/>
              </a:rPr>
              <a:t>values of </a:t>
            </a:r>
            <a:r>
              <a:rPr lang="en-GB" sz="2400" i="1" dirty="0">
                <a:latin typeface="Times New Roman" pitchFamily="18" charset="0"/>
                <a:cs typeface="Times New Roman" pitchFamily="18" charset="0"/>
              </a:rPr>
              <a:t>c</a:t>
            </a:r>
            <a:r>
              <a:rPr lang="en-GB" sz="2400" dirty="0">
                <a:latin typeface="Times New Roman" pitchFamily="18" charset="0"/>
                <a:cs typeface="Times New Roman" pitchFamily="18" charset="0"/>
              </a:rPr>
              <a:t> and </a:t>
            </a:r>
            <a:r>
              <a:rPr lang="en-GB" sz="2400" i="1" dirty="0">
                <a:latin typeface="Times New Roman" pitchFamily="18" charset="0"/>
                <a:cs typeface="Times New Roman" pitchFamily="18" charset="0"/>
              </a:rPr>
              <a:t>d</a:t>
            </a:r>
            <a:r>
              <a:rPr lang="en-GB" sz="2400" dirty="0">
                <a:latin typeface="Times New Roman" pitchFamily="18" charset="0"/>
                <a:cs typeface="Times New Roman" pitchFamily="18" charset="0"/>
              </a:rPr>
              <a:t> for organic-, semidetached-, and </a:t>
            </a:r>
            <a:r>
              <a:rPr lang="en-GB" sz="2400" dirty="0" smtClean="0">
                <a:latin typeface="Times New Roman" pitchFamily="18" charset="0"/>
                <a:cs typeface="Times New Roman" pitchFamily="18" charset="0"/>
              </a:rPr>
              <a:t>embedded-type </a:t>
            </a:r>
            <a:r>
              <a:rPr lang="en-GB" sz="2400" dirty="0">
                <a:latin typeface="Times New Roman" pitchFamily="18" charset="0"/>
                <a:cs typeface="Times New Roman" pitchFamily="18" charset="0"/>
              </a:rPr>
              <a:t>projects are shown in </a:t>
            </a:r>
            <a:r>
              <a:rPr lang="en-GB" sz="2400" dirty="0" smtClean="0">
                <a:latin typeface="Times New Roman" pitchFamily="18" charset="0"/>
                <a:cs typeface="Times New Roman" pitchFamily="18" charset="0"/>
              </a:rPr>
              <a:t>the </a:t>
            </a:r>
            <a:r>
              <a:rPr lang="en-GB" sz="2400" smtClean="0">
                <a:latin typeface="Times New Roman" pitchFamily="18" charset="0"/>
                <a:cs typeface="Times New Roman" pitchFamily="18" charset="0"/>
              </a:rPr>
              <a:t>Table below:- </a:t>
            </a:r>
            <a:endParaRPr lang="en-GB" sz="2400" dirty="0">
              <a:latin typeface="Times New Roman" pitchFamily="18" charset="0"/>
              <a:cs typeface="Times New Roman" pitchFamily="18" charset="0"/>
            </a:endParaRPr>
          </a:p>
        </p:txBody>
      </p:sp>
      <p:graphicFrame>
        <p:nvGraphicFramePr>
          <p:cNvPr id="4" name="Table 3"/>
          <p:cNvGraphicFramePr>
            <a:graphicFrameLocks noGrp="1"/>
          </p:cNvGraphicFramePr>
          <p:nvPr>
            <p:extLst>
              <p:ext uri="{D42A27DB-BD31-4B8C-83A1-F6EECF244321}">
                <p14:modId xmlns:p14="http://schemas.microsoft.com/office/powerpoint/2010/main" val="2348779593"/>
              </p:ext>
            </p:extLst>
          </p:nvPr>
        </p:nvGraphicFramePr>
        <p:xfrm>
          <a:off x="928662" y="3071809"/>
          <a:ext cx="6883698" cy="2857520"/>
        </p:xfrm>
        <a:graphic>
          <a:graphicData uri="http://schemas.openxmlformats.org/drawingml/2006/table">
            <a:tbl>
              <a:tblPr firstRow="1" firstCol="1" bandRow="1">
                <a:tableStyleId>{BDBED569-4797-4DF1-A0F4-6AAB3CD982D8}</a:tableStyleId>
              </a:tblPr>
              <a:tblGrid>
                <a:gridCol w="2875610">
                  <a:extLst>
                    <a:ext uri="{9D8B030D-6E8A-4147-A177-3AD203B41FA5}">
                      <a16:colId xmlns:a16="http://schemas.microsoft.com/office/drawing/2014/main" val="20000"/>
                    </a:ext>
                  </a:extLst>
                </a:gridCol>
                <a:gridCol w="1436158">
                  <a:extLst>
                    <a:ext uri="{9D8B030D-6E8A-4147-A177-3AD203B41FA5}">
                      <a16:colId xmlns:a16="http://schemas.microsoft.com/office/drawing/2014/main" val="20001"/>
                    </a:ext>
                  </a:extLst>
                </a:gridCol>
                <a:gridCol w="2571930">
                  <a:extLst>
                    <a:ext uri="{9D8B030D-6E8A-4147-A177-3AD203B41FA5}">
                      <a16:colId xmlns:a16="http://schemas.microsoft.com/office/drawing/2014/main" val="20002"/>
                    </a:ext>
                  </a:extLst>
                </a:gridCol>
              </a:tblGrid>
              <a:tr h="714380">
                <a:tc>
                  <a:txBody>
                    <a:bodyPr/>
                    <a:lstStyle/>
                    <a:p>
                      <a:pPr algn="l">
                        <a:lnSpc>
                          <a:spcPct val="115000"/>
                        </a:lnSpc>
                        <a:spcAft>
                          <a:spcPts val="0"/>
                        </a:spcAft>
                      </a:pPr>
                      <a:r>
                        <a:rPr lang="en-IN" sz="2400" dirty="0">
                          <a:effectLst/>
                          <a:latin typeface="Times New Roman" pitchFamily="18" charset="0"/>
                          <a:cs typeface="Times New Roman" pitchFamily="18" charset="0"/>
                        </a:rPr>
                        <a:t>Project category</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1000"/>
                        </a:spcAft>
                      </a:pPr>
                      <a:r>
                        <a:rPr lang="en-IN" sz="2400" dirty="0">
                          <a:effectLst/>
                          <a:latin typeface="Times New Roman" pitchFamily="18" charset="0"/>
                          <a:cs typeface="Times New Roman" pitchFamily="18" charset="0"/>
                        </a:rPr>
                        <a:t>c</a:t>
                      </a:r>
                      <a:endParaRPr lang="en-IN" sz="240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1000"/>
                        </a:spcAft>
                      </a:pPr>
                      <a:r>
                        <a:rPr lang="en-IN" sz="2400">
                          <a:effectLst/>
                          <a:latin typeface="Times New Roman" pitchFamily="18" charset="0"/>
                          <a:cs typeface="Times New Roman" pitchFamily="18" charset="0"/>
                        </a:rPr>
                        <a:t>d</a:t>
                      </a:r>
                      <a:endParaRPr lang="en-IN" sz="240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0"/>
                  </a:ext>
                </a:extLst>
              </a:tr>
              <a:tr h="714380">
                <a:tc>
                  <a:txBody>
                    <a:bodyPr/>
                    <a:lstStyle/>
                    <a:p>
                      <a:pPr algn="l">
                        <a:lnSpc>
                          <a:spcPct val="115000"/>
                        </a:lnSpc>
                        <a:spcAft>
                          <a:spcPts val="1000"/>
                        </a:spcAft>
                      </a:pPr>
                      <a:r>
                        <a:rPr lang="en-IN" sz="2400" b="0" dirty="0">
                          <a:effectLst/>
                          <a:latin typeface="Times New Roman" pitchFamily="18" charset="0"/>
                          <a:cs typeface="Times New Roman" pitchFamily="18" charset="0"/>
                        </a:rPr>
                        <a:t>Organic</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2.5</a:t>
                      </a:r>
                      <a:endParaRPr lang="en-IN" sz="240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0.38</a:t>
                      </a:r>
                      <a:endParaRPr lang="en-IN" sz="240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1"/>
                  </a:ext>
                </a:extLst>
              </a:tr>
              <a:tr h="714380">
                <a:tc>
                  <a:txBody>
                    <a:bodyPr/>
                    <a:lstStyle/>
                    <a:p>
                      <a:pPr algn="l">
                        <a:lnSpc>
                          <a:spcPct val="115000"/>
                        </a:lnSpc>
                        <a:spcAft>
                          <a:spcPts val="1000"/>
                        </a:spcAft>
                      </a:pPr>
                      <a:r>
                        <a:rPr lang="en-IN" sz="2400" b="0" dirty="0">
                          <a:effectLst/>
                          <a:latin typeface="Times New Roman" pitchFamily="18" charset="0"/>
                          <a:cs typeface="Times New Roman" pitchFamily="18" charset="0"/>
                        </a:rPr>
                        <a:t>Semi-detached</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2.5</a:t>
                      </a:r>
                      <a:endParaRPr lang="en-IN" sz="240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0.35</a:t>
                      </a:r>
                      <a:endParaRPr lang="en-IN" sz="240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2"/>
                  </a:ext>
                </a:extLst>
              </a:tr>
              <a:tr h="714380">
                <a:tc>
                  <a:txBody>
                    <a:bodyPr/>
                    <a:lstStyle/>
                    <a:p>
                      <a:pPr algn="l">
                        <a:lnSpc>
                          <a:spcPct val="115000"/>
                        </a:lnSpc>
                        <a:spcAft>
                          <a:spcPts val="1000"/>
                        </a:spcAft>
                      </a:pPr>
                      <a:r>
                        <a:rPr lang="en-IN" sz="2400" b="0" dirty="0">
                          <a:effectLst/>
                          <a:latin typeface="Times New Roman" pitchFamily="18" charset="0"/>
                          <a:cs typeface="Times New Roman" pitchFamily="18" charset="0"/>
                        </a:rPr>
                        <a:t>Embedded</a:t>
                      </a:r>
                      <a:endParaRPr lang="en-IN" sz="2400" b="0" dirty="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a:effectLst/>
                          <a:latin typeface="Times New Roman" pitchFamily="18" charset="0"/>
                          <a:cs typeface="Times New Roman" pitchFamily="18" charset="0"/>
                        </a:rPr>
                        <a:t>2.5</a:t>
                      </a:r>
                      <a:endParaRPr lang="en-IN" sz="2400">
                        <a:effectLst/>
                        <a:latin typeface="Times New Roman" pitchFamily="18" charset="0"/>
                        <a:ea typeface="Times New Roman"/>
                        <a:cs typeface="Times New Roman" pitchFamily="18" charset="0"/>
                      </a:endParaRPr>
                    </a:p>
                  </a:txBody>
                  <a:tcPr marL="68580" marR="68580" marT="0" marB="0" anchor="ctr"/>
                </a:tc>
                <a:tc>
                  <a:txBody>
                    <a:bodyPr/>
                    <a:lstStyle/>
                    <a:p>
                      <a:pPr algn="ctr">
                        <a:lnSpc>
                          <a:spcPct val="115000"/>
                        </a:lnSpc>
                        <a:spcAft>
                          <a:spcPts val="0"/>
                        </a:spcAft>
                      </a:pPr>
                      <a:r>
                        <a:rPr lang="en-IN" sz="2400" dirty="0">
                          <a:effectLst/>
                          <a:latin typeface="Times New Roman" pitchFamily="18" charset="0"/>
                          <a:cs typeface="Times New Roman" pitchFamily="18" charset="0"/>
                        </a:rPr>
                        <a:t>0.32</a:t>
                      </a:r>
                      <a:endParaRPr lang="en-IN" sz="2400" dirty="0">
                        <a:effectLst/>
                        <a:latin typeface="Times New Roman" pitchFamily="18" charset="0"/>
                        <a:ea typeface="Times New Roman"/>
                        <a:cs typeface="Times New Roman" pitchFamily="18" charset="0"/>
                      </a:endParaRPr>
                    </a:p>
                  </a:txBody>
                  <a:tcPr marL="68580" marR="68580" marT="0" marB="0" anchor="ctr"/>
                </a:tc>
                <a:extLst>
                  <a:ext uri="{0D108BD9-81ED-4DB2-BD59-A6C34878D82A}">
                    <a16:rowId xmlns:a16="http://schemas.microsoft.com/office/drawing/2014/main" val="10003"/>
                  </a:ext>
                </a:extLst>
              </a:tr>
            </a:tbl>
          </a:graphicData>
        </a:graphic>
      </p:graphicFrame>
      <p:sp>
        <p:nvSpPr>
          <p:cNvPr id="6" name="Slide Number Placeholder 5"/>
          <p:cNvSpPr>
            <a:spLocks noGrp="1"/>
          </p:cNvSpPr>
          <p:nvPr>
            <p:ph type="sldNum" sz="quarter" idx="12"/>
          </p:nvPr>
        </p:nvSpPr>
        <p:spPr/>
        <p:txBody>
          <a:bodyPr/>
          <a:lstStyle/>
          <a:p>
            <a:fld id="{0C087B72-CC60-4FF0-9C96-8509CDF76D05}" type="slidenum">
              <a:rPr lang="en-IN" smtClean="0"/>
              <a:pPr/>
              <a:t>50</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spcBef>
                <a:spcPct val="20000"/>
              </a:spcBef>
            </a:pPr>
            <a:r>
              <a:rPr lang="en-GB" sz="3200" b="1" dirty="0" smtClean="0">
                <a:solidFill>
                  <a:srgbClr val="0000FF"/>
                </a:solidFill>
                <a:latin typeface="Times New Roman" pitchFamily="18" charset="0"/>
                <a:ea typeface="+mn-ea"/>
                <a:cs typeface="Times New Roman" pitchFamily="18" charset="0"/>
              </a:rPr>
              <a:t>Basic </a:t>
            </a:r>
            <a:r>
              <a:rPr lang="en-IN" sz="3200" b="1" dirty="0" smtClean="0">
                <a:solidFill>
                  <a:srgbClr val="0000FF"/>
                </a:solidFill>
                <a:latin typeface="Times New Roman" pitchFamily="18" charset="0"/>
                <a:ea typeface="+mn-ea"/>
                <a:cs typeface="Times New Roman" pitchFamily="18" charset="0"/>
              </a:rPr>
              <a:t>COCOMO Model</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algn="just"/>
            <a:r>
              <a:rPr lang="en-GB" sz="2400" b="1" dirty="0" smtClean="0">
                <a:solidFill>
                  <a:srgbClr val="00B0F0"/>
                </a:solidFill>
                <a:latin typeface="Times New Roman" pitchFamily="18" charset="0"/>
                <a:cs typeface="Times New Roman" pitchFamily="18" charset="0"/>
              </a:rPr>
              <a:t>Example 4.2</a:t>
            </a:r>
            <a:endParaRPr lang="en-IN" sz="2400" b="1" dirty="0" smtClean="0">
              <a:solidFill>
                <a:srgbClr val="00B0F0"/>
              </a:solidFill>
              <a:latin typeface="Times New Roman" pitchFamily="18" charset="0"/>
              <a:cs typeface="Times New Roman" pitchFamily="18" charset="0"/>
            </a:endParaRPr>
          </a:p>
          <a:p>
            <a:pPr algn="just">
              <a:buNone/>
            </a:pPr>
            <a:r>
              <a:rPr lang="en-GB" sz="2600" dirty="0" smtClean="0">
                <a:latin typeface="Times New Roman" pitchFamily="18" charset="0"/>
                <a:cs typeface="Times New Roman" pitchFamily="18" charset="0"/>
              </a:rPr>
              <a:t>	</a:t>
            </a:r>
            <a:r>
              <a:rPr lang="en-GB" sz="2400" dirty="0" smtClean="0">
                <a:latin typeface="Times New Roman" pitchFamily="18" charset="0"/>
                <a:cs typeface="Times New Roman" pitchFamily="18" charset="0"/>
              </a:rPr>
              <a:t>Assume that a system for simple student registration in a course is planned to be developed and its estimated size is approximately 10,000 lines of code. The organization is proposed to pay </a:t>
            </a:r>
            <a:r>
              <a:rPr lang="en-GB" sz="2400" dirty="0" err="1" smtClean="0">
                <a:latin typeface="Times New Roman" pitchFamily="18" charset="0"/>
                <a:cs typeface="Times New Roman" pitchFamily="18" charset="0"/>
              </a:rPr>
              <a:t>Rs</a:t>
            </a:r>
            <a:r>
              <a:rPr lang="en-GB" sz="2400" dirty="0" smtClean="0">
                <a:latin typeface="Times New Roman" pitchFamily="18" charset="0"/>
                <a:cs typeface="Times New Roman" pitchFamily="18" charset="0"/>
              </a:rPr>
              <a:t>. 25000 per month to software engineers. Compute the development effort, development time, and the total cost for product development.   </a:t>
            </a:r>
            <a:endParaRPr lang="en-IN" sz="2400" dirty="0" smtClean="0">
              <a:latin typeface="Times New Roman" pitchFamily="18" charset="0"/>
              <a:cs typeface="Times New Roman" pitchFamily="18" charset="0"/>
            </a:endParaRPr>
          </a:p>
          <a:p>
            <a:pPr algn="just"/>
            <a:endParaRPr lang="en-IN" dirty="0" smtClean="0"/>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51</a:t>
            </a:fld>
            <a:endParaRPr lang="en-IN"/>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b="1" dirty="0" smtClean="0">
                <a:solidFill>
                  <a:srgbClr val="0000FF"/>
                </a:solidFill>
                <a:latin typeface="Times New Roman" pitchFamily="18" charset="0"/>
                <a:cs typeface="Times New Roman" pitchFamily="18" charset="0"/>
              </a:rPr>
              <a:t>Basic </a:t>
            </a:r>
            <a:r>
              <a:rPr lang="en-IN" sz="3200" b="1" dirty="0" smtClean="0">
                <a:solidFill>
                  <a:srgbClr val="0000FF"/>
                </a:solidFill>
                <a:latin typeface="Times New Roman" pitchFamily="18" charset="0"/>
                <a:cs typeface="Times New Roman" pitchFamily="18" charset="0"/>
              </a:rPr>
              <a:t>COCOMO Model</a:t>
            </a:r>
            <a:endParaRPr lang="en-IN" dirty="0"/>
          </a:p>
        </p:txBody>
      </p:sp>
      <p:sp>
        <p:nvSpPr>
          <p:cNvPr id="3" name="Content Placeholder 2"/>
          <p:cNvSpPr>
            <a:spLocks noGrp="1"/>
          </p:cNvSpPr>
          <p:nvPr>
            <p:ph idx="1"/>
          </p:nvPr>
        </p:nvSpPr>
        <p:spPr/>
        <p:txBody>
          <a:bodyPr>
            <a:normAutofit/>
          </a:bodyPr>
          <a:lstStyle/>
          <a:p>
            <a:pPr algn="just">
              <a:buNone/>
            </a:pPr>
            <a:r>
              <a:rPr lang="en-GB" sz="2400" b="1" dirty="0" smtClean="0">
                <a:solidFill>
                  <a:srgbClr val="00B0F0"/>
                </a:solidFill>
                <a:latin typeface="Times New Roman" pitchFamily="18" charset="0"/>
                <a:cs typeface="Times New Roman" pitchFamily="18" charset="0"/>
              </a:rPr>
              <a:t>Solution 4.2:</a:t>
            </a:r>
            <a:endParaRPr lang="en-IN" sz="2400" dirty="0" smtClean="0">
              <a:solidFill>
                <a:srgbClr val="00B0F0"/>
              </a:solidFill>
              <a:latin typeface="Times New Roman" pitchFamily="18" charset="0"/>
              <a:cs typeface="Times New Roman" pitchFamily="18" charset="0"/>
            </a:endParaRPr>
          </a:p>
          <a:p>
            <a:pPr algn="just"/>
            <a:r>
              <a:rPr lang="en-GB" sz="2400" dirty="0" smtClean="0">
                <a:latin typeface="Times New Roman" pitchFamily="18" charset="0"/>
                <a:cs typeface="Times New Roman" pitchFamily="18" charset="0"/>
              </a:rPr>
              <a:t>The project can be considered an organic project. Thus, from the basic COCOMO model,</a:t>
            </a:r>
            <a:endParaRPr lang="en-IN" sz="2400" dirty="0" smtClean="0">
              <a:latin typeface="Times New Roman" pitchFamily="18" charset="0"/>
              <a:cs typeface="Times New Roman" pitchFamily="18" charset="0"/>
            </a:endParaRPr>
          </a:p>
          <a:p>
            <a:pPr algn="just">
              <a:buNone/>
            </a:pPr>
            <a:r>
              <a:rPr lang="en-GB" sz="2400" dirty="0" smtClean="0">
                <a:latin typeface="Times New Roman" pitchFamily="18" charset="0"/>
                <a:cs typeface="Times New Roman" pitchFamily="18" charset="0"/>
              </a:rPr>
              <a:t>	Development effort (E) = 3.2 × (10) </a:t>
            </a:r>
            <a:r>
              <a:rPr lang="en-GB" sz="2400" baseline="30000" dirty="0" smtClean="0">
                <a:latin typeface="Times New Roman" pitchFamily="18" charset="0"/>
                <a:cs typeface="Times New Roman" pitchFamily="18" charset="0"/>
              </a:rPr>
              <a:t>1.05 </a:t>
            </a:r>
            <a:r>
              <a:rPr lang="en-GB" sz="2400" dirty="0" smtClean="0">
                <a:latin typeface="Times New Roman" pitchFamily="18" charset="0"/>
                <a:cs typeface="Times New Roman" pitchFamily="18" charset="0"/>
              </a:rPr>
              <a:t>= 35.90 PM</a:t>
            </a:r>
            <a:endParaRPr lang="en-IN" sz="2400" dirty="0" smtClean="0">
              <a:latin typeface="Times New Roman" pitchFamily="18" charset="0"/>
              <a:cs typeface="Times New Roman" pitchFamily="18" charset="0"/>
            </a:endParaRPr>
          </a:p>
          <a:p>
            <a:pPr algn="just">
              <a:buNone/>
            </a:pPr>
            <a:r>
              <a:rPr lang="en-GB" sz="2400" dirty="0" smtClean="0">
                <a:latin typeface="Times New Roman" pitchFamily="18" charset="0"/>
                <a:cs typeface="Times New Roman" pitchFamily="18" charset="0"/>
              </a:rPr>
              <a:t>	Development time (T) = 2.5 × (35.90) </a:t>
            </a:r>
            <a:r>
              <a:rPr lang="en-GB" sz="2400" baseline="30000" dirty="0" smtClean="0">
                <a:latin typeface="Times New Roman" pitchFamily="18" charset="0"/>
                <a:cs typeface="Times New Roman" pitchFamily="18" charset="0"/>
              </a:rPr>
              <a:t>0.38	</a:t>
            </a:r>
            <a:r>
              <a:rPr lang="en-GB" sz="2400" dirty="0" smtClean="0">
                <a:latin typeface="Times New Roman" pitchFamily="18" charset="0"/>
                <a:cs typeface="Times New Roman" pitchFamily="18" charset="0"/>
              </a:rPr>
              <a:t>= 9.747 months</a:t>
            </a:r>
            <a:endParaRPr lang="en-IN" sz="2400" dirty="0" smtClean="0">
              <a:latin typeface="Times New Roman" pitchFamily="18" charset="0"/>
              <a:cs typeface="Times New Roman" pitchFamily="18" charset="0"/>
            </a:endParaRPr>
          </a:p>
          <a:p>
            <a:pPr algn="just"/>
            <a:r>
              <a:rPr lang="en-GB" sz="2400" dirty="0" smtClean="0">
                <a:latin typeface="Times New Roman" pitchFamily="18" charset="0"/>
                <a:cs typeface="Times New Roman" pitchFamily="18" charset="0"/>
              </a:rPr>
              <a:t>Total product development cost  = Development time × 						Salaries of engineers   </a:t>
            </a:r>
            <a:endParaRPr lang="en-IN" sz="2400" dirty="0" smtClean="0">
              <a:latin typeface="Times New Roman" pitchFamily="18" charset="0"/>
              <a:cs typeface="Times New Roman" pitchFamily="18" charset="0"/>
            </a:endParaRPr>
          </a:p>
          <a:p>
            <a:pPr algn="just">
              <a:buNone/>
            </a:pPr>
            <a:r>
              <a:rPr lang="en-GB" sz="2400" dirty="0" smtClean="0">
                <a:latin typeface="Times New Roman" pitchFamily="18" charset="0"/>
                <a:cs typeface="Times New Roman" pitchFamily="18" charset="0"/>
              </a:rPr>
              <a:t>					= 9.747 × 25000</a:t>
            </a:r>
            <a:endParaRPr lang="en-IN" sz="2400" dirty="0" smtClean="0">
              <a:latin typeface="Times New Roman" pitchFamily="18" charset="0"/>
              <a:cs typeface="Times New Roman" pitchFamily="18" charset="0"/>
            </a:endParaRPr>
          </a:p>
          <a:p>
            <a:pPr algn="just">
              <a:buNone/>
            </a:pPr>
            <a:r>
              <a:rPr lang="en-GB" sz="2400" dirty="0" smtClean="0">
                <a:latin typeface="Times New Roman" pitchFamily="18" charset="0"/>
                <a:cs typeface="Times New Roman" pitchFamily="18" charset="0"/>
              </a:rPr>
              <a:t>					= </a:t>
            </a:r>
            <a:r>
              <a:rPr lang="en-GB" sz="2400" dirty="0" err="1" smtClean="0">
                <a:latin typeface="Times New Roman" pitchFamily="18" charset="0"/>
                <a:cs typeface="Times New Roman" pitchFamily="18" charset="0"/>
              </a:rPr>
              <a:t>Rs</a:t>
            </a:r>
            <a:r>
              <a:rPr lang="en-GB" sz="2400" dirty="0" smtClean="0">
                <a:latin typeface="Times New Roman" pitchFamily="18" charset="0"/>
                <a:cs typeface="Times New Roman" pitchFamily="18" charset="0"/>
              </a:rPr>
              <a:t>. 2,43,675 	</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52</a:t>
            </a:fld>
            <a:endParaRPr lang="en-IN"/>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a:bodyPr>
          <a:lstStyle/>
          <a:p>
            <a:pPr marL="0" indent="0">
              <a:buNone/>
            </a:pPr>
            <a:r>
              <a:rPr lang="en-GB" sz="2600" dirty="0" smtClean="0">
                <a:solidFill>
                  <a:srgbClr val="00B0F0"/>
                </a:solidFill>
                <a:latin typeface="Times New Roman" pitchFamily="18" charset="0"/>
                <a:cs typeface="Times New Roman" pitchFamily="18" charset="0"/>
              </a:rPr>
              <a:t>Intermediate </a:t>
            </a:r>
            <a:r>
              <a:rPr lang="en-IN" sz="2600" dirty="0" smtClean="0">
                <a:solidFill>
                  <a:srgbClr val="00B0F0"/>
                </a:solidFill>
                <a:latin typeface="Times New Roman" pitchFamily="18" charset="0"/>
                <a:cs typeface="Times New Roman" pitchFamily="18" charset="0"/>
              </a:rPr>
              <a:t>COCOMO Model</a:t>
            </a:r>
          </a:p>
          <a:p>
            <a:r>
              <a:rPr lang="en-GB" sz="2400" dirty="0">
                <a:latin typeface="Times New Roman" pitchFamily="18" charset="0"/>
                <a:cs typeface="Times New Roman" pitchFamily="18" charset="0"/>
              </a:rPr>
              <a:t>Boehm has introduced 15 cost drivers, considering the various aspects of product development environment. </a:t>
            </a:r>
            <a:endParaRPr lang="en-GB" sz="2400" dirty="0" smtClean="0">
              <a:latin typeface="Times New Roman" pitchFamily="18" charset="0"/>
              <a:cs typeface="Times New Roman" pitchFamily="18" charset="0"/>
            </a:endParaRPr>
          </a:p>
          <a:p>
            <a:r>
              <a:rPr lang="en-GB" sz="2400" dirty="0" smtClean="0">
                <a:latin typeface="Times New Roman" pitchFamily="18" charset="0"/>
                <a:cs typeface="Times New Roman" pitchFamily="18" charset="0"/>
              </a:rPr>
              <a:t>These </a:t>
            </a:r>
            <a:r>
              <a:rPr lang="en-GB" sz="2400" dirty="0">
                <a:latin typeface="Times New Roman" pitchFamily="18" charset="0"/>
                <a:cs typeface="Times New Roman" pitchFamily="18" charset="0"/>
              </a:rPr>
              <a:t>cost drivers are used to adjust the project complexity for estimation of effort and these are termed as </a:t>
            </a:r>
            <a:r>
              <a:rPr lang="en-GB" sz="2400" i="1" dirty="0">
                <a:latin typeface="Times New Roman" pitchFamily="18" charset="0"/>
                <a:cs typeface="Times New Roman" pitchFamily="18" charset="0"/>
              </a:rPr>
              <a:t>effort adjustment factors (EAF</a:t>
            </a:r>
            <a:r>
              <a:rPr lang="en-GB" sz="2400" i="1" dirty="0" smtClean="0">
                <a:latin typeface="Times New Roman" pitchFamily="18" charset="0"/>
                <a:cs typeface="Times New Roman" pitchFamily="18" charset="0"/>
              </a:rPr>
              <a:t>)</a:t>
            </a:r>
            <a:r>
              <a:rPr lang="en-GB" sz="2400" dirty="0" smtClean="0">
                <a:latin typeface="Times New Roman" pitchFamily="18" charset="0"/>
                <a:cs typeface="Times New Roman" pitchFamily="18" charset="0"/>
              </a:rPr>
              <a:t>.</a:t>
            </a:r>
          </a:p>
          <a:p>
            <a:r>
              <a:rPr lang="en-GB" sz="2400" dirty="0" smtClean="0">
                <a:latin typeface="Times New Roman" pitchFamily="18" charset="0"/>
                <a:cs typeface="Times New Roman" pitchFamily="18" charset="0"/>
              </a:rPr>
              <a:t>These </a:t>
            </a:r>
            <a:r>
              <a:rPr lang="en-GB" sz="2400" dirty="0">
                <a:latin typeface="Times New Roman" pitchFamily="18" charset="0"/>
                <a:cs typeface="Times New Roman" pitchFamily="18" charset="0"/>
              </a:rPr>
              <a:t>cost drivers are classified as computer attributes, product attributes, project attributes, and personnel attributes. </a:t>
            </a:r>
            <a:endParaRPr lang="en-GB" sz="2400" dirty="0" smtClean="0">
              <a:latin typeface="Times New Roman" pitchFamily="18" charset="0"/>
              <a:cs typeface="Times New Roman" pitchFamily="18" charset="0"/>
            </a:endParaRPr>
          </a:p>
          <a:p>
            <a:r>
              <a:rPr lang="en-GB" sz="2400" dirty="0" smtClean="0">
                <a:latin typeface="Times New Roman" pitchFamily="18" charset="0"/>
                <a:cs typeface="Times New Roman" pitchFamily="18" charset="0"/>
              </a:rPr>
              <a:t>The </a:t>
            </a:r>
            <a:r>
              <a:rPr lang="en-GB" sz="2400" dirty="0">
                <a:latin typeface="Times New Roman" pitchFamily="18" charset="0"/>
                <a:cs typeface="Times New Roman" pitchFamily="18" charset="0"/>
              </a:rPr>
              <a:t>intermediate COCOMO model estimates the initial effort using the basic COCOMO model. </a:t>
            </a:r>
            <a:endParaRPr lang="en-GB" sz="2400" dirty="0" smtClean="0">
              <a:latin typeface="Times New Roman" pitchFamily="18" charset="0"/>
              <a:cs typeface="Times New Roman" pitchFamily="18" charset="0"/>
            </a:endParaRPr>
          </a:p>
          <a:p>
            <a:r>
              <a:rPr lang="en-GB" sz="2400" dirty="0" smtClean="0">
                <a:latin typeface="Times New Roman" pitchFamily="18" charset="0"/>
                <a:cs typeface="Times New Roman" pitchFamily="18" charset="0"/>
              </a:rPr>
              <a:t>Then </a:t>
            </a:r>
            <a:r>
              <a:rPr lang="en-GB" sz="2400" dirty="0">
                <a:latin typeface="Times New Roman" pitchFamily="18" charset="0"/>
                <a:cs typeface="Times New Roman" pitchFamily="18" charset="0"/>
              </a:rPr>
              <a:t>the EAF is calculated as the product of 15 cost drivers. </a:t>
            </a:r>
            <a:endParaRPr lang="en-GB" sz="24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53</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25470"/>
          </a:xfrm>
        </p:spPr>
        <p:txBody>
          <a:bodyPr>
            <a:normAutofit/>
          </a:bodyPr>
          <a:lstStyle/>
          <a:p>
            <a:r>
              <a:rPr lang="en-IN" sz="3200" b="1" dirty="0" smtClean="0">
                <a:solidFill>
                  <a:srgbClr val="0000FF"/>
                </a:solidFill>
                <a:latin typeface="Times New Roman" pitchFamily="18" charset="0"/>
                <a:cs typeface="Times New Roman" pitchFamily="18" charset="0"/>
              </a:rPr>
              <a:t>Intermediate COCOMO Model</a:t>
            </a:r>
            <a:endParaRPr lang="en-IN" sz="3200" b="1" dirty="0">
              <a:solidFill>
                <a:srgbClr val="0000FF"/>
              </a:solidFill>
            </a:endParaRPr>
          </a:p>
        </p:txBody>
      </p:sp>
      <p:sp>
        <p:nvSpPr>
          <p:cNvPr id="3" name="Content Placeholder 2"/>
          <p:cNvSpPr>
            <a:spLocks noGrp="1"/>
          </p:cNvSpPr>
          <p:nvPr>
            <p:ph idx="1"/>
          </p:nvPr>
        </p:nvSpPr>
        <p:spPr>
          <a:xfrm>
            <a:off x="428596" y="1000109"/>
            <a:ext cx="8229600" cy="428628"/>
          </a:xfrm>
        </p:spPr>
        <p:txBody>
          <a:bodyPr>
            <a:normAutofit/>
          </a:bodyPr>
          <a:lstStyle/>
          <a:p>
            <a:pPr>
              <a:buNone/>
            </a:pPr>
            <a:r>
              <a:rPr lang="en-GB" sz="2000" b="1" dirty="0" smtClean="0">
                <a:solidFill>
                  <a:srgbClr val="00B0F0"/>
                </a:solidFill>
                <a:latin typeface="Times New Roman" pitchFamily="18" charset="0"/>
                <a:cs typeface="Times New Roman" pitchFamily="18" charset="0"/>
              </a:rPr>
              <a:t>Cost drivers</a:t>
            </a:r>
          </a:p>
          <a:p>
            <a:pPr>
              <a:buNone/>
            </a:pPr>
            <a:endParaRPr lang="en-IN" sz="2400" b="1" dirty="0">
              <a:solidFill>
                <a:srgbClr val="00B0F0"/>
              </a:solidFill>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54</a:t>
            </a:fld>
            <a:endParaRPr lang="en-IN"/>
          </a:p>
        </p:txBody>
      </p:sp>
      <p:graphicFrame>
        <p:nvGraphicFramePr>
          <p:cNvPr id="9" name="Table 8"/>
          <p:cNvGraphicFramePr>
            <a:graphicFrameLocks noGrp="1"/>
          </p:cNvGraphicFramePr>
          <p:nvPr>
            <p:extLst>
              <p:ext uri="{D42A27DB-BD31-4B8C-83A1-F6EECF244321}">
                <p14:modId xmlns:p14="http://schemas.microsoft.com/office/powerpoint/2010/main" val="448205294"/>
              </p:ext>
            </p:extLst>
          </p:nvPr>
        </p:nvGraphicFramePr>
        <p:xfrm>
          <a:off x="500034" y="1500174"/>
          <a:ext cx="8072494" cy="5012436"/>
        </p:xfrm>
        <a:graphic>
          <a:graphicData uri="http://schemas.openxmlformats.org/drawingml/2006/table">
            <a:tbl>
              <a:tblPr/>
              <a:tblGrid>
                <a:gridCol w="3786214">
                  <a:extLst>
                    <a:ext uri="{9D8B030D-6E8A-4147-A177-3AD203B41FA5}">
                      <a16:colId xmlns:a16="http://schemas.microsoft.com/office/drawing/2014/main" val="20000"/>
                    </a:ext>
                  </a:extLst>
                </a:gridCol>
                <a:gridCol w="832752">
                  <a:extLst>
                    <a:ext uri="{9D8B030D-6E8A-4147-A177-3AD203B41FA5}">
                      <a16:colId xmlns:a16="http://schemas.microsoft.com/office/drawing/2014/main" val="20001"/>
                    </a:ext>
                  </a:extLst>
                </a:gridCol>
                <a:gridCol w="573438">
                  <a:extLst>
                    <a:ext uri="{9D8B030D-6E8A-4147-A177-3AD203B41FA5}">
                      <a16:colId xmlns:a16="http://schemas.microsoft.com/office/drawing/2014/main" val="20002"/>
                    </a:ext>
                  </a:extLst>
                </a:gridCol>
                <a:gridCol w="923092">
                  <a:extLst>
                    <a:ext uri="{9D8B030D-6E8A-4147-A177-3AD203B41FA5}">
                      <a16:colId xmlns:a16="http://schemas.microsoft.com/office/drawing/2014/main" val="20003"/>
                    </a:ext>
                  </a:extLst>
                </a:gridCol>
                <a:gridCol w="461814">
                  <a:extLst>
                    <a:ext uri="{9D8B030D-6E8A-4147-A177-3AD203B41FA5}">
                      <a16:colId xmlns:a16="http://schemas.microsoft.com/office/drawing/2014/main" val="20004"/>
                    </a:ext>
                  </a:extLst>
                </a:gridCol>
                <a:gridCol w="780804">
                  <a:extLst>
                    <a:ext uri="{9D8B030D-6E8A-4147-A177-3AD203B41FA5}">
                      <a16:colId xmlns:a16="http://schemas.microsoft.com/office/drawing/2014/main" val="20005"/>
                    </a:ext>
                  </a:extLst>
                </a:gridCol>
                <a:gridCol w="714380">
                  <a:extLst>
                    <a:ext uri="{9D8B030D-6E8A-4147-A177-3AD203B41FA5}">
                      <a16:colId xmlns:a16="http://schemas.microsoft.com/office/drawing/2014/main" val="20006"/>
                    </a:ext>
                  </a:extLst>
                </a:gridCol>
              </a:tblGrid>
              <a:tr h="207866">
                <a:tc rowSpan="2">
                  <a:txBody>
                    <a:bodyPr/>
                    <a:lstStyle/>
                    <a:p>
                      <a:pPr algn="l">
                        <a:lnSpc>
                          <a:spcPct val="115000"/>
                        </a:lnSpc>
                        <a:spcAft>
                          <a:spcPts val="0"/>
                        </a:spcAft>
                      </a:pPr>
                      <a:r>
                        <a:rPr lang="en-US" sz="1300" dirty="0">
                          <a:latin typeface="Times New Roman"/>
                          <a:ea typeface="Times New Roman"/>
                          <a:cs typeface="Times New Roman"/>
                        </a:rPr>
                        <a:t>Cost drivers</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gridSpan="6">
                  <a:txBody>
                    <a:bodyPr/>
                    <a:lstStyle/>
                    <a:p>
                      <a:pPr algn="ctr">
                        <a:lnSpc>
                          <a:spcPct val="115000"/>
                        </a:lnSpc>
                        <a:spcAft>
                          <a:spcPts val="0"/>
                        </a:spcAft>
                      </a:pPr>
                      <a:r>
                        <a:rPr lang="en-US" sz="1300" dirty="0">
                          <a:latin typeface="Times New Roman"/>
                          <a:ea typeface="Times New Roman"/>
                          <a:cs typeface="Times New Roman"/>
                        </a:rPr>
                        <a:t>Ratings</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0"/>
                  </a:ext>
                </a:extLst>
              </a:tr>
              <a:tr h="361192">
                <a:tc vMerge="1">
                  <a:txBody>
                    <a:bodyPr/>
                    <a:lstStyle/>
                    <a:p>
                      <a:endParaRPr lang="en-IN"/>
                    </a:p>
                  </a:txBody>
                  <a:tcPr/>
                </a:tc>
                <a:tc>
                  <a:txBody>
                    <a:bodyPr/>
                    <a:lstStyle/>
                    <a:p>
                      <a:pPr algn="ctr">
                        <a:lnSpc>
                          <a:spcPct val="115000"/>
                        </a:lnSpc>
                        <a:spcAft>
                          <a:spcPts val="0"/>
                        </a:spcAft>
                      </a:pPr>
                      <a:r>
                        <a:rPr lang="en-US" sz="1300" dirty="0">
                          <a:latin typeface="Times New Roman"/>
                          <a:ea typeface="Times New Roman"/>
                          <a:cs typeface="Times New Roman"/>
                        </a:rPr>
                        <a:t>Very low</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Low</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Nominal</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High</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Very high</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Extra high</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07866">
                <a:tc gridSpan="7">
                  <a:txBody>
                    <a:bodyPr/>
                    <a:lstStyle/>
                    <a:p>
                      <a:pPr algn="l">
                        <a:lnSpc>
                          <a:spcPct val="115000"/>
                        </a:lnSpc>
                        <a:spcAft>
                          <a:spcPts val="0"/>
                        </a:spcAft>
                      </a:pPr>
                      <a:r>
                        <a:rPr lang="en-US" sz="1300" b="1" dirty="0">
                          <a:latin typeface="Times New Roman"/>
                          <a:ea typeface="Times New Roman"/>
                          <a:cs typeface="Times New Roman"/>
                        </a:rPr>
                        <a:t>Product attributes</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2"/>
                  </a:ext>
                </a:extLst>
              </a:tr>
              <a:tr h="212990">
                <a:tc>
                  <a:txBody>
                    <a:bodyPr/>
                    <a:lstStyle/>
                    <a:p>
                      <a:pPr algn="l">
                        <a:lnSpc>
                          <a:spcPct val="115000"/>
                        </a:lnSpc>
                        <a:spcAft>
                          <a:spcPts val="1000"/>
                        </a:spcAft>
                      </a:pPr>
                      <a:r>
                        <a:rPr lang="en-US" sz="1300" dirty="0">
                          <a:latin typeface="Times New Roman"/>
                          <a:ea typeface="Times New Roman"/>
                          <a:cs typeface="Times New Roman"/>
                        </a:rPr>
                        <a:t>Software reliability (RELY)</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0.75</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0.88</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1.40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Size of database (DATA)</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0.94</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1.08</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1.16</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2990">
                <a:tc>
                  <a:txBody>
                    <a:bodyPr/>
                    <a:lstStyle/>
                    <a:p>
                      <a:pPr algn="l">
                        <a:lnSpc>
                          <a:spcPct val="115000"/>
                        </a:lnSpc>
                        <a:spcAft>
                          <a:spcPts val="1000"/>
                        </a:spcAft>
                      </a:pPr>
                      <a:r>
                        <a:rPr lang="en-US" sz="1300">
                          <a:latin typeface="Times New Roman"/>
                          <a:ea typeface="Times New Roman"/>
                          <a:cs typeface="Times New Roman"/>
                        </a:rPr>
                        <a:t>Product complexity (CPLX)</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0.70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0.85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1.30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1.65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07866">
                <a:tc gridSpan="7">
                  <a:txBody>
                    <a:bodyPr/>
                    <a:lstStyle/>
                    <a:p>
                      <a:pPr algn="l">
                        <a:lnSpc>
                          <a:spcPct val="115000"/>
                        </a:lnSpc>
                        <a:spcAft>
                          <a:spcPts val="0"/>
                        </a:spcAft>
                      </a:pPr>
                      <a:r>
                        <a:rPr lang="en-US" sz="1300" b="1" dirty="0">
                          <a:latin typeface="Times New Roman"/>
                          <a:ea typeface="Times New Roman"/>
                          <a:cs typeface="Times New Roman"/>
                        </a:rPr>
                        <a:t>Hardware attributes</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6"/>
                  </a:ext>
                </a:extLst>
              </a:tr>
              <a:tr h="212990">
                <a:tc>
                  <a:txBody>
                    <a:bodyPr/>
                    <a:lstStyle/>
                    <a:p>
                      <a:pPr algn="l">
                        <a:lnSpc>
                          <a:spcPct val="115000"/>
                        </a:lnSpc>
                        <a:spcAft>
                          <a:spcPts val="1000"/>
                        </a:spcAft>
                      </a:pPr>
                      <a:r>
                        <a:rPr lang="en-US" sz="1300" dirty="0">
                          <a:latin typeface="Times New Roman"/>
                          <a:ea typeface="Times New Roman"/>
                          <a:cs typeface="Times New Roman"/>
                        </a:rPr>
                        <a:t>Run-time performance constraints (TIME)</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1.11</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1.30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1.66</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Memory storage constraints (STORE)</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1.06</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1.21</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1.56</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Virtual machine volatility (VIRT)</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0.87</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1.00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1.30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12990">
                <a:tc>
                  <a:txBody>
                    <a:bodyPr/>
                    <a:lstStyle/>
                    <a:p>
                      <a:pPr algn="l">
                        <a:lnSpc>
                          <a:spcPct val="115000"/>
                        </a:lnSpc>
                        <a:spcAft>
                          <a:spcPts val="1000"/>
                        </a:spcAft>
                      </a:pPr>
                      <a:r>
                        <a:rPr lang="en-US" sz="1300" dirty="0">
                          <a:latin typeface="Times New Roman"/>
                          <a:ea typeface="Times New Roman"/>
                          <a:cs typeface="Times New Roman"/>
                        </a:rPr>
                        <a:t>Required</a:t>
                      </a:r>
                      <a:r>
                        <a:rPr lang="en-US" sz="1300">
                          <a:latin typeface="Times New Roman"/>
                          <a:ea typeface="Times New Roman"/>
                          <a:cs typeface="Times New Roman"/>
                        </a:rPr>
                        <a:t> </a:t>
                      </a:r>
                      <a:r>
                        <a:rPr lang="en-US" sz="1300" smtClean="0">
                          <a:latin typeface="Times New Roman"/>
                          <a:ea typeface="Times New Roman"/>
                          <a:cs typeface="Times New Roman"/>
                        </a:rPr>
                        <a:t>turnaround</a:t>
                      </a:r>
                      <a:r>
                        <a:rPr lang="en-US" sz="1300">
                          <a:latin typeface="Times New Roman"/>
                          <a:ea typeface="Times New Roman"/>
                          <a:cs typeface="Times New Roman"/>
                        </a:rPr>
                        <a:t> time (TURN)</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0.87</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1.00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1.07</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1.15</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07866">
                <a:tc gridSpan="7">
                  <a:txBody>
                    <a:bodyPr/>
                    <a:lstStyle/>
                    <a:p>
                      <a:pPr algn="l">
                        <a:lnSpc>
                          <a:spcPct val="115000"/>
                        </a:lnSpc>
                        <a:spcAft>
                          <a:spcPts val="0"/>
                        </a:spcAft>
                      </a:pPr>
                      <a:r>
                        <a:rPr lang="en-US" sz="1300" b="1" dirty="0">
                          <a:latin typeface="Times New Roman"/>
                          <a:ea typeface="Times New Roman"/>
                          <a:cs typeface="Times New Roman"/>
                        </a:rPr>
                        <a:t>Personnel attributes</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11"/>
                  </a:ext>
                </a:extLst>
              </a:tr>
              <a:tr h="212990">
                <a:tc>
                  <a:txBody>
                    <a:bodyPr/>
                    <a:lstStyle/>
                    <a:p>
                      <a:pPr algn="l">
                        <a:lnSpc>
                          <a:spcPct val="115000"/>
                        </a:lnSpc>
                        <a:spcAft>
                          <a:spcPts val="1000"/>
                        </a:spcAft>
                      </a:pPr>
                      <a:r>
                        <a:rPr lang="en-US" sz="1300">
                          <a:latin typeface="Times New Roman"/>
                          <a:ea typeface="Times New Roman"/>
                          <a:cs typeface="Times New Roman"/>
                        </a:rPr>
                        <a:t>Analyst capability (ACAP)</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1.46</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1.19</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1.00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0.86</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0.71</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Applications experience (AEXP)</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1.29</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1.13</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0.91</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0.82</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12990">
                <a:tc>
                  <a:txBody>
                    <a:bodyPr/>
                    <a:lstStyle/>
                    <a:p>
                      <a:pPr algn="l">
                        <a:lnSpc>
                          <a:spcPct val="115000"/>
                        </a:lnSpc>
                        <a:spcAft>
                          <a:spcPts val="1000"/>
                        </a:spcAft>
                      </a:pPr>
                      <a:r>
                        <a:rPr lang="en-US" sz="1300">
                          <a:latin typeface="Times New Roman"/>
                          <a:ea typeface="Times New Roman"/>
                          <a:cs typeface="Times New Roman"/>
                        </a:rPr>
                        <a:t>Programmer capability (PCAP)</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1.42</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1.17</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0.86</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0.70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Virtual machine experience (VEXP)</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1.21</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1.10</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0.90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12990">
                <a:tc>
                  <a:txBody>
                    <a:bodyPr/>
                    <a:lstStyle/>
                    <a:p>
                      <a:pPr algn="l">
                        <a:lnSpc>
                          <a:spcPct val="115000"/>
                        </a:lnSpc>
                        <a:spcAft>
                          <a:spcPts val="1000"/>
                        </a:spcAft>
                      </a:pPr>
                      <a:r>
                        <a:rPr lang="en-US" sz="1300">
                          <a:latin typeface="Times New Roman"/>
                          <a:ea typeface="Times New Roman"/>
                          <a:cs typeface="Times New Roman"/>
                        </a:rPr>
                        <a:t>Programming language experience (LEXP)</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1.14</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1.07</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0.95</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6"/>
                  </a:ext>
                </a:extLst>
              </a:tr>
              <a:tr h="207866">
                <a:tc gridSpan="7">
                  <a:txBody>
                    <a:bodyPr/>
                    <a:lstStyle/>
                    <a:p>
                      <a:pPr algn="l">
                        <a:lnSpc>
                          <a:spcPct val="115000"/>
                        </a:lnSpc>
                        <a:spcAft>
                          <a:spcPts val="0"/>
                        </a:spcAft>
                      </a:pPr>
                      <a:r>
                        <a:rPr lang="en-US" sz="1300" b="1" dirty="0">
                          <a:latin typeface="Times New Roman"/>
                          <a:ea typeface="Times New Roman"/>
                          <a:cs typeface="Times New Roman"/>
                        </a:rPr>
                        <a:t>Project attributes</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17"/>
                  </a:ext>
                </a:extLst>
              </a:tr>
              <a:tr h="212990">
                <a:tc>
                  <a:txBody>
                    <a:bodyPr/>
                    <a:lstStyle/>
                    <a:p>
                      <a:pPr algn="l">
                        <a:lnSpc>
                          <a:spcPct val="115000"/>
                        </a:lnSpc>
                        <a:spcAft>
                          <a:spcPts val="1000"/>
                        </a:spcAft>
                      </a:pPr>
                      <a:r>
                        <a:rPr lang="en-US" sz="1300">
                          <a:latin typeface="Times New Roman"/>
                          <a:ea typeface="Times New Roman"/>
                          <a:cs typeface="Times New Roman"/>
                        </a:rPr>
                        <a:t>Modern programming practices (MODP)</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1.24</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0.91</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0" dirty="0">
                          <a:latin typeface="Times New Roman"/>
                          <a:ea typeface="Times New Roman"/>
                          <a:cs typeface="Times New Roman"/>
                        </a:rPr>
                        <a:t>0.82</a:t>
                      </a:r>
                      <a:endParaRPr lang="en-IN" sz="1300" b="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8"/>
                  </a:ext>
                </a:extLst>
              </a:tr>
              <a:tr h="212990">
                <a:tc>
                  <a:txBody>
                    <a:bodyPr/>
                    <a:lstStyle/>
                    <a:p>
                      <a:pPr algn="l">
                        <a:lnSpc>
                          <a:spcPct val="115000"/>
                        </a:lnSpc>
                        <a:spcAft>
                          <a:spcPts val="1000"/>
                        </a:spcAft>
                      </a:pPr>
                      <a:r>
                        <a:rPr lang="en-US" sz="1300" dirty="0">
                          <a:solidFill>
                            <a:srgbClr val="FF0000"/>
                          </a:solidFill>
                          <a:latin typeface="Times New Roman"/>
                          <a:ea typeface="Times New Roman"/>
                          <a:cs typeface="Times New Roman"/>
                        </a:rPr>
                        <a:t>Use of software tools (TOOL)</a:t>
                      </a:r>
                      <a:endParaRPr lang="en-IN" sz="1300" dirty="0">
                        <a:solidFill>
                          <a:srgbClr val="FF0000"/>
                        </a:solidFill>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1.24</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1.10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1" dirty="0">
                          <a:latin typeface="Times New Roman"/>
                          <a:ea typeface="Times New Roman"/>
                          <a:cs typeface="Times New Roman"/>
                        </a:rPr>
                        <a:t>0.91</a:t>
                      </a:r>
                      <a:endParaRPr lang="en-IN" sz="1300" b="1"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b="0" dirty="0">
                          <a:latin typeface="Times New Roman"/>
                          <a:ea typeface="Times New Roman"/>
                          <a:cs typeface="Times New Roman"/>
                        </a:rPr>
                        <a:t>0.83</a:t>
                      </a:r>
                      <a:endParaRPr lang="en-IN" sz="1300" b="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 -</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9"/>
                  </a:ext>
                </a:extLst>
              </a:tr>
              <a:tr h="212990">
                <a:tc>
                  <a:txBody>
                    <a:bodyPr/>
                    <a:lstStyle/>
                    <a:p>
                      <a:pPr algn="l">
                        <a:lnSpc>
                          <a:spcPct val="115000"/>
                        </a:lnSpc>
                        <a:spcAft>
                          <a:spcPts val="1000"/>
                        </a:spcAft>
                      </a:pPr>
                      <a:r>
                        <a:rPr lang="en-US" sz="1300" dirty="0">
                          <a:latin typeface="Times New Roman"/>
                          <a:ea typeface="Times New Roman"/>
                          <a:cs typeface="Times New Roman"/>
                        </a:rPr>
                        <a:t>Development schedule (SCHED)</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1.23</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1.08</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1.00</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a:latin typeface="Times New Roman"/>
                          <a:ea typeface="Times New Roman"/>
                          <a:cs typeface="Times New Roman"/>
                        </a:rPr>
                        <a:t>1.04</a:t>
                      </a:r>
                      <a:endParaRPr lang="en-IN" sz="130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1.10</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300" dirty="0">
                          <a:latin typeface="Times New Roman"/>
                          <a:ea typeface="Times New Roman"/>
                          <a:cs typeface="Times New Roman"/>
                        </a:rPr>
                        <a:t> -</a:t>
                      </a:r>
                      <a:endParaRPr lang="en-IN" sz="1300" dirty="0">
                        <a:latin typeface="Calibri"/>
                        <a:ea typeface="Times New Roman"/>
                        <a:cs typeface="Times New Roman"/>
                      </a:endParaRPr>
                    </a:p>
                  </a:txBody>
                  <a:tcPr marL="17568" marR="17568"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0"/>
                  </a:ext>
                </a:extLst>
              </a:tr>
            </a:tbl>
          </a:graphicData>
        </a:graphic>
      </p:graphicFrame>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IN" sz="2400" dirty="0" smtClean="0">
                <a:solidFill>
                  <a:srgbClr val="00B0F0"/>
                </a:solidFill>
                <a:latin typeface="Times New Roman" pitchFamily="18" charset="0"/>
                <a:cs typeface="Times New Roman" pitchFamily="18" charset="0"/>
              </a:rPr>
              <a:t>Intermediate COCOMO Model</a:t>
            </a:r>
          </a:p>
          <a:p>
            <a:pPr algn="just"/>
            <a:r>
              <a:rPr lang="en-GB" sz="2200" dirty="0" smtClean="0">
                <a:latin typeface="Times New Roman" pitchFamily="18" charset="0"/>
                <a:cs typeface="Times New Roman" pitchFamily="18" charset="0"/>
              </a:rPr>
              <a:t>Total </a:t>
            </a:r>
            <a:r>
              <a:rPr lang="en-GB" sz="2200" dirty="0">
                <a:latin typeface="Times New Roman" pitchFamily="18" charset="0"/>
                <a:cs typeface="Times New Roman" pitchFamily="18" charset="0"/>
              </a:rPr>
              <a:t>effort is determined by multiplying the initial effort with the total value of EAF. The computation steps are summarized below.</a:t>
            </a:r>
            <a:endParaRPr lang="en-IN" sz="2200" dirty="0">
              <a:latin typeface="Times New Roman" pitchFamily="18" charset="0"/>
              <a:cs typeface="Times New Roman" pitchFamily="18" charset="0"/>
            </a:endParaRPr>
          </a:p>
          <a:p>
            <a:pPr marL="800100" lvl="2" indent="0" algn="just"/>
            <a:r>
              <a:rPr lang="en-GB" sz="2200" dirty="0" smtClean="0">
                <a:latin typeface="Times New Roman" pitchFamily="18" charset="0"/>
                <a:cs typeface="Times New Roman" pitchFamily="18" charset="0"/>
              </a:rPr>
              <a:t> </a:t>
            </a:r>
            <a:r>
              <a:rPr lang="en-GB" dirty="0" smtClean="0">
                <a:latin typeface="Times New Roman" pitchFamily="18" charset="0"/>
                <a:cs typeface="Times New Roman" pitchFamily="18" charset="0"/>
              </a:rPr>
              <a:t>Development </a:t>
            </a:r>
            <a:r>
              <a:rPr lang="en-GB" dirty="0">
                <a:latin typeface="Times New Roman" pitchFamily="18" charset="0"/>
                <a:cs typeface="Times New Roman" pitchFamily="18" charset="0"/>
              </a:rPr>
              <a:t>effort </a:t>
            </a:r>
            <a:r>
              <a:rPr lang="en-GB" i="1" dirty="0">
                <a:latin typeface="Times New Roman" pitchFamily="18" charset="0"/>
                <a:cs typeface="Times New Roman" pitchFamily="18" charset="0"/>
              </a:rPr>
              <a:t>(E):</a:t>
            </a:r>
            <a:r>
              <a:rPr lang="en-GB" dirty="0">
                <a:latin typeface="Times New Roman" pitchFamily="18" charset="0"/>
                <a:cs typeface="Times New Roman" pitchFamily="18" charset="0"/>
              </a:rPr>
              <a:t> </a:t>
            </a:r>
            <a:endParaRPr lang="en-IN" dirty="0">
              <a:latin typeface="Times New Roman" pitchFamily="18" charset="0"/>
              <a:cs typeface="Times New Roman" pitchFamily="18" charset="0"/>
            </a:endParaRPr>
          </a:p>
          <a:p>
            <a:pPr marL="1257300" lvl="3" indent="0" algn="just">
              <a:buNone/>
            </a:pPr>
            <a:r>
              <a:rPr lang="en-GB" dirty="0">
                <a:latin typeface="Times New Roman" pitchFamily="18" charset="0"/>
                <a:cs typeface="Times New Roman" pitchFamily="18" charset="0"/>
              </a:rPr>
              <a:t>Initial effort </a:t>
            </a:r>
            <a:r>
              <a:rPr lang="en-GB" i="1" dirty="0">
                <a:latin typeface="Times New Roman" pitchFamily="18" charset="0"/>
                <a:cs typeface="Times New Roman" pitchFamily="18" charset="0"/>
              </a:rPr>
              <a:t>(</a:t>
            </a:r>
            <a:r>
              <a:rPr lang="en-GB" i="1" dirty="0" err="1">
                <a:latin typeface="Times New Roman" pitchFamily="18" charset="0"/>
                <a:cs typeface="Times New Roman" pitchFamily="18" charset="0"/>
              </a:rPr>
              <a:t>E</a:t>
            </a:r>
            <a:r>
              <a:rPr lang="en-GB" i="1" baseline="-25000" dirty="0" err="1">
                <a:latin typeface="Times New Roman" pitchFamily="18" charset="0"/>
                <a:cs typeface="Times New Roman" pitchFamily="18" charset="0"/>
              </a:rPr>
              <a:t>i</a:t>
            </a:r>
            <a:r>
              <a:rPr lang="en-GB" i="1" dirty="0">
                <a:latin typeface="Times New Roman" pitchFamily="18" charset="0"/>
                <a:cs typeface="Times New Roman" pitchFamily="18" charset="0"/>
              </a:rPr>
              <a:t>)</a:t>
            </a:r>
            <a:r>
              <a:rPr lang="en-GB" dirty="0">
                <a:latin typeface="Times New Roman" pitchFamily="18" charset="0"/>
                <a:cs typeface="Times New Roman" pitchFamily="18" charset="0"/>
              </a:rPr>
              <a:t> </a:t>
            </a:r>
            <a:r>
              <a:rPr lang="en-GB" dirty="0" smtClean="0">
                <a:latin typeface="Times New Roman" pitchFamily="18" charset="0"/>
                <a:cs typeface="Times New Roman" pitchFamily="18" charset="0"/>
              </a:rPr>
              <a:t>	 = </a:t>
            </a:r>
            <a:r>
              <a:rPr lang="en-GB" i="1" dirty="0">
                <a:latin typeface="Times New Roman" pitchFamily="18" charset="0"/>
                <a:cs typeface="Times New Roman" pitchFamily="18" charset="0"/>
              </a:rPr>
              <a:t>a</a:t>
            </a:r>
            <a:r>
              <a:rPr lang="en-GB" dirty="0">
                <a:latin typeface="Times New Roman" pitchFamily="18" charset="0"/>
                <a:cs typeface="Times New Roman" pitchFamily="18" charset="0"/>
              </a:rPr>
              <a:t> × (KLOC) </a:t>
            </a:r>
            <a:r>
              <a:rPr lang="en-GB" i="1" baseline="30000" dirty="0" smtClean="0">
                <a:latin typeface="Times New Roman" pitchFamily="18" charset="0"/>
                <a:cs typeface="Times New Roman" pitchFamily="18" charset="0"/>
              </a:rPr>
              <a:t>b</a:t>
            </a:r>
            <a:endParaRPr lang="en-IN" i="1" baseline="30000" dirty="0" smtClean="0">
              <a:latin typeface="Times New Roman" pitchFamily="18" charset="0"/>
              <a:cs typeface="Times New Roman" pitchFamily="18" charset="0"/>
            </a:endParaRPr>
          </a:p>
          <a:p>
            <a:pPr marL="1257300" lvl="3" indent="0" algn="just">
              <a:buNone/>
            </a:pPr>
            <a:r>
              <a:rPr lang="en-GB" i="1" dirty="0" smtClean="0">
                <a:latin typeface="Times New Roman" pitchFamily="18" charset="0"/>
                <a:cs typeface="Times New Roman" pitchFamily="18" charset="0"/>
              </a:rPr>
              <a:t>	EAF		 = </a:t>
            </a:r>
            <a:r>
              <a:rPr lang="en-GB" i="1" dirty="0">
                <a:latin typeface="Times New Roman" pitchFamily="18" charset="0"/>
                <a:cs typeface="Times New Roman" pitchFamily="18" charset="0"/>
              </a:rPr>
              <a:t>EAF</a:t>
            </a:r>
            <a:r>
              <a:rPr lang="en-GB" i="1" baseline="-25000" dirty="0">
                <a:latin typeface="Times New Roman" pitchFamily="18" charset="0"/>
                <a:cs typeface="Times New Roman" pitchFamily="18" charset="0"/>
              </a:rPr>
              <a:t>1</a:t>
            </a:r>
            <a:r>
              <a:rPr lang="en-GB" i="1" dirty="0">
                <a:latin typeface="Times New Roman" pitchFamily="18" charset="0"/>
                <a:cs typeface="Times New Roman" pitchFamily="18" charset="0"/>
              </a:rPr>
              <a:t> × EAF</a:t>
            </a:r>
            <a:r>
              <a:rPr lang="en-GB" i="1" baseline="-25000" dirty="0">
                <a:latin typeface="Times New Roman" pitchFamily="18" charset="0"/>
                <a:cs typeface="Times New Roman" pitchFamily="18" charset="0"/>
              </a:rPr>
              <a:t>2</a:t>
            </a:r>
            <a:r>
              <a:rPr lang="en-GB" i="1" dirty="0">
                <a:latin typeface="Times New Roman" pitchFamily="18" charset="0"/>
                <a:cs typeface="Times New Roman" pitchFamily="18" charset="0"/>
              </a:rPr>
              <a:t> ×...  × </a:t>
            </a:r>
            <a:r>
              <a:rPr lang="en-GB" i="1" dirty="0" err="1">
                <a:latin typeface="Times New Roman" pitchFamily="18" charset="0"/>
                <a:cs typeface="Times New Roman" pitchFamily="18" charset="0"/>
              </a:rPr>
              <a:t>EAF</a:t>
            </a:r>
            <a:r>
              <a:rPr lang="en-GB" i="1" baseline="-25000" dirty="0" err="1">
                <a:latin typeface="Times New Roman" pitchFamily="18" charset="0"/>
                <a:cs typeface="Times New Roman" pitchFamily="18" charset="0"/>
              </a:rPr>
              <a:t>n</a:t>
            </a:r>
            <a:endParaRPr lang="en-IN" dirty="0">
              <a:latin typeface="Times New Roman" pitchFamily="18" charset="0"/>
              <a:cs typeface="Times New Roman" pitchFamily="18" charset="0"/>
            </a:endParaRPr>
          </a:p>
          <a:p>
            <a:pPr marL="1257300" lvl="3" indent="0" algn="just">
              <a:buNone/>
            </a:pPr>
            <a:r>
              <a:rPr lang="en-GB" dirty="0" smtClean="0">
                <a:latin typeface="Times New Roman" pitchFamily="18" charset="0"/>
                <a:cs typeface="Times New Roman" pitchFamily="18" charset="0"/>
              </a:rPr>
              <a:t>Development effort </a:t>
            </a:r>
            <a:r>
              <a:rPr lang="en-GB" i="1" dirty="0">
                <a:latin typeface="Times New Roman" pitchFamily="18" charset="0"/>
                <a:cs typeface="Times New Roman" pitchFamily="18" charset="0"/>
              </a:rPr>
              <a:t>(E</a:t>
            </a:r>
            <a:r>
              <a:rPr lang="en-GB" i="1" dirty="0" smtClean="0">
                <a:latin typeface="Times New Roman" pitchFamily="18" charset="0"/>
                <a:cs typeface="Times New Roman" pitchFamily="18" charset="0"/>
              </a:rPr>
              <a:t>)	 = </a:t>
            </a:r>
            <a:r>
              <a:rPr lang="en-GB" i="1" dirty="0" err="1">
                <a:latin typeface="Times New Roman" pitchFamily="18" charset="0"/>
                <a:cs typeface="Times New Roman" pitchFamily="18" charset="0"/>
              </a:rPr>
              <a:t>E</a:t>
            </a:r>
            <a:r>
              <a:rPr lang="en-GB" i="1" baseline="-25000" dirty="0" err="1">
                <a:latin typeface="Times New Roman" pitchFamily="18" charset="0"/>
                <a:cs typeface="Times New Roman" pitchFamily="18" charset="0"/>
              </a:rPr>
              <a:t>i</a:t>
            </a:r>
            <a:r>
              <a:rPr lang="en-GB" i="1" dirty="0">
                <a:latin typeface="Times New Roman" pitchFamily="18" charset="0"/>
                <a:cs typeface="Times New Roman" pitchFamily="18" charset="0"/>
              </a:rPr>
              <a:t> × EAF</a:t>
            </a:r>
            <a:endParaRPr lang="en-IN" dirty="0">
              <a:latin typeface="Times New Roman" pitchFamily="18" charset="0"/>
              <a:cs typeface="Times New Roman" pitchFamily="18" charset="0"/>
            </a:endParaRPr>
          </a:p>
          <a:p>
            <a:pPr marL="800100" lvl="2" indent="0" algn="just"/>
            <a:r>
              <a:rPr lang="en-GB" dirty="0" smtClean="0">
                <a:latin typeface="Times New Roman" pitchFamily="18" charset="0"/>
                <a:cs typeface="Times New Roman" pitchFamily="18" charset="0"/>
              </a:rPr>
              <a:t> Development </a:t>
            </a:r>
            <a:r>
              <a:rPr lang="en-GB" dirty="0">
                <a:latin typeface="Times New Roman" pitchFamily="18" charset="0"/>
                <a:cs typeface="Times New Roman" pitchFamily="18" charset="0"/>
              </a:rPr>
              <a:t>time </a:t>
            </a:r>
            <a:r>
              <a:rPr lang="en-GB" i="1" dirty="0">
                <a:latin typeface="Times New Roman" pitchFamily="18" charset="0"/>
                <a:cs typeface="Times New Roman" pitchFamily="18" charset="0"/>
              </a:rPr>
              <a:t>(T</a:t>
            </a:r>
            <a:r>
              <a:rPr lang="en-GB" i="1" dirty="0" smtClean="0">
                <a:latin typeface="Times New Roman" pitchFamily="18" charset="0"/>
                <a:cs typeface="Times New Roman" pitchFamily="18" charset="0"/>
              </a:rPr>
              <a:t>) </a:t>
            </a:r>
            <a:r>
              <a:rPr lang="en-GB" dirty="0" smtClean="0">
                <a:latin typeface="Times New Roman" pitchFamily="18" charset="0"/>
                <a:cs typeface="Times New Roman" pitchFamily="18" charset="0"/>
              </a:rPr>
              <a:t>= </a:t>
            </a:r>
            <a:r>
              <a:rPr lang="en-GB" i="1" dirty="0">
                <a:latin typeface="Times New Roman" pitchFamily="18" charset="0"/>
                <a:cs typeface="Times New Roman" pitchFamily="18" charset="0"/>
              </a:rPr>
              <a:t>c</a:t>
            </a:r>
            <a:r>
              <a:rPr lang="en-GB" dirty="0">
                <a:latin typeface="Times New Roman" pitchFamily="18" charset="0"/>
                <a:cs typeface="Times New Roman" pitchFamily="18" charset="0"/>
              </a:rPr>
              <a:t> * </a:t>
            </a:r>
            <a:r>
              <a:rPr lang="en-GB" i="1" dirty="0">
                <a:latin typeface="Times New Roman" pitchFamily="18" charset="0"/>
                <a:cs typeface="Times New Roman" pitchFamily="18" charset="0"/>
              </a:rPr>
              <a:t>(E)</a:t>
            </a:r>
            <a:r>
              <a:rPr lang="en-GB" dirty="0">
                <a:latin typeface="Times New Roman" pitchFamily="18" charset="0"/>
                <a:cs typeface="Times New Roman" pitchFamily="18" charset="0"/>
              </a:rPr>
              <a:t> </a:t>
            </a:r>
            <a:r>
              <a:rPr lang="en-GB" i="1" baseline="30000" dirty="0">
                <a:latin typeface="Times New Roman" pitchFamily="18" charset="0"/>
                <a:cs typeface="Times New Roman" pitchFamily="18" charset="0"/>
              </a:rPr>
              <a:t>d</a:t>
            </a:r>
            <a:endParaRPr lang="en-IN" dirty="0">
              <a:latin typeface="Times New Roman" pitchFamily="18" charset="0"/>
              <a:cs typeface="Times New Roman" pitchFamily="18" charset="0"/>
            </a:endParaRPr>
          </a:p>
          <a:p>
            <a:pPr algn="just"/>
            <a:endParaRPr lang="en-IN" sz="2400" b="1" dirty="0" smtClean="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55</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3200" b="1" dirty="0" smtClean="0">
                <a:solidFill>
                  <a:srgbClr val="0000FF"/>
                </a:solidFill>
                <a:latin typeface="Times New Roman" pitchFamily="18" charset="0"/>
                <a:cs typeface="Times New Roman" pitchFamily="18" charset="0"/>
              </a:rPr>
              <a:t>Intermediate COCOMO Model</a:t>
            </a:r>
            <a:endParaRPr lang="en-IN" dirty="0"/>
          </a:p>
        </p:txBody>
      </p:sp>
      <p:sp>
        <p:nvSpPr>
          <p:cNvPr id="3" name="Content Placeholder 2"/>
          <p:cNvSpPr>
            <a:spLocks noGrp="1"/>
          </p:cNvSpPr>
          <p:nvPr>
            <p:ph idx="1"/>
          </p:nvPr>
        </p:nvSpPr>
        <p:spPr/>
        <p:txBody>
          <a:bodyPr>
            <a:normAutofit fontScale="62500" lnSpcReduction="20000"/>
          </a:bodyPr>
          <a:lstStyle/>
          <a:p>
            <a:pPr algn="just">
              <a:buNone/>
            </a:pPr>
            <a:r>
              <a:rPr lang="en-GB" sz="3400" b="1" dirty="0" smtClean="0">
                <a:solidFill>
                  <a:srgbClr val="00B0F0"/>
                </a:solidFill>
                <a:latin typeface="Times New Roman" pitchFamily="18" charset="0"/>
                <a:cs typeface="Times New Roman" pitchFamily="18" charset="0"/>
              </a:rPr>
              <a:t>Example 4.3</a:t>
            </a:r>
            <a:endParaRPr lang="en-IN" sz="3400" dirty="0" smtClean="0">
              <a:solidFill>
                <a:srgbClr val="00B0F0"/>
              </a:solidFill>
              <a:latin typeface="Times New Roman" pitchFamily="18" charset="0"/>
              <a:cs typeface="Times New Roman" pitchFamily="18" charset="0"/>
            </a:endParaRPr>
          </a:p>
          <a:p>
            <a:pPr algn="just">
              <a:buNone/>
            </a:pPr>
            <a:r>
              <a:rPr lang="en-GB" dirty="0" smtClean="0"/>
              <a:t>	</a:t>
            </a:r>
            <a:r>
              <a:rPr lang="en-GB" sz="3400" dirty="0" smtClean="0">
                <a:latin typeface="Times New Roman" pitchFamily="18" charset="0"/>
                <a:cs typeface="Times New Roman" pitchFamily="18" charset="0"/>
              </a:rPr>
              <a:t>Suppose a library management system (LMS) is to be designed for an academic institution. From the project proposal, the following five major components are identified:</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Online data entry	-	1.0 KLOC</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Data update		-	2.0 KLOC</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File input and output	-	1.5 KLOC</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Library reports		-	2.0 KLOC</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Query and search		-	0.5 KLOC</a:t>
            </a:r>
            <a:endParaRPr lang="en-IN" sz="3400" dirty="0" smtClean="0">
              <a:latin typeface="Times New Roman" pitchFamily="18" charset="0"/>
              <a:cs typeface="Times New Roman" pitchFamily="18" charset="0"/>
            </a:endParaRPr>
          </a:p>
          <a:p>
            <a:pPr algn="just">
              <a:buNone/>
            </a:pPr>
            <a:r>
              <a:rPr lang="en-GB" sz="3400" dirty="0" smtClean="0">
                <a:latin typeface="Times New Roman" pitchFamily="18" charset="0"/>
                <a:cs typeface="Times New Roman" pitchFamily="18" charset="0"/>
              </a:rPr>
              <a:t>	The database size and application experience are very important in this project. The use of the software tool and the main storage is highly considerable. The virtual machine experience and its volatility can be kept low. All other cost drivers have nominal requirements. Use the COCOMO model to estimate the development effort and the development time.</a:t>
            </a:r>
            <a:r>
              <a:rPr lang="en-GB" sz="3400" dirty="0" smtClean="0"/>
              <a:t>   </a:t>
            </a:r>
            <a:endParaRPr lang="en-IN" sz="3400" dirty="0" smtClean="0"/>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56</a:t>
            </a:fld>
            <a:endParaRPr lang="en-IN"/>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3200" b="1" dirty="0" smtClean="0">
                <a:solidFill>
                  <a:srgbClr val="0000FF"/>
                </a:solidFill>
                <a:latin typeface="Times New Roman" pitchFamily="18" charset="0"/>
                <a:cs typeface="Times New Roman" pitchFamily="18" charset="0"/>
              </a:rPr>
              <a:t>Intermediate COCOMO Model</a:t>
            </a:r>
            <a:endParaRPr lang="en-IN" dirty="0"/>
          </a:p>
        </p:txBody>
      </p:sp>
      <p:sp>
        <p:nvSpPr>
          <p:cNvPr id="3" name="Content Placeholder 2"/>
          <p:cNvSpPr>
            <a:spLocks noGrp="1"/>
          </p:cNvSpPr>
          <p:nvPr>
            <p:ph idx="1"/>
          </p:nvPr>
        </p:nvSpPr>
        <p:spPr/>
        <p:txBody>
          <a:bodyPr>
            <a:normAutofit fontScale="70000" lnSpcReduction="20000"/>
          </a:bodyPr>
          <a:lstStyle/>
          <a:p>
            <a:pPr>
              <a:buNone/>
            </a:pPr>
            <a:r>
              <a:rPr lang="en-GB" sz="3400" b="1" dirty="0" smtClean="0">
                <a:solidFill>
                  <a:srgbClr val="00B0F0"/>
                </a:solidFill>
                <a:latin typeface="Times New Roman" pitchFamily="18" charset="0"/>
                <a:cs typeface="Times New Roman" pitchFamily="18" charset="0"/>
              </a:rPr>
              <a:t>Solution 4.3:</a:t>
            </a:r>
            <a:endParaRPr lang="en-IN" sz="3400" dirty="0" smtClean="0">
              <a:solidFill>
                <a:srgbClr val="00B0F0"/>
              </a:solidFill>
              <a:latin typeface="Times New Roman" pitchFamily="18" charset="0"/>
              <a:cs typeface="Times New Roman" pitchFamily="18" charset="0"/>
            </a:endParaRPr>
          </a:p>
          <a:p>
            <a:pPr>
              <a:buNone/>
            </a:pPr>
            <a:r>
              <a:rPr lang="en-GB" dirty="0" smtClean="0">
                <a:latin typeface="Times New Roman" pitchFamily="18" charset="0"/>
                <a:cs typeface="Times New Roman" pitchFamily="18" charset="0"/>
              </a:rPr>
              <a:t>	</a:t>
            </a:r>
            <a:r>
              <a:rPr lang="en-GB" sz="2900" dirty="0" smtClean="0">
                <a:latin typeface="Times New Roman" pitchFamily="18" charset="0"/>
                <a:cs typeface="Times New Roman" pitchFamily="18" charset="0"/>
              </a:rPr>
              <a:t>The LMS project can be considered  an organic category project. The total size of the modules is 7 KLOC. The development effort and development time can be calculated as follows:</a:t>
            </a:r>
            <a:endParaRPr lang="en-IN" sz="2900"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a:t>
            </a:r>
          </a:p>
          <a:p>
            <a:pPr>
              <a:buNone/>
            </a:pPr>
            <a:r>
              <a:rPr lang="en-GB" sz="2900" dirty="0" smtClean="0">
                <a:latin typeface="Times New Roman" pitchFamily="18" charset="0"/>
                <a:cs typeface="Times New Roman" pitchFamily="18" charset="0"/>
              </a:rPr>
              <a:t>	</a:t>
            </a:r>
            <a:r>
              <a:rPr lang="en-GB" sz="2900" b="1" dirty="0" smtClean="0">
                <a:latin typeface="Times New Roman" pitchFamily="18" charset="0"/>
                <a:cs typeface="Times New Roman" pitchFamily="18" charset="0"/>
              </a:rPr>
              <a:t>Development effort</a:t>
            </a:r>
            <a:endParaRPr lang="en-IN" sz="2900" b="1"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Initial effort </a:t>
            </a:r>
            <a:r>
              <a:rPr lang="en-GB" sz="2900" i="1" dirty="0" smtClean="0">
                <a:latin typeface="Times New Roman" pitchFamily="18" charset="0"/>
                <a:cs typeface="Times New Roman" pitchFamily="18" charset="0"/>
              </a:rPr>
              <a:t>(</a:t>
            </a:r>
            <a:r>
              <a:rPr lang="en-GB" sz="2900" i="1" dirty="0" err="1" smtClean="0">
                <a:latin typeface="Times New Roman" pitchFamily="18" charset="0"/>
                <a:cs typeface="Times New Roman" pitchFamily="18" charset="0"/>
              </a:rPr>
              <a:t>E</a:t>
            </a:r>
            <a:r>
              <a:rPr lang="en-GB" sz="2900" i="1" baseline="-25000" dirty="0" err="1" smtClean="0">
                <a:latin typeface="Times New Roman" pitchFamily="18" charset="0"/>
                <a:cs typeface="Times New Roman" pitchFamily="18" charset="0"/>
              </a:rPr>
              <a:t>i</a:t>
            </a:r>
            <a:r>
              <a:rPr lang="en-GB" sz="2900" i="1" dirty="0" smtClean="0">
                <a:latin typeface="Times New Roman" pitchFamily="18" charset="0"/>
                <a:cs typeface="Times New Roman" pitchFamily="18" charset="0"/>
              </a:rPr>
              <a:t>)</a:t>
            </a:r>
            <a:r>
              <a:rPr lang="en-GB" sz="2900" dirty="0" smtClean="0">
                <a:latin typeface="Times New Roman" pitchFamily="18" charset="0"/>
                <a:cs typeface="Times New Roman" pitchFamily="18" charset="0"/>
              </a:rPr>
              <a:t>		=  3.2 × (7) </a:t>
            </a:r>
            <a:r>
              <a:rPr lang="en-GB" sz="2900" baseline="30000" dirty="0" smtClean="0">
                <a:latin typeface="Times New Roman" pitchFamily="18" charset="0"/>
                <a:cs typeface="Times New Roman" pitchFamily="18" charset="0"/>
              </a:rPr>
              <a:t>1.05</a:t>
            </a:r>
            <a:r>
              <a:rPr lang="en-GB" sz="2900" dirty="0" smtClean="0">
                <a:latin typeface="Times New Roman" pitchFamily="18" charset="0"/>
                <a:cs typeface="Times New Roman" pitchFamily="18" charset="0"/>
              </a:rPr>
              <a:t> 	= 	</a:t>
            </a:r>
            <a:r>
              <a:rPr lang="en-GB" sz="2900" b="1" dirty="0" smtClean="0">
                <a:latin typeface="Times New Roman" pitchFamily="18" charset="0"/>
                <a:cs typeface="Times New Roman" pitchFamily="18" charset="0"/>
              </a:rPr>
              <a:t>24.689 PM</a:t>
            </a:r>
            <a:endParaRPr lang="en-IN" sz="2900" b="1" dirty="0" smtClean="0">
              <a:latin typeface="Times New Roman" pitchFamily="18" charset="0"/>
              <a:cs typeface="Times New Roman" pitchFamily="18" charset="0"/>
            </a:endParaRPr>
          </a:p>
          <a:p>
            <a:pPr>
              <a:buNone/>
            </a:pPr>
            <a:r>
              <a:rPr lang="en-GB" sz="2900" i="1" dirty="0" smtClean="0">
                <a:latin typeface="Times New Roman" pitchFamily="18" charset="0"/>
                <a:cs typeface="Times New Roman" pitchFamily="18" charset="0"/>
              </a:rPr>
              <a:t>		EAF </a:t>
            </a:r>
            <a:r>
              <a:rPr lang="en-GB" sz="2900" dirty="0" smtClean="0">
                <a:latin typeface="Times New Roman" pitchFamily="18" charset="0"/>
                <a:cs typeface="Times New Roman" pitchFamily="18" charset="0"/>
              </a:rPr>
              <a:t>=	1.16 × 0.82 × 0.91 × 1.06 × 1.10 × 0.87 =	</a:t>
            </a:r>
            <a:r>
              <a:rPr lang="en-GB" sz="2900" b="1" dirty="0" smtClean="0">
                <a:latin typeface="Times New Roman" pitchFamily="18" charset="0"/>
                <a:cs typeface="Times New Roman" pitchFamily="18" charset="0"/>
              </a:rPr>
              <a:t>0.878</a:t>
            </a:r>
            <a:endParaRPr lang="en-IN" sz="2900" b="1"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Total effort </a:t>
            </a:r>
            <a:r>
              <a:rPr lang="en-GB" sz="2900" i="1" dirty="0" smtClean="0">
                <a:latin typeface="Times New Roman" pitchFamily="18" charset="0"/>
                <a:cs typeface="Times New Roman" pitchFamily="18" charset="0"/>
              </a:rPr>
              <a:t>(E)</a:t>
            </a:r>
            <a:r>
              <a:rPr lang="en-GB" sz="2900" dirty="0" smtClean="0">
                <a:latin typeface="Times New Roman" pitchFamily="18" charset="0"/>
                <a:cs typeface="Times New Roman" pitchFamily="18" charset="0"/>
              </a:rPr>
              <a:t>	=	</a:t>
            </a:r>
            <a:r>
              <a:rPr lang="en-GB" sz="2900" i="1" dirty="0" err="1" smtClean="0">
                <a:latin typeface="Times New Roman" pitchFamily="18" charset="0"/>
                <a:cs typeface="Times New Roman" pitchFamily="18" charset="0"/>
              </a:rPr>
              <a:t>E</a:t>
            </a:r>
            <a:r>
              <a:rPr lang="en-GB" sz="2900" i="1" baseline="-25000" dirty="0" err="1" smtClean="0">
                <a:latin typeface="Times New Roman" pitchFamily="18" charset="0"/>
                <a:cs typeface="Times New Roman" pitchFamily="18" charset="0"/>
              </a:rPr>
              <a:t>i</a:t>
            </a:r>
            <a:r>
              <a:rPr lang="en-GB" sz="2900" i="1" dirty="0" smtClean="0">
                <a:latin typeface="Times New Roman" pitchFamily="18" charset="0"/>
                <a:cs typeface="Times New Roman" pitchFamily="18" charset="0"/>
              </a:rPr>
              <a:t> * EAF</a:t>
            </a:r>
            <a:endParaRPr lang="en-IN" sz="2900"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	24.689 × 0.878</a:t>
            </a:r>
            <a:endParaRPr lang="en-IN" sz="2900"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	</a:t>
            </a:r>
            <a:r>
              <a:rPr lang="en-GB" sz="2900" b="1" dirty="0" smtClean="0">
                <a:latin typeface="Times New Roman" pitchFamily="18" charset="0"/>
                <a:cs typeface="Times New Roman" pitchFamily="18" charset="0"/>
              </a:rPr>
              <a:t>21.677 PM</a:t>
            </a:r>
            <a:endParaRPr lang="en-IN" sz="2900" b="1"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a:t>
            </a:r>
            <a:r>
              <a:rPr lang="en-GB" sz="2900" b="1" dirty="0" smtClean="0">
                <a:latin typeface="Times New Roman" pitchFamily="18" charset="0"/>
                <a:cs typeface="Times New Roman" pitchFamily="18" charset="0"/>
              </a:rPr>
              <a:t>Development time </a:t>
            </a:r>
            <a:r>
              <a:rPr lang="en-GB" sz="2900" b="1" i="1" dirty="0" smtClean="0">
                <a:latin typeface="Times New Roman" pitchFamily="18" charset="0"/>
                <a:cs typeface="Times New Roman" pitchFamily="18" charset="0"/>
              </a:rPr>
              <a:t>(T)</a:t>
            </a:r>
            <a:r>
              <a:rPr lang="en-GB" sz="2900" dirty="0" smtClean="0">
                <a:latin typeface="Times New Roman" pitchFamily="18" charset="0"/>
                <a:cs typeface="Times New Roman" pitchFamily="18" charset="0"/>
              </a:rPr>
              <a:t>	=	2.5 × </a:t>
            </a:r>
            <a:r>
              <a:rPr lang="en-GB" sz="2900" i="1" dirty="0" smtClean="0">
                <a:latin typeface="Times New Roman" pitchFamily="18" charset="0"/>
                <a:cs typeface="Times New Roman" pitchFamily="18" charset="0"/>
              </a:rPr>
              <a:t>(E)</a:t>
            </a:r>
            <a:r>
              <a:rPr lang="en-GB" sz="2900" dirty="0" smtClean="0">
                <a:latin typeface="Times New Roman" pitchFamily="18" charset="0"/>
                <a:cs typeface="Times New Roman" pitchFamily="18" charset="0"/>
              </a:rPr>
              <a:t> </a:t>
            </a:r>
            <a:r>
              <a:rPr lang="en-GB" sz="2900" baseline="30000" dirty="0" smtClean="0">
                <a:latin typeface="Times New Roman" pitchFamily="18" charset="0"/>
                <a:cs typeface="Times New Roman" pitchFamily="18" charset="0"/>
              </a:rPr>
              <a:t>0.38</a:t>
            </a:r>
            <a:r>
              <a:rPr lang="en-GB" sz="2900" dirty="0" smtClean="0">
                <a:latin typeface="Times New Roman" pitchFamily="18" charset="0"/>
                <a:cs typeface="Times New Roman" pitchFamily="18" charset="0"/>
              </a:rPr>
              <a:t> month</a:t>
            </a:r>
            <a:endParaRPr lang="en-IN" sz="2900"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	2.5 (21.677) </a:t>
            </a:r>
            <a:r>
              <a:rPr lang="en-GB" sz="2900" baseline="30000" dirty="0" smtClean="0">
                <a:latin typeface="Times New Roman" pitchFamily="18" charset="0"/>
                <a:cs typeface="Times New Roman" pitchFamily="18" charset="0"/>
              </a:rPr>
              <a:t>0.38</a:t>
            </a:r>
            <a:r>
              <a:rPr lang="en-GB" sz="2900" dirty="0" smtClean="0">
                <a:latin typeface="Times New Roman" pitchFamily="18" charset="0"/>
                <a:cs typeface="Times New Roman" pitchFamily="18" charset="0"/>
              </a:rPr>
              <a:t> month</a:t>
            </a:r>
            <a:endParaRPr lang="en-IN" sz="2900" dirty="0" smtClean="0">
              <a:latin typeface="Times New Roman" pitchFamily="18" charset="0"/>
              <a:cs typeface="Times New Roman" pitchFamily="18" charset="0"/>
            </a:endParaRPr>
          </a:p>
          <a:p>
            <a:pPr>
              <a:buNone/>
            </a:pPr>
            <a:r>
              <a:rPr lang="en-GB" sz="2900" dirty="0" smtClean="0">
                <a:latin typeface="Times New Roman" pitchFamily="18" charset="0"/>
                <a:cs typeface="Times New Roman" pitchFamily="18" charset="0"/>
              </a:rPr>
              <a:t>					=	</a:t>
            </a:r>
            <a:r>
              <a:rPr lang="en-GB" sz="2900" b="1" dirty="0" smtClean="0">
                <a:latin typeface="Times New Roman" pitchFamily="18" charset="0"/>
                <a:cs typeface="Times New Roman" pitchFamily="18" charset="0"/>
              </a:rPr>
              <a:t>8.0467 month</a:t>
            </a:r>
            <a:r>
              <a:rPr lang="en-GB" sz="2900" dirty="0" smtClean="0">
                <a:latin typeface="Times New Roman" pitchFamily="18" charset="0"/>
                <a:cs typeface="Times New Roman" pitchFamily="18" charset="0"/>
              </a:rPr>
              <a:t>	</a:t>
            </a:r>
            <a:endParaRPr lang="en-IN" sz="29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57</a:t>
            </a:fld>
            <a:endParaRPr lang="en-IN"/>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395536" y="1556792"/>
            <a:ext cx="8229600" cy="4752528"/>
          </a:xfrm>
        </p:spPr>
        <p:txBody>
          <a:bodyPr>
            <a:normAutofit fontScale="85000" lnSpcReduction="10000"/>
          </a:bodyPr>
          <a:lstStyle/>
          <a:p>
            <a:pPr marL="0" indent="0">
              <a:buNone/>
            </a:pPr>
            <a:r>
              <a:rPr lang="en-GB" sz="2800" dirty="0" smtClean="0">
                <a:solidFill>
                  <a:srgbClr val="00B0F0"/>
                </a:solidFill>
                <a:latin typeface="Times New Roman" pitchFamily="18" charset="0"/>
                <a:cs typeface="Times New Roman" pitchFamily="18" charset="0"/>
              </a:rPr>
              <a:t>Detailed </a:t>
            </a:r>
            <a:r>
              <a:rPr lang="en-IN" sz="2800" dirty="0" smtClean="0">
                <a:solidFill>
                  <a:srgbClr val="00B0F0"/>
                </a:solidFill>
                <a:latin typeface="Times New Roman" pitchFamily="18" charset="0"/>
                <a:cs typeface="Times New Roman" pitchFamily="18" charset="0"/>
              </a:rPr>
              <a:t>COCOMO Model</a:t>
            </a:r>
          </a:p>
          <a:p>
            <a:r>
              <a:rPr lang="en-GB" sz="2400" dirty="0">
                <a:latin typeface="Times New Roman" pitchFamily="18" charset="0"/>
                <a:cs typeface="Times New Roman" pitchFamily="18" charset="0"/>
              </a:rPr>
              <a:t>The detailed COCOMO model </a:t>
            </a:r>
            <a:r>
              <a:rPr lang="en-IN" sz="2400" dirty="0">
                <a:latin typeface="Times New Roman" pitchFamily="18" charset="0"/>
                <a:cs typeface="Times New Roman" pitchFamily="18" charset="0"/>
              </a:rPr>
              <a:t>inherits all the features of the intermediate COCOMO model for the overall estimation of the project cost</a:t>
            </a:r>
            <a:r>
              <a:rPr lang="en-IN" sz="2400" dirty="0" smtClean="0">
                <a:latin typeface="Times New Roman" pitchFamily="18" charset="0"/>
                <a:cs typeface="Times New Roman" pitchFamily="18" charset="0"/>
              </a:rPr>
              <a:t>.</a:t>
            </a:r>
          </a:p>
          <a:p>
            <a:r>
              <a:rPr lang="en-IN" sz="2400" dirty="0">
                <a:latin typeface="Times New Roman" pitchFamily="18" charset="0"/>
                <a:cs typeface="Times New Roman" pitchFamily="18" charset="0"/>
              </a:rPr>
              <a:t>The detailed COCOMO model uses different effort multipliers (cost drivers) for each phase of the project. </a:t>
            </a:r>
            <a:endParaRPr lang="en-IN" sz="2400" dirty="0" smtClean="0">
              <a:latin typeface="Times New Roman" pitchFamily="18" charset="0"/>
              <a:cs typeface="Times New Roman" pitchFamily="18" charset="0"/>
            </a:endParaRPr>
          </a:p>
          <a:p>
            <a:r>
              <a:rPr lang="en-IN" sz="2400" dirty="0">
                <a:latin typeface="Times New Roman" pitchFamily="18" charset="0"/>
                <a:cs typeface="Times New Roman" pitchFamily="18" charset="0"/>
              </a:rPr>
              <a:t>Phase-wise effort multipliers provide better estimates than the intermediate model. </a:t>
            </a:r>
            <a:endParaRPr lang="en-IN" sz="2400" dirty="0" smtClean="0">
              <a:latin typeface="Times New Roman" pitchFamily="18" charset="0"/>
              <a:cs typeface="Times New Roman" pitchFamily="18" charset="0"/>
            </a:endParaRPr>
          </a:p>
          <a:p>
            <a:r>
              <a:rPr lang="en-IN" sz="2400" dirty="0">
                <a:latin typeface="Times New Roman" pitchFamily="18" charset="0"/>
                <a:cs typeface="Times New Roman" pitchFamily="18" charset="0"/>
              </a:rPr>
              <a:t>The detailed COCOMO model defines </a:t>
            </a:r>
            <a:r>
              <a:rPr lang="en-IN" sz="2400" dirty="0" smtClean="0">
                <a:latin typeface="Times New Roman" pitchFamily="18" charset="0"/>
                <a:cs typeface="Times New Roman" pitchFamily="18" charset="0"/>
              </a:rPr>
              <a:t>following life </a:t>
            </a:r>
            <a:r>
              <a:rPr lang="en-IN" sz="2400" dirty="0">
                <a:latin typeface="Times New Roman" pitchFamily="18" charset="0"/>
                <a:cs typeface="Times New Roman" pitchFamily="18" charset="0"/>
              </a:rPr>
              <a:t>cycle phases for effort distribution: </a:t>
            </a:r>
            <a:endParaRPr lang="en-IN" sz="2400" dirty="0" smtClean="0">
              <a:latin typeface="Times New Roman" pitchFamily="18" charset="0"/>
              <a:cs typeface="Times New Roman" pitchFamily="18" charset="0"/>
            </a:endParaRPr>
          </a:p>
          <a:p>
            <a:pPr lvl="1"/>
            <a:r>
              <a:rPr lang="en-IN" sz="2400" dirty="0" smtClean="0">
                <a:latin typeface="Times New Roman" pitchFamily="18" charset="0"/>
                <a:cs typeface="Times New Roman" pitchFamily="18" charset="0"/>
              </a:rPr>
              <a:t>Requirements and product design,</a:t>
            </a:r>
          </a:p>
          <a:p>
            <a:pPr lvl="1"/>
            <a:r>
              <a:rPr lang="en-IN" sz="2400" dirty="0" smtClean="0">
                <a:latin typeface="Times New Roman" pitchFamily="18" charset="0"/>
                <a:cs typeface="Times New Roman" pitchFamily="18" charset="0"/>
              </a:rPr>
              <a:t>system </a:t>
            </a:r>
            <a:r>
              <a:rPr lang="en-IN" sz="2400" dirty="0">
                <a:latin typeface="Times New Roman" pitchFamily="18" charset="0"/>
                <a:cs typeface="Times New Roman" pitchFamily="18" charset="0"/>
              </a:rPr>
              <a:t>design</a:t>
            </a:r>
            <a:r>
              <a:rPr lang="en-IN" sz="2400" dirty="0" smtClean="0">
                <a:latin typeface="Times New Roman" pitchFamily="18" charset="0"/>
                <a:cs typeface="Times New Roman" pitchFamily="18" charset="0"/>
              </a:rPr>
              <a:t>,</a:t>
            </a:r>
          </a:p>
          <a:p>
            <a:pPr lvl="1"/>
            <a:r>
              <a:rPr lang="en-IN" sz="2400" dirty="0" smtClean="0">
                <a:latin typeface="Times New Roman" pitchFamily="18" charset="0"/>
                <a:cs typeface="Times New Roman" pitchFamily="18" charset="0"/>
              </a:rPr>
              <a:t>detailed </a:t>
            </a:r>
            <a:r>
              <a:rPr lang="en-IN" sz="2400" dirty="0">
                <a:latin typeface="Times New Roman" pitchFamily="18" charset="0"/>
                <a:cs typeface="Times New Roman" pitchFamily="18" charset="0"/>
              </a:rPr>
              <a:t>design</a:t>
            </a:r>
            <a:r>
              <a:rPr lang="en-IN" sz="2400" dirty="0" smtClean="0">
                <a:latin typeface="Times New Roman" pitchFamily="18" charset="0"/>
                <a:cs typeface="Times New Roman" pitchFamily="18" charset="0"/>
              </a:rPr>
              <a:t>,</a:t>
            </a:r>
          </a:p>
          <a:p>
            <a:pPr lvl="1"/>
            <a:r>
              <a:rPr lang="en-IN" sz="2400" dirty="0" smtClean="0">
                <a:latin typeface="Times New Roman" pitchFamily="18" charset="0"/>
                <a:cs typeface="Times New Roman" pitchFamily="18" charset="0"/>
              </a:rPr>
              <a:t>code </a:t>
            </a:r>
            <a:r>
              <a:rPr lang="en-IN" sz="2400" dirty="0">
                <a:latin typeface="Times New Roman" pitchFamily="18" charset="0"/>
                <a:cs typeface="Times New Roman" pitchFamily="18" charset="0"/>
              </a:rPr>
              <a:t>and unit test, </a:t>
            </a:r>
            <a:r>
              <a:rPr lang="en-IN" sz="2400" dirty="0" smtClean="0">
                <a:latin typeface="Times New Roman" pitchFamily="18" charset="0"/>
                <a:cs typeface="Times New Roman" pitchFamily="18" charset="0"/>
              </a:rPr>
              <a:t>and</a:t>
            </a:r>
          </a:p>
          <a:p>
            <a:pPr lvl="1"/>
            <a:r>
              <a:rPr lang="en-IN" sz="2400" dirty="0" smtClean="0">
                <a:latin typeface="Times New Roman" pitchFamily="18" charset="0"/>
                <a:cs typeface="Times New Roman" pitchFamily="18" charset="0"/>
              </a:rPr>
              <a:t>integration </a:t>
            </a:r>
            <a:r>
              <a:rPr lang="en-IN" sz="2400" dirty="0">
                <a:latin typeface="Times New Roman" pitchFamily="18" charset="0"/>
                <a:cs typeface="Times New Roman" pitchFamily="18" charset="0"/>
              </a:rPr>
              <a:t>and test. </a:t>
            </a:r>
            <a:endParaRPr lang="en-IN" sz="2400" b="1" dirty="0" smtClean="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58</a:t>
            </a:fld>
            <a:endParaRPr lang="en-IN"/>
          </a:p>
        </p:txBody>
      </p:sp>
    </p:spTree>
    <p:extLst>
      <p:ext uri="{BB962C8B-B14F-4D97-AF65-F5344CB8AC3E}">
        <p14:creationId xmlns:p14="http://schemas.microsoft.com/office/powerpoint/2010/main" val="1322739451"/>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6908"/>
          </a:xfrm>
        </p:spPr>
        <p:txBody>
          <a:bodyPr>
            <a:normAutofit/>
          </a:bodyPr>
          <a:lstStyle/>
          <a:p>
            <a:pPr lvl="0">
              <a:spcBef>
                <a:spcPct val="20000"/>
              </a:spcBef>
            </a:pPr>
            <a:r>
              <a:rPr lang="en-GB" sz="3200" b="1" dirty="0" smtClean="0">
                <a:solidFill>
                  <a:srgbClr val="0000FF"/>
                </a:solidFill>
                <a:latin typeface="Times New Roman" pitchFamily="18" charset="0"/>
                <a:ea typeface="+mn-ea"/>
                <a:cs typeface="Times New Roman" pitchFamily="18" charset="0"/>
              </a:rPr>
              <a:t>Detailed </a:t>
            </a:r>
            <a:r>
              <a:rPr lang="en-IN" sz="3200" b="1" dirty="0" smtClean="0">
                <a:solidFill>
                  <a:srgbClr val="0000FF"/>
                </a:solidFill>
                <a:latin typeface="Times New Roman" pitchFamily="18" charset="0"/>
                <a:ea typeface="+mn-ea"/>
                <a:cs typeface="Times New Roman" pitchFamily="18" charset="0"/>
              </a:rPr>
              <a:t>COCOMO Model</a:t>
            </a:r>
            <a:endParaRPr lang="en-IN" sz="32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59</a:t>
            </a:fld>
            <a:endParaRPr lang="en-IN"/>
          </a:p>
        </p:txBody>
      </p:sp>
      <p:sp>
        <p:nvSpPr>
          <p:cNvPr id="114689" name="Rectangle 1"/>
          <p:cNvSpPr>
            <a:spLocks noChangeArrowheads="1"/>
          </p:cNvSpPr>
          <p:nvPr/>
        </p:nvSpPr>
        <p:spPr bwMode="auto">
          <a:xfrm>
            <a:off x="251520" y="1071546"/>
            <a:ext cx="7848872" cy="40011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GB" sz="2000" b="1" i="0" u="none" strike="noStrike" cap="none" normalizeH="0" baseline="0" dirty="0" smtClean="0">
                <a:ln>
                  <a:noFill/>
                </a:ln>
                <a:solidFill>
                  <a:srgbClr val="00B0F0"/>
                </a:solidFill>
                <a:effectLst/>
                <a:latin typeface="Times New Roman" pitchFamily="18" charset="0"/>
                <a:ea typeface="Times New Roman" pitchFamily="18" charset="0"/>
                <a:cs typeface="Times New Roman" pitchFamily="18" charset="0"/>
              </a:rPr>
              <a:t>Table 4.4: Phase-wise distribution of the development effort and time</a:t>
            </a:r>
            <a:endParaRPr kumimoji="0" lang="en-GB" sz="2000" b="1" i="0" u="none" strike="noStrike" cap="none" normalizeH="0" baseline="0" dirty="0" smtClean="0">
              <a:ln>
                <a:noFill/>
              </a:ln>
              <a:solidFill>
                <a:srgbClr val="00B0F0"/>
              </a:solidFill>
              <a:effectLst/>
              <a:latin typeface="Times New Roman" pitchFamily="18" charset="0"/>
              <a:cs typeface="Times New Roman" pitchFamily="18" charset="0"/>
            </a:endParaRPr>
          </a:p>
        </p:txBody>
      </p:sp>
      <p:graphicFrame>
        <p:nvGraphicFramePr>
          <p:cNvPr id="7" name="Table 6"/>
          <p:cNvGraphicFramePr>
            <a:graphicFrameLocks noGrp="1"/>
          </p:cNvGraphicFramePr>
          <p:nvPr>
            <p:extLst>
              <p:ext uri="{D42A27DB-BD31-4B8C-83A1-F6EECF244321}">
                <p14:modId xmlns:p14="http://schemas.microsoft.com/office/powerpoint/2010/main" val="3103421502"/>
              </p:ext>
            </p:extLst>
          </p:nvPr>
        </p:nvGraphicFramePr>
        <p:xfrm>
          <a:off x="500034" y="1624199"/>
          <a:ext cx="8072494" cy="4806082"/>
        </p:xfrm>
        <a:graphic>
          <a:graphicData uri="http://schemas.openxmlformats.org/drawingml/2006/table">
            <a:tbl>
              <a:tblPr>
                <a:solidFill>
                  <a:schemeClr val="bg1"/>
                </a:solidFill>
              </a:tblPr>
              <a:tblGrid>
                <a:gridCol w="2941265">
                  <a:extLst>
                    <a:ext uri="{9D8B030D-6E8A-4147-A177-3AD203B41FA5}">
                      <a16:colId xmlns:a16="http://schemas.microsoft.com/office/drawing/2014/main" val="20000"/>
                    </a:ext>
                  </a:extLst>
                </a:gridCol>
                <a:gridCol w="1854276">
                  <a:extLst>
                    <a:ext uri="{9D8B030D-6E8A-4147-A177-3AD203B41FA5}">
                      <a16:colId xmlns:a16="http://schemas.microsoft.com/office/drawing/2014/main" val="20001"/>
                    </a:ext>
                  </a:extLst>
                </a:gridCol>
                <a:gridCol w="959108">
                  <a:extLst>
                    <a:ext uri="{9D8B030D-6E8A-4147-A177-3AD203B41FA5}">
                      <a16:colId xmlns:a16="http://schemas.microsoft.com/office/drawing/2014/main" val="20002"/>
                    </a:ext>
                  </a:extLst>
                </a:gridCol>
                <a:gridCol w="1156258">
                  <a:extLst>
                    <a:ext uri="{9D8B030D-6E8A-4147-A177-3AD203B41FA5}">
                      <a16:colId xmlns:a16="http://schemas.microsoft.com/office/drawing/2014/main" val="20003"/>
                    </a:ext>
                  </a:extLst>
                </a:gridCol>
                <a:gridCol w="1161587">
                  <a:extLst>
                    <a:ext uri="{9D8B030D-6E8A-4147-A177-3AD203B41FA5}">
                      <a16:colId xmlns:a16="http://schemas.microsoft.com/office/drawing/2014/main" val="20004"/>
                    </a:ext>
                  </a:extLst>
                </a:gridCol>
              </a:tblGrid>
              <a:tr h="559946">
                <a:tc>
                  <a:txBody>
                    <a:bodyPr/>
                    <a:lstStyle/>
                    <a:p>
                      <a:pPr>
                        <a:lnSpc>
                          <a:spcPct val="115000"/>
                        </a:lnSpc>
                        <a:spcAft>
                          <a:spcPts val="0"/>
                        </a:spcAft>
                      </a:pPr>
                      <a:r>
                        <a:rPr lang="en-US" sz="1600" b="1" dirty="0">
                          <a:latin typeface="Times New Roman"/>
                          <a:ea typeface="Times New Roman"/>
                          <a:cs typeface="Times New Roman"/>
                        </a:rPr>
                        <a:t>Project type </a:t>
                      </a:r>
                      <a:r>
                        <a:rPr lang="en-US" sz="1600" b="1" dirty="0" smtClean="0">
                          <a:latin typeface="Times New Roman"/>
                          <a:ea typeface="Times New Roman"/>
                          <a:cs typeface="Times New Roman"/>
                        </a:rPr>
                        <a:t>and size</a:t>
                      </a:r>
                      <a:endParaRPr lang="en-IN" sz="1600" b="1"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b="1" dirty="0">
                          <a:latin typeface="Times New Roman"/>
                          <a:ea typeface="Times New Roman"/>
                          <a:cs typeface="Times New Roman"/>
                        </a:rPr>
                        <a:t>Requirements and product design</a:t>
                      </a:r>
                      <a:endParaRPr lang="en-IN" sz="1600" b="1"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b="1">
                          <a:latin typeface="Times New Roman"/>
                          <a:ea typeface="Times New Roman"/>
                          <a:cs typeface="Times New Roman"/>
                        </a:rPr>
                        <a:t>Detailed design</a:t>
                      </a:r>
                      <a:endParaRPr lang="en-IN" sz="1600" b="1">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b="1">
                          <a:latin typeface="Times New Roman"/>
                          <a:ea typeface="Times New Roman"/>
                          <a:cs typeface="Times New Roman"/>
                        </a:rPr>
                        <a:t>Code and unit test</a:t>
                      </a:r>
                      <a:endParaRPr lang="en-IN" sz="1600" b="1">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b="1" dirty="0">
                          <a:latin typeface="Times New Roman"/>
                          <a:ea typeface="Times New Roman"/>
                          <a:cs typeface="Times New Roman"/>
                        </a:rPr>
                        <a:t>Integration and test</a:t>
                      </a:r>
                      <a:endParaRPr lang="en-IN" sz="1600" b="1"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304319">
                <a:tc gridSpan="5">
                  <a:txBody>
                    <a:bodyPr/>
                    <a:lstStyle/>
                    <a:p>
                      <a:pPr marL="0" algn="l" defTabSz="914400" rtl="0" eaLnBrk="1" latinLnBrk="0" hangingPunct="1">
                        <a:lnSpc>
                          <a:spcPct val="115000"/>
                        </a:lnSpc>
                        <a:spcAft>
                          <a:spcPts val="0"/>
                        </a:spcAft>
                      </a:pPr>
                      <a:r>
                        <a:rPr lang="en-US" sz="1600" b="1" kern="1200" dirty="0">
                          <a:solidFill>
                            <a:schemeClr val="tx1"/>
                          </a:solidFill>
                          <a:latin typeface="Times New Roman"/>
                          <a:ea typeface="Times New Roman"/>
                          <a:cs typeface="Times New Roman"/>
                        </a:rPr>
                        <a:t>Percentage-wise distribution of the development effort</a:t>
                      </a:r>
                      <a:endParaRPr lang="en-IN" sz="1600" b="1" kern="1200" dirty="0">
                        <a:solidFill>
                          <a:schemeClr val="tx1"/>
                        </a:solidFill>
                        <a:latin typeface="Times New Roman"/>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1"/>
                  </a:ext>
                </a:extLst>
              </a:tr>
              <a:tr h="301783">
                <a:tc>
                  <a:txBody>
                    <a:bodyPr/>
                    <a:lstStyle/>
                    <a:p>
                      <a:pPr algn="just">
                        <a:lnSpc>
                          <a:spcPct val="115000"/>
                        </a:lnSpc>
                        <a:spcAft>
                          <a:spcPts val="1000"/>
                        </a:spcAft>
                      </a:pPr>
                      <a:r>
                        <a:rPr lang="en-US" sz="1600" dirty="0">
                          <a:latin typeface="Times New Roman"/>
                          <a:ea typeface="Times New Roman"/>
                          <a:cs typeface="Times New Roman"/>
                        </a:rPr>
                        <a:t>Organic (2 KLOC)</a:t>
                      </a:r>
                      <a:endParaRPr lang="en-IN" sz="1600"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26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42</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16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1783">
                <a:tc>
                  <a:txBody>
                    <a:bodyPr/>
                    <a:lstStyle/>
                    <a:p>
                      <a:pPr algn="just">
                        <a:lnSpc>
                          <a:spcPct val="115000"/>
                        </a:lnSpc>
                        <a:spcAft>
                          <a:spcPts val="1000"/>
                        </a:spcAft>
                      </a:pPr>
                      <a:r>
                        <a:rPr lang="en-US" sz="1600" dirty="0">
                          <a:latin typeface="Times New Roman"/>
                          <a:ea typeface="Times New Roman"/>
                          <a:cs typeface="Times New Roman"/>
                        </a:rPr>
                        <a:t>Organic (32 KLOC)</a:t>
                      </a:r>
                      <a:endParaRPr lang="en-IN" sz="1600"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24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38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1000"/>
                        </a:spcAft>
                      </a:pPr>
                      <a:r>
                        <a:rPr lang="en-US" sz="1600">
                          <a:latin typeface="Times New Roman"/>
                          <a:ea typeface="Times New Roman"/>
                          <a:cs typeface="Times New Roman"/>
                        </a:rPr>
                        <a:t>22</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1783">
                <a:tc>
                  <a:txBody>
                    <a:bodyPr/>
                    <a:lstStyle/>
                    <a:p>
                      <a:pPr algn="just">
                        <a:lnSpc>
                          <a:spcPct val="115000"/>
                        </a:lnSpc>
                        <a:spcAft>
                          <a:spcPts val="1000"/>
                        </a:spcAft>
                      </a:pPr>
                      <a:r>
                        <a:rPr lang="en-US" sz="1600">
                          <a:latin typeface="Times New Roman"/>
                          <a:ea typeface="Times New Roman"/>
                          <a:cs typeface="Times New Roman"/>
                        </a:rPr>
                        <a:t>Semi-detached (32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17</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25</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33</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25</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1783">
                <a:tc>
                  <a:txBody>
                    <a:bodyPr/>
                    <a:lstStyle/>
                    <a:p>
                      <a:pPr algn="just">
                        <a:lnSpc>
                          <a:spcPct val="115000"/>
                        </a:lnSpc>
                        <a:spcAft>
                          <a:spcPts val="1000"/>
                        </a:spcAft>
                      </a:pPr>
                      <a:r>
                        <a:rPr lang="en-US" sz="1600">
                          <a:latin typeface="Times New Roman"/>
                          <a:ea typeface="Times New Roman"/>
                          <a:cs typeface="Times New Roman"/>
                        </a:rPr>
                        <a:t>Semi-detached (128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17</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31</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1783">
                <a:tc>
                  <a:txBody>
                    <a:bodyPr/>
                    <a:lstStyle/>
                    <a:p>
                      <a:pPr algn="just">
                        <a:lnSpc>
                          <a:spcPct val="115000"/>
                        </a:lnSpc>
                        <a:spcAft>
                          <a:spcPts val="1000"/>
                        </a:spcAft>
                      </a:pPr>
                      <a:r>
                        <a:rPr lang="en-US" sz="1600">
                          <a:latin typeface="Times New Roman"/>
                          <a:ea typeface="Times New Roman"/>
                          <a:cs typeface="Times New Roman"/>
                        </a:rPr>
                        <a:t>Embedded (128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25</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31</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1783">
                <a:tc>
                  <a:txBody>
                    <a:bodyPr/>
                    <a:lstStyle/>
                    <a:p>
                      <a:pPr algn="just">
                        <a:lnSpc>
                          <a:spcPct val="115000"/>
                        </a:lnSpc>
                        <a:spcAft>
                          <a:spcPts val="1000"/>
                        </a:spcAft>
                      </a:pPr>
                      <a:r>
                        <a:rPr lang="en-US" sz="1600">
                          <a:latin typeface="Times New Roman"/>
                          <a:ea typeface="Times New Roman"/>
                          <a:cs typeface="Times New Roman"/>
                        </a:rPr>
                        <a:t>Embedded (320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4319">
                <a:tc gridSpan="5">
                  <a:txBody>
                    <a:bodyPr/>
                    <a:lstStyle/>
                    <a:p>
                      <a:pPr marL="0" algn="l" defTabSz="914400" rtl="0" eaLnBrk="1" latinLnBrk="0" hangingPunct="1">
                        <a:lnSpc>
                          <a:spcPct val="115000"/>
                        </a:lnSpc>
                        <a:spcAft>
                          <a:spcPts val="0"/>
                        </a:spcAft>
                      </a:pPr>
                      <a:r>
                        <a:rPr lang="en-US" sz="1600" b="1" kern="1200" dirty="0">
                          <a:solidFill>
                            <a:schemeClr val="tx1"/>
                          </a:solidFill>
                          <a:latin typeface="Times New Roman"/>
                          <a:ea typeface="Times New Roman"/>
                          <a:cs typeface="Times New Roman"/>
                        </a:rPr>
                        <a:t>Percentage-wise distribution of the development time</a:t>
                      </a:r>
                      <a:endParaRPr lang="en-IN" sz="1600" b="1" kern="1200" dirty="0">
                        <a:solidFill>
                          <a:schemeClr val="tx1"/>
                        </a:solidFill>
                        <a:latin typeface="Times New Roman"/>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8"/>
                  </a:ext>
                </a:extLst>
              </a:tr>
              <a:tr h="304319">
                <a:tc>
                  <a:txBody>
                    <a:bodyPr/>
                    <a:lstStyle/>
                    <a:p>
                      <a:pPr algn="just">
                        <a:lnSpc>
                          <a:spcPct val="115000"/>
                        </a:lnSpc>
                        <a:spcAft>
                          <a:spcPts val="1000"/>
                        </a:spcAft>
                      </a:pPr>
                      <a:r>
                        <a:rPr lang="en-US" sz="1600">
                          <a:latin typeface="Times New Roman"/>
                          <a:ea typeface="Times New Roman"/>
                          <a:cs typeface="Times New Roman"/>
                        </a:rPr>
                        <a:t>Organic (2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19</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39</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4319">
                <a:tc>
                  <a:txBody>
                    <a:bodyPr/>
                    <a:lstStyle/>
                    <a:p>
                      <a:pPr algn="just">
                        <a:lnSpc>
                          <a:spcPct val="115000"/>
                        </a:lnSpc>
                        <a:spcAft>
                          <a:spcPts val="1000"/>
                        </a:spcAft>
                      </a:pPr>
                      <a:r>
                        <a:rPr lang="en-US" sz="1600">
                          <a:latin typeface="Times New Roman"/>
                          <a:ea typeface="Times New Roman"/>
                          <a:cs typeface="Times New Roman"/>
                        </a:rPr>
                        <a:t>Organic (32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19</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21</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34</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4319">
                <a:tc>
                  <a:txBody>
                    <a:bodyPr/>
                    <a:lstStyle/>
                    <a:p>
                      <a:pPr algn="just">
                        <a:lnSpc>
                          <a:spcPct val="115000"/>
                        </a:lnSpc>
                        <a:spcAft>
                          <a:spcPts val="1000"/>
                        </a:spcAft>
                      </a:pPr>
                      <a:r>
                        <a:rPr lang="en-US" sz="1600">
                          <a:latin typeface="Times New Roman"/>
                          <a:ea typeface="Times New Roman"/>
                          <a:cs typeface="Times New Roman"/>
                        </a:rPr>
                        <a:t>Semi-detached (32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21</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27</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4319">
                <a:tc>
                  <a:txBody>
                    <a:bodyPr/>
                    <a:lstStyle/>
                    <a:p>
                      <a:pPr algn="just">
                        <a:lnSpc>
                          <a:spcPct val="115000"/>
                        </a:lnSpc>
                        <a:spcAft>
                          <a:spcPts val="1000"/>
                        </a:spcAft>
                      </a:pPr>
                      <a:r>
                        <a:rPr lang="en-US" sz="1600">
                          <a:latin typeface="Times New Roman"/>
                          <a:ea typeface="Times New Roman"/>
                          <a:cs typeface="Times New Roman"/>
                        </a:rPr>
                        <a:t>Semi-detached (128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27</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19</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25</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29</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304319">
                <a:tc>
                  <a:txBody>
                    <a:bodyPr/>
                    <a:lstStyle/>
                    <a:p>
                      <a:pPr algn="just">
                        <a:lnSpc>
                          <a:spcPct val="115000"/>
                        </a:lnSpc>
                        <a:spcAft>
                          <a:spcPts val="1000"/>
                        </a:spcAft>
                      </a:pPr>
                      <a:r>
                        <a:rPr lang="en-US" sz="1600">
                          <a:latin typeface="Times New Roman"/>
                          <a:ea typeface="Times New Roman"/>
                          <a:cs typeface="Times New Roman"/>
                        </a:rPr>
                        <a:t>Embedded (128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28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304319">
                <a:tc>
                  <a:txBody>
                    <a:bodyPr/>
                    <a:lstStyle/>
                    <a:p>
                      <a:pPr algn="just">
                        <a:lnSpc>
                          <a:spcPct val="115000"/>
                        </a:lnSpc>
                        <a:spcAft>
                          <a:spcPts val="1000"/>
                        </a:spcAft>
                      </a:pPr>
                      <a:r>
                        <a:rPr lang="en-US" sz="1600">
                          <a:latin typeface="Times New Roman"/>
                          <a:ea typeface="Times New Roman"/>
                          <a:cs typeface="Times New Roman"/>
                        </a:rPr>
                        <a:t>Embedded (320 KLOC)</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38</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a:latin typeface="Times New Roman"/>
                          <a:ea typeface="Times New Roman"/>
                          <a:cs typeface="Times New Roman"/>
                        </a:rPr>
                        <a:t>16</a:t>
                      </a:r>
                      <a:endParaRPr lang="en-IN" sz="160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600" dirty="0">
                          <a:latin typeface="Times New Roman"/>
                          <a:ea typeface="Times New Roman"/>
                          <a:cs typeface="Times New Roman"/>
                        </a:rPr>
                        <a:t>30</a:t>
                      </a:r>
                      <a:r>
                        <a:rPr lang="en-US" sz="1600" dirty="0">
                          <a:latin typeface="Calibri"/>
                          <a:ea typeface="Times New Roman"/>
                          <a:cs typeface="Times New Roman"/>
                        </a:rPr>
                        <a:t> </a:t>
                      </a:r>
                      <a:endParaRPr lang="en-IN" sz="1600" dirty="0">
                        <a:latin typeface="Calibri"/>
                        <a:ea typeface="Times New Roman"/>
                        <a:cs typeface="Times New Roman"/>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bl>
          </a:graphicData>
        </a:graphic>
      </p:graphicFrame>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54032"/>
          </a:xfrm>
        </p:spPr>
        <p:txBody>
          <a:bodyPr/>
          <a:lstStyle/>
          <a:p>
            <a:r>
              <a:rPr lang="en-GB" sz="3200" b="1" dirty="0" smtClean="0">
                <a:solidFill>
                  <a:srgbClr val="0000FF"/>
                </a:solidFill>
                <a:latin typeface="Times New Roman" pitchFamily="18" charset="0"/>
                <a:cs typeface="Times New Roman" pitchFamily="18" charset="0"/>
              </a:rPr>
              <a:t>Detailed </a:t>
            </a:r>
            <a:r>
              <a:rPr lang="en-IN" sz="3200" b="1" dirty="0" smtClean="0">
                <a:solidFill>
                  <a:srgbClr val="0000FF"/>
                </a:solidFill>
                <a:latin typeface="Times New Roman" pitchFamily="18" charset="0"/>
                <a:cs typeface="Times New Roman" pitchFamily="18" charset="0"/>
              </a:rPr>
              <a:t>COCOMO Model</a:t>
            </a:r>
            <a:endParaRPr lang="en-IN" dirty="0"/>
          </a:p>
        </p:txBody>
      </p:sp>
      <p:sp>
        <p:nvSpPr>
          <p:cNvPr id="3" name="Content Placeholder 2"/>
          <p:cNvSpPr>
            <a:spLocks noGrp="1"/>
          </p:cNvSpPr>
          <p:nvPr>
            <p:ph idx="1"/>
          </p:nvPr>
        </p:nvSpPr>
        <p:spPr>
          <a:xfrm>
            <a:off x="457200" y="1142984"/>
            <a:ext cx="8229600" cy="5072098"/>
          </a:xfrm>
        </p:spPr>
        <p:txBody>
          <a:bodyPr>
            <a:noAutofit/>
          </a:bodyPr>
          <a:lstStyle/>
          <a:p>
            <a:pPr algn="just"/>
            <a:r>
              <a:rPr lang="en-US" sz="2400" dirty="0" smtClean="0">
                <a:latin typeface="Times New Roman" pitchFamily="18" charset="0"/>
                <a:cs typeface="Times New Roman" pitchFamily="18" charset="0"/>
              </a:rPr>
              <a:t>The linear interpolation formula to approximate the percentage of effort in a particular phase with respect to estimated project size can be used as follows, </a:t>
            </a:r>
            <a:endParaRPr lang="en-IN" sz="2400" dirty="0" smtClean="0">
              <a:latin typeface="Times New Roman" pitchFamily="18" charset="0"/>
              <a:cs typeface="Times New Roman" pitchFamily="18" charset="0"/>
            </a:endParaRPr>
          </a:p>
          <a:p>
            <a:pPr algn="just">
              <a:buNone/>
            </a:pPr>
            <a:r>
              <a:rPr lang="en-US" sz="2400" dirty="0" smtClean="0">
                <a:latin typeface="Times New Roman" pitchFamily="18" charset="0"/>
                <a:cs typeface="Times New Roman" pitchFamily="18" charset="0"/>
              </a:rPr>
              <a:t> 	</a:t>
            </a:r>
            <a:r>
              <a:rPr lang="en-US" sz="2400" i="1" dirty="0" smtClean="0">
                <a:latin typeface="Times New Roman" pitchFamily="18" charset="0"/>
                <a:cs typeface="Times New Roman" pitchFamily="18" charset="0"/>
              </a:rPr>
              <a:t>Phase-wise % of effort =</a:t>
            </a:r>
          </a:p>
          <a:p>
            <a:pPr algn="just">
              <a:buNone/>
            </a:pPr>
            <a:r>
              <a:rPr lang="en-US" sz="2400" i="1" dirty="0" smtClean="0">
                <a:latin typeface="Times New Roman" pitchFamily="18" charset="0"/>
                <a:cs typeface="Times New Roman" pitchFamily="18" charset="0"/>
              </a:rPr>
              <a:t>			 E1 + ((E2 - E1)/ (S2-S1)) * estimated project size  </a:t>
            </a:r>
            <a:endParaRPr lang="en-IN" sz="2400" i="1" dirty="0" smtClean="0">
              <a:latin typeface="Times New Roman" pitchFamily="18" charset="0"/>
              <a:cs typeface="Times New Roman" pitchFamily="18" charset="0"/>
            </a:endParaRPr>
          </a:p>
          <a:p>
            <a:pPr algn="just"/>
            <a:r>
              <a:rPr lang="en-US" sz="2400" dirty="0" smtClean="0">
                <a:latin typeface="Times New Roman" pitchFamily="18" charset="0"/>
                <a:cs typeface="Times New Roman" pitchFamily="18" charset="0"/>
              </a:rPr>
              <a:t>Where, S1 and S2 are the lower and upper known project sizes; and E1 and E2 are lower and upper percentage of efforts for S1 and S2, respectively. </a:t>
            </a:r>
          </a:p>
          <a:p>
            <a:pPr algn="just"/>
            <a:r>
              <a:rPr lang="en-US" sz="2400" dirty="0" smtClean="0">
                <a:latin typeface="Times New Roman" pitchFamily="18" charset="0"/>
                <a:cs typeface="Times New Roman" pitchFamily="18" charset="0"/>
              </a:rPr>
              <a:t>Similarly, development time duration can also be calculated using interpolation formula. </a:t>
            </a:r>
            <a:endParaRPr lang="en-IN" sz="24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60</a:t>
            </a:fld>
            <a:endParaRPr lang="en-IN"/>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54032"/>
          </a:xfrm>
        </p:spPr>
        <p:txBody>
          <a:bodyPr/>
          <a:lstStyle/>
          <a:p>
            <a:r>
              <a:rPr lang="en-GB" sz="3200" b="1" dirty="0" smtClean="0">
                <a:solidFill>
                  <a:srgbClr val="0000FF"/>
                </a:solidFill>
                <a:latin typeface="Times New Roman" pitchFamily="18" charset="0"/>
                <a:cs typeface="Times New Roman" pitchFamily="18" charset="0"/>
              </a:rPr>
              <a:t>Detailed </a:t>
            </a:r>
            <a:r>
              <a:rPr lang="en-IN" sz="3200" b="1" dirty="0" smtClean="0">
                <a:solidFill>
                  <a:srgbClr val="0000FF"/>
                </a:solidFill>
                <a:latin typeface="Times New Roman" pitchFamily="18" charset="0"/>
                <a:cs typeface="Times New Roman" pitchFamily="18" charset="0"/>
              </a:rPr>
              <a:t>COCOMO Model</a:t>
            </a:r>
            <a:endParaRPr lang="en-IN" dirty="0"/>
          </a:p>
        </p:txBody>
      </p:sp>
      <p:sp>
        <p:nvSpPr>
          <p:cNvPr id="3" name="Content Placeholder 2"/>
          <p:cNvSpPr>
            <a:spLocks noGrp="1"/>
          </p:cNvSpPr>
          <p:nvPr>
            <p:ph idx="1"/>
          </p:nvPr>
        </p:nvSpPr>
        <p:spPr>
          <a:xfrm>
            <a:off x="457200" y="1000108"/>
            <a:ext cx="8229600" cy="5500726"/>
          </a:xfrm>
        </p:spPr>
        <p:txBody>
          <a:bodyPr>
            <a:normAutofit fontScale="25000" lnSpcReduction="20000"/>
          </a:bodyPr>
          <a:lstStyle/>
          <a:p>
            <a:pPr algn="just">
              <a:buNone/>
            </a:pPr>
            <a:r>
              <a:rPr lang="en-GB" sz="9600" b="1" dirty="0" smtClean="0">
                <a:solidFill>
                  <a:srgbClr val="00B0F0"/>
                </a:solidFill>
                <a:latin typeface="Times New Roman" pitchFamily="18" charset="0"/>
                <a:cs typeface="Times New Roman" pitchFamily="18" charset="0"/>
              </a:rPr>
              <a:t>Solution 4.4:</a:t>
            </a:r>
            <a:endParaRPr lang="en-IN" sz="9600" dirty="0" smtClean="0">
              <a:solidFill>
                <a:srgbClr val="00B0F0"/>
              </a:solidFill>
              <a:latin typeface="Times New Roman" pitchFamily="18" charset="0"/>
              <a:cs typeface="Times New Roman" pitchFamily="18" charset="0"/>
            </a:endParaRPr>
          </a:p>
          <a:p>
            <a:pPr algn="just">
              <a:buNone/>
            </a:pPr>
            <a:r>
              <a:rPr lang="en-GB" dirty="0" smtClean="0"/>
              <a:t>	</a:t>
            </a:r>
            <a:r>
              <a:rPr lang="en-GB" sz="8000" dirty="0" smtClean="0">
                <a:latin typeface="Times New Roman" pitchFamily="18" charset="0"/>
                <a:cs typeface="Times New Roman" pitchFamily="18" charset="0"/>
              </a:rPr>
              <a:t>There are five components in the organic project discussed in Example 4.3: online data entry, data update, file input and output, library reports, query and search. The estimated effort </a:t>
            </a:r>
            <a:r>
              <a:rPr lang="en-GB" sz="8000" i="1" dirty="0" smtClean="0">
                <a:latin typeface="Times New Roman" pitchFamily="18" charset="0"/>
                <a:cs typeface="Times New Roman" pitchFamily="18" charset="0"/>
              </a:rPr>
              <a:t>(E)</a:t>
            </a:r>
            <a:r>
              <a:rPr lang="en-GB" sz="8000" dirty="0" smtClean="0">
                <a:latin typeface="Times New Roman" pitchFamily="18" charset="0"/>
                <a:cs typeface="Times New Roman" pitchFamily="18" charset="0"/>
              </a:rPr>
              <a:t> is </a:t>
            </a:r>
            <a:r>
              <a:rPr lang="en-GB" sz="8000" b="1" dirty="0" smtClean="0">
                <a:latin typeface="Times New Roman" pitchFamily="18" charset="0"/>
                <a:cs typeface="Times New Roman" pitchFamily="18" charset="0"/>
              </a:rPr>
              <a:t>21.6785</a:t>
            </a:r>
            <a:r>
              <a:rPr lang="en-GB" sz="8000" dirty="0" smtClean="0">
                <a:latin typeface="Times New Roman" pitchFamily="18" charset="0"/>
                <a:cs typeface="Times New Roman" pitchFamily="18" charset="0"/>
              </a:rPr>
              <a:t> PM and estimated time (T) is </a:t>
            </a:r>
            <a:r>
              <a:rPr lang="en-GB" sz="8000" b="1" dirty="0">
                <a:latin typeface="Times New Roman" pitchFamily="18" charset="0"/>
                <a:cs typeface="Times New Roman" pitchFamily="18" charset="0"/>
              </a:rPr>
              <a:t>8.0467</a:t>
            </a:r>
            <a:r>
              <a:rPr lang="en-GB" sz="8000" dirty="0" smtClean="0">
                <a:latin typeface="Times New Roman" pitchFamily="18" charset="0"/>
                <a:cs typeface="Times New Roman" pitchFamily="18" charset="0"/>
              </a:rPr>
              <a:t>. The total size is 7 KLOC, which is between 2 KLOC and 32 KLOC. </a:t>
            </a:r>
          </a:p>
          <a:p>
            <a:pPr algn="just">
              <a:buNone/>
            </a:pPr>
            <a:endParaRPr lang="en-IN" sz="8000" b="1" dirty="0" smtClean="0">
              <a:latin typeface="Times New Roman" pitchFamily="18" charset="0"/>
              <a:cs typeface="Times New Roman" pitchFamily="18" charset="0"/>
            </a:endParaRPr>
          </a:p>
          <a:p>
            <a:pPr algn="just">
              <a:spcAft>
                <a:spcPts val="0"/>
              </a:spcAft>
            </a:pPr>
            <a:r>
              <a:rPr lang="en-GB" sz="8000" dirty="0" smtClean="0">
                <a:latin typeface="Times New Roman" pitchFamily="18" charset="0"/>
                <a:ea typeface="Times New Roman"/>
                <a:cs typeface="Times New Roman" pitchFamily="18" charset="0"/>
              </a:rPr>
              <a:t>Phase wise actual percentage of development effort can be calculated as follows:</a:t>
            </a:r>
            <a:endParaRPr lang="en-IN" sz="8000"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Requirements and product design(%) = 16 +((16 – 16)/(32-2))×7= 16%</a:t>
            </a:r>
            <a:endParaRPr lang="en-IN" sz="8800"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			</a:t>
            </a:r>
            <a:r>
              <a:rPr lang="en-US" sz="8800" b="1" dirty="0" smtClean="0">
                <a:latin typeface="Times New Roman" pitchFamily="18" charset="0"/>
                <a:ea typeface="Times New Roman"/>
                <a:cs typeface="Times New Roman" pitchFamily="18" charset="0"/>
              </a:rPr>
              <a:t>Effort	= 0.16 × </a:t>
            </a:r>
            <a:r>
              <a:rPr lang="en-GB" sz="8800" b="1" dirty="0" smtClean="0">
                <a:latin typeface="Times New Roman" pitchFamily="18" charset="0"/>
                <a:ea typeface="Times New Roman"/>
                <a:cs typeface="Times New Roman" pitchFamily="18" charset="0"/>
              </a:rPr>
              <a:t>21.677 PM	= 3.468 PM</a:t>
            </a:r>
            <a:endParaRPr lang="en-IN" sz="8800" b="1" dirty="0" smtClean="0">
              <a:latin typeface="Times New Roman" pitchFamily="18" charset="0"/>
              <a:ea typeface="Times New Roman"/>
              <a:cs typeface="Times New Roman" pitchFamily="18" charset="0"/>
            </a:endParaRPr>
          </a:p>
          <a:p>
            <a:pPr algn="just">
              <a:lnSpc>
                <a:spcPct val="120000"/>
              </a:lnSpc>
              <a:spcBef>
                <a:spcPts val="0"/>
              </a:spcBef>
              <a:buNone/>
            </a:pPr>
            <a:r>
              <a:rPr lang="en-IN" sz="8800" dirty="0" smtClean="0">
                <a:latin typeface="Times New Roman" pitchFamily="18" charset="0"/>
                <a:ea typeface="Times New Roman"/>
                <a:cs typeface="Times New Roman" pitchFamily="18" charset="0"/>
              </a:rPr>
              <a:t>	</a:t>
            </a:r>
            <a:r>
              <a:rPr lang="en-US" sz="8800" dirty="0" smtClean="0">
                <a:latin typeface="Times New Roman" pitchFamily="18" charset="0"/>
                <a:ea typeface="Times New Roman"/>
                <a:cs typeface="Times New Roman" pitchFamily="18" charset="0"/>
              </a:rPr>
              <a:t>Detailed design (%) 	= 26 + ((24-26) / (32-2)) × 7 = 26%</a:t>
            </a:r>
            <a:endParaRPr lang="en-IN" sz="8800"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		</a:t>
            </a:r>
            <a:r>
              <a:rPr lang="en-US" sz="8800" b="1" dirty="0" smtClean="0">
                <a:latin typeface="Times New Roman" pitchFamily="18" charset="0"/>
                <a:ea typeface="Times New Roman"/>
                <a:cs typeface="Times New Roman" pitchFamily="18" charset="0"/>
              </a:rPr>
              <a:t>Effort		= 0.26 × </a:t>
            </a:r>
            <a:r>
              <a:rPr lang="en-GB" sz="8800" b="1" dirty="0" smtClean="0">
                <a:latin typeface="Times New Roman" pitchFamily="18" charset="0"/>
                <a:ea typeface="Times New Roman"/>
                <a:cs typeface="Times New Roman" pitchFamily="18" charset="0"/>
              </a:rPr>
              <a:t>21.677 PM 	= 5.636 PM</a:t>
            </a:r>
            <a:endParaRPr lang="en-IN" sz="8800" b="1"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Code and unit test (%) 	= 42 + ((38 - 42) / (32 - 2)) × 7 = 41%</a:t>
            </a:r>
            <a:endParaRPr lang="en-IN" sz="8800"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		</a:t>
            </a:r>
            <a:r>
              <a:rPr lang="en-US" sz="8800" b="1" dirty="0" smtClean="0">
                <a:latin typeface="Times New Roman" pitchFamily="18" charset="0"/>
                <a:ea typeface="Times New Roman"/>
                <a:cs typeface="Times New Roman" pitchFamily="18" charset="0"/>
              </a:rPr>
              <a:t>Effort		= 0.41 × </a:t>
            </a:r>
            <a:r>
              <a:rPr lang="en-GB" sz="8800" b="1" dirty="0" smtClean="0">
                <a:latin typeface="Times New Roman" pitchFamily="18" charset="0"/>
                <a:ea typeface="Times New Roman"/>
                <a:cs typeface="Times New Roman" pitchFamily="18" charset="0"/>
              </a:rPr>
              <a:t>21.677 PM	= 8.888 PM</a:t>
            </a:r>
            <a:endParaRPr lang="en-IN" sz="8800" b="1"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dirty="0" smtClean="0">
                <a:latin typeface="Times New Roman" pitchFamily="18" charset="0"/>
                <a:ea typeface="Times New Roman"/>
                <a:cs typeface="Times New Roman" pitchFamily="18" charset="0"/>
              </a:rPr>
              <a:t>Integration and test (%)	= 16 + ((22-16) / (32 - 2)) × 7	= 17%</a:t>
            </a:r>
            <a:endParaRPr lang="en-IN" sz="8800" dirty="0" smtClean="0">
              <a:latin typeface="Times New Roman" pitchFamily="18" charset="0"/>
              <a:ea typeface="Times New Roman"/>
              <a:cs typeface="Times New Roman" pitchFamily="18" charset="0"/>
            </a:endParaRPr>
          </a:p>
          <a:p>
            <a:pPr algn="just">
              <a:lnSpc>
                <a:spcPct val="120000"/>
              </a:lnSpc>
              <a:spcBef>
                <a:spcPts val="0"/>
              </a:spcBef>
              <a:buNone/>
            </a:pPr>
            <a:r>
              <a:rPr lang="en-US" sz="8800" b="1" dirty="0" smtClean="0">
                <a:latin typeface="Times New Roman" pitchFamily="18" charset="0"/>
                <a:ea typeface="Times New Roman"/>
                <a:cs typeface="Times New Roman" pitchFamily="18" charset="0"/>
              </a:rPr>
              <a:t>		Effort                = 0.17 × </a:t>
            </a:r>
            <a:r>
              <a:rPr lang="en-GB" sz="8800" b="1" dirty="0" smtClean="0">
                <a:latin typeface="Times New Roman" pitchFamily="18" charset="0"/>
                <a:ea typeface="Times New Roman"/>
                <a:cs typeface="Times New Roman" pitchFamily="18" charset="0"/>
              </a:rPr>
              <a:t>21.677 PM = 3.685 PM</a:t>
            </a:r>
            <a:r>
              <a:rPr lang="en-GB" sz="8000" b="1" dirty="0" smtClean="0">
                <a:latin typeface="Times New Roman" pitchFamily="18" charset="0"/>
                <a:ea typeface="Times New Roman"/>
                <a:cs typeface="Times New Roman" pitchFamily="18" charset="0"/>
              </a:rPr>
              <a:t>	</a:t>
            </a:r>
            <a:endParaRPr lang="en-IN" sz="8000" b="1" dirty="0" smtClean="0">
              <a:latin typeface="Times New Roman" pitchFamily="18" charset="0"/>
              <a:cs typeface="Times New Roman" pitchFamily="18" charset="0"/>
            </a:endParaRPr>
          </a:p>
          <a:p>
            <a:pPr algn="just">
              <a:buNone/>
            </a:pPr>
            <a:r>
              <a:rPr lang="en-US" sz="8000" dirty="0" smtClean="0">
                <a:latin typeface="Times New Roman" pitchFamily="18" charset="0"/>
                <a:cs typeface="Times New Roman" pitchFamily="18" charset="0"/>
              </a:rPr>
              <a:t>	</a:t>
            </a:r>
            <a:endParaRPr lang="en-IN" sz="80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61</a:t>
            </a:fld>
            <a:endParaRPr lang="en-IN"/>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54032"/>
          </a:xfrm>
        </p:spPr>
        <p:txBody>
          <a:bodyPr/>
          <a:lstStyle/>
          <a:p>
            <a:r>
              <a:rPr lang="en-GB" sz="3200" b="1" dirty="0" smtClean="0">
                <a:solidFill>
                  <a:srgbClr val="0000FF"/>
                </a:solidFill>
                <a:latin typeface="Times New Roman" pitchFamily="18" charset="0"/>
                <a:cs typeface="Times New Roman" pitchFamily="18" charset="0"/>
              </a:rPr>
              <a:t>Detailed </a:t>
            </a:r>
            <a:r>
              <a:rPr lang="en-IN" sz="3200" b="1" dirty="0" smtClean="0">
                <a:solidFill>
                  <a:srgbClr val="0000FF"/>
                </a:solidFill>
                <a:latin typeface="Times New Roman" pitchFamily="18" charset="0"/>
                <a:cs typeface="Times New Roman" pitchFamily="18" charset="0"/>
              </a:rPr>
              <a:t>COCOMO Model</a:t>
            </a:r>
            <a:endParaRPr lang="en-IN" dirty="0"/>
          </a:p>
        </p:txBody>
      </p:sp>
      <p:sp>
        <p:nvSpPr>
          <p:cNvPr id="3" name="Content Placeholder 2"/>
          <p:cNvSpPr>
            <a:spLocks noGrp="1"/>
          </p:cNvSpPr>
          <p:nvPr>
            <p:ph idx="1"/>
          </p:nvPr>
        </p:nvSpPr>
        <p:spPr>
          <a:xfrm>
            <a:off x="457200" y="1285860"/>
            <a:ext cx="8229600" cy="4840303"/>
          </a:xfrm>
        </p:spPr>
        <p:txBody>
          <a:bodyPr>
            <a:normAutofit/>
          </a:bodyPr>
          <a:lstStyle/>
          <a:p>
            <a:pPr algn="just">
              <a:buNone/>
            </a:pPr>
            <a:r>
              <a:rPr lang="en-GB" sz="2000" b="1" dirty="0" smtClean="0">
                <a:solidFill>
                  <a:srgbClr val="00B0F0"/>
                </a:solidFill>
                <a:latin typeface="Times New Roman" pitchFamily="18" charset="0"/>
                <a:cs typeface="Times New Roman" pitchFamily="18" charset="0"/>
              </a:rPr>
              <a:t>Solution 4.4:</a:t>
            </a:r>
            <a:endParaRPr lang="en-IN" sz="2000" dirty="0" smtClean="0">
              <a:solidFill>
                <a:srgbClr val="00B0F0"/>
              </a:solidFill>
              <a:latin typeface="Times New Roman" pitchFamily="18" charset="0"/>
              <a:cs typeface="Times New Roman" pitchFamily="18" charset="0"/>
            </a:endParaRPr>
          </a:p>
          <a:p>
            <a:pPr algn="just"/>
            <a:r>
              <a:rPr lang="en-GB" sz="2000" dirty="0" smtClean="0">
                <a:latin typeface="Times New Roman" pitchFamily="18" charset="0"/>
                <a:cs typeface="Times New Roman" pitchFamily="18" charset="0"/>
              </a:rPr>
              <a:t>Similarly, phase-wise actual percentage of development time duration can be calculated as follows:</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Requirements and product design (%)=  19 + ((19 - 19) / (32 - 2)) × 7 = 19%	Time duration	= 0.19 × 8</a:t>
            </a:r>
            <a:r>
              <a:rPr lang="en-GB" sz="2000" dirty="0" smtClean="0">
                <a:latin typeface="Times New Roman" pitchFamily="18" charset="0"/>
                <a:cs typeface="Times New Roman" pitchFamily="18" charset="0"/>
              </a:rPr>
              <a:t>.0467 = 1.5289 M </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Detailed design (%) 	= 24 + ((21-24) / (32-2)) × 7 = 23%</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		Time duration	= 0.23 × 8</a:t>
            </a:r>
            <a:r>
              <a:rPr lang="en-GB" sz="2000" dirty="0" smtClean="0">
                <a:latin typeface="Times New Roman" pitchFamily="18" charset="0"/>
                <a:cs typeface="Times New Roman" pitchFamily="18" charset="0"/>
              </a:rPr>
              <a:t>.0467 = 1.8507 M</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Code and unit test (%) 	= 39 + ((34 - 39) / (32 - 2)) × 7 = 38%</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		Time duration	= 0.38 × 8</a:t>
            </a:r>
            <a:r>
              <a:rPr lang="en-GB" sz="2000" dirty="0" smtClean="0">
                <a:latin typeface="Times New Roman" pitchFamily="18" charset="0"/>
                <a:cs typeface="Times New Roman" pitchFamily="18" charset="0"/>
              </a:rPr>
              <a:t>.0467 = 3.0577 M</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Integration and test (%)	= 18 + ((26-18) / (32 - 2)) × 7	= 20%</a:t>
            </a:r>
            <a:endParaRPr lang="en-IN" sz="2000" dirty="0" smtClean="0">
              <a:latin typeface="Times New Roman" pitchFamily="18" charset="0"/>
              <a:cs typeface="Times New Roman" pitchFamily="18" charset="0"/>
            </a:endParaRPr>
          </a:p>
          <a:p>
            <a:pPr algn="just">
              <a:buNone/>
            </a:pPr>
            <a:r>
              <a:rPr lang="en-US" sz="2000" dirty="0" smtClean="0">
                <a:latin typeface="Times New Roman" pitchFamily="18" charset="0"/>
                <a:cs typeface="Times New Roman" pitchFamily="18" charset="0"/>
              </a:rPr>
              <a:t>		Time duration      =  0.20 × 8.0467 = 1.6094 M </a:t>
            </a:r>
            <a:endParaRPr lang="en-IN" sz="2000" dirty="0" smtClean="0">
              <a:latin typeface="Times New Roman" pitchFamily="18" charset="0"/>
              <a:cs typeface="Times New Roman" pitchFamily="18" charset="0"/>
            </a:endParaRPr>
          </a:p>
          <a:p>
            <a:pPr algn="just">
              <a:buNone/>
            </a:pPr>
            <a:endParaRPr lang="en-IN" sz="20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62</a:t>
            </a:fld>
            <a:endParaRPr lang="en-IN"/>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395536" y="1428736"/>
            <a:ext cx="8229600" cy="4752528"/>
          </a:xfrm>
        </p:spPr>
        <p:txBody>
          <a:bodyPr>
            <a:normAutofit fontScale="92500" lnSpcReduction="10000"/>
          </a:bodyPr>
          <a:lstStyle/>
          <a:p>
            <a:pPr marL="0" indent="0" algn="just">
              <a:buNone/>
            </a:pPr>
            <a:r>
              <a:rPr lang="en-IN" sz="2600" b="1" dirty="0" smtClean="0">
                <a:solidFill>
                  <a:srgbClr val="00B0F0"/>
                </a:solidFill>
                <a:latin typeface="Times New Roman" pitchFamily="18" charset="0"/>
                <a:cs typeface="Times New Roman" pitchFamily="18" charset="0"/>
              </a:rPr>
              <a:t>COCOMO I Model</a:t>
            </a:r>
          </a:p>
          <a:p>
            <a:pPr algn="just"/>
            <a:r>
              <a:rPr lang="en-GB" sz="2400" dirty="0">
                <a:latin typeface="Times New Roman" pitchFamily="18" charset="0"/>
                <a:cs typeface="Times New Roman" pitchFamily="18" charset="0"/>
              </a:rPr>
              <a:t>The basic, intermediate, and detailed COCOMO models are in the category of COCOMO I and these are collectively known as COCOMO 81. </a:t>
            </a:r>
            <a:endParaRPr lang="en-GB"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COCOMO I models were developed to estimate the effort, schedule, and cost of a software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three variations of COCOMO I use different types of parameters for estimation.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These </a:t>
            </a:r>
            <a:r>
              <a:rPr lang="en-IN" sz="2400" dirty="0">
                <a:latin typeface="Times New Roman" pitchFamily="18" charset="0"/>
                <a:cs typeface="Times New Roman" pitchFamily="18" charset="0"/>
              </a:rPr>
              <a:t>models are helpful to produce repeatable estimations.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It is unable to deal with exceptional conditions, such as exceptional teamwork, exceptional people involved in the estimation process, etc.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Rough sizing of projects and inaccurate cost driver rating will result in an inaccurate estimation.</a:t>
            </a:r>
          </a:p>
          <a:p>
            <a:pPr algn="just"/>
            <a:endParaRPr lang="en-IN" sz="2400" b="1" dirty="0" smtClean="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63</a:t>
            </a:fld>
            <a:endParaRPr lang="en-IN"/>
          </a:p>
        </p:txBody>
      </p:sp>
    </p:spTree>
    <p:extLst>
      <p:ext uri="{BB962C8B-B14F-4D97-AF65-F5344CB8AC3E}">
        <p14:creationId xmlns:p14="http://schemas.microsoft.com/office/powerpoint/2010/main" val="8350533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188640"/>
            <a:ext cx="8229600" cy="1143000"/>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395536" y="1340768"/>
            <a:ext cx="8568952" cy="5328592"/>
          </a:xfrm>
        </p:spPr>
        <p:txBody>
          <a:bodyPr>
            <a:normAutofit fontScale="62500" lnSpcReduction="20000"/>
          </a:bodyPr>
          <a:lstStyle/>
          <a:p>
            <a:pPr marL="0" indent="0" algn="just">
              <a:buNone/>
            </a:pPr>
            <a:r>
              <a:rPr lang="en-IN" sz="4400" b="1" dirty="0" smtClean="0">
                <a:solidFill>
                  <a:srgbClr val="00B0F0"/>
                </a:solidFill>
                <a:latin typeface="Times New Roman" pitchFamily="18" charset="0"/>
                <a:cs typeface="Times New Roman" pitchFamily="18" charset="0"/>
              </a:rPr>
              <a:t>COCOMO II Model</a:t>
            </a:r>
          </a:p>
          <a:p>
            <a:pPr algn="just"/>
            <a:r>
              <a:rPr lang="en-IN" sz="3800" dirty="0">
                <a:latin typeface="Times New Roman" pitchFamily="18" charset="0"/>
                <a:cs typeface="Times New Roman" pitchFamily="18" charset="0"/>
              </a:rPr>
              <a:t>COCOMO II is an extension to the original COCOMO 81 model</a:t>
            </a:r>
            <a:r>
              <a:rPr lang="en-IN" sz="3800" dirty="0" smtClean="0">
                <a:latin typeface="Times New Roman" pitchFamily="18" charset="0"/>
                <a:cs typeface="Times New Roman" pitchFamily="18" charset="0"/>
              </a:rPr>
              <a:t>.</a:t>
            </a:r>
          </a:p>
          <a:p>
            <a:pPr algn="just"/>
            <a:r>
              <a:rPr lang="en-IN" sz="3800" dirty="0" smtClean="0">
                <a:latin typeface="Times New Roman" pitchFamily="18" charset="0"/>
                <a:cs typeface="Times New Roman" pitchFamily="18" charset="0"/>
              </a:rPr>
              <a:t>These </a:t>
            </a:r>
            <a:r>
              <a:rPr lang="en-IN" sz="3800" dirty="0">
                <a:latin typeface="Times New Roman" pitchFamily="18" charset="0"/>
                <a:cs typeface="Times New Roman" pitchFamily="18" charset="0"/>
              </a:rPr>
              <a:t>changes have changed the development processes from linear to spiral and one-go to incremental way for developing simple to complex </a:t>
            </a:r>
            <a:r>
              <a:rPr lang="en-IN" sz="3800" dirty="0" smtClean="0">
                <a:latin typeface="Times New Roman" pitchFamily="18" charset="0"/>
                <a:cs typeface="Times New Roman" pitchFamily="18" charset="0"/>
              </a:rPr>
              <a:t>projects.</a:t>
            </a:r>
          </a:p>
          <a:p>
            <a:pPr algn="just"/>
            <a:r>
              <a:rPr lang="en-IN" sz="3800" dirty="0">
                <a:latin typeface="Times New Roman" pitchFamily="18" charset="0"/>
                <a:cs typeface="Times New Roman" pitchFamily="18" charset="0"/>
              </a:rPr>
              <a:t>Programming techniques and technologies have moved from conventional to component-based software development. </a:t>
            </a:r>
            <a:endParaRPr lang="en-IN" sz="3800" dirty="0" smtClean="0">
              <a:latin typeface="Times New Roman" pitchFamily="18" charset="0"/>
              <a:cs typeface="Times New Roman" pitchFamily="18" charset="0"/>
            </a:endParaRPr>
          </a:p>
          <a:p>
            <a:pPr algn="just"/>
            <a:r>
              <a:rPr lang="en-IN" sz="3800" dirty="0">
                <a:latin typeface="Times New Roman" pitchFamily="18" charset="0"/>
                <a:cs typeface="Times New Roman" pitchFamily="18" charset="0"/>
              </a:rPr>
              <a:t>Thus, a new, enhanced COCOMO II model was proposed to overcome the limitations of COCOMO 81. </a:t>
            </a:r>
            <a:endParaRPr lang="en-IN" sz="3800" dirty="0" smtClean="0">
              <a:latin typeface="Times New Roman" pitchFamily="18" charset="0"/>
              <a:cs typeface="Times New Roman" pitchFamily="18" charset="0"/>
            </a:endParaRPr>
          </a:p>
          <a:p>
            <a:pPr algn="just"/>
            <a:r>
              <a:rPr lang="en-IN" sz="3800" dirty="0" smtClean="0">
                <a:latin typeface="Times New Roman" pitchFamily="18" charset="0"/>
                <a:cs typeface="Times New Roman" pitchFamily="18" charset="0"/>
              </a:rPr>
              <a:t>It </a:t>
            </a:r>
            <a:r>
              <a:rPr lang="en-IN" sz="3800" dirty="0">
                <a:latin typeface="Times New Roman" pitchFamily="18" charset="0"/>
                <a:cs typeface="Times New Roman" pitchFamily="18" charset="0"/>
              </a:rPr>
              <a:t>consists of sub-models, each one providing unique features for project planning and design process. </a:t>
            </a:r>
          </a:p>
          <a:p>
            <a:pPr lvl="1" algn="just"/>
            <a:r>
              <a:rPr lang="en-IN" sz="3800" dirty="0" smtClean="0">
                <a:latin typeface="Times New Roman" pitchFamily="18" charset="0"/>
                <a:cs typeface="Times New Roman" pitchFamily="18" charset="0"/>
              </a:rPr>
              <a:t>The </a:t>
            </a:r>
            <a:r>
              <a:rPr lang="en-IN" sz="3800" i="1" dirty="0" smtClean="0">
                <a:latin typeface="Times New Roman" pitchFamily="18" charset="0"/>
                <a:cs typeface="Times New Roman" pitchFamily="18" charset="0"/>
              </a:rPr>
              <a:t>applications composition model, </a:t>
            </a:r>
          </a:p>
          <a:p>
            <a:pPr lvl="1" algn="just"/>
            <a:r>
              <a:rPr lang="en-IN" sz="3800" i="1" dirty="0" smtClean="0">
                <a:latin typeface="Times New Roman" pitchFamily="18" charset="0"/>
                <a:cs typeface="Times New Roman" pitchFamily="18" charset="0"/>
              </a:rPr>
              <a:t>Early design model, </a:t>
            </a:r>
          </a:p>
          <a:p>
            <a:pPr lvl="1" algn="just"/>
            <a:r>
              <a:rPr lang="en-IN" sz="3800" i="1" dirty="0" smtClean="0">
                <a:latin typeface="Times New Roman" pitchFamily="18" charset="0"/>
                <a:cs typeface="Times New Roman" pitchFamily="18" charset="0"/>
              </a:rPr>
              <a:t>Post-architecture model, </a:t>
            </a:r>
            <a:r>
              <a:rPr lang="en-IN" sz="3800" dirty="0" smtClean="0">
                <a:latin typeface="Times New Roman" pitchFamily="18" charset="0"/>
                <a:cs typeface="Times New Roman" pitchFamily="18" charset="0"/>
              </a:rPr>
              <a:t>and</a:t>
            </a:r>
            <a:r>
              <a:rPr lang="en-IN" sz="3800" i="1" dirty="0" smtClean="0">
                <a:latin typeface="Times New Roman" pitchFamily="18" charset="0"/>
                <a:cs typeface="Times New Roman" pitchFamily="18" charset="0"/>
              </a:rPr>
              <a:t> </a:t>
            </a:r>
          </a:p>
          <a:p>
            <a:pPr lvl="1" algn="just"/>
            <a:r>
              <a:rPr lang="en-IN" sz="3800" i="1" dirty="0" smtClean="0">
                <a:latin typeface="Times New Roman" pitchFamily="18" charset="0"/>
                <a:cs typeface="Times New Roman" pitchFamily="18" charset="0"/>
              </a:rPr>
              <a:t>Reuse model.</a:t>
            </a:r>
            <a:endParaRPr lang="en-IN" sz="3800" dirty="0">
              <a:latin typeface="Times New Roman" pitchFamily="18" charset="0"/>
              <a:cs typeface="Times New Roman" pitchFamily="18" charset="0"/>
            </a:endParaRPr>
          </a:p>
          <a:p>
            <a:pPr algn="just"/>
            <a:endParaRPr lang="en-IN" sz="2400" b="1" dirty="0" smtClean="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64</a:t>
            </a:fld>
            <a:endParaRPr lang="en-IN"/>
          </a:p>
        </p:txBody>
      </p:sp>
    </p:spTree>
    <p:extLst>
      <p:ext uri="{BB962C8B-B14F-4D97-AF65-F5344CB8AC3E}">
        <p14:creationId xmlns:p14="http://schemas.microsoft.com/office/powerpoint/2010/main" val="15311111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395536" y="1556792"/>
            <a:ext cx="8496944" cy="5040560"/>
          </a:xfrm>
        </p:spPr>
        <p:txBody>
          <a:bodyPr>
            <a:normAutofit fontScale="85000" lnSpcReduction="10000"/>
          </a:bodyPr>
          <a:lstStyle/>
          <a:p>
            <a:pPr marL="0" indent="0" algn="just">
              <a:buNone/>
            </a:pPr>
            <a:r>
              <a:rPr lang="en-IN" sz="2600" dirty="0" smtClean="0">
                <a:solidFill>
                  <a:srgbClr val="00B0F0"/>
                </a:solidFill>
                <a:latin typeface="Times New Roman" pitchFamily="18" charset="0"/>
                <a:cs typeface="Times New Roman" pitchFamily="18" charset="0"/>
              </a:rPr>
              <a:t>Application </a:t>
            </a:r>
            <a:r>
              <a:rPr lang="en-IN" sz="2600" dirty="0">
                <a:solidFill>
                  <a:srgbClr val="00B0F0"/>
                </a:solidFill>
                <a:latin typeface="Times New Roman" pitchFamily="18" charset="0"/>
                <a:cs typeface="Times New Roman" pitchFamily="18" charset="0"/>
              </a:rPr>
              <a:t>Composition Model </a:t>
            </a:r>
            <a:endParaRPr lang="en-IN" sz="2600" dirty="0" smtClean="0">
              <a:solidFill>
                <a:srgbClr val="00B0F0"/>
              </a:solidFill>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application composition model is best suitable for prototyping projects and projects where there is extensive reuse of components.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It </a:t>
            </a:r>
            <a:r>
              <a:rPr lang="en-IN" sz="2400" dirty="0">
                <a:latin typeface="Times New Roman" pitchFamily="18" charset="0"/>
                <a:cs typeface="Times New Roman" pitchFamily="18" charset="0"/>
              </a:rPr>
              <a:t>involves prototyping efforts to resolve unexpected risks related to GUI, device interaction, performance, or technology maturity.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estimation is based on the standard estimates of the developer productivity in object points/months and the use of </a:t>
            </a:r>
            <a:r>
              <a:rPr lang="en-IN" sz="2400" dirty="0" smtClean="0">
                <a:latin typeface="Times New Roman" pitchFamily="18" charset="0"/>
                <a:cs typeface="Times New Roman" pitchFamily="18" charset="0"/>
              </a:rPr>
              <a:t>CAS</a:t>
            </a:r>
            <a:r>
              <a:rPr lang="en-IN" sz="2400" dirty="0">
                <a:latin typeface="Times New Roman" pitchFamily="18" charset="0"/>
                <a:cs typeface="Times New Roman" pitchFamily="18" charset="0"/>
              </a:rPr>
              <a:t>E tools to support development. </a:t>
            </a: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effort estimation in an application is computed as follows:</a:t>
            </a:r>
          </a:p>
          <a:p>
            <a:pPr marL="457200" lvl="1" indent="0" algn="just">
              <a:buNone/>
            </a:pPr>
            <a:r>
              <a:rPr lang="en-IN" sz="2400" dirty="0" smtClean="0">
                <a:latin typeface="Times New Roman" pitchFamily="18" charset="0"/>
                <a:cs typeface="Times New Roman" pitchFamily="18" charset="0"/>
              </a:rPr>
              <a:t>		Effort </a:t>
            </a:r>
            <a:r>
              <a:rPr lang="en-IN" sz="2400" i="1" dirty="0">
                <a:latin typeface="Times New Roman" pitchFamily="18" charset="0"/>
                <a:cs typeface="Times New Roman" pitchFamily="18" charset="0"/>
              </a:rPr>
              <a:t>(E)</a:t>
            </a:r>
            <a:r>
              <a:rPr lang="en-IN" sz="2400" dirty="0">
                <a:latin typeface="Times New Roman" pitchFamily="18" charset="0"/>
                <a:cs typeface="Times New Roman" pitchFamily="18" charset="0"/>
              </a:rPr>
              <a:t> = (∑AP × (1 - %reuse/100))/ </a:t>
            </a:r>
            <a:r>
              <a:rPr lang="en-IN" sz="2400" dirty="0" smtClean="0">
                <a:latin typeface="Times New Roman" pitchFamily="18" charset="0"/>
                <a:cs typeface="Times New Roman" pitchFamily="18" charset="0"/>
              </a:rPr>
              <a:t>PROD</a:t>
            </a:r>
          </a:p>
          <a:p>
            <a:pPr algn="just"/>
            <a:r>
              <a:rPr lang="en-IN" sz="2400" dirty="0">
                <a:latin typeface="Times New Roman" pitchFamily="18" charset="0"/>
                <a:cs typeface="Times New Roman" pitchFamily="18" charset="0"/>
              </a:rPr>
              <a:t>∑AP is the sum of application points in the system to be developed. PROD is the productivity of programmers from the historical data rated on some scale</a:t>
            </a:r>
            <a:r>
              <a:rPr lang="en-IN" sz="2400" dirty="0" smtClean="0">
                <a:latin typeface="Times New Roman" pitchFamily="18" charset="0"/>
                <a:cs typeface="Times New Roman" pitchFamily="18" charset="0"/>
              </a:rPr>
              <a:t>.</a:t>
            </a:r>
          </a:p>
          <a:p>
            <a:pPr algn="just"/>
            <a:r>
              <a:rPr lang="en-IN" sz="2400" dirty="0" smtClean="0">
                <a:latin typeface="Times New Roman" pitchFamily="18" charset="0"/>
                <a:cs typeface="Times New Roman" pitchFamily="18" charset="0"/>
              </a:rPr>
              <a:t>The PROD for the past projects is rated as very low = 4, low = 7, nominal = 13, high = 15, and very high = 50. Effort </a:t>
            </a:r>
            <a:r>
              <a:rPr lang="en-IN" sz="2400" i="1" dirty="0" smtClean="0">
                <a:latin typeface="Times New Roman" pitchFamily="18" charset="0"/>
                <a:cs typeface="Times New Roman" pitchFamily="18" charset="0"/>
              </a:rPr>
              <a:t>(E)</a:t>
            </a:r>
            <a:r>
              <a:rPr lang="en-IN" sz="2400" dirty="0" smtClean="0">
                <a:latin typeface="Times New Roman" pitchFamily="18" charset="0"/>
                <a:cs typeface="Times New Roman" pitchFamily="18" charset="0"/>
              </a:rPr>
              <a:t> will be measured in person-months (PM). %reuse is the percentage of reusable components that will be reused in the application.  </a:t>
            </a:r>
          </a:p>
          <a:p>
            <a:pPr marL="0" indent="0" algn="just">
              <a:buNone/>
            </a:pPr>
            <a:endParaRPr lang="en-IN" sz="2800" dirty="0"/>
          </a:p>
          <a:p>
            <a:pPr marL="457200" lvl="1" indent="0" algn="just">
              <a:buNone/>
            </a:pP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65</a:t>
            </a:fld>
            <a:endParaRPr lang="en-IN"/>
          </a:p>
        </p:txBody>
      </p:sp>
    </p:spTree>
    <p:extLst>
      <p:ext uri="{BB962C8B-B14F-4D97-AF65-F5344CB8AC3E}">
        <p14:creationId xmlns:p14="http://schemas.microsoft.com/office/powerpoint/2010/main" val="15311111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116632"/>
            <a:ext cx="8229600" cy="1143000"/>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p>
        </p:txBody>
      </p:sp>
      <p:sp>
        <p:nvSpPr>
          <p:cNvPr id="3" name="Content Placeholder 2"/>
          <p:cNvSpPr>
            <a:spLocks noGrp="1"/>
          </p:cNvSpPr>
          <p:nvPr>
            <p:ph idx="1"/>
          </p:nvPr>
        </p:nvSpPr>
        <p:spPr>
          <a:xfrm>
            <a:off x="395536" y="1340768"/>
            <a:ext cx="8229600" cy="5184576"/>
          </a:xfrm>
        </p:spPr>
        <p:txBody>
          <a:bodyPr>
            <a:noAutofit/>
          </a:bodyPr>
          <a:lstStyle/>
          <a:p>
            <a:pPr marL="0" indent="0" algn="just">
              <a:buNone/>
            </a:pPr>
            <a:r>
              <a:rPr lang="en-IN" sz="2400" dirty="0" smtClean="0">
                <a:solidFill>
                  <a:srgbClr val="00B0F0"/>
                </a:solidFill>
                <a:latin typeface="Times New Roman" pitchFamily="18" charset="0"/>
                <a:cs typeface="Times New Roman" pitchFamily="18" charset="0"/>
              </a:rPr>
              <a:t>Early </a:t>
            </a:r>
            <a:r>
              <a:rPr lang="en-IN" sz="2400" dirty="0">
                <a:solidFill>
                  <a:srgbClr val="00B0F0"/>
                </a:solidFill>
                <a:latin typeface="Times New Roman" pitchFamily="18" charset="0"/>
                <a:cs typeface="Times New Roman" pitchFamily="18" charset="0"/>
              </a:rPr>
              <a:t>Design Model </a:t>
            </a:r>
          </a:p>
          <a:p>
            <a:pPr algn="just"/>
            <a:r>
              <a:rPr lang="en-IN" sz="1900" dirty="0">
                <a:latin typeface="Times New Roman" pitchFamily="18" charset="0"/>
                <a:cs typeface="Times New Roman" pitchFamily="18" charset="0"/>
              </a:rPr>
              <a:t>The early design model is used when requirements are available but design has not yet commenced. </a:t>
            </a:r>
            <a:endParaRPr lang="en-IN" sz="1900" dirty="0" smtClean="0">
              <a:latin typeface="Times New Roman" pitchFamily="18" charset="0"/>
              <a:cs typeface="Times New Roman" pitchFamily="18" charset="0"/>
            </a:endParaRPr>
          </a:p>
          <a:p>
            <a:pPr algn="just"/>
            <a:r>
              <a:rPr lang="en-IN" sz="1900" dirty="0" smtClean="0">
                <a:latin typeface="Times New Roman" pitchFamily="18" charset="0"/>
                <a:cs typeface="Times New Roman" pitchFamily="18" charset="0"/>
              </a:rPr>
              <a:t>It </a:t>
            </a:r>
            <a:r>
              <a:rPr lang="en-IN" sz="1900" dirty="0">
                <a:latin typeface="Times New Roman" pitchFamily="18" charset="0"/>
                <a:cs typeface="Times New Roman" pitchFamily="18" charset="0"/>
              </a:rPr>
              <a:t>involves exploration of an alternative architecture or concept of operation. The estimation formula based on simple COCOMO is given as follows: </a:t>
            </a:r>
          </a:p>
          <a:p>
            <a:pPr marL="0" indent="0" algn="just">
              <a:buNone/>
            </a:pPr>
            <a:r>
              <a:rPr lang="en-IN" sz="1900" dirty="0">
                <a:latin typeface="Times New Roman" pitchFamily="18" charset="0"/>
                <a:cs typeface="Times New Roman" pitchFamily="18" charset="0"/>
              </a:rPr>
              <a:t> </a:t>
            </a:r>
            <a:r>
              <a:rPr lang="en-IN" sz="1900" dirty="0" smtClean="0">
                <a:latin typeface="Times New Roman" pitchFamily="18" charset="0"/>
                <a:cs typeface="Times New Roman" pitchFamily="18" charset="0"/>
              </a:rPr>
              <a:t>		Effort </a:t>
            </a:r>
            <a:r>
              <a:rPr lang="en-IN" sz="1900" dirty="0">
                <a:latin typeface="Times New Roman" pitchFamily="18" charset="0"/>
                <a:cs typeface="Times New Roman" pitchFamily="18" charset="0"/>
              </a:rPr>
              <a:t>(E</a:t>
            </a:r>
            <a:r>
              <a:rPr lang="en-IN" sz="1900" dirty="0" smtClean="0">
                <a:latin typeface="Times New Roman" pitchFamily="18" charset="0"/>
                <a:cs typeface="Times New Roman" pitchFamily="18" charset="0"/>
              </a:rPr>
              <a:t>) = </a:t>
            </a:r>
            <a:r>
              <a:rPr lang="en-IN" sz="1900" i="1" dirty="0" smtClean="0">
                <a:latin typeface="Times New Roman" pitchFamily="18" charset="0"/>
                <a:cs typeface="Times New Roman" pitchFamily="18" charset="0"/>
              </a:rPr>
              <a:t>A</a:t>
            </a:r>
            <a:r>
              <a:rPr lang="en-IN" sz="1900" dirty="0" smtClean="0">
                <a:latin typeface="Times New Roman" pitchFamily="18" charset="0"/>
                <a:cs typeface="Times New Roman" pitchFamily="18" charset="0"/>
              </a:rPr>
              <a:t> </a:t>
            </a:r>
            <a:r>
              <a:rPr lang="en-IN" sz="1900" dirty="0">
                <a:latin typeface="Times New Roman" pitchFamily="18" charset="0"/>
                <a:cs typeface="Times New Roman" pitchFamily="18" charset="0"/>
              </a:rPr>
              <a:t>× Size </a:t>
            </a:r>
            <a:r>
              <a:rPr lang="en-IN" sz="1900" baseline="30000" dirty="0">
                <a:latin typeface="Times New Roman" pitchFamily="18" charset="0"/>
                <a:cs typeface="Times New Roman" pitchFamily="18" charset="0"/>
              </a:rPr>
              <a:t>B</a:t>
            </a:r>
            <a:r>
              <a:rPr lang="en-IN" sz="1900" dirty="0">
                <a:latin typeface="Times New Roman" pitchFamily="18" charset="0"/>
                <a:cs typeface="Times New Roman" pitchFamily="18" charset="0"/>
              </a:rPr>
              <a:t> × </a:t>
            </a:r>
            <a:r>
              <a:rPr lang="en-IN" sz="1900" dirty="0" smtClean="0">
                <a:latin typeface="Times New Roman" pitchFamily="18" charset="0"/>
                <a:cs typeface="Times New Roman" pitchFamily="18" charset="0"/>
              </a:rPr>
              <a:t>EAF</a:t>
            </a:r>
            <a:r>
              <a:rPr lang="en-IN" sz="1900" dirty="0">
                <a:latin typeface="Times New Roman" pitchFamily="18" charset="0"/>
                <a:cs typeface="Times New Roman" pitchFamily="18" charset="0"/>
              </a:rPr>
              <a:t> </a:t>
            </a:r>
            <a:endParaRPr lang="en-IN" sz="1900" dirty="0" smtClean="0">
              <a:latin typeface="Times New Roman" pitchFamily="18" charset="0"/>
              <a:cs typeface="Times New Roman" pitchFamily="18" charset="0"/>
            </a:endParaRPr>
          </a:p>
          <a:p>
            <a:pPr algn="just"/>
            <a:r>
              <a:rPr lang="en-IN" sz="1900" i="1" dirty="0" smtClean="0">
                <a:latin typeface="Times New Roman" pitchFamily="18" charset="0"/>
                <a:cs typeface="Times New Roman" pitchFamily="18" charset="0"/>
              </a:rPr>
              <a:t>A </a:t>
            </a:r>
            <a:r>
              <a:rPr lang="en-IN" sz="1900" dirty="0" smtClean="0">
                <a:latin typeface="Times New Roman" pitchFamily="18" charset="0"/>
                <a:cs typeface="Times New Roman" pitchFamily="18" charset="0"/>
              </a:rPr>
              <a:t>and </a:t>
            </a:r>
            <a:r>
              <a:rPr lang="en-IN" sz="1900" i="1" dirty="0" smtClean="0">
                <a:latin typeface="Times New Roman" pitchFamily="18" charset="0"/>
                <a:cs typeface="Times New Roman" pitchFamily="18" charset="0"/>
              </a:rPr>
              <a:t>B</a:t>
            </a:r>
            <a:r>
              <a:rPr lang="en-IN" sz="1900" dirty="0" smtClean="0">
                <a:latin typeface="Times New Roman" pitchFamily="18" charset="0"/>
                <a:cs typeface="Times New Roman" pitchFamily="18" charset="0"/>
              </a:rPr>
              <a:t> are constants. The value of </a:t>
            </a:r>
            <a:r>
              <a:rPr lang="en-IN" sz="1900" i="1" dirty="0" smtClean="0">
                <a:latin typeface="Times New Roman" pitchFamily="18" charset="0"/>
                <a:cs typeface="Times New Roman" pitchFamily="18" charset="0"/>
              </a:rPr>
              <a:t>A</a:t>
            </a:r>
            <a:r>
              <a:rPr lang="en-IN" sz="1900" dirty="0" smtClean="0">
                <a:latin typeface="Times New Roman" pitchFamily="18" charset="0"/>
                <a:cs typeface="Times New Roman" pitchFamily="18" charset="0"/>
              </a:rPr>
              <a:t> is fixed at 2.94 from a large data set. </a:t>
            </a:r>
          </a:p>
          <a:p>
            <a:pPr algn="just"/>
            <a:r>
              <a:rPr lang="en-IN" sz="1900" dirty="0" smtClean="0">
                <a:latin typeface="Times New Roman" pitchFamily="18" charset="0"/>
                <a:cs typeface="Times New Roman" pitchFamily="18" charset="0"/>
              </a:rPr>
              <a:t>The </a:t>
            </a:r>
            <a:r>
              <a:rPr lang="en-IN" sz="1900" dirty="0">
                <a:latin typeface="Times New Roman" pitchFamily="18" charset="0"/>
                <a:cs typeface="Times New Roman" pitchFamily="18" charset="0"/>
              </a:rPr>
              <a:t>value of </a:t>
            </a:r>
            <a:r>
              <a:rPr lang="en-IN" sz="1900" i="1" dirty="0">
                <a:latin typeface="Times New Roman" pitchFamily="18" charset="0"/>
                <a:cs typeface="Times New Roman" pitchFamily="18" charset="0"/>
              </a:rPr>
              <a:t>B</a:t>
            </a:r>
            <a:r>
              <a:rPr lang="en-IN" sz="1900" dirty="0">
                <a:latin typeface="Times New Roman" pitchFamily="18" charset="0"/>
                <a:cs typeface="Times New Roman" pitchFamily="18" charset="0"/>
              </a:rPr>
              <a:t> varies with the project size and it can range from 1.1 to 1.24, depending on the project complexity, process maturity level, development flexibility, risk resolution processes, and cohesion of the development team in an organization. </a:t>
            </a:r>
            <a:endParaRPr lang="en-IN" sz="1900" dirty="0" smtClean="0">
              <a:latin typeface="Times New Roman" pitchFamily="18" charset="0"/>
              <a:cs typeface="Times New Roman" pitchFamily="18" charset="0"/>
            </a:endParaRPr>
          </a:p>
          <a:p>
            <a:pPr algn="just"/>
            <a:r>
              <a:rPr lang="en-US" sz="1900" dirty="0" smtClean="0">
                <a:latin typeface="Times New Roman" pitchFamily="18" charset="0"/>
                <a:cs typeface="Times New Roman" pitchFamily="18" charset="0"/>
              </a:rPr>
              <a:t>EAF is the effort adjustment factor based on seven characteristics of projects and processes such as, product reliability and complexity (RCPX), reuse required (RUSE), platform difficulty (PDIF), personnel capability (PERS), personnel experience (PREX), schedule (SCED) and support facilities (FCIL).</a:t>
            </a:r>
            <a:endParaRPr lang="en-IN" sz="1900" b="1" dirty="0" smtClean="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66</a:t>
            </a:fld>
            <a:endParaRPr lang="en-IN"/>
          </a:p>
        </p:txBody>
      </p:sp>
    </p:spTree>
    <p:extLst>
      <p:ext uri="{BB962C8B-B14F-4D97-AF65-F5344CB8AC3E}">
        <p14:creationId xmlns:p14="http://schemas.microsoft.com/office/powerpoint/2010/main" val="8350533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0" indent="0" algn="just">
              <a:buNone/>
            </a:pPr>
            <a:r>
              <a:rPr lang="en-IN" sz="2400" dirty="0">
                <a:solidFill>
                  <a:srgbClr val="00B0F0"/>
                </a:solidFill>
                <a:latin typeface="Times New Roman" pitchFamily="18" charset="0"/>
                <a:cs typeface="Times New Roman" pitchFamily="18" charset="0"/>
              </a:rPr>
              <a:t>Post-Architecture Model </a:t>
            </a:r>
          </a:p>
          <a:p>
            <a:pPr algn="just"/>
            <a:r>
              <a:rPr lang="en-IN" sz="2200" dirty="0">
                <a:latin typeface="Times New Roman" pitchFamily="18" charset="0"/>
                <a:cs typeface="Times New Roman" pitchFamily="18" charset="0"/>
              </a:rPr>
              <a:t>This model is used once the system architecture has been designed and sufficient information is available for the development and maintenance of the system.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Estimation </a:t>
            </a:r>
            <a:r>
              <a:rPr lang="en-IN" sz="2200" dirty="0">
                <a:latin typeface="Times New Roman" pitchFamily="18" charset="0"/>
                <a:cs typeface="Times New Roman" pitchFamily="18" charset="0"/>
              </a:rPr>
              <a:t>is determined using the estimation formula of early design model as follows: </a:t>
            </a:r>
          </a:p>
          <a:p>
            <a:pPr marL="0" indent="0" algn="just">
              <a:buNone/>
            </a:pPr>
            <a:r>
              <a:rPr lang="en-IN" sz="2200" dirty="0" smtClean="0">
                <a:latin typeface="Times New Roman" pitchFamily="18" charset="0"/>
                <a:cs typeface="Times New Roman" pitchFamily="18" charset="0"/>
              </a:rPr>
              <a:t>	Effort </a:t>
            </a:r>
            <a:r>
              <a:rPr lang="en-IN" sz="2200" dirty="0">
                <a:latin typeface="Times New Roman" pitchFamily="18" charset="0"/>
                <a:cs typeface="Times New Roman" pitchFamily="18" charset="0"/>
              </a:rPr>
              <a:t>(E</a:t>
            </a:r>
            <a:r>
              <a:rPr lang="en-IN" sz="2200" dirty="0" smtClean="0">
                <a:latin typeface="Times New Roman" pitchFamily="18" charset="0"/>
                <a:cs typeface="Times New Roman" pitchFamily="18" charset="0"/>
              </a:rPr>
              <a:t>) </a:t>
            </a:r>
            <a:r>
              <a:rPr lang="en-IN" sz="2200" dirty="0">
                <a:latin typeface="Times New Roman" pitchFamily="18" charset="0"/>
                <a:cs typeface="Times New Roman" pitchFamily="18" charset="0"/>
              </a:rPr>
              <a:t>= </a:t>
            </a:r>
            <a:r>
              <a:rPr lang="en-IN" sz="2200" i="1" dirty="0" smtClean="0">
                <a:latin typeface="Times New Roman" pitchFamily="18" charset="0"/>
                <a:cs typeface="Times New Roman" pitchFamily="18" charset="0"/>
              </a:rPr>
              <a:t>A</a:t>
            </a:r>
            <a:r>
              <a:rPr lang="en-IN" sz="2200" dirty="0" smtClean="0">
                <a:latin typeface="Times New Roman" pitchFamily="18" charset="0"/>
                <a:cs typeface="Times New Roman" pitchFamily="18" charset="0"/>
              </a:rPr>
              <a:t> </a:t>
            </a:r>
            <a:r>
              <a:rPr lang="en-IN" sz="2200" dirty="0">
                <a:latin typeface="Times New Roman" pitchFamily="18" charset="0"/>
                <a:cs typeface="Times New Roman" pitchFamily="18" charset="0"/>
              </a:rPr>
              <a:t>× Size </a:t>
            </a:r>
            <a:r>
              <a:rPr lang="en-IN" sz="2200" i="1" baseline="30000" dirty="0">
                <a:latin typeface="Times New Roman" pitchFamily="18" charset="0"/>
                <a:cs typeface="Times New Roman" pitchFamily="18" charset="0"/>
              </a:rPr>
              <a:t>B</a:t>
            </a:r>
            <a:r>
              <a:rPr lang="en-IN" sz="2200" dirty="0">
                <a:latin typeface="Times New Roman" pitchFamily="18" charset="0"/>
                <a:cs typeface="Times New Roman" pitchFamily="18" charset="0"/>
              </a:rPr>
              <a:t> × EAF</a:t>
            </a:r>
          </a:p>
          <a:p>
            <a:pPr algn="just"/>
            <a:r>
              <a:rPr lang="en-IN" sz="2200" dirty="0">
                <a:latin typeface="Times New Roman" pitchFamily="18" charset="0"/>
                <a:cs typeface="Times New Roman" pitchFamily="18" charset="0"/>
              </a:rPr>
              <a:t>K</a:t>
            </a:r>
            <a:r>
              <a:rPr lang="en-IN" sz="2200" dirty="0" smtClean="0">
                <a:latin typeface="Times New Roman" pitchFamily="18" charset="0"/>
                <a:cs typeface="Times New Roman" pitchFamily="18" charset="0"/>
              </a:rPr>
              <a:t>LOC </a:t>
            </a:r>
            <a:r>
              <a:rPr lang="en-IN" sz="2200" dirty="0">
                <a:latin typeface="Times New Roman" pitchFamily="18" charset="0"/>
                <a:cs typeface="Times New Roman" pitchFamily="18" charset="0"/>
              </a:rPr>
              <a:t>or FP can be used for determining the project size.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There are 17 instead of 7 multiplicative cost </a:t>
            </a:r>
            <a:r>
              <a:rPr lang="en-IN" sz="2200" dirty="0" smtClean="0">
                <a:latin typeface="Times New Roman" pitchFamily="18" charset="0"/>
                <a:cs typeface="Times New Roman" pitchFamily="18" charset="0"/>
              </a:rPr>
              <a:t>drivers.</a:t>
            </a:r>
            <a:endParaRPr lang="en-IN" sz="2200" dirty="0">
              <a:latin typeface="Times New Roman" pitchFamily="18" charset="0"/>
              <a:cs typeface="Times New Roman" pitchFamily="18" charset="0"/>
            </a:endParaRPr>
          </a:p>
          <a:p>
            <a:pPr algn="just"/>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67</a:t>
            </a:fld>
            <a:endParaRPr lang="en-IN"/>
          </a:p>
        </p:txBody>
      </p:sp>
    </p:spTree>
    <p:extLst>
      <p:ext uri="{BB962C8B-B14F-4D97-AF65-F5344CB8AC3E}">
        <p14:creationId xmlns:p14="http://schemas.microsoft.com/office/powerpoint/2010/main" val="12530260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3200" b="1" dirty="0" smtClean="0">
                <a:solidFill>
                  <a:srgbClr val="0000FF"/>
                </a:solidFill>
                <a:latin typeface="Times New Roman" pitchFamily="18" charset="0"/>
                <a:cs typeface="Times New Roman" pitchFamily="18" charset="0"/>
              </a:rPr>
              <a:t>Effort Estimation Techniques</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68</a:t>
            </a:fld>
            <a:endParaRPr lang="en-IN"/>
          </a:p>
        </p:txBody>
      </p:sp>
      <p:graphicFrame>
        <p:nvGraphicFramePr>
          <p:cNvPr id="5" name="Table 4"/>
          <p:cNvGraphicFramePr>
            <a:graphicFrameLocks noGrp="1"/>
          </p:cNvGraphicFramePr>
          <p:nvPr/>
        </p:nvGraphicFramePr>
        <p:xfrm>
          <a:off x="467544" y="1988840"/>
          <a:ext cx="8208912" cy="4392486"/>
        </p:xfrm>
        <a:graphic>
          <a:graphicData uri="http://schemas.openxmlformats.org/drawingml/2006/table">
            <a:tbl>
              <a:tblPr/>
              <a:tblGrid>
                <a:gridCol w="4761169">
                  <a:extLst>
                    <a:ext uri="{9D8B030D-6E8A-4147-A177-3AD203B41FA5}">
                      <a16:colId xmlns:a16="http://schemas.microsoft.com/office/drawing/2014/main" val="20000"/>
                    </a:ext>
                  </a:extLst>
                </a:gridCol>
                <a:gridCol w="1221304">
                  <a:extLst>
                    <a:ext uri="{9D8B030D-6E8A-4147-A177-3AD203B41FA5}">
                      <a16:colId xmlns:a16="http://schemas.microsoft.com/office/drawing/2014/main" val="20001"/>
                    </a:ext>
                  </a:extLst>
                </a:gridCol>
                <a:gridCol w="2226439">
                  <a:extLst>
                    <a:ext uri="{9D8B030D-6E8A-4147-A177-3AD203B41FA5}">
                      <a16:colId xmlns:a16="http://schemas.microsoft.com/office/drawing/2014/main" val="20002"/>
                    </a:ext>
                  </a:extLst>
                </a:gridCol>
              </a:tblGrid>
              <a:tr h="244027">
                <a:tc>
                  <a:txBody>
                    <a:bodyPr/>
                    <a:lstStyle/>
                    <a:p>
                      <a:pPr>
                        <a:lnSpc>
                          <a:spcPct val="115000"/>
                        </a:lnSpc>
                        <a:spcAft>
                          <a:spcPts val="0"/>
                        </a:spcAft>
                      </a:pPr>
                      <a:r>
                        <a:rPr lang="en-US" sz="1200" dirty="0">
                          <a:solidFill>
                            <a:srgbClr val="000000"/>
                          </a:solidFill>
                          <a:latin typeface="Times New Roman"/>
                          <a:ea typeface="Calibri"/>
                          <a:cs typeface="Times New Roman"/>
                        </a:rPr>
                        <a:t>Cost drivers </a:t>
                      </a:r>
                      <a:endParaRPr lang="en-IN" sz="1100" dirty="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Attributes</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Category</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Required system reliability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RELY</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Product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Product complexity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CPLX</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Product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Required level of documentation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DOCU</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Product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44027">
                <a:tc>
                  <a:txBody>
                    <a:bodyPr/>
                    <a:lstStyle/>
                    <a:p>
                      <a:pPr>
                        <a:lnSpc>
                          <a:spcPct val="115000"/>
                        </a:lnSpc>
                        <a:spcAft>
                          <a:spcPts val="1000"/>
                        </a:spcAft>
                      </a:pPr>
                      <a:r>
                        <a:rPr lang="en-US" sz="1200" dirty="0">
                          <a:solidFill>
                            <a:srgbClr val="000000"/>
                          </a:solidFill>
                          <a:latin typeface="Times New Roman"/>
                          <a:ea typeface="Calibri"/>
                          <a:cs typeface="Times New Roman"/>
                        </a:rPr>
                        <a:t>Database size </a:t>
                      </a:r>
                      <a:endParaRPr lang="en-IN" sz="1100" dirty="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DATA</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Product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Percentage of reusable components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RUSE</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Product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Execution time constraint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TIME</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Computer</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Development platform volatility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PVOL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Computer</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Memory constraints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STOR</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Computer</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Analysts capability</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ACAP</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Personnel continuity</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PCON</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Programmer capability</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PCAP</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Programmer experience in application</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PEXP</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Analyst experience in project domain</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AEXP</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Language and tool experience</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LTEX</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Personnel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Use of software tools</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TOOL</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Project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Development schedule</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SCED</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Project</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6"/>
                  </a:ext>
                </a:extLst>
              </a:tr>
              <a:tr h="244027">
                <a:tc>
                  <a:txBody>
                    <a:bodyPr/>
                    <a:lstStyle/>
                    <a:p>
                      <a:pPr>
                        <a:lnSpc>
                          <a:spcPct val="115000"/>
                        </a:lnSpc>
                        <a:spcAft>
                          <a:spcPts val="1000"/>
                        </a:spcAft>
                      </a:pPr>
                      <a:r>
                        <a:rPr lang="en-US" sz="1200">
                          <a:solidFill>
                            <a:srgbClr val="000000"/>
                          </a:solidFill>
                          <a:latin typeface="Times New Roman"/>
                          <a:ea typeface="Calibri"/>
                          <a:cs typeface="Times New Roman"/>
                        </a:rPr>
                        <a:t>Multisite working </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a:solidFill>
                            <a:srgbClr val="000000"/>
                          </a:solidFill>
                          <a:latin typeface="Times New Roman"/>
                          <a:ea typeface="Calibri"/>
                          <a:cs typeface="Times New Roman"/>
                        </a:rPr>
                        <a:t>SITE</a:t>
                      </a:r>
                      <a:endParaRPr lang="en-IN" sz="110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0"/>
                        </a:spcAft>
                      </a:pPr>
                      <a:r>
                        <a:rPr lang="en-US" sz="1200" dirty="0">
                          <a:solidFill>
                            <a:srgbClr val="000000"/>
                          </a:solidFill>
                          <a:latin typeface="Times New Roman"/>
                          <a:ea typeface="Calibri"/>
                          <a:cs typeface="Times New Roman"/>
                        </a:rPr>
                        <a:t>Project</a:t>
                      </a:r>
                      <a:endParaRPr lang="en-IN" sz="1100" dirty="0">
                        <a:latin typeface="Calibri"/>
                        <a:ea typeface="Times New Roman"/>
                        <a:cs typeface="Times New Roman"/>
                      </a:endParaRPr>
                    </a:p>
                  </a:txBody>
                  <a:tcPr marL="67733" marR="67733"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7"/>
                  </a:ext>
                </a:extLst>
              </a:tr>
            </a:tbl>
          </a:graphicData>
        </a:graphic>
      </p:graphicFrame>
      <p:sp>
        <p:nvSpPr>
          <p:cNvPr id="6" name="Rectangle 5"/>
          <p:cNvSpPr/>
          <p:nvPr/>
        </p:nvSpPr>
        <p:spPr>
          <a:xfrm>
            <a:off x="467544" y="1484784"/>
            <a:ext cx="6601166" cy="461665"/>
          </a:xfrm>
          <a:prstGeom prst="rect">
            <a:avLst/>
          </a:prstGeom>
        </p:spPr>
        <p:txBody>
          <a:bodyPr wrap="none">
            <a:spAutoFit/>
          </a:bodyPr>
          <a:lstStyle/>
          <a:p>
            <a:r>
              <a:rPr lang="en-IN" sz="2400" dirty="0" smtClean="0">
                <a:solidFill>
                  <a:srgbClr val="00B0F0"/>
                </a:solidFill>
                <a:latin typeface="Times New Roman" pitchFamily="18" charset="0"/>
                <a:cs typeface="Times New Roman" pitchFamily="18" charset="0"/>
              </a:rPr>
              <a:t>Post-Architecture Model: </a:t>
            </a:r>
            <a:r>
              <a:rPr lang="en-US" sz="2400" dirty="0" smtClean="0">
                <a:latin typeface="Times New Roman" pitchFamily="18" charset="0"/>
                <a:cs typeface="Times New Roman" pitchFamily="18" charset="0"/>
              </a:rPr>
              <a:t>Multiplicative cost drivers</a:t>
            </a:r>
            <a:endParaRPr lang="en-IN" sz="2400" dirty="0">
              <a:solidFill>
                <a:srgbClr val="00B0F0"/>
              </a:solidFill>
              <a:latin typeface="Times New Roman" pitchFamily="18" charset="0"/>
              <a:cs typeface="Times New Roman"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0" indent="0">
              <a:buNone/>
            </a:pPr>
            <a:r>
              <a:rPr lang="en-IN" sz="2400" dirty="0">
                <a:solidFill>
                  <a:srgbClr val="00B0F0"/>
                </a:solidFill>
                <a:latin typeface="Times New Roman" pitchFamily="18" charset="0"/>
                <a:cs typeface="Times New Roman" pitchFamily="18" charset="0"/>
              </a:rPr>
              <a:t>Post-Architecture Model </a:t>
            </a:r>
          </a:p>
          <a:p>
            <a:pPr lvl="0"/>
            <a:r>
              <a:rPr lang="en-IN" sz="2200" dirty="0">
                <a:latin typeface="Times New Roman" pitchFamily="18" charset="0"/>
                <a:cs typeface="Times New Roman" pitchFamily="18" charset="0"/>
              </a:rPr>
              <a:t>The following five factors determine the project’s scaling exponent </a:t>
            </a:r>
            <a:r>
              <a:rPr lang="en-IN" sz="2200" i="1" dirty="0">
                <a:latin typeface="Times New Roman" pitchFamily="18" charset="0"/>
                <a:cs typeface="Times New Roman" pitchFamily="18" charset="0"/>
              </a:rPr>
              <a:t>B</a:t>
            </a:r>
            <a:r>
              <a:rPr lang="en-IN" sz="2200" dirty="0">
                <a:latin typeface="Times New Roman" pitchFamily="18" charset="0"/>
                <a:cs typeface="Times New Roman" pitchFamily="18" charset="0"/>
              </a:rPr>
              <a:t>. The value of these factors is added (for example, here it is 16) and their value in percentage (i.e. .16) is added to 1.01 to get a value of 1.17. </a:t>
            </a:r>
          </a:p>
          <a:p>
            <a:pPr marL="0" indent="0">
              <a:buNone/>
            </a:pPr>
            <a:r>
              <a:rPr lang="en-IN" sz="1800" dirty="0" smtClean="0"/>
              <a:t> </a:t>
            </a:r>
            <a:r>
              <a:rPr lang="en-IN" sz="1800" dirty="0"/>
              <a:t>						</a:t>
            </a:r>
            <a:r>
              <a:rPr lang="en-IN" sz="1800" dirty="0" smtClean="0"/>
              <a:t> </a:t>
            </a:r>
            <a:r>
              <a:rPr lang="en-IN" sz="1800" dirty="0"/>
              <a:t>				</a:t>
            </a:r>
          </a:p>
        </p:txBody>
      </p:sp>
      <p:graphicFrame>
        <p:nvGraphicFramePr>
          <p:cNvPr id="4" name="Table 3"/>
          <p:cNvGraphicFramePr>
            <a:graphicFrameLocks noGrp="1"/>
          </p:cNvGraphicFramePr>
          <p:nvPr>
            <p:extLst>
              <p:ext uri="{D42A27DB-BD31-4B8C-83A1-F6EECF244321}">
                <p14:modId xmlns:p14="http://schemas.microsoft.com/office/powerpoint/2010/main" val="3316519165"/>
              </p:ext>
            </p:extLst>
          </p:nvPr>
        </p:nvGraphicFramePr>
        <p:xfrm>
          <a:off x="357158" y="3643314"/>
          <a:ext cx="8352929" cy="1854200"/>
        </p:xfrm>
        <a:graphic>
          <a:graphicData uri="http://schemas.openxmlformats.org/drawingml/2006/table">
            <a:tbl>
              <a:tblPr firstRow="1" bandRow="1">
                <a:tableStyleId>{BDBED569-4797-4DF1-A0F4-6AAB3CD982D8}</a:tableStyleId>
              </a:tblPr>
              <a:tblGrid>
                <a:gridCol w="2784310">
                  <a:extLst>
                    <a:ext uri="{9D8B030D-6E8A-4147-A177-3AD203B41FA5}">
                      <a16:colId xmlns:a16="http://schemas.microsoft.com/office/drawing/2014/main" val="20000"/>
                    </a:ext>
                  </a:extLst>
                </a:gridCol>
                <a:gridCol w="2889379">
                  <a:extLst>
                    <a:ext uri="{9D8B030D-6E8A-4147-A177-3AD203B41FA5}">
                      <a16:colId xmlns:a16="http://schemas.microsoft.com/office/drawing/2014/main" val="20001"/>
                    </a:ext>
                  </a:extLst>
                </a:gridCol>
                <a:gridCol w="2679240">
                  <a:extLst>
                    <a:ext uri="{9D8B030D-6E8A-4147-A177-3AD203B41FA5}">
                      <a16:colId xmlns:a16="http://schemas.microsoft.com/office/drawing/2014/main" val="20002"/>
                    </a:ext>
                  </a:extLst>
                </a:gridCol>
              </a:tblGrid>
              <a:tr h="370840">
                <a:tc>
                  <a:txBody>
                    <a:bodyPr/>
                    <a:lstStyle/>
                    <a:p>
                      <a:pPr algn="l"/>
                      <a:r>
                        <a:rPr lang="en-IN" sz="1800" dirty="0" err="1" smtClean="0">
                          <a:latin typeface="Times New Roman" pitchFamily="18" charset="0"/>
                          <a:cs typeface="Times New Roman" pitchFamily="18" charset="0"/>
                        </a:rPr>
                        <a:t>Precedentedness</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25400" cmpd="sng">
                      <a:noFill/>
                    </a:lnB>
                    <a:lnTlToBr w="12700" cmpd="sng">
                      <a:noFill/>
                      <a:prstDash val="solid"/>
                    </a:lnTlToBr>
                    <a:lnBlToTr w="12700" cmpd="sng">
                      <a:noFill/>
                      <a:prstDash val="solid"/>
                    </a:lnBlToTr>
                  </a:tcPr>
                </a:tc>
                <a:tc>
                  <a:txBody>
                    <a:bodyPr/>
                    <a:lstStyle/>
                    <a:p>
                      <a:pPr algn="l"/>
                      <a:r>
                        <a:rPr lang="en-IN" sz="1800" dirty="0" smtClean="0">
                          <a:latin typeface="Times New Roman" pitchFamily="18" charset="0"/>
                          <a:cs typeface="Times New Roman" pitchFamily="18" charset="0"/>
                        </a:rPr>
                        <a:t>--New project </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254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--Rated low (4)</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254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70840">
                <a:tc>
                  <a:txBody>
                    <a:bodyPr/>
                    <a:lstStyle/>
                    <a:p>
                      <a:pPr algn="l"/>
                      <a:r>
                        <a:rPr lang="en-IN" sz="1800" dirty="0" smtClean="0">
                          <a:latin typeface="Times New Roman" pitchFamily="18" charset="0"/>
                          <a:cs typeface="Times New Roman" pitchFamily="18" charset="0"/>
                        </a:rPr>
                        <a:t>Development flexibility</a:t>
                      </a:r>
                      <a:endParaRPr lang="en-IN" sz="1800" b="0" dirty="0">
                        <a:latin typeface="Times New Roman" pitchFamily="18" charset="0"/>
                        <a:cs typeface="Times New Roman" pitchFamily="18" charset="0"/>
                      </a:endParaRPr>
                    </a:p>
                  </a:txBody>
                  <a:tcPr anchor="ctr">
                    <a:lnL w="12700" cmpd="sng">
                      <a:noFill/>
                    </a:lnL>
                    <a:lnR w="12700" cmpd="sng">
                      <a:noFill/>
                    </a:lnR>
                    <a:lnT w="25400" cmpd="sng">
                      <a:noFill/>
                    </a:lnT>
                    <a:lnB w="12700" cmpd="sng">
                      <a:noFill/>
                    </a:lnB>
                    <a:lnTlToBr w="12700" cmpd="sng">
                      <a:noFill/>
                      <a:prstDash val="solid"/>
                    </a:lnTlToBr>
                    <a:lnBlToTr w="12700" cmpd="sng">
                      <a:noFill/>
                      <a:prstDash val="solid"/>
                    </a:lnBlToTr>
                    <a:noFill/>
                  </a:tcPr>
                </a:tc>
                <a:tc>
                  <a:txBody>
                    <a:bodyPr/>
                    <a:lstStyle/>
                    <a:p>
                      <a:pPr algn="l"/>
                      <a:r>
                        <a:rPr lang="en-IN" sz="1800" dirty="0" smtClean="0">
                          <a:latin typeface="Times New Roman" pitchFamily="18" charset="0"/>
                          <a:cs typeface="Times New Roman" pitchFamily="18" charset="0"/>
                        </a:rPr>
                        <a:t>--No client involvement</a:t>
                      </a:r>
                      <a:endParaRPr lang="en-IN" sz="1800" b="0" dirty="0">
                        <a:latin typeface="Times New Roman" pitchFamily="18" charset="0"/>
                        <a:cs typeface="Times New Roman" pitchFamily="18" charset="0"/>
                      </a:endParaRPr>
                    </a:p>
                  </a:txBody>
                  <a:tcPr anchor="ctr">
                    <a:lnL w="12700" cmpd="sng">
                      <a:noFill/>
                    </a:lnL>
                    <a:lnR w="12700" cmpd="sng">
                      <a:noFill/>
                    </a:lnR>
                    <a:lnT w="254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--Rated very high (1)</a:t>
                      </a:r>
                      <a:endParaRPr lang="en-IN" sz="1800" b="0" dirty="0">
                        <a:latin typeface="Times New Roman" pitchFamily="18" charset="0"/>
                        <a:cs typeface="Times New Roman" pitchFamily="18" charset="0"/>
                      </a:endParaRPr>
                    </a:p>
                  </a:txBody>
                  <a:tcPr anchor="ctr">
                    <a:lnL w="12700" cmpd="sng">
                      <a:noFill/>
                    </a:lnL>
                    <a:lnR w="12700" cmpd="sng">
                      <a:noFill/>
                    </a:lnR>
                    <a:lnT w="254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70840">
                <a:tc>
                  <a:txBody>
                    <a:bodyPr/>
                    <a:lstStyle/>
                    <a:p>
                      <a:pPr algn="l"/>
                      <a:r>
                        <a:rPr lang="en-IN" sz="1800" dirty="0" smtClean="0">
                          <a:latin typeface="Times New Roman" pitchFamily="18" charset="0"/>
                          <a:cs typeface="Times New Roman" pitchFamily="18" charset="0"/>
                        </a:rPr>
                        <a:t>Architecture/risk resolution </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sz="1800" dirty="0" smtClean="0">
                          <a:latin typeface="Times New Roman" pitchFamily="18" charset="0"/>
                          <a:cs typeface="Times New Roman" pitchFamily="18" charset="0"/>
                        </a:rPr>
                        <a:t>--No risk analysis carried out</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--Rated very low (5)</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70840">
                <a:tc>
                  <a:txBody>
                    <a:bodyPr/>
                    <a:lstStyle/>
                    <a:p>
                      <a:pPr algn="l"/>
                      <a:r>
                        <a:rPr lang="en-IN" sz="1800" dirty="0" smtClean="0">
                          <a:latin typeface="Times New Roman" pitchFamily="18" charset="0"/>
                          <a:cs typeface="Times New Roman" pitchFamily="18" charset="0"/>
                        </a:rPr>
                        <a:t> Team cohesion </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IN" sz="1800" dirty="0" smtClean="0">
                          <a:latin typeface="Times New Roman" pitchFamily="18" charset="0"/>
                          <a:cs typeface="Times New Roman" pitchFamily="18" charset="0"/>
                        </a:rPr>
                        <a:t>--New team  	</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--Rated nominal (3)</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70840">
                <a:tc>
                  <a:txBody>
                    <a:bodyPr/>
                    <a:lstStyle/>
                    <a:p>
                      <a:pPr algn="l"/>
                      <a:r>
                        <a:rPr lang="en-IN" sz="1800" dirty="0" smtClean="0">
                          <a:latin typeface="Times New Roman" pitchFamily="18" charset="0"/>
                          <a:cs typeface="Times New Roman" pitchFamily="18" charset="0"/>
                        </a:rPr>
                        <a:t>Process maturity</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--Process in control </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smtClean="0">
                          <a:latin typeface="Times New Roman" pitchFamily="18" charset="0"/>
                          <a:cs typeface="Times New Roman" pitchFamily="18" charset="0"/>
                        </a:rPr>
                        <a:t>--Rated nominal (3)</a:t>
                      </a:r>
                      <a:endParaRPr lang="en-IN" sz="1800" b="0" dirty="0">
                        <a:latin typeface="Times New Roman" pitchFamily="18" charset="0"/>
                        <a:cs typeface="Times New Roman" pitchFamily="18"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sp>
        <p:nvSpPr>
          <p:cNvPr id="5" name="Slide Number Placeholder 4"/>
          <p:cNvSpPr>
            <a:spLocks noGrp="1"/>
          </p:cNvSpPr>
          <p:nvPr>
            <p:ph type="sldNum" sz="quarter" idx="12"/>
          </p:nvPr>
        </p:nvSpPr>
        <p:spPr/>
        <p:txBody>
          <a:bodyPr/>
          <a:lstStyle/>
          <a:p>
            <a:fld id="{0C087B72-CC60-4FF0-9C96-8509CDF76D05}" type="slidenum">
              <a:rPr lang="en-IN" smtClean="0"/>
              <a:pPr/>
              <a:t>69</a:t>
            </a:fld>
            <a:endParaRPr lang="en-IN"/>
          </a:p>
        </p:txBody>
      </p:sp>
    </p:spTree>
    <p:extLst>
      <p:ext uri="{BB962C8B-B14F-4D97-AF65-F5344CB8AC3E}">
        <p14:creationId xmlns:p14="http://schemas.microsoft.com/office/powerpoint/2010/main" val="4852771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fontScale="92500" lnSpcReduction="10000"/>
          </a:bodyPr>
          <a:lstStyle/>
          <a:p>
            <a:pPr marL="0" indent="0" algn="just">
              <a:buNone/>
            </a:pPr>
            <a:r>
              <a:rPr lang="en-IN" sz="2600" dirty="0" smtClean="0">
                <a:solidFill>
                  <a:srgbClr val="00B0F0"/>
                </a:solidFill>
                <a:latin typeface="Times New Roman" pitchFamily="18" charset="0"/>
                <a:cs typeface="Times New Roman" pitchFamily="18" charset="0"/>
              </a:rPr>
              <a:t>Reuse </a:t>
            </a:r>
            <a:r>
              <a:rPr lang="en-IN" sz="2600" dirty="0">
                <a:solidFill>
                  <a:srgbClr val="00B0F0"/>
                </a:solidFill>
                <a:latin typeface="Times New Roman" pitchFamily="18" charset="0"/>
                <a:cs typeface="Times New Roman" pitchFamily="18" charset="0"/>
              </a:rPr>
              <a:t>Model</a:t>
            </a:r>
          </a:p>
          <a:p>
            <a:pPr algn="just"/>
            <a:r>
              <a:rPr lang="en-IN" sz="2400" dirty="0">
                <a:latin typeface="Times New Roman" pitchFamily="18" charset="0"/>
                <a:cs typeface="Times New Roman" pitchFamily="18" charset="0"/>
              </a:rPr>
              <a:t>The reuse model focuses on system development with reuse.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It </a:t>
            </a:r>
            <a:r>
              <a:rPr lang="en-IN" sz="2400" dirty="0">
                <a:latin typeface="Times New Roman" pitchFamily="18" charset="0"/>
                <a:cs typeface="Times New Roman" pitchFamily="18" charset="0"/>
              </a:rPr>
              <a:t>helps to monitor the progress of reuse-based development and guides  to the investment for producing reusable assets and reusing them in development.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cost of system development with reuse involves the cost incurred in design, implementation, generalization, testing, documentation, library support, and integration of reusable assents.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level of reuse in a system is defined as the total size of the system divided by the size of the reusable components in the system.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level of reuse can be used to monitor reuse and to estimate the cost, time, quality, and productivity.</a:t>
            </a:r>
          </a:p>
          <a:p>
            <a:pPr algn="just"/>
            <a:endParaRPr lang="en-IN" sz="24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70</a:t>
            </a:fld>
            <a:endParaRPr lang="en-IN"/>
          </a:p>
        </p:txBody>
      </p:sp>
    </p:spTree>
    <p:extLst>
      <p:ext uri="{BB962C8B-B14F-4D97-AF65-F5344CB8AC3E}">
        <p14:creationId xmlns:p14="http://schemas.microsoft.com/office/powerpoint/2010/main" val="20028076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fontScale="92500"/>
          </a:bodyPr>
          <a:lstStyle/>
          <a:p>
            <a:pPr marL="0" indent="0" algn="just">
              <a:buNone/>
            </a:pPr>
            <a:r>
              <a:rPr lang="en-IN" sz="2600" dirty="0">
                <a:solidFill>
                  <a:srgbClr val="00B0F0"/>
                </a:solidFill>
                <a:latin typeface="Times New Roman" pitchFamily="18" charset="0"/>
                <a:cs typeface="Times New Roman" pitchFamily="18" charset="0"/>
              </a:rPr>
              <a:t>Reuse </a:t>
            </a:r>
            <a:r>
              <a:rPr lang="en-IN" sz="2600" dirty="0" smtClean="0">
                <a:solidFill>
                  <a:srgbClr val="00B0F0"/>
                </a:solidFill>
                <a:latin typeface="Times New Roman" pitchFamily="18" charset="0"/>
                <a:cs typeface="Times New Roman" pitchFamily="18" charset="0"/>
              </a:rPr>
              <a:t>Model</a:t>
            </a:r>
          </a:p>
          <a:p>
            <a:pPr algn="just"/>
            <a:r>
              <a:rPr lang="en-IN" sz="2400" dirty="0">
                <a:latin typeface="Times New Roman" pitchFamily="18" charset="0"/>
                <a:cs typeface="Times New Roman" pitchFamily="18" charset="0"/>
              </a:rPr>
              <a:t>The cost of system development can be assessed by the cost of system development with reuse and without reuse.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cost of software can be measured </a:t>
            </a:r>
            <a:r>
              <a:rPr lang="en-IN" sz="2400" dirty="0" smtClean="0">
                <a:latin typeface="Times New Roman" pitchFamily="18" charset="0"/>
                <a:cs typeface="Times New Roman" pitchFamily="18" charset="0"/>
              </a:rPr>
              <a:t>as: </a:t>
            </a:r>
            <a:r>
              <a:rPr lang="en-IN" sz="2400" baseline="-25000" dirty="0" smtClean="0">
                <a:latin typeface="Times New Roman" pitchFamily="18" charset="0"/>
                <a:cs typeface="Times New Roman" pitchFamily="18" charset="0"/>
              </a:rPr>
              <a:t>   </a:t>
            </a:r>
            <a:endParaRPr lang="en-IN" sz="2400" dirty="0">
              <a:latin typeface="Times New Roman" pitchFamily="18" charset="0"/>
              <a:cs typeface="Times New Roman" pitchFamily="18" charset="0"/>
            </a:endParaRPr>
          </a:p>
          <a:p>
            <a:pPr marL="800100" lvl="2" indent="0" algn="just">
              <a:buNone/>
            </a:pPr>
            <a:r>
              <a:rPr lang="en-IN" sz="2200" dirty="0">
                <a:latin typeface="Times New Roman" pitchFamily="18" charset="0"/>
                <a:cs typeface="Times New Roman" pitchFamily="18" charset="0"/>
              </a:rPr>
              <a:t>Total cost (</a:t>
            </a:r>
            <a:r>
              <a:rPr lang="en-IN" sz="2200" i="1" dirty="0">
                <a:latin typeface="Times New Roman" pitchFamily="18" charset="0"/>
                <a:cs typeface="Times New Roman" pitchFamily="18" charset="0"/>
              </a:rPr>
              <a:t>C</a:t>
            </a:r>
            <a:r>
              <a:rPr lang="en-IN" sz="2200" i="1" baseline="-25000" dirty="0">
                <a:latin typeface="Times New Roman" pitchFamily="18" charset="0"/>
                <a:cs typeface="Times New Roman" pitchFamily="18" charset="0"/>
              </a:rPr>
              <a:t>S</a:t>
            </a:r>
            <a:r>
              <a:rPr lang="en-IN" sz="2200" dirty="0">
                <a:latin typeface="Times New Roman" pitchFamily="18" charset="0"/>
                <a:cs typeface="Times New Roman" pitchFamily="18" charset="0"/>
              </a:rPr>
              <a:t>) </a:t>
            </a:r>
            <a:r>
              <a:rPr lang="en-IN" sz="2200" dirty="0" smtClean="0">
                <a:latin typeface="Times New Roman" pitchFamily="18" charset="0"/>
                <a:cs typeface="Times New Roman" pitchFamily="18" charset="0"/>
              </a:rPr>
              <a:t>	= </a:t>
            </a:r>
            <a:r>
              <a:rPr lang="en-IN" sz="2200" dirty="0">
                <a:latin typeface="Times New Roman" pitchFamily="18" charset="0"/>
                <a:cs typeface="Times New Roman" pitchFamily="18" charset="0"/>
              </a:rPr>
              <a:t>Cost of the reused software + Cost of the software </a:t>
            </a:r>
            <a:r>
              <a:rPr lang="en-IN" sz="2200" dirty="0" smtClean="0">
                <a:latin typeface="Times New Roman" pitchFamily="18" charset="0"/>
                <a:cs typeface="Times New Roman" pitchFamily="18" charset="0"/>
              </a:rPr>
              <a:t>			without </a:t>
            </a:r>
            <a:r>
              <a:rPr lang="en-IN" sz="2200" dirty="0">
                <a:latin typeface="Times New Roman" pitchFamily="18" charset="0"/>
                <a:cs typeface="Times New Roman" pitchFamily="18" charset="0"/>
              </a:rPr>
              <a:t>reuse    </a:t>
            </a:r>
          </a:p>
          <a:p>
            <a:pPr marL="800100" lvl="2" indent="0" algn="just">
              <a:buNone/>
            </a:pPr>
            <a:r>
              <a:rPr lang="en-IN" sz="2200" dirty="0" smtClean="0">
                <a:latin typeface="Times New Roman" pitchFamily="18" charset="0"/>
                <a:cs typeface="Times New Roman" pitchFamily="18" charset="0"/>
              </a:rPr>
              <a:t>			= </a:t>
            </a:r>
            <a:r>
              <a:rPr lang="en-IN" sz="2200" dirty="0">
                <a:latin typeface="Times New Roman" pitchFamily="18" charset="0"/>
                <a:cs typeface="Times New Roman" pitchFamily="18" charset="0"/>
              </a:rPr>
              <a:t>(Relative cost of the reused software × </a:t>
            </a:r>
            <a:r>
              <a:rPr lang="en-IN" sz="2200" dirty="0" smtClean="0">
                <a:latin typeface="Times New Roman" pitchFamily="18" charset="0"/>
                <a:cs typeface="Times New Roman" pitchFamily="18" charset="0"/>
              </a:rPr>
              <a:t>				Reused </a:t>
            </a:r>
            <a:r>
              <a:rPr lang="en-IN" sz="2200" dirty="0">
                <a:latin typeface="Times New Roman" pitchFamily="18" charset="0"/>
                <a:cs typeface="Times New Roman" pitchFamily="18" charset="0"/>
              </a:rPr>
              <a:t>software) + (Relative cost of the </a:t>
            </a:r>
            <a:r>
              <a:rPr lang="en-IN" sz="2200" dirty="0" smtClean="0">
                <a:latin typeface="Times New Roman" pitchFamily="18" charset="0"/>
                <a:cs typeface="Times New Roman" pitchFamily="18" charset="0"/>
              </a:rPr>
              <a:t>				software </a:t>
            </a:r>
            <a:r>
              <a:rPr lang="en-IN" sz="2200" dirty="0">
                <a:latin typeface="Times New Roman" pitchFamily="18" charset="0"/>
                <a:cs typeface="Times New Roman" pitchFamily="18" charset="0"/>
              </a:rPr>
              <a:t>without reuse × Software without reuse)</a:t>
            </a:r>
          </a:p>
          <a:p>
            <a:pPr marL="800100" lvl="2" indent="0" algn="just">
              <a:buNone/>
            </a:pPr>
            <a:r>
              <a:rPr lang="en-IN" sz="2200" dirty="0" smtClean="0">
                <a:latin typeface="Times New Roman" pitchFamily="18" charset="0"/>
                <a:cs typeface="Times New Roman" pitchFamily="18" charset="0"/>
              </a:rPr>
              <a:t>			= </a:t>
            </a:r>
            <a:r>
              <a:rPr lang="en-IN" sz="2200" dirty="0">
                <a:latin typeface="Times New Roman" pitchFamily="18" charset="0"/>
                <a:cs typeface="Times New Roman" pitchFamily="18" charset="0"/>
              </a:rPr>
              <a:t>(</a:t>
            </a:r>
            <a:r>
              <a:rPr lang="en-IN" sz="2200" i="1" dirty="0">
                <a:latin typeface="Times New Roman" pitchFamily="18" charset="0"/>
                <a:cs typeface="Times New Roman" pitchFamily="18" charset="0"/>
              </a:rPr>
              <a:t>C</a:t>
            </a:r>
            <a:r>
              <a:rPr lang="en-IN" sz="2200" i="1" baseline="-25000" dirty="0">
                <a:latin typeface="Times New Roman" pitchFamily="18" charset="0"/>
                <a:cs typeface="Times New Roman" pitchFamily="18" charset="0"/>
              </a:rPr>
              <a:t>R </a:t>
            </a:r>
            <a:r>
              <a:rPr lang="en-IN" sz="2200" dirty="0">
                <a:latin typeface="Times New Roman" pitchFamily="18" charset="0"/>
                <a:cs typeface="Times New Roman" pitchFamily="18" charset="0"/>
              </a:rPr>
              <a:t>×</a:t>
            </a:r>
            <a:r>
              <a:rPr lang="en-IN" sz="2200" i="1" dirty="0">
                <a:latin typeface="Times New Roman" pitchFamily="18" charset="0"/>
                <a:cs typeface="Times New Roman" pitchFamily="18" charset="0"/>
              </a:rPr>
              <a:t> </a:t>
            </a:r>
            <a:r>
              <a:rPr lang="en-IN" sz="2200" i="1" dirty="0" err="1">
                <a:latin typeface="Times New Roman" pitchFamily="18" charset="0"/>
                <a:cs typeface="Times New Roman" pitchFamily="18" charset="0"/>
              </a:rPr>
              <a:t>R</a:t>
            </a:r>
            <a:r>
              <a:rPr lang="en-IN" sz="2200" i="1" baseline="-25000" dirty="0" err="1">
                <a:latin typeface="Times New Roman" pitchFamily="18" charset="0"/>
                <a:cs typeface="Times New Roman" pitchFamily="18" charset="0"/>
              </a:rPr>
              <a:t>ѕ</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 + (</a:t>
            </a:r>
            <a:r>
              <a:rPr lang="en-IN" sz="2200" i="1" dirty="0">
                <a:latin typeface="Times New Roman" pitchFamily="18" charset="0"/>
                <a:cs typeface="Times New Roman" pitchFamily="18" charset="0"/>
              </a:rPr>
              <a:t>C</a:t>
            </a:r>
            <a:r>
              <a:rPr lang="en-IN" sz="2200" i="1" baseline="-25000" dirty="0">
                <a:latin typeface="Times New Roman" pitchFamily="18" charset="0"/>
                <a:cs typeface="Times New Roman" pitchFamily="18" charset="0"/>
              </a:rPr>
              <a:t>RW</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 (1-</a:t>
            </a:r>
            <a:r>
              <a:rPr lang="en-IN" sz="2200" i="1" dirty="0">
                <a:latin typeface="Times New Roman" pitchFamily="18" charset="0"/>
                <a:cs typeface="Times New Roman" pitchFamily="18" charset="0"/>
              </a:rPr>
              <a:t> </a:t>
            </a:r>
            <a:r>
              <a:rPr lang="en-IN" sz="2200" i="1" dirty="0" err="1">
                <a:latin typeface="Times New Roman" pitchFamily="18" charset="0"/>
                <a:cs typeface="Times New Roman" pitchFamily="18" charset="0"/>
              </a:rPr>
              <a:t>R</a:t>
            </a:r>
            <a:r>
              <a:rPr lang="en-IN" sz="2200" baseline="-25000" dirty="0" err="1">
                <a:latin typeface="Times New Roman" pitchFamily="18" charset="0"/>
                <a:cs typeface="Times New Roman" pitchFamily="18" charset="0"/>
              </a:rPr>
              <a:t>ѕ</a:t>
            </a:r>
            <a:r>
              <a:rPr lang="en-IN" sz="2200" dirty="0">
                <a:latin typeface="Times New Roman" pitchFamily="18" charset="0"/>
                <a:cs typeface="Times New Roman" pitchFamily="18" charset="0"/>
              </a:rPr>
              <a:t> ))</a:t>
            </a:r>
          </a:p>
          <a:p>
            <a:pPr marL="800100" lvl="2" indent="0" algn="just">
              <a:buNone/>
            </a:pPr>
            <a:r>
              <a:rPr lang="en-IN" sz="2200" dirty="0" smtClean="0">
                <a:latin typeface="Times New Roman" pitchFamily="18" charset="0"/>
                <a:cs typeface="Times New Roman" pitchFamily="18" charset="0"/>
              </a:rPr>
              <a:t>			= </a:t>
            </a:r>
            <a:r>
              <a:rPr lang="en-IN" sz="2200" dirty="0">
                <a:latin typeface="Times New Roman" pitchFamily="18" charset="0"/>
                <a:cs typeface="Times New Roman" pitchFamily="18" charset="0"/>
              </a:rPr>
              <a:t>(</a:t>
            </a:r>
            <a:r>
              <a:rPr lang="en-IN" sz="2200" i="1" dirty="0">
                <a:latin typeface="Times New Roman" pitchFamily="18" charset="0"/>
                <a:cs typeface="Times New Roman" pitchFamily="18" charset="0"/>
              </a:rPr>
              <a:t>C</a:t>
            </a:r>
            <a:r>
              <a:rPr lang="en-IN" sz="2200" i="1" baseline="-25000" dirty="0">
                <a:latin typeface="Times New Roman" pitchFamily="18" charset="0"/>
                <a:cs typeface="Times New Roman" pitchFamily="18" charset="0"/>
              </a:rPr>
              <a:t>R</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 </a:t>
            </a:r>
            <a:r>
              <a:rPr lang="en-IN" sz="2200" i="1" dirty="0" err="1">
                <a:latin typeface="Times New Roman" pitchFamily="18" charset="0"/>
                <a:cs typeface="Times New Roman" pitchFamily="18" charset="0"/>
              </a:rPr>
              <a:t>R</a:t>
            </a:r>
            <a:r>
              <a:rPr lang="en-IN" sz="2200" i="1" baseline="-25000" dirty="0" err="1">
                <a:latin typeface="Times New Roman" pitchFamily="18" charset="0"/>
                <a:cs typeface="Times New Roman" pitchFamily="18" charset="0"/>
              </a:rPr>
              <a:t>ѕ</a:t>
            </a:r>
            <a:r>
              <a:rPr lang="en-IN" sz="2200" dirty="0">
                <a:latin typeface="Times New Roman" pitchFamily="18" charset="0"/>
                <a:cs typeface="Times New Roman" pitchFamily="18" charset="0"/>
              </a:rPr>
              <a:t> )+ (1× (1- </a:t>
            </a:r>
            <a:r>
              <a:rPr lang="en-IN" sz="2200" i="1" dirty="0" err="1">
                <a:latin typeface="Times New Roman" pitchFamily="18" charset="0"/>
                <a:cs typeface="Times New Roman" pitchFamily="18" charset="0"/>
              </a:rPr>
              <a:t>R</a:t>
            </a:r>
            <a:r>
              <a:rPr lang="en-IN" sz="2200" i="1" baseline="-25000" dirty="0" err="1">
                <a:latin typeface="Times New Roman" pitchFamily="18" charset="0"/>
                <a:cs typeface="Times New Roman" pitchFamily="18" charset="0"/>
              </a:rPr>
              <a:t>ѕ</a:t>
            </a:r>
            <a:r>
              <a:rPr lang="en-IN" sz="2200" dirty="0">
                <a:latin typeface="Times New Roman" pitchFamily="18" charset="0"/>
                <a:cs typeface="Times New Roman" pitchFamily="18" charset="0"/>
              </a:rPr>
              <a:t> ))</a:t>
            </a:r>
          </a:p>
          <a:p>
            <a:pPr marL="800100" lvl="2" indent="0" algn="just">
              <a:buNone/>
            </a:pPr>
            <a:r>
              <a:rPr lang="en-IN" sz="2200" dirty="0" smtClean="0">
                <a:latin typeface="Times New Roman" pitchFamily="18" charset="0"/>
                <a:cs typeface="Times New Roman" pitchFamily="18" charset="0"/>
              </a:rPr>
              <a:t>			= </a:t>
            </a:r>
            <a:r>
              <a:rPr lang="en-IN" sz="2200" dirty="0">
                <a:latin typeface="Times New Roman" pitchFamily="18" charset="0"/>
                <a:cs typeface="Times New Roman" pitchFamily="18" charset="0"/>
              </a:rPr>
              <a:t>1+ </a:t>
            </a:r>
            <a:r>
              <a:rPr lang="en-IN" sz="2200" i="1" dirty="0" err="1">
                <a:latin typeface="Times New Roman" pitchFamily="18" charset="0"/>
                <a:cs typeface="Times New Roman" pitchFamily="18" charset="0"/>
              </a:rPr>
              <a:t>R</a:t>
            </a:r>
            <a:r>
              <a:rPr lang="en-IN" sz="2200" i="1" baseline="-25000" dirty="0" err="1">
                <a:latin typeface="Times New Roman" pitchFamily="18" charset="0"/>
                <a:cs typeface="Times New Roman" pitchFamily="18" charset="0"/>
              </a:rPr>
              <a:t>ѕ</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a:t>
            </a:r>
            <a:r>
              <a:rPr lang="en-IN" sz="2200" i="1" dirty="0">
                <a:latin typeface="Times New Roman" pitchFamily="18" charset="0"/>
                <a:cs typeface="Times New Roman" pitchFamily="18" charset="0"/>
              </a:rPr>
              <a:t>C</a:t>
            </a:r>
            <a:r>
              <a:rPr lang="en-IN" sz="2200" i="1" baseline="-25000" dirty="0">
                <a:latin typeface="Times New Roman" pitchFamily="18" charset="0"/>
                <a:cs typeface="Times New Roman" pitchFamily="18" charset="0"/>
              </a:rPr>
              <a:t>R</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- 1) </a:t>
            </a:r>
            <a:endParaRPr lang="en-IN" sz="2200" b="1"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71</a:t>
            </a:fld>
            <a:endParaRPr lang="en-IN"/>
          </a:p>
        </p:txBody>
      </p:sp>
    </p:spTree>
    <p:extLst>
      <p:ext uri="{BB962C8B-B14F-4D97-AF65-F5344CB8AC3E}">
        <p14:creationId xmlns:p14="http://schemas.microsoft.com/office/powerpoint/2010/main" val="20028076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4082"/>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016239"/>
            <a:ext cx="8229600" cy="5184576"/>
          </a:xfrm>
        </p:spPr>
        <p:txBody>
          <a:bodyPr>
            <a:normAutofit fontScale="62500" lnSpcReduction="20000"/>
          </a:bodyPr>
          <a:lstStyle/>
          <a:p>
            <a:pPr marL="0" lvl="1" indent="0" algn="just">
              <a:buNone/>
            </a:pPr>
            <a:r>
              <a:rPr lang="en-IN" sz="3800" dirty="0">
                <a:solidFill>
                  <a:srgbClr val="00B0F0"/>
                </a:solidFill>
                <a:latin typeface="Times New Roman" pitchFamily="18" charset="0"/>
                <a:cs typeface="Times New Roman" pitchFamily="18" charset="0"/>
              </a:rPr>
              <a:t>Analytical </a:t>
            </a:r>
            <a:r>
              <a:rPr lang="en-IN" sz="3800" dirty="0" smtClean="0">
                <a:solidFill>
                  <a:srgbClr val="00B0F0"/>
                </a:solidFill>
                <a:latin typeface="Times New Roman" pitchFamily="18" charset="0"/>
                <a:cs typeface="Times New Roman" pitchFamily="18" charset="0"/>
              </a:rPr>
              <a:t>techniques</a:t>
            </a:r>
          </a:p>
          <a:p>
            <a:pPr marL="342900" lvl="1" indent="-342900" algn="just">
              <a:buFont typeface="Arial" pitchFamily="34" charset="0"/>
              <a:buChar char="•"/>
            </a:pPr>
            <a:r>
              <a:rPr lang="en-IN" sz="3200" dirty="0" smtClean="0">
                <a:latin typeface="Times New Roman" pitchFamily="18" charset="0"/>
                <a:cs typeface="Times New Roman" pitchFamily="18" charset="0"/>
              </a:rPr>
              <a:t>Halstead has proposed analytical estimation technique based upon certain assumptions about the project.</a:t>
            </a:r>
          </a:p>
          <a:p>
            <a:pPr algn="just">
              <a:lnSpc>
                <a:spcPct val="115000"/>
              </a:lnSpc>
              <a:spcAft>
                <a:spcPts val="0"/>
              </a:spcAft>
            </a:pPr>
            <a:r>
              <a:rPr lang="en-US" dirty="0">
                <a:latin typeface="Times New Roman" panose="02020603050405020304" pitchFamily="18" charset="0"/>
                <a:ea typeface="Times New Roman" panose="02020603050405020304" pitchFamily="18" charset="0"/>
                <a:cs typeface="Times New Roman" panose="02020603050405020304" pitchFamily="18" charset="0"/>
              </a:rPr>
              <a:t>From the software</a:t>
            </a:r>
            <a:r>
              <a:rPr lang="en-US" dirty="0">
                <a:latin typeface="Calibri" panose="020F0502020204030204" pitchFamily="34" charset="0"/>
                <a:ea typeface="Times New Roman" panose="02020603050405020304" pitchFamily="18" charset="0"/>
                <a:cs typeface="Times New Roman" panose="02020603050405020304" pitchFamily="18" charset="0"/>
              </a:rPr>
              <a:t> </a:t>
            </a:r>
            <a:r>
              <a:rPr lang="en-US" dirty="0">
                <a:latin typeface="Times New Roman" panose="02020603050405020304" pitchFamily="18" charset="0"/>
                <a:ea typeface="Times New Roman" panose="02020603050405020304" pitchFamily="18" charset="0"/>
                <a:cs typeface="Times New Roman" panose="02020603050405020304" pitchFamily="18" charset="0"/>
              </a:rPr>
              <a:t> science of Halstead, the length and volume of code can be measured. </a:t>
            </a:r>
            <a:endParaRPr lang="en-US"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spcAft>
                <a:spcPts val="0"/>
              </a:spcAft>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The </a:t>
            </a:r>
            <a:r>
              <a:rPr lang="en-US" i="1" dirty="0">
                <a:latin typeface="Times New Roman" panose="02020603050405020304" pitchFamily="18" charset="0"/>
                <a:ea typeface="Times New Roman" panose="02020603050405020304" pitchFamily="18" charset="0"/>
                <a:cs typeface="Times New Roman" panose="02020603050405020304" pitchFamily="18" charset="0"/>
              </a:rPr>
              <a:t>length</a:t>
            </a:r>
            <a:r>
              <a:rPr lang="en-US" dirty="0">
                <a:latin typeface="Calibri" panose="020F0502020204030204" pitchFamily="34" charset="0"/>
                <a:ea typeface="Times New Roman" panose="02020603050405020304" pitchFamily="18" charset="0"/>
                <a:cs typeface="Times New Roman" panose="02020603050405020304" pitchFamily="18" charset="0"/>
              </a:rPr>
              <a:t> </a:t>
            </a:r>
            <a:r>
              <a:rPr lang="en-US" dirty="0">
                <a:latin typeface="Times New Roman" panose="02020603050405020304" pitchFamily="18" charset="0"/>
                <a:ea typeface="Times New Roman" panose="02020603050405020304" pitchFamily="18" charset="0"/>
                <a:cs typeface="Times New Roman" panose="02020603050405020304" pitchFamily="18" charset="0"/>
              </a:rPr>
              <a:t> of a code is used to measure the length of the source code program. It is defined as follows:  </a:t>
            </a:r>
            <a:endParaRPr lang="en-IN" dirty="0">
              <a:latin typeface="Calibri" panose="020F0502020204030204" pitchFamily="34" charset="0"/>
              <a:ea typeface="Times New Roman" panose="02020603050405020304" pitchFamily="18" charset="0"/>
              <a:cs typeface="Times New Roman" panose="02020603050405020304" pitchFamily="18" charset="0"/>
            </a:endParaRPr>
          </a:p>
          <a:p>
            <a:pPr marL="0" indent="0" algn="just">
              <a:lnSpc>
                <a:spcPct val="115000"/>
              </a:lnSpc>
              <a:spcAft>
                <a:spcPts val="0"/>
              </a:spcAft>
              <a:buNone/>
            </a:pPr>
            <a:r>
              <a:rPr lang="en-US" i="1" dirty="0">
                <a:latin typeface="Times New Roman" panose="02020603050405020304" pitchFamily="18" charset="0"/>
                <a:ea typeface="Times New Roman" panose="02020603050405020304" pitchFamily="18" charset="0"/>
                <a:cs typeface="Times New Roman" panose="02020603050405020304" pitchFamily="18" charset="0"/>
              </a:rPr>
              <a:t>N = N1 + </a:t>
            </a: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N2</a:t>
            </a:r>
            <a:endParaRPr lang="en-IN" dirty="0">
              <a:latin typeface="Calibri" panose="020F0502020204030204" pitchFamily="34" charset="0"/>
              <a:ea typeface="Times New Roman" panose="02020603050405020304" pitchFamily="18" charset="0"/>
              <a:cs typeface="Times New Roman" panose="02020603050405020304" pitchFamily="18" charset="0"/>
            </a:endParaRPr>
          </a:p>
          <a:p>
            <a:pPr marL="0" indent="0" algn="just">
              <a:lnSpc>
                <a:spcPct val="115000"/>
              </a:lnSpc>
              <a:spcAft>
                <a:spcPts val="0"/>
              </a:spcAft>
              <a:buNone/>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	Where </a:t>
            </a:r>
            <a:r>
              <a:rPr lang="en-US" i="1" dirty="0">
                <a:latin typeface="Times New Roman" panose="02020603050405020304" pitchFamily="18" charset="0"/>
                <a:ea typeface="Times New Roman" panose="02020603050405020304" pitchFamily="18" charset="0"/>
                <a:cs typeface="Times New Roman" panose="02020603050405020304" pitchFamily="18" charset="0"/>
              </a:rPr>
              <a:t>N1</a:t>
            </a:r>
            <a:r>
              <a:rPr lang="en-US" dirty="0">
                <a:latin typeface="Times New Roman" panose="02020603050405020304" pitchFamily="18" charset="0"/>
                <a:ea typeface="Times New Roman" panose="02020603050405020304" pitchFamily="18" charset="0"/>
                <a:cs typeface="Times New Roman" panose="02020603050405020304" pitchFamily="18" charset="0"/>
              </a:rPr>
              <a:t> is the total number of operator occurrences, and </a:t>
            </a:r>
            <a:r>
              <a:rPr lang="en-US" i="1" dirty="0">
                <a:latin typeface="Times New Roman" panose="02020603050405020304" pitchFamily="18" charset="0"/>
                <a:ea typeface="Times New Roman" panose="02020603050405020304" pitchFamily="18" charset="0"/>
                <a:cs typeface="Times New Roman" panose="02020603050405020304" pitchFamily="18" charset="0"/>
              </a:rPr>
              <a:t>N2</a:t>
            </a:r>
            <a:r>
              <a:rPr lang="en-US" dirty="0">
                <a:latin typeface="Times New Roman" panose="02020603050405020304" pitchFamily="18" charset="0"/>
                <a:ea typeface="Times New Roman" panose="02020603050405020304" pitchFamily="18" charset="0"/>
                <a:cs typeface="Times New Roman" panose="02020603050405020304" pitchFamily="18" charset="0"/>
              </a:rPr>
              <a:t> is the </a:t>
            </a: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	total </a:t>
            </a:r>
            <a:r>
              <a:rPr lang="en-US" dirty="0">
                <a:latin typeface="Times New Roman" panose="02020603050405020304" pitchFamily="18" charset="0"/>
                <a:ea typeface="Times New Roman" panose="02020603050405020304" pitchFamily="18" charset="0"/>
                <a:cs typeface="Times New Roman" panose="02020603050405020304" pitchFamily="18" charset="0"/>
              </a:rPr>
              <a:t>number of operand occurrences. </a:t>
            </a:r>
            <a:endParaRPr lang="en-US"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pPr>
            <a:r>
              <a:rPr lang="en-US" dirty="0">
                <a:latin typeface="Times New Roman" panose="02020603050405020304" pitchFamily="18" charset="0"/>
                <a:ea typeface="Times New Roman" panose="02020603050405020304" pitchFamily="18" charset="0"/>
                <a:cs typeface="Times New Roman" panose="02020603050405020304" pitchFamily="18" charset="0"/>
              </a:rPr>
              <a:t>The </a:t>
            </a:r>
            <a:r>
              <a:rPr lang="en-US" i="1" dirty="0">
                <a:latin typeface="Times New Roman" panose="02020603050405020304" pitchFamily="18" charset="0"/>
                <a:ea typeface="Times New Roman" panose="02020603050405020304" pitchFamily="18" charset="0"/>
                <a:cs typeface="Times New Roman" panose="02020603050405020304" pitchFamily="18" charset="0"/>
              </a:rPr>
              <a:t>vocabulary</a:t>
            </a:r>
            <a:r>
              <a:rPr lang="en-US" dirty="0">
                <a:latin typeface="Times New Roman" panose="02020603050405020304" pitchFamily="18" charset="0"/>
                <a:ea typeface="Times New Roman" panose="02020603050405020304" pitchFamily="18" charset="0"/>
                <a:cs typeface="Times New Roman" panose="02020603050405020304" pitchFamily="18" charset="0"/>
              </a:rPr>
              <a:t> of a program is the number of distinct operators and operands used in the program. It is defined as follows:</a:t>
            </a:r>
            <a:endParaRPr lang="en-IN" dirty="0">
              <a:latin typeface="Times New Roman" panose="02020603050405020304" pitchFamily="18" charset="0"/>
              <a:ea typeface="Times New Roman" panose="02020603050405020304" pitchFamily="18" charset="0"/>
              <a:cs typeface="Times New Roman" panose="02020603050405020304" pitchFamily="18" charset="0"/>
            </a:endParaRPr>
          </a:p>
          <a:p>
            <a:pPr marL="0" indent="0" algn="just">
              <a:lnSpc>
                <a:spcPct val="115000"/>
              </a:lnSpc>
              <a:spcAft>
                <a:spcPts val="0"/>
              </a:spcAft>
              <a:buNone/>
            </a:pP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n </a:t>
            </a:r>
            <a:r>
              <a:rPr lang="en-US" i="1" dirty="0">
                <a:latin typeface="Times New Roman" panose="02020603050405020304" pitchFamily="18" charset="0"/>
                <a:ea typeface="Times New Roman" panose="02020603050405020304" pitchFamily="18" charset="0"/>
                <a:cs typeface="Times New Roman" panose="02020603050405020304" pitchFamily="18" charset="0"/>
              </a:rPr>
              <a:t>= n1 + n2</a:t>
            </a:r>
            <a:endParaRPr lang="en-IN" dirty="0">
              <a:latin typeface="Calibri" panose="020F0502020204030204" pitchFamily="34" charset="0"/>
              <a:ea typeface="Times New Roman" panose="02020603050405020304" pitchFamily="18" charset="0"/>
              <a:cs typeface="Times New Roman" panose="02020603050405020304" pitchFamily="18" charset="0"/>
            </a:endParaRPr>
          </a:p>
          <a:p>
            <a:pPr marL="0" indent="0" algn="just">
              <a:spcAft>
                <a:spcPts val="1000"/>
              </a:spcAft>
              <a:buNone/>
            </a:pPr>
            <a:r>
              <a:rPr lang="en-US" dirty="0" smtClean="0">
                <a:latin typeface="Times New Roman" panose="02020603050405020304" pitchFamily="18" charset="0"/>
                <a:ea typeface="Times New Roman" panose="02020603050405020304" pitchFamily="18" charset="0"/>
              </a:rPr>
              <a:t>	Where </a:t>
            </a:r>
            <a:r>
              <a:rPr lang="en-US" i="1" dirty="0">
                <a:latin typeface="Times New Roman" panose="02020603050405020304" pitchFamily="18" charset="0"/>
                <a:ea typeface="Times New Roman" panose="02020603050405020304" pitchFamily="18" charset="0"/>
              </a:rPr>
              <a:t>n1</a:t>
            </a:r>
            <a:r>
              <a:rPr lang="en-US" dirty="0">
                <a:latin typeface="Times New Roman" panose="02020603050405020304" pitchFamily="18" charset="0"/>
                <a:ea typeface="Times New Roman" panose="02020603050405020304" pitchFamily="18" charset="0"/>
              </a:rPr>
              <a:t> is the number of distinct operators, and </a:t>
            </a:r>
            <a:r>
              <a:rPr lang="en-US" i="1" dirty="0">
                <a:latin typeface="Times New Roman" panose="02020603050405020304" pitchFamily="18" charset="0"/>
                <a:ea typeface="Times New Roman" panose="02020603050405020304" pitchFamily="18" charset="0"/>
              </a:rPr>
              <a:t>n2</a:t>
            </a:r>
            <a:r>
              <a:rPr lang="en-US" dirty="0">
                <a:latin typeface="Times New Roman" panose="02020603050405020304" pitchFamily="18" charset="0"/>
                <a:ea typeface="Times New Roman" panose="02020603050405020304" pitchFamily="18" charset="0"/>
              </a:rPr>
              <a:t> is the number of </a:t>
            </a:r>
            <a:r>
              <a:rPr lang="en-US" dirty="0" smtClean="0">
                <a:latin typeface="Times New Roman" panose="02020603050405020304" pitchFamily="18" charset="0"/>
                <a:ea typeface="Times New Roman" panose="02020603050405020304" pitchFamily="18" charset="0"/>
              </a:rPr>
              <a:t>	distinct </a:t>
            </a:r>
            <a:r>
              <a:rPr lang="en-US" dirty="0">
                <a:latin typeface="Times New Roman" panose="02020603050405020304" pitchFamily="18" charset="0"/>
                <a:ea typeface="Times New Roman" panose="02020603050405020304" pitchFamily="18" charset="0"/>
              </a:rPr>
              <a:t>operands that occur in a program.</a:t>
            </a:r>
            <a:r>
              <a:rPr lang="en-IN" dirty="0"/>
              <a:t> </a:t>
            </a:r>
            <a:endParaRPr lang="en-IN" dirty="0">
              <a:latin typeface="Calibri" panose="020F0502020204030204" pitchFamily="34"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72</a:t>
            </a:fld>
            <a:endParaRPr lang="en-IN"/>
          </a:p>
        </p:txBody>
      </p:sp>
    </p:spTree>
    <p:extLst>
      <p:ext uri="{BB962C8B-B14F-4D97-AF65-F5344CB8AC3E}">
        <p14:creationId xmlns:p14="http://schemas.microsoft.com/office/powerpoint/2010/main" val="12530260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4082"/>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016239"/>
            <a:ext cx="8229600" cy="5184576"/>
          </a:xfrm>
        </p:spPr>
        <p:txBody>
          <a:bodyPr>
            <a:normAutofit fontScale="62500" lnSpcReduction="20000"/>
          </a:bodyPr>
          <a:lstStyle/>
          <a:p>
            <a:pPr marL="0" lvl="1" indent="0">
              <a:buNone/>
            </a:pPr>
            <a:r>
              <a:rPr lang="en-IN" sz="3800" dirty="0">
                <a:solidFill>
                  <a:srgbClr val="00B0F0"/>
                </a:solidFill>
                <a:latin typeface="Times New Roman" pitchFamily="18" charset="0"/>
                <a:cs typeface="Times New Roman" pitchFamily="18" charset="0"/>
              </a:rPr>
              <a:t>Analytical </a:t>
            </a:r>
            <a:r>
              <a:rPr lang="en-IN" sz="3800" dirty="0" smtClean="0">
                <a:solidFill>
                  <a:srgbClr val="00B0F0"/>
                </a:solidFill>
                <a:latin typeface="Times New Roman" pitchFamily="18" charset="0"/>
                <a:cs typeface="Times New Roman" pitchFamily="18" charset="0"/>
              </a:rPr>
              <a:t>techniques</a:t>
            </a:r>
          </a:p>
          <a:p>
            <a:pPr algn="just">
              <a:lnSpc>
                <a:spcPct val="115000"/>
              </a:lnSpc>
              <a:spcAft>
                <a:spcPts val="0"/>
              </a:spcAft>
            </a:pPr>
            <a:endParaRPr lang="en-US"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spcAft>
                <a:spcPts val="0"/>
              </a:spcAft>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The </a:t>
            </a:r>
            <a:r>
              <a:rPr lang="en-US" sz="1600" dirty="0">
                <a:latin typeface="Calibri" panose="020F0502020204030204" pitchFamily="34" charset="0"/>
                <a:ea typeface="Times New Roman" panose="02020603050405020304" pitchFamily="18" charset="0"/>
                <a:cs typeface="Times New Roman" panose="02020603050405020304" pitchFamily="18" charset="0"/>
              </a:rPr>
              <a:t> </a:t>
            </a:r>
            <a:r>
              <a:rPr lang="en-US" i="1" dirty="0">
                <a:latin typeface="Times New Roman" panose="02020603050405020304" pitchFamily="18" charset="0"/>
                <a:ea typeface="Times New Roman" panose="02020603050405020304" pitchFamily="18" charset="0"/>
                <a:cs typeface="Times New Roman" panose="02020603050405020304" pitchFamily="18" charset="0"/>
              </a:rPr>
              <a:t>volume</a:t>
            </a:r>
            <a:r>
              <a:rPr lang="en-US" sz="1600" dirty="0">
                <a:latin typeface="Calibri" panose="020F0502020204030204" pitchFamily="34" charset="0"/>
                <a:ea typeface="Times New Roman" panose="02020603050405020304" pitchFamily="18" charset="0"/>
                <a:cs typeface="Times New Roman" panose="02020603050405020304" pitchFamily="18" charset="0"/>
              </a:rPr>
              <a:t> </a:t>
            </a:r>
            <a:r>
              <a:rPr lang="en-US" dirty="0">
                <a:latin typeface="Times New Roman" panose="02020603050405020304" pitchFamily="18" charset="0"/>
                <a:ea typeface="Times New Roman" panose="02020603050405020304" pitchFamily="18" charset="0"/>
                <a:cs typeface="Times New Roman" panose="02020603050405020304" pitchFamily="18" charset="0"/>
              </a:rPr>
              <a:t> metric is used to measure the amount of storage space (in bits) required for the program. </a:t>
            </a: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It </a:t>
            </a:r>
            <a:r>
              <a:rPr lang="en-US" dirty="0">
                <a:latin typeface="Times New Roman" panose="02020603050405020304" pitchFamily="18" charset="0"/>
                <a:ea typeface="Times New Roman" panose="02020603050405020304" pitchFamily="18" charset="0"/>
                <a:cs typeface="Times New Roman" panose="02020603050405020304" pitchFamily="18" charset="0"/>
              </a:rPr>
              <a:t>is defined as follows:</a:t>
            </a:r>
            <a:r>
              <a:rPr lang="en-US" sz="1600" dirty="0">
                <a:latin typeface="Calibri" panose="020F0502020204030204" pitchFamily="34" charset="0"/>
                <a:ea typeface="Times New Roman" panose="02020603050405020304" pitchFamily="18" charset="0"/>
                <a:cs typeface="Times New Roman" panose="02020603050405020304" pitchFamily="18" charset="0"/>
              </a:rPr>
              <a:t> </a:t>
            </a:r>
            <a:endParaRPr lang="en-IN" sz="2800" dirty="0">
              <a:latin typeface="Calibri" panose="020F0502020204030204" pitchFamily="34" charset="0"/>
              <a:ea typeface="Times New Roman" panose="02020603050405020304" pitchFamily="18" charset="0"/>
              <a:cs typeface="Times New Roman" panose="02020603050405020304" pitchFamily="18" charset="0"/>
            </a:endParaRPr>
          </a:p>
          <a:p>
            <a:pPr marL="0" indent="0" algn="ctr">
              <a:lnSpc>
                <a:spcPct val="115000"/>
              </a:lnSpc>
              <a:spcAft>
                <a:spcPts val="0"/>
              </a:spcAft>
              <a:buNone/>
            </a:pP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V </a:t>
            </a:r>
            <a:r>
              <a:rPr lang="en-US" i="1" dirty="0">
                <a:latin typeface="Times New Roman" panose="02020603050405020304" pitchFamily="18" charset="0"/>
                <a:ea typeface="Times New Roman" panose="02020603050405020304" pitchFamily="18" charset="0"/>
                <a:cs typeface="Times New Roman" panose="02020603050405020304" pitchFamily="18" charset="0"/>
              </a:rPr>
              <a:t>= N</a:t>
            </a:r>
            <a:r>
              <a:rPr lang="en-US" dirty="0">
                <a:latin typeface="Times New Roman" panose="02020603050405020304" pitchFamily="18" charset="0"/>
                <a:ea typeface="Times New Roman" panose="02020603050405020304" pitchFamily="18" charset="0"/>
                <a:cs typeface="Times New Roman" panose="02020603050405020304" pitchFamily="18" charset="0"/>
              </a:rPr>
              <a:t> log</a:t>
            </a:r>
            <a:r>
              <a:rPr lang="en-US"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dirty="0">
                <a:latin typeface="Times New Roman" panose="02020603050405020304" pitchFamily="18" charset="0"/>
                <a:ea typeface="Times New Roman" panose="02020603050405020304" pitchFamily="18" charset="0"/>
                <a:cs typeface="Times New Roman" panose="02020603050405020304" pitchFamily="18" charset="0"/>
              </a:rPr>
              <a:t>(</a:t>
            </a:r>
            <a:r>
              <a:rPr lang="en-US" i="1" dirty="0">
                <a:latin typeface="Times New Roman" panose="02020603050405020304" pitchFamily="18" charset="0"/>
                <a:ea typeface="Times New Roman" panose="02020603050405020304" pitchFamily="18" charset="0"/>
                <a:cs typeface="Times New Roman" panose="02020603050405020304" pitchFamily="18" charset="0"/>
              </a:rPr>
              <a:t>n</a:t>
            </a:r>
            <a:r>
              <a:rPr lang="en-US" dirty="0">
                <a:latin typeface="Times New Roman" panose="02020603050405020304" pitchFamily="18" charset="0"/>
                <a:ea typeface="Times New Roman" panose="02020603050405020304" pitchFamily="18" charset="0"/>
                <a:cs typeface="Times New Roman" panose="02020603050405020304" pitchFamily="18" charset="0"/>
              </a:rPr>
              <a:t>)</a:t>
            </a:r>
            <a:endParaRPr lang="en-IN" sz="2800" dirty="0">
              <a:latin typeface="Calibri" panose="020F0502020204030204" pitchFamily="34" charset="0"/>
              <a:ea typeface="Times New Roman" panose="02020603050405020304" pitchFamily="18" charset="0"/>
              <a:cs typeface="Times New Roman" panose="02020603050405020304" pitchFamily="18" charset="0"/>
            </a:endParaRPr>
          </a:p>
          <a:p>
            <a:pPr algn="just">
              <a:lnSpc>
                <a:spcPct val="115000"/>
              </a:lnSpc>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Based </a:t>
            </a:r>
            <a:r>
              <a:rPr lang="en-US" dirty="0">
                <a:latin typeface="Times New Roman" panose="02020603050405020304" pitchFamily="18" charset="0"/>
                <a:ea typeface="Times New Roman" panose="02020603050405020304" pitchFamily="18" charset="0"/>
                <a:cs typeface="Times New Roman" panose="02020603050405020304" pitchFamily="18" charset="0"/>
              </a:rPr>
              <a:t>on the value of program vocabulary n, length of a program can be estimated before the start of the development activity. The estimated length can be calculated as follows:</a:t>
            </a:r>
            <a:endParaRPr lang="en-IN" dirty="0">
              <a:latin typeface="Times New Roman" panose="02020603050405020304" pitchFamily="18" charset="0"/>
              <a:ea typeface="Times New Roman" panose="02020603050405020304" pitchFamily="18" charset="0"/>
              <a:cs typeface="Times New Roman" panose="02020603050405020304" pitchFamily="18" charset="0"/>
            </a:endParaRPr>
          </a:p>
          <a:p>
            <a:pPr indent="0" algn="ctr">
              <a:lnSpc>
                <a:spcPct val="115000"/>
              </a:lnSpc>
              <a:spcAft>
                <a:spcPts val="0"/>
              </a:spcAft>
              <a:buNone/>
            </a:pP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N</a:t>
            </a:r>
            <a:r>
              <a:rPr lang="en-US" i="1" baseline="-25000" dirty="0" smtClean="0">
                <a:latin typeface="Times New Roman" panose="02020603050405020304" pitchFamily="18" charset="0"/>
                <a:ea typeface="Times New Roman" panose="02020603050405020304" pitchFamily="18" charset="0"/>
                <a:cs typeface="Times New Roman" panose="02020603050405020304" pitchFamily="18" charset="0"/>
              </a:rPr>
              <a:t>e</a:t>
            </a: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 </a:t>
            </a:r>
            <a:r>
              <a:rPr lang="en-US" i="1" dirty="0">
                <a:latin typeface="Times New Roman" panose="02020603050405020304" pitchFamily="18" charset="0"/>
                <a:ea typeface="Times New Roman" panose="02020603050405020304" pitchFamily="18" charset="0"/>
                <a:cs typeface="Times New Roman" panose="02020603050405020304" pitchFamily="18" charset="0"/>
              </a:rPr>
              <a:t>= n1</a:t>
            </a:r>
            <a:r>
              <a:rPr lang="en-US" i="1" baseline="-25000" dirty="0">
                <a:latin typeface="Times New Roman" panose="02020603050405020304" pitchFamily="18" charset="0"/>
                <a:ea typeface="Times New Roman" panose="02020603050405020304" pitchFamily="18" charset="0"/>
                <a:cs typeface="Times New Roman" panose="02020603050405020304" pitchFamily="18" charset="0"/>
              </a:rPr>
              <a:t> </a:t>
            </a:r>
            <a:r>
              <a:rPr lang="en-US" i="1" dirty="0">
                <a:latin typeface="Times New Roman" panose="02020603050405020304" pitchFamily="18" charset="0"/>
                <a:ea typeface="Times New Roman" panose="02020603050405020304" pitchFamily="18" charset="0"/>
                <a:cs typeface="Times New Roman" panose="02020603050405020304" pitchFamily="18" charset="0"/>
              </a:rPr>
              <a:t>log</a:t>
            </a:r>
            <a:r>
              <a:rPr lang="en-US" i="1"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i="1" dirty="0">
                <a:latin typeface="Times New Roman" panose="02020603050405020304" pitchFamily="18" charset="0"/>
                <a:ea typeface="Times New Roman" panose="02020603050405020304" pitchFamily="18" charset="0"/>
                <a:cs typeface="Times New Roman" panose="02020603050405020304" pitchFamily="18" charset="0"/>
              </a:rPr>
              <a:t> n1 + n2 log</a:t>
            </a:r>
            <a:r>
              <a:rPr lang="en-US" i="1"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i="1" dirty="0">
                <a:latin typeface="Times New Roman" panose="02020603050405020304" pitchFamily="18" charset="0"/>
                <a:ea typeface="Times New Roman" panose="02020603050405020304" pitchFamily="18" charset="0"/>
                <a:cs typeface="Times New Roman" panose="02020603050405020304" pitchFamily="18" charset="0"/>
              </a:rPr>
              <a:t> </a:t>
            </a:r>
            <a:r>
              <a:rPr lang="en-US" i="1" dirty="0" smtClean="0">
                <a:latin typeface="Times New Roman" panose="02020603050405020304" pitchFamily="18" charset="0"/>
                <a:ea typeface="Times New Roman" panose="02020603050405020304" pitchFamily="18" charset="0"/>
                <a:cs typeface="Times New Roman" panose="02020603050405020304" pitchFamily="18" charset="0"/>
              </a:rPr>
              <a:t>n2</a:t>
            </a:r>
          </a:p>
          <a:p>
            <a:pPr indent="0" algn="ctr">
              <a:lnSpc>
                <a:spcPct val="115000"/>
              </a:lnSpc>
              <a:spcAft>
                <a:spcPts val="0"/>
              </a:spcAft>
              <a:buNone/>
            </a:pPr>
            <a:endParaRPr lang="en-IN" sz="4800" dirty="0">
              <a:latin typeface="Calibri" panose="020F0502020204030204" pitchFamily="34" charset="0"/>
              <a:ea typeface="Times New Roman" panose="02020603050405020304" pitchFamily="18" charset="0"/>
              <a:cs typeface="Times New Roman" panose="02020603050405020304" pitchFamily="18" charset="0"/>
            </a:endParaRPr>
          </a:p>
          <a:p>
            <a:pPr algn="just">
              <a:lnSpc>
                <a:spcPct val="115000"/>
              </a:lnSpc>
              <a:spcAft>
                <a:spcPts val="0"/>
              </a:spcAft>
            </a:pPr>
            <a:r>
              <a:rPr lang="en-US" dirty="0">
                <a:latin typeface="Times New Roman" panose="02020603050405020304" pitchFamily="18" charset="0"/>
                <a:ea typeface="Times New Roman" panose="02020603050405020304" pitchFamily="18" charset="0"/>
                <a:cs typeface="Times New Roman" panose="02020603050405020304" pitchFamily="18" charset="0"/>
              </a:rPr>
              <a:t>Analytical estimation is </a:t>
            </a: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mainly </a:t>
            </a:r>
            <a:r>
              <a:rPr lang="en-US" dirty="0">
                <a:latin typeface="Times New Roman" panose="02020603050405020304" pitchFamily="18" charset="0"/>
                <a:ea typeface="Times New Roman" panose="02020603050405020304" pitchFamily="18" charset="0"/>
                <a:cs typeface="Times New Roman" panose="02020603050405020304" pitchFamily="18" charset="0"/>
              </a:rPr>
              <a:t>useful for estimating software efforts in maintenance, scheduling, and reporting projects. </a:t>
            </a:r>
            <a:endParaRPr lang="en-US"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spcAft>
                <a:spcPts val="0"/>
              </a:spcAft>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It </a:t>
            </a:r>
            <a:r>
              <a:rPr lang="en-US" dirty="0">
                <a:latin typeface="Times New Roman" panose="02020603050405020304" pitchFamily="18" charset="0"/>
                <a:ea typeface="Times New Roman" panose="02020603050405020304" pitchFamily="18" charset="0"/>
                <a:cs typeface="Times New Roman" panose="02020603050405020304" pitchFamily="18" charset="0"/>
              </a:rPr>
              <a:t>highly considers the programming structure and the source code. It is best suited in industries to identify defects in the programs. </a:t>
            </a:r>
            <a:endParaRPr lang="en-US"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spcAft>
                <a:spcPts val="0"/>
              </a:spcAft>
            </a:pPr>
            <a:r>
              <a:rPr lang="en-US" dirty="0" smtClean="0">
                <a:latin typeface="Times New Roman" panose="02020603050405020304" pitchFamily="18" charset="0"/>
                <a:ea typeface="Times New Roman" panose="02020603050405020304" pitchFamily="18" charset="0"/>
                <a:cs typeface="Times New Roman" panose="02020603050405020304" pitchFamily="18" charset="0"/>
              </a:rPr>
              <a:t>This </a:t>
            </a:r>
            <a:r>
              <a:rPr lang="en-US" dirty="0">
                <a:latin typeface="Times New Roman" panose="02020603050405020304" pitchFamily="18" charset="0"/>
                <a:ea typeface="Times New Roman" panose="02020603050405020304" pitchFamily="18" charset="0"/>
                <a:cs typeface="Times New Roman" panose="02020603050405020304" pitchFamily="18" charset="0"/>
              </a:rPr>
              <a:t>estimation works well if there is a complete source code of software. </a:t>
            </a:r>
            <a:endParaRPr lang="en-IN" dirty="0">
              <a:latin typeface="Times New Roman" panose="02020603050405020304" pitchFamily="18" charset="0"/>
              <a:ea typeface="Times New Roman" panose="02020603050405020304" pitchFamily="18" charset="0"/>
              <a:cs typeface="Times New Roman" panose="02020603050405020304" pitchFamily="18" charset="0"/>
            </a:endParaRPr>
          </a:p>
          <a:p>
            <a:pPr marL="0" indent="0">
              <a:lnSpc>
                <a:spcPct val="115000"/>
              </a:lnSpc>
              <a:spcAft>
                <a:spcPts val="600"/>
              </a:spcAft>
              <a:buNone/>
            </a:pP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solidFill>
                  <a:prstClr val="black">
                    <a:tint val="75000"/>
                  </a:prstClr>
                </a:solidFill>
              </a:rPr>
              <a:pPr/>
              <a:t>73</a:t>
            </a:fld>
            <a:endParaRPr lang="en-IN">
              <a:solidFill>
                <a:prstClr val="black">
                  <a:tint val="75000"/>
                </a:prstClr>
              </a:solidFill>
            </a:endParaRPr>
          </a:p>
        </p:txBody>
      </p:sp>
    </p:spTree>
    <p:extLst>
      <p:ext uri="{BB962C8B-B14F-4D97-AF65-F5344CB8AC3E}">
        <p14:creationId xmlns:p14="http://schemas.microsoft.com/office/powerpoint/2010/main" val="31516077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4082"/>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016239"/>
            <a:ext cx="8229600" cy="5184576"/>
          </a:xfrm>
        </p:spPr>
        <p:txBody>
          <a:bodyPr>
            <a:normAutofit fontScale="85000" lnSpcReduction="20000"/>
          </a:bodyPr>
          <a:lstStyle/>
          <a:p>
            <a:pPr marL="0" lvl="1" indent="0" algn="just">
              <a:buNone/>
            </a:pPr>
            <a:r>
              <a:rPr lang="en-IN" dirty="0">
                <a:solidFill>
                  <a:srgbClr val="00B0F0"/>
                </a:solidFill>
                <a:latin typeface="Times New Roman" pitchFamily="18" charset="0"/>
                <a:cs typeface="Times New Roman" pitchFamily="18" charset="0"/>
              </a:rPr>
              <a:t>Analytical </a:t>
            </a:r>
            <a:r>
              <a:rPr lang="en-IN" dirty="0" smtClean="0">
                <a:solidFill>
                  <a:srgbClr val="00B0F0"/>
                </a:solidFill>
                <a:latin typeface="Times New Roman" pitchFamily="18" charset="0"/>
                <a:cs typeface="Times New Roman" pitchFamily="18" charset="0"/>
              </a:rPr>
              <a:t>techniques</a:t>
            </a:r>
          </a:p>
          <a:p>
            <a:pPr marL="0" indent="0" algn="just">
              <a:lnSpc>
                <a:spcPct val="115000"/>
              </a:lnSpc>
              <a:spcAft>
                <a:spcPts val="0"/>
              </a:spcAft>
              <a:buNone/>
            </a:pPr>
            <a:endParaRPr lang="en-US" sz="2800" b="1" dirty="0" smtClean="0">
              <a:latin typeface="Times New Roman" panose="02020603050405020304" pitchFamily="18" charset="0"/>
              <a:ea typeface="Times New Roman" panose="02020603050405020304" pitchFamily="18" charset="0"/>
              <a:cs typeface="Times New Roman" panose="02020603050405020304" pitchFamily="18" charset="0"/>
            </a:endParaRPr>
          </a:p>
          <a:p>
            <a:pPr marL="0" indent="0" algn="just">
              <a:lnSpc>
                <a:spcPct val="115000"/>
              </a:lnSpc>
              <a:spcAft>
                <a:spcPts val="0"/>
              </a:spcAft>
              <a:buNone/>
            </a:pPr>
            <a:r>
              <a:rPr lang="en-US" sz="2800" b="1" dirty="0" smtClean="0">
                <a:latin typeface="Times New Roman" panose="02020603050405020304" pitchFamily="18" charset="0"/>
                <a:ea typeface="Times New Roman" panose="02020603050405020304" pitchFamily="18" charset="0"/>
                <a:cs typeface="Times New Roman" panose="02020603050405020304" pitchFamily="18" charset="0"/>
              </a:rPr>
              <a:t>Example 4.5: </a:t>
            </a:r>
            <a:r>
              <a:rPr lang="en-US" sz="2800" b="1" dirty="0">
                <a:latin typeface="Times New Roman" panose="02020603050405020304" pitchFamily="18" charset="0"/>
                <a:ea typeface="Times New Roman" panose="02020603050405020304" pitchFamily="18" charset="0"/>
                <a:cs typeface="Times New Roman" panose="02020603050405020304" pitchFamily="18" charset="0"/>
              </a:rPr>
              <a:t>Consider the following C program and calculate the software science metrics.</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main()    </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int</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x=10, y=20;      </a:t>
            </a:r>
          </a:p>
          <a:p>
            <a:pPr marL="0" indent="0" algn="just">
              <a:lnSpc>
                <a:spcPct val="115000"/>
              </a:lnSpc>
              <a:spcAft>
                <a:spcPts val="0"/>
              </a:spcAft>
              <a:buNone/>
            </a:pP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printf</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("Before swapping x=%d y=%d",</a:t>
            </a: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x,y</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x=</a:t>
            </a: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x+y</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y=x-y;    </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x=x-y;    </a:t>
            </a:r>
          </a:p>
          <a:p>
            <a:pPr marL="0" indent="0" algn="just">
              <a:lnSpc>
                <a:spcPct val="115000"/>
              </a:lnSpc>
              <a:spcAft>
                <a:spcPts val="0"/>
              </a:spcAft>
              <a:buNone/>
            </a:pP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printf</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("After swapping x=%d y=%d",</a:t>
            </a:r>
            <a:r>
              <a:rPr lang="en-US" sz="2800" dirty="0" err="1">
                <a:latin typeface="Times New Roman" panose="02020603050405020304" pitchFamily="18" charset="0"/>
                <a:ea typeface="Times New Roman" panose="02020603050405020304" pitchFamily="18" charset="0"/>
                <a:cs typeface="Times New Roman" panose="02020603050405020304" pitchFamily="18" charset="0"/>
              </a:rPr>
              <a:t>x,y</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a:t>
            </a:r>
          </a:p>
          <a:p>
            <a:pPr marL="0" indent="0" algn="just">
              <a:lnSpc>
                <a:spcPct val="115000"/>
              </a:lnSpc>
              <a:spcAft>
                <a:spcPts val="0"/>
              </a:spcAft>
              <a:buNone/>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2800" dirty="0">
              <a:latin typeface="Calibri" panose="020F0502020204030204" pitchFamily="34"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solidFill>
                  <a:prstClr val="black">
                    <a:tint val="75000"/>
                  </a:prstClr>
                </a:solidFill>
              </a:rPr>
              <a:pPr/>
              <a:t>74</a:t>
            </a:fld>
            <a:endParaRPr lang="en-IN">
              <a:solidFill>
                <a:prstClr val="black">
                  <a:tint val="75000"/>
                </a:prstClr>
              </a:solidFill>
            </a:endParaRPr>
          </a:p>
        </p:txBody>
      </p:sp>
    </p:spTree>
    <p:extLst>
      <p:ext uri="{BB962C8B-B14F-4D97-AF65-F5344CB8AC3E}">
        <p14:creationId xmlns:p14="http://schemas.microsoft.com/office/powerpoint/2010/main" val="38636089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4082"/>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016239"/>
            <a:ext cx="8229600" cy="5184576"/>
          </a:xfrm>
        </p:spPr>
        <p:txBody>
          <a:bodyPr>
            <a:normAutofit/>
          </a:bodyPr>
          <a:lstStyle/>
          <a:p>
            <a:pPr marL="0" lvl="1" indent="0">
              <a:buNone/>
            </a:pPr>
            <a:r>
              <a:rPr lang="en-IN" sz="2400" dirty="0">
                <a:solidFill>
                  <a:srgbClr val="00B0F0"/>
                </a:solidFill>
                <a:latin typeface="Times New Roman" pitchFamily="18" charset="0"/>
                <a:cs typeface="Times New Roman" pitchFamily="18" charset="0"/>
              </a:rPr>
              <a:t>Analytical </a:t>
            </a:r>
            <a:r>
              <a:rPr lang="en-IN" sz="2400" dirty="0" smtClean="0">
                <a:solidFill>
                  <a:srgbClr val="00B0F0"/>
                </a:solidFill>
                <a:latin typeface="Times New Roman" pitchFamily="18" charset="0"/>
                <a:cs typeface="Times New Roman" pitchFamily="18" charset="0"/>
              </a:rPr>
              <a:t>techniques</a:t>
            </a:r>
          </a:p>
          <a:p>
            <a:pPr marL="0" indent="0" algn="just">
              <a:lnSpc>
                <a:spcPct val="115000"/>
              </a:lnSpc>
              <a:spcAft>
                <a:spcPts val="600"/>
              </a:spcAft>
              <a:buNone/>
            </a:pPr>
            <a:r>
              <a:rPr lang="en-US" sz="2400" b="1" dirty="0">
                <a:solidFill>
                  <a:prstClr val="black"/>
                </a:solidFill>
                <a:latin typeface="Times New Roman" panose="02020603050405020304" pitchFamily="18" charset="0"/>
                <a:ea typeface="Times New Roman" panose="02020603050405020304" pitchFamily="18" charset="0"/>
                <a:cs typeface="Times New Roman" panose="02020603050405020304" pitchFamily="18" charset="0"/>
              </a:rPr>
              <a:t>Example 4.5: </a:t>
            </a:r>
            <a:r>
              <a:rPr lang="en-US" sz="2400" b="1" dirty="0" smtClean="0">
                <a:solidFill>
                  <a:prstClr val="black"/>
                </a:solidFill>
                <a:latin typeface="Times New Roman" panose="02020603050405020304" pitchFamily="18" charset="0"/>
                <a:ea typeface="Times New Roman" panose="02020603050405020304" pitchFamily="18" charset="0"/>
                <a:cs typeface="Times New Roman" panose="02020603050405020304" pitchFamily="18" charset="0"/>
              </a:rPr>
              <a:t>Solution</a:t>
            </a:r>
            <a:endParaRPr lang="en-US" sz="2400" b="1" dirty="0" smtClean="0">
              <a:latin typeface="Times New Roman" panose="02020603050405020304" pitchFamily="18" charset="0"/>
              <a:ea typeface="Times New Roman" panose="02020603050405020304" pitchFamily="18" charset="0"/>
              <a:cs typeface="Times New Roman" panose="02020603050405020304" pitchFamily="18" charset="0"/>
            </a:endParaRPr>
          </a:p>
          <a:p>
            <a:pPr algn="just">
              <a:lnSpc>
                <a:spcPct val="115000"/>
              </a:lnSpc>
              <a:spcAft>
                <a:spcPts val="600"/>
              </a:spcAft>
            </a:pPr>
            <a:r>
              <a:rPr lang="en-US" sz="2400" dirty="0" smtClean="0">
                <a:latin typeface="Times New Roman" panose="02020603050405020304" pitchFamily="18" charset="0"/>
                <a:ea typeface="Times New Roman" panose="02020603050405020304" pitchFamily="18" charset="0"/>
                <a:cs typeface="Times New Roman" panose="02020603050405020304" pitchFamily="18" charset="0"/>
              </a:rPr>
              <a:t>The </a:t>
            </a:r>
            <a:r>
              <a:rPr lang="en-US" sz="2400" dirty="0">
                <a:latin typeface="Times New Roman" panose="02020603050405020304" pitchFamily="18" charset="0"/>
                <a:ea typeface="Times New Roman" panose="02020603050405020304" pitchFamily="18" charset="0"/>
                <a:cs typeface="Times New Roman" panose="02020603050405020304" pitchFamily="18" charset="0"/>
              </a:rPr>
              <a:t>values of n1, n2, N1 and N2 are tabulated as follows.</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a:p>
            <a:pPr marL="0" indent="0" algn="just">
              <a:lnSpc>
                <a:spcPct val="115000"/>
              </a:lnSpc>
              <a:spcAft>
                <a:spcPts val="0"/>
              </a:spcAft>
              <a:buNone/>
            </a:pPr>
            <a:endParaRPr lang="en-US" sz="2800" b="1" dirty="0" smtClean="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solidFill>
                  <a:prstClr val="black">
                    <a:tint val="75000"/>
                  </a:prstClr>
                </a:solidFill>
              </a:rPr>
              <a:pPr/>
              <a:t>75</a:t>
            </a:fld>
            <a:endParaRPr lang="en-IN">
              <a:solidFill>
                <a:prstClr val="black">
                  <a:tint val="75000"/>
                </a:prstClr>
              </a:solidFill>
            </a:endParaRPr>
          </a:p>
        </p:txBody>
      </p:sp>
      <p:graphicFrame>
        <p:nvGraphicFramePr>
          <p:cNvPr id="5" name="Table 4"/>
          <p:cNvGraphicFramePr>
            <a:graphicFrameLocks noGrp="1"/>
          </p:cNvGraphicFramePr>
          <p:nvPr>
            <p:extLst>
              <p:ext uri="{D42A27DB-BD31-4B8C-83A1-F6EECF244321}">
                <p14:modId xmlns:p14="http://schemas.microsoft.com/office/powerpoint/2010/main" val="3307924259"/>
              </p:ext>
            </p:extLst>
          </p:nvPr>
        </p:nvGraphicFramePr>
        <p:xfrm>
          <a:off x="971600" y="2564903"/>
          <a:ext cx="6984775" cy="3635916"/>
        </p:xfrm>
        <a:graphic>
          <a:graphicData uri="http://schemas.openxmlformats.org/drawingml/2006/table">
            <a:tbl>
              <a:tblPr firstRow="1" firstCol="1" bandRow="1"/>
              <a:tblGrid>
                <a:gridCol w="1597679">
                  <a:extLst>
                    <a:ext uri="{9D8B030D-6E8A-4147-A177-3AD203B41FA5}">
                      <a16:colId xmlns:a16="http://schemas.microsoft.com/office/drawing/2014/main" val="20000"/>
                    </a:ext>
                  </a:extLst>
                </a:gridCol>
                <a:gridCol w="1347967">
                  <a:extLst>
                    <a:ext uri="{9D8B030D-6E8A-4147-A177-3AD203B41FA5}">
                      <a16:colId xmlns:a16="http://schemas.microsoft.com/office/drawing/2014/main" val="20001"/>
                    </a:ext>
                  </a:extLst>
                </a:gridCol>
                <a:gridCol w="2911450">
                  <a:extLst>
                    <a:ext uri="{9D8B030D-6E8A-4147-A177-3AD203B41FA5}">
                      <a16:colId xmlns:a16="http://schemas.microsoft.com/office/drawing/2014/main" val="20002"/>
                    </a:ext>
                  </a:extLst>
                </a:gridCol>
                <a:gridCol w="1127679">
                  <a:extLst>
                    <a:ext uri="{9D8B030D-6E8A-4147-A177-3AD203B41FA5}">
                      <a16:colId xmlns:a16="http://schemas.microsoft.com/office/drawing/2014/main" val="20003"/>
                    </a:ext>
                  </a:extLst>
                </a:gridCol>
              </a:tblGrid>
              <a:tr h="302993">
                <a:tc>
                  <a:txBody>
                    <a:bodyPr/>
                    <a:lstStyle/>
                    <a:p>
                      <a:pPr algn="ctr">
                        <a:lnSpc>
                          <a:spcPct val="115000"/>
                        </a:lnSpc>
                        <a:spcAft>
                          <a:spcPts val="600"/>
                        </a:spcAft>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Distinct operator</a:t>
                      </a:r>
                      <a:endParaRPr lang="en-IN"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a:lnSpc>
                          <a:spcPct val="115000"/>
                        </a:lnSpc>
                        <a:spcAft>
                          <a:spcPts val="600"/>
                        </a:spcAft>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Occurrences</a:t>
                      </a:r>
                      <a:endParaRPr lang="en-IN"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Distinct operands</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Occurrences</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main</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x</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8</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3</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10</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2993">
                <a:tc>
                  <a:txBody>
                    <a:bodyPr/>
                    <a:lstStyle/>
                    <a:p>
                      <a:pPr algn="ctr">
                        <a:lnSpc>
                          <a:spcPct val="115000"/>
                        </a:lnSpc>
                        <a:spcAft>
                          <a:spcPts val="600"/>
                        </a:spcAft>
                      </a:pPr>
                      <a:r>
                        <a:rPr lang="en-US" sz="1200" dirty="0">
                          <a:effectLst/>
                          <a:latin typeface="Book Antiqua" panose="02040602050305030304" pitchFamily="18" charset="0"/>
                          <a:ea typeface="Times New Roman" panose="02020603050405020304" pitchFamily="18" charset="0"/>
                          <a:cs typeface="Times New Roman" panose="02020603050405020304" pitchFamily="18" charset="0"/>
                        </a:rPr>
                        <a:t>{ }</a:t>
                      </a:r>
                      <a:endParaRPr lang="en-IN"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y</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7</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int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20</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5</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solidFill>
                            <a:srgbClr val="000000"/>
                          </a:solidFill>
                          <a:effectLst/>
                          <a:latin typeface="Book Antiqua" panose="02040602050305030304" pitchFamily="18" charset="0"/>
                          <a:ea typeface="Times New Roman" panose="02020603050405020304" pitchFamily="18" charset="0"/>
                          <a:cs typeface="Times New Roman" panose="02020603050405020304" pitchFamily="18" charset="0"/>
                        </a:rPr>
                        <a:t>"Before swapping x=%d y=%d”</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5</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solidFill>
                            <a:srgbClr val="000000"/>
                          </a:solidFill>
                          <a:effectLst/>
                          <a:latin typeface="Book Antiqua" panose="02040602050305030304" pitchFamily="18" charset="0"/>
                          <a:ea typeface="Times New Roman" panose="02020603050405020304" pitchFamily="18" charset="0"/>
                          <a:cs typeface="Times New Roman" panose="02020603050405020304" pitchFamily="18" charset="0"/>
                        </a:rPr>
                        <a:t>"After swapping x=%d y=%d"</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6</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printf</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2</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1</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2993">
                <a:tc>
                  <a:txBody>
                    <a:bodyPr/>
                    <a:lstStyle/>
                    <a:p>
                      <a:pPr algn="ctr">
                        <a:lnSpc>
                          <a:spcPct val="115000"/>
                        </a:lnSpc>
                        <a:spcAft>
                          <a:spcPts val="600"/>
                        </a:spcAft>
                      </a:pPr>
                      <a:r>
                        <a:rPr lang="en-US" sz="1200">
                          <a:effectLst/>
                          <a:latin typeface="Book Antiqua" panose="02040602050305030304" pitchFamily="18" charset="0"/>
                          <a:ea typeface="Times New Roman" panose="02020603050405020304" pitchFamily="18" charset="0"/>
                          <a:cs typeface="Times New Roman" panose="02020603050405020304" pitchFamily="18" charset="0"/>
                        </a:rPr>
                        <a:t>-</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2</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2993">
                <a:tc>
                  <a:txBody>
                    <a:bodyPr/>
                    <a:lstStyle/>
                    <a:p>
                      <a:pPr algn="ctr">
                        <a:lnSpc>
                          <a:spcPct val="115000"/>
                        </a:lnSpc>
                        <a:spcAft>
                          <a:spcPts val="60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n1 = 10</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N1 = 27</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n2 = 6</a:t>
                      </a:r>
                      <a:endParaRPr lang="en-IN"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lnSpc>
                          <a:spcPct val="115000"/>
                        </a:lnSpc>
                        <a:spcAft>
                          <a:spcPts val="600"/>
                        </a:spcAf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N2 = 19</a:t>
                      </a:r>
                      <a:endParaRPr lang="en-IN"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19594991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4082"/>
          </a:xfrm>
        </p:spPr>
        <p:txBody>
          <a:bodyPr>
            <a:normAutofit/>
          </a:bodyPr>
          <a:lstStyle/>
          <a:p>
            <a:r>
              <a:rPr lang="en-IN" sz="3200" b="1" dirty="0">
                <a:solidFill>
                  <a:srgbClr val="0000FF"/>
                </a:solidFill>
                <a:latin typeface="Times New Roman" pitchFamily="18" charset="0"/>
                <a:cs typeface="Times New Roman" pitchFamily="18" charset="0"/>
              </a:rPr>
              <a:t>Effort Estimation Techniques</a:t>
            </a:r>
            <a:endParaRPr lang="en-IN" sz="3200"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016239"/>
            <a:ext cx="8229600" cy="5184576"/>
          </a:xfrm>
        </p:spPr>
        <p:txBody>
          <a:bodyPr>
            <a:normAutofit fontScale="92500"/>
          </a:bodyPr>
          <a:lstStyle/>
          <a:p>
            <a:pPr marL="0" lvl="1" indent="0" algn="just">
              <a:buNone/>
            </a:pPr>
            <a:r>
              <a:rPr lang="en-IN" dirty="0">
                <a:solidFill>
                  <a:srgbClr val="00B0F0"/>
                </a:solidFill>
                <a:latin typeface="Times New Roman" pitchFamily="18" charset="0"/>
                <a:cs typeface="Times New Roman" pitchFamily="18" charset="0"/>
              </a:rPr>
              <a:t>Analytical </a:t>
            </a:r>
            <a:r>
              <a:rPr lang="en-IN" dirty="0" smtClean="0">
                <a:solidFill>
                  <a:srgbClr val="00B0F0"/>
                </a:solidFill>
                <a:latin typeface="Times New Roman" pitchFamily="18" charset="0"/>
                <a:cs typeface="Times New Roman" pitchFamily="18" charset="0"/>
              </a:rPr>
              <a:t>techniques</a:t>
            </a:r>
          </a:p>
          <a:p>
            <a:pPr marL="0" indent="0" algn="just">
              <a:lnSpc>
                <a:spcPct val="115000"/>
              </a:lnSpc>
              <a:spcAft>
                <a:spcPts val="0"/>
              </a:spcAft>
              <a:buNone/>
            </a:pPr>
            <a:r>
              <a:rPr lang="en-US" sz="2800" b="1" dirty="0" smtClean="0">
                <a:latin typeface="Times New Roman" panose="02020603050405020304" pitchFamily="18" charset="0"/>
                <a:ea typeface="Times New Roman" panose="02020603050405020304" pitchFamily="18" charset="0"/>
                <a:cs typeface="Times New Roman" panose="02020603050405020304" pitchFamily="18" charset="0"/>
              </a:rPr>
              <a:t>Example 4.5: Solution</a:t>
            </a:r>
          </a:p>
          <a:p>
            <a:pPr algn="just">
              <a:lnSpc>
                <a:spcPct val="115000"/>
              </a:lnSpc>
              <a:spcAft>
                <a:spcPts val="600"/>
              </a:spcAft>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Program length (N) = N1 + N2 = 27 + 19 = 46</a:t>
            </a: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a:p>
            <a:pPr algn="just">
              <a:lnSpc>
                <a:spcPct val="115000"/>
              </a:lnSpc>
              <a:spcAft>
                <a:spcPts val="600"/>
              </a:spcAft>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Program vocabulary (n) = n1 + n2 = 10 + 6 = 16</a:t>
            </a: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a:p>
            <a:pPr algn="just">
              <a:lnSpc>
                <a:spcPct val="115000"/>
              </a:lnSpc>
              <a:spcAft>
                <a:spcPts val="600"/>
              </a:spcAft>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Program volume (V) = N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(n) = 46 x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(16) = 184</a:t>
            </a: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a:p>
            <a:pPr algn="just">
              <a:lnSpc>
                <a:spcPct val="115000"/>
              </a:lnSpc>
              <a:spcAft>
                <a:spcPts val="600"/>
              </a:spcAft>
            </a:pPr>
            <a:r>
              <a:rPr lang="en-US" sz="2800" dirty="0">
                <a:latin typeface="Times New Roman" panose="02020603050405020304" pitchFamily="18" charset="0"/>
                <a:ea typeface="Times New Roman" panose="02020603050405020304" pitchFamily="18" charset="0"/>
                <a:cs typeface="Times New Roman" panose="02020603050405020304" pitchFamily="18" charset="0"/>
              </a:rPr>
              <a:t>Estimated program length (N</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e</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  n1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 </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n1 + n2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 n2 </a:t>
            </a: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a:p>
            <a:pPr marL="1371600" indent="0" algn="just">
              <a:lnSpc>
                <a:spcPct val="115000"/>
              </a:lnSpc>
              <a:spcAft>
                <a:spcPts val="600"/>
              </a:spcAft>
              <a:buNone/>
            </a:pPr>
            <a:r>
              <a:rPr lang="en-US" sz="2800" dirty="0" smtClean="0">
                <a:latin typeface="Times New Roman" panose="02020603050405020304" pitchFamily="18" charset="0"/>
                <a:ea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10 x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(10) + 6 x log</a:t>
            </a:r>
            <a:r>
              <a:rPr lang="en-US" sz="2800" baseline="-25000" dirty="0">
                <a:latin typeface="Times New Roman" panose="02020603050405020304" pitchFamily="18" charset="0"/>
                <a:ea typeface="Times New Roman" panose="02020603050405020304" pitchFamily="18" charset="0"/>
                <a:cs typeface="Times New Roman" panose="02020603050405020304" pitchFamily="18" charset="0"/>
              </a:rPr>
              <a:t>2</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(6) = 33.21+15.50 </a:t>
            </a:r>
            <a:endParaRPr lang="en-US" sz="2800" dirty="0" smtClean="0">
              <a:latin typeface="Times New Roman" panose="02020603050405020304" pitchFamily="18" charset="0"/>
              <a:ea typeface="Times New Roman" panose="02020603050405020304" pitchFamily="18" charset="0"/>
              <a:cs typeface="Times New Roman" panose="02020603050405020304" pitchFamily="18" charset="0"/>
            </a:endParaRPr>
          </a:p>
          <a:p>
            <a:pPr marL="1371600" indent="0" algn="just">
              <a:lnSpc>
                <a:spcPct val="115000"/>
              </a:lnSpc>
              <a:spcAft>
                <a:spcPts val="600"/>
              </a:spcAft>
              <a:buNone/>
            </a:pPr>
            <a:r>
              <a:rPr lang="en-US" sz="2800" dirty="0" smtClean="0">
                <a:latin typeface="Times New Roman" panose="02020603050405020304" pitchFamily="18" charset="0"/>
                <a:ea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ea typeface="Times New Roman" panose="02020603050405020304" pitchFamily="18" charset="0"/>
                <a:cs typeface="Times New Roman" panose="02020603050405020304" pitchFamily="18" charset="0"/>
              </a:rPr>
              <a:t>48.71≈ 49</a:t>
            </a:r>
            <a:r>
              <a:rPr lang="en-US" sz="1400" dirty="0">
                <a:latin typeface="Calibri" panose="020F0502020204030204" pitchFamily="34" charset="0"/>
                <a:ea typeface="Times New Roman" panose="02020603050405020304" pitchFamily="18" charset="0"/>
                <a:cs typeface="Times New Roman" panose="02020603050405020304" pitchFamily="18" charset="0"/>
              </a:rPr>
              <a:t> </a:t>
            </a:r>
            <a:endParaRPr lang="en-IN" sz="2400" dirty="0">
              <a:latin typeface="Calibri" panose="020F0502020204030204" pitchFamily="34"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solidFill>
                  <a:prstClr val="black">
                    <a:tint val="75000"/>
                  </a:prstClr>
                </a:solidFill>
              </a:rPr>
              <a:pPr/>
              <a:t>76</a:t>
            </a:fld>
            <a:endParaRPr lang="en-IN">
              <a:solidFill>
                <a:prstClr val="black">
                  <a:tint val="75000"/>
                </a:prstClr>
              </a:solidFill>
            </a:endParaRPr>
          </a:p>
        </p:txBody>
      </p:sp>
    </p:spTree>
    <p:extLst>
      <p:ext uri="{BB962C8B-B14F-4D97-AF65-F5344CB8AC3E}">
        <p14:creationId xmlns:p14="http://schemas.microsoft.com/office/powerpoint/2010/main" val="36345941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Staffing and Personnel Planning</a:t>
            </a:r>
          </a:p>
        </p:txBody>
      </p:sp>
      <p:sp>
        <p:nvSpPr>
          <p:cNvPr id="3" name="Content Placeholder 2"/>
          <p:cNvSpPr>
            <a:spLocks noGrp="1"/>
          </p:cNvSpPr>
          <p:nvPr>
            <p:ph idx="1"/>
          </p:nvPr>
        </p:nvSpPr>
        <p:spPr>
          <a:xfrm>
            <a:off x="457200" y="1600200"/>
            <a:ext cx="8363272" cy="4853136"/>
          </a:xfrm>
        </p:spPr>
        <p:txBody>
          <a:bodyPr>
            <a:normAutofit fontScale="92500" lnSpcReduction="10000"/>
          </a:bodyPr>
          <a:lstStyle/>
          <a:p>
            <a:pPr algn="just"/>
            <a:r>
              <a:rPr lang="en-IN" sz="2400" dirty="0" smtClean="0">
                <a:latin typeface="Times New Roman" pitchFamily="18" charset="0"/>
                <a:cs typeface="Times New Roman" pitchFamily="18" charset="0"/>
              </a:rPr>
              <a:t>Project </a:t>
            </a:r>
            <a:r>
              <a:rPr lang="en-IN" sz="2400" dirty="0">
                <a:latin typeface="Times New Roman" pitchFamily="18" charset="0"/>
                <a:cs typeface="Times New Roman" pitchFamily="18" charset="0"/>
              </a:rPr>
              <a:t>managers fix the staff requirement early in the project because multiple projects may be running in the organization</a:t>
            </a:r>
            <a:r>
              <a:rPr lang="en-IN" sz="2400" dirty="0" smtClean="0">
                <a:latin typeface="Times New Roman" pitchFamily="18" charset="0"/>
                <a:cs typeface="Times New Roman" pitchFamily="18" charset="0"/>
              </a:rPr>
              <a:t>.</a:t>
            </a: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number of staff varies at different times as the project progresses.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staff requirement increases during the system design, detailed design, coding, and testing times.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staff requirement decreases during integration, deployment and training, and documentation. </a:t>
            </a:r>
            <a:endParaRPr lang="en-IN" sz="2400" dirty="0" smtClean="0">
              <a:latin typeface="Times New Roman" pitchFamily="18" charset="0"/>
              <a:cs typeface="Times New Roman" pitchFamily="18" charset="0"/>
            </a:endParaRPr>
          </a:p>
          <a:p>
            <a:pPr algn="just"/>
            <a:r>
              <a:rPr lang="en-IN" sz="2400" dirty="0" err="1">
                <a:solidFill>
                  <a:srgbClr val="00B0F0"/>
                </a:solidFill>
                <a:latin typeface="Times New Roman" pitchFamily="18" charset="0"/>
                <a:cs typeface="Times New Roman" pitchFamily="18" charset="0"/>
              </a:rPr>
              <a:t>Norden</a:t>
            </a:r>
            <a:r>
              <a:rPr lang="en-IN" sz="2400" dirty="0">
                <a:latin typeface="Times New Roman" pitchFamily="18" charset="0"/>
                <a:cs typeface="Times New Roman" pitchFamily="18" charset="0"/>
              </a:rPr>
              <a:t> in 1958 </a:t>
            </a:r>
            <a:r>
              <a:rPr lang="en-IN" sz="2400" dirty="0" smtClean="0">
                <a:latin typeface="Times New Roman" pitchFamily="18" charset="0"/>
                <a:cs typeface="Times New Roman" pitchFamily="18" charset="0"/>
              </a:rPr>
              <a:t>analysed </a:t>
            </a:r>
            <a:r>
              <a:rPr lang="en-IN" sz="2400" dirty="0">
                <a:latin typeface="Times New Roman" pitchFamily="18" charset="0"/>
                <a:cs typeface="Times New Roman" pitchFamily="18" charset="0"/>
              </a:rPr>
              <a:t>several research and development projects and studied the staffing patterns in the software development cycle</a:t>
            </a:r>
            <a:r>
              <a:rPr lang="en-IN" sz="2400" dirty="0" smtClean="0">
                <a:latin typeface="Times New Roman" pitchFamily="18" charset="0"/>
                <a:cs typeface="Times New Roman" pitchFamily="18" charset="0"/>
              </a:rPr>
              <a:t>.</a:t>
            </a:r>
          </a:p>
          <a:p>
            <a:pPr algn="just">
              <a:lnSpc>
                <a:spcPct val="115000"/>
              </a:lnSpc>
              <a:spcAft>
                <a:spcPts val="0"/>
              </a:spcAft>
            </a:pPr>
            <a:r>
              <a:rPr lang="en-IN" sz="2400" dirty="0">
                <a:latin typeface="Times New Roman" pitchFamily="18" charset="0"/>
                <a:cs typeface="Times New Roman" pitchFamily="18" charset="0"/>
              </a:rPr>
              <a:t>He observed that the staffing pattern can be approximated by the Rayleigh distribution curve as shown in </a:t>
            </a:r>
            <a:r>
              <a:rPr lang="en-IN" sz="2400">
                <a:latin typeface="Times New Roman" pitchFamily="18" charset="0"/>
                <a:cs typeface="Times New Roman" pitchFamily="18" charset="0"/>
              </a:rPr>
              <a:t>Figure </a:t>
            </a:r>
            <a:r>
              <a:rPr lang="en-IN" sz="2400" smtClean="0">
                <a:latin typeface="Times New Roman" pitchFamily="18" charset="0"/>
                <a:cs typeface="Times New Roman" pitchFamily="18" charset="0"/>
              </a:rPr>
              <a:t>5.2 </a:t>
            </a:r>
            <a:r>
              <a:rPr lang="en-IN" sz="2400" dirty="0">
                <a:latin typeface="Times New Roman" pitchFamily="18" charset="0"/>
                <a:cs typeface="Times New Roman" pitchFamily="18" charset="0"/>
              </a:rPr>
              <a:t>and the Rayleigh curve can represented by the </a:t>
            </a:r>
            <a:r>
              <a:rPr lang="en-IN" sz="2400" dirty="0" smtClean="0">
                <a:latin typeface="Times New Roman" pitchFamily="18" charset="0"/>
                <a:cs typeface="Times New Roman" pitchFamily="18" charset="0"/>
              </a:rPr>
              <a:t>equation:</a:t>
            </a:r>
          </a:p>
          <a:p>
            <a:pPr marL="0" indent="0" algn="just">
              <a:lnSpc>
                <a:spcPct val="115000"/>
              </a:lnSpc>
              <a:spcAft>
                <a:spcPts val="0"/>
              </a:spcAft>
              <a:buNone/>
            </a:pPr>
            <a:r>
              <a:rPr lang="en-IN" sz="2400" dirty="0" smtClean="0">
                <a:latin typeface="Times New Roman" pitchFamily="18" charset="0"/>
                <a:cs typeface="Times New Roman" pitchFamily="18" charset="0"/>
              </a:rPr>
              <a:t> 			</a:t>
            </a:r>
            <a:r>
              <a:rPr lang="en-IN" sz="2400" dirty="0" smtClean="0">
                <a:latin typeface="Times New Roman"/>
                <a:ea typeface="Times New Roman"/>
                <a:cs typeface="Times New Roman"/>
              </a:rPr>
              <a:t>E </a:t>
            </a:r>
            <a:r>
              <a:rPr lang="en-IN" sz="2400" dirty="0">
                <a:latin typeface="Times New Roman"/>
                <a:ea typeface="Times New Roman"/>
                <a:cs typeface="Times New Roman"/>
              </a:rPr>
              <a:t>= K/t²</a:t>
            </a:r>
            <a:r>
              <a:rPr lang="en-IN" sz="2400" baseline="-25000" dirty="0">
                <a:latin typeface="Times New Roman"/>
                <a:ea typeface="Times New Roman"/>
                <a:cs typeface="Times New Roman"/>
              </a:rPr>
              <a:t>d</a:t>
            </a:r>
            <a:r>
              <a:rPr lang="en-IN" sz="2400" dirty="0">
                <a:latin typeface="Times New Roman"/>
                <a:ea typeface="Times New Roman"/>
                <a:cs typeface="Times New Roman"/>
              </a:rPr>
              <a:t> × t × </a:t>
            </a:r>
            <a:r>
              <a:rPr lang="en-IN" sz="2400" dirty="0" smtClean="0">
                <a:latin typeface="Times New Roman"/>
                <a:ea typeface="Times New Roman"/>
                <a:cs typeface="Times New Roman"/>
              </a:rPr>
              <a:t>e</a:t>
            </a:r>
            <a:r>
              <a:rPr lang="en-IN" sz="2400" baseline="30000" dirty="0" smtClean="0">
                <a:latin typeface="Times New Roman"/>
                <a:ea typeface="Times New Roman"/>
                <a:cs typeface="Times New Roman"/>
              </a:rPr>
              <a:t>-t²</a:t>
            </a:r>
            <a:r>
              <a:rPr lang="en-IN" sz="2400" dirty="0" smtClean="0">
                <a:latin typeface="Times New Roman"/>
                <a:ea typeface="Times New Roman"/>
                <a:cs typeface="Times New Roman"/>
              </a:rPr>
              <a:t>/2t²</a:t>
            </a:r>
            <a:r>
              <a:rPr lang="en-IN" sz="2400" baseline="-25000" dirty="0" smtClean="0">
                <a:latin typeface="Times New Roman"/>
                <a:ea typeface="Times New Roman"/>
                <a:cs typeface="Times New Roman"/>
              </a:rPr>
              <a:t>d</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77</a:t>
            </a:fld>
            <a:endParaRPr lang="en-IN"/>
          </a:p>
        </p:txBody>
      </p:sp>
    </p:spTree>
    <p:extLst>
      <p:ext uri="{BB962C8B-B14F-4D97-AF65-F5344CB8AC3E}">
        <p14:creationId xmlns:p14="http://schemas.microsoft.com/office/powerpoint/2010/main" val="1230367752"/>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2586" y="201314"/>
            <a:ext cx="8229600" cy="1143000"/>
          </a:xfrm>
        </p:spPr>
        <p:txBody>
          <a:bodyPr>
            <a:normAutofit/>
          </a:bodyPr>
          <a:lstStyle/>
          <a:p>
            <a:r>
              <a:rPr lang="en-IN" sz="3200" b="1" dirty="0">
                <a:solidFill>
                  <a:srgbClr val="0000FF"/>
                </a:solidFill>
                <a:latin typeface="Times New Roman" pitchFamily="18" charset="0"/>
                <a:cs typeface="Times New Roman" pitchFamily="18" charset="0"/>
              </a:rPr>
              <a:t>Staffing and Personnel Planning</a:t>
            </a:r>
          </a:p>
        </p:txBody>
      </p:sp>
      <p:sp>
        <p:nvSpPr>
          <p:cNvPr id="3" name="Content Placeholder 2"/>
          <p:cNvSpPr>
            <a:spLocks noGrp="1"/>
          </p:cNvSpPr>
          <p:nvPr>
            <p:ph idx="1"/>
          </p:nvPr>
        </p:nvSpPr>
        <p:spPr>
          <a:xfrm>
            <a:off x="5034473" y="1432887"/>
            <a:ext cx="3930015" cy="5164465"/>
          </a:xfrm>
        </p:spPr>
        <p:txBody>
          <a:bodyPr>
            <a:noAutofit/>
          </a:bodyPr>
          <a:lstStyle/>
          <a:p>
            <a:pPr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Rayleigh curve represents the relationship between effort (E) and time (t</a:t>
            </a:r>
            <a:r>
              <a:rPr lang="en-IN" sz="2200" baseline="-25000" dirty="0">
                <a:latin typeface="Times New Roman" pitchFamily="18" charset="0"/>
                <a:cs typeface="Times New Roman" pitchFamily="18" charset="0"/>
              </a:rPr>
              <a:t>d</a:t>
            </a:r>
            <a:r>
              <a:rPr lang="en-IN" sz="2200" dirty="0">
                <a:latin typeface="Times New Roman" pitchFamily="18" charset="0"/>
                <a:cs typeface="Times New Roman" pitchFamily="18" charset="0"/>
              </a:rPr>
              <a:t>) at any point of time. </a:t>
            </a:r>
            <a:endParaRPr lang="en-IN" sz="2200" dirty="0" smtClean="0">
              <a:latin typeface="Times New Roman" pitchFamily="18" charset="0"/>
              <a:cs typeface="Times New Roman" pitchFamily="18" charset="0"/>
            </a:endParaRPr>
          </a:p>
          <a:p>
            <a:pPr algn="just"/>
            <a:r>
              <a:rPr lang="en-IN" sz="2200" i="1" dirty="0" smtClean="0">
                <a:latin typeface="Times New Roman" pitchFamily="18" charset="0"/>
                <a:cs typeface="Times New Roman" pitchFamily="18" charset="0"/>
              </a:rPr>
              <a:t>E</a:t>
            </a:r>
            <a:r>
              <a:rPr lang="en-IN" sz="2200" dirty="0" smtClean="0">
                <a:latin typeface="Times New Roman" pitchFamily="18" charset="0"/>
                <a:cs typeface="Times New Roman" pitchFamily="18" charset="0"/>
              </a:rPr>
              <a:t> </a:t>
            </a:r>
            <a:r>
              <a:rPr lang="en-IN" sz="2200" dirty="0">
                <a:latin typeface="Times New Roman" pitchFamily="18" charset="0"/>
                <a:cs typeface="Times New Roman" pitchFamily="18" charset="0"/>
              </a:rPr>
              <a:t>indicates the staffing requirement at any particular time during the duration of the project. </a:t>
            </a:r>
            <a:endParaRPr lang="en-IN" sz="2200" dirty="0" smtClean="0">
              <a:latin typeface="Times New Roman" pitchFamily="18" charset="0"/>
              <a:cs typeface="Times New Roman" pitchFamily="18" charset="0"/>
            </a:endParaRPr>
          </a:p>
          <a:p>
            <a:pPr algn="just"/>
            <a:r>
              <a:rPr lang="en-IN" sz="2200" i="1" dirty="0" smtClean="0">
                <a:latin typeface="Times New Roman" pitchFamily="18" charset="0"/>
                <a:cs typeface="Times New Roman" pitchFamily="18" charset="0"/>
              </a:rPr>
              <a:t>K</a:t>
            </a:r>
            <a:r>
              <a:rPr lang="en-IN" sz="2200" dirty="0" smtClean="0">
                <a:latin typeface="Times New Roman" pitchFamily="18" charset="0"/>
                <a:cs typeface="Times New Roman" pitchFamily="18" charset="0"/>
              </a:rPr>
              <a:t> </a:t>
            </a:r>
            <a:r>
              <a:rPr lang="en-IN" sz="2200" dirty="0">
                <a:latin typeface="Times New Roman" pitchFamily="18" charset="0"/>
                <a:cs typeface="Times New Roman" pitchFamily="18" charset="0"/>
              </a:rPr>
              <a:t>is the total area under the curve, which represents the total effort requirements for the project. </a:t>
            </a:r>
            <a:r>
              <a:rPr lang="en-IN" sz="2200" i="1" dirty="0">
                <a:latin typeface="Times New Roman" pitchFamily="18" charset="0"/>
                <a:cs typeface="Times New Roman" pitchFamily="18" charset="0"/>
              </a:rPr>
              <a:t>t</a:t>
            </a:r>
            <a:r>
              <a:rPr lang="en-IN" sz="2200" i="1" baseline="-25000" dirty="0">
                <a:latin typeface="Times New Roman" pitchFamily="18" charset="0"/>
                <a:cs typeface="Times New Roman" pitchFamily="18" charset="0"/>
              </a:rPr>
              <a:t>d</a:t>
            </a:r>
            <a:r>
              <a:rPr lang="en-IN" sz="2200" dirty="0">
                <a:latin typeface="Times New Roman" pitchFamily="18" charset="0"/>
                <a:cs typeface="Times New Roman" pitchFamily="18" charset="0"/>
              </a:rPr>
              <a:t> is the time at which the curve reaches its maximum value. </a:t>
            </a:r>
          </a:p>
        </p:txBody>
      </p:sp>
      <p:grpSp>
        <p:nvGrpSpPr>
          <p:cNvPr id="4" name="Canvas 11"/>
          <p:cNvGrpSpPr/>
          <p:nvPr/>
        </p:nvGrpSpPr>
        <p:grpSpPr>
          <a:xfrm>
            <a:off x="532275" y="1743059"/>
            <a:ext cx="4502198" cy="3645464"/>
            <a:chOff x="0" y="0"/>
            <a:chExt cx="4598035" cy="3260596"/>
          </a:xfrm>
        </p:grpSpPr>
        <p:sp>
          <p:nvSpPr>
            <p:cNvPr id="5" name="Rectangle 4"/>
            <p:cNvSpPr/>
            <p:nvPr/>
          </p:nvSpPr>
          <p:spPr>
            <a:xfrm>
              <a:off x="0" y="0"/>
              <a:ext cx="4598035" cy="2841625"/>
            </a:xfrm>
            <a:prstGeom prst="rect">
              <a:avLst/>
            </a:prstGeom>
            <a:noFill/>
          </p:spPr>
        </p:sp>
        <p:cxnSp>
          <p:nvCxnSpPr>
            <p:cNvPr id="6" name="AutoShape 12"/>
            <p:cNvCxnSpPr>
              <a:cxnSpLocks noChangeShapeType="1"/>
            </p:cNvCxnSpPr>
            <p:nvPr/>
          </p:nvCxnSpPr>
          <p:spPr bwMode="auto">
            <a:xfrm flipV="1">
              <a:off x="285623" y="199789"/>
              <a:ext cx="18987" cy="2070539"/>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7" name="AutoShape 13"/>
            <p:cNvCxnSpPr>
              <a:cxnSpLocks noChangeShapeType="1"/>
            </p:cNvCxnSpPr>
            <p:nvPr/>
          </p:nvCxnSpPr>
          <p:spPr bwMode="auto">
            <a:xfrm>
              <a:off x="304610" y="2270328"/>
              <a:ext cx="3838575" cy="826"/>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8" name="Freeform 7"/>
            <p:cNvSpPr>
              <a:spLocks/>
            </p:cNvSpPr>
            <p:nvPr/>
          </p:nvSpPr>
          <p:spPr bwMode="auto">
            <a:xfrm>
              <a:off x="285623" y="911433"/>
              <a:ext cx="3419221" cy="1358894"/>
            </a:xfrm>
            <a:custGeom>
              <a:avLst/>
              <a:gdLst>
                <a:gd name="T0" fmla="*/ 0 w 5385"/>
                <a:gd name="T1" fmla="*/ 2140 h 2140"/>
                <a:gd name="T2" fmla="*/ 450 w 5385"/>
                <a:gd name="T3" fmla="*/ 2005 h 2140"/>
                <a:gd name="T4" fmla="*/ 825 w 5385"/>
                <a:gd name="T5" fmla="*/ 1825 h 2140"/>
                <a:gd name="T6" fmla="*/ 1155 w 5385"/>
                <a:gd name="T7" fmla="*/ 1525 h 2140"/>
                <a:gd name="T8" fmla="*/ 1755 w 5385"/>
                <a:gd name="T9" fmla="*/ 685 h 2140"/>
                <a:gd name="T10" fmla="*/ 2055 w 5385"/>
                <a:gd name="T11" fmla="*/ 295 h 2140"/>
                <a:gd name="T12" fmla="*/ 2415 w 5385"/>
                <a:gd name="T13" fmla="*/ 40 h 2140"/>
                <a:gd name="T14" fmla="*/ 2835 w 5385"/>
                <a:gd name="T15" fmla="*/ 55 h 2140"/>
                <a:gd name="T16" fmla="*/ 3105 w 5385"/>
                <a:gd name="T17" fmla="*/ 220 h 2140"/>
                <a:gd name="T18" fmla="*/ 3540 w 5385"/>
                <a:gd name="T19" fmla="*/ 775 h 2140"/>
                <a:gd name="T20" fmla="*/ 3855 w 5385"/>
                <a:gd name="T21" fmla="*/ 1165 h 2140"/>
                <a:gd name="T22" fmla="*/ 4170 w 5385"/>
                <a:gd name="T23" fmla="*/ 1540 h 2140"/>
                <a:gd name="T24" fmla="*/ 4530 w 5385"/>
                <a:gd name="T25" fmla="*/ 1810 h 2140"/>
                <a:gd name="T26" fmla="*/ 5160 w 5385"/>
                <a:gd name="T27" fmla="*/ 2020 h 2140"/>
                <a:gd name="T28" fmla="*/ 5385 w 5385"/>
                <a:gd name="T29" fmla="*/ 2050 h 2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385" h="2140">
                  <a:moveTo>
                    <a:pt x="0" y="2140"/>
                  </a:moveTo>
                  <a:cubicBezTo>
                    <a:pt x="156" y="2099"/>
                    <a:pt x="312" y="2058"/>
                    <a:pt x="450" y="2005"/>
                  </a:cubicBezTo>
                  <a:cubicBezTo>
                    <a:pt x="588" y="1952"/>
                    <a:pt x="708" y="1905"/>
                    <a:pt x="825" y="1825"/>
                  </a:cubicBezTo>
                  <a:cubicBezTo>
                    <a:pt x="942" y="1745"/>
                    <a:pt x="1000" y="1715"/>
                    <a:pt x="1155" y="1525"/>
                  </a:cubicBezTo>
                  <a:cubicBezTo>
                    <a:pt x="1310" y="1335"/>
                    <a:pt x="1605" y="890"/>
                    <a:pt x="1755" y="685"/>
                  </a:cubicBezTo>
                  <a:cubicBezTo>
                    <a:pt x="1905" y="480"/>
                    <a:pt x="1945" y="402"/>
                    <a:pt x="2055" y="295"/>
                  </a:cubicBezTo>
                  <a:cubicBezTo>
                    <a:pt x="2165" y="188"/>
                    <a:pt x="2285" y="80"/>
                    <a:pt x="2415" y="40"/>
                  </a:cubicBezTo>
                  <a:cubicBezTo>
                    <a:pt x="2545" y="0"/>
                    <a:pt x="2720" y="25"/>
                    <a:pt x="2835" y="55"/>
                  </a:cubicBezTo>
                  <a:cubicBezTo>
                    <a:pt x="2950" y="85"/>
                    <a:pt x="2988" y="100"/>
                    <a:pt x="3105" y="220"/>
                  </a:cubicBezTo>
                  <a:cubicBezTo>
                    <a:pt x="3222" y="340"/>
                    <a:pt x="3415" y="618"/>
                    <a:pt x="3540" y="775"/>
                  </a:cubicBezTo>
                  <a:cubicBezTo>
                    <a:pt x="3665" y="932"/>
                    <a:pt x="3750" y="1038"/>
                    <a:pt x="3855" y="1165"/>
                  </a:cubicBezTo>
                  <a:cubicBezTo>
                    <a:pt x="3960" y="1292"/>
                    <a:pt x="4057" y="1432"/>
                    <a:pt x="4170" y="1540"/>
                  </a:cubicBezTo>
                  <a:cubicBezTo>
                    <a:pt x="4283" y="1648"/>
                    <a:pt x="4365" y="1730"/>
                    <a:pt x="4530" y="1810"/>
                  </a:cubicBezTo>
                  <a:cubicBezTo>
                    <a:pt x="4695" y="1890"/>
                    <a:pt x="5018" y="1980"/>
                    <a:pt x="5160" y="2020"/>
                  </a:cubicBezTo>
                  <a:cubicBezTo>
                    <a:pt x="5302" y="2060"/>
                    <a:pt x="5343" y="2050"/>
                    <a:pt x="5385" y="2050"/>
                  </a:cubicBezTo>
                </a:path>
              </a:pathLst>
            </a:cu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rot="0" vert="horz" wrap="square" lIns="91440" tIns="45720" rIns="91440" bIns="45720" anchor="t" anchorCtr="0" upright="1">
              <a:noAutofit/>
            </a:bodyPr>
            <a:lstStyle/>
            <a:p>
              <a:endParaRPr lang="en-IN" sz="1600" b="1">
                <a:latin typeface="Times New Roman" pitchFamily="18" charset="0"/>
                <a:cs typeface="Times New Roman" pitchFamily="18" charset="0"/>
              </a:endParaRPr>
            </a:p>
          </p:txBody>
        </p:sp>
        <p:sp>
          <p:nvSpPr>
            <p:cNvPr id="9" name="Text Box 22"/>
            <p:cNvSpPr txBox="1">
              <a:spLocks noChangeArrowheads="1"/>
            </p:cNvSpPr>
            <p:nvPr/>
          </p:nvSpPr>
          <p:spPr bwMode="auto">
            <a:xfrm>
              <a:off x="237744" y="0"/>
              <a:ext cx="142812" cy="199789"/>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1000"/>
                </a:spcAft>
              </a:pPr>
              <a:r>
                <a:rPr lang="en-IN" sz="1600" b="1">
                  <a:effectLst/>
                  <a:latin typeface="Times New Roman" pitchFamily="18" charset="0"/>
                  <a:ea typeface="Times New Roman"/>
                  <a:cs typeface="Times New Roman" pitchFamily="18" charset="0"/>
                </a:rPr>
                <a:t>E</a:t>
              </a:r>
            </a:p>
          </p:txBody>
        </p:sp>
        <p:cxnSp>
          <p:nvCxnSpPr>
            <p:cNvPr id="10" name="AutoShape 31"/>
            <p:cNvCxnSpPr>
              <a:cxnSpLocks noChangeShapeType="1"/>
            </p:cNvCxnSpPr>
            <p:nvPr/>
          </p:nvCxnSpPr>
          <p:spPr bwMode="auto">
            <a:xfrm flipV="1">
              <a:off x="1923415" y="784295"/>
              <a:ext cx="826" cy="1486858"/>
            </a:xfrm>
            <a:prstGeom prst="straightConnector1">
              <a:avLst/>
            </a:prstGeom>
            <a:noFill/>
            <a:ln w="9525">
              <a:solidFill>
                <a:srgbClr val="000000"/>
              </a:solidFill>
              <a:prstDash val="lgDash"/>
              <a:round/>
              <a:headEnd/>
              <a:tailEnd/>
            </a:ln>
            <a:extLst>
              <a:ext uri="{909E8E84-426E-40DD-AFC4-6F175D3DCCD1}">
                <a14:hiddenFill xmlns:a14="http://schemas.microsoft.com/office/drawing/2010/main">
                  <a:noFill/>
                </a14:hiddenFill>
              </a:ext>
            </a:extLst>
          </p:spPr>
        </p:cxnSp>
        <p:sp>
          <p:nvSpPr>
            <p:cNvPr id="11" name="Text Box 32"/>
            <p:cNvSpPr txBox="1">
              <a:spLocks noChangeArrowheads="1"/>
            </p:cNvSpPr>
            <p:nvPr/>
          </p:nvSpPr>
          <p:spPr bwMode="auto">
            <a:xfrm>
              <a:off x="1857375" y="2356188"/>
              <a:ext cx="1618806" cy="218777"/>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1000"/>
                </a:spcAft>
              </a:pPr>
              <a:r>
                <a:rPr lang="en-IN" sz="1600" b="1">
                  <a:effectLst/>
                  <a:latin typeface="Times New Roman" pitchFamily="18" charset="0"/>
                  <a:ea typeface="Times New Roman"/>
                  <a:cs typeface="Times New Roman" pitchFamily="18" charset="0"/>
                </a:rPr>
                <a:t>t</a:t>
              </a:r>
              <a:r>
                <a:rPr lang="en-IN" sz="1600" b="1" baseline="-25000">
                  <a:effectLst/>
                  <a:latin typeface="Times New Roman" pitchFamily="18" charset="0"/>
                  <a:ea typeface="Times New Roman"/>
                  <a:cs typeface="Times New Roman" pitchFamily="18" charset="0"/>
                </a:rPr>
                <a:t>d</a:t>
              </a:r>
              <a:r>
                <a:rPr lang="en-IN" sz="1600" b="1">
                  <a:effectLst/>
                  <a:latin typeface="Times New Roman" pitchFamily="18" charset="0"/>
                  <a:ea typeface="Times New Roman"/>
                  <a:cs typeface="Times New Roman" pitchFamily="18" charset="0"/>
                </a:rPr>
                <a:t>            Time </a:t>
              </a:r>
            </a:p>
          </p:txBody>
        </p:sp>
        <p:sp>
          <p:nvSpPr>
            <p:cNvPr id="12" name="Text Box 33"/>
            <p:cNvSpPr txBox="1">
              <a:spLocks noChangeArrowheads="1"/>
            </p:cNvSpPr>
            <p:nvPr/>
          </p:nvSpPr>
          <p:spPr bwMode="auto">
            <a:xfrm>
              <a:off x="0" y="660459"/>
              <a:ext cx="237744" cy="1238361"/>
            </a:xfrm>
            <a:prstGeom prst="rect">
              <a:avLst/>
            </a:prstGeom>
            <a:solidFill>
              <a:srgbClr val="FFFFFF"/>
            </a:solidFill>
            <a:ln w="9525">
              <a:solidFill>
                <a:schemeClr val="bg1">
                  <a:lumMod val="100000"/>
                  <a:lumOff val="0"/>
                </a:schemeClr>
              </a:solidFill>
              <a:miter lim="800000"/>
              <a:headEnd/>
              <a:tailEnd/>
            </a:ln>
          </p:spPr>
          <p:txBody>
            <a:bodyPr rot="0" vert="vert270" wrap="square" lIns="0" tIns="0" rIns="0" bIns="0" anchor="t" anchorCtr="0" upright="1">
              <a:noAutofit/>
            </a:bodyPr>
            <a:lstStyle/>
            <a:p>
              <a:pPr>
                <a:lnSpc>
                  <a:spcPct val="115000"/>
                </a:lnSpc>
                <a:spcAft>
                  <a:spcPts val="1000"/>
                </a:spcAft>
              </a:pPr>
              <a:r>
                <a:rPr lang="en-IN" sz="1600" b="1">
                  <a:effectLst/>
                  <a:latin typeface="Times New Roman" pitchFamily="18" charset="0"/>
                  <a:ea typeface="Times New Roman"/>
                  <a:cs typeface="Times New Roman" pitchFamily="18" charset="0"/>
                </a:rPr>
                <a:t>Effort per unit time</a:t>
              </a:r>
            </a:p>
          </p:txBody>
        </p:sp>
        <p:sp>
          <p:nvSpPr>
            <p:cNvPr id="13" name="Text Box 34"/>
            <p:cNvSpPr txBox="1">
              <a:spLocks noChangeArrowheads="1"/>
            </p:cNvSpPr>
            <p:nvPr/>
          </p:nvSpPr>
          <p:spPr bwMode="auto">
            <a:xfrm>
              <a:off x="258907" y="2977556"/>
              <a:ext cx="3971204" cy="28304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gn="ctr">
                <a:lnSpc>
                  <a:spcPct val="115000"/>
                </a:lnSpc>
                <a:spcAft>
                  <a:spcPts val="1000"/>
                </a:spcAft>
              </a:pPr>
              <a:r>
                <a:rPr lang="en-IN" sz="2000" b="1" dirty="0">
                  <a:effectLst/>
                  <a:latin typeface="Times New Roman" pitchFamily="18" charset="0"/>
                  <a:ea typeface="Times New Roman"/>
                  <a:cs typeface="Times New Roman" pitchFamily="18" charset="0"/>
                </a:rPr>
                <a:t>Figure </a:t>
              </a:r>
              <a:r>
                <a:rPr lang="en-IN" sz="2000" b="1" dirty="0" smtClean="0">
                  <a:effectLst/>
                  <a:latin typeface="Times New Roman" pitchFamily="18" charset="0"/>
                  <a:ea typeface="Times New Roman"/>
                  <a:cs typeface="Times New Roman" pitchFamily="18" charset="0"/>
                </a:rPr>
                <a:t>5.2</a:t>
              </a:r>
              <a:r>
                <a:rPr lang="en-IN" sz="2000" b="1" dirty="0">
                  <a:effectLst/>
                  <a:latin typeface="Times New Roman" pitchFamily="18" charset="0"/>
                  <a:ea typeface="Times New Roman"/>
                  <a:cs typeface="Times New Roman" pitchFamily="18" charset="0"/>
                </a:rPr>
                <a:t>: The Rayleigh curve</a:t>
              </a:r>
            </a:p>
          </p:txBody>
        </p:sp>
        <p:sp>
          <p:nvSpPr>
            <p:cNvPr id="14" name="Text Box 35"/>
            <p:cNvSpPr txBox="1">
              <a:spLocks noChangeArrowheads="1"/>
            </p:cNvSpPr>
            <p:nvPr/>
          </p:nvSpPr>
          <p:spPr bwMode="auto">
            <a:xfrm>
              <a:off x="2978404" y="1367976"/>
              <a:ext cx="1164781" cy="409485"/>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600" b="1">
                  <a:effectLst/>
                  <a:latin typeface="Times New Roman" pitchFamily="18" charset="0"/>
                  <a:ea typeface="Times New Roman"/>
                  <a:cs typeface="Times New Roman" pitchFamily="18" charset="0"/>
                </a:rPr>
                <a:t>K</a:t>
              </a:r>
            </a:p>
            <a:p>
              <a:pPr algn="ctr">
                <a:lnSpc>
                  <a:spcPct val="115000"/>
                </a:lnSpc>
                <a:spcAft>
                  <a:spcPts val="0"/>
                </a:spcAft>
              </a:pPr>
              <a:r>
                <a:rPr lang="en-IN" sz="1600" b="1">
                  <a:effectLst/>
                  <a:latin typeface="Times New Roman" pitchFamily="18" charset="0"/>
                  <a:ea typeface="Times New Roman"/>
                  <a:cs typeface="Times New Roman" pitchFamily="18" charset="0"/>
                </a:rPr>
                <a:t>(Total effort area)</a:t>
              </a:r>
            </a:p>
          </p:txBody>
        </p:sp>
        <p:sp>
          <p:nvSpPr>
            <p:cNvPr id="15" name="Text Box 328"/>
            <p:cNvSpPr txBox="1">
              <a:spLocks noChangeArrowheads="1"/>
            </p:cNvSpPr>
            <p:nvPr/>
          </p:nvSpPr>
          <p:spPr bwMode="auto">
            <a:xfrm>
              <a:off x="988494" y="199789"/>
              <a:ext cx="3210182" cy="285824"/>
            </a:xfrm>
            <a:prstGeom prst="rect">
              <a:avLst/>
            </a:prstGeom>
            <a:solidFill>
              <a:schemeClr val="bg1">
                <a:lumMod val="100000"/>
                <a:lumOff val="0"/>
              </a:schemeClr>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2000" b="1" dirty="0">
                  <a:effectLst/>
                  <a:latin typeface="Times New Roman" pitchFamily="18" charset="0"/>
                  <a:ea typeface="Times New Roman"/>
                  <a:cs typeface="Times New Roman" pitchFamily="18" charset="0"/>
                </a:rPr>
                <a:t>E = K/t²</a:t>
              </a:r>
              <a:r>
                <a:rPr lang="en-IN" sz="2000" b="1" baseline="-25000" dirty="0">
                  <a:effectLst/>
                  <a:latin typeface="Times New Roman" pitchFamily="18" charset="0"/>
                  <a:ea typeface="Times New Roman"/>
                  <a:cs typeface="Times New Roman" pitchFamily="18" charset="0"/>
                </a:rPr>
                <a:t>d</a:t>
              </a:r>
              <a:r>
                <a:rPr lang="en-IN" sz="2000" b="1" dirty="0">
                  <a:effectLst/>
                  <a:latin typeface="Times New Roman" pitchFamily="18" charset="0"/>
                  <a:ea typeface="Times New Roman"/>
                  <a:cs typeface="Times New Roman" pitchFamily="18" charset="0"/>
                </a:rPr>
                <a:t> × t × e</a:t>
              </a:r>
              <a:r>
                <a:rPr lang="en-IN" sz="2000" b="1" baseline="30000" dirty="0">
                  <a:effectLst/>
                  <a:latin typeface="Times New Roman" pitchFamily="18" charset="0"/>
                  <a:ea typeface="Times New Roman"/>
                  <a:cs typeface="Times New Roman" pitchFamily="18" charset="0"/>
                </a:rPr>
                <a:t>-t²</a:t>
              </a:r>
              <a:r>
                <a:rPr lang="en-IN" sz="2000" b="1" dirty="0">
                  <a:effectLst/>
                  <a:latin typeface="Times New Roman" pitchFamily="18" charset="0"/>
                  <a:ea typeface="Times New Roman"/>
                  <a:cs typeface="Times New Roman" pitchFamily="18" charset="0"/>
                </a:rPr>
                <a:t>/2t²</a:t>
              </a:r>
              <a:r>
                <a:rPr lang="en-IN" sz="2000" b="1" baseline="-25000" dirty="0">
                  <a:effectLst/>
                  <a:latin typeface="Times New Roman" pitchFamily="18" charset="0"/>
                  <a:ea typeface="Times New Roman"/>
                  <a:cs typeface="Times New Roman" pitchFamily="18" charset="0"/>
                </a:rPr>
                <a:t>d</a:t>
              </a:r>
              <a:endParaRPr lang="en-IN" sz="2000" b="1" dirty="0">
                <a:effectLst/>
                <a:latin typeface="Times New Roman" pitchFamily="18" charset="0"/>
                <a:ea typeface="Times New Roman"/>
                <a:cs typeface="Times New Roman" pitchFamily="18" charset="0"/>
              </a:endParaRPr>
            </a:p>
            <a:p>
              <a:pPr>
                <a:lnSpc>
                  <a:spcPct val="115000"/>
                </a:lnSpc>
                <a:spcAft>
                  <a:spcPts val="1000"/>
                </a:spcAft>
              </a:pPr>
              <a:r>
                <a:rPr lang="en-IN" sz="2000" b="1" dirty="0">
                  <a:effectLst/>
                  <a:latin typeface="Times New Roman" pitchFamily="18" charset="0"/>
                  <a:ea typeface="Times New Roman"/>
                  <a:cs typeface="Times New Roman" pitchFamily="18" charset="0"/>
                </a:rPr>
                <a:t> </a:t>
              </a:r>
            </a:p>
          </p:txBody>
        </p:sp>
      </p:grpSp>
      <p:sp>
        <p:nvSpPr>
          <p:cNvPr id="16" name="Slide Number Placeholder 15"/>
          <p:cNvSpPr>
            <a:spLocks noGrp="1"/>
          </p:cNvSpPr>
          <p:nvPr>
            <p:ph type="sldNum" sz="quarter" idx="12"/>
          </p:nvPr>
        </p:nvSpPr>
        <p:spPr/>
        <p:txBody>
          <a:bodyPr/>
          <a:lstStyle/>
          <a:p>
            <a:fld id="{0C087B72-CC60-4FF0-9C96-8509CDF76D05}" type="slidenum">
              <a:rPr lang="en-IN" smtClean="0"/>
              <a:pPr/>
              <a:t>78</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Staffing and Personnel Planning</a:t>
            </a:r>
          </a:p>
        </p:txBody>
      </p:sp>
      <p:sp>
        <p:nvSpPr>
          <p:cNvPr id="3" name="Content Placeholder 2"/>
          <p:cNvSpPr>
            <a:spLocks noGrp="1"/>
          </p:cNvSpPr>
          <p:nvPr>
            <p:ph idx="1"/>
          </p:nvPr>
        </p:nvSpPr>
        <p:spPr>
          <a:xfrm>
            <a:off x="457200" y="1600200"/>
            <a:ext cx="8507288" cy="4525963"/>
          </a:xfrm>
        </p:spPr>
        <p:txBody>
          <a:bodyPr>
            <a:noAutofit/>
          </a:bodyPr>
          <a:lstStyle/>
          <a:p>
            <a:pPr algn="just"/>
            <a:r>
              <a:rPr lang="en-IN" sz="2200" dirty="0">
                <a:latin typeface="Times New Roman" pitchFamily="18" charset="0"/>
                <a:cs typeface="Times New Roman" pitchFamily="18" charset="0"/>
              </a:rPr>
              <a:t>In 1976, </a:t>
            </a:r>
            <a:r>
              <a:rPr lang="en-IN" sz="2200" dirty="0">
                <a:solidFill>
                  <a:srgbClr val="00B0F0"/>
                </a:solidFill>
                <a:latin typeface="Times New Roman" pitchFamily="18" charset="0"/>
                <a:cs typeface="Times New Roman" pitchFamily="18" charset="0"/>
              </a:rPr>
              <a:t>Putnam</a:t>
            </a:r>
            <a:r>
              <a:rPr lang="en-IN" sz="2200" dirty="0">
                <a:latin typeface="Times New Roman" pitchFamily="18" charset="0"/>
                <a:cs typeface="Times New Roman" pitchFamily="18" charset="0"/>
              </a:rPr>
              <a:t> subsequently </a:t>
            </a:r>
            <a:r>
              <a:rPr lang="en-IN" sz="2200" dirty="0" smtClean="0">
                <a:latin typeface="Times New Roman" pitchFamily="18" charset="0"/>
                <a:cs typeface="Times New Roman" pitchFamily="18" charset="0"/>
              </a:rPr>
              <a:t>analysed </a:t>
            </a:r>
            <a:r>
              <a:rPr lang="en-IN" sz="2200" dirty="0">
                <a:latin typeface="Times New Roman" pitchFamily="18" charset="0"/>
                <a:cs typeface="Times New Roman" pitchFamily="18" charset="0"/>
              </a:rPr>
              <a:t>various army projects using the Rayleigh curve for determining the personnel level of effort required in the software life cycle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Putnam found that </a:t>
            </a:r>
            <a:r>
              <a:rPr lang="en-IN" sz="2200" i="1" dirty="0">
                <a:latin typeface="Times New Roman" pitchFamily="18" charset="0"/>
                <a:cs typeface="Times New Roman" pitchFamily="18" charset="0"/>
              </a:rPr>
              <a:t>t</a:t>
            </a:r>
            <a:r>
              <a:rPr lang="en-IN" sz="2200" i="1" baseline="-25000" dirty="0">
                <a:latin typeface="Times New Roman" pitchFamily="18" charset="0"/>
                <a:cs typeface="Times New Roman" pitchFamily="18" charset="0"/>
              </a:rPr>
              <a:t>d</a:t>
            </a:r>
            <a:r>
              <a:rPr lang="en-IN" sz="2200" dirty="0">
                <a:latin typeface="Times New Roman" pitchFamily="18" charset="0"/>
                <a:cs typeface="Times New Roman" pitchFamily="18" charset="0"/>
              </a:rPr>
              <a:t> in </a:t>
            </a:r>
            <a:r>
              <a:rPr lang="en-IN" sz="2200" dirty="0" err="1">
                <a:latin typeface="Times New Roman" pitchFamily="18" charset="0"/>
                <a:cs typeface="Times New Roman" pitchFamily="18" charset="0"/>
              </a:rPr>
              <a:t>Norden’s</a:t>
            </a:r>
            <a:r>
              <a:rPr lang="en-IN" sz="2200" dirty="0">
                <a:latin typeface="Times New Roman" pitchFamily="18" charset="0"/>
                <a:cs typeface="Times New Roman" pitchFamily="18" charset="0"/>
              </a:rPr>
              <a:t> equation is the time when a project reaches the testing and integration and deployment stage.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After </a:t>
            </a:r>
            <a:r>
              <a:rPr lang="en-IN" sz="2200" dirty="0">
                <a:latin typeface="Times New Roman" pitchFamily="18" charset="0"/>
                <a:cs typeface="Times New Roman" pitchFamily="18" charset="0"/>
              </a:rPr>
              <a:t>observing a large number of projects, Putnam derived the following expression for the personnel level effort pattern in any project:  </a:t>
            </a:r>
          </a:p>
          <a:p>
            <a:pPr marL="0" indent="0" algn="just">
              <a:buNone/>
            </a:pPr>
            <a:r>
              <a:rPr lang="en-IN" sz="2200" dirty="0" smtClean="0">
                <a:latin typeface="Times New Roman" pitchFamily="18" charset="0"/>
                <a:cs typeface="Times New Roman" pitchFamily="18" charset="0"/>
              </a:rPr>
              <a:t>		S </a:t>
            </a:r>
            <a:r>
              <a:rPr lang="en-IN" sz="2200" dirty="0">
                <a:latin typeface="Times New Roman" pitchFamily="18" charset="0"/>
                <a:cs typeface="Times New Roman" pitchFamily="18" charset="0"/>
              </a:rPr>
              <a:t>= </a:t>
            </a:r>
            <a:r>
              <a:rPr lang="en-IN" sz="2200" dirty="0" err="1">
                <a:latin typeface="Times New Roman" pitchFamily="18" charset="0"/>
                <a:cs typeface="Times New Roman" pitchFamily="18" charset="0"/>
              </a:rPr>
              <a:t>C</a:t>
            </a:r>
            <a:r>
              <a:rPr lang="en-IN" sz="2200" baseline="-25000" dirty="0" err="1">
                <a:latin typeface="Times New Roman" pitchFamily="18" charset="0"/>
                <a:cs typeface="Times New Roman" pitchFamily="18" charset="0"/>
              </a:rPr>
              <a:t>k</a:t>
            </a:r>
            <a:r>
              <a:rPr lang="en-IN" sz="2200" baseline="-25000" dirty="0">
                <a:latin typeface="Times New Roman" pitchFamily="18" charset="0"/>
                <a:cs typeface="Times New Roman" pitchFamily="18" charset="0"/>
              </a:rPr>
              <a:t> </a:t>
            </a:r>
            <a:r>
              <a:rPr lang="en-IN" sz="2200" dirty="0">
                <a:latin typeface="Times New Roman" pitchFamily="18" charset="0"/>
                <a:cs typeface="Times New Roman" pitchFamily="18" charset="0"/>
              </a:rPr>
              <a:t>K</a:t>
            </a:r>
            <a:r>
              <a:rPr lang="en-IN" sz="2200" baseline="30000" dirty="0">
                <a:latin typeface="Times New Roman" pitchFamily="18" charset="0"/>
                <a:cs typeface="Times New Roman" pitchFamily="18" charset="0"/>
              </a:rPr>
              <a:t>1/3</a:t>
            </a:r>
            <a:r>
              <a:rPr lang="en-IN" sz="2200" dirty="0">
                <a:latin typeface="Times New Roman" pitchFamily="18" charset="0"/>
                <a:cs typeface="Times New Roman" pitchFamily="18" charset="0"/>
              </a:rPr>
              <a:t> t</a:t>
            </a:r>
            <a:r>
              <a:rPr lang="en-IN" sz="2200" baseline="30000" dirty="0">
                <a:latin typeface="Times New Roman" pitchFamily="18" charset="0"/>
                <a:cs typeface="Times New Roman" pitchFamily="18" charset="0"/>
              </a:rPr>
              <a:t>4/3</a:t>
            </a:r>
            <a:r>
              <a:rPr lang="en-IN" sz="2200" baseline="-25000" dirty="0">
                <a:latin typeface="Times New Roman" pitchFamily="18" charset="0"/>
                <a:cs typeface="Times New Roman" pitchFamily="18" charset="0"/>
              </a:rPr>
              <a:t>d</a:t>
            </a:r>
            <a:endParaRPr lang="en-IN" sz="2200" dirty="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Where </a:t>
            </a:r>
            <a:r>
              <a:rPr lang="en-IN" sz="2200" i="1" dirty="0">
                <a:latin typeface="Times New Roman" pitchFamily="18" charset="0"/>
                <a:cs typeface="Times New Roman" pitchFamily="18" charset="0"/>
              </a:rPr>
              <a:t>S</a:t>
            </a:r>
            <a:r>
              <a:rPr lang="en-IN" sz="2200" dirty="0">
                <a:latin typeface="Times New Roman" pitchFamily="18" charset="0"/>
                <a:cs typeface="Times New Roman" pitchFamily="18" charset="0"/>
              </a:rPr>
              <a:t> is the product size in KLOC and </a:t>
            </a:r>
            <a:r>
              <a:rPr lang="en-IN" sz="2200" i="1" dirty="0" err="1">
                <a:latin typeface="Times New Roman" pitchFamily="18" charset="0"/>
                <a:cs typeface="Times New Roman" pitchFamily="18" charset="0"/>
              </a:rPr>
              <a:t>C</a:t>
            </a:r>
            <a:r>
              <a:rPr lang="en-IN" sz="2200" i="1" baseline="-25000" dirty="0" err="1">
                <a:latin typeface="Times New Roman" pitchFamily="18" charset="0"/>
                <a:cs typeface="Times New Roman" pitchFamily="18" charset="0"/>
              </a:rPr>
              <a:t>k</a:t>
            </a:r>
            <a:r>
              <a:rPr lang="en-IN" sz="2200" dirty="0">
                <a:latin typeface="Times New Roman" pitchFamily="18" charset="0"/>
                <a:cs typeface="Times New Roman" pitchFamily="18" charset="0"/>
              </a:rPr>
              <a:t> represents the technological aspects that may affect productivity</a:t>
            </a:r>
            <a:r>
              <a:rPr lang="en-IN" sz="2200" dirty="0" smtClean="0">
                <a:latin typeface="Times New Roman" pitchFamily="18" charset="0"/>
                <a:cs typeface="Times New Roman" pitchFamily="18" charset="0"/>
              </a:rPr>
              <a:t>.</a:t>
            </a:r>
          </a:p>
          <a:p>
            <a:pPr algn="just"/>
            <a:r>
              <a:rPr lang="en-IN" sz="2200" dirty="0">
                <a:latin typeface="Times New Roman" pitchFamily="18" charset="0"/>
                <a:cs typeface="Times New Roman" pitchFamily="18" charset="0"/>
              </a:rPr>
              <a:t>K is the total effort in person-month required </a:t>
            </a:r>
            <a:r>
              <a:rPr lang="en-IN" sz="2200" dirty="0" smtClean="0">
                <a:latin typeface="Times New Roman" pitchFamily="18" charset="0"/>
                <a:cs typeface="Times New Roman" pitchFamily="18" charset="0"/>
              </a:rPr>
              <a:t>yearly and t</a:t>
            </a:r>
            <a:r>
              <a:rPr lang="en-IN" sz="2200" baseline="-25000" dirty="0" smtClean="0">
                <a:latin typeface="Times New Roman" pitchFamily="18" charset="0"/>
                <a:cs typeface="Times New Roman" pitchFamily="18" charset="0"/>
              </a:rPr>
              <a:t>d</a:t>
            </a:r>
            <a:r>
              <a:rPr lang="en-IN" sz="2200" dirty="0" smtClean="0">
                <a:latin typeface="Times New Roman" pitchFamily="18" charset="0"/>
                <a:cs typeface="Times New Roman" pitchFamily="18" charset="0"/>
              </a:rPr>
              <a:t> </a:t>
            </a:r>
            <a:r>
              <a:rPr lang="en-IN" sz="2200" dirty="0">
                <a:latin typeface="Times New Roman" pitchFamily="18" charset="0"/>
                <a:cs typeface="Times New Roman" pitchFamily="18" charset="0"/>
              </a:rPr>
              <a:t>represents the time taken from project initiation to product deployment. </a:t>
            </a:r>
            <a:r>
              <a:rPr lang="en-IN" sz="2200" dirty="0" smtClean="0">
                <a:latin typeface="Times New Roman" pitchFamily="18" charset="0"/>
                <a:cs typeface="Times New Roman" pitchFamily="18" charset="0"/>
              </a:rPr>
              <a:t> </a:t>
            </a:r>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79</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Staffing and Personnel Planning</a:t>
            </a:r>
          </a:p>
        </p:txBody>
      </p:sp>
      <p:sp>
        <p:nvSpPr>
          <p:cNvPr id="3" name="Content Placeholder 2"/>
          <p:cNvSpPr>
            <a:spLocks noGrp="1"/>
          </p:cNvSpPr>
          <p:nvPr>
            <p:ph idx="1"/>
          </p:nvPr>
        </p:nvSpPr>
        <p:spPr/>
        <p:txBody>
          <a:bodyPr>
            <a:normAutofit fontScale="92500" lnSpcReduction="10000"/>
          </a:bodyPr>
          <a:lstStyle/>
          <a:p>
            <a:pPr algn="just"/>
            <a:r>
              <a:rPr lang="en-IN" sz="2600" dirty="0">
                <a:latin typeface="Times New Roman" pitchFamily="18" charset="0"/>
                <a:cs typeface="Times New Roman" pitchFamily="18" charset="0"/>
              </a:rPr>
              <a:t>Staffing level estimation is used to determine the personnel level requirement in different tasks and phases of the development cycle. </a:t>
            </a:r>
            <a:endParaRPr lang="en-IN" sz="2600" dirty="0" smtClean="0">
              <a:latin typeface="Times New Roman" pitchFamily="18" charset="0"/>
              <a:cs typeface="Times New Roman" pitchFamily="18" charset="0"/>
            </a:endParaRPr>
          </a:p>
          <a:p>
            <a:pPr algn="just"/>
            <a:r>
              <a:rPr lang="en-IN" sz="2600" dirty="0" smtClean="0">
                <a:latin typeface="Times New Roman" pitchFamily="18" charset="0"/>
                <a:cs typeface="Times New Roman" pitchFamily="18" charset="0"/>
              </a:rPr>
              <a:t>Personnel </a:t>
            </a:r>
            <a:r>
              <a:rPr lang="en-IN" sz="2600" dirty="0">
                <a:latin typeface="Times New Roman" pitchFamily="18" charset="0"/>
                <a:cs typeface="Times New Roman" pitchFamily="18" charset="0"/>
              </a:rPr>
              <a:t>planning concentrates on estimating and allocating the right person to the right task at the right time during project execution. </a:t>
            </a:r>
            <a:endParaRPr lang="en-IN" sz="2600" dirty="0" smtClean="0">
              <a:latin typeface="Times New Roman" pitchFamily="18" charset="0"/>
              <a:cs typeface="Times New Roman" pitchFamily="18" charset="0"/>
            </a:endParaRPr>
          </a:p>
          <a:p>
            <a:pPr algn="just"/>
            <a:r>
              <a:rPr lang="en-IN" sz="2600" dirty="0" smtClean="0">
                <a:latin typeface="Times New Roman" pitchFamily="18" charset="0"/>
                <a:cs typeface="Times New Roman" pitchFamily="18" charset="0"/>
              </a:rPr>
              <a:t>The </a:t>
            </a:r>
            <a:r>
              <a:rPr lang="en-IN" sz="2600" dirty="0">
                <a:latin typeface="Times New Roman" pitchFamily="18" charset="0"/>
                <a:cs typeface="Times New Roman" pitchFamily="18" charset="0"/>
              </a:rPr>
              <a:t>personnel requirement is determined by dividing the total effort by the development time. </a:t>
            </a:r>
            <a:endParaRPr lang="en-IN" sz="2600" dirty="0" smtClean="0">
              <a:latin typeface="Times New Roman" pitchFamily="18" charset="0"/>
              <a:cs typeface="Times New Roman" pitchFamily="18" charset="0"/>
            </a:endParaRPr>
          </a:p>
          <a:p>
            <a:pPr algn="just"/>
            <a:r>
              <a:rPr lang="en-IN" sz="2600" dirty="0" smtClean="0">
                <a:latin typeface="Times New Roman" pitchFamily="18" charset="0"/>
                <a:cs typeface="Times New Roman" pitchFamily="18" charset="0"/>
              </a:rPr>
              <a:t>The </a:t>
            </a:r>
            <a:r>
              <a:rPr lang="en-IN" sz="2600" dirty="0">
                <a:latin typeface="Times New Roman" pitchFamily="18" charset="0"/>
                <a:cs typeface="Times New Roman" pitchFamily="18" charset="0"/>
              </a:rPr>
              <a:t>project manager then recruits the required personnel in the </a:t>
            </a:r>
            <a:r>
              <a:rPr lang="en-IN" sz="2600" dirty="0" smtClean="0">
                <a:latin typeface="Times New Roman" pitchFamily="18" charset="0"/>
                <a:cs typeface="Times New Roman" pitchFamily="18" charset="0"/>
              </a:rPr>
              <a:t>project. Thereafter, </a:t>
            </a:r>
            <a:r>
              <a:rPr lang="en-IN" sz="2600" dirty="0">
                <a:latin typeface="Times New Roman" pitchFamily="18" charset="0"/>
                <a:cs typeface="Times New Roman" pitchFamily="18" charset="0"/>
              </a:rPr>
              <a:t>the team is composed and responsibilities are allocated to the team members corresponding to their skills.  </a:t>
            </a:r>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80</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395536" y="1556792"/>
            <a:ext cx="8229600" cy="4525963"/>
          </a:xfrm>
        </p:spPr>
        <p:txBody>
          <a:bodyPr>
            <a:normAutofit/>
          </a:bodyPr>
          <a:lstStyle/>
          <a:p>
            <a:pPr algn="just"/>
            <a:r>
              <a:rPr lang="en-IN" sz="2400" dirty="0" smtClean="0">
                <a:latin typeface="Times New Roman" pitchFamily="18" charset="0"/>
                <a:cs typeface="Times New Roman" pitchFamily="18" charset="0"/>
              </a:rPr>
              <a:t>A </a:t>
            </a:r>
            <a:r>
              <a:rPr lang="en-IN" sz="2400" dirty="0">
                <a:latin typeface="Times New Roman" pitchFamily="18" charset="0"/>
                <a:cs typeface="Times New Roman" pitchFamily="18" charset="0"/>
              </a:rPr>
              <a:t>project schedule is built to answer what tasks will be accomplished when, how, and by whom.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In </a:t>
            </a:r>
            <a:r>
              <a:rPr lang="en-IN" sz="2400" dirty="0">
                <a:latin typeface="Times New Roman" pitchFamily="18" charset="0"/>
                <a:cs typeface="Times New Roman" pitchFamily="18" charset="0"/>
              </a:rPr>
              <a:t>project scheduling, the overall effort and staff are distributed across the project duration for each task in the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PMBOK </a:t>
            </a:r>
            <a:r>
              <a:rPr lang="en-IN" sz="2400" dirty="0">
                <a:latin typeface="Times New Roman" pitchFamily="18" charset="0"/>
                <a:cs typeface="Times New Roman" pitchFamily="18" charset="0"/>
              </a:rPr>
              <a:t>defines the project schedule as the planned dates for carrying out the scheduled activities and the planned dates for meeting the schedule milestones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A schedule milestone is an end point of a task while performing an activity in the process. </a:t>
            </a:r>
          </a:p>
          <a:p>
            <a:pPr algn="just"/>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81</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r>
              <a:rPr lang="en-IN" sz="3100" dirty="0" smtClean="0">
                <a:solidFill>
                  <a:srgbClr val="00B0F0"/>
                </a:solidFill>
                <a:latin typeface="Times New Roman" pitchFamily="18" charset="0"/>
                <a:cs typeface="Times New Roman" pitchFamily="18" charset="0"/>
              </a:rPr>
              <a:t>Project </a:t>
            </a:r>
            <a:r>
              <a:rPr lang="en-IN" sz="3100" dirty="0">
                <a:solidFill>
                  <a:srgbClr val="00B0F0"/>
                </a:solidFill>
                <a:latin typeface="Times New Roman" pitchFamily="18" charset="0"/>
                <a:cs typeface="Times New Roman" pitchFamily="18" charset="0"/>
              </a:rPr>
              <a:t>scheduling </a:t>
            </a:r>
            <a:r>
              <a:rPr lang="en-IN" sz="3100" dirty="0" smtClean="0">
                <a:solidFill>
                  <a:srgbClr val="00B0F0"/>
                </a:solidFill>
                <a:latin typeface="Times New Roman" pitchFamily="18" charset="0"/>
                <a:cs typeface="Times New Roman" pitchFamily="18" charset="0"/>
              </a:rPr>
              <a:t>activities</a:t>
            </a:r>
          </a:p>
          <a:p>
            <a:pPr lvl="1"/>
            <a:r>
              <a:rPr lang="en-IN" sz="3100" i="1" dirty="0" smtClean="0">
                <a:latin typeface="Times New Roman" pitchFamily="18" charset="0"/>
                <a:cs typeface="Times New Roman" pitchFamily="18" charset="0"/>
              </a:rPr>
              <a:t>Task identification</a:t>
            </a:r>
          </a:p>
          <a:p>
            <a:pPr lvl="1"/>
            <a:r>
              <a:rPr lang="en-IN" sz="3100" i="1" dirty="0" smtClean="0">
                <a:latin typeface="Times New Roman" pitchFamily="18" charset="0"/>
                <a:cs typeface="Times New Roman" pitchFamily="18" charset="0"/>
              </a:rPr>
              <a:t>Work </a:t>
            </a:r>
            <a:r>
              <a:rPr lang="en-IN" sz="3100" i="1" dirty="0">
                <a:latin typeface="Times New Roman" pitchFamily="18" charset="0"/>
                <a:cs typeface="Times New Roman" pitchFamily="18" charset="0"/>
              </a:rPr>
              <a:t>breakdown structure</a:t>
            </a:r>
          </a:p>
          <a:p>
            <a:pPr lvl="1"/>
            <a:r>
              <a:rPr lang="en-IN" sz="3100" i="1" dirty="0">
                <a:latin typeface="Times New Roman" pitchFamily="18" charset="0"/>
                <a:cs typeface="Times New Roman" pitchFamily="18" charset="0"/>
              </a:rPr>
              <a:t>Task </a:t>
            </a:r>
            <a:r>
              <a:rPr lang="en-IN" sz="3100" i="1" dirty="0" smtClean="0">
                <a:latin typeface="Times New Roman" pitchFamily="18" charset="0"/>
                <a:cs typeface="Times New Roman" pitchFamily="18" charset="0"/>
              </a:rPr>
              <a:t>interdependency using PERT-CPM</a:t>
            </a:r>
            <a:endParaRPr lang="en-IN" sz="3100" i="1" dirty="0">
              <a:latin typeface="Times New Roman" pitchFamily="18" charset="0"/>
              <a:cs typeface="Times New Roman" pitchFamily="18" charset="0"/>
            </a:endParaRPr>
          </a:p>
          <a:p>
            <a:pPr lvl="1"/>
            <a:r>
              <a:rPr lang="en-IN" sz="3100" i="1" dirty="0">
                <a:latin typeface="Times New Roman" pitchFamily="18" charset="0"/>
                <a:cs typeface="Times New Roman" pitchFamily="18" charset="0"/>
              </a:rPr>
              <a:t>Time allocation</a:t>
            </a:r>
          </a:p>
          <a:p>
            <a:pPr lvl="1"/>
            <a:r>
              <a:rPr lang="en-IN" sz="3100" i="1" dirty="0">
                <a:latin typeface="Times New Roman" pitchFamily="18" charset="0"/>
                <a:cs typeface="Times New Roman" pitchFamily="18" charset="0"/>
              </a:rPr>
              <a:t>Resource </a:t>
            </a:r>
            <a:r>
              <a:rPr lang="en-IN" sz="3100" i="1" dirty="0" smtClean="0">
                <a:latin typeface="Times New Roman" pitchFamily="18" charset="0"/>
                <a:cs typeface="Times New Roman" pitchFamily="18" charset="0"/>
              </a:rPr>
              <a:t>allocation using Gantt chart</a:t>
            </a:r>
            <a:endParaRPr lang="en-IN" sz="3100" i="1" dirty="0">
              <a:latin typeface="Times New Roman" pitchFamily="18" charset="0"/>
              <a:cs typeface="Times New Roman" pitchFamily="18" charset="0"/>
            </a:endParaRPr>
          </a:p>
          <a:p>
            <a:pPr lvl="1"/>
            <a:r>
              <a:rPr lang="en-IN" sz="3100" i="1" dirty="0">
                <a:latin typeface="Times New Roman" pitchFamily="18" charset="0"/>
                <a:cs typeface="Times New Roman" pitchFamily="18" charset="0"/>
              </a:rPr>
              <a:t>Monitoring, tracking, and control</a:t>
            </a:r>
          </a:p>
          <a:p>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82</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42852"/>
            <a:ext cx="8229600" cy="939784"/>
          </a:xfrm>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357298"/>
            <a:ext cx="8229600" cy="5072098"/>
          </a:xfrm>
        </p:spPr>
        <p:txBody>
          <a:bodyPr>
            <a:normAutofit lnSpcReduction="10000"/>
          </a:bodyPr>
          <a:lstStyle/>
          <a:p>
            <a:pPr marL="0" indent="0" algn="just">
              <a:buNone/>
            </a:pPr>
            <a:r>
              <a:rPr lang="en-IN" sz="2600" dirty="0">
                <a:solidFill>
                  <a:srgbClr val="00B0F0"/>
                </a:solidFill>
                <a:latin typeface="Times New Roman" pitchFamily="18" charset="0"/>
                <a:cs typeface="Times New Roman" pitchFamily="18" charset="0"/>
              </a:rPr>
              <a:t>Task </a:t>
            </a:r>
            <a:r>
              <a:rPr lang="en-IN" sz="2600" dirty="0" smtClean="0">
                <a:solidFill>
                  <a:srgbClr val="00B0F0"/>
                </a:solidFill>
                <a:latin typeface="Times New Roman" pitchFamily="18" charset="0"/>
                <a:cs typeface="Times New Roman" pitchFamily="18" charset="0"/>
              </a:rPr>
              <a:t>Identification</a:t>
            </a:r>
          </a:p>
          <a:p>
            <a:pPr algn="just"/>
            <a:r>
              <a:rPr lang="en-IN" sz="2400" dirty="0">
                <a:latin typeface="Times New Roman" pitchFamily="18" charset="0"/>
                <a:cs typeface="Times New Roman" pitchFamily="18" charset="0"/>
              </a:rPr>
              <a:t>Task identification focuses on identifying all the activities and tasks before considering the delivery dates and resource constraints.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tasks are decided based upon the nature of the project, which can be a new development project, reengineering project, enhancement project, etc.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There are various factors that influence the project tasks, such as project size, project staff, project complexity, mission criticality, reengineering factors, number of potential users, requirements stability, and the maturity of </a:t>
            </a:r>
            <a:r>
              <a:rPr lang="en-IN" sz="2400" dirty="0" smtClean="0">
                <a:latin typeface="Times New Roman" pitchFamily="18" charset="0"/>
                <a:cs typeface="Times New Roman" pitchFamily="18" charset="0"/>
              </a:rPr>
              <a:t>technology. </a:t>
            </a:r>
          </a:p>
          <a:p>
            <a:pPr algn="just"/>
            <a:r>
              <a:rPr lang="en-IN" sz="2400" dirty="0" smtClean="0">
                <a:latin typeface="Times New Roman" pitchFamily="18" charset="0"/>
                <a:cs typeface="Times New Roman" pitchFamily="18" charset="0"/>
              </a:rPr>
              <a:t>Task identification begins with the mission and vision of the project. </a:t>
            </a:r>
            <a:r>
              <a:rPr lang="en-IN" sz="2400" i="1" dirty="0" smtClean="0">
                <a:latin typeface="Times New Roman" pitchFamily="18" charset="0"/>
                <a:cs typeface="Times New Roman" pitchFamily="18" charset="0"/>
              </a:rPr>
              <a:t>Top-down</a:t>
            </a:r>
            <a:r>
              <a:rPr lang="en-IN" sz="2400" dirty="0" smtClean="0">
                <a:latin typeface="Times New Roman" pitchFamily="18" charset="0"/>
                <a:cs typeface="Times New Roman" pitchFamily="18" charset="0"/>
              </a:rPr>
              <a:t> and </a:t>
            </a:r>
            <a:r>
              <a:rPr lang="en-IN" sz="2400" i="1" dirty="0" smtClean="0">
                <a:latin typeface="Times New Roman" pitchFamily="18" charset="0"/>
                <a:cs typeface="Times New Roman" pitchFamily="18" charset="0"/>
              </a:rPr>
              <a:t>bottom-up</a:t>
            </a:r>
            <a:r>
              <a:rPr lang="en-IN" sz="2400" dirty="0" smtClean="0">
                <a:latin typeface="Times New Roman" pitchFamily="18" charset="0"/>
                <a:cs typeface="Times New Roman" pitchFamily="18" charset="0"/>
              </a:rPr>
              <a:t> approaches can be used for the preparation of the task list. </a:t>
            </a: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83</a:t>
            </a:fld>
            <a:endParaRPr lang="en-IN"/>
          </a:p>
        </p:txBody>
      </p:sp>
    </p:spTree>
    <p:extLst>
      <p:ext uri="{BB962C8B-B14F-4D97-AF65-F5344CB8AC3E}">
        <p14:creationId xmlns:p14="http://schemas.microsoft.com/office/powerpoint/2010/main" val="404544067"/>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28419"/>
            <a:ext cx="8229600" cy="1143000"/>
          </a:xfrm>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395536" y="1124744"/>
            <a:ext cx="8229600" cy="5112568"/>
          </a:xfrm>
        </p:spPr>
        <p:txBody>
          <a:bodyPr numCol="2">
            <a:noAutofit/>
          </a:bodyPr>
          <a:lstStyle/>
          <a:p>
            <a:pPr marL="457200" lvl="1" indent="0">
              <a:buNone/>
            </a:pPr>
            <a:r>
              <a:rPr lang="en-IN" sz="2000" b="1" dirty="0" smtClean="0">
                <a:solidFill>
                  <a:srgbClr val="00B0F0"/>
                </a:solidFill>
                <a:latin typeface="Times New Roman" pitchFamily="18" charset="0"/>
                <a:cs typeface="Times New Roman" pitchFamily="18" charset="0"/>
              </a:rPr>
              <a:t>Task Identification: Example</a:t>
            </a:r>
          </a:p>
          <a:p>
            <a:pPr marL="457200" lvl="1" indent="0">
              <a:buNone/>
            </a:pPr>
            <a:r>
              <a:rPr lang="en-IN" sz="2000" b="1" dirty="0" smtClean="0">
                <a:latin typeface="Times New Roman" pitchFamily="18" charset="0"/>
                <a:cs typeface="Times New Roman" pitchFamily="18" charset="0"/>
              </a:rPr>
              <a:t>Mission critical system</a:t>
            </a:r>
          </a:p>
          <a:p>
            <a:pPr marL="457200" lvl="1" indent="0">
              <a:buNone/>
            </a:pPr>
            <a:r>
              <a:rPr lang="en-IN" sz="1800" dirty="0" smtClean="0">
                <a:latin typeface="Times New Roman" pitchFamily="18" charset="0"/>
                <a:cs typeface="Times New Roman" pitchFamily="18" charset="0"/>
              </a:rPr>
              <a:t>T1 Mission critical system  </a:t>
            </a:r>
          </a:p>
          <a:p>
            <a:pPr marL="914400" lvl="2" indent="0">
              <a:buNone/>
            </a:pPr>
            <a:r>
              <a:rPr lang="en-IN" sz="1800" dirty="0" smtClean="0">
                <a:latin typeface="Times New Roman" pitchFamily="18" charset="0"/>
                <a:cs typeface="Times New Roman" pitchFamily="18" charset="0"/>
              </a:rPr>
              <a:t>T1.1 Risk analysis</a:t>
            </a:r>
          </a:p>
          <a:p>
            <a:pPr marL="914400" lvl="2" indent="0">
              <a:buNone/>
            </a:pPr>
            <a:r>
              <a:rPr lang="en-IN" sz="1800" dirty="0" smtClean="0">
                <a:latin typeface="Times New Roman" pitchFamily="18" charset="0"/>
                <a:cs typeface="Times New Roman" pitchFamily="18" charset="0"/>
              </a:rPr>
              <a:t>T1.2 Prototype construction</a:t>
            </a:r>
          </a:p>
          <a:p>
            <a:pPr marL="914400" lvl="2" indent="0">
              <a:buNone/>
            </a:pPr>
            <a:r>
              <a:rPr lang="en-IN" sz="1800" dirty="0" smtClean="0">
                <a:latin typeface="Times New Roman" pitchFamily="18" charset="0"/>
                <a:cs typeface="Times New Roman" pitchFamily="18" charset="0"/>
              </a:rPr>
              <a:t>T1.3 Requirement analysis</a:t>
            </a:r>
          </a:p>
          <a:p>
            <a:pPr marL="914400" lvl="2" indent="0">
              <a:buNone/>
            </a:pPr>
            <a:r>
              <a:rPr lang="en-IN" sz="1800" dirty="0" smtClean="0">
                <a:latin typeface="Times New Roman" pitchFamily="18" charset="0"/>
                <a:cs typeface="Times New Roman" pitchFamily="18" charset="0"/>
              </a:rPr>
              <a:t>T1.4 Design</a:t>
            </a:r>
          </a:p>
          <a:p>
            <a:pPr marL="1371600" lvl="3" indent="0">
              <a:buNone/>
            </a:pPr>
            <a:r>
              <a:rPr lang="en-IN" sz="1800" dirty="0" smtClean="0">
                <a:latin typeface="Times New Roman" pitchFamily="18" charset="0"/>
                <a:cs typeface="Times New Roman" pitchFamily="18" charset="0"/>
              </a:rPr>
              <a:t>T1.4.1 System architecture</a:t>
            </a:r>
          </a:p>
          <a:p>
            <a:pPr marL="1371600" lvl="3" indent="0">
              <a:buNone/>
            </a:pPr>
            <a:r>
              <a:rPr lang="en-IN" sz="1800" dirty="0" smtClean="0">
                <a:latin typeface="Times New Roman" pitchFamily="18" charset="0"/>
                <a:cs typeface="Times New Roman" pitchFamily="18" charset="0"/>
              </a:rPr>
              <a:t>T1.4.2 System design</a:t>
            </a:r>
          </a:p>
          <a:p>
            <a:pPr marL="1973263" lvl="6" indent="0">
              <a:buNone/>
            </a:pPr>
            <a:r>
              <a:rPr lang="en-IN" sz="1800" dirty="0" smtClean="0">
                <a:latin typeface="Times New Roman" pitchFamily="18" charset="0"/>
                <a:cs typeface="Times New Roman" pitchFamily="18" charset="0"/>
              </a:rPr>
              <a:t>T1.4.2.1 Input design</a:t>
            </a:r>
          </a:p>
          <a:p>
            <a:pPr marL="1973263" lvl="6" indent="0">
              <a:buNone/>
            </a:pPr>
            <a:r>
              <a:rPr lang="en-IN" sz="1800" dirty="0" smtClean="0">
                <a:latin typeface="Times New Roman" pitchFamily="18" charset="0"/>
                <a:cs typeface="Times New Roman" pitchFamily="18" charset="0"/>
              </a:rPr>
              <a:t>T1.4.2.2 Database design</a:t>
            </a:r>
          </a:p>
          <a:p>
            <a:pPr marL="1973263" lvl="6" indent="0">
              <a:buNone/>
            </a:pPr>
            <a:r>
              <a:rPr lang="en-IN" sz="1800" dirty="0" smtClean="0">
                <a:latin typeface="Times New Roman" pitchFamily="18" charset="0"/>
                <a:cs typeface="Times New Roman" pitchFamily="18" charset="0"/>
              </a:rPr>
              <a:t>T1.4.2.3 Output design</a:t>
            </a:r>
          </a:p>
          <a:p>
            <a:pPr marL="1371600" lvl="3" indent="0">
              <a:buNone/>
            </a:pPr>
            <a:r>
              <a:rPr lang="en-IN" sz="1800" dirty="0" smtClean="0">
                <a:latin typeface="Times New Roman" pitchFamily="18" charset="0"/>
                <a:cs typeface="Times New Roman" pitchFamily="18" charset="0"/>
              </a:rPr>
              <a:t>T1.4.3 Detailed design</a:t>
            </a:r>
          </a:p>
          <a:p>
            <a:pPr marL="914400" lvl="2" indent="0">
              <a:buNone/>
            </a:pPr>
            <a:r>
              <a:rPr lang="en-IN" sz="1800" dirty="0" smtClean="0">
                <a:latin typeface="Times New Roman" pitchFamily="18" charset="0"/>
                <a:cs typeface="Times New Roman" pitchFamily="18" charset="0"/>
              </a:rPr>
              <a:t>T1.5 Coding</a:t>
            </a:r>
          </a:p>
          <a:p>
            <a:pPr marL="914400" lvl="2" indent="0">
              <a:buNone/>
            </a:pPr>
            <a:endParaRPr lang="en-IN" sz="1800" dirty="0" smtClean="0">
              <a:latin typeface="Times New Roman" pitchFamily="18" charset="0"/>
              <a:cs typeface="Times New Roman" pitchFamily="18" charset="0"/>
            </a:endParaRPr>
          </a:p>
          <a:p>
            <a:pPr marL="914400" lvl="2" indent="0">
              <a:buNone/>
            </a:pPr>
            <a:endParaRPr lang="en-IN" sz="1800" dirty="0" smtClean="0">
              <a:latin typeface="Times New Roman" pitchFamily="18" charset="0"/>
              <a:cs typeface="Times New Roman" pitchFamily="18" charset="0"/>
            </a:endParaRPr>
          </a:p>
          <a:p>
            <a:pPr marL="914400" lvl="2" indent="0">
              <a:buNone/>
            </a:pPr>
            <a:r>
              <a:rPr lang="en-IN" sz="1800" dirty="0" smtClean="0">
                <a:latin typeface="Times New Roman" pitchFamily="18" charset="0"/>
                <a:cs typeface="Times New Roman" pitchFamily="18" charset="0"/>
              </a:rPr>
              <a:t>T1.6 Testing</a:t>
            </a:r>
          </a:p>
          <a:p>
            <a:pPr marL="1828800" lvl="4" indent="-479425">
              <a:buNone/>
            </a:pPr>
            <a:r>
              <a:rPr lang="en-IN" sz="1800" dirty="0" smtClean="0">
                <a:latin typeface="Times New Roman" pitchFamily="18" charset="0"/>
                <a:cs typeface="Times New Roman" pitchFamily="18" charset="0"/>
              </a:rPr>
              <a:t>T1.6.1 Unit test</a:t>
            </a:r>
          </a:p>
          <a:p>
            <a:pPr marL="1828800" lvl="4" indent="-479425">
              <a:buNone/>
            </a:pPr>
            <a:r>
              <a:rPr lang="en-IN" sz="1800" dirty="0" smtClean="0">
                <a:latin typeface="Times New Roman" pitchFamily="18" charset="0"/>
                <a:cs typeface="Times New Roman" pitchFamily="18" charset="0"/>
              </a:rPr>
              <a:t>T1.6.2 Integration test</a:t>
            </a:r>
          </a:p>
          <a:p>
            <a:pPr marL="1828800" lvl="4" indent="-479425">
              <a:buNone/>
            </a:pPr>
            <a:r>
              <a:rPr lang="en-IN" sz="1800" dirty="0" smtClean="0">
                <a:latin typeface="Times New Roman" pitchFamily="18" charset="0"/>
                <a:cs typeface="Times New Roman" pitchFamily="18" charset="0"/>
              </a:rPr>
              <a:t>T1.6.3 System test </a:t>
            </a:r>
          </a:p>
          <a:p>
            <a:pPr marL="1973263" lvl="5" indent="0">
              <a:buNone/>
            </a:pPr>
            <a:r>
              <a:rPr lang="en-IN" sz="1800" dirty="0" smtClean="0">
                <a:latin typeface="Times New Roman" pitchFamily="18" charset="0"/>
                <a:cs typeface="Times New Roman" pitchFamily="18" charset="0"/>
              </a:rPr>
              <a:t>T1.6.3.1 Stress testing</a:t>
            </a:r>
          </a:p>
          <a:p>
            <a:pPr marL="1973263" lvl="5" indent="0">
              <a:buNone/>
            </a:pPr>
            <a:r>
              <a:rPr lang="en-IN" sz="1800" dirty="0" smtClean="0">
                <a:latin typeface="Times New Roman" pitchFamily="18" charset="0"/>
                <a:cs typeface="Times New Roman" pitchFamily="18" charset="0"/>
              </a:rPr>
              <a:t>T1.6.3.2 Performance testing</a:t>
            </a:r>
          </a:p>
          <a:p>
            <a:pPr marL="1973263" lvl="5" indent="0">
              <a:buNone/>
            </a:pPr>
            <a:r>
              <a:rPr lang="en-IN" sz="1800" dirty="0" smtClean="0">
                <a:latin typeface="Times New Roman" pitchFamily="18" charset="0"/>
                <a:cs typeface="Times New Roman" pitchFamily="18" charset="0"/>
              </a:rPr>
              <a:t>T1.6.3.3 Volume testing</a:t>
            </a:r>
          </a:p>
          <a:p>
            <a:pPr marL="1973263" lvl="5" indent="0">
              <a:buNone/>
            </a:pPr>
            <a:r>
              <a:rPr lang="en-IN" sz="1800" dirty="0" smtClean="0">
                <a:latin typeface="Times New Roman" pitchFamily="18" charset="0"/>
                <a:cs typeface="Times New Roman" pitchFamily="18" charset="0"/>
              </a:rPr>
              <a:t>T1.6.3.4 Security testing</a:t>
            </a:r>
          </a:p>
          <a:p>
            <a:pPr marL="1828800" lvl="4" indent="0">
              <a:buNone/>
            </a:pPr>
            <a:r>
              <a:rPr lang="en-IN" sz="1800" dirty="0" smtClean="0">
                <a:latin typeface="Times New Roman" pitchFamily="18" charset="0"/>
                <a:cs typeface="Times New Roman" pitchFamily="18" charset="0"/>
              </a:rPr>
              <a:t>T1.6.4 Acceptance testing</a:t>
            </a:r>
          </a:p>
          <a:p>
            <a:pPr marL="914400" lvl="2" indent="0">
              <a:buNone/>
            </a:pPr>
            <a:r>
              <a:rPr lang="en-IN" sz="1800" dirty="0" smtClean="0">
                <a:latin typeface="Times New Roman" pitchFamily="18" charset="0"/>
                <a:cs typeface="Times New Roman" pitchFamily="18" charset="0"/>
              </a:rPr>
              <a:t>T1.7 Deployment</a:t>
            </a:r>
          </a:p>
        </p:txBody>
      </p:sp>
      <p:sp>
        <p:nvSpPr>
          <p:cNvPr id="4" name="Slide Number Placeholder 3"/>
          <p:cNvSpPr>
            <a:spLocks noGrp="1"/>
          </p:cNvSpPr>
          <p:nvPr>
            <p:ph type="sldNum" sz="quarter" idx="12"/>
          </p:nvPr>
        </p:nvSpPr>
        <p:spPr/>
        <p:txBody>
          <a:bodyPr/>
          <a:lstStyle/>
          <a:p>
            <a:fld id="{0C087B72-CC60-4FF0-9C96-8509CDF76D05}" type="slidenum">
              <a:rPr lang="en-IN" smtClean="0"/>
              <a:pPr/>
              <a:t>84</a:t>
            </a:fld>
            <a:endParaRPr lang="en-IN"/>
          </a:p>
        </p:txBody>
      </p:sp>
    </p:spTree>
    <p:extLst>
      <p:ext uri="{BB962C8B-B14F-4D97-AF65-F5344CB8AC3E}">
        <p14:creationId xmlns:p14="http://schemas.microsoft.com/office/powerpoint/2010/main" val="2822803287"/>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5536" y="13905"/>
            <a:ext cx="8229600" cy="1143000"/>
          </a:xfrm>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196752"/>
            <a:ext cx="8229600" cy="5256584"/>
          </a:xfrm>
        </p:spPr>
        <p:txBody>
          <a:bodyPr>
            <a:normAutofit fontScale="92500"/>
          </a:bodyPr>
          <a:lstStyle/>
          <a:p>
            <a:pPr marL="0" indent="0" algn="just">
              <a:lnSpc>
                <a:spcPct val="90000"/>
              </a:lnSpc>
              <a:buNone/>
            </a:pPr>
            <a:r>
              <a:rPr lang="en-IN" sz="2600" dirty="0">
                <a:solidFill>
                  <a:srgbClr val="00B0F0"/>
                </a:solidFill>
                <a:latin typeface="Times New Roman" pitchFamily="18" charset="0"/>
                <a:cs typeface="Times New Roman" pitchFamily="18" charset="0"/>
              </a:rPr>
              <a:t>Work Breakdown </a:t>
            </a:r>
            <a:r>
              <a:rPr lang="en-IN" sz="2600" dirty="0" smtClean="0">
                <a:solidFill>
                  <a:srgbClr val="00B0F0"/>
                </a:solidFill>
                <a:latin typeface="Times New Roman" pitchFamily="18" charset="0"/>
                <a:cs typeface="Times New Roman" pitchFamily="18" charset="0"/>
              </a:rPr>
              <a:t>Structure</a:t>
            </a:r>
          </a:p>
          <a:p>
            <a:pPr algn="just">
              <a:lnSpc>
                <a:spcPct val="90000"/>
              </a:lnSpc>
            </a:pPr>
            <a:r>
              <a:rPr lang="en-IN" sz="2400" dirty="0" smtClean="0">
                <a:latin typeface="Times New Roman" pitchFamily="18" charset="0"/>
                <a:cs typeface="Times New Roman" pitchFamily="18" charset="0"/>
              </a:rPr>
              <a:t>The work </a:t>
            </a:r>
            <a:r>
              <a:rPr lang="en-IN" sz="2400" dirty="0">
                <a:latin typeface="Times New Roman" pitchFamily="18" charset="0"/>
                <a:cs typeface="Times New Roman" pitchFamily="18" charset="0"/>
              </a:rPr>
              <a:t>breakdown structure (</a:t>
            </a:r>
            <a:r>
              <a:rPr lang="en-IN" sz="2400" dirty="0" smtClean="0">
                <a:latin typeface="Times New Roman" pitchFamily="18" charset="0"/>
                <a:cs typeface="Times New Roman" pitchFamily="18" charset="0"/>
              </a:rPr>
              <a:t>WBS) shows </a:t>
            </a:r>
            <a:r>
              <a:rPr lang="en-IN" sz="2400" dirty="0">
                <a:latin typeface="Times New Roman" pitchFamily="18" charset="0"/>
                <a:cs typeface="Times New Roman" pitchFamily="18" charset="0"/>
              </a:rPr>
              <a:t>the project details of tasks, making it easier to understand and communicate them throughout the project life cycle. </a:t>
            </a:r>
            <a:endParaRPr lang="en-IN" sz="2400" dirty="0" smtClean="0">
              <a:latin typeface="Times New Roman" pitchFamily="18" charset="0"/>
              <a:cs typeface="Times New Roman" pitchFamily="18" charset="0"/>
            </a:endParaRPr>
          </a:p>
          <a:p>
            <a:pPr algn="just">
              <a:lnSpc>
                <a:spcPct val="90000"/>
              </a:lnSpc>
            </a:pPr>
            <a:r>
              <a:rPr lang="en-IN" sz="2400" dirty="0">
                <a:latin typeface="Times New Roman" pitchFamily="18" charset="0"/>
                <a:cs typeface="Times New Roman" pitchFamily="18" charset="0"/>
              </a:rPr>
              <a:t>The WBS represents a hierarchical </a:t>
            </a:r>
            <a:r>
              <a:rPr lang="en-IN" sz="2400" dirty="0" smtClean="0">
                <a:latin typeface="Times New Roman" pitchFamily="18" charset="0"/>
                <a:cs typeface="Times New Roman" pitchFamily="18" charset="0"/>
              </a:rPr>
              <a:t>breakdown </a:t>
            </a:r>
            <a:r>
              <a:rPr lang="en-IN" sz="2400" dirty="0">
                <a:latin typeface="Times New Roman" pitchFamily="18" charset="0"/>
                <a:cs typeface="Times New Roman" pitchFamily="18" charset="0"/>
              </a:rPr>
              <a:t>of a project into elements. </a:t>
            </a:r>
            <a:endParaRPr lang="en-IN" sz="2400" dirty="0" smtClean="0">
              <a:latin typeface="Times New Roman" pitchFamily="18" charset="0"/>
              <a:cs typeface="Times New Roman" pitchFamily="18" charset="0"/>
            </a:endParaRPr>
          </a:p>
          <a:p>
            <a:pPr algn="just">
              <a:lnSpc>
                <a:spcPct val="90000"/>
              </a:lnSpc>
            </a:pPr>
            <a:r>
              <a:rPr lang="en-IN" sz="2400" dirty="0">
                <a:latin typeface="Times New Roman" pitchFamily="18" charset="0"/>
                <a:cs typeface="Times New Roman" pitchFamily="18" charset="0"/>
              </a:rPr>
              <a:t>The total work of the project is divided into manageable elements with increasing levels of detail. </a:t>
            </a:r>
            <a:endParaRPr lang="en-IN" sz="2400" dirty="0" smtClean="0">
              <a:latin typeface="Times New Roman" pitchFamily="18" charset="0"/>
              <a:cs typeface="Times New Roman" pitchFamily="18" charset="0"/>
            </a:endParaRPr>
          </a:p>
          <a:p>
            <a:pPr algn="just">
              <a:lnSpc>
                <a:spcPct val="90000"/>
              </a:lnSpc>
            </a:pPr>
            <a:r>
              <a:rPr lang="en-IN" sz="2400" dirty="0">
                <a:latin typeface="Times New Roman" pitchFamily="18" charset="0"/>
                <a:cs typeface="Times New Roman" pitchFamily="18" charset="0"/>
              </a:rPr>
              <a:t>The upper levels of the WBS are typically major deliverables of the </a:t>
            </a:r>
            <a:r>
              <a:rPr lang="en-IN" sz="2400" dirty="0" smtClean="0">
                <a:latin typeface="Times New Roman" pitchFamily="18" charset="0"/>
                <a:cs typeface="Times New Roman" pitchFamily="18" charset="0"/>
              </a:rPr>
              <a:t>project.</a:t>
            </a:r>
          </a:p>
          <a:p>
            <a:pPr algn="just">
              <a:lnSpc>
                <a:spcPct val="90000"/>
              </a:lnSpc>
            </a:pPr>
            <a:r>
              <a:rPr lang="en-IN" sz="2400" dirty="0">
                <a:latin typeface="Times New Roman" pitchFamily="18" charset="0"/>
                <a:cs typeface="Times New Roman" pitchFamily="18" charset="0"/>
              </a:rPr>
              <a:t>The lower levels are the refinements of the upper </a:t>
            </a:r>
            <a:r>
              <a:rPr lang="en-IN" sz="2400" dirty="0" smtClean="0">
                <a:latin typeface="Times New Roman" pitchFamily="18" charset="0"/>
                <a:cs typeface="Times New Roman" pitchFamily="18" charset="0"/>
              </a:rPr>
              <a:t>level.</a:t>
            </a:r>
          </a:p>
          <a:p>
            <a:pPr algn="just">
              <a:lnSpc>
                <a:spcPct val="90000"/>
              </a:lnSpc>
            </a:pPr>
            <a:r>
              <a:rPr lang="en-IN" sz="2400" dirty="0">
                <a:latin typeface="Times New Roman" pitchFamily="18" charset="0"/>
                <a:cs typeface="Times New Roman" pitchFamily="18" charset="0"/>
              </a:rPr>
              <a:t>A properly structured WBS helps to improve the accuracy of cost estimates by estimating the costs of the lower-level elements. </a:t>
            </a:r>
            <a:endParaRPr lang="en-IN" sz="2400" dirty="0" smtClean="0">
              <a:latin typeface="Times New Roman" pitchFamily="18" charset="0"/>
              <a:cs typeface="Times New Roman" pitchFamily="18" charset="0"/>
            </a:endParaRPr>
          </a:p>
          <a:p>
            <a:pPr algn="just">
              <a:lnSpc>
                <a:spcPct val="90000"/>
              </a:lnSpc>
            </a:pPr>
            <a:r>
              <a:rPr lang="en-IN" sz="2400" dirty="0">
                <a:latin typeface="Times New Roman" pitchFamily="18" charset="0"/>
                <a:cs typeface="Times New Roman" pitchFamily="18" charset="0"/>
              </a:rPr>
              <a:t>It provides a mechanism for performance measurement and control level by level. </a:t>
            </a: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85</a:t>
            </a:fld>
            <a:endParaRPr lang="en-IN"/>
          </a:p>
        </p:txBody>
      </p:sp>
    </p:spTree>
    <p:extLst>
      <p:ext uri="{BB962C8B-B14F-4D97-AF65-F5344CB8AC3E}">
        <p14:creationId xmlns:p14="http://schemas.microsoft.com/office/powerpoint/2010/main" val="2822803287"/>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67544" y="1268761"/>
            <a:ext cx="8136904" cy="576064"/>
          </a:xfrm>
        </p:spPr>
        <p:txBody>
          <a:bodyPr>
            <a:normAutofit/>
          </a:bodyPr>
          <a:lstStyle/>
          <a:p>
            <a:pPr>
              <a:buNone/>
            </a:pPr>
            <a:r>
              <a:rPr lang="en-IN" sz="2400" b="1" dirty="0" smtClean="0">
                <a:solidFill>
                  <a:srgbClr val="00B0F0"/>
                </a:solidFill>
                <a:latin typeface="Times New Roman" pitchFamily="18" charset="0"/>
                <a:cs typeface="Times New Roman" pitchFamily="18" charset="0"/>
              </a:rPr>
              <a:t>Work Breakdown Structure  for Mission Critical System</a:t>
            </a:r>
            <a:endParaRPr lang="en-IN" b="1" dirty="0">
              <a:solidFill>
                <a:srgbClr val="00B0F0"/>
              </a:solidFill>
            </a:endParaRPr>
          </a:p>
        </p:txBody>
      </p:sp>
      <p:sp>
        <p:nvSpPr>
          <p:cNvPr id="4" name="Rectangle 3"/>
          <p:cNvSpPr/>
          <p:nvPr/>
        </p:nvSpPr>
        <p:spPr>
          <a:xfrm>
            <a:off x="2267744" y="6340678"/>
            <a:ext cx="4392488" cy="338554"/>
          </a:xfrm>
          <a:prstGeom prst="rect">
            <a:avLst/>
          </a:prstGeom>
        </p:spPr>
        <p:txBody>
          <a:bodyPr wrap="square">
            <a:spAutoFit/>
          </a:bodyPr>
          <a:lstStyle/>
          <a:p>
            <a:r>
              <a:rPr lang="en-IN" sz="1600" dirty="0">
                <a:latin typeface="Times New Roman" pitchFamily="18" charset="0"/>
                <a:cs typeface="Times New Roman" pitchFamily="18" charset="0"/>
              </a:rPr>
              <a:t>Figure 4.4: Work breakdown structure</a:t>
            </a:r>
          </a:p>
        </p:txBody>
      </p:sp>
      <p:grpSp>
        <p:nvGrpSpPr>
          <p:cNvPr id="5" name="Group 5"/>
          <p:cNvGrpSpPr>
            <a:grpSpLocks noChangeAspect="1"/>
          </p:cNvGrpSpPr>
          <p:nvPr/>
        </p:nvGrpSpPr>
        <p:grpSpPr bwMode="auto">
          <a:xfrm>
            <a:off x="1042988" y="1844675"/>
            <a:ext cx="6916738" cy="4392613"/>
            <a:chOff x="657" y="1162"/>
            <a:chExt cx="4357" cy="2767"/>
          </a:xfrm>
        </p:grpSpPr>
        <p:sp>
          <p:nvSpPr>
            <p:cNvPr id="6" name="AutoShape 4"/>
            <p:cNvSpPr>
              <a:spLocks noChangeAspect="1" noChangeArrowheads="1" noTextEdit="1"/>
            </p:cNvSpPr>
            <p:nvPr/>
          </p:nvSpPr>
          <p:spPr bwMode="auto">
            <a:xfrm>
              <a:off x="657" y="1162"/>
              <a:ext cx="4310" cy="2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7" name="Rectangle 6"/>
            <p:cNvSpPr>
              <a:spLocks noChangeArrowheads="1"/>
            </p:cNvSpPr>
            <p:nvPr/>
          </p:nvSpPr>
          <p:spPr bwMode="auto">
            <a:xfrm>
              <a:off x="4936" y="3737"/>
              <a:ext cx="7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smtClean="0">
                  <a:ln>
                    <a:noFill/>
                  </a:ln>
                  <a:solidFill>
                    <a:srgbClr val="000000"/>
                  </a:solidFill>
                  <a:effectLst/>
                  <a:latin typeface="Calibri" pitchFamily="34"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8" name="Rectangle 7"/>
            <p:cNvSpPr>
              <a:spLocks noChangeArrowheads="1"/>
            </p:cNvSpPr>
            <p:nvPr/>
          </p:nvSpPr>
          <p:spPr bwMode="auto">
            <a:xfrm>
              <a:off x="2003" y="1166"/>
              <a:ext cx="1338"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9" name="Freeform 8"/>
            <p:cNvSpPr>
              <a:spLocks noEditPoints="1"/>
            </p:cNvSpPr>
            <p:nvPr/>
          </p:nvSpPr>
          <p:spPr bwMode="auto">
            <a:xfrm>
              <a:off x="2000" y="1163"/>
              <a:ext cx="1344" cy="276"/>
            </a:xfrm>
            <a:custGeom>
              <a:avLst/>
              <a:gdLst>
                <a:gd name="T0" fmla="*/ 0 w 1344"/>
                <a:gd name="T1" fmla="*/ 0 h 276"/>
                <a:gd name="T2" fmla="*/ 1344 w 1344"/>
                <a:gd name="T3" fmla="*/ 0 h 276"/>
                <a:gd name="T4" fmla="*/ 1344 w 1344"/>
                <a:gd name="T5" fmla="*/ 276 h 276"/>
                <a:gd name="T6" fmla="*/ 0 w 1344"/>
                <a:gd name="T7" fmla="*/ 276 h 276"/>
                <a:gd name="T8" fmla="*/ 0 w 1344"/>
                <a:gd name="T9" fmla="*/ 0 h 276"/>
                <a:gd name="T10" fmla="*/ 7 w 1344"/>
                <a:gd name="T11" fmla="*/ 273 h 276"/>
                <a:gd name="T12" fmla="*/ 3 w 1344"/>
                <a:gd name="T13" fmla="*/ 270 h 276"/>
                <a:gd name="T14" fmla="*/ 1341 w 1344"/>
                <a:gd name="T15" fmla="*/ 270 h 276"/>
                <a:gd name="T16" fmla="*/ 1337 w 1344"/>
                <a:gd name="T17" fmla="*/ 273 h 276"/>
                <a:gd name="T18" fmla="*/ 1337 w 1344"/>
                <a:gd name="T19" fmla="*/ 3 h 276"/>
                <a:gd name="T20" fmla="*/ 1341 w 1344"/>
                <a:gd name="T21" fmla="*/ 6 h 276"/>
                <a:gd name="T22" fmla="*/ 3 w 1344"/>
                <a:gd name="T23" fmla="*/ 6 h 276"/>
                <a:gd name="T24" fmla="*/ 7 w 1344"/>
                <a:gd name="T25" fmla="*/ 3 h 276"/>
                <a:gd name="T26" fmla="*/ 7 w 1344"/>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44" h="276">
                  <a:moveTo>
                    <a:pt x="0" y="0"/>
                  </a:moveTo>
                  <a:lnTo>
                    <a:pt x="1344" y="0"/>
                  </a:lnTo>
                  <a:lnTo>
                    <a:pt x="1344" y="276"/>
                  </a:lnTo>
                  <a:lnTo>
                    <a:pt x="0" y="276"/>
                  </a:lnTo>
                  <a:lnTo>
                    <a:pt x="0" y="0"/>
                  </a:lnTo>
                  <a:close/>
                  <a:moveTo>
                    <a:pt x="7" y="273"/>
                  </a:moveTo>
                  <a:lnTo>
                    <a:pt x="3" y="270"/>
                  </a:lnTo>
                  <a:lnTo>
                    <a:pt x="1341" y="270"/>
                  </a:lnTo>
                  <a:lnTo>
                    <a:pt x="1337" y="273"/>
                  </a:lnTo>
                  <a:lnTo>
                    <a:pt x="1337" y="3"/>
                  </a:lnTo>
                  <a:lnTo>
                    <a:pt x="1341"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9"/>
            <p:cNvSpPr>
              <a:spLocks noChangeArrowheads="1"/>
            </p:cNvSpPr>
            <p:nvPr/>
          </p:nvSpPr>
          <p:spPr bwMode="auto">
            <a:xfrm>
              <a:off x="2132" y="1243"/>
              <a:ext cx="111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smtClean="0">
                  <a:ln>
                    <a:noFill/>
                  </a:ln>
                  <a:solidFill>
                    <a:srgbClr val="000000"/>
                  </a:solidFill>
                  <a:effectLst/>
                  <a:latin typeface="Times New Roman" pitchFamily="18" charset="0"/>
                  <a:cs typeface="Arial" pitchFamily="34" charset="0"/>
                </a:rPr>
                <a:t>Mission critical system</a:t>
              </a:r>
              <a:endParaRPr kumimoji="0" lang="en-US" sz="1800" b="0" i="0" u="none" strike="noStrike" cap="none" normalizeH="0" baseline="0" dirty="0" smtClean="0">
                <a:ln>
                  <a:noFill/>
                </a:ln>
                <a:solidFill>
                  <a:schemeClr val="tx1"/>
                </a:solidFill>
                <a:effectLst/>
                <a:latin typeface="Arial" pitchFamily="34" charset="0"/>
                <a:cs typeface="Arial" pitchFamily="34" charset="0"/>
              </a:endParaRPr>
            </a:p>
          </p:txBody>
        </p:sp>
        <p:sp>
          <p:nvSpPr>
            <p:cNvPr id="11" name="Rectangle 10"/>
            <p:cNvSpPr>
              <a:spLocks noChangeArrowheads="1"/>
            </p:cNvSpPr>
            <p:nvPr/>
          </p:nvSpPr>
          <p:spPr bwMode="auto">
            <a:xfrm>
              <a:off x="3202" y="1171"/>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2" name="Rectangle 11"/>
            <p:cNvSpPr>
              <a:spLocks noChangeArrowheads="1"/>
            </p:cNvSpPr>
            <p:nvPr/>
          </p:nvSpPr>
          <p:spPr bwMode="auto">
            <a:xfrm>
              <a:off x="2671" y="1287"/>
              <a:ext cx="7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smtClean="0">
                  <a:ln>
                    <a:noFill/>
                  </a:ln>
                  <a:solidFill>
                    <a:srgbClr val="000000"/>
                  </a:solidFill>
                  <a:effectLst/>
                  <a:latin typeface="Calibri" pitchFamily="34"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3" name="Rectangle 12"/>
            <p:cNvSpPr>
              <a:spLocks noChangeArrowheads="1"/>
            </p:cNvSpPr>
            <p:nvPr/>
          </p:nvSpPr>
          <p:spPr bwMode="auto">
            <a:xfrm>
              <a:off x="1925" y="1917"/>
              <a:ext cx="623" cy="26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4" name="Freeform 13"/>
            <p:cNvSpPr>
              <a:spLocks noEditPoints="1"/>
            </p:cNvSpPr>
            <p:nvPr/>
          </p:nvSpPr>
          <p:spPr bwMode="auto">
            <a:xfrm>
              <a:off x="1921" y="1914"/>
              <a:ext cx="630" cy="275"/>
            </a:xfrm>
            <a:custGeom>
              <a:avLst/>
              <a:gdLst>
                <a:gd name="T0" fmla="*/ 0 w 630"/>
                <a:gd name="T1" fmla="*/ 0 h 275"/>
                <a:gd name="T2" fmla="*/ 630 w 630"/>
                <a:gd name="T3" fmla="*/ 0 h 275"/>
                <a:gd name="T4" fmla="*/ 630 w 630"/>
                <a:gd name="T5" fmla="*/ 275 h 275"/>
                <a:gd name="T6" fmla="*/ 0 w 630"/>
                <a:gd name="T7" fmla="*/ 275 h 275"/>
                <a:gd name="T8" fmla="*/ 0 w 630"/>
                <a:gd name="T9" fmla="*/ 0 h 275"/>
                <a:gd name="T10" fmla="*/ 7 w 630"/>
                <a:gd name="T11" fmla="*/ 271 h 275"/>
                <a:gd name="T12" fmla="*/ 4 w 630"/>
                <a:gd name="T13" fmla="*/ 268 h 275"/>
                <a:gd name="T14" fmla="*/ 627 w 630"/>
                <a:gd name="T15" fmla="*/ 268 h 275"/>
                <a:gd name="T16" fmla="*/ 623 w 630"/>
                <a:gd name="T17" fmla="*/ 271 h 275"/>
                <a:gd name="T18" fmla="*/ 623 w 630"/>
                <a:gd name="T19" fmla="*/ 3 h 275"/>
                <a:gd name="T20" fmla="*/ 627 w 630"/>
                <a:gd name="T21" fmla="*/ 7 h 275"/>
                <a:gd name="T22" fmla="*/ 4 w 630"/>
                <a:gd name="T23" fmla="*/ 7 h 275"/>
                <a:gd name="T24" fmla="*/ 7 w 630"/>
                <a:gd name="T25" fmla="*/ 3 h 275"/>
                <a:gd name="T26" fmla="*/ 7 w 630"/>
                <a:gd name="T27" fmla="*/ 271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30" h="275">
                  <a:moveTo>
                    <a:pt x="0" y="0"/>
                  </a:moveTo>
                  <a:lnTo>
                    <a:pt x="630" y="0"/>
                  </a:lnTo>
                  <a:lnTo>
                    <a:pt x="630" y="275"/>
                  </a:lnTo>
                  <a:lnTo>
                    <a:pt x="0" y="275"/>
                  </a:lnTo>
                  <a:lnTo>
                    <a:pt x="0" y="0"/>
                  </a:lnTo>
                  <a:close/>
                  <a:moveTo>
                    <a:pt x="7" y="271"/>
                  </a:moveTo>
                  <a:lnTo>
                    <a:pt x="4" y="268"/>
                  </a:lnTo>
                  <a:lnTo>
                    <a:pt x="627" y="268"/>
                  </a:lnTo>
                  <a:lnTo>
                    <a:pt x="623" y="271"/>
                  </a:lnTo>
                  <a:lnTo>
                    <a:pt x="623" y="3"/>
                  </a:lnTo>
                  <a:lnTo>
                    <a:pt x="627" y="7"/>
                  </a:lnTo>
                  <a:lnTo>
                    <a:pt x="4" y="7"/>
                  </a:lnTo>
                  <a:lnTo>
                    <a:pt x="7" y="3"/>
                  </a:lnTo>
                  <a:lnTo>
                    <a:pt x="7" y="271"/>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5" name="Rectangle 14"/>
            <p:cNvSpPr>
              <a:spLocks noChangeArrowheads="1"/>
            </p:cNvSpPr>
            <p:nvPr/>
          </p:nvSpPr>
          <p:spPr bwMode="auto">
            <a:xfrm>
              <a:off x="1942" y="1924"/>
              <a:ext cx="672"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Requirement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6" name="Rectangle 15"/>
            <p:cNvSpPr>
              <a:spLocks noChangeArrowheads="1"/>
            </p:cNvSpPr>
            <p:nvPr/>
          </p:nvSpPr>
          <p:spPr bwMode="auto">
            <a:xfrm>
              <a:off x="2053" y="2060"/>
              <a:ext cx="41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smtClean="0">
                  <a:ln>
                    <a:noFill/>
                  </a:ln>
                  <a:solidFill>
                    <a:srgbClr val="000000"/>
                  </a:solidFill>
                  <a:effectLst/>
                  <a:latin typeface="Times New Roman" pitchFamily="18" charset="0"/>
                  <a:cs typeface="Arial" pitchFamily="34" charset="0"/>
                </a:rPr>
                <a:t>analysis</a:t>
              </a:r>
              <a:endParaRPr kumimoji="0" lang="en-US" sz="1800" b="0" i="0" u="none" strike="noStrike" cap="none" normalizeH="0" baseline="0" dirty="0" smtClean="0">
                <a:ln>
                  <a:noFill/>
                </a:ln>
                <a:solidFill>
                  <a:schemeClr val="tx1"/>
                </a:solidFill>
                <a:effectLst/>
                <a:latin typeface="Arial" pitchFamily="34" charset="0"/>
                <a:cs typeface="Arial" pitchFamily="34" charset="0"/>
              </a:endParaRPr>
            </a:p>
          </p:txBody>
        </p:sp>
        <p:sp>
          <p:nvSpPr>
            <p:cNvPr id="17" name="Rectangle 16"/>
            <p:cNvSpPr>
              <a:spLocks noChangeArrowheads="1"/>
            </p:cNvSpPr>
            <p:nvPr/>
          </p:nvSpPr>
          <p:spPr bwMode="auto">
            <a:xfrm>
              <a:off x="2421" y="2060"/>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8" name="Rectangle 17"/>
            <p:cNvSpPr>
              <a:spLocks noChangeArrowheads="1"/>
            </p:cNvSpPr>
            <p:nvPr/>
          </p:nvSpPr>
          <p:spPr bwMode="auto">
            <a:xfrm>
              <a:off x="2647" y="1917"/>
              <a:ext cx="386"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9" name="Freeform 18"/>
            <p:cNvSpPr>
              <a:spLocks noEditPoints="1"/>
            </p:cNvSpPr>
            <p:nvPr/>
          </p:nvSpPr>
          <p:spPr bwMode="auto">
            <a:xfrm>
              <a:off x="2644" y="1914"/>
              <a:ext cx="393" cy="276"/>
            </a:xfrm>
            <a:custGeom>
              <a:avLst/>
              <a:gdLst>
                <a:gd name="T0" fmla="*/ 0 w 393"/>
                <a:gd name="T1" fmla="*/ 0 h 276"/>
                <a:gd name="T2" fmla="*/ 393 w 393"/>
                <a:gd name="T3" fmla="*/ 0 h 276"/>
                <a:gd name="T4" fmla="*/ 393 w 393"/>
                <a:gd name="T5" fmla="*/ 276 h 276"/>
                <a:gd name="T6" fmla="*/ 0 w 393"/>
                <a:gd name="T7" fmla="*/ 276 h 276"/>
                <a:gd name="T8" fmla="*/ 0 w 393"/>
                <a:gd name="T9" fmla="*/ 0 h 276"/>
                <a:gd name="T10" fmla="*/ 7 w 393"/>
                <a:gd name="T11" fmla="*/ 273 h 276"/>
                <a:gd name="T12" fmla="*/ 3 w 393"/>
                <a:gd name="T13" fmla="*/ 270 h 276"/>
                <a:gd name="T14" fmla="*/ 389 w 393"/>
                <a:gd name="T15" fmla="*/ 270 h 276"/>
                <a:gd name="T16" fmla="*/ 386 w 393"/>
                <a:gd name="T17" fmla="*/ 273 h 276"/>
                <a:gd name="T18" fmla="*/ 386 w 393"/>
                <a:gd name="T19" fmla="*/ 3 h 276"/>
                <a:gd name="T20" fmla="*/ 389 w 393"/>
                <a:gd name="T21" fmla="*/ 7 h 276"/>
                <a:gd name="T22" fmla="*/ 3 w 393"/>
                <a:gd name="T23" fmla="*/ 7 h 276"/>
                <a:gd name="T24" fmla="*/ 7 w 393"/>
                <a:gd name="T25" fmla="*/ 3 h 276"/>
                <a:gd name="T26" fmla="*/ 7 w 393"/>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3" h="276">
                  <a:moveTo>
                    <a:pt x="0" y="0"/>
                  </a:moveTo>
                  <a:lnTo>
                    <a:pt x="393" y="0"/>
                  </a:lnTo>
                  <a:lnTo>
                    <a:pt x="393" y="276"/>
                  </a:lnTo>
                  <a:lnTo>
                    <a:pt x="0" y="276"/>
                  </a:lnTo>
                  <a:lnTo>
                    <a:pt x="0" y="0"/>
                  </a:lnTo>
                  <a:close/>
                  <a:moveTo>
                    <a:pt x="7" y="273"/>
                  </a:moveTo>
                  <a:lnTo>
                    <a:pt x="3" y="270"/>
                  </a:lnTo>
                  <a:lnTo>
                    <a:pt x="389" y="270"/>
                  </a:lnTo>
                  <a:lnTo>
                    <a:pt x="386" y="273"/>
                  </a:lnTo>
                  <a:lnTo>
                    <a:pt x="386" y="3"/>
                  </a:lnTo>
                  <a:lnTo>
                    <a:pt x="389" y="7"/>
                  </a:lnTo>
                  <a:lnTo>
                    <a:pt x="3" y="7"/>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19"/>
            <p:cNvSpPr>
              <a:spLocks noChangeArrowheads="1"/>
            </p:cNvSpPr>
            <p:nvPr/>
          </p:nvSpPr>
          <p:spPr bwMode="auto">
            <a:xfrm>
              <a:off x="2679" y="1972"/>
              <a:ext cx="37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dirty="0" smtClean="0">
                <a:ln>
                  <a:noFill/>
                </a:ln>
                <a:solidFill>
                  <a:schemeClr val="tx1"/>
                </a:solidFill>
                <a:effectLst/>
                <a:latin typeface="Arial" pitchFamily="34" charset="0"/>
                <a:cs typeface="Arial" pitchFamily="34" charset="0"/>
              </a:endParaRPr>
            </a:p>
          </p:txBody>
        </p:sp>
        <p:sp>
          <p:nvSpPr>
            <p:cNvPr id="21" name="Rectangle 20"/>
            <p:cNvSpPr>
              <a:spLocks noChangeArrowheads="1"/>
            </p:cNvSpPr>
            <p:nvPr/>
          </p:nvSpPr>
          <p:spPr bwMode="auto">
            <a:xfrm>
              <a:off x="3003" y="1926"/>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22" name="Rectangle 21"/>
            <p:cNvSpPr>
              <a:spLocks noChangeArrowheads="1"/>
            </p:cNvSpPr>
            <p:nvPr/>
          </p:nvSpPr>
          <p:spPr bwMode="auto">
            <a:xfrm>
              <a:off x="1224" y="1917"/>
              <a:ext cx="604" cy="26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23" name="Freeform 22"/>
            <p:cNvSpPr>
              <a:spLocks noEditPoints="1"/>
            </p:cNvSpPr>
            <p:nvPr/>
          </p:nvSpPr>
          <p:spPr bwMode="auto">
            <a:xfrm>
              <a:off x="1221" y="1914"/>
              <a:ext cx="611" cy="275"/>
            </a:xfrm>
            <a:custGeom>
              <a:avLst/>
              <a:gdLst>
                <a:gd name="T0" fmla="*/ 0 w 611"/>
                <a:gd name="T1" fmla="*/ 0 h 275"/>
                <a:gd name="T2" fmla="*/ 611 w 611"/>
                <a:gd name="T3" fmla="*/ 0 h 275"/>
                <a:gd name="T4" fmla="*/ 611 w 611"/>
                <a:gd name="T5" fmla="*/ 275 h 275"/>
                <a:gd name="T6" fmla="*/ 0 w 611"/>
                <a:gd name="T7" fmla="*/ 275 h 275"/>
                <a:gd name="T8" fmla="*/ 0 w 611"/>
                <a:gd name="T9" fmla="*/ 0 h 275"/>
                <a:gd name="T10" fmla="*/ 7 w 611"/>
                <a:gd name="T11" fmla="*/ 271 h 275"/>
                <a:gd name="T12" fmla="*/ 3 w 611"/>
                <a:gd name="T13" fmla="*/ 268 h 275"/>
                <a:gd name="T14" fmla="*/ 607 w 611"/>
                <a:gd name="T15" fmla="*/ 268 h 275"/>
                <a:gd name="T16" fmla="*/ 604 w 611"/>
                <a:gd name="T17" fmla="*/ 271 h 275"/>
                <a:gd name="T18" fmla="*/ 604 w 611"/>
                <a:gd name="T19" fmla="*/ 3 h 275"/>
                <a:gd name="T20" fmla="*/ 607 w 611"/>
                <a:gd name="T21" fmla="*/ 6 h 275"/>
                <a:gd name="T22" fmla="*/ 3 w 611"/>
                <a:gd name="T23" fmla="*/ 6 h 275"/>
                <a:gd name="T24" fmla="*/ 7 w 611"/>
                <a:gd name="T25" fmla="*/ 3 h 275"/>
                <a:gd name="T26" fmla="*/ 7 w 611"/>
                <a:gd name="T27" fmla="*/ 271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11" h="275">
                  <a:moveTo>
                    <a:pt x="0" y="0"/>
                  </a:moveTo>
                  <a:lnTo>
                    <a:pt x="611" y="0"/>
                  </a:lnTo>
                  <a:lnTo>
                    <a:pt x="611" y="275"/>
                  </a:lnTo>
                  <a:lnTo>
                    <a:pt x="0" y="275"/>
                  </a:lnTo>
                  <a:lnTo>
                    <a:pt x="0" y="0"/>
                  </a:lnTo>
                  <a:close/>
                  <a:moveTo>
                    <a:pt x="7" y="271"/>
                  </a:moveTo>
                  <a:lnTo>
                    <a:pt x="3" y="268"/>
                  </a:lnTo>
                  <a:lnTo>
                    <a:pt x="607" y="268"/>
                  </a:lnTo>
                  <a:lnTo>
                    <a:pt x="604" y="271"/>
                  </a:lnTo>
                  <a:lnTo>
                    <a:pt x="604" y="3"/>
                  </a:lnTo>
                  <a:lnTo>
                    <a:pt x="607" y="6"/>
                  </a:lnTo>
                  <a:lnTo>
                    <a:pt x="3" y="6"/>
                  </a:lnTo>
                  <a:lnTo>
                    <a:pt x="7" y="3"/>
                  </a:lnTo>
                  <a:lnTo>
                    <a:pt x="7" y="271"/>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23"/>
            <p:cNvSpPr>
              <a:spLocks noChangeArrowheads="1"/>
            </p:cNvSpPr>
            <p:nvPr/>
          </p:nvSpPr>
          <p:spPr bwMode="auto">
            <a:xfrm>
              <a:off x="1305" y="1924"/>
              <a:ext cx="52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Prototype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25" name="Rectangle 24"/>
            <p:cNvSpPr>
              <a:spLocks noChangeArrowheads="1"/>
            </p:cNvSpPr>
            <p:nvPr/>
          </p:nvSpPr>
          <p:spPr bwMode="auto">
            <a:xfrm>
              <a:off x="1245" y="2060"/>
              <a:ext cx="617"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construction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26" name="Rectangle 25"/>
            <p:cNvSpPr>
              <a:spLocks noChangeArrowheads="1"/>
            </p:cNvSpPr>
            <p:nvPr/>
          </p:nvSpPr>
          <p:spPr bwMode="auto">
            <a:xfrm>
              <a:off x="1809" y="2060"/>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27" name="Rectangle 26"/>
            <p:cNvSpPr>
              <a:spLocks noChangeArrowheads="1"/>
            </p:cNvSpPr>
            <p:nvPr/>
          </p:nvSpPr>
          <p:spPr bwMode="auto">
            <a:xfrm>
              <a:off x="727" y="1915"/>
              <a:ext cx="401"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28" name="Freeform 27"/>
            <p:cNvSpPr>
              <a:spLocks noEditPoints="1"/>
            </p:cNvSpPr>
            <p:nvPr/>
          </p:nvSpPr>
          <p:spPr bwMode="auto">
            <a:xfrm>
              <a:off x="724" y="1912"/>
              <a:ext cx="408" cy="277"/>
            </a:xfrm>
            <a:custGeom>
              <a:avLst/>
              <a:gdLst>
                <a:gd name="T0" fmla="*/ 0 w 408"/>
                <a:gd name="T1" fmla="*/ 0 h 277"/>
                <a:gd name="T2" fmla="*/ 408 w 408"/>
                <a:gd name="T3" fmla="*/ 0 h 277"/>
                <a:gd name="T4" fmla="*/ 408 w 408"/>
                <a:gd name="T5" fmla="*/ 277 h 277"/>
                <a:gd name="T6" fmla="*/ 0 w 408"/>
                <a:gd name="T7" fmla="*/ 277 h 277"/>
                <a:gd name="T8" fmla="*/ 0 w 408"/>
                <a:gd name="T9" fmla="*/ 0 h 277"/>
                <a:gd name="T10" fmla="*/ 7 w 408"/>
                <a:gd name="T11" fmla="*/ 273 h 277"/>
                <a:gd name="T12" fmla="*/ 3 w 408"/>
                <a:gd name="T13" fmla="*/ 270 h 277"/>
                <a:gd name="T14" fmla="*/ 404 w 408"/>
                <a:gd name="T15" fmla="*/ 270 h 277"/>
                <a:gd name="T16" fmla="*/ 401 w 408"/>
                <a:gd name="T17" fmla="*/ 273 h 277"/>
                <a:gd name="T18" fmla="*/ 401 w 408"/>
                <a:gd name="T19" fmla="*/ 3 h 277"/>
                <a:gd name="T20" fmla="*/ 404 w 408"/>
                <a:gd name="T21" fmla="*/ 6 h 277"/>
                <a:gd name="T22" fmla="*/ 3 w 408"/>
                <a:gd name="T23" fmla="*/ 6 h 277"/>
                <a:gd name="T24" fmla="*/ 7 w 408"/>
                <a:gd name="T25" fmla="*/ 3 h 277"/>
                <a:gd name="T26" fmla="*/ 7 w 408"/>
                <a:gd name="T27" fmla="*/ 273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08" h="277">
                  <a:moveTo>
                    <a:pt x="0" y="0"/>
                  </a:moveTo>
                  <a:lnTo>
                    <a:pt x="408" y="0"/>
                  </a:lnTo>
                  <a:lnTo>
                    <a:pt x="408" y="277"/>
                  </a:lnTo>
                  <a:lnTo>
                    <a:pt x="0" y="277"/>
                  </a:lnTo>
                  <a:lnTo>
                    <a:pt x="0" y="0"/>
                  </a:lnTo>
                  <a:close/>
                  <a:moveTo>
                    <a:pt x="7" y="273"/>
                  </a:moveTo>
                  <a:lnTo>
                    <a:pt x="3" y="270"/>
                  </a:lnTo>
                  <a:lnTo>
                    <a:pt x="404" y="270"/>
                  </a:lnTo>
                  <a:lnTo>
                    <a:pt x="401" y="273"/>
                  </a:lnTo>
                  <a:lnTo>
                    <a:pt x="401" y="3"/>
                  </a:lnTo>
                  <a:lnTo>
                    <a:pt x="404"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28"/>
            <p:cNvSpPr>
              <a:spLocks noChangeArrowheads="1"/>
            </p:cNvSpPr>
            <p:nvPr/>
          </p:nvSpPr>
          <p:spPr bwMode="auto">
            <a:xfrm>
              <a:off x="823" y="1921"/>
              <a:ext cx="25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Risk</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30" name="Rectangle 29"/>
            <p:cNvSpPr>
              <a:spLocks noChangeArrowheads="1"/>
            </p:cNvSpPr>
            <p:nvPr/>
          </p:nvSpPr>
          <p:spPr bwMode="auto">
            <a:xfrm>
              <a:off x="1033" y="1921"/>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31" name="Rectangle 30"/>
            <p:cNvSpPr>
              <a:spLocks noChangeArrowheads="1"/>
            </p:cNvSpPr>
            <p:nvPr/>
          </p:nvSpPr>
          <p:spPr bwMode="auto">
            <a:xfrm>
              <a:off x="744" y="2038"/>
              <a:ext cx="9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a</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24" name="Rectangle 31"/>
            <p:cNvSpPr>
              <a:spLocks noChangeArrowheads="1"/>
            </p:cNvSpPr>
            <p:nvPr/>
          </p:nvSpPr>
          <p:spPr bwMode="auto">
            <a:xfrm>
              <a:off x="794" y="2038"/>
              <a:ext cx="36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nalysis</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25" name="Rectangle 32"/>
            <p:cNvSpPr>
              <a:spLocks noChangeArrowheads="1"/>
            </p:cNvSpPr>
            <p:nvPr/>
          </p:nvSpPr>
          <p:spPr bwMode="auto">
            <a:xfrm>
              <a:off x="1112" y="2038"/>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27" name="Rectangle 33"/>
            <p:cNvSpPr>
              <a:spLocks noChangeArrowheads="1"/>
            </p:cNvSpPr>
            <p:nvPr/>
          </p:nvSpPr>
          <p:spPr bwMode="auto">
            <a:xfrm>
              <a:off x="928" y="2159"/>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28" name="Rectangle 34"/>
            <p:cNvSpPr>
              <a:spLocks noChangeArrowheads="1"/>
            </p:cNvSpPr>
            <p:nvPr/>
          </p:nvSpPr>
          <p:spPr bwMode="auto">
            <a:xfrm>
              <a:off x="3139" y="1917"/>
              <a:ext cx="393"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29" name="Freeform 35"/>
            <p:cNvSpPr>
              <a:spLocks noEditPoints="1"/>
            </p:cNvSpPr>
            <p:nvPr/>
          </p:nvSpPr>
          <p:spPr bwMode="auto">
            <a:xfrm>
              <a:off x="3136" y="1914"/>
              <a:ext cx="399" cy="276"/>
            </a:xfrm>
            <a:custGeom>
              <a:avLst/>
              <a:gdLst>
                <a:gd name="T0" fmla="*/ 0 w 399"/>
                <a:gd name="T1" fmla="*/ 0 h 276"/>
                <a:gd name="T2" fmla="*/ 399 w 399"/>
                <a:gd name="T3" fmla="*/ 0 h 276"/>
                <a:gd name="T4" fmla="*/ 399 w 399"/>
                <a:gd name="T5" fmla="*/ 276 h 276"/>
                <a:gd name="T6" fmla="*/ 0 w 399"/>
                <a:gd name="T7" fmla="*/ 276 h 276"/>
                <a:gd name="T8" fmla="*/ 0 w 399"/>
                <a:gd name="T9" fmla="*/ 0 h 276"/>
                <a:gd name="T10" fmla="*/ 7 w 399"/>
                <a:gd name="T11" fmla="*/ 273 h 276"/>
                <a:gd name="T12" fmla="*/ 3 w 399"/>
                <a:gd name="T13" fmla="*/ 270 h 276"/>
                <a:gd name="T14" fmla="*/ 396 w 399"/>
                <a:gd name="T15" fmla="*/ 270 h 276"/>
                <a:gd name="T16" fmla="*/ 392 w 399"/>
                <a:gd name="T17" fmla="*/ 273 h 276"/>
                <a:gd name="T18" fmla="*/ 392 w 399"/>
                <a:gd name="T19" fmla="*/ 3 h 276"/>
                <a:gd name="T20" fmla="*/ 396 w 399"/>
                <a:gd name="T21" fmla="*/ 7 h 276"/>
                <a:gd name="T22" fmla="*/ 3 w 399"/>
                <a:gd name="T23" fmla="*/ 7 h 276"/>
                <a:gd name="T24" fmla="*/ 7 w 399"/>
                <a:gd name="T25" fmla="*/ 3 h 276"/>
                <a:gd name="T26" fmla="*/ 7 w 399"/>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9" h="276">
                  <a:moveTo>
                    <a:pt x="0" y="0"/>
                  </a:moveTo>
                  <a:lnTo>
                    <a:pt x="399" y="0"/>
                  </a:lnTo>
                  <a:lnTo>
                    <a:pt x="399" y="276"/>
                  </a:lnTo>
                  <a:lnTo>
                    <a:pt x="0" y="276"/>
                  </a:lnTo>
                  <a:lnTo>
                    <a:pt x="0" y="0"/>
                  </a:lnTo>
                  <a:close/>
                  <a:moveTo>
                    <a:pt x="7" y="273"/>
                  </a:moveTo>
                  <a:lnTo>
                    <a:pt x="3" y="270"/>
                  </a:lnTo>
                  <a:lnTo>
                    <a:pt x="396" y="270"/>
                  </a:lnTo>
                  <a:lnTo>
                    <a:pt x="392" y="273"/>
                  </a:lnTo>
                  <a:lnTo>
                    <a:pt x="392" y="3"/>
                  </a:lnTo>
                  <a:lnTo>
                    <a:pt x="396" y="7"/>
                  </a:lnTo>
                  <a:lnTo>
                    <a:pt x="3" y="7"/>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30" name="Rectangle 36"/>
            <p:cNvSpPr>
              <a:spLocks noChangeArrowheads="1"/>
            </p:cNvSpPr>
            <p:nvPr/>
          </p:nvSpPr>
          <p:spPr bwMode="auto">
            <a:xfrm>
              <a:off x="3168" y="1973"/>
              <a:ext cx="387"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smtClean="0">
                  <a:ln>
                    <a:noFill/>
                  </a:ln>
                  <a:solidFill>
                    <a:srgbClr val="000000"/>
                  </a:solidFill>
                  <a:effectLst/>
                  <a:latin typeface="Times New Roman" pitchFamily="18" charset="0"/>
                  <a:cs typeface="Arial" pitchFamily="34" charset="0"/>
                </a:rPr>
                <a:t>Coding</a:t>
              </a:r>
              <a:endParaRPr kumimoji="0" lang="en-US" sz="1800" b="0" i="0" u="none" strike="noStrike" cap="none" normalizeH="0" baseline="0" dirty="0" smtClean="0">
                <a:ln>
                  <a:noFill/>
                </a:ln>
                <a:solidFill>
                  <a:schemeClr val="tx1"/>
                </a:solidFill>
                <a:effectLst/>
                <a:latin typeface="Arial" pitchFamily="34" charset="0"/>
                <a:cs typeface="Arial" pitchFamily="34" charset="0"/>
              </a:endParaRPr>
            </a:p>
          </p:txBody>
        </p:sp>
        <p:sp>
          <p:nvSpPr>
            <p:cNvPr id="1031" name="Rectangle 37"/>
            <p:cNvSpPr>
              <a:spLocks noChangeArrowheads="1"/>
            </p:cNvSpPr>
            <p:nvPr/>
          </p:nvSpPr>
          <p:spPr bwMode="auto">
            <a:xfrm>
              <a:off x="3505" y="1926"/>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32" name="Rectangle 38"/>
            <p:cNvSpPr>
              <a:spLocks noChangeArrowheads="1"/>
            </p:cNvSpPr>
            <p:nvPr/>
          </p:nvSpPr>
          <p:spPr bwMode="auto">
            <a:xfrm>
              <a:off x="3672" y="1917"/>
              <a:ext cx="392"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33" name="Freeform 39"/>
            <p:cNvSpPr>
              <a:spLocks noEditPoints="1"/>
            </p:cNvSpPr>
            <p:nvPr/>
          </p:nvSpPr>
          <p:spPr bwMode="auto">
            <a:xfrm>
              <a:off x="3669" y="1914"/>
              <a:ext cx="399" cy="276"/>
            </a:xfrm>
            <a:custGeom>
              <a:avLst/>
              <a:gdLst>
                <a:gd name="T0" fmla="*/ 0 w 399"/>
                <a:gd name="T1" fmla="*/ 0 h 276"/>
                <a:gd name="T2" fmla="*/ 399 w 399"/>
                <a:gd name="T3" fmla="*/ 0 h 276"/>
                <a:gd name="T4" fmla="*/ 399 w 399"/>
                <a:gd name="T5" fmla="*/ 276 h 276"/>
                <a:gd name="T6" fmla="*/ 0 w 399"/>
                <a:gd name="T7" fmla="*/ 276 h 276"/>
                <a:gd name="T8" fmla="*/ 0 w 399"/>
                <a:gd name="T9" fmla="*/ 0 h 276"/>
                <a:gd name="T10" fmla="*/ 7 w 399"/>
                <a:gd name="T11" fmla="*/ 273 h 276"/>
                <a:gd name="T12" fmla="*/ 3 w 399"/>
                <a:gd name="T13" fmla="*/ 270 h 276"/>
                <a:gd name="T14" fmla="*/ 395 w 399"/>
                <a:gd name="T15" fmla="*/ 270 h 276"/>
                <a:gd name="T16" fmla="*/ 392 w 399"/>
                <a:gd name="T17" fmla="*/ 273 h 276"/>
                <a:gd name="T18" fmla="*/ 392 w 399"/>
                <a:gd name="T19" fmla="*/ 3 h 276"/>
                <a:gd name="T20" fmla="*/ 395 w 399"/>
                <a:gd name="T21" fmla="*/ 7 h 276"/>
                <a:gd name="T22" fmla="*/ 3 w 399"/>
                <a:gd name="T23" fmla="*/ 7 h 276"/>
                <a:gd name="T24" fmla="*/ 7 w 399"/>
                <a:gd name="T25" fmla="*/ 3 h 276"/>
                <a:gd name="T26" fmla="*/ 7 w 399"/>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9" h="276">
                  <a:moveTo>
                    <a:pt x="0" y="0"/>
                  </a:moveTo>
                  <a:lnTo>
                    <a:pt x="399" y="0"/>
                  </a:lnTo>
                  <a:lnTo>
                    <a:pt x="399" y="276"/>
                  </a:lnTo>
                  <a:lnTo>
                    <a:pt x="0" y="276"/>
                  </a:lnTo>
                  <a:lnTo>
                    <a:pt x="0" y="0"/>
                  </a:lnTo>
                  <a:close/>
                  <a:moveTo>
                    <a:pt x="7" y="273"/>
                  </a:moveTo>
                  <a:lnTo>
                    <a:pt x="3" y="270"/>
                  </a:lnTo>
                  <a:lnTo>
                    <a:pt x="395" y="270"/>
                  </a:lnTo>
                  <a:lnTo>
                    <a:pt x="392" y="273"/>
                  </a:lnTo>
                  <a:lnTo>
                    <a:pt x="392" y="3"/>
                  </a:lnTo>
                  <a:lnTo>
                    <a:pt x="395" y="7"/>
                  </a:lnTo>
                  <a:lnTo>
                    <a:pt x="3" y="7"/>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34" name="Rectangle 40"/>
            <p:cNvSpPr>
              <a:spLocks noChangeArrowheads="1"/>
            </p:cNvSpPr>
            <p:nvPr/>
          </p:nvSpPr>
          <p:spPr bwMode="auto">
            <a:xfrm>
              <a:off x="3697" y="1966"/>
              <a:ext cx="39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35" name="Rectangle 41"/>
            <p:cNvSpPr>
              <a:spLocks noChangeArrowheads="1"/>
            </p:cNvSpPr>
            <p:nvPr/>
          </p:nvSpPr>
          <p:spPr bwMode="auto">
            <a:xfrm>
              <a:off x="4040" y="1926"/>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36" name="Rectangle 42"/>
            <p:cNvSpPr>
              <a:spLocks noChangeArrowheads="1"/>
            </p:cNvSpPr>
            <p:nvPr/>
          </p:nvSpPr>
          <p:spPr bwMode="auto">
            <a:xfrm>
              <a:off x="4161" y="1915"/>
              <a:ext cx="622"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37" name="Freeform 43"/>
            <p:cNvSpPr>
              <a:spLocks noEditPoints="1"/>
            </p:cNvSpPr>
            <p:nvPr/>
          </p:nvSpPr>
          <p:spPr bwMode="auto">
            <a:xfrm>
              <a:off x="4158" y="1912"/>
              <a:ext cx="629" cy="276"/>
            </a:xfrm>
            <a:custGeom>
              <a:avLst/>
              <a:gdLst>
                <a:gd name="T0" fmla="*/ 0 w 629"/>
                <a:gd name="T1" fmla="*/ 0 h 276"/>
                <a:gd name="T2" fmla="*/ 629 w 629"/>
                <a:gd name="T3" fmla="*/ 0 h 276"/>
                <a:gd name="T4" fmla="*/ 629 w 629"/>
                <a:gd name="T5" fmla="*/ 276 h 276"/>
                <a:gd name="T6" fmla="*/ 0 w 629"/>
                <a:gd name="T7" fmla="*/ 276 h 276"/>
                <a:gd name="T8" fmla="*/ 0 w 629"/>
                <a:gd name="T9" fmla="*/ 0 h 276"/>
                <a:gd name="T10" fmla="*/ 7 w 629"/>
                <a:gd name="T11" fmla="*/ 273 h 276"/>
                <a:gd name="T12" fmla="*/ 3 w 629"/>
                <a:gd name="T13" fmla="*/ 270 h 276"/>
                <a:gd name="T14" fmla="*/ 625 w 629"/>
                <a:gd name="T15" fmla="*/ 270 h 276"/>
                <a:gd name="T16" fmla="*/ 622 w 629"/>
                <a:gd name="T17" fmla="*/ 273 h 276"/>
                <a:gd name="T18" fmla="*/ 622 w 629"/>
                <a:gd name="T19" fmla="*/ 3 h 276"/>
                <a:gd name="T20" fmla="*/ 625 w 629"/>
                <a:gd name="T21" fmla="*/ 6 h 276"/>
                <a:gd name="T22" fmla="*/ 3 w 629"/>
                <a:gd name="T23" fmla="*/ 6 h 276"/>
                <a:gd name="T24" fmla="*/ 7 w 629"/>
                <a:gd name="T25" fmla="*/ 3 h 276"/>
                <a:gd name="T26" fmla="*/ 7 w 629"/>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29" h="276">
                  <a:moveTo>
                    <a:pt x="0" y="0"/>
                  </a:moveTo>
                  <a:lnTo>
                    <a:pt x="629" y="0"/>
                  </a:lnTo>
                  <a:lnTo>
                    <a:pt x="629" y="276"/>
                  </a:lnTo>
                  <a:lnTo>
                    <a:pt x="0" y="276"/>
                  </a:lnTo>
                  <a:lnTo>
                    <a:pt x="0" y="0"/>
                  </a:lnTo>
                  <a:close/>
                  <a:moveTo>
                    <a:pt x="7" y="273"/>
                  </a:moveTo>
                  <a:lnTo>
                    <a:pt x="3" y="270"/>
                  </a:lnTo>
                  <a:lnTo>
                    <a:pt x="625" y="270"/>
                  </a:lnTo>
                  <a:lnTo>
                    <a:pt x="622" y="273"/>
                  </a:lnTo>
                  <a:lnTo>
                    <a:pt x="622" y="3"/>
                  </a:lnTo>
                  <a:lnTo>
                    <a:pt x="625"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38" name="Rectangle 44"/>
            <p:cNvSpPr>
              <a:spLocks noChangeArrowheads="1"/>
            </p:cNvSpPr>
            <p:nvPr/>
          </p:nvSpPr>
          <p:spPr bwMode="auto">
            <a:xfrm>
              <a:off x="4200" y="1971"/>
              <a:ext cx="519" cy="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dirty="0" smtClean="0">
                  <a:ln>
                    <a:noFill/>
                  </a:ln>
                  <a:solidFill>
                    <a:srgbClr val="000000"/>
                  </a:solidFill>
                  <a:effectLst/>
                  <a:latin typeface="Times New Roman" pitchFamily="18" charset="0"/>
                  <a:cs typeface="Arial" pitchFamily="34" charset="0"/>
                </a:rPr>
                <a:t>Deployment</a:t>
              </a:r>
              <a:endParaRPr kumimoji="0" lang="en-US" sz="1800" b="0" i="0" u="none" strike="noStrike" cap="none" normalizeH="0" baseline="0" dirty="0" smtClean="0">
                <a:ln>
                  <a:noFill/>
                </a:ln>
                <a:solidFill>
                  <a:schemeClr val="tx1"/>
                </a:solidFill>
                <a:effectLst/>
                <a:latin typeface="Arial" pitchFamily="34" charset="0"/>
                <a:cs typeface="Arial" pitchFamily="34" charset="0"/>
              </a:endParaRPr>
            </a:p>
          </p:txBody>
        </p:sp>
        <p:sp>
          <p:nvSpPr>
            <p:cNvPr id="1040" name="Rectangle 46"/>
            <p:cNvSpPr>
              <a:spLocks noChangeArrowheads="1"/>
            </p:cNvSpPr>
            <p:nvPr/>
          </p:nvSpPr>
          <p:spPr bwMode="auto">
            <a:xfrm>
              <a:off x="4784" y="1924"/>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41" name="Freeform 47"/>
            <p:cNvSpPr>
              <a:spLocks/>
            </p:cNvSpPr>
            <p:nvPr/>
          </p:nvSpPr>
          <p:spPr bwMode="auto">
            <a:xfrm>
              <a:off x="921" y="1677"/>
              <a:ext cx="3552" cy="7"/>
            </a:xfrm>
            <a:custGeom>
              <a:avLst/>
              <a:gdLst>
                <a:gd name="T0" fmla="*/ 0 w 3552"/>
                <a:gd name="T1" fmla="*/ 0 h 7"/>
                <a:gd name="T2" fmla="*/ 3552 w 3552"/>
                <a:gd name="T3" fmla="*/ 0 h 7"/>
                <a:gd name="T4" fmla="*/ 3552 w 3552"/>
                <a:gd name="T5" fmla="*/ 7 h 7"/>
                <a:gd name="T6" fmla="*/ 0 w 3552"/>
                <a:gd name="T7" fmla="*/ 6 h 7"/>
                <a:gd name="T8" fmla="*/ 0 w 3552"/>
                <a:gd name="T9" fmla="*/ 0 h 7"/>
              </a:gdLst>
              <a:ahLst/>
              <a:cxnLst>
                <a:cxn ang="0">
                  <a:pos x="T0" y="T1"/>
                </a:cxn>
                <a:cxn ang="0">
                  <a:pos x="T2" y="T3"/>
                </a:cxn>
                <a:cxn ang="0">
                  <a:pos x="T4" y="T5"/>
                </a:cxn>
                <a:cxn ang="0">
                  <a:pos x="T6" y="T7"/>
                </a:cxn>
                <a:cxn ang="0">
                  <a:pos x="T8" y="T9"/>
                </a:cxn>
              </a:cxnLst>
              <a:rect l="0" t="0" r="r" b="b"/>
              <a:pathLst>
                <a:path w="3552" h="7">
                  <a:moveTo>
                    <a:pt x="0" y="0"/>
                  </a:moveTo>
                  <a:lnTo>
                    <a:pt x="3552" y="0"/>
                  </a:lnTo>
                  <a:lnTo>
                    <a:pt x="3552" y="7"/>
                  </a:lnTo>
                  <a:lnTo>
                    <a:pt x="0" y="6"/>
                  </a:lnTo>
                  <a:lnTo>
                    <a:pt x="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2" name="Rectangle 48"/>
            <p:cNvSpPr>
              <a:spLocks noChangeArrowheads="1"/>
            </p:cNvSpPr>
            <p:nvPr/>
          </p:nvSpPr>
          <p:spPr bwMode="auto">
            <a:xfrm>
              <a:off x="2669" y="1436"/>
              <a:ext cx="7" cy="245"/>
            </a:xfrm>
            <a:prstGeom prst="rect">
              <a:avLst/>
            </a:pr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3" name="Freeform 49"/>
            <p:cNvSpPr>
              <a:spLocks noEditPoints="1"/>
            </p:cNvSpPr>
            <p:nvPr/>
          </p:nvSpPr>
          <p:spPr bwMode="auto">
            <a:xfrm>
              <a:off x="898" y="1680"/>
              <a:ext cx="57" cy="235"/>
            </a:xfrm>
            <a:custGeom>
              <a:avLst/>
              <a:gdLst>
                <a:gd name="T0" fmla="*/ 28 w 57"/>
                <a:gd name="T1" fmla="*/ 0 h 235"/>
                <a:gd name="T2" fmla="*/ 33 w 57"/>
                <a:gd name="T3" fmla="*/ 192 h 235"/>
                <a:gd name="T4" fmla="*/ 24 w 57"/>
                <a:gd name="T5" fmla="*/ 192 h 235"/>
                <a:gd name="T6" fmla="*/ 19 w 57"/>
                <a:gd name="T7" fmla="*/ 0 h 235"/>
                <a:gd name="T8" fmla="*/ 28 w 57"/>
                <a:gd name="T9" fmla="*/ 0 h 235"/>
                <a:gd name="T10" fmla="*/ 57 w 57"/>
                <a:gd name="T11" fmla="*/ 183 h 235"/>
                <a:gd name="T12" fmla="*/ 30 w 57"/>
                <a:gd name="T13" fmla="*/ 235 h 235"/>
                <a:gd name="T14" fmla="*/ 0 w 57"/>
                <a:gd name="T15" fmla="*/ 184 h 235"/>
                <a:gd name="T16" fmla="*/ 57 w 57"/>
                <a:gd name="T17" fmla="*/ 183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5">
                  <a:moveTo>
                    <a:pt x="28" y="0"/>
                  </a:moveTo>
                  <a:lnTo>
                    <a:pt x="33" y="192"/>
                  </a:lnTo>
                  <a:lnTo>
                    <a:pt x="24" y="192"/>
                  </a:lnTo>
                  <a:lnTo>
                    <a:pt x="19" y="0"/>
                  </a:lnTo>
                  <a:lnTo>
                    <a:pt x="28" y="0"/>
                  </a:lnTo>
                  <a:close/>
                  <a:moveTo>
                    <a:pt x="57" y="183"/>
                  </a:moveTo>
                  <a:lnTo>
                    <a:pt x="30" y="235"/>
                  </a:lnTo>
                  <a:lnTo>
                    <a:pt x="0" y="184"/>
                  </a:lnTo>
                  <a:lnTo>
                    <a:pt x="57" y="18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4" name="Freeform 50"/>
            <p:cNvSpPr>
              <a:spLocks noEditPoints="1"/>
            </p:cNvSpPr>
            <p:nvPr/>
          </p:nvSpPr>
          <p:spPr bwMode="auto">
            <a:xfrm>
              <a:off x="4444" y="1680"/>
              <a:ext cx="57" cy="235"/>
            </a:xfrm>
            <a:custGeom>
              <a:avLst/>
              <a:gdLst>
                <a:gd name="T0" fmla="*/ 32 w 57"/>
                <a:gd name="T1" fmla="*/ 0 h 235"/>
                <a:gd name="T2" fmla="*/ 33 w 57"/>
                <a:gd name="T3" fmla="*/ 192 h 235"/>
                <a:gd name="T4" fmla="*/ 24 w 57"/>
                <a:gd name="T5" fmla="*/ 192 h 235"/>
                <a:gd name="T6" fmla="*/ 23 w 57"/>
                <a:gd name="T7" fmla="*/ 0 h 235"/>
                <a:gd name="T8" fmla="*/ 32 w 57"/>
                <a:gd name="T9" fmla="*/ 0 h 235"/>
                <a:gd name="T10" fmla="*/ 57 w 57"/>
                <a:gd name="T11" fmla="*/ 184 h 235"/>
                <a:gd name="T12" fmla="*/ 29 w 57"/>
                <a:gd name="T13" fmla="*/ 235 h 235"/>
                <a:gd name="T14" fmla="*/ 0 w 57"/>
                <a:gd name="T15" fmla="*/ 184 h 235"/>
                <a:gd name="T16" fmla="*/ 57 w 57"/>
                <a:gd name="T17" fmla="*/ 184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5">
                  <a:moveTo>
                    <a:pt x="32" y="0"/>
                  </a:moveTo>
                  <a:lnTo>
                    <a:pt x="33" y="192"/>
                  </a:lnTo>
                  <a:lnTo>
                    <a:pt x="24" y="192"/>
                  </a:lnTo>
                  <a:lnTo>
                    <a:pt x="23" y="0"/>
                  </a:lnTo>
                  <a:lnTo>
                    <a:pt x="32" y="0"/>
                  </a:lnTo>
                  <a:close/>
                  <a:moveTo>
                    <a:pt x="57" y="184"/>
                  </a:moveTo>
                  <a:lnTo>
                    <a:pt x="29" y="235"/>
                  </a:lnTo>
                  <a:lnTo>
                    <a:pt x="0" y="184"/>
                  </a:lnTo>
                  <a:lnTo>
                    <a:pt x="57" y="18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5" name="Freeform 51"/>
            <p:cNvSpPr>
              <a:spLocks noEditPoints="1"/>
            </p:cNvSpPr>
            <p:nvPr/>
          </p:nvSpPr>
          <p:spPr bwMode="auto">
            <a:xfrm>
              <a:off x="1498" y="1681"/>
              <a:ext cx="57" cy="236"/>
            </a:xfrm>
            <a:custGeom>
              <a:avLst/>
              <a:gdLst>
                <a:gd name="T0" fmla="*/ 24 w 57"/>
                <a:gd name="T1" fmla="*/ 0 h 236"/>
                <a:gd name="T2" fmla="*/ 24 w 57"/>
                <a:gd name="T3" fmla="*/ 193 h 236"/>
                <a:gd name="T4" fmla="*/ 33 w 57"/>
                <a:gd name="T5" fmla="*/ 193 h 236"/>
                <a:gd name="T6" fmla="*/ 34 w 57"/>
                <a:gd name="T7" fmla="*/ 0 h 236"/>
                <a:gd name="T8" fmla="*/ 24 w 57"/>
                <a:gd name="T9" fmla="*/ 0 h 236"/>
                <a:gd name="T10" fmla="*/ 0 w 57"/>
                <a:gd name="T11" fmla="*/ 184 h 236"/>
                <a:gd name="T12" fmla="*/ 29 w 57"/>
                <a:gd name="T13" fmla="*/ 236 h 236"/>
                <a:gd name="T14" fmla="*/ 57 w 57"/>
                <a:gd name="T15" fmla="*/ 184 h 236"/>
                <a:gd name="T16" fmla="*/ 0 w 57"/>
                <a:gd name="T17" fmla="*/ 184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6">
                  <a:moveTo>
                    <a:pt x="24" y="0"/>
                  </a:moveTo>
                  <a:lnTo>
                    <a:pt x="24" y="193"/>
                  </a:lnTo>
                  <a:lnTo>
                    <a:pt x="33" y="193"/>
                  </a:lnTo>
                  <a:lnTo>
                    <a:pt x="34" y="0"/>
                  </a:lnTo>
                  <a:lnTo>
                    <a:pt x="24" y="0"/>
                  </a:lnTo>
                  <a:close/>
                  <a:moveTo>
                    <a:pt x="0" y="184"/>
                  </a:moveTo>
                  <a:lnTo>
                    <a:pt x="29" y="236"/>
                  </a:lnTo>
                  <a:lnTo>
                    <a:pt x="57" y="184"/>
                  </a:lnTo>
                  <a:lnTo>
                    <a:pt x="0" y="18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6" name="Freeform 52"/>
            <p:cNvSpPr>
              <a:spLocks noEditPoints="1"/>
            </p:cNvSpPr>
            <p:nvPr/>
          </p:nvSpPr>
          <p:spPr bwMode="auto">
            <a:xfrm>
              <a:off x="2208" y="1681"/>
              <a:ext cx="57" cy="236"/>
            </a:xfrm>
            <a:custGeom>
              <a:avLst/>
              <a:gdLst>
                <a:gd name="T0" fmla="*/ 33 w 57"/>
                <a:gd name="T1" fmla="*/ 0 h 236"/>
                <a:gd name="T2" fmla="*/ 34 w 57"/>
                <a:gd name="T3" fmla="*/ 194 h 236"/>
                <a:gd name="T4" fmla="*/ 24 w 57"/>
                <a:gd name="T5" fmla="*/ 194 h 236"/>
                <a:gd name="T6" fmla="*/ 23 w 57"/>
                <a:gd name="T7" fmla="*/ 0 h 236"/>
                <a:gd name="T8" fmla="*/ 33 w 57"/>
                <a:gd name="T9" fmla="*/ 0 h 236"/>
                <a:gd name="T10" fmla="*/ 57 w 57"/>
                <a:gd name="T11" fmla="*/ 185 h 236"/>
                <a:gd name="T12" fmla="*/ 29 w 57"/>
                <a:gd name="T13" fmla="*/ 236 h 236"/>
                <a:gd name="T14" fmla="*/ 0 w 57"/>
                <a:gd name="T15" fmla="*/ 185 h 236"/>
                <a:gd name="T16" fmla="*/ 57 w 57"/>
                <a:gd name="T17" fmla="*/ 18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6">
                  <a:moveTo>
                    <a:pt x="33" y="0"/>
                  </a:moveTo>
                  <a:lnTo>
                    <a:pt x="34" y="194"/>
                  </a:lnTo>
                  <a:lnTo>
                    <a:pt x="24" y="194"/>
                  </a:lnTo>
                  <a:lnTo>
                    <a:pt x="23" y="0"/>
                  </a:lnTo>
                  <a:lnTo>
                    <a:pt x="33" y="0"/>
                  </a:lnTo>
                  <a:close/>
                  <a:moveTo>
                    <a:pt x="57" y="185"/>
                  </a:moveTo>
                  <a:lnTo>
                    <a:pt x="29" y="236"/>
                  </a:lnTo>
                  <a:lnTo>
                    <a:pt x="0" y="185"/>
                  </a:lnTo>
                  <a:lnTo>
                    <a:pt x="57" y="18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7" name="Freeform 53"/>
            <p:cNvSpPr>
              <a:spLocks noEditPoints="1"/>
            </p:cNvSpPr>
            <p:nvPr/>
          </p:nvSpPr>
          <p:spPr bwMode="auto">
            <a:xfrm>
              <a:off x="2812" y="1681"/>
              <a:ext cx="57" cy="236"/>
            </a:xfrm>
            <a:custGeom>
              <a:avLst/>
              <a:gdLst>
                <a:gd name="T0" fmla="*/ 32 w 57"/>
                <a:gd name="T1" fmla="*/ 0 h 236"/>
                <a:gd name="T2" fmla="*/ 33 w 57"/>
                <a:gd name="T3" fmla="*/ 194 h 236"/>
                <a:gd name="T4" fmla="*/ 24 w 57"/>
                <a:gd name="T5" fmla="*/ 194 h 236"/>
                <a:gd name="T6" fmla="*/ 23 w 57"/>
                <a:gd name="T7" fmla="*/ 0 h 236"/>
                <a:gd name="T8" fmla="*/ 32 w 57"/>
                <a:gd name="T9" fmla="*/ 0 h 236"/>
                <a:gd name="T10" fmla="*/ 57 w 57"/>
                <a:gd name="T11" fmla="*/ 185 h 236"/>
                <a:gd name="T12" fmla="*/ 29 w 57"/>
                <a:gd name="T13" fmla="*/ 236 h 236"/>
                <a:gd name="T14" fmla="*/ 0 w 57"/>
                <a:gd name="T15" fmla="*/ 185 h 236"/>
                <a:gd name="T16" fmla="*/ 57 w 57"/>
                <a:gd name="T17" fmla="*/ 18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6">
                  <a:moveTo>
                    <a:pt x="32" y="0"/>
                  </a:moveTo>
                  <a:lnTo>
                    <a:pt x="33" y="194"/>
                  </a:lnTo>
                  <a:lnTo>
                    <a:pt x="24" y="194"/>
                  </a:lnTo>
                  <a:lnTo>
                    <a:pt x="23" y="0"/>
                  </a:lnTo>
                  <a:lnTo>
                    <a:pt x="32" y="0"/>
                  </a:lnTo>
                  <a:close/>
                  <a:moveTo>
                    <a:pt x="57" y="185"/>
                  </a:moveTo>
                  <a:lnTo>
                    <a:pt x="29" y="236"/>
                  </a:lnTo>
                  <a:lnTo>
                    <a:pt x="0" y="185"/>
                  </a:lnTo>
                  <a:lnTo>
                    <a:pt x="57" y="18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8" name="Freeform 54"/>
            <p:cNvSpPr>
              <a:spLocks noEditPoints="1"/>
            </p:cNvSpPr>
            <p:nvPr/>
          </p:nvSpPr>
          <p:spPr bwMode="auto">
            <a:xfrm>
              <a:off x="3308" y="1681"/>
              <a:ext cx="57" cy="236"/>
            </a:xfrm>
            <a:custGeom>
              <a:avLst/>
              <a:gdLst>
                <a:gd name="T0" fmla="*/ 28 w 57"/>
                <a:gd name="T1" fmla="*/ 0 h 236"/>
                <a:gd name="T2" fmla="*/ 24 w 57"/>
                <a:gd name="T3" fmla="*/ 193 h 236"/>
                <a:gd name="T4" fmla="*/ 33 w 57"/>
                <a:gd name="T5" fmla="*/ 194 h 236"/>
                <a:gd name="T6" fmla="*/ 37 w 57"/>
                <a:gd name="T7" fmla="*/ 0 h 236"/>
                <a:gd name="T8" fmla="*/ 28 w 57"/>
                <a:gd name="T9" fmla="*/ 0 h 236"/>
                <a:gd name="T10" fmla="*/ 0 w 57"/>
                <a:gd name="T11" fmla="*/ 185 h 236"/>
                <a:gd name="T12" fmla="*/ 28 w 57"/>
                <a:gd name="T13" fmla="*/ 236 h 236"/>
                <a:gd name="T14" fmla="*/ 57 w 57"/>
                <a:gd name="T15" fmla="*/ 185 h 236"/>
                <a:gd name="T16" fmla="*/ 0 w 57"/>
                <a:gd name="T17" fmla="*/ 18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6">
                  <a:moveTo>
                    <a:pt x="28" y="0"/>
                  </a:moveTo>
                  <a:lnTo>
                    <a:pt x="24" y="193"/>
                  </a:lnTo>
                  <a:lnTo>
                    <a:pt x="33" y="194"/>
                  </a:lnTo>
                  <a:lnTo>
                    <a:pt x="37" y="0"/>
                  </a:lnTo>
                  <a:lnTo>
                    <a:pt x="28" y="0"/>
                  </a:lnTo>
                  <a:close/>
                  <a:moveTo>
                    <a:pt x="0" y="185"/>
                  </a:moveTo>
                  <a:lnTo>
                    <a:pt x="28" y="236"/>
                  </a:lnTo>
                  <a:lnTo>
                    <a:pt x="57" y="185"/>
                  </a:lnTo>
                  <a:lnTo>
                    <a:pt x="0" y="18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49" name="Freeform 55"/>
            <p:cNvSpPr>
              <a:spLocks noEditPoints="1"/>
            </p:cNvSpPr>
            <p:nvPr/>
          </p:nvSpPr>
          <p:spPr bwMode="auto">
            <a:xfrm>
              <a:off x="3839" y="1680"/>
              <a:ext cx="57" cy="237"/>
            </a:xfrm>
            <a:custGeom>
              <a:avLst/>
              <a:gdLst>
                <a:gd name="T0" fmla="*/ 30 w 57"/>
                <a:gd name="T1" fmla="*/ 0 h 237"/>
                <a:gd name="T2" fmla="*/ 34 w 57"/>
                <a:gd name="T3" fmla="*/ 194 h 237"/>
                <a:gd name="T4" fmla="*/ 24 w 57"/>
                <a:gd name="T5" fmla="*/ 195 h 237"/>
                <a:gd name="T6" fmla="*/ 21 w 57"/>
                <a:gd name="T7" fmla="*/ 0 h 237"/>
                <a:gd name="T8" fmla="*/ 30 w 57"/>
                <a:gd name="T9" fmla="*/ 0 h 237"/>
                <a:gd name="T10" fmla="*/ 57 w 57"/>
                <a:gd name="T11" fmla="*/ 186 h 237"/>
                <a:gd name="T12" fmla="*/ 30 w 57"/>
                <a:gd name="T13" fmla="*/ 237 h 237"/>
                <a:gd name="T14" fmla="*/ 0 w 57"/>
                <a:gd name="T15" fmla="*/ 186 h 237"/>
                <a:gd name="T16" fmla="*/ 57 w 57"/>
                <a:gd name="T17" fmla="*/ 186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37">
                  <a:moveTo>
                    <a:pt x="30" y="0"/>
                  </a:moveTo>
                  <a:lnTo>
                    <a:pt x="34" y="194"/>
                  </a:lnTo>
                  <a:lnTo>
                    <a:pt x="24" y="195"/>
                  </a:lnTo>
                  <a:lnTo>
                    <a:pt x="21" y="0"/>
                  </a:lnTo>
                  <a:lnTo>
                    <a:pt x="30" y="0"/>
                  </a:lnTo>
                  <a:close/>
                  <a:moveTo>
                    <a:pt x="57" y="186"/>
                  </a:moveTo>
                  <a:lnTo>
                    <a:pt x="30" y="237"/>
                  </a:lnTo>
                  <a:lnTo>
                    <a:pt x="0" y="186"/>
                  </a:lnTo>
                  <a:lnTo>
                    <a:pt x="57" y="186"/>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50" name="Rectangle 56"/>
            <p:cNvSpPr>
              <a:spLocks noChangeArrowheads="1"/>
            </p:cNvSpPr>
            <p:nvPr/>
          </p:nvSpPr>
          <p:spPr bwMode="auto">
            <a:xfrm>
              <a:off x="3033" y="2698"/>
              <a:ext cx="441"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51" name="Freeform 57"/>
            <p:cNvSpPr>
              <a:spLocks noEditPoints="1"/>
            </p:cNvSpPr>
            <p:nvPr/>
          </p:nvSpPr>
          <p:spPr bwMode="auto">
            <a:xfrm>
              <a:off x="3030" y="2694"/>
              <a:ext cx="447" cy="277"/>
            </a:xfrm>
            <a:custGeom>
              <a:avLst/>
              <a:gdLst>
                <a:gd name="T0" fmla="*/ 0 w 447"/>
                <a:gd name="T1" fmla="*/ 0 h 277"/>
                <a:gd name="T2" fmla="*/ 447 w 447"/>
                <a:gd name="T3" fmla="*/ 0 h 277"/>
                <a:gd name="T4" fmla="*/ 447 w 447"/>
                <a:gd name="T5" fmla="*/ 277 h 277"/>
                <a:gd name="T6" fmla="*/ 0 w 447"/>
                <a:gd name="T7" fmla="*/ 277 h 277"/>
                <a:gd name="T8" fmla="*/ 0 w 447"/>
                <a:gd name="T9" fmla="*/ 0 h 277"/>
                <a:gd name="T10" fmla="*/ 7 w 447"/>
                <a:gd name="T11" fmla="*/ 273 h 277"/>
                <a:gd name="T12" fmla="*/ 3 w 447"/>
                <a:gd name="T13" fmla="*/ 270 h 277"/>
                <a:gd name="T14" fmla="*/ 444 w 447"/>
                <a:gd name="T15" fmla="*/ 270 h 277"/>
                <a:gd name="T16" fmla="*/ 440 w 447"/>
                <a:gd name="T17" fmla="*/ 273 h 277"/>
                <a:gd name="T18" fmla="*/ 440 w 447"/>
                <a:gd name="T19" fmla="*/ 4 h 277"/>
                <a:gd name="T20" fmla="*/ 444 w 447"/>
                <a:gd name="T21" fmla="*/ 7 h 277"/>
                <a:gd name="T22" fmla="*/ 3 w 447"/>
                <a:gd name="T23" fmla="*/ 7 h 277"/>
                <a:gd name="T24" fmla="*/ 7 w 447"/>
                <a:gd name="T25" fmla="*/ 4 h 277"/>
                <a:gd name="T26" fmla="*/ 7 w 447"/>
                <a:gd name="T27" fmla="*/ 273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7" h="277">
                  <a:moveTo>
                    <a:pt x="0" y="0"/>
                  </a:moveTo>
                  <a:lnTo>
                    <a:pt x="447" y="0"/>
                  </a:lnTo>
                  <a:lnTo>
                    <a:pt x="447" y="277"/>
                  </a:lnTo>
                  <a:lnTo>
                    <a:pt x="0" y="277"/>
                  </a:lnTo>
                  <a:lnTo>
                    <a:pt x="0" y="0"/>
                  </a:lnTo>
                  <a:close/>
                  <a:moveTo>
                    <a:pt x="7" y="273"/>
                  </a:moveTo>
                  <a:lnTo>
                    <a:pt x="3" y="270"/>
                  </a:lnTo>
                  <a:lnTo>
                    <a:pt x="444" y="270"/>
                  </a:lnTo>
                  <a:lnTo>
                    <a:pt x="440" y="273"/>
                  </a:lnTo>
                  <a:lnTo>
                    <a:pt x="440" y="4"/>
                  </a:lnTo>
                  <a:lnTo>
                    <a:pt x="444" y="7"/>
                  </a:lnTo>
                  <a:lnTo>
                    <a:pt x="3"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52" name="Rectangle 58"/>
            <p:cNvSpPr>
              <a:spLocks noChangeArrowheads="1"/>
            </p:cNvSpPr>
            <p:nvPr/>
          </p:nvSpPr>
          <p:spPr bwMode="auto">
            <a:xfrm>
              <a:off x="3085" y="2703"/>
              <a:ext cx="387"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System</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53" name="Rectangle 59"/>
            <p:cNvSpPr>
              <a:spLocks noChangeArrowheads="1"/>
            </p:cNvSpPr>
            <p:nvPr/>
          </p:nvSpPr>
          <p:spPr bwMode="auto">
            <a:xfrm>
              <a:off x="3422" y="2703"/>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54" name="Rectangle 60"/>
            <p:cNvSpPr>
              <a:spLocks noChangeArrowheads="1"/>
            </p:cNvSpPr>
            <p:nvPr/>
          </p:nvSpPr>
          <p:spPr bwMode="auto">
            <a:xfrm>
              <a:off x="3101" y="2823"/>
              <a:ext cx="35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55" name="Rectangle 61"/>
            <p:cNvSpPr>
              <a:spLocks noChangeArrowheads="1"/>
            </p:cNvSpPr>
            <p:nvPr/>
          </p:nvSpPr>
          <p:spPr bwMode="auto">
            <a:xfrm>
              <a:off x="3406" y="2823"/>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56" name="Rectangle 62"/>
            <p:cNvSpPr>
              <a:spLocks noChangeArrowheads="1"/>
            </p:cNvSpPr>
            <p:nvPr/>
          </p:nvSpPr>
          <p:spPr bwMode="auto">
            <a:xfrm>
              <a:off x="2594" y="2697"/>
              <a:ext cx="385"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57" name="Freeform 63"/>
            <p:cNvSpPr>
              <a:spLocks noEditPoints="1"/>
            </p:cNvSpPr>
            <p:nvPr/>
          </p:nvSpPr>
          <p:spPr bwMode="auto">
            <a:xfrm>
              <a:off x="2591" y="2693"/>
              <a:ext cx="391" cy="276"/>
            </a:xfrm>
            <a:custGeom>
              <a:avLst/>
              <a:gdLst>
                <a:gd name="T0" fmla="*/ 0 w 391"/>
                <a:gd name="T1" fmla="*/ 0 h 276"/>
                <a:gd name="T2" fmla="*/ 391 w 391"/>
                <a:gd name="T3" fmla="*/ 0 h 276"/>
                <a:gd name="T4" fmla="*/ 391 w 391"/>
                <a:gd name="T5" fmla="*/ 276 h 276"/>
                <a:gd name="T6" fmla="*/ 0 w 391"/>
                <a:gd name="T7" fmla="*/ 276 h 276"/>
                <a:gd name="T8" fmla="*/ 0 w 391"/>
                <a:gd name="T9" fmla="*/ 0 h 276"/>
                <a:gd name="T10" fmla="*/ 7 w 391"/>
                <a:gd name="T11" fmla="*/ 273 h 276"/>
                <a:gd name="T12" fmla="*/ 3 w 391"/>
                <a:gd name="T13" fmla="*/ 270 h 276"/>
                <a:gd name="T14" fmla="*/ 388 w 391"/>
                <a:gd name="T15" fmla="*/ 270 h 276"/>
                <a:gd name="T16" fmla="*/ 384 w 391"/>
                <a:gd name="T17" fmla="*/ 273 h 276"/>
                <a:gd name="T18" fmla="*/ 384 w 391"/>
                <a:gd name="T19" fmla="*/ 4 h 276"/>
                <a:gd name="T20" fmla="*/ 388 w 391"/>
                <a:gd name="T21" fmla="*/ 7 h 276"/>
                <a:gd name="T22" fmla="*/ 3 w 391"/>
                <a:gd name="T23" fmla="*/ 7 h 276"/>
                <a:gd name="T24" fmla="*/ 7 w 391"/>
                <a:gd name="T25" fmla="*/ 4 h 276"/>
                <a:gd name="T26" fmla="*/ 7 w 391"/>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1" h="276">
                  <a:moveTo>
                    <a:pt x="0" y="0"/>
                  </a:moveTo>
                  <a:lnTo>
                    <a:pt x="391" y="0"/>
                  </a:lnTo>
                  <a:lnTo>
                    <a:pt x="391" y="276"/>
                  </a:lnTo>
                  <a:lnTo>
                    <a:pt x="0" y="276"/>
                  </a:lnTo>
                  <a:lnTo>
                    <a:pt x="0" y="0"/>
                  </a:lnTo>
                  <a:close/>
                  <a:moveTo>
                    <a:pt x="7" y="273"/>
                  </a:moveTo>
                  <a:lnTo>
                    <a:pt x="3" y="270"/>
                  </a:lnTo>
                  <a:lnTo>
                    <a:pt x="388" y="270"/>
                  </a:lnTo>
                  <a:lnTo>
                    <a:pt x="384" y="273"/>
                  </a:lnTo>
                  <a:lnTo>
                    <a:pt x="384" y="4"/>
                  </a:lnTo>
                  <a:lnTo>
                    <a:pt x="388" y="7"/>
                  </a:lnTo>
                  <a:lnTo>
                    <a:pt x="3"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58" name="Rectangle 64"/>
            <p:cNvSpPr>
              <a:spLocks noChangeArrowheads="1"/>
            </p:cNvSpPr>
            <p:nvPr/>
          </p:nvSpPr>
          <p:spPr bwMode="auto">
            <a:xfrm>
              <a:off x="2685" y="2702"/>
              <a:ext cx="252"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Unit</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59" name="Rectangle 65"/>
            <p:cNvSpPr>
              <a:spLocks noChangeArrowheads="1"/>
            </p:cNvSpPr>
            <p:nvPr/>
          </p:nvSpPr>
          <p:spPr bwMode="auto">
            <a:xfrm>
              <a:off x="2889" y="270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0" name="Rectangle 66"/>
            <p:cNvSpPr>
              <a:spLocks noChangeArrowheads="1"/>
            </p:cNvSpPr>
            <p:nvPr/>
          </p:nvSpPr>
          <p:spPr bwMode="auto">
            <a:xfrm>
              <a:off x="2634" y="2823"/>
              <a:ext cx="35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1" name="Rectangle 67"/>
            <p:cNvSpPr>
              <a:spLocks noChangeArrowheads="1"/>
            </p:cNvSpPr>
            <p:nvPr/>
          </p:nvSpPr>
          <p:spPr bwMode="auto">
            <a:xfrm>
              <a:off x="2939" y="2823"/>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2" name="Rectangle 68"/>
            <p:cNvSpPr>
              <a:spLocks noChangeArrowheads="1"/>
            </p:cNvSpPr>
            <p:nvPr/>
          </p:nvSpPr>
          <p:spPr bwMode="auto">
            <a:xfrm>
              <a:off x="2003" y="2697"/>
              <a:ext cx="491"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63" name="Freeform 69"/>
            <p:cNvSpPr>
              <a:spLocks noEditPoints="1"/>
            </p:cNvSpPr>
            <p:nvPr/>
          </p:nvSpPr>
          <p:spPr bwMode="auto">
            <a:xfrm>
              <a:off x="2000" y="2694"/>
              <a:ext cx="497" cy="276"/>
            </a:xfrm>
            <a:custGeom>
              <a:avLst/>
              <a:gdLst>
                <a:gd name="T0" fmla="*/ 0 w 497"/>
                <a:gd name="T1" fmla="*/ 0 h 276"/>
                <a:gd name="T2" fmla="*/ 497 w 497"/>
                <a:gd name="T3" fmla="*/ 0 h 276"/>
                <a:gd name="T4" fmla="*/ 497 w 497"/>
                <a:gd name="T5" fmla="*/ 276 h 276"/>
                <a:gd name="T6" fmla="*/ 0 w 497"/>
                <a:gd name="T7" fmla="*/ 276 h 276"/>
                <a:gd name="T8" fmla="*/ 0 w 497"/>
                <a:gd name="T9" fmla="*/ 0 h 276"/>
                <a:gd name="T10" fmla="*/ 7 w 497"/>
                <a:gd name="T11" fmla="*/ 273 h 276"/>
                <a:gd name="T12" fmla="*/ 3 w 497"/>
                <a:gd name="T13" fmla="*/ 270 h 276"/>
                <a:gd name="T14" fmla="*/ 494 w 497"/>
                <a:gd name="T15" fmla="*/ 270 h 276"/>
                <a:gd name="T16" fmla="*/ 490 w 497"/>
                <a:gd name="T17" fmla="*/ 273 h 276"/>
                <a:gd name="T18" fmla="*/ 490 w 497"/>
                <a:gd name="T19" fmla="*/ 3 h 276"/>
                <a:gd name="T20" fmla="*/ 494 w 497"/>
                <a:gd name="T21" fmla="*/ 6 h 276"/>
                <a:gd name="T22" fmla="*/ 3 w 497"/>
                <a:gd name="T23" fmla="*/ 6 h 276"/>
                <a:gd name="T24" fmla="*/ 7 w 497"/>
                <a:gd name="T25" fmla="*/ 3 h 276"/>
                <a:gd name="T26" fmla="*/ 7 w 497"/>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97" h="276">
                  <a:moveTo>
                    <a:pt x="0" y="0"/>
                  </a:moveTo>
                  <a:lnTo>
                    <a:pt x="497" y="0"/>
                  </a:lnTo>
                  <a:lnTo>
                    <a:pt x="497" y="276"/>
                  </a:lnTo>
                  <a:lnTo>
                    <a:pt x="0" y="276"/>
                  </a:lnTo>
                  <a:lnTo>
                    <a:pt x="0" y="0"/>
                  </a:lnTo>
                  <a:close/>
                  <a:moveTo>
                    <a:pt x="7" y="273"/>
                  </a:moveTo>
                  <a:lnTo>
                    <a:pt x="3" y="270"/>
                  </a:lnTo>
                  <a:lnTo>
                    <a:pt x="494" y="270"/>
                  </a:lnTo>
                  <a:lnTo>
                    <a:pt x="490" y="273"/>
                  </a:lnTo>
                  <a:lnTo>
                    <a:pt x="490" y="3"/>
                  </a:lnTo>
                  <a:lnTo>
                    <a:pt x="494"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64" name="Rectangle 70"/>
            <p:cNvSpPr>
              <a:spLocks noChangeArrowheads="1"/>
            </p:cNvSpPr>
            <p:nvPr/>
          </p:nvSpPr>
          <p:spPr bwMode="auto">
            <a:xfrm>
              <a:off x="2055" y="2702"/>
              <a:ext cx="437"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Detailed</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5" name="Rectangle 71"/>
            <p:cNvSpPr>
              <a:spLocks noChangeArrowheads="1"/>
            </p:cNvSpPr>
            <p:nvPr/>
          </p:nvSpPr>
          <p:spPr bwMode="auto">
            <a:xfrm>
              <a:off x="2443" y="270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6" name="Rectangle 72"/>
            <p:cNvSpPr>
              <a:spLocks noChangeArrowheads="1"/>
            </p:cNvSpPr>
            <p:nvPr/>
          </p:nvSpPr>
          <p:spPr bwMode="auto">
            <a:xfrm>
              <a:off x="2100" y="2822"/>
              <a:ext cx="34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7" name="Rectangle 73"/>
            <p:cNvSpPr>
              <a:spLocks noChangeArrowheads="1"/>
            </p:cNvSpPr>
            <p:nvPr/>
          </p:nvSpPr>
          <p:spPr bwMode="auto">
            <a:xfrm>
              <a:off x="2398" y="2822"/>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68" name="Rectangle 74"/>
            <p:cNvSpPr>
              <a:spLocks noChangeArrowheads="1"/>
            </p:cNvSpPr>
            <p:nvPr/>
          </p:nvSpPr>
          <p:spPr bwMode="auto">
            <a:xfrm>
              <a:off x="1466" y="2697"/>
              <a:ext cx="459"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69" name="Freeform 75"/>
            <p:cNvSpPr>
              <a:spLocks noEditPoints="1"/>
            </p:cNvSpPr>
            <p:nvPr/>
          </p:nvSpPr>
          <p:spPr bwMode="auto">
            <a:xfrm>
              <a:off x="1462" y="2694"/>
              <a:ext cx="466" cy="276"/>
            </a:xfrm>
            <a:custGeom>
              <a:avLst/>
              <a:gdLst>
                <a:gd name="T0" fmla="*/ 0 w 466"/>
                <a:gd name="T1" fmla="*/ 0 h 276"/>
                <a:gd name="T2" fmla="*/ 466 w 466"/>
                <a:gd name="T3" fmla="*/ 0 h 276"/>
                <a:gd name="T4" fmla="*/ 466 w 466"/>
                <a:gd name="T5" fmla="*/ 276 h 276"/>
                <a:gd name="T6" fmla="*/ 0 w 466"/>
                <a:gd name="T7" fmla="*/ 276 h 276"/>
                <a:gd name="T8" fmla="*/ 0 w 466"/>
                <a:gd name="T9" fmla="*/ 0 h 276"/>
                <a:gd name="T10" fmla="*/ 7 w 466"/>
                <a:gd name="T11" fmla="*/ 273 h 276"/>
                <a:gd name="T12" fmla="*/ 4 w 466"/>
                <a:gd name="T13" fmla="*/ 270 h 276"/>
                <a:gd name="T14" fmla="*/ 463 w 466"/>
                <a:gd name="T15" fmla="*/ 270 h 276"/>
                <a:gd name="T16" fmla="*/ 459 w 466"/>
                <a:gd name="T17" fmla="*/ 273 h 276"/>
                <a:gd name="T18" fmla="*/ 459 w 466"/>
                <a:gd name="T19" fmla="*/ 3 h 276"/>
                <a:gd name="T20" fmla="*/ 463 w 466"/>
                <a:gd name="T21" fmla="*/ 6 h 276"/>
                <a:gd name="T22" fmla="*/ 4 w 466"/>
                <a:gd name="T23" fmla="*/ 6 h 276"/>
                <a:gd name="T24" fmla="*/ 7 w 466"/>
                <a:gd name="T25" fmla="*/ 3 h 276"/>
                <a:gd name="T26" fmla="*/ 7 w 466"/>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66" h="276">
                  <a:moveTo>
                    <a:pt x="0" y="0"/>
                  </a:moveTo>
                  <a:lnTo>
                    <a:pt x="466" y="0"/>
                  </a:lnTo>
                  <a:lnTo>
                    <a:pt x="466" y="276"/>
                  </a:lnTo>
                  <a:lnTo>
                    <a:pt x="0" y="276"/>
                  </a:lnTo>
                  <a:lnTo>
                    <a:pt x="0" y="0"/>
                  </a:lnTo>
                  <a:close/>
                  <a:moveTo>
                    <a:pt x="7" y="273"/>
                  </a:moveTo>
                  <a:lnTo>
                    <a:pt x="4" y="270"/>
                  </a:lnTo>
                  <a:lnTo>
                    <a:pt x="463" y="270"/>
                  </a:lnTo>
                  <a:lnTo>
                    <a:pt x="459" y="273"/>
                  </a:lnTo>
                  <a:lnTo>
                    <a:pt x="459" y="3"/>
                  </a:lnTo>
                  <a:lnTo>
                    <a:pt x="463" y="6"/>
                  </a:lnTo>
                  <a:lnTo>
                    <a:pt x="4"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70" name="Rectangle 76"/>
            <p:cNvSpPr>
              <a:spLocks noChangeArrowheads="1"/>
            </p:cNvSpPr>
            <p:nvPr/>
          </p:nvSpPr>
          <p:spPr bwMode="auto">
            <a:xfrm>
              <a:off x="1527" y="2702"/>
              <a:ext cx="38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System</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1" name="Rectangle 77"/>
            <p:cNvSpPr>
              <a:spLocks noChangeArrowheads="1"/>
            </p:cNvSpPr>
            <p:nvPr/>
          </p:nvSpPr>
          <p:spPr bwMode="auto">
            <a:xfrm>
              <a:off x="1864" y="2702"/>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2" name="Rectangle 78"/>
            <p:cNvSpPr>
              <a:spLocks noChangeArrowheads="1"/>
            </p:cNvSpPr>
            <p:nvPr/>
          </p:nvSpPr>
          <p:spPr bwMode="auto">
            <a:xfrm>
              <a:off x="1546" y="2822"/>
              <a:ext cx="349"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3" name="Rectangle 79"/>
            <p:cNvSpPr>
              <a:spLocks noChangeArrowheads="1"/>
            </p:cNvSpPr>
            <p:nvPr/>
          </p:nvSpPr>
          <p:spPr bwMode="auto">
            <a:xfrm>
              <a:off x="1845" y="282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4" name="Rectangle 80"/>
            <p:cNvSpPr>
              <a:spLocks noChangeArrowheads="1"/>
            </p:cNvSpPr>
            <p:nvPr/>
          </p:nvSpPr>
          <p:spPr bwMode="auto">
            <a:xfrm>
              <a:off x="743" y="2697"/>
              <a:ext cx="606"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75" name="Freeform 81"/>
            <p:cNvSpPr>
              <a:spLocks noEditPoints="1"/>
            </p:cNvSpPr>
            <p:nvPr/>
          </p:nvSpPr>
          <p:spPr bwMode="auto">
            <a:xfrm>
              <a:off x="739" y="2693"/>
              <a:ext cx="614" cy="276"/>
            </a:xfrm>
            <a:custGeom>
              <a:avLst/>
              <a:gdLst>
                <a:gd name="T0" fmla="*/ 0 w 614"/>
                <a:gd name="T1" fmla="*/ 0 h 276"/>
                <a:gd name="T2" fmla="*/ 614 w 614"/>
                <a:gd name="T3" fmla="*/ 0 h 276"/>
                <a:gd name="T4" fmla="*/ 614 w 614"/>
                <a:gd name="T5" fmla="*/ 276 h 276"/>
                <a:gd name="T6" fmla="*/ 0 w 614"/>
                <a:gd name="T7" fmla="*/ 276 h 276"/>
                <a:gd name="T8" fmla="*/ 0 w 614"/>
                <a:gd name="T9" fmla="*/ 0 h 276"/>
                <a:gd name="T10" fmla="*/ 7 w 614"/>
                <a:gd name="T11" fmla="*/ 273 h 276"/>
                <a:gd name="T12" fmla="*/ 4 w 614"/>
                <a:gd name="T13" fmla="*/ 270 h 276"/>
                <a:gd name="T14" fmla="*/ 610 w 614"/>
                <a:gd name="T15" fmla="*/ 270 h 276"/>
                <a:gd name="T16" fmla="*/ 607 w 614"/>
                <a:gd name="T17" fmla="*/ 273 h 276"/>
                <a:gd name="T18" fmla="*/ 607 w 614"/>
                <a:gd name="T19" fmla="*/ 4 h 276"/>
                <a:gd name="T20" fmla="*/ 610 w 614"/>
                <a:gd name="T21" fmla="*/ 7 h 276"/>
                <a:gd name="T22" fmla="*/ 4 w 614"/>
                <a:gd name="T23" fmla="*/ 7 h 276"/>
                <a:gd name="T24" fmla="*/ 7 w 614"/>
                <a:gd name="T25" fmla="*/ 4 h 276"/>
                <a:gd name="T26" fmla="*/ 7 w 614"/>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14" h="276">
                  <a:moveTo>
                    <a:pt x="0" y="0"/>
                  </a:moveTo>
                  <a:lnTo>
                    <a:pt x="614" y="0"/>
                  </a:lnTo>
                  <a:lnTo>
                    <a:pt x="614" y="276"/>
                  </a:lnTo>
                  <a:lnTo>
                    <a:pt x="0" y="276"/>
                  </a:lnTo>
                  <a:lnTo>
                    <a:pt x="0" y="0"/>
                  </a:lnTo>
                  <a:close/>
                  <a:moveTo>
                    <a:pt x="7" y="273"/>
                  </a:moveTo>
                  <a:lnTo>
                    <a:pt x="4" y="270"/>
                  </a:lnTo>
                  <a:lnTo>
                    <a:pt x="610" y="270"/>
                  </a:lnTo>
                  <a:lnTo>
                    <a:pt x="607" y="273"/>
                  </a:lnTo>
                  <a:lnTo>
                    <a:pt x="607" y="4"/>
                  </a:lnTo>
                  <a:lnTo>
                    <a:pt x="610" y="7"/>
                  </a:lnTo>
                  <a:lnTo>
                    <a:pt x="4"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76" name="Rectangle 82"/>
            <p:cNvSpPr>
              <a:spLocks noChangeArrowheads="1"/>
            </p:cNvSpPr>
            <p:nvPr/>
          </p:nvSpPr>
          <p:spPr bwMode="auto">
            <a:xfrm>
              <a:off x="878" y="2702"/>
              <a:ext cx="38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System</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7" name="Rectangle 83"/>
            <p:cNvSpPr>
              <a:spLocks noChangeArrowheads="1"/>
            </p:cNvSpPr>
            <p:nvPr/>
          </p:nvSpPr>
          <p:spPr bwMode="auto">
            <a:xfrm>
              <a:off x="1215" y="270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8" name="Rectangle 84"/>
            <p:cNvSpPr>
              <a:spLocks noChangeArrowheads="1"/>
            </p:cNvSpPr>
            <p:nvPr/>
          </p:nvSpPr>
          <p:spPr bwMode="auto">
            <a:xfrm>
              <a:off x="777" y="2823"/>
              <a:ext cx="619"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architecture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79" name="Rectangle 85"/>
            <p:cNvSpPr>
              <a:spLocks noChangeArrowheads="1"/>
            </p:cNvSpPr>
            <p:nvPr/>
          </p:nvSpPr>
          <p:spPr bwMode="auto">
            <a:xfrm>
              <a:off x="1345" y="2823"/>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0" name="Rectangle 86"/>
            <p:cNvSpPr>
              <a:spLocks noChangeArrowheads="1"/>
            </p:cNvSpPr>
            <p:nvPr/>
          </p:nvSpPr>
          <p:spPr bwMode="auto">
            <a:xfrm>
              <a:off x="3532" y="2698"/>
              <a:ext cx="587"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81" name="Freeform 87"/>
            <p:cNvSpPr>
              <a:spLocks noEditPoints="1"/>
            </p:cNvSpPr>
            <p:nvPr/>
          </p:nvSpPr>
          <p:spPr bwMode="auto">
            <a:xfrm>
              <a:off x="3528" y="2694"/>
              <a:ext cx="595" cy="277"/>
            </a:xfrm>
            <a:custGeom>
              <a:avLst/>
              <a:gdLst>
                <a:gd name="T0" fmla="*/ 0 w 595"/>
                <a:gd name="T1" fmla="*/ 0 h 277"/>
                <a:gd name="T2" fmla="*/ 595 w 595"/>
                <a:gd name="T3" fmla="*/ 0 h 277"/>
                <a:gd name="T4" fmla="*/ 595 w 595"/>
                <a:gd name="T5" fmla="*/ 277 h 277"/>
                <a:gd name="T6" fmla="*/ 0 w 595"/>
                <a:gd name="T7" fmla="*/ 277 h 277"/>
                <a:gd name="T8" fmla="*/ 0 w 595"/>
                <a:gd name="T9" fmla="*/ 0 h 277"/>
                <a:gd name="T10" fmla="*/ 7 w 595"/>
                <a:gd name="T11" fmla="*/ 273 h 277"/>
                <a:gd name="T12" fmla="*/ 4 w 595"/>
                <a:gd name="T13" fmla="*/ 270 h 277"/>
                <a:gd name="T14" fmla="*/ 591 w 595"/>
                <a:gd name="T15" fmla="*/ 270 h 277"/>
                <a:gd name="T16" fmla="*/ 588 w 595"/>
                <a:gd name="T17" fmla="*/ 273 h 277"/>
                <a:gd name="T18" fmla="*/ 588 w 595"/>
                <a:gd name="T19" fmla="*/ 4 h 277"/>
                <a:gd name="T20" fmla="*/ 591 w 595"/>
                <a:gd name="T21" fmla="*/ 7 h 277"/>
                <a:gd name="T22" fmla="*/ 4 w 595"/>
                <a:gd name="T23" fmla="*/ 7 h 277"/>
                <a:gd name="T24" fmla="*/ 7 w 595"/>
                <a:gd name="T25" fmla="*/ 4 h 277"/>
                <a:gd name="T26" fmla="*/ 7 w 595"/>
                <a:gd name="T27" fmla="*/ 273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5" h="277">
                  <a:moveTo>
                    <a:pt x="0" y="0"/>
                  </a:moveTo>
                  <a:lnTo>
                    <a:pt x="595" y="0"/>
                  </a:lnTo>
                  <a:lnTo>
                    <a:pt x="595" y="277"/>
                  </a:lnTo>
                  <a:lnTo>
                    <a:pt x="0" y="277"/>
                  </a:lnTo>
                  <a:lnTo>
                    <a:pt x="0" y="0"/>
                  </a:lnTo>
                  <a:close/>
                  <a:moveTo>
                    <a:pt x="7" y="273"/>
                  </a:moveTo>
                  <a:lnTo>
                    <a:pt x="4" y="270"/>
                  </a:lnTo>
                  <a:lnTo>
                    <a:pt x="591" y="270"/>
                  </a:lnTo>
                  <a:lnTo>
                    <a:pt x="588" y="273"/>
                  </a:lnTo>
                  <a:lnTo>
                    <a:pt x="588" y="4"/>
                  </a:lnTo>
                  <a:lnTo>
                    <a:pt x="591" y="7"/>
                  </a:lnTo>
                  <a:lnTo>
                    <a:pt x="4"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82" name="Rectangle 88"/>
            <p:cNvSpPr>
              <a:spLocks noChangeArrowheads="1"/>
            </p:cNvSpPr>
            <p:nvPr/>
          </p:nvSpPr>
          <p:spPr bwMode="auto">
            <a:xfrm>
              <a:off x="3574" y="2703"/>
              <a:ext cx="55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Integration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3" name="Rectangle 89"/>
            <p:cNvSpPr>
              <a:spLocks noChangeArrowheads="1"/>
            </p:cNvSpPr>
            <p:nvPr/>
          </p:nvSpPr>
          <p:spPr bwMode="auto">
            <a:xfrm>
              <a:off x="4076" y="2703"/>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4" name="Rectangle 90"/>
            <p:cNvSpPr>
              <a:spLocks noChangeArrowheads="1"/>
            </p:cNvSpPr>
            <p:nvPr/>
          </p:nvSpPr>
          <p:spPr bwMode="auto">
            <a:xfrm>
              <a:off x="3673" y="2823"/>
              <a:ext cx="35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5" name="Rectangle 91"/>
            <p:cNvSpPr>
              <a:spLocks noChangeArrowheads="1"/>
            </p:cNvSpPr>
            <p:nvPr/>
          </p:nvSpPr>
          <p:spPr bwMode="auto">
            <a:xfrm>
              <a:off x="3978" y="2823"/>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6" name="Rectangle 92"/>
            <p:cNvSpPr>
              <a:spLocks noChangeArrowheads="1"/>
            </p:cNvSpPr>
            <p:nvPr/>
          </p:nvSpPr>
          <p:spPr bwMode="auto">
            <a:xfrm>
              <a:off x="4200" y="2697"/>
              <a:ext cx="583"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087" name="Freeform 93"/>
            <p:cNvSpPr>
              <a:spLocks noEditPoints="1"/>
            </p:cNvSpPr>
            <p:nvPr/>
          </p:nvSpPr>
          <p:spPr bwMode="auto">
            <a:xfrm>
              <a:off x="4197" y="2694"/>
              <a:ext cx="590" cy="276"/>
            </a:xfrm>
            <a:custGeom>
              <a:avLst/>
              <a:gdLst>
                <a:gd name="T0" fmla="*/ 0 w 590"/>
                <a:gd name="T1" fmla="*/ 0 h 276"/>
                <a:gd name="T2" fmla="*/ 590 w 590"/>
                <a:gd name="T3" fmla="*/ 0 h 276"/>
                <a:gd name="T4" fmla="*/ 590 w 590"/>
                <a:gd name="T5" fmla="*/ 276 h 276"/>
                <a:gd name="T6" fmla="*/ 0 w 590"/>
                <a:gd name="T7" fmla="*/ 276 h 276"/>
                <a:gd name="T8" fmla="*/ 0 w 590"/>
                <a:gd name="T9" fmla="*/ 0 h 276"/>
                <a:gd name="T10" fmla="*/ 7 w 590"/>
                <a:gd name="T11" fmla="*/ 273 h 276"/>
                <a:gd name="T12" fmla="*/ 3 w 590"/>
                <a:gd name="T13" fmla="*/ 270 h 276"/>
                <a:gd name="T14" fmla="*/ 586 w 590"/>
                <a:gd name="T15" fmla="*/ 270 h 276"/>
                <a:gd name="T16" fmla="*/ 583 w 590"/>
                <a:gd name="T17" fmla="*/ 273 h 276"/>
                <a:gd name="T18" fmla="*/ 583 w 590"/>
                <a:gd name="T19" fmla="*/ 3 h 276"/>
                <a:gd name="T20" fmla="*/ 586 w 590"/>
                <a:gd name="T21" fmla="*/ 6 h 276"/>
                <a:gd name="T22" fmla="*/ 3 w 590"/>
                <a:gd name="T23" fmla="*/ 6 h 276"/>
                <a:gd name="T24" fmla="*/ 7 w 590"/>
                <a:gd name="T25" fmla="*/ 3 h 276"/>
                <a:gd name="T26" fmla="*/ 7 w 590"/>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0" h="276">
                  <a:moveTo>
                    <a:pt x="0" y="0"/>
                  </a:moveTo>
                  <a:lnTo>
                    <a:pt x="590" y="0"/>
                  </a:lnTo>
                  <a:lnTo>
                    <a:pt x="590" y="276"/>
                  </a:lnTo>
                  <a:lnTo>
                    <a:pt x="0" y="276"/>
                  </a:lnTo>
                  <a:lnTo>
                    <a:pt x="0" y="0"/>
                  </a:lnTo>
                  <a:close/>
                  <a:moveTo>
                    <a:pt x="7" y="273"/>
                  </a:moveTo>
                  <a:lnTo>
                    <a:pt x="3" y="270"/>
                  </a:lnTo>
                  <a:lnTo>
                    <a:pt x="586" y="270"/>
                  </a:lnTo>
                  <a:lnTo>
                    <a:pt x="583" y="273"/>
                  </a:lnTo>
                  <a:lnTo>
                    <a:pt x="583" y="3"/>
                  </a:lnTo>
                  <a:lnTo>
                    <a:pt x="586"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88" name="Rectangle 94"/>
            <p:cNvSpPr>
              <a:spLocks noChangeArrowheads="1"/>
            </p:cNvSpPr>
            <p:nvPr/>
          </p:nvSpPr>
          <p:spPr bwMode="auto">
            <a:xfrm>
              <a:off x="4226" y="2702"/>
              <a:ext cx="58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Acceptance</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89" name="Rectangle 95"/>
            <p:cNvSpPr>
              <a:spLocks noChangeArrowheads="1"/>
            </p:cNvSpPr>
            <p:nvPr/>
          </p:nvSpPr>
          <p:spPr bwMode="auto">
            <a:xfrm>
              <a:off x="4759" y="270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90" name="Rectangle 96"/>
            <p:cNvSpPr>
              <a:spLocks noChangeArrowheads="1"/>
            </p:cNvSpPr>
            <p:nvPr/>
          </p:nvSpPr>
          <p:spPr bwMode="auto">
            <a:xfrm>
              <a:off x="4339" y="2822"/>
              <a:ext cx="35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91" name="Rectangle 97"/>
            <p:cNvSpPr>
              <a:spLocks noChangeArrowheads="1"/>
            </p:cNvSpPr>
            <p:nvPr/>
          </p:nvSpPr>
          <p:spPr bwMode="auto">
            <a:xfrm>
              <a:off x="4645" y="2822"/>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092" name="Freeform 98"/>
            <p:cNvSpPr>
              <a:spLocks/>
            </p:cNvSpPr>
            <p:nvPr/>
          </p:nvSpPr>
          <p:spPr bwMode="auto">
            <a:xfrm>
              <a:off x="1042" y="2449"/>
              <a:ext cx="1207" cy="7"/>
            </a:xfrm>
            <a:custGeom>
              <a:avLst/>
              <a:gdLst>
                <a:gd name="T0" fmla="*/ 0 w 1207"/>
                <a:gd name="T1" fmla="*/ 0 h 7"/>
                <a:gd name="T2" fmla="*/ 1207 w 1207"/>
                <a:gd name="T3" fmla="*/ 0 h 7"/>
                <a:gd name="T4" fmla="*/ 1207 w 1207"/>
                <a:gd name="T5" fmla="*/ 7 h 7"/>
                <a:gd name="T6" fmla="*/ 0 w 1207"/>
                <a:gd name="T7" fmla="*/ 6 h 7"/>
                <a:gd name="T8" fmla="*/ 0 w 1207"/>
                <a:gd name="T9" fmla="*/ 0 h 7"/>
              </a:gdLst>
              <a:ahLst/>
              <a:cxnLst>
                <a:cxn ang="0">
                  <a:pos x="T0" y="T1"/>
                </a:cxn>
                <a:cxn ang="0">
                  <a:pos x="T2" y="T3"/>
                </a:cxn>
                <a:cxn ang="0">
                  <a:pos x="T4" y="T5"/>
                </a:cxn>
                <a:cxn ang="0">
                  <a:pos x="T6" y="T7"/>
                </a:cxn>
                <a:cxn ang="0">
                  <a:pos x="T8" y="T9"/>
                </a:cxn>
              </a:cxnLst>
              <a:rect l="0" t="0" r="r" b="b"/>
              <a:pathLst>
                <a:path w="1207" h="7">
                  <a:moveTo>
                    <a:pt x="0" y="0"/>
                  </a:moveTo>
                  <a:lnTo>
                    <a:pt x="1207" y="0"/>
                  </a:lnTo>
                  <a:lnTo>
                    <a:pt x="1207" y="7"/>
                  </a:lnTo>
                  <a:lnTo>
                    <a:pt x="0" y="6"/>
                  </a:lnTo>
                  <a:lnTo>
                    <a:pt x="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3" name="Freeform 99"/>
            <p:cNvSpPr>
              <a:spLocks/>
            </p:cNvSpPr>
            <p:nvPr/>
          </p:nvSpPr>
          <p:spPr bwMode="auto">
            <a:xfrm>
              <a:off x="1527" y="2320"/>
              <a:ext cx="1314" cy="7"/>
            </a:xfrm>
            <a:custGeom>
              <a:avLst/>
              <a:gdLst>
                <a:gd name="T0" fmla="*/ 0 w 1314"/>
                <a:gd name="T1" fmla="*/ 0 h 7"/>
                <a:gd name="T2" fmla="*/ 1314 w 1314"/>
                <a:gd name="T3" fmla="*/ 0 h 7"/>
                <a:gd name="T4" fmla="*/ 1314 w 1314"/>
                <a:gd name="T5" fmla="*/ 7 h 7"/>
                <a:gd name="T6" fmla="*/ 0 w 1314"/>
                <a:gd name="T7" fmla="*/ 6 h 7"/>
                <a:gd name="T8" fmla="*/ 0 w 1314"/>
                <a:gd name="T9" fmla="*/ 0 h 7"/>
              </a:gdLst>
              <a:ahLst/>
              <a:cxnLst>
                <a:cxn ang="0">
                  <a:pos x="T0" y="T1"/>
                </a:cxn>
                <a:cxn ang="0">
                  <a:pos x="T2" y="T3"/>
                </a:cxn>
                <a:cxn ang="0">
                  <a:pos x="T4" y="T5"/>
                </a:cxn>
                <a:cxn ang="0">
                  <a:pos x="T6" y="T7"/>
                </a:cxn>
                <a:cxn ang="0">
                  <a:pos x="T8" y="T9"/>
                </a:cxn>
              </a:cxnLst>
              <a:rect l="0" t="0" r="r" b="b"/>
              <a:pathLst>
                <a:path w="1314" h="7">
                  <a:moveTo>
                    <a:pt x="0" y="0"/>
                  </a:moveTo>
                  <a:lnTo>
                    <a:pt x="1314" y="0"/>
                  </a:lnTo>
                  <a:lnTo>
                    <a:pt x="1314" y="7"/>
                  </a:lnTo>
                  <a:lnTo>
                    <a:pt x="0" y="6"/>
                  </a:lnTo>
                  <a:lnTo>
                    <a:pt x="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4" name="Rectangle 100"/>
            <p:cNvSpPr>
              <a:spLocks noChangeArrowheads="1"/>
            </p:cNvSpPr>
            <p:nvPr/>
          </p:nvSpPr>
          <p:spPr bwMode="auto">
            <a:xfrm>
              <a:off x="2837" y="2187"/>
              <a:ext cx="7" cy="136"/>
            </a:xfrm>
            <a:prstGeom prst="rect">
              <a:avLst/>
            </a:pr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5" name="Rectangle 101"/>
            <p:cNvSpPr>
              <a:spLocks noChangeArrowheads="1"/>
            </p:cNvSpPr>
            <p:nvPr/>
          </p:nvSpPr>
          <p:spPr bwMode="auto">
            <a:xfrm>
              <a:off x="1524" y="2323"/>
              <a:ext cx="7" cy="129"/>
            </a:xfrm>
            <a:prstGeom prst="rect">
              <a:avLst/>
            </a:pr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6" name="Freeform 102"/>
            <p:cNvSpPr>
              <a:spLocks noEditPoints="1"/>
            </p:cNvSpPr>
            <p:nvPr/>
          </p:nvSpPr>
          <p:spPr bwMode="auto">
            <a:xfrm>
              <a:off x="1017" y="2452"/>
              <a:ext cx="57" cy="245"/>
            </a:xfrm>
            <a:custGeom>
              <a:avLst/>
              <a:gdLst>
                <a:gd name="T0" fmla="*/ 30 w 57"/>
                <a:gd name="T1" fmla="*/ 0 h 245"/>
                <a:gd name="T2" fmla="*/ 33 w 57"/>
                <a:gd name="T3" fmla="*/ 202 h 245"/>
                <a:gd name="T4" fmla="*/ 24 w 57"/>
                <a:gd name="T5" fmla="*/ 202 h 245"/>
                <a:gd name="T6" fmla="*/ 21 w 57"/>
                <a:gd name="T7" fmla="*/ 0 h 245"/>
                <a:gd name="T8" fmla="*/ 30 w 57"/>
                <a:gd name="T9" fmla="*/ 0 h 245"/>
                <a:gd name="T10" fmla="*/ 57 w 57"/>
                <a:gd name="T11" fmla="*/ 193 h 245"/>
                <a:gd name="T12" fmla="*/ 29 w 57"/>
                <a:gd name="T13" fmla="*/ 245 h 245"/>
                <a:gd name="T14" fmla="*/ 0 w 57"/>
                <a:gd name="T15" fmla="*/ 193 h 245"/>
                <a:gd name="T16" fmla="*/ 57 w 57"/>
                <a:gd name="T17" fmla="*/ 193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5">
                  <a:moveTo>
                    <a:pt x="30" y="0"/>
                  </a:moveTo>
                  <a:lnTo>
                    <a:pt x="33" y="202"/>
                  </a:lnTo>
                  <a:lnTo>
                    <a:pt x="24" y="202"/>
                  </a:lnTo>
                  <a:lnTo>
                    <a:pt x="21" y="0"/>
                  </a:lnTo>
                  <a:lnTo>
                    <a:pt x="30" y="0"/>
                  </a:lnTo>
                  <a:close/>
                  <a:moveTo>
                    <a:pt x="57" y="193"/>
                  </a:moveTo>
                  <a:lnTo>
                    <a:pt x="29" y="245"/>
                  </a:lnTo>
                  <a:lnTo>
                    <a:pt x="0" y="193"/>
                  </a:lnTo>
                  <a:lnTo>
                    <a:pt x="57" y="19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7" name="Freeform 103"/>
            <p:cNvSpPr>
              <a:spLocks noEditPoints="1"/>
            </p:cNvSpPr>
            <p:nvPr/>
          </p:nvSpPr>
          <p:spPr bwMode="auto">
            <a:xfrm>
              <a:off x="1667" y="2452"/>
              <a:ext cx="57" cy="245"/>
            </a:xfrm>
            <a:custGeom>
              <a:avLst/>
              <a:gdLst>
                <a:gd name="T0" fmla="*/ 24 w 57"/>
                <a:gd name="T1" fmla="*/ 0 h 245"/>
                <a:gd name="T2" fmla="*/ 24 w 57"/>
                <a:gd name="T3" fmla="*/ 202 h 245"/>
                <a:gd name="T4" fmla="*/ 33 w 57"/>
                <a:gd name="T5" fmla="*/ 202 h 245"/>
                <a:gd name="T6" fmla="*/ 34 w 57"/>
                <a:gd name="T7" fmla="*/ 0 h 245"/>
                <a:gd name="T8" fmla="*/ 24 w 57"/>
                <a:gd name="T9" fmla="*/ 0 h 245"/>
                <a:gd name="T10" fmla="*/ 0 w 57"/>
                <a:gd name="T11" fmla="*/ 194 h 245"/>
                <a:gd name="T12" fmla="*/ 29 w 57"/>
                <a:gd name="T13" fmla="*/ 245 h 245"/>
                <a:gd name="T14" fmla="*/ 57 w 57"/>
                <a:gd name="T15" fmla="*/ 194 h 245"/>
                <a:gd name="T16" fmla="*/ 0 w 57"/>
                <a:gd name="T17" fmla="*/ 194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5">
                  <a:moveTo>
                    <a:pt x="24" y="0"/>
                  </a:moveTo>
                  <a:lnTo>
                    <a:pt x="24" y="202"/>
                  </a:lnTo>
                  <a:lnTo>
                    <a:pt x="33" y="202"/>
                  </a:lnTo>
                  <a:lnTo>
                    <a:pt x="34" y="0"/>
                  </a:lnTo>
                  <a:lnTo>
                    <a:pt x="24" y="0"/>
                  </a:lnTo>
                  <a:close/>
                  <a:moveTo>
                    <a:pt x="0" y="194"/>
                  </a:moveTo>
                  <a:lnTo>
                    <a:pt x="29" y="245"/>
                  </a:lnTo>
                  <a:lnTo>
                    <a:pt x="57" y="194"/>
                  </a:lnTo>
                  <a:lnTo>
                    <a:pt x="0" y="19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8" name="Freeform 104"/>
            <p:cNvSpPr>
              <a:spLocks noEditPoints="1"/>
            </p:cNvSpPr>
            <p:nvPr/>
          </p:nvSpPr>
          <p:spPr bwMode="auto">
            <a:xfrm>
              <a:off x="2221" y="2453"/>
              <a:ext cx="57" cy="245"/>
            </a:xfrm>
            <a:custGeom>
              <a:avLst/>
              <a:gdLst>
                <a:gd name="T0" fmla="*/ 32 w 57"/>
                <a:gd name="T1" fmla="*/ 0 h 245"/>
                <a:gd name="T2" fmla="*/ 33 w 57"/>
                <a:gd name="T3" fmla="*/ 202 h 245"/>
                <a:gd name="T4" fmla="*/ 23 w 57"/>
                <a:gd name="T5" fmla="*/ 202 h 245"/>
                <a:gd name="T6" fmla="*/ 23 w 57"/>
                <a:gd name="T7" fmla="*/ 0 h 245"/>
                <a:gd name="T8" fmla="*/ 32 w 57"/>
                <a:gd name="T9" fmla="*/ 0 h 245"/>
                <a:gd name="T10" fmla="*/ 57 w 57"/>
                <a:gd name="T11" fmla="*/ 193 h 245"/>
                <a:gd name="T12" fmla="*/ 28 w 57"/>
                <a:gd name="T13" fmla="*/ 245 h 245"/>
                <a:gd name="T14" fmla="*/ 0 w 57"/>
                <a:gd name="T15" fmla="*/ 193 h 245"/>
                <a:gd name="T16" fmla="*/ 57 w 57"/>
                <a:gd name="T17" fmla="*/ 193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5">
                  <a:moveTo>
                    <a:pt x="32" y="0"/>
                  </a:moveTo>
                  <a:lnTo>
                    <a:pt x="33" y="202"/>
                  </a:lnTo>
                  <a:lnTo>
                    <a:pt x="23" y="202"/>
                  </a:lnTo>
                  <a:lnTo>
                    <a:pt x="23" y="0"/>
                  </a:lnTo>
                  <a:lnTo>
                    <a:pt x="32" y="0"/>
                  </a:lnTo>
                  <a:close/>
                  <a:moveTo>
                    <a:pt x="57" y="193"/>
                  </a:moveTo>
                  <a:lnTo>
                    <a:pt x="28" y="245"/>
                  </a:lnTo>
                  <a:lnTo>
                    <a:pt x="0" y="193"/>
                  </a:lnTo>
                  <a:lnTo>
                    <a:pt x="57" y="19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099" name="Freeform 105"/>
            <p:cNvSpPr>
              <a:spLocks/>
            </p:cNvSpPr>
            <p:nvPr/>
          </p:nvSpPr>
          <p:spPr bwMode="auto">
            <a:xfrm>
              <a:off x="2787" y="2446"/>
              <a:ext cx="1705" cy="9"/>
            </a:xfrm>
            <a:custGeom>
              <a:avLst/>
              <a:gdLst>
                <a:gd name="T0" fmla="*/ 0 w 1705"/>
                <a:gd name="T1" fmla="*/ 9 h 9"/>
                <a:gd name="T2" fmla="*/ 1705 w 1705"/>
                <a:gd name="T3" fmla="*/ 7 h 9"/>
                <a:gd name="T4" fmla="*/ 1705 w 1705"/>
                <a:gd name="T5" fmla="*/ 0 h 9"/>
                <a:gd name="T6" fmla="*/ 0 w 1705"/>
                <a:gd name="T7" fmla="*/ 3 h 9"/>
                <a:gd name="T8" fmla="*/ 0 w 1705"/>
                <a:gd name="T9" fmla="*/ 9 h 9"/>
              </a:gdLst>
              <a:ahLst/>
              <a:cxnLst>
                <a:cxn ang="0">
                  <a:pos x="T0" y="T1"/>
                </a:cxn>
                <a:cxn ang="0">
                  <a:pos x="T2" y="T3"/>
                </a:cxn>
                <a:cxn ang="0">
                  <a:pos x="T4" y="T5"/>
                </a:cxn>
                <a:cxn ang="0">
                  <a:pos x="T6" y="T7"/>
                </a:cxn>
                <a:cxn ang="0">
                  <a:pos x="T8" y="T9"/>
                </a:cxn>
              </a:cxnLst>
              <a:rect l="0" t="0" r="r" b="b"/>
              <a:pathLst>
                <a:path w="1705" h="9">
                  <a:moveTo>
                    <a:pt x="0" y="9"/>
                  </a:moveTo>
                  <a:lnTo>
                    <a:pt x="1705" y="7"/>
                  </a:lnTo>
                  <a:lnTo>
                    <a:pt x="1705" y="0"/>
                  </a:lnTo>
                  <a:lnTo>
                    <a:pt x="0" y="3"/>
                  </a:lnTo>
                  <a:lnTo>
                    <a:pt x="0" y="9"/>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0" name="Freeform 106"/>
            <p:cNvSpPr>
              <a:spLocks/>
            </p:cNvSpPr>
            <p:nvPr/>
          </p:nvSpPr>
          <p:spPr bwMode="auto">
            <a:xfrm>
              <a:off x="3868" y="2185"/>
              <a:ext cx="8" cy="265"/>
            </a:xfrm>
            <a:custGeom>
              <a:avLst/>
              <a:gdLst>
                <a:gd name="T0" fmla="*/ 7 w 8"/>
                <a:gd name="T1" fmla="*/ 0 h 265"/>
                <a:gd name="T2" fmla="*/ 8 w 8"/>
                <a:gd name="T3" fmla="*/ 265 h 265"/>
                <a:gd name="T4" fmla="*/ 1 w 8"/>
                <a:gd name="T5" fmla="*/ 265 h 265"/>
                <a:gd name="T6" fmla="*/ 0 w 8"/>
                <a:gd name="T7" fmla="*/ 0 h 265"/>
                <a:gd name="T8" fmla="*/ 7 w 8"/>
                <a:gd name="T9" fmla="*/ 0 h 265"/>
              </a:gdLst>
              <a:ahLst/>
              <a:cxnLst>
                <a:cxn ang="0">
                  <a:pos x="T0" y="T1"/>
                </a:cxn>
                <a:cxn ang="0">
                  <a:pos x="T2" y="T3"/>
                </a:cxn>
                <a:cxn ang="0">
                  <a:pos x="T4" y="T5"/>
                </a:cxn>
                <a:cxn ang="0">
                  <a:pos x="T6" y="T7"/>
                </a:cxn>
                <a:cxn ang="0">
                  <a:pos x="T8" y="T9"/>
                </a:cxn>
              </a:cxnLst>
              <a:rect l="0" t="0" r="r" b="b"/>
              <a:pathLst>
                <a:path w="8" h="265">
                  <a:moveTo>
                    <a:pt x="7" y="0"/>
                  </a:moveTo>
                  <a:lnTo>
                    <a:pt x="8" y="265"/>
                  </a:lnTo>
                  <a:lnTo>
                    <a:pt x="1" y="265"/>
                  </a:lnTo>
                  <a:lnTo>
                    <a:pt x="0" y="0"/>
                  </a:lnTo>
                  <a:lnTo>
                    <a:pt x="7"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1" name="Freeform 107"/>
            <p:cNvSpPr>
              <a:spLocks noEditPoints="1"/>
            </p:cNvSpPr>
            <p:nvPr/>
          </p:nvSpPr>
          <p:spPr bwMode="auto">
            <a:xfrm>
              <a:off x="2758" y="2452"/>
              <a:ext cx="57" cy="245"/>
            </a:xfrm>
            <a:custGeom>
              <a:avLst/>
              <a:gdLst>
                <a:gd name="T0" fmla="*/ 32 w 57"/>
                <a:gd name="T1" fmla="*/ 0 h 245"/>
                <a:gd name="T2" fmla="*/ 33 w 57"/>
                <a:gd name="T3" fmla="*/ 202 h 245"/>
                <a:gd name="T4" fmla="*/ 24 w 57"/>
                <a:gd name="T5" fmla="*/ 202 h 245"/>
                <a:gd name="T6" fmla="*/ 23 w 57"/>
                <a:gd name="T7" fmla="*/ 0 h 245"/>
                <a:gd name="T8" fmla="*/ 32 w 57"/>
                <a:gd name="T9" fmla="*/ 0 h 245"/>
                <a:gd name="T10" fmla="*/ 57 w 57"/>
                <a:gd name="T11" fmla="*/ 193 h 245"/>
                <a:gd name="T12" fmla="*/ 29 w 57"/>
                <a:gd name="T13" fmla="*/ 245 h 245"/>
                <a:gd name="T14" fmla="*/ 0 w 57"/>
                <a:gd name="T15" fmla="*/ 193 h 245"/>
                <a:gd name="T16" fmla="*/ 57 w 57"/>
                <a:gd name="T17" fmla="*/ 193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5">
                  <a:moveTo>
                    <a:pt x="32" y="0"/>
                  </a:moveTo>
                  <a:lnTo>
                    <a:pt x="33" y="202"/>
                  </a:lnTo>
                  <a:lnTo>
                    <a:pt x="24" y="202"/>
                  </a:lnTo>
                  <a:lnTo>
                    <a:pt x="23" y="0"/>
                  </a:lnTo>
                  <a:lnTo>
                    <a:pt x="32" y="0"/>
                  </a:lnTo>
                  <a:close/>
                  <a:moveTo>
                    <a:pt x="57" y="193"/>
                  </a:moveTo>
                  <a:lnTo>
                    <a:pt x="29" y="245"/>
                  </a:lnTo>
                  <a:lnTo>
                    <a:pt x="0" y="193"/>
                  </a:lnTo>
                  <a:lnTo>
                    <a:pt x="57" y="19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2" name="Freeform 108"/>
            <p:cNvSpPr>
              <a:spLocks noEditPoints="1"/>
            </p:cNvSpPr>
            <p:nvPr/>
          </p:nvSpPr>
          <p:spPr bwMode="auto">
            <a:xfrm>
              <a:off x="3225" y="2452"/>
              <a:ext cx="58" cy="246"/>
            </a:xfrm>
            <a:custGeom>
              <a:avLst/>
              <a:gdLst>
                <a:gd name="T0" fmla="*/ 25 w 58"/>
                <a:gd name="T1" fmla="*/ 0 h 246"/>
                <a:gd name="T2" fmla="*/ 24 w 58"/>
                <a:gd name="T3" fmla="*/ 203 h 246"/>
                <a:gd name="T4" fmla="*/ 34 w 58"/>
                <a:gd name="T5" fmla="*/ 203 h 246"/>
                <a:gd name="T6" fmla="*/ 34 w 58"/>
                <a:gd name="T7" fmla="*/ 0 h 246"/>
                <a:gd name="T8" fmla="*/ 25 w 58"/>
                <a:gd name="T9" fmla="*/ 0 h 246"/>
                <a:gd name="T10" fmla="*/ 0 w 58"/>
                <a:gd name="T11" fmla="*/ 194 h 246"/>
                <a:gd name="T12" fmla="*/ 29 w 58"/>
                <a:gd name="T13" fmla="*/ 246 h 246"/>
                <a:gd name="T14" fmla="*/ 58 w 58"/>
                <a:gd name="T15" fmla="*/ 194 h 246"/>
                <a:gd name="T16" fmla="*/ 0 w 58"/>
                <a:gd name="T17" fmla="*/ 19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8" h="246">
                  <a:moveTo>
                    <a:pt x="25" y="0"/>
                  </a:moveTo>
                  <a:lnTo>
                    <a:pt x="24" y="203"/>
                  </a:lnTo>
                  <a:lnTo>
                    <a:pt x="34" y="203"/>
                  </a:lnTo>
                  <a:lnTo>
                    <a:pt x="34" y="0"/>
                  </a:lnTo>
                  <a:lnTo>
                    <a:pt x="25" y="0"/>
                  </a:lnTo>
                  <a:close/>
                  <a:moveTo>
                    <a:pt x="0" y="194"/>
                  </a:moveTo>
                  <a:lnTo>
                    <a:pt x="29" y="246"/>
                  </a:lnTo>
                  <a:lnTo>
                    <a:pt x="58" y="194"/>
                  </a:lnTo>
                  <a:lnTo>
                    <a:pt x="0" y="19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3" name="Freeform 109"/>
            <p:cNvSpPr>
              <a:spLocks noEditPoints="1"/>
            </p:cNvSpPr>
            <p:nvPr/>
          </p:nvSpPr>
          <p:spPr bwMode="auto">
            <a:xfrm>
              <a:off x="3797" y="2454"/>
              <a:ext cx="57" cy="244"/>
            </a:xfrm>
            <a:custGeom>
              <a:avLst/>
              <a:gdLst>
                <a:gd name="T0" fmla="*/ 33 w 57"/>
                <a:gd name="T1" fmla="*/ 0 h 244"/>
                <a:gd name="T2" fmla="*/ 34 w 57"/>
                <a:gd name="T3" fmla="*/ 201 h 244"/>
                <a:gd name="T4" fmla="*/ 24 w 57"/>
                <a:gd name="T5" fmla="*/ 201 h 244"/>
                <a:gd name="T6" fmla="*/ 24 w 57"/>
                <a:gd name="T7" fmla="*/ 0 h 244"/>
                <a:gd name="T8" fmla="*/ 33 w 57"/>
                <a:gd name="T9" fmla="*/ 0 h 244"/>
                <a:gd name="T10" fmla="*/ 57 w 57"/>
                <a:gd name="T11" fmla="*/ 192 h 244"/>
                <a:gd name="T12" fmla="*/ 29 w 57"/>
                <a:gd name="T13" fmla="*/ 244 h 244"/>
                <a:gd name="T14" fmla="*/ 0 w 57"/>
                <a:gd name="T15" fmla="*/ 192 h 244"/>
                <a:gd name="T16" fmla="*/ 57 w 57"/>
                <a:gd name="T17" fmla="*/ 192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4">
                  <a:moveTo>
                    <a:pt x="33" y="0"/>
                  </a:moveTo>
                  <a:lnTo>
                    <a:pt x="34" y="201"/>
                  </a:lnTo>
                  <a:lnTo>
                    <a:pt x="24" y="201"/>
                  </a:lnTo>
                  <a:lnTo>
                    <a:pt x="24" y="0"/>
                  </a:lnTo>
                  <a:lnTo>
                    <a:pt x="33" y="0"/>
                  </a:lnTo>
                  <a:close/>
                  <a:moveTo>
                    <a:pt x="57" y="192"/>
                  </a:moveTo>
                  <a:lnTo>
                    <a:pt x="29" y="244"/>
                  </a:lnTo>
                  <a:lnTo>
                    <a:pt x="0" y="192"/>
                  </a:lnTo>
                  <a:lnTo>
                    <a:pt x="57" y="192"/>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4" name="Freeform 110"/>
            <p:cNvSpPr>
              <a:spLocks noEditPoints="1"/>
            </p:cNvSpPr>
            <p:nvPr/>
          </p:nvSpPr>
          <p:spPr bwMode="auto">
            <a:xfrm>
              <a:off x="4464" y="2450"/>
              <a:ext cx="57" cy="247"/>
            </a:xfrm>
            <a:custGeom>
              <a:avLst/>
              <a:gdLst>
                <a:gd name="T0" fmla="*/ 32 w 57"/>
                <a:gd name="T1" fmla="*/ 0 h 247"/>
                <a:gd name="T2" fmla="*/ 33 w 57"/>
                <a:gd name="T3" fmla="*/ 204 h 247"/>
                <a:gd name="T4" fmla="*/ 23 w 57"/>
                <a:gd name="T5" fmla="*/ 204 h 247"/>
                <a:gd name="T6" fmla="*/ 23 w 57"/>
                <a:gd name="T7" fmla="*/ 0 h 247"/>
                <a:gd name="T8" fmla="*/ 32 w 57"/>
                <a:gd name="T9" fmla="*/ 0 h 247"/>
                <a:gd name="T10" fmla="*/ 57 w 57"/>
                <a:gd name="T11" fmla="*/ 196 h 247"/>
                <a:gd name="T12" fmla="*/ 28 w 57"/>
                <a:gd name="T13" fmla="*/ 247 h 247"/>
                <a:gd name="T14" fmla="*/ 0 w 57"/>
                <a:gd name="T15" fmla="*/ 196 h 247"/>
                <a:gd name="T16" fmla="*/ 57 w 57"/>
                <a:gd name="T17" fmla="*/ 196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47">
                  <a:moveTo>
                    <a:pt x="32" y="0"/>
                  </a:moveTo>
                  <a:lnTo>
                    <a:pt x="33" y="204"/>
                  </a:lnTo>
                  <a:lnTo>
                    <a:pt x="23" y="204"/>
                  </a:lnTo>
                  <a:lnTo>
                    <a:pt x="23" y="0"/>
                  </a:lnTo>
                  <a:lnTo>
                    <a:pt x="32" y="0"/>
                  </a:lnTo>
                  <a:close/>
                  <a:moveTo>
                    <a:pt x="57" y="196"/>
                  </a:moveTo>
                  <a:lnTo>
                    <a:pt x="28" y="247"/>
                  </a:lnTo>
                  <a:lnTo>
                    <a:pt x="0" y="196"/>
                  </a:lnTo>
                  <a:lnTo>
                    <a:pt x="57" y="196"/>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5" name="Rectangle 111"/>
            <p:cNvSpPr>
              <a:spLocks noChangeArrowheads="1"/>
            </p:cNvSpPr>
            <p:nvPr/>
          </p:nvSpPr>
          <p:spPr bwMode="auto">
            <a:xfrm>
              <a:off x="3092" y="3519"/>
              <a:ext cx="694"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06" name="Freeform 112"/>
            <p:cNvSpPr>
              <a:spLocks noEditPoints="1"/>
            </p:cNvSpPr>
            <p:nvPr/>
          </p:nvSpPr>
          <p:spPr bwMode="auto">
            <a:xfrm>
              <a:off x="3089" y="3515"/>
              <a:ext cx="700" cy="277"/>
            </a:xfrm>
            <a:custGeom>
              <a:avLst/>
              <a:gdLst>
                <a:gd name="T0" fmla="*/ 0 w 700"/>
                <a:gd name="T1" fmla="*/ 0 h 277"/>
                <a:gd name="T2" fmla="*/ 700 w 700"/>
                <a:gd name="T3" fmla="*/ 0 h 277"/>
                <a:gd name="T4" fmla="*/ 700 w 700"/>
                <a:gd name="T5" fmla="*/ 277 h 277"/>
                <a:gd name="T6" fmla="*/ 0 w 700"/>
                <a:gd name="T7" fmla="*/ 277 h 277"/>
                <a:gd name="T8" fmla="*/ 0 w 700"/>
                <a:gd name="T9" fmla="*/ 0 h 277"/>
                <a:gd name="T10" fmla="*/ 7 w 700"/>
                <a:gd name="T11" fmla="*/ 274 h 277"/>
                <a:gd name="T12" fmla="*/ 3 w 700"/>
                <a:gd name="T13" fmla="*/ 271 h 277"/>
                <a:gd name="T14" fmla="*/ 697 w 700"/>
                <a:gd name="T15" fmla="*/ 271 h 277"/>
                <a:gd name="T16" fmla="*/ 693 w 700"/>
                <a:gd name="T17" fmla="*/ 274 h 277"/>
                <a:gd name="T18" fmla="*/ 693 w 700"/>
                <a:gd name="T19" fmla="*/ 4 h 277"/>
                <a:gd name="T20" fmla="*/ 697 w 700"/>
                <a:gd name="T21" fmla="*/ 7 h 277"/>
                <a:gd name="T22" fmla="*/ 3 w 700"/>
                <a:gd name="T23" fmla="*/ 7 h 277"/>
                <a:gd name="T24" fmla="*/ 7 w 700"/>
                <a:gd name="T25" fmla="*/ 4 h 277"/>
                <a:gd name="T26" fmla="*/ 7 w 700"/>
                <a:gd name="T27" fmla="*/ 274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00" h="277">
                  <a:moveTo>
                    <a:pt x="0" y="0"/>
                  </a:moveTo>
                  <a:lnTo>
                    <a:pt x="700" y="0"/>
                  </a:lnTo>
                  <a:lnTo>
                    <a:pt x="700" y="277"/>
                  </a:lnTo>
                  <a:lnTo>
                    <a:pt x="0" y="277"/>
                  </a:lnTo>
                  <a:lnTo>
                    <a:pt x="0" y="0"/>
                  </a:lnTo>
                  <a:close/>
                  <a:moveTo>
                    <a:pt x="7" y="274"/>
                  </a:moveTo>
                  <a:lnTo>
                    <a:pt x="3" y="271"/>
                  </a:lnTo>
                  <a:lnTo>
                    <a:pt x="697" y="271"/>
                  </a:lnTo>
                  <a:lnTo>
                    <a:pt x="693" y="274"/>
                  </a:lnTo>
                  <a:lnTo>
                    <a:pt x="693" y="4"/>
                  </a:lnTo>
                  <a:lnTo>
                    <a:pt x="697" y="7"/>
                  </a:lnTo>
                  <a:lnTo>
                    <a:pt x="3" y="7"/>
                  </a:lnTo>
                  <a:lnTo>
                    <a:pt x="7" y="4"/>
                  </a:lnTo>
                  <a:lnTo>
                    <a:pt x="7" y="27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07" name="Rectangle 113"/>
            <p:cNvSpPr>
              <a:spLocks noChangeArrowheads="1"/>
            </p:cNvSpPr>
            <p:nvPr/>
          </p:nvSpPr>
          <p:spPr bwMode="auto">
            <a:xfrm>
              <a:off x="3148" y="3524"/>
              <a:ext cx="66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Performance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08" name="Rectangle 114"/>
            <p:cNvSpPr>
              <a:spLocks noChangeArrowheads="1"/>
            </p:cNvSpPr>
            <p:nvPr/>
          </p:nvSpPr>
          <p:spPr bwMode="auto">
            <a:xfrm>
              <a:off x="3286" y="3644"/>
              <a:ext cx="35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09" name="Rectangle 115"/>
            <p:cNvSpPr>
              <a:spLocks noChangeArrowheads="1"/>
            </p:cNvSpPr>
            <p:nvPr/>
          </p:nvSpPr>
          <p:spPr bwMode="auto">
            <a:xfrm>
              <a:off x="3592" y="3644"/>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0" name="Rectangle 116"/>
            <p:cNvSpPr>
              <a:spLocks noChangeArrowheads="1"/>
            </p:cNvSpPr>
            <p:nvPr/>
          </p:nvSpPr>
          <p:spPr bwMode="auto">
            <a:xfrm>
              <a:off x="2595" y="3520"/>
              <a:ext cx="384"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11" name="Freeform 117"/>
            <p:cNvSpPr>
              <a:spLocks noEditPoints="1"/>
            </p:cNvSpPr>
            <p:nvPr/>
          </p:nvSpPr>
          <p:spPr bwMode="auto">
            <a:xfrm>
              <a:off x="2591" y="3516"/>
              <a:ext cx="391" cy="276"/>
            </a:xfrm>
            <a:custGeom>
              <a:avLst/>
              <a:gdLst>
                <a:gd name="T0" fmla="*/ 0 w 391"/>
                <a:gd name="T1" fmla="*/ 0 h 276"/>
                <a:gd name="T2" fmla="*/ 391 w 391"/>
                <a:gd name="T3" fmla="*/ 0 h 276"/>
                <a:gd name="T4" fmla="*/ 391 w 391"/>
                <a:gd name="T5" fmla="*/ 276 h 276"/>
                <a:gd name="T6" fmla="*/ 0 w 391"/>
                <a:gd name="T7" fmla="*/ 276 h 276"/>
                <a:gd name="T8" fmla="*/ 0 w 391"/>
                <a:gd name="T9" fmla="*/ 0 h 276"/>
                <a:gd name="T10" fmla="*/ 7 w 391"/>
                <a:gd name="T11" fmla="*/ 273 h 276"/>
                <a:gd name="T12" fmla="*/ 4 w 391"/>
                <a:gd name="T13" fmla="*/ 270 h 276"/>
                <a:gd name="T14" fmla="*/ 388 w 391"/>
                <a:gd name="T15" fmla="*/ 270 h 276"/>
                <a:gd name="T16" fmla="*/ 384 w 391"/>
                <a:gd name="T17" fmla="*/ 273 h 276"/>
                <a:gd name="T18" fmla="*/ 384 w 391"/>
                <a:gd name="T19" fmla="*/ 4 h 276"/>
                <a:gd name="T20" fmla="*/ 388 w 391"/>
                <a:gd name="T21" fmla="*/ 7 h 276"/>
                <a:gd name="T22" fmla="*/ 4 w 391"/>
                <a:gd name="T23" fmla="*/ 7 h 276"/>
                <a:gd name="T24" fmla="*/ 7 w 391"/>
                <a:gd name="T25" fmla="*/ 4 h 276"/>
                <a:gd name="T26" fmla="*/ 7 w 391"/>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1" h="276">
                  <a:moveTo>
                    <a:pt x="0" y="0"/>
                  </a:moveTo>
                  <a:lnTo>
                    <a:pt x="391" y="0"/>
                  </a:lnTo>
                  <a:lnTo>
                    <a:pt x="391" y="276"/>
                  </a:lnTo>
                  <a:lnTo>
                    <a:pt x="0" y="276"/>
                  </a:lnTo>
                  <a:lnTo>
                    <a:pt x="0" y="0"/>
                  </a:lnTo>
                  <a:close/>
                  <a:moveTo>
                    <a:pt x="7" y="273"/>
                  </a:moveTo>
                  <a:lnTo>
                    <a:pt x="4" y="270"/>
                  </a:lnTo>
                  <a:lnTo>
                    <a:pt x="388" y="270"/>
                  </a:lnTo>
                  <a:lnTo>
                    <a:pt x="384" y="273"/>
                  </a:lnTo>
                  <a:lnTo>
                    <a:pt x="384" y="4"/>
                  </a:lnTo>
                  <a:lnTo>
                    <a:pt x="388" y="7"/>
                  </a:lnTo>
                  <a:lnTo>
                    <a:pt x="4"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12" name="Rectangle 118"/>
            <p:cNvSpPr>
              <a:spLocks noChangeArrowheads="1"/>
            </p:cNvSpPr>
            <p:nvPr/>
          </p:nvSpPr>
          <p:spPr bwMode="auto">
            <a:xfrm>
              <a:off x="2651" y="3525"/>
              <a:ext cx="351"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Stress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3" name="Rectangle 119"/>
            <p:cNvSpPr>
              <a:spLocks noChangeArrowheads="1"/>
            </p:cNvSpPr>
            <p:nvPr/>
          </p:nvSpPr>
          <p:spPr bwMode="auto">
            <a:xfrm>
              <a:off x="2635" y="3646"/>
              <a:ext cx="354"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4" name="Rectangle 120"/>
            <p:cNvSpPr>
              <a:spLocks noChangeArrowheads="1"/>
            </p:cNvSpPr>
            <p:nvPr/>
          </p:nvSpPr>
          <p:spPr bwMode="auto">
            <a:xfrm>
              <a:off x="2940" y="3646"/>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5" name="Rectangle 121"/>
            <p:cNvSpPr>
              <a:spLocks noChangeArrowheads="1"/>
            </p:cNvSpPr>
            <p:nvPr/>
          </p:nvSpPr>
          <p:spPr bwMode="auto">
            <a:xfrm>
              <a:off x="1882" y="3520"/>
              <a:ext cx="491"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16" name="Freeform 122"/>
            <p:cNvSpPr>
              <a:spLocks noEditPoints="1"/>
            </p:cNvSpPr>
            <p:nvPr/>
          </p:nvSpPr>
          <p:spPr bwMode="auto">
            <a:xfrm>
              <a:off x="1879" y="3517"/>
              <a:ext cx="497" cy="276"/>
            </a:xfrm>
            <a:custGeom>
              <a:avLst/>
              <a:gdLst>
                <a:gd name="T0" fmla="*/ 0 w 497"/>
                <a:gd name="T1" fmla="*/ 0 h 276"/>
                <a:gd name="T2" fmla="*/ 497 w 497"/>
                <a:gd name="T3" fmla="*/ 0 h 276"/>
                <a:gd name="T4" fmla="*/ 497 w 497"/>
                <a:gd name="T5" fmla="*/ 276 h 276"/>
                <a:gd name="T6" fmla="*/ 0 w 497"/>
                <a:gd name="T7" fmla="*/ 276 h 276"/>
                <a:gd name="T8" fmla="*/ 0 w 497"/>
                <a:gd name="T9" fmla="*/ 0 h 276"/>
                <a:gd name="T10" fmla="*/ 7 w 497"/>
                <a:gd name="T11" fmla="*/ 273 h 276"/>
                <a:gd name="T12" fmla="*/ 3 w 497"/>
                <a:gd name="T13" fmla="*/ 270 h 276"/>
                <a:gd name="T14" fmla="*/ 494 w 497"/>
                <a:gd name="T15" fmla="*/ 270 h 276"/>
                <a:gd name="T16" fmla="*/ 490 w 497"/>
                <a:gd name="T17" fmla="*/ 273 h 276"/>
                <a:gd name="T18" fmla="*/ 490 w 497"/>
                <a:gd name="T19" fmla="*/ 3 h 276"/>
                <a:gd name="T20" fmla="*/ 494 w 497"/>
                <a:gd name="T21" fmla="*/ 6 h 276"/>
                <a:gd name="T22" fmla="*/ 3 w 497"/>
                <a:gd name="T23" fmla="*/ 6 h 276"/>
                <a:gd name="T24" fmla="*/ 7 w 497"/>
                <a:gd name="T25" fmla="*/ 3 h 276"/>
                <a:gd name="T26" fmla="*/ 7 w 497"/>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97" h="276">
                  <a:moveTo>
                    <a:pt x="0" y="0"/>
                  </a:moveTo>
                  <a:lnTo>
                    <a:pt x="497" y="0"/>
                  </a:lnTo>
                  <a:lnTo>
                    <a:pt x="497" y="276"/>
                  </a:lnTo>
                  <a:lnTo>
                    <a:pt x="0" y="276"/>
                  </a:lnTo>
                  <a:lnTo>
                    <a:pt x="0" y="0"/>
                  </a:lnTo>
                  <a:close/>
                  <a:moveTo>
                    <a:pt x="7" y="273"/>
                  </a:moveTo>
                  <a:lnTo>
                    <a:pt x="3" y="270"/>
                  </a:lnTo>
                  <a:lnTo>
                    <a:pt x="494" y="270"/>
                  </a:lnTo>
                  <a:lnTo>
                    <a:pt x="490" y="273"/>
                  </a:lnTo>
                  <a:lnTo>
                    <a:pt x="490" y="3"/>
                  </a:lnTo>
                  <a:lnTo>
                    <a:pt x="494"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17" name="Rectangle 123"/>
            <p:cNvSpPr>
              <a:spLocks noChangeArrowheads="1"/>
            </p:cNvSpPr>
            <p:nvPr/>
          </p:nvSpPr>
          <p:spPr bwMode="auto">
            <a:xfrm>
              <a:off x="1918" y="3526"/>
              <a:ext cx="130"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8" name="Rectangle 124"/>
            <p:cNvSpPr>
              <a:spLocks noChangeArrowheads="1"/>
            </p:cNvSpPr>
            <p:nvPr/>
          </p:nvSpPr>
          <p:spPr bwMode="auto">
            <a:xfrm>
              <a:off x="2000" y="3526"/>
              <a:ext cx="387"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atabase</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19" name="Rectangle 125"/>
            <p:cNvSpPr>
              <a:spLocks noChangeArrowheads="1"/>
            </p:cNvSpPr>
            <p:nvPr/>
          </p:nvSpPr>
          <p:spPr bwMode="auto">
            <a:xfrm>
              <a:off x="2336" y="3526"/>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0" name="Rectangle 126"/>
            <p:cNvSpPr>
              <a:spLocks noChangeArrowheads="1"/>
            </p:cNvSpPr>
            <p:nvPr/>
          </p:nvSpPr>
          <p:spPr bwMode="auto">
            <a:xfrm>
              <a:off x="1979" y="3647"/>
              <a:ext cx="34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1" name="Rectangle 127"/>
            <p:cNvSpPr>
              <a:spLocks noChangeArrowheads="1"/>
            </p:cNvSpPr>
            <p:nvPr/>
          </p:nvSpPr>
          <p:spPr bwMode="auto">
            <a:xfrm>
              <a:off x="2277" y="3647"/>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2" name="Rectangle 128"/>
            <p:cNvSpPr>
              <a:spLocks noChangeArrowheads="1"/>
            </p:cNvSpPr>
            <p:nvPr/>
          </p:nvSpPr>
          <p:spPr bwMode="auto">
            <a:xfrm>
              <a:off x="1349" y="3519"/>
              <a:ext cx="460"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23" name="Freeform 129"/>
            <p:cNvSpPr>
              <a:spLocks noEditPoints="1"/>
            </p:cNvSpPr>
            <p:nvPr/>
          </p:nvSpPr>
          <p:spPr bwMode="auto">
            <a:xfrm>
              <a:off x="1346" y="3516"/>
              <a:ext cx="466" cy="276"/>
            </a:xfrm>
            <a:custGeom>
              <a:avLst/>
              <a:gdLst>
                <a:gd name="T0" fmla="*/ 0 w 466"/>
                <a:gd name="T1" fmla="*/ 0 h 276"/>
                <a:gd name="T2" fmla="*/ 466 w 466"/>
                <a:gd name="T3" fmla="*/ 0 h 276"/>
                <a:gd name="T4" fmla="*/ 466 w 466"/>
                <a:gd name="T5" fmla="*/ 276 h 276"/>
                <a:gd name="T6" fmla="*/ 0 w 466"/>
                <a:gd name="T7" fmla="*/ 276 h 276"/>
                <a:gd name="T8" fmla="*/ 0 w 466"/>
                <a:gd name="T9" fmla="*/ 0 h 276"/>
                <a:gd name="T10" fmla="*/ 7 w 466"/>
                <a:gd name="T11" fmla="*/ 273 h 276"/>
                <a:gd name="T12" fmla="*/ 3 w 466"/>
                <a:gd name="T13" fmla="*/ 270 h 276"/>
                <a:gd name="T14" fmla="*/ 463 w 466"/>
                <a:gd name="T15" fmla="*/ 270 h 276"/>
                <a:gd name="T16" fmla="*/ 459 w 466"/>
                <a:gd name="T17" fmla="*/ 273 h 276"/>
                <a:gd name="T18" fmla="*/ 459 w 466"/>
                <a:gd name="T19" fmla="*/ 3 h 276"/>
                <a:gd name="T20" fmla="*/ 463 w 466"/>
                <a:gd name="T21" fmla="*/ 6 h 276"/>
                <a:gd name="T22" fmla="*/ 3 w 466"/>
                <a:gd name="T23" fmla="*/ 6 h 276"/>
                <a:gd name="T24" fmla="*/ 7 w 466"/>
                <a:gd name="T25" fmla="*/ 3 h 276"/>
                <a:gd name="T26" fmla="*/ 7 w 466"/>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66" h="276">
                  <a:moveTo>
                    <a:pt x="0" y="0"/>
                  </a:moveTo>
                  <a:lnTo>
                    <a:pt x="466" y="0"/>
                  </a:lnTo>
                  <a:lnTo>
                    <a:pt x="466" y="276"/>
                  </a:lnTo>
                  <a:lnTo>
                    <a:pt x="0" y="276"/>
                  </a:lnTo>
                  <a:lnTo>
                    <a:pt x="0" y="0"/>
                  </a:lnTo>
                  <a:close/>
                  <a:moveTo>
                    <a:pt x="7" y="273"/>
                  </a:moveTo>
                  <a:lnTo>
                    <a:pt x="3" y="270"/>
                  </a:lnTo>
                  <a:lnTo>
                    <a:pt x="463" y="270"/>
                  </a:lnTo>
                  <a:lnTo>
                    <a:pt x="459" y="273"/>
                  </a:lnTo>
                  <a:lnTo>
                    <a:pt x="459" y="3"/>
                  </a:lnTo>
                  <a:lnTo>
                    <a:pt x="463" y="6"/>
                  </a:lnTo>
                  <a:lnTo>
                    <a:pt x="3" y="6"/>
                  </a:lnTo>
                  <a:lnTo>
                    <a:pt x="7" y="3"/>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24" name="Rectangle 130"/>
            <p:cNvSpPr>
              <a:spLocks noChangeArrowheads="1"/>
            </p:cNvSpPr>
            <p:nvPr/>
          </p:nvSpPr>
          <p:spPr bwMode="auto">
            <a:xfrm>
              <a:off x="1421" y="3525"/>
              <a:ext cx="39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Output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5" name="Rectangle 131"/>
            <p:cNvSpPr>
              <a:spLocks noChangeArrowheads="1"/>
            </p:cNvSpPr>
            <p:nvPr/>
          </p:nvSpPr>
          <p:spPr bwMode="auto">
            <a:xfrm>
              <a:off x="1430" y="3646"/>
              <a:ext cx="34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6" name="Rectangle 132"/>
            <p:cNvSpPr>
              <a:spLocks noChangeArrowheads="1"/>
            </p:cNvSpPr>
            <p:nvPr/>
          </p:nvSpPr>
          <p:spPr bwMode="auto">
            <a:xfrm>
              <a:off x="1728" y="3646"/>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27" name="Rectangle 133"/>
            <p:cNvSpPr>
              <a:spLocks noChangeArrowheads="1"/>
            </p:cNvSpPr>
            <p:nvPr/>
          </p:nvSpPr>
          <p:spPr bwMode="auto">
            <a:xfrm>
              <a:off x="782" y="3519"/>
              <a:ext cx="482" cy="2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28" name="Freeform 134"/>
            <p:cNvSpPr>
              <a:spLocks noEditPoints="1"/>
            </p:cNvSpPr>
            <p:nvPr/>
          </p:nvSpPr>
          <p:spPr bwMode="auto">
            <a:xfrm>
              <a:off x="779" y="3515"/>
              <a:ext cx="489" cy="276"/>
            </a:xfrm>
            <a:custGeom>
              <a:avLst/>
              <a:gdLst>
                <a:gd name="T0" fmla="*/ 0 w 489"/>
                <a:gd name="T1" fmla="*/ 0 h 276"/>
                <a:gd name="T2" fmla="*/ 489 w 489"/>
                <a:gd name="T3" fmla="*/ 0 h 276"/>
                <a:gd name="T4" fmla="*/ 489 w 489"/>
                <a:gd name="T5" fmla="*/ 276 h 276"/>
                <a:gd name="T6" fmla="*/ 0 w 489"/>
                <a:gd name="T7" fmla="*/ 276 h 276"/>
                <a:gd name="T8" fmla="*/ 0 w 489"/>
                <a:gd name="T9" fmla="*/ 0 h 276"/>
                <a:gd name="T10" fmla="*/ 7 w 489"/>
                <a:gd name="T11" fmla="*/ 273 h 276"/>
                <a:gd name="T12" fmla="*/ 3 w 489"/>
                <a:gd name="T13" fmla="*/ 269 h 276"/>
                <a:gd name="T14" fmla="*/ 485 w 489"/>
                <a:gd name="T15" fmla="*/ 269 h 276"/>
                <a:gd name="T16" fmla="*/ 481 w 489"/>
                <a:gd name="T17" fmla="*/ 273 h 276"/>
                <a:gd name="T18" fmla="*/ 481 w 489"/>
                <a:gd name="T19" fmla="*/ 4 h 276"/>
                <a:gd name="T20" fmla="*/ 485 w 489"/>
                <a:gd name="T21" fmla="*/ 7 h 276"/>
                <a:gd name="T22" fmla="*/ 3 w 489"/>
                <a:gd name="T23" fmla="*/ 7 h 276"/>
                <a:gd name="T24" fmla="*/ 7 w 489"/>
                <a:gd name="T25" fmla="*/ 4 h 276"/>
                <a:gd name="T26" fmla="*/ 7 w 489"/>
                <a:gd name="T27" fmla="*/ 273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89" h="276">
                  <a:moveTo>
                    <a:pt x="0" y="0"/>
                  </a:moveTo>
                  <a:lnTo>
                    <a:pt x="489" y="0"/>
                  </a:lnTo>
                  <a:lnTo>
                    <a:pt x="489" y="276"/>
                  </a:lnTo>
                  <a:lnTo>
                    <a:pt x="0" y="276"/>
                  </a:lnTo>
                  <a:lnTo>
                    <a:pt x="0" y="0"/>
                  </a:lnTo>
                  <a:close/>
                  <a:moveTo>
                    <a:pt x="7" y="273"/>
                  </a:moveTo>
                  <a:lnTo>
                    <a:pt x="3" y="269"/>
                  </a:lnTo>
                  <a:lnTo>
                    <a:pt x="485" y="269"/>
                  </a:lnTo>
                  <a:lnTo>
                    <a:pt x="481" y="273"/>
                  </a:lnTo>
                  <a:lnTo>
                    <a:pt x="481" y="4"/>
                  </a:lnTo>
                  <a:lnTo>
                    <a:pt x="485" y="7"/>
                  </a:lnTo>
                  <a:lnTo>
                    <a:pt x="3" y="7"/>
                  </a:lnTo>
                  <a:lnTo>
                    <a:pt x="7" y="4"/>
                  </a:lnTo>
                  <a:lnTo>
                    <a:pt x="7" y="27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29" name="Rectangle 135"/>
            <p:cNvSpPr>
              <a:spLocks noChangeArrowheads="1"/>
            </p:cNvSpPr>
            <p:nvPr/>
          </p:nvSpPr>
          <p:spPr bwMode="auto">
            <a:xfrm>
              <a:off x="903" y="3524"/>
              <a:ext cx="320"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Input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0" name="Rectangle 136"/>
            <p:cNvSpPr>
              <a:spLocks noChangeArrowheads="1"/>
            </p:cNvSpPr>
            <p:nvPr/>
          </p:nvSpPr>
          <p:spPr bwMode="auto">
            <a:xfrm>
              <a:off x="1173" y="3524"/>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1" name="Rectangle 137"/>
            <p:cNvSpPr>
              <a:spLocks noChangeArrowheads="1"/>
            </p:cNvSpPr>
            <p:nvPr/>
          </p:nvSpPr>
          <p:spPr bwMode="auto">
            <a:xfrm>
              <a:off x="874" y="3645"/>
              <a:ext cx="349"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design</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2" name="Rectangle 138"/>
            <p:cNvSpPr>
              <a:spLocks noChangeArrowheads="1"/>
            </p:cNvSpPr>
            <p:nvPr/>
          </p:nvSpPr>
          <p:spPr bwMode="auto">
            <a:xfrm>
              <a:off x="1171" y="3645"/>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3" name="Rectangle 139"/>
            <p:cNvSpPr>
              <a:spLocks noChangeArrowheads="1"/>
            </p:cNvSpPr>
            <p:nvPr/>
          </p:nvSpPr>
          <p:spPr bwMode="auto">
            <a:xfrm>
              <a:off x="1201" y="3645"/>
              <a:ext cx="76"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4" name="Rectangle 140"/>
            <p:cNvSpPr>
              <a:spLocks noChangeArrowheads="1"/>
            </p:cNvSpPr>
            <p:nvPr/>
          </p:nvSpPr>
          <p:spPr bwMode="auto">
            <a:xfrm>
              <a:off x="3872" y="3519"/>
              <a:ext cx="587" cy="2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a:p>
          </p:txBody>
        </p:sp>
        <p:sp>
          <p:nvSpPr>
            <p:cNvPr id="1135" name="Freeform 141"/>
            <p:cNvSpPr>
              <a:spLocks noEditPoints="1"/>
            </p:cNvSpPr>
            <p:nvPr/>
          </p:nvSpPr>
          <p:spPr bwMode="auto">
            <a:xfrm>
              <a:off x="3869" y="3515"/>
              <a:ext cx="593" cy="277"/>
            </a:xfrm>
            <a:custGeom>
              <a:avLst/>
              <a:gdLst>
                <a:gd name="T0" fmla="*/ 0 w 593"/>
                <a:gd name="T1" fmla="*/ 0 h 277"/>
                <a:gd name="T2" fmla="*/ 593 w 593"/>
                <a:gd name="T3" fmla="*/ 0 h 277"/>
                <a:gd name="T4" fmla="*/ 593 w 593"/>
                <a:gd name="T5" fmla="*/ 277 h 277"/>
                <a:gd name="T6" fmla="*/ 0 w 593"/>
                <a:gd name="T7" fmla="*/ 277 h 277"/>
                <a:gd name="T8" fmla="*/ 0 w 593"/>
                <a:gd name="T9" fmla="*/ 0 h 277"/>
                <a:gd name="T10" fmla="*/ 7 w 593"/>
                <a:gd name="T11" fmla="*/ 274 h 277"/>
                <a:gd name="T12" fmla="*/ 3 w 593"/>
                <a:gd name="T13" fmla="*/ 271 h 277"/>
                <a:gd name="T14" fmla="*/ 590 w 593"/>
                <a:gd name="T15" fmla="*/ 271 h 277"/>
                <a:gd name="T16" fmla="*/ 586 w 593"/>
                <a:gd name="T17" fmla="*/ 274 h 277"/>
                <a:gd name="T18" fmla="*/ 586 w 593"/>
                <a:gd name="T19" fmla="*/ 4 h 277"/>
                <a:gd name="T20" fmla="*/ 590 w 593"/>
                <a:gd name="T21" fmla="*/ 7 h 277"/>
                <a:gd name="T22" fmla="*/ 3 w 593"/>
                <a:gd name="T23" fmla="*/ 7 h 277"/>
                <a:gd name="T24" fmla="*/ 7 w 593"/>
                <a:gd name="T25" fmla="*/ 4 h 277"/>
                <a:gd name="T26" fmla="*/ 7 w 593"/>
                <a:gd name="T27" fmla="*/ 274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3" h="277">
                  <a:moveTo>
                    <a:pt x="0" y="0"/>
                  </a:moveTo>
                  <a:lnTo>
                    <a:pt x="593" y="0"/>
                  </a:lnTo>
                  <a:lnTo>
                    <a:pt x="593" y="277"/>
                  </a:lnTo>
                  <a:lnTo>
                    <a:pt x="0" y="277"/>
                  </a:lnTo>
                  <a:lnTo>
                    <a:pt x="0" y="0"/>
                  </a:lnTo>
                  <a:close/>
                  <a:moveTo>
                    <a:pt x="7" y="274"/>
                  </a:moveTo>
                  <a:lnTo>
                    <a:pt x="3" y="271"/>
                  </a:lnTo>
                  <a:lnTo>
                    <a:pt x="590" y="271"/>
                  </a:lnTo>
                  <a:lnTo>
                    <a:pt x="586" y="274"/>
                  </a:lnTo>
                  <a:lnTo>
                    <a:pt x="586" y="4"/>
                  </a:lnTo>
                  <a:lnTo>
                    <a:pt x="590" y="7"/>
                  </a:lnTo>
                  <a:lnTo>
                    <a:pt x="3" y="7"/>
                  </a:lnTo>
                  <a:lnTo>
                    <a:pt x="7" y="4"/>
                  </a:lnTo>
                  <a:lnTo>
                    <a:pt x="7" y="27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36" name="Rectangle 142"/>
            <p:cNvSpPr>
              <a:spLocks noChangeArrowheads="1"/>
            </p:cNvSpPr>
            <p:nvPr/>
          </p:nvSpPr>
          <p:spPr bwMode="auto">
            <a:xfrm>
              <a:off x="3947" y="3524"/>
              <a:ext cx="518"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Recovery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7" name="Rectangle 143"/>
            <p:cNvSpPr>
              <a:spLocks noChangeArrowheads="1"/>
            </p:cNvSpPr>
            <p:nvPr/>
          </p:nvSpPr>
          <p:spPr bwMode="auto">
            <a:xfrm>
              <a:off x="4013" y="3644"/>
              <a:ext cx="79"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t</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8" name="Rectangle 144"/>
            <p:cNvSpPr>
              <a:spLocks noChangeArrowheads="1"/>
            </p:cNvSpPr>
            <p:nvPr/>
          </p:nvSpPr>
          <p:spPr bwMode="auto">
            <a:xfrm>
              <a:off x="4045" y="3644"/>
              <a:ext cx="323"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esting</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39" name="Rectangle 145"/>
            <p:cNvSpPr>
              <a:spLocks noChangeArrowheads="1"/>
            </p:cNvSpPr>
            <p:nvPr/>
          </p:nvSpPr>
          <p:spPr bwMode="auto">
            <a:xfrm>
              <a:off x="4319" y="3644"/>
              <a:ext cx="75" cy="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300" b="0" i="0" u="none" strike="noStrike" cap="none" normalizeH="0" baseline="0" smtClean="0">
                  <a:ln>
                    <a:noFill/>
                  </a:ln>
                  <a:solidFill>
                    <a:srgbClr val="000000"/>
                  </a:solidFill>
                  <a:effectLst/>
                  <a:latin typeface="Times New Roman" pitchFamily="18" charset="0"/>
                  <a:cs typeface="Arial" pitchFamily="34" charset="0"/>
                </a:rPr>
                <a:t> </a:t>
              </a:r>
              <a:endParaRPr kumimoji="0" lang="en-US" sz="1800" b="0" i="0" u="none" strike="noStrike" cap="none" normalizeH="0" baseline="0" smtClean="0">
                <a:ln>
                  <a:noFill/>
                </a:ln>
                <a:solidFill>
                  <a:schemeClr val="tx1"/>
                </a:solidFill>
                <a:effectLst/>
                <a:latin typeface="Arial" pitchFamily="34" charset="0"/>
                <a:cs typeface="Arial" pitchFamily="34" charset="0"/>
              </a:endParaRPr>
            </a:p>
          </p:txBody>
        </p:sp>
        <p:sp>
          <p:nvSpPr>
            <p:cNvPr id="1140" name="Freeform 146"/>
            <p:cNvSpPr>
              <a:spLocks/>
            </p:cNvSpPr>
            <p:nvPr/>
          </p:nvSpPr>
          <p:spPr bwMode="auto">
            <a:xfrm>
              <a:off x="1023" y="3240"/>
              <a:ext cx="1093" cy="7"/>
            </a:xfrm>
            <a:custGeom>
              <a:avLst/>
              <a:gdLst>
                <a:gd name="T0" fmla="*/ 0 w 1093"/>
                <a:gd name="T1" fmla="*/ 0 h 7"/>
                <a:gd name="T2" fmla="*/ 1093 w 1093"/>
                <a:gd name="T3" fmla="*/ 0 h 7"/>
                <a:gd name="T4" fmla="*/ 1093 w 1093"/>
                <a:gd name="T5" fmla="*/ 7 h 7"/>
                <a:gd name="T6" fmla="*/ 0 w 1093"/>
                <a:gd name="T7" fmla="*/ 6 h 7"/>
                <a:gd name="T8" fmla="*/ 0 w 1093"/>
                <a:gd name="T9" fmla="*/ 0 h 7"/>
              </a:gdLst>
              <a:ahLst/>
              <a:cxnLst>
                <a:cxn ang="0">
                  <a:pos x="T0" y="T1"/>
                </a:cxn>
                <a:cxn ang="0">
                  <a:pos x="T2" y="T3"/>
                </a:cxn>
                <a:cxn ang="0">
                  <a:pos x="T4" y="T5"/>
                </a:cxn>
                <a:cxn ang="0">
                  <a:pos x="T6" y="T7"/>
                </a:cxn>
                <a:cxn ang="0">
                  <a:pos x="T8" y="T9"/>
                </a:cxn>
              </a:cxnLst>
              <a:rect l="0" t="0" r="r" b="b"/>
              <a:pathLst>
                <a:path w="1093" h="7">
                  <a:moveTo>
                    <a:pt x="0" y="0"/>
                  </a:moveTo>
                  <a:lnTo>
                    <a:pt x="1093" y="0"/>
                  </a:lnTo>
                  <a:lnTo>
                    <a:pt x="1093" y="7"/>
                  </a:lnTo>
                  <a:lnTo>
                    <a:pt x="0" y="6"/>
                  </a:lnTo>
                  <a:lnTo>
                    <a:pt x="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1" name="Freeform 147"/>
            <p:cNvSpPr>
              <a:spLocks/>
            </p:cNvSpPr>
            <p:nvPr/>
          </p:nvSpPr>
          <p:spPr bwMode="auto">
            <a:xfrm>
              <a:off x="1692" y="2967"/>
              <a:ext cx="8" cy="276"/>
            </a:xfrm>
            <a:custGeom>
              <a:avLst/>
              <a:gdLst>
                <a:gd name="T0" fmla="*/ 7 w 8"/>
                <a:gd name="T1" fmla="*/ 0 h 276"/>
                <a:gd name="T2" fmla="*/ 8 w 8"/>
                <a:gd name="T3" fmla="*/ 276 h 276"/>
                <a:gd name="T4" fmla="*/ 1 w 8"/>
                <a:gd name="T5" fmla="*/ 276 h 276"/>
                <a:gd name="T6" fmla="*/ 0 w 8"/>
                <a:gd name="T7" fmla="*/ 0 h 276"/>
                <a:gd name="T8" fmla="*/ 7 w 8"/>
                <a:gd name="T9" fmla="*/ 0 h 276"/>
              </a:gdLst>
              <a:ahLst/>
              <a:cxnLst>
                <a:cxn ang="0">
                  <a:pos x="T0" y="T1"/>
                </a:cxn>
                <a:cxn ang="0">
                  <a:pos x="T2" y="T3"/>
                </a:cxn>
                <a:cxn ang="0">
                  <a:pos x="T4" y="T5"/>
                </a:cxn>
                <a:cxn ang="0">
                  <a:pos x="T6" y="T7"/>
                </a:cxn>
                <a:cxn ang="0">
                  <a:pos x="T8" y="T9"/>
                </a:cxn>
              </a:cxnLst>
              <a:rect l="0" t="0" r="r" b="b"/>
              <a:pathLst>
                <a:path w="8" h="276">
                  <a:moveTo>
                    <a:pt x="7" y="0"/>
                  </a:moveTo>
                  <a:lnTo>
                    <a:pt x="8" y="276"/>
                  </a:lnTo>
                  <a:lnTo>
                    <a:pt x="1" y="276"/>
                  </a:lnTo>
                  <a:lnTo>
                    <a:pt x="0" y="0"/>
                  </a:lnTo>
                  <a:lnTo>
                    <a:pt x="7"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2" name="Freeform 148"/>
            <p:cNvSpPr>
              <a:spLocks noEditPoints="1"/>
            </p:cNvSpPr>
            <p:nvPr/>
          </p:nvSpPr>
          <p:spPr bwMode="auto">
            <a:xfrm>
              <a:off x="994" y="3244"/>
              <a:ext cx="58" cy="275"/>
            </a:xfrm>
            <a:custGeom>
              <a:avLst/>
              <a:gdLst>
                <a:gd name="T0" fmla="*/ 33 w 58"/>
                <a:gd name="T1" fmla="*/ 0 h 275"/>
                <a:gd name="T2" fmla="*/ 34 w 58"/>
                <a:gd name="T3" fmla="*/ 232 h 275"/>
                <a:gd name="T4" fmla="*/ 24 w 58"/>
                <a:gd name="T5" fmla="*/ 232 h 275"/>
                <a:gd name="T6" fmla="*/ 24 w 58"/>
                <a:gd name="T7" fmla="*/ 0 h 275"/>
                <a:gd name="T8" fmla="*/ 33 w 58"/>
                <a:gd name="T9" fmla="*/ 0 h 275"/>
                <a:gd name="T10" fmla="*/ 58 w 58"/>
                <a:gd name="T11" fmla="*/ 223 h 275"/>
                <a:gd name="T12" fmla="*/ 29 w 58"/>
                <a:gd name="T13" fmla="*/ 275 h 275"/>
                <a:gd name="T14" fmla="*/ 0 w 58"/>
                <a:gd name="T15" fmla="*/ 223 h 275"/>
                <a:gd name="T16" fmla="*/ 58 w 58"/>
                <a:gd name="T17" fmla="*/ 223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8" h="275">
                  <a:moveTo>
                    <a:pt x="33" y="0"/>
                  </a:moveTo>
                  <a:lnTo>
                    <a:pt x="34" y="232"/>
                  </a:lnTo>
                  <a:lnTo>
                    <a:pt x="24" y="232"/>
                  </a:lnTo>
                  <a:lnTo>
                    <a:pt x="24" y="0"/>
                  </a:lnTo>
                  <a:lnTo>
                    <a:pt x="33" y="0"/>
                  </a:lnTo>
                  <a:close/>
                  <a:moveTo>
                    <a:pt x="58" y="223"/>
                  </a:moveTo>
                  <a:lnTo>
                    <a:pt x="29" y="275"/>
                  </a:lnTo>
                  <a:lnTo>
                    <a:pt x="0" y="223"/>
                  </a:lnTo>
                  <a:lnTo>
                    <a:pt x="58" y="22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3" name="Freeform 149"/>
            <p:cNvSpPr>
              <a:spLocks noEditPoints="1"/>
            </p:cNvSpPr>
            <p:nvPr/>
          </p:nvSpPr>
          <p:spPr bwMode="auto">
            <a:xfrm>
              <a:off x="1551" y="3244"/>
              <a:ext cx="57" cy="275"/>
            </a:xfrm>
            <a:custGeom>
              <a:avLst/>
              <a:gdLst>
                <a:gd name="T0" fmla="*/ 32 w 57"/>
                <a:gd name="T1" fmla="*/ 0 h 275"/>
                <a:gd name="T2" fmla="*/ 33 w 57"/>
                <a:gd name="T3" fmla="*/ 232 h 275"/>
                <a:gd name="T4" fmla="*/ 23 w 57"/>
                <a:gd name="T5" fmla="*/ 232 h 275"/>
                <a:gd name="T6" fmla="*/ 23 w 57"/>
                <a:gd name="T7" fmla="*/ 0 h 275"/>
                <a:gd name="T8" fmla="*/ 32 w 57"/>
                <a:gd name="T9" fmla="*/ 0 h 275"/>
                <a:gd name="T10" fmla="*/ 57 w 57"/>
                <a:gd name="T11" fmla="*/ 223 h 275"/>
                <a:gd name="T12" fmla="*/ 28 w 57"/>
                <a:gd name="T13" fmla="*/ 275 h 275"/>
                <a:gd name="T14" fmla="*/ 0 w 57"/>
                <a:gd name="T15" fmla="*/ 224 h 275"/>
                <a:gd name="T16" fmla="*/ 57 w 57"/>
                <a:gd name="T17" fmla="*/ 223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75">
                  <a:moveTo>
                    <a:pt x="32" y="0"/>
                  </a:moveTo>
                  <a:lnTo>
                    <a:pt x="33" y="232"/>
                  </a:lnTo>
                  <a:lnTo>
                    <a:pt x="23" y="232"/>
                  </a:lnTo>
                  <a:lnTo>
                    <a:pt x="23" y="0"/>
                  </a:lnTo>
                  <a:lnTo>
                    <a:pt x="32" y="0"/>
                  </a:lnTo>
                  <a:close/>
                  <a:moveTo>
                    <a:pt x="57" y="223"/>
                  </a:moveTo>
                  <a:lnTo>
                    <a:pt x="28" y="275"/>
                  </a:lnTo>
                  <a:lnTo>
                    <a:pt x="0" y="224"/>
                  </a:lnTo>
                  <a:lnTo>
                    <a:pt x="57" y="223"/>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4" name="Freeform 150"/>
            <p:cNvSpPr>
              <a:spLocks noEditPoints="1"/>
            </p:cNvSpPr>
            <p:nvPr/>
          </p:nvSpPr>
          <p:spPr bwMode="auto">
            <a:xfrm>
              <a:off x="2099" y="3244"/>
              <a:ext cx="57" cy="276"/>
            </a:xfrm>
            <a:custGeom>
              <a:avLst/>
              <a:gdLst>
                <a:gd name="T0" fmla="*/ 32 w 57"/>
                <a:gd name="T1" fmla="*/ 0 h 276"/>
                <a:gd name="T2" fmla="*/ 33 w 57"/>
                <a:gd name="T3" fmla="*/ 233 h 276"/>
                <a:gd name="T4" fmla="*/ 23 w 57"/>
                <a:gd name="T5" fmla="*/ 233 h 276"/>
                <a:gd name="T6" fmla="*/ 23 w 57"/>
                <a:gd name="T7" fmla="*/ 0 h 276"/>
                <a:gd name="T8" fmla="*/ 32 w 57"/>
                <a:gd name="T9" fmla="*/ 0 h 276"/>
                <a:gd name="T10" fmla="*/ 57 w 57"/>
                <a:gd name="T11" fmla="*/ 225 h 276"/>
                <a:gd name="T12" fmla="*/ 28 w 57"/>
                <a:gd name="T13" fmla="*/ 276 h 276"/>
                <a:gd name="T14" fmla="*/ 0 w 57"/>
                <a:gd name="T15" fmla="*/ 225 h 276"/>
                <a:gd name="T16" fmla="*/ 57 w 57"/>
                <a:gd name="T17" fmla="*/ 225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76">
                  <a:moveTo>
                    <a:pt x="32" y="0"/>
                  </a:moveTo>
                  <a:lnTo>
                    <a:pt x="33" y="233"/>
                  </a:lnTo>
                  <a:lnTo>
                    <a:pt x="23" y="233"/>
                  </a:lnTo>
                  <a:lnTo>
                    <a:pt x="23" y="0"/>
                  </a:lnTo>
                  <a:lnTo>
                    <a:pt x="32" y="0"/>
                  </a:lnTo>
                  <a:close/>
                  <a:moveTo>
                    <a:pt x="57" y="225"/>
                  </a:moveTo>
                  <a:lnTo>
                    <a:pt x="28" y="276"/>
                  </a:lnTo>
                  <a:lnTo>
                    <a:pt x="0" y="225"/>
                  </a:lnTo>
                  <a:lnTo>
                    <a:pt x="57" y="22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5" name="Freeform 151"/>
            <p:cNvSpPr>
              <a:spLocks/>
            </p:cNvSpPr>
            <p:nvPr/>
          </p:nvSpPr>
          <p:spPr bwMode="auto">
            <a:xfrm>
              <a:off x="2788" y="3240"/>
              <a:ext cx="1377" cy="8"/>
            </a:xfrm>
            <a:custGeom>
              <a:avLst/>
              <a:gdLst>
                <a:gd name="T0" fmla="*/ 0 w 1377"/>
                <a:gd name="T1" fmla="*/ 0 h 8"/>
                <a:gd name="T2" fmla="*/ 1377 w 1377"/>
                <a:gd name="T3" fmla="*/ 1 h 8"/>
                <a:gd name="T4" fmla="*/ 1377 w 1377"/>
                <a:gd name="T5" fmla="*/ 8 h 8"/>
                <a:gd name="T6" fmla="*/ 0 w 1377"/>
                <a:gd name="T7" fmla="*/ 7 h 8"/>
                <a:gd name="T8" fmla="*/ 0 w 1377"/>
                <a:gd name="T9" fmla="*/ 0 h 8"/>
              </a:gdLst>
              <a:ahLst/>
              <a:cxnLst>
                <a:cxn ang="0">
                  <a:pos x="T0" y="T1"/>
                </a:cxn>
                <a:cxn ang="0">
                  <a:pos x="T2" y="T3"/>
                </a:cxn>
                <a:cxn ang="0">
                  <a:pos x="T4" y="T5"/>
                </a:cxn>
                <a:cxn ang="0">
                  <a:pos x="T6" y="T7"/>
                </a:cxn>
                <a:cxn ang="0">
                  <a:pos x="T8" y="T9"/>
                </a:cxn>
              </a:cxnLst>
              <a:rect l="0" t="0" r="r" b="b"/>
              <a:pathLst>
                <a:path w="1377" h="8">
                  <a:moveTo>
                    <a:pt x="0" y="0"/>
                  </a:moveTo>
                  <a:lnTo>
                    <a:pt x="1377" y="1"/>
                  </a:lnTo>
                  <a:lnTo>
                    <a:pt x="1377" y="8"/>
                  </a:lnTo>
                  <a:lnTo>
                    <a:pt x="0" y="7"/>
                  </a:lnTo>
                  <a:lnTo>
                    <a:pt x="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6" name="Freeform 152"/>
            <p:cNvSpPr>
              <a:spLocks/>
            </p:cNvSpPr>
            <p:nvPr/>
          </p:nvSpPr>
          <p:spPr bwMode="auto">
            <a:xfrm>
              <a:off x="3250" y="2967"/>
              <a:ext cx="8" cy="276"/>
            </a:xfrm>
            <a:custGeom>
              <a:avLst/>
              <a:gdLst>
                <a:gd name="T0" fmla="*/ 7 w 8"/>
                <a:gd name="T1" fmla="*/ 0 h 276"/>
                <a:gd name="T2" fmla="*/ 8 w 8"/>
                <a:gd name="T3" fmla="*/ 276 h 276"/>
                <a:gd name="T4" fmla="*/ 1 w 8"/>
                <a:gd name="T5" fmla="*/ 276 h 276"/>
                <a:gd name="T6" fmla="*/ 0 w 8"/>
                <a:gd name="T7" fmla="*/ 0 h 276"/>
                <a:gd name="T8" fmla="*/ 7 w 8"/>
                <a:gd name="T9" fmla="*/ 0 h 276"/>
              </a:gdLst>
              <a:ahLst/>
              <a:cxnLst>
                <a:cxn ang="0">
                  <a:pos x="T0" y="T1"/>
                </a:cxn>
                <a:cxn ang="0">
                  <a:pos x="T2" y="T3"/>
                </a:cxn>
                <a:cxn ang="0">
                  <a:pos x="T4" y="T5"/>
                </a:cxn>
                <a:cxn ang="0">
                  <a:pos x="T6" y="T7"/>
                </a:cxn>
                <a:cxn ang="0">
                  <a:pos x="T8" y="T9"/>
                </a:cxn>
              </a:cxnLst>
              <a:rect l="0" t="0" r="r" b="b"/>
              <a:pathLst>
                <a:path w="8" h="276">
                  <a:moveTo>
                    <a:pt x="7" y="0"/>
                  </a:moveTo>
                  <a:lnTo>
                    <a:pt x="8" y="276"/>
                  </a:lnTo>
                  <a:lnTo>
                    <a:pt x="1" y="276"/>
                  </a:lnTo>
                  <a:lnTo>
                    <a:pt x="0" y="0"/>
                  </a:lnTo>
                  <a:lnTo>
                    <a:pt x="7"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7" name="Freeform 153"/>
            <p:cNvSpPr>
              <a:spLocks noEditPoints="1"/>
            </p:cNvSpPr>
            <p:nvPr/>
          </p:nvSpPr>
          <p:spPr bwMode="auto">
            <a:xfrm>
              <a:off x="2758" y="3244"/>
              <a:ext cx="57" cy="276"/>
            </a:xfrm>
            <a:custGeom>
              <a:avLst/>
              <a:gdLst>
                <a:gd name="T0" fmla="*/ 32 w 57"/>
                <a:gd name="T1" fmla="*/ 0 h 276"/>
                <a:gd name="T2" fmla="*/ 33 w 57"/>
                <a:gd name="T3" fmla="*/ 233 h 276"/>
                <a:gd name="T4" fmla="*/ 24 w 57"/>
                <a:gd name="T5" fmla="*/ 233 h 276"/>
                <a:gd name="T6" fmla="*/ 23 w 57"/>
                <a:gd name="T7" fmla="*/ 0 h 276"/>
                <a:gd name="T8" fmla="*/ 32 w 57"/>
                <a:gd name="T9" fmla="*/ 0 h 276"/>
                <a:gd name="T10" fmla="*/ 57 w 57"/>
                <a:gd name="T11" fmla="*/ 224 h 276"/>
                <a:gd name="T12" fmla="*/ 29 w 57"/>
                <a:gd name="T13" fmla="*/ 276 h 276"/>
                <a:gd name="T14" fmla="*/ 0 w 57"/>
                <a:gd name="T15" fmla="*/ 224 h 276"/>
                <a:gd name="T16" fmla="*/ 57 w 57"/>
                <a:gd name="T17" fmla="*/ 22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76">
                  <a:moveTo>
                    <a:pt x="32" y="0"/>
                  </a:moveTo>
                  <a:lnTo>
                    <a:pt x="33" y="233"/>
                  </a:lnTo>
                  <a:lnTo>
                    <a:pt x="24" y="233"/>
                  </a:lnTo>
                  <a:lnTo>
                    <a:pt x="23" y="0"/>
                  </a:lnTo>
                  <a:lnTo>
                    <a:pt x="32" y="0"/>
                  </a:lnTo>
                  <a:close/>
                  <a:moveTo>
                    <a:pt x="57" y="224"/>
                  </a:moveTo>
                  <a:lnTo>
                    <a:pt x="29" y="276"/>
                  </a:lnTo>
                  <a:lnTo>
                    <a:pt x="0" y="224"/>
                  </a:lnTo>
                  <a:lnTo>
                    <a:pt x="57" y="22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8" name="Freeform 154"/>
            <p:cNvSpPr>
              <a:spLocks noEditPoints="1"/>
            </p:cNvSpPr>
            <p:nvPr/>
          </p:nvSpPr>
          <p:spPr bwMode="auto">
            <a:xfrm>
              <a:off x="3410" y="3243"/>
              <a:ext cx="57" cy="276"/>
            </a:xfrm>
            <a:custGeom>
              <a:avLst/>
              <a:gdLst>
                <a:gd name="T0" fmla="*/ 32 w 57"/>
                <a:gd name="T1" fmla="*/ 0 h 276"/>
                <a:gd name="T2" fmla="*/ 34 w 57"/>
                <a:gd name="T3" fmla="*/ 233 h 276"/>
                <a:gd name="T4" fmla="*/ 24 w 57"/>
                <a:gd name="T5" fmla="*/ 233 h 276"/>
                <a:gd name="T6" fmla="*/ 23 w 57"/>
                <a:gd name="T7" fmla="*/ 0 h 276"/>
                <a:gd name="T8" fmla="*/ 32 w 57"/>
                <a:gd name="T9" fmla="*/ 0 h 276"/>
                <a:gd name="T10" fmla="*/ 57 w 57"/>
                <a:gd name="T11" fmla="*/ 224 h 276"/>
                <a:gd name="T12" fmla="*/ 29 w 57"/>
                <a:gd name="T13" fmla="*/ 276 h 276"/>
                <a:gd name="T14" fmla="*/ 0 w 57"/>
                <a:gd name="T15" fmla="*/ 224 h 276"/>
                <a:gd name="T16" fmla="*/ 57 w 57"/>
                <a:gd name="T17" fmla="*/ 22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7" h="276">
                  <a:moveTo>
                    <a:pt x="32" y="0"/>
                  </a:moveTo>
                  <a:lnTo>
                    <a:pt x="34" y="233"/>
                  </a:lnTo>
                  <a:lnTo>
                    <a:pt x="24" y="233"/>
                  </a:lnTo>
                  <a:lnTo>
                    <a:pt x="23" y="0"/>
                  </a:lnTo>
                  <a:lnTo>
                    <a:pt x="32" y="0"/>
                  </a:lnTo>
                  <a:close/>
                  <a:moveTo>
                    <a:pt x="57" y="224"/>
                  </a:moveTo>
                  <a:lnTo>
                    <a:pt x="29" y="276"/>
                  </a:lnTo>
                  <a:lnTo>
                    <a:pt x="0" y="224"/>
                  </a:lnTo>
                  <a:lnTo>
                    <a:pt x="57" y="22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sp>
          <p:nvSpPr>
            <p:cNvPr id="1149" name="Freeform 155"/>
            <p:cNvSpPr>
              <a:spLocks noEditPoints="1"/>
            </p:cNvSpPr>
            <p:nvPr/>
          </p:nvSpPr>
          <p:spPr bwMode="auto">
            <a:xfrm>
              <a:off x="4136" y="3243"/>
              <a:ext cx="58" cy="276"/>
            </a:xfrm>
            <a:custGeom>
              <a:avLst/>
              <a:gdLst>
                <a:gd name="T0" fmla="*/ 32 w 58"/>
                <a:gd name="T1" fmla="*/ 0 h 276"/>
                <a:gd name="T2" fmla="*/ 34 w 58"/>
                <a:gd name="T3" fmla="*/ 233 h 276"/>
                <a:gd name="T4" fmla="*/ 24 w 58"/>
                <a:gd name="T5" fmla="*/ 233 h 276"/>
                <a:gd name="T6" fmla="*/ 23 w 58"/>
                <a:gd name="T7" fmla="*/ 0 h 276"/>
                <a:gd name="T8" fmla="*/ 32 w 58"/>
                <a:gd name="T9" fmla="*/ 0 h 276"/>
                <a:gd name="T10" fmla="*/ 58 w 58"/>
                <a:gd name="T11" fmla="*/ 224 h 276"/>
                <a:gd name="T12" fmla="*/ 29 w 58"/>
                <a:gd name="T13" fmla="*/ 276 h 276"/>
                <a:gd name="T14" fmla="*/ 0 w 58"/>
                <a:gd name="T15" fmla="*/ 224 h 276"/>
                <a:gd name="T16" fmla="*/ 58 w 58"/>
                <a:gd name="T17" fmla="*/ 224 h 2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8" h="276">
                  <a:moveTo>
                    <a:pt x="32" y="0"/>
                  </a:moveTo>
                  <a:lnTo>
                    <a:pt x="34" y="233"/>
                  </a:lnTo>
                  <a:lnTo>
                    <a:pt x="24" y="233"/>
                  </a:lnTo>
                  <a:lnTo>
                    <a:pt x="23" y="0"/>
                  </a:lnTo>
                  <a:lnTo>
                    <a:pt x="32" y="0"/>
                  </a:lnTo>
                  <a:close/>
                  <a:moveTo>
                    <a:pt x="58" y="224"/>
                  </a:moveTo>
                  <a:lnTo>
                    <a:pt x="29" y="276"/>
                  </a:lnTo>
                  <a:lnTo>
                    <a:pt x="0" y="224"/>
                  </a:lnTo>
                  <a:lnTo>
                    <a:pt x="58" y="224"/>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a:p>
          </p:txBody>
        </p:sp>
      </p:grpSp>
      <p:sp>
        <p:nvSpPr>
          <p:cNvPr id="156" name="Slide Number Placeholder 155"/>
          <p:cNvSpPr>
            <a:spLocks noGrp="1"/>
          </p:cNvSpPr>
          <p:nvPr>
            <p:ph type="sldNum" sz="quarter" idx="12"/>
          </p:nvPr>
        </p:nvSpPr>
        <p:spPr/>
        <p:txBody>
          <a:bodyPr/>
          <a:lstStyle/>
          <a:p>
            <a:fld id="{0C087B72-CC60-4FF0-9C96-8509CDF76D05}" type="slidenum">
              <a:rPr lang="en-IN" smtClean="0"/>
              <a:pPr/>
              <a:t>86</a:t>
            </a:fld>
            <a:endParaRPr lang="en-IN"/>
          </a:p>
        </p:txBody>
      </p:sp>
    </p:spTree>
    <p:extLst>
      <p:ext uri="{BB962C8B-B14F-4D97-AF65-F5344CB8AC3E}">
        <p14:creationId xmlns:p14="http://schemas.microsoft.com/office/powerpoint/2010/main" val="2822803287"/>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600200"/>
            <a:ext cx="8229600" cy="4349079"/>
          </a:xfrm>
        </p:spPr>
        <p:txBody>
          <a:bodyPr>
            <a:normAutofit/>
          </a:bodyPr>
          <a:lstStyle/>
          <a:p>
            <a:pPr marL="0" indent="0" algn="just">
              <a:lnSpc>
                <a:spcPct val="80000"/>
              </a:lnSpc>
              <a:buNone/>
            </a:pPr>
            <a:r>
              <a:rPr lang="en-IN" sz="2800" dirty="0">
                <a:solidFill>
                  <a:srgbClr val="00B0F0"/>
                </a:solidFill>
                <a:latin typeface="Times New Roman" pitchFamily="18" charset="0"/>
                <a:cs typeface="Times New Roman" pitchFamily="18" charset="0"/>
              </a:rPr>
              <a:t>Task </a:t>
            </a:r>
            <a:r>
              <a:rPr lang="en-IN" sz="2800" dirty="0" smtClean="0">
                <a:solidFill>
                  <a:srgbClr val="00B0F0"/>
                </a:solidFill>
                <a:latin typeface="Times New Roman" pitchFamily="18" charset="0"/>
                <a:cs typeface="Times New Roman" pitchFamily="18" charset="0"/>
              </a:rPr>
              <a:t>interdependency using PERT-CPM</a:t>
            </a:r>
          </a:p>
          <a:p>
            <a:pPr algn="just">
              <a:lnSpc>
                <a:spcPct val="80000"/>
              </a:lnSpc>
            </a:pPr>
            <a:r>
              <a:rPr lang="en-IN" sz="2400" dirty="0" smtClean="0">
                <a:latin typeface="Times New Roman" pitchFamily="18" charset="0"/>
                <a:cs typeface="Times New Roman" pitchFamily="18" charset="0"/>
              </a:rPr>
              <a:t>Task </a:t>
            </a:r>
            <a:r>
              <a:rPr lang="en-IN" sz="2400" dirty="0">
                <a:latin typeface="Times New Roman" pitchFamily="18" charset="0"/>
                <a:cs typeface="Times New Roman" pitchFamily="18" charset="0"/>
              </a:rPr>
              <a:t>interdependency represents the dependency relationship or the sequence of tasks between a pair of activities. </a:t>
            </a:r>
            <a:endParaRPr lang="en-IN" sz="2400" dirty="0" smtClean="0">
              <a:latin typeface="Times New Roman" pitchFamily="18" charset="0"/>
              <a:cs typeface="Times New Roman" pitchFamily="18" charset="0"/>
            </a:endParaRPr>
          </a:p>
          <a:p>
            <a:pPr algn="just">
              <a:lnSpc>
                <a:spcPct val="80000"/>
              </a:lnSpc>
            </a:pPr>
            <a:r>
              <a:rPr lang="en-IN" sz="2400" dirty="0">
                <a:latin typeface="Times New Roman" pitchFamily="18" charset="0"/>
                <a:cs typeface="Times New Roman" pitchFamily="18" charset="0"/>
              </a:rPr>
              <a:t>WBS is converted into an </a:t>
            </a:r>
            <a:r>
              <a:rPr lang="en-IN" sz="2400" i="1" dirty="0">
                <a:latin typeface="Times New Roman" pitchFamily="18" charset="0"/>
                <a:cs typeface="Times New Roman" pitchFamily="18" charset="0"/>
              </a:rPr>
              <a:t>activity network diagram (AND)</a:t>
            </a:r>
            <a:r>
              <a:rPr lang="en-IN" sz="2400" dirty="0">
                <a:latin typeface="Times New Roman" pitchFamily="18" charset="0"/>
                <a:cs typeface="Times New Roman" pitchFamily="18" charset="0"/>
              </a:rPr>
              <a:t> that shows the task </a:t>
            </a:r>
            <a:r>
              <a:rPr lang="en-IN" sz="2400" dirty="0" smtClean="0">
                <a:latin typeface="Times New Roman" pitchFamily="18" charset="0"/>
                <a:cs typeface="Times New Roman" pitchFamily="18" charset="0"/>
              </a:rPr>
              <a:t>interdependency in </a:t>
            </a:r>
            <a:r>
              <a:rPr lang="en-IN" sz="2400" dirty="0">
                <a:latin typeface="Times New Roman" pitchFamily="18" charset="0"/>
                <a:cs typeface="Times New Roman" pitchFamily="18" charset="0"/>
              </a:rPr>
              <a:t>the project. </a:t>
            </a:r>
            <a:endParaRPr lang="en-IN" sz="2400" dirty="0" smtClean="0">
              <a:latin typeface="Times New Roman" pitchFamily="18" charset="0"/>
              <a:cs typeface="Times New Roman" pitchFamily="18" charset="0"/>
            </a:endParaRPr>
          </a:p>
          <a:p>
            <a:pPr algn="just">
              <a:lnSpc>
                <a:spcPct val="80000"/>
              </a:lnSpc>
            </a:pPr>
            <a:r>
              <a:rPr lang="en-IN" sz="2400" dirty="0">
                <a:latin typeface="Times New Roman" pitchFamily="18" charset="0"/>
                <a:cs typeface="Times New Roman" pitchFamily="18" charset="0"/>
              </a:rPr>
              <a:t>The</a:t>
            </a:r>
            <a:r>
              <a:rPr lang="en-IN" sz="2400" i="1" dirty="0">
                <a:latin typeface="Times New Roman" pitchFamily="18" charset="0"/>
                <a:cs typeface="Times New Roman" pitchFamily="18" charset="0"/>
              </a:rPr>
              <a:t> </a:t>
            </a:r>
            <a:r>
              <a:rPr lang="en-IN" sz="2400" dirty="0">
                <a:latin typeface="Times New Roman" pitchFamily="18" charset="0"/>
                <a:cs typeface="Times New Roman" pitchFamily="18" charset="0"/>
              </a:rPr>
              <a:t>activity network diagram is designed </a:t>
            </a:r>
            <a:r>
              <a:rPr lang="en-IN" sz="2400" dirty="0" smtClean="0">
                <a:latin typeface="Times New Roman" pitchFamily="18" charset="0"/>
                <a:cs typeface="Times New Roman" pitchFamily="18" charset="0"/>
              </a:rPr>
              <a:t>using</a:t>
            </a:r>
          </a:p>
          <a:p>
            <a:pPr lvl="1" algn="just">
              <a:lnSpc>
                <a:spcPct val="80000"/>
              </a:lnSpc>
            </a:pPr>
            <a:r>
              <a:rPr lang="en-IN" sz="2400" dirty="0" smtClean="0">
                <a:latin typeface="Times New Roman" pitchFamily="18" charset="0"/>
                <a:cs typeface="Times New Roman" pitchFamily="18" charset="0"/>
              </a:rPr>
              <a:t> </a:t>
            </a:r>
            <a:r>
              <a:rPr lang="en-IN" sz="2400" i="1" dirty="0">
                <a:latin typeface="Times New Roman" pitchFamily="18" charset="0"/>
                <a:cs typeface="Times New Roman" pitchFamily="18" charset="0"/>
              </a:rPr>
              <a:t>Project Evaluation and Review Technique (PERT)</a:t>
            </a:r>
            <a:r>
              <a:rPr lang="en-IN" sz="2400" dirty="0">
                <a:latin typeface="Times New Roman" pitchFamily="18" charset="0"/>
                <a:cs typeface="Times New Roman" pitchFamily="18" charset="0"/>
              </a:rPr>
              <a:t> </a:t>
            </a:r>
            <a:endParaRPr lang="en-IN" sz="2400" dirty="0" smtClean="0">
              <a:latin typeface="Times New Roman" pitchFamily="18" charset="0"/>
              <a:cs typeface="Times New Roman" pitchFamily="18" charset="0"/>
            </a:endParaRPr>
          </a:p>
          <a:p>
            <a:pPr lvl="1" algn="just">
              <a:lnSpc>
                <a:spcPct val="80000"/>
              </a:lnSpc>
            </a:pPr>
            <a:r>
              <a:rPr lang="en-IN" sz="2400" i="1" dirty="0" smtClean="0">
                <a:latin typeface="Times New Roman" pitchFamily="18" charset="0"/>
                <a:cs typeface="Times New Roman" pitchFamily="18" charset="0"/>
              </a:rPr>
              <a:t>Critical </a:t>
            </a:r>
            <a:r>
              <a:rPr lang="en-IN" sz="2400" i="1" dirty="0">
                <a:latin typeface="Times New Roman" pitchFamily="18" charset="0"/>
                <a:cs typeface="Times New Roman" pitchFamily="18" charset="0"/>
              </a:rPr>
              <a:t>P</a:t>
            </a:r>
            <a:r>
              <a:rPr lang="en-IN" sz="2400" i="1" dirty="0" smtClean="0">
                <a:latin typeface="Times New Roman" pitchFamily="18" charset="0"/>
                <a:cs typeface="Times New Roman" pitchFamily="18" charset="0"/>
              </a:rPr>
              <a:t>ath Method </a:t>
            </a:r>
            <a:r>
              <a:rPr lang="en-IN" sz="2400" i="1" dirty="0">
                <a:latin typeface="Times New Roman" pitchFamily="18" charset="0"/>
                <a:cs typeface="Times New Roman" pitchFamily="18" charset="0"/>
              </a:rPr>
              <a:t>(CPM</a:t>
            </a:r>
            <a:r>
              <a:rPr lang="en-IN" sz="2400" i="1" dirty="0" smtClean="0">
                <a:latin typeface="Times New Roman" pitchFamily="18" charset="0"/>
                <a:cs typeface="Times New Roman" pitchFamily="18" charset="0"/>
              </a:rPr>
              <a:t>). </a:t>
            </a:r>
          </a:p>
          <a:p>
            <a:pPr algn="just">
              <a:lnSpc>
                <a:spcPct val="80000"/>
              </a:lnSpc>
            </a:pP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87</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0" indent="0" algn="just">
              <a:lnSpc>
                <a:spcPct val="80000"/>
              </a:lnSpc>
              <a:buNone/>
            </a:pPr>
            <a:r>
              <a:rPr lang="en-IN" sz="2400" dirty="0">
                <a:solidFill>
                  <a:srgbClr val="00B0F0"/>
                </a:solidFill>
                <a:latin typeface="Times New Roman" pitchFamily="18" charset="0"/>
                <a:cs typeface="Times New Roman" pitchFamily="18" charset="0"/>
              </a:rPr>
              <a:t>PERT-CPM </a:t>
            </a:r>
            <a:r>
              <a:rPr lang="en-IN" sz="2400" dirty="0" smtClean="0">
                <a:solidFill>
                  <a:srgbClr val="00B0F0"/>
                </a:solidFill>
                <a:latin typeface="Times New Roman" pitchFamily="18" charset="0"/>
                <a:cs typeface="Times New Roman" pitchFamily="18" charset="0"/>
              </a:rPr>
              <a:t>Method</a:t>
            </a:r>
          </a:p>
          <a:p>
            <a:pPr algn="just">
              <a:lnSpc>
                <a:spcPct val="80000"/>
              </a:lnSpc>
            </a:pPr>
            <a:r>
              <a:rPr lang="en-IN" sz="2400" dirty="0">
                <a:latin typeface="Times New Roman" pitchFamily="18" charset="0"/>
                <a:cs typeface="Times New Roman" pitchFamily="18" charset="0"/>
              </a:rPr>
              <a:t>PERT is a network-based representation of tasks or activities to determine the task interdependency. </a:t>
            </a:r>
            <a:endParaRPr lang="en-IN" sz="2400" dirty="0" smtClean="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It represents the precedence or parallel relationships among the tasks in a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A </a:t>
            </a:r>
            <a:r>
              <a:rPr lang="en-IN" sz="2400" dirty="0">
                <a:latin typeface="Times New Roman" pitchFamily="18" charset="0"/>
                <a:cs typeface="Times New Roman" pitchFamily="18" charset="0"/>
              </a:rPr>
              <a:t>PERT diagram has the following construction rules:</a:t>
            </a:r>
          </a:p>
          <a:p>
            <a:pPr lvl="1" algn="just"/>
            <a:r>
              <a:rPr lang="en-IN" sz="2400" dirty="0" smtClean="0">
                <a:latin typeface="Times New Roman" pitchFamily="18" charset="0"/>
                <a:cs typeface="Times New Roman" pitchFamily="18" charset="0"/>
              </a:rPr>
              <a:t>Each </a:t>
            </a:r>
            <a:r>
              <a:rPr lang="en-IN" sz="2400" dirty="0">
                <a:latin typeface="Times New Roman" pitchFamily="18" charset="0"/>
                <a:cs typeface="Times New Roman" pitchFamily="18" charset="0"/>
              </a:rPr>
              <a:t>task or activity is represented as a </a:t>
            </a:r>
            <a:r>
              <a:rPr lang="en-IN" sz="2400" i="1" dirty="0">
                <a:latin typeface="Times New Roman" pitchFamily="18" charset="0"/>
                <a:cs typeface="Times New Roman" pitchFamily="18" charset="0"/>
              </a:rPr>
              <a:t>node</a:t>
            </a:r>
            <a:r>
              <a:rPr lang="en-IN" sz="2400" dirty="0">
                <a:latin typeface="Times New Roman" pitchFamily="18" charset="0"/>
                <a:cs typeface="Times New Roman" pitchFamily="18" charset="0"/>
              </a:rPr>
              <a:t> in boxes.</a:t>
            </a:r>
          </a:p>
          <a:p>
            <a:pPr lvl="1" algn="just"/>
            <a:r>
              <a:rPr lang="en-IN" sz="2400" dirty="0">
                <a:latin typeface="Times New Roman" pitchFamily="18" charset="0"/>
                <a:cs typeface="Times New Roman" pitchFamily="18" charset="0"/>
              </a:rPr>
              <a:t>Arrow shows the </a:t>
            </a:r>
            <a:r>
              <a:rPr lang="en-IN" sz="2400" i="1" dirty="0">
                <a:latin typeface="Times New Roman" pitchFamily="18" charset="0"/>
                <a:cs typeface="Times New Roman" pitchFamily="18" charset="0"/>
              </a:rPr>
              <a:t>dependencies</a:t>
            </a:r>
            <a:r>
              <a:rPr lang="en-IN" sz="2400" dirty="0">
                <a:latin typeface="Times New Roman" pitchFamily="18" charset="0"/>
                <a:cs typeface="Times New Roman" pitchFamily="18" charset="0"/>
              </a:rPr>
              <a:t> between tasks or activities.</a:t>
            </a:r>
          </a:p>
          <a:p>
            <a:pPr lvl="1" algn="just"/>
            <a:r>
              <a:rPr lang="en-IN" sz="2400" dirty="0">
                <a:latin typeface="Times New Roman" pitchFamily="18" charset="0"/>
                <a:cs typeface="Times New Roman" pitchFamily="18" charset="0"/>
              </a:rPr>
              <a:t>There is a </a:t>
            </a:r>
            <a:r>
              <a:rPr lang="en-IN" sz="2400" i="1" dirty="0">
                <a:latin typeface="Times New Roman" pitchFamily="18" charset="0"/>
                <a:cs typeface="Times New Roman" pitchFamily="18" charset="0"/>
              </a:rPr>
              <a:t>start</a:t>
            </a:r>
            <a:r>
              <a:rPr lang="en-IN" sz="2400" dirty="0">
                <a:latin typeface="Times New Roman" pitchFamily="18" charset="0"/>
                <a:cs typeface="Times New Roman" pitchFamily="18" charset="0"/>
              </a:rPr>
              <a:t> </a:t>
            </a:r>
            <a:r>
              <a:rPr lang="en-IN" sz="2400" i="1" dirty="0">
                <a:latin typeface="Times New Roman" pitchFamily="18" charset="0"/>
                <a:cs typeface="Times New Roman" pitchFamily="18" charset="0"/>
              </a:rPr>
              <a:t>node</a:t>
            </a:r>
            <a:r>
              <a:rPr lang="en-IN" sz="2400" dirty="0">
                <a:latin typeface="Times New Roman" pitchFamily="18" charset="0"/>
                <a:cs typeface="Times New Roman" pitchFamily="18" charset="0"/>
              </a:rPr>
              <a:t>, which has only an outgoing arrow, and an </a:t>
            </a:r>
            <a:r>
              <a:rPr lang="en-IN" sz="2400" i="1" dirty="0">
                <a:latin typeface="Times New Roman" pitchFamily="18" charset="0"/>
                <a:cs typeface="Times New Roman" pitchFamily="18" charset="0"/>
              </a:rPr>
              <a:t>end</a:t>
            </a:r>
            <a:r>
              <a:rPr lang="en-IN" sz="2400" dirty="0">
                <a:latin typeface="Times New Roman" pitchFamily="18" charset="0"/>
                <a:cs typeface="Times New Roman" pitchFamily="18" charset="0"/>
              </a:rPr>
              <a:t> </a:t>
            </a:r>
            <a:r>
              <a:rPr lang="en-IN" sz="2400" i="1" dirty="0">
                <a:latin typeface="Times New Roman" pitchFamily="18" charset="0"/>
                <a:cs typeface="Times New Roman" pitchFamily="18" charset="0"/>
              </a:rPr>
              <a:t>node</a:t>
            </a:r>
            <a:r>
              <a:rPr lang="en-IN" sz="2400" dirty="0">
                <a:latin typeface="Times New Roman" pitchFamily="18" charset="0"/>
                <a:cs typeface="Times New Roman" pitchFamily="18" charset="0"/>
              </a:rPr>
              <a:t>, which has only incoming arrows.   </a:t>
            </a:r>
          </a:p>
          <a:p>
            <a:pPr lvl="1" algn="just"/>
            <a:r>
              <a:rPr lang="en-IN" sz="2400" dirty="0">
                <a:latin typeface="Times New Roman" pitchFamily="18" charset="0"/>
                <a:cs typeface="Times New Roman" pitchFamily="18" charset="0"/>
              </a:rPr>
              <a:t>An arrow pointing to a node comes from its predecessor activity, which must be completed before a task can begin. </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88</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363538" lvl="1" indent="-363538" algn="just">
              <a:buNone/>
            </a:pPr>
            <a:r>
              <a:rPr lang="en-IN" sz="2400" dirty="0">
                <a:solidFill>
                  <a:srgbClr val="00B0F0"/>
                </a:solidFill>
                <a:latin typeface="Times New Roman" pitchFamily="18" charset="0"/>
                <a:cs typeface="Times New Roman" pitchFamily="18" charset="0"/>
              </a:rPr>
              <a:t>PERT-CPM Method</a:t>
            </a:r>
          </a:p>
          <a:p>
            <a:pPr lvl="1" algn="just"/>
            <a:r>
              <a:rPr lang="en-IN" sz="2400" dirty="0" smtClean="0">
                <a:latin typeface="Times New Roman" pitchFamily="18" charset="0"/>
                <a:cs typeface="Times New Roman" pitchFamily="18" charset="0"/>
              </a:rPr>
              <a:t>Arrows </a:t>
            </a:r>
            <a:r>
              <a:rPr lang="en-IN" sz="2400" dirty="0">
                <a:latin typeface="Times New Roman" pitchFamily="18" charset="0"/>
                <a:cs typeface="Times New Roman" pitchFamily="18" charset="0"/>
              </a:rPr>
              <a:t>pointing out of a task box go to its successor tasks, which cannot start until at least this task is complete. </a:t>
            </a:r>
            <a:endParaRPr lang="en-IN" sz="2400" dirty="0" smtClean="0">
              <a:latin typeface="Times New Roman" pitchFamily="18" charset="0"/>
              <a:cs typeface="Times New Roman" pitchFamily="18" charset="0"/>
            </a:endParaRPr>
          </a:p>
          <a:p>
            <a:pPr lvl="1" algn="just"/>
            <a:r>
              <a:rPr lang="en-IN" sz="2400" dirty="0" smtClean="0">
                <a:latin typeface="Times New Roman" pitchFamily="18" charset="0"/>
                <a:cs typeface="Times New Roman" pitchFamily="18" charset="0"/>
              </a:rPr>
              <a:t>For </a:t>
            </a:r>
            <a:r>
              <a:rPr lang="en-IN" sz="2400" dirty="0">
                <a:latin typeface="Times New Roman" pitchFamily="18" charset="0"/>
                <a:cs typeface="Times New Roman" pitchFamily="18" charset="0"/>
              </a:rPr>
              <a:t>example, T1 is the predecessor of T2 in the following diagram. T2 cannot start until T1 is completed</a:t>
            </a:r>
            <a:r>
              <a:rPr lang="en-IN" sz="2400" dirty="0" smtClean="0">
                <a:latin typeface="Times New Roman" pitchFamily="18" charset="0"/>
                <a:cs typeface="Times New Roman" pitchFamily="18" charset="0"/>
              </a:rPr>
              <a:t>.</a:t>
            </a:r>
          </a:p>
          <a:p>
            <a:pPr lvl="1" algn="just"/>
            <a:endParaRPr lang="en-US" dirty="0">
              <a:latin typeface="Times New Roman" pitchFamily="18" charset="0"/>
              <a:cs typeface="Times New Roman" pitchFamily="18" charset="0"/>
            </a:endParaRPr>
          </a:p>
        </p:txBody>
      </p:sp>
      <p:grpSp>
        <p:nvGrpSpPr>
          <p:cNvPr id="40" name="Group 5"/>
          <p:cNvGrpSpPr>
            <a:grpSpLocks noChangeAspect="1"/>
          </p:cNvGrpSpPr>
          <p:nvPr/>
        </p:nvGrpSpPr>
        <p:grpSpPr bwMode="auto">
          <a:xfrm>
            <a:off x="1547664" y="4365104"/>
            <a:ext cx="5903913" cy="1300162"/>
            <a:chOff x="930" y="2147"/>
            <a:chExt cx="3719" cy="819"/>
          </a:xfrm>
        </p:grpSpPr>
        <p:sp>
          <p:nvSpPr>
            <p:cNvPr id="41" name="AutoShape 4"/>
            <p:cNvSpPr>
              <a:spLocks noChangeAspect="1" noChangeArrowheads="1" noTextEdit="1"/>
            </p:cNvSpPr>
            <p:nvPr/>
          </p:nvSpPr>
          <p:spPr bwMode="auto">
            <a:xfrm>
              <a:off x="930" y="2147"/>
              <a:ext cx="3719" cy="8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42" name="Rectangle 6"/>
            <p:cNvSpPr>
              <a:spLocks noChangeArrowheads="1"/>
            </p:cNvSpPr>
            <p:nvPr/>
          </p:nvSpPr>
          <p:spPr bwMode="auto">
            <a:xfrm>
              <a:off x="3920" y="2786"/>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43" name="Rectangle 7"/>
            <p:cNvSpPr>
              <a:spLocks noChangeArrowheads="1"/>
            </p:cNvSpPr>
            <p:nvPr/>
          </p:nvSpPr>
          <p:spPr bwMode="auto">
            <a:xfrm>
              <a:off x="1297" y="2293"/>
              <a:ext cx="616" cy="22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44" name="Freeform 8"/>
            <p:cNvSpPr>
              <a:spLocks noEditPoints="1"/>
            </p:cNvSpPr>
            <p:nvPr/>
          </p:nvSpPr>
          <p:spPr bwMode="auto">
            <a:xfrm>
              <a:off x="1294" y="2290"/>
              <a:ext cx="622" cy="228"/>
            </a:xfrm>
            <a:custGeom>
              <a:avLst/>
              <a:gdLst>
                <a:gd name="T0" fmla="*/ 0 w 622"/>
                <a:gd name="T1" fmla="*/ 0 h 228"/>
                <a:gd name="T2" fmla="*/ 622 w 622"/>
                <a:gd name="T3" fmla="*/ 0 h 228"/>
                <a:gd name="T4" fmla="*/ 622 w 622"/>
                <a:gd name="T5" fmla="*/ 228 h 228"/>
                <a:gd name="T6" fmla="*/ 0 w 622"/>
                <a:gd name="T7" fmla="*/ 228 h 228"/>
                <a:gd name="T8" fmla="*/ 0 w 622"/>
                <a:gd name="T9" fmla="*/ 0 h 228"/>
                <a:gd name="T10" fmla="*/ 6 w 622"/>
                <a:gd name="T11" fmla="*/ 225 h 228"/>
                <a:gd name="T12" fmla="*/ 3 w 622"/>
                <a:gd name="T13" fmla="*/ 222 h 228"/>
                <a:gd name="T14" fmla="*/ 619 w 622"/>
                <a:gd name="T15" fmla="*/ 222 h 228"/>
                <a:gd name="T16" fmla="*/ 616 w 622"/>
                <a:gd name="T17" fmla="*/ 225 h 228"/>
                <a:gd name="T18" fmla="*/ 616 w 622"/>
                <a:gd name="T19" fmla="*/ 3 h 228"/>
                <a:gd name="T20" fmla="*/ 619 w 622"/>
                <a:gd name="T21" fmla="*/ 6 h 228"/>
                <a:gd name="T22" fmla="*/ 3 w 622"/>
                <a:gd name="T23" fmla="*/ 6 h 228"/>
                <a:gd name="T24" fmla="*/ 6 w 622"/>
                <a:gd name="T25" fmla="*/ 3 h 228"/>
                <a:gd name="T26" fmla="*/ 6 w 622"/>
                <a:gd name="T27" fmla="*/ 225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22" h="228">
                  <a:moveTo>
                    <a:pt x="0" y="0"/>
                  </a:moveTo>
                  <a:lnTo>
                    <a:pt x="622" y="0"/>
                  </a:lnTo>
                  <a:lnTo>
                    <a:pt x="622" y="228"/>
                  </a:lnTo>
                  <a:lnTo>
                    <a:pt x="0" y="228"/>
                  </a:lnTo>
                  <a:lnTo>
                    <a:pt x="0" y="0"/>
                  </a:lnTo>
                  <a:close/>
                  <a:moveTo>
                    <a:pt x="6" y="225"/>
                  </a:moveTo>
                  <a:lnTo>
                    <a:pt x="3" y="222"/>
                  </a:lnTo>
                  <a:lnTo>
                    <a:pt x="619" y="222"/>
                  </a:lnTo>
                  <a:lnTo>
                    <a:pt x="616" y="225"/>
                  </a:lnTo>
                  <a:lnTo>
                    <a:pt x="616" y="3"/>
                  </a:lnTo>
                  <a:lnTo>
                    <a:pt x="619" y="6"/>
                  </a:lnTo>
                  <a:lnTo>
                    <a:pt x="3" y="6"/>
                  </a:lnTo>
                  <a:lnTo>
                    <a:pt x="6" y="3"/>
                  </a:lnTo>
                  <a:lnTo>
                    <a:pt x="6" y="22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45" name="Rectangle 9"/>
            <p:cNvSpPr>
              <a:spLocks noChangeArrowheads="1"/>
            </p:cNvSpPr>
            <p:nvPr/>
          </p:nvSpPr>
          <p:spPr bwMode="auto">
            <a:xfrm>
              <a:off x="1550" y="2326"/>
              <a:ext cx="15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T1</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46" name="Rectangle 10"/>
            <p:cNvSpPr>
              <a:spLocks noChangeArrowheads="1"/>
            </p:cNvSpPr>
            <p:nvPr/>
          </p:nvSpPr>
          <p:spPr bwMode="auto">
            <a:xfrm>
              <a:off x="1659" y="2326"/>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47" name="Rectangle 11"/>
            <p:cNvSpPr>
              <a:spLocks noChangeArrowheads="1"/>
            </p:cNvSpPr>
            <p:nvPr/>
          </p:nvSpPr>
          <p:spPr bwMode="auto">
            <a:xfrm>
              <a:off x="3004" y="2293"/>
              <a:ext cx="617" cy="22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48" name="Freeform 12"/>
            <p:cNvSpPr>
              <a:spLocks noEditPoints="1"/>
            </p:cNvSpPr>
            <p:nvPr/>
          </p:nvSpPr>
          <p:spPr bwMode="auto">
            <a:xfrm>
              <a:off x="3001" y="2290"/>
              <a:ext cx="623" cy="228"/>
            </a:xfrm>
            <a:custGeom>
              <a:avLst/>
              <a:gdLst>
                <a:gd name="T0" fmla="*/ 0 w 623"/>
                <a:gd name="T1" fmla="*/ 0 h 228"/>
                <a:gd name="T2" fmla="*/ 623 w 623"/>
                <a:gd name="T3" fmla="*/ 0 h 228"/>
                <a:gd name="T4" fmla="*/ 623 w 623"/>
                <a:gd name="T5" fmla="*/ 228 h 228"/>
                <a:gd name="T6" fmla="*/ 0 w 623"/>
                <a:gd name="T7" fmla="*/ 228 h 228"/>
                <a:gd name="T8" fmla="*/ 0 w 623"/>
                <a:gd name="T9" fmla="*/ 0 h 228"/>
                <a:gd name="T10" fmla="*/ 7 w 623"/>
                <a:gd name="T11" fmla="*/ 225 h 228"/>
                <a:gd name="T12" fmla="*/ 3 w 623"/>
                <a:gd name="T13" fmla="*/ 222 h 228"/>
                <a:gd name="T14" fmla="*/ 620 w 623"/>
                <a:gd name="T15" fmla="*/ 222 h 228"/>
                <a:gd name="T16" fmla="*/ 617 w 623"/>
                <a:gd name="T17" fmla="*/ 225 h 228"/>
                <a:gd name="T18" fmla="*/ 617 w 623"/>
                <a:gd name="T19" fmla="*/ 3 h 228"/>
                <a:gd name="T20" fmla="*/ 620 w 623"/>
                <a:gd name="T21" fmla="*/ 6 h 228"/>
                <a:gd name="T22" fmla="*/ 3 w 623"/>
                <a:gd name="T23" fmla="*/ 6 h 228"/>
                <a:gd name="T24" fmla="*/ 7 w 623"/>
                <a:gd name="T25" fmla="*/ 3 h 228"/>
                <a:gd name="T26" fmla="*/ 7 w 623"/>
                <a:gd name="T27" fmla="*/ 225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23" h="228">
                  <a:moveTo>
                    <a:pt x="0" y="0"/>
                  </a:moveTo>
                  <a:lnTo>
                    <a:pt x="623" y="0"/>
                  </a:lnTo>
                  <a:lnTo>
                    <a:pt x="623" y="228"/>
                  </a:lnTo>
                  <a:lnTo>
                    <a:pt x="0" y="228"/>
                  </a:lnTo>
                  <a:lnTo>
                    <a:pt x="0" y="0"/>
                  </a:lnTo>
                  <a:close/>
                  <a:moveTo>
                    <a:pt x="7" y="225"/>
                  </a:moveTo>
                  <a:lnTo>
                    <a:pt x="3" y="222"/>
                  </a:lnTo>
                  <a:lnTo>
                    <a:pt x="620" y="222"/>
                  </a:lnTo>
                  <a:lnTo>
                    <a:pt x="617" y="225"/>
                  </a:lnTo>
                  <a:lnTo>
                    <a:pt x="617" y="3"/>
                  </a:lnTo>
                  <a:lnTo>
                    <a:pt x="620" y="6"/>
                  </a:lnTo>
                  <a:lnTo>
                    <a:pt x="3" y="6"/>
                  </a:lnTo>
                  <a:lnTo>
                    <a:pt x="7" y="3"/>
                  </a:lnTo>
                  <a:lnTo>
                    <a:pt x="7" y="225"/>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49" name="Rectangle 13"/>
            <p:cNvSpPr>
              <a:spLocks noChangeArrowheads="1"/>
            </p:cNvSpPr>
            <p:nvPr/>
          </p:nvSpPr>
          <p:spPr bwMode="auto">
            <a:xfrm>
              <a:off x="3259" y="2326"/>
              <a:ext cx="150"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T2</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50" name="Rectangle 14"/>
            <p:cNvSpPr>
              <a:spLocks noChangeArrowheads="1"/>
            </p:cNvSpPr>
            <p:nvPr/>
          </p:nvSpPr>
          <p:spPr bwMode="auto">
            <a:xfrm>
              <a:off x="3369" y="2326"/>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51" name="Freeform 15"/>
            <p:cNvSpPr>
              <a:spLocks noEditPoints="1"/>
            </p:cNvSpPr>
            <p:nvPr/>
          </p:nvSpPr>
          <p:spPr bwMode="auto">
            <a:xfrm>
              <a:off x="1913" y="2383"/>
              <a:ext cx="1091" cy="48"/>
            </a:xfrm>
            <a:custGeom>
              <a:avLst/>
              <a:gdLst>
                <a:gd name="T0" fmla="*/ 0 w 1091"/>
                <a:gd name="T1" fmla="*/ 20 h 48"/>
                <a:gd name="T2" fmla="*/ 1050 w 1091"/>
                <a:gd name="T3" fmla="*/ 20 h 48"/>
                <a:gd name="T4" fmla="*/ 1050 w 1091"/>
                <a:gd name="T5" fmla="*/ 28 h 48"/>
                <a:gd name="T6" fmla="*/ 0 w 1091"/>
                <a:gd name="T7" fmla="*/ 28 h 48"/>
                <a:gd name="T8" fmla="*/ 0 w 1091"/>
                <a:gd name="T9" fmla="*/ 20 h 48"/>
                <a:gd name="T10" fmla="*/ 1042 w 1091"/>
                <a:gd name="T11" fmla="*/ 0 h 48"/>
                <a:gd name="T12" fmla="*/ 1091 w 1091"/>
                <a:gd name="T13" fmla="*/ 24 h 48"/>
                <a:gd name="T14" fmla="*/ 1042 w 1091"/>
                <a:gd name="T15" fmla="*/ 48 h 48"/>
                <a:gd name="T16" fmla="*/ 1042 w 1091"/>
                <a:gd name="T17"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091" h="48">
                  <a:moveTo>
                    <a:pt x="0" y="20"/>
                  </a:moveTo>
                  <a:lnTo>
                    <a:pt x="1050" y="20"/>
                  </a:lnTo>
                  <a:lnTo>
                    <a:pt x="1050" y="28"/>
                  </a:lnTo>
                  <a:lnTo>
                    <a:pt x="0" y="28"/>
                  </a:lnTo>
                  <a:lnTo>
                    <a:pt x="0" y="20"/>
                  </a:lnTo>
                  <a:close/>
                  <a:moveTo>
                    <a:pt x="1042" y="0"/>
                  </a:moveTo>
                  <a:lnTo>
                    <a:pt x="1091" y="24"/>
                  </a:lnTo>
                  <a:lnTo>
                    <a:pt x="1042" y="48"/>
                  </a:lnTo>
                  <a:lnTo>
                    <a:pt x="1042"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52" name="Rectangle 16"/>
            <p:cNvSpPr>
              <a:spLocks noChangeArrowheads="1"/>
            </p:cNvSpPr>
            <p:nvPr/>
          </p:nvSpPr>
          <p:spPr bwMode="auto">
            <a:xfrm>
              <a:off x="1451" y="2557"/>
              <a:ext cx="301" cy="1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53" name="Freeform 17"/>
            <p:cNvSpPr>
              <a:spLocks noEditPoints="1"/>
            </p:cNvSpPr>
            <p:nvPr/>
          </p:nvSpPr>
          <p:spPr bwMode="auto">
            <a:xfrm>
              <a:off x="1447" y="2554"/>
              <a:ext cx="309" cy="156"/>
            </a:xfrm>
            <a:custGeom>
              <a:avLst/>
              <a:gdLst>
                <a:gd name="T0" fmla="*/ 0 w 309"/>
                <a:gd name="T1" fmla="*/ 0 h 156"/>
                <a:gd name="T2" fmla="*/ 309 w 309"/>
                <a:gd name="T3" fmla="*/ 0 h 156"/>
                <a:gd name="T4" fmla="*/ 309 w 309"/>
                <a:gd name="T5" fmla="*/ 156 h 156"/>
                <a:gd name="T6" fmla="*/ 0 w 309"/>
                <a:gd name="T7" fmla="*/ 156 h 156"/>
                <a:gd name="T8" fmla="*/ 0 w 309"/>
                <a:gd name="T9" fmla="*/ 0 h 156"/>
                <a:gd name="T10" fmla="*/ 7 w 309"/>
                <a:gd name="T11" fmla="*/ 153 h 156"/>
                <a:gd name="T12" fmla="*/ 4 w 309"/>
                <a:gd name="T13" fmla="*/ 150 h 156"/>
                <a:gd name="T14" fmla="*/ 305 w 309"/>
                <a:gd name="T15" fmla="*/ 150 h 156"/>
                <a:gd name="T16" fmla="*/ 302 w 309"/>
                <a:gd name="T17" fmla="*/ 153 h 156"/>
                <a:gd name="T18" fmla="*/ 302 w 309"/>
                <a:gd name="T19" fmla="*/ 3 h 156"/>
                <a:gd name="T20" fmla="*/ 305 w 309"/>
                <a:gd name="T21" fmla="*/ 6 h 156"/>
                <a:gd name="T22" fmla="*/ 4 w 309"/>
                <a:gd name="T23" fmla="*/ 6 h 156"/>
                <a:gd name="T24" fmla="*/ 7 w 309"/>
                <a:gd name="T25" fmla="*/ 3 h 156"/>
                <a:gd name="T26" fmla="*/ 7 w 309"/>
                <a:gd name="T27" fmla="*/ 15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9" h="156">
                  <a:moveTo>
                    <a:pt x="0" y="0"/>
                  </a:moveTo>
                  <a:lnTo>
                    <a:pt x="309" y="0"/>
                  </a:lnTo>
                  <a:lnTo>
                    <a:pt x="309" y="156"/>
                  </a:lnTo>
                  <a:lnTo>
                    <a:pt x="0" y="156"/>
                  </a:lnTo>
                  <a:lnTo>
                    <a:pt x="0" y="0"/>
                  </a:lnTo>
                  <a:close/>
                  <a:moveTo>
                    <a:pt x="7" y="153"/>
                  </a:moveTo>
                  <a:lnTo>
                    <a:pt x="4" y="150"/>
                  </a:lnTo>
                  <a:lnTo>
                    <a:pt x="305" y="150"/>
                  </a:lnTo>
                  <a:lnTo>
                    <a:pt x="302" y="153"/>
                  </a:lnTo>
                  <a:lnTo>
                    <a:pt x="302" y="3"/>
                  </a:lnTo>
                  <a:lnTo>
                    <a:pt x="305" y="6"/>
                  </a:lnTo>
                  <a:lnTo>
                    <a:pt x="4" y="6"/>
                  </a:lnTo>
                  <a:lnTo>
                    <a:pt x="7" y="3"/>
                  </a:lnTo>
                  <a:lnTo>
                    <a:pt x="7" y="153"/>
                  </a:lnTo>
                  <a:close/>
                </a:path>
              </a:pathLst>
            </a:custGeom>
            <a:solidFill>
              <a:srgbClr val="FFFFFF"/>
            </a:solidFill>
            <a:ln w="0" cap="flat">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54" name="Rectangle 18"/>
            <p:cNvSpPr>
              <a:spLocks noChangeArrowheads="1"/>
            </p:cNvSpPr>
            <p:nvPr/>
          </p:nvSpPr>
          <p:spPr bwMode="auto">
            <a:xfrm>
              <a:off x="1454" y="2560"/>
              <a:ext cx="358"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Task 1</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55" name="Rectangle 19"/>
            <p:cNvSpPr>
              <a:spLocks noChangeArrowheads="1"/>
            </p:cNvSpPr>
            <p:nvPr/>
          </p:nvSpPr>
          <p:spPr bwMode="auto">
            <a:xfrm>
              <a:off x="1719" y="2560"/>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56" name="Rectangle 20"/>
            <p:cNvSpPr>
              <a:spLocks noChangeArrowheads="1"/>
            </p:cNvSpPr>
            <p:nvPr/>
          </p:nvSpPr>
          <p:spPr bwMode="auto">
            <a:xfrm>
              <a:off x="3220" y="2557"/>
              <a:ext cx="346" cy="1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57" name="Freeform 21"/>
            <p:cNvSpPr>
              <a:spLocks noEditPoints="1"/>
            </p:cNvSpPr>
            <p:nvPr/>
          </p:nvSpPr>
          <p:spPr bwMode="auto">
            <a:xfrm>
              <a:off x="3217" y="2554"/>
              <a:ext cx="352" cy="156"/>
            </a:xfrm>
            <a:custGeom>
              <a:avLst/>
              <a:gdLst>
                <a:gd name="T0" fmla="*/ 0 w 352"/>
                <a:gd name="T1" fmla="*/ 0 h 156"/>
                <a:gd name="T2" fmla="*/ 352 w 352"/>
                <a:gd name="T3" fmla="*/ 0 h 156"/>
                <a:gd name="T4" fmla="*/ 352 w 352"/>
                <a:gd name="T5" fmla="*/ 156 h 156"/>
                <a:gd name="T6" fmla="*/ 0 w 352"/>
                <a:gd name="T7" fmla="*/ 156 h 156"/>
                <a:gd name="T8" fmla="*/ 0 w 352"/>
                <a:gd name="T9" fmla="*/ 0 h 156"/>
                <a:gd name="T10" fmla="*/ 6 w 352"/>
                <a:gd name="T11" fmla="*/ 153 h 156"/>
                <a:gd name="T12" fmla="*/ 3 w 352"/>
                <a:gd name="T13" fmla="*/ 150 h 156"/>
                <a:gd name="T14" fmla="*/ 349 w 352"/>
                <a:gd name="T15" fmla="*/ 150 h 156"/>
                <a:gd name="T16" fmla="*/ 346 w 352"/>
                <a:gd name="T17" fmla="*/ 153 h 156"/>
                <a:gd name="T18" fmla="*/ 346 w 352"/>
                <a:gd name="T19" fmla="*/ 3 h 156"/>
                <a:gd name="T20" fmla="*/ 349 w 352"/>
                <a:gd name="T21" fmla="*/ 6 h 156"/>
                <a:gd name="T22" fmla="*/ 3 w 352"/>
                <a:gd name="T23" fmla="*/ 6 h 156"/>
                <a:gd name="T24" fmla="*/ 6 w 352"/>
                <a:gd name="T25" fmla="*/ 3 h 156"/>
                <a:gd name="T26" fmla="*/ 6 w 352"/>
                <a:gd name="T27" fmla="*/ 15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52" h="156">
                  <a:moveTo>
                    <a:pt x="0" y="0"/>
                  </a:moveTo>
                  <a:lnTo>
                    <a:pt x="352" y="0"/>
                  </a:lnTo>
                  <a:lnTo>
                    <a:pt x="352" y="156"/>
                  </a:lnTo>
                  <a:lnTo>
                    <a:pt x="0" y="156"/>
                  </a:lnTo>
                  <a:lnTo>
                    <a:pt x="0" y="0"/>
                  </a:lnTo>
                  <a:close/>
                  <a:moveTo>
                    <a:pt x="6" y="153"/>
                  </a:moveTo>
                  <a:lnTo>
                    <a:pt x="3" y="150"/>
                  </a:lnTo>
                  <a:lnTo>
                    <a:pt x="349" y="150"/>
                  </a:lnTo>
                  <a:lnTo>
                    <a:pt x="346" y="153"/>
                  </a:lnTo>
                  <a:lnTo>
                    <a:pt x="346" y="3"/>
                  </a:lnTo>
                  <a:lnTo>
                    <a:pt x="349" y="6"/>
                  </a:lnTo>
                  <a:lnTo>
                    <a:pt x="3" y="6"/>
                  </a:lnTo>
                  <a:lnTo>
                    <a:pt x="6" y="3"/>
                  </a:lnTo>
                  <a:lnTo>
                    <a:pt x="6" y="153"/>
                  </a:lnTo>
                  <a:close/>
                </a:path>
              </a:pathLst>
            </a:custGeom>
            <a:solidFill>
              <a:srgbClr val="FFFFFF"/>
            </a:solidFill>
            <a:ln w="0" cap="flat">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58" name="Rectangle 22"/>
            <p:cNvSpPr>
              <a:spLocks noChangeArrowheads="1"/>
            </p:cNvSpPr>
            <p:nvPr/>
          </p:nvSpPr>
          <p:spPr bwMode="auto">
            <a:xfrm>
              <a:off x="3224" y="2560"/>
              <a:ext cx="358"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Task 2</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59" name="Rectangle 23"/>
            <p:cNvSpPr>
              <a:spLocks noChangeArrowheads="1"/>
            </p:cNvSpPr>
            <p:nvPr/>
          </p:nvSpPr>
          <p:spPr bwMode="auto">
            <a:xfrm>
              <a:off x="3489" y="2560"/>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60" name="Rectangle 24"/>
            <p:cNvSpPr>
              <a:spLocks noChangeArrowheads="1"/>
            </p:cNvSpPr>
            <p:nvPr/>
          </p:nvSpPr>
          <p:spPr bwMode="auto">
            <a:xfrm>
              <a:off x="2166" y="2260"/>
              <a:ext cx="598" cy="1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1" name="Freeform 25"/>
            <p:cNvSpPr>
              <a:spLocks noEditPoints="1"/>
            </p:cNvSpPr>
            <p:nvPr/>
          </p:nvSpPr>
          <p:spPr bwMode="auto">
            <a:xfrm>
              <a:off x="2163" y="2257"/>
              <a:ext cx="604" cy="108"/>
            </a:xfrm>
            <a:custGeom>
              <a:avLst/>
              <a:gdLst>
                <a:gd name="T0" fmla="*/ 0 w 604"/>
                <a:gd name="T1" fmla="*/ 0 h 108"/>
                <a:gd name="T2" fmla="*/ 604 w 604"/>
                <a:gd name="T3" fmla="*/ 0 h 108"/>
                <a:gd name="T4" fmla="*/ 604 w 604"/>
                <a:gd name="T5" fmla="*/ 108 h 108"/>
                <a:gd name="T6" fmla="*/ 0 w 604"/>
                <a:gd name="T7" fmla="*/ 108 h 108"/>
                <a:gd name="T8" fmla="*/ 0 w 604"/>
                <a:gd name="T9" fmla="*/ 0 h 108"/>
                <a:gd name="T10" fmla="*/ 6 w 604"/>
                <a:gd name="T11" fmla="*/ 105 h 108"/>
                <a:gd name="T12" fmla="*/ 3 w 604"/>
                <a:gd name="T13" fmla="*/ 102 h 108"/>
                <a:gd name="T14" fmla="*/ 601 w 604"/>
                <a:gd name="T15" fmla="*/ 102 h 108"/>
                <a:gd name="T16" fmla="*/ 598 w 604"/>
                <a:gd name="T17" fmla="*/ 105 h 108"/>
                <a:gd name="T18" fmla="*/ 598 w 604"/>
                <a:gd name="T19" fmla="*/ 3 h 108"/>
                <a:gd name="T20" fmla="*/ 601 w 604"/>
                <a:gd name="T21" fmla="*/ 6 h 108"/>
                <a:gd name="T22" fmla="*/ 3 w 604"/>
                <a:gd name="T23" fmla="*/ 6 h 108"/>
                <a:gd name="T24" fmla="*/ 6 w 604"/>
                <a:gd name="T25" fmla="*/ 3 h 108"/>
                <a:gd name="T26" fmla="*/ 6 w 604"/>
                <a:gd name="T27" fmla="*/ 105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04" h="108">
                  <a:moveTo>
                    <a:pt x="0" y="0"/>
                  </a:moveTo>
                  <a:lnTo>
                    <a:pt x="604" y="0"/>
                  </a:lnTo>
                  <a:lnTo>
                    <a:pt x="604" y="108"/>
                  </a:lnTo>
                  <a:lnTo>
                    <a:pt x="0" y="108"/>
                  </a:lnTo>
                  <a:lnTo>
                    <a:pt x="0" y="0"/>
                  </a:lnTo>
                  <a:close/>
                  <a:moveTo>
                    <a:pt x="6" y="105"/>
                  </a:moveTo>
                  <a:lnTo>
                    <a:pt x="3" y="102"/>
                  </a:lnTo>
                  <a:lnTo>
                    <a:pt x="601" y="102"/>
                  </a:lnTo>
                  <a:lnTo>
                    <a:pt x="598" y="105"/>
                  </a:lnTo>
                  <a:lnTo>
                    <a:pt x="598" y="3"/>
                  </a:lnTo>
                  <a:lnTo>
                    <a:pt x="601" y="6"/>
                  </a:lnTo>
                  <a:lnTo>
                    <a:pt x="3" y="6"/>
                  </a:lnTo>
                  <a:lnTo>
                    <a:pt x="6" y="3"/>
                  </a:lnTo>
                  <a:lnTo>
                    <a:pt x="6" y="105"/>
                  </a:lnTo>
                  <a:close/>
                </a:path>
              </a:pathLst>
            </a:custGeom>
            <a:solidFill>
              <a:srgbClr val="FFFFFF"/>
            </a:solidFill>
            <a:ln w="0" cap="flat">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2" name="Rectangle 26"/>
            <p:cNvSpPr>
              <a:spLocks noChangeArrowheads="1"/>
            </p:cNvSpPr>
            <p:nvPr/>
          </p:nvSpPr>
          <p:spPr bwMode="auto">
            <a:xfrm>
              <a:off x="2170" y="2266"/>
              <a:ext cx="799"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dirty="0" smtClean="0">
                  <a:ln>
                    <a:noFill/>
                  </a:ln>
                  <a:solidFill>
                    <a:srgbClr val="000000"/>
                  </a:solidFill>
                  <a:effectLst/>
                  <a:latin typeface="Times New Roman" pitchFamily="18" charset="0"/>
                  <a:cs typeface="Times New Roman" pitchFamily="18" charset="0"/>
                </a:rPr>
                <a:t>Time duration</a:t>
              </a:r>
              <a:endParaRPr kumimoji="0" lang="en-US" sz="1600" b="1" i="0" u="none" strike="noStrike" cap="none" normalizeH="0" baseline="0" dirty="0" smtClean="0">
                <a:ln>
                  <a:noFill/>
                </a:ln>
                <a:solidFill>
                  <a:schemeClr val="tx1"/>
                </a:solidFill>
                <a:effectLst/>
                <a:latin typeface="Times New Roman" pitchFamily="18" charset="0"/>
                <a:cs typeface="Times New Roman" pitchFamily="18" charset="0"/>
              </a:endParaRPr>
            </a:p>
          </p:txBody>
        </p:sp>
        <p:sp>
          <p:nvSpPr>
            <p:cNvPr id="63" name="Rectangle 27"/>
            <p:cNvSpPr>
              <a:spLocks noChangeArrowheads="1"/>
            </p:cNvSpPr>
            <p:nvPr/>
          </p:nvSpPr>
          <p:spPr bwMode="auto">
            <a:xfrm>
              <a:off x="2731" y="2266"/>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64" name="Freeform 28"/>
            <p:cNvSpPr>
              <a:spLocks noEditPoints="1"/>
            </p:cNvSpPr>
            <p:nvPr/>
          </p:nvSpPr>
          <p:spPr bwMode="auto">
            <a:xfrm>
              <a:off x="988" y="2386"/>
              <a:ext cx="309" cy="48"/>
            </a:xfrm>
            <a:custGeom>
              <a:avLst/>
              <a:gdLst>
                <a:gd name="T0" fmla="*/ 0 w 309"/>
                <a:gd name="T1" fmla="*/ 20 h 48"/>
                <a:gd name="T2" fmla="*/ 268 w 309"/>
                <a:gd name="T3" fmla="*/ 20 h 48"/>
                <a:gd name="T4" fmla="*/ 268 w 309"/>
                <a:gd name="T5" fmla="*/ 28 h 48"/>
                <a:gd name="T6" fmla="*/ 0 w 309"/>
                <a:gd name="T7" fmla="*/ 28 h 48"/>
                <a:gd name="T8" fmla="*/ 0 w 309"/>
                <a:gd name="T9" fmla="*/ 20 h 48"/>
                <a:gd name="T10" fmla="*/ 259 w 309"/>
                <a:gd name="T11" fmla="*/ 0 h 48"/>
                <a:gd name="T12" fmla="*/ 309 w 309"/>
                <a:gd name="T13" fmla="*/ 24 h 48"/>
                <a:gd name="T14" fmla="*/ 259 w 309"/>
                <a:gd name="T15" fmla="*/ 48 h 48"/>
                <a:gd name="T16" fmla="*/ 259 w 309"/>
                <a:gd name="T17"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9" h="48">
                  <a:moveTo>
                    <a:pt x="0" y="20"/>
                  </a:moveTo>
                  <a:lnTo>
                    <a:pt x="268" y="20"/>
                  </a:lnTo>
                  <a:lnTo>
                    <a:pt x="268" y="28"/>
                  </a:lnTo>
                  <a:lnTo>
                    <a:pt x="0" y="28"/>
                  </a:lnTo>
                  <a:lnTo>
                    <a:pt x="0" y="20"/>
                  </a:lnTo>
                  <a:close/>
                  <a:moveTo>
                    <a:pt x="259" y="0"/>
                  </a:moveTo>
                  <a:lnTo>
                    <a:pt x="309" y="24"/>
                  </a:lnTo>
                  <a:lnTo>
                    <a:pt x="259" y="48"/>
                  </a:lnTo>
                  <a:lnTo>
                    <a:pt x="259"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5" name="Freeform 29"/>
            <p:cNvSpPr>
              <a:spLocks noEditPoints="1"/>
            </p:cNvSpPr>
            <p:nvPr/>
          </p:nvSpPr>
          <p:spPr bwMode="auto">
            <a:xfrm>
              <a:off x="3621" y="2387"/>
              <a:ext cx="289" cy="48"/>
            </a:xfrm>
            <a:custGeom>
              <a:avLst/>
              <a:gdLst>
                <a:gd name="T0" fmla="*/ 0 w 289"/>
                <a:gd name="T1" fmla="*/ 19 h 48"/>
                <a:gd name="T2" fmla="*/ 248 w 289"/>
                <a:gd name="T3" fmla="*/ 20 h 48"/>
                <a:gd name="T4" fmla="*/ 248 w 289"/>
                <a:gd name="T5" fmla="*/ 28 h 48"/>
                <a:gd name="T6" fmla="*/ 0 w 289"/>
                <a:gd name="T7" fmla="*/ 27 h 48"/>
                <a:gd name="T8" fmla="*/ 0 w 289"/>
                <a:gd name="T9" fmla="*/ 19 h 48"/>
                <a:gd name="T10" fmla="*/ 240 w 289"/>
                <a:gd name="T11" fmla="*/ 0 h 48"/>
                <a:gd name="T12" fmla="*/ 289 w 289"/>
                <a:gd name="T13" fmla="*/ 24 h 48"/>
                <a:gd name="T14" fmla="*/ 240 w 289"/>
                <a:gd name="T15" fmla="*/ 48 h 48"/>
                <a:gd name="T16" fmla="*/ 240 w 289"/>
                <a:gd name="T17"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9" h="48">
                  <a:moveTo>
                    <a:pt x="0" y="19"/>
                  </a:moveTo>
                  <a:lnTo>
                    <a:pt x="248" y="20"/>
                  </a:lnTo>
                  <a:lnTo>
                    <a:pt x="248" y="28"/>
                  </a:lnTo>
                  <a:lnTo>
                    <a:pt x="0" y="27"/>
                  </a:lnTo>
                  <a:lnTo>
                    <a:pt x="0" y="19"/>
                  </a:lnTo>
                  <a:close/>
                  <a:moveTo>
                    <a:pt x="240" y="0"/>
                  </a:moveTo>
                  <a:lnTo>
                    <a:pt x="289" y="24"/>
                  </a:lnTo>
                  <a:lnTo>
                    <a:pt x="240" y="48"/>
                  </a:lnTo>
                  <a:lnTo>
                    <a:pt x="240" y="0"/>
                  </a:lnTo>
                  <a:close/>
                </a:path>
              </a:pathLst>
            </a:custGeom>
            <a:solidFill>
              <a:srgbClr val="000000"/>
            </a:solidFill>
            <a:ln w="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6" name="Rectangle 30"/>
            <p:cNvSpPr>
              <a:spLocks noChangeArrowheads="1"/>
            </p:cNvSpPr>
            <p:nvPr/>
          </p:nvSpPr>
          <p:spPr bwMode="auto">
            <a:xfrm>
              <a:off x="1297" y="2155"/>
              <a:ext cx="616" cy="13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7" name="Freeform 31"/>
            <p:cNvSpPr>
              <a:spLocks noEditPoints="1"/>
            </p:cNvSpPr>
            <p:nvPr/>
          </p:nvSpPr>
          <p:spPr bwMode="auto">
            <a:xfrm>
              <a:off x="1294" y="2152"/>
              <a:ext cx="622" cy="136"/>
            </a:xfrm>
            <a:custGeom>
              <a:avLst/>
              <a:gdLst>
                <a:gd name="T0" fmla="*/ 0 w 622"/>
                <a:gd name="T1" fmla="*/ 0 h 136"/>
                <a:gd name="T2" fmla="*/ 622 w 622"/>
                <a:gd name="T3" fmla="*/ 0 h 136"/>
                <a:gd name="T4" fmla="*/ 622 w 622"/>
                <a:gd name="T5" fmla="*/ 136 h 136"/>
                <a:gd name="T6" fmla="*/ 0 w 622"/>
                <a:gd name="T7" fmla="*/ 136 h 136"/>
                <a:gd name="T8" fmla="*/ 0 w 622"/>
                <a:gd name="T9" fmla="*/ 0 h 136"/>
                <a:gd name="T10" fmla="*/ 6 w 622"/>
                <a:gd name="T11" fmla="*/ 133 h 136"/>
                <a:gd name="T12" fmla="*/ 3 w 622"/>
                <a:gd name="T13" fmla="*/ 130 h 136"/>
                <a:gd name="T14" fmla="*/ 619 w 622"/>
                <a:gd name="T15" fmla="*/ 130 h 136"/>
                <a:gd name="T16" fmla="*/ 616 w 622"/>
                <a:gd name="T17" fmla="*/ 133 h 136"/>
                <a:gd name="T18" fmla="*/ 616 w 622"/>
                <a:gd name="T19" fmla="*/ 3 h 136"/>
                <a:gd name="T20" fmla="*/ 619 w 622"/>
                <a:gd name="T21" fmla="*/ 6 h 136"/>
                <a:gd name="T22" fmla="*/ 3 w 622"/>
                <a:gd name="T23" fmla="*/ 6 h 136"/>
                <a:gd name="T24" fmla="*/ 6 w 622"/>
                <a:gd name="T25" fmla="*/ 3 h 136"/>
                <a:gd name="T26" fmla="*/ 6 w 622"/>
                <a:gd name="T27" fmla="*/ 133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22" h="136">
                  <a:moveTo>
                    <a:pt x="0" y="0"/>
                  </a:moveTo>
                  <a:lnTo>
                    <a:pt x="622" y="0"/>
                  </a:lnTo>
                  <a:lnTo>
                    <a:pt x="622" y="136"/>
                  </a:lnTo>
                  <a:lnTo>
                    <a:pt x="0" y="136"/>
                  </a:lnTo>
                  <a:lnTo>
                    <a:pt x="0" y="0"/>
                  </a:lnTo>
                  <a:close/>
                  <a:moveTo>
                    <a:pt x="6" y="133"/>
                  </a:moveTo>
                  <a:lnTo>
                    <a:pt x="3" y="130"/>
                  </a:lnTo>
                  <a:lnTo>
                    <a:pt x="619" y="130"/>
                  </a:lnTo>
                  <a:lnTo>
                    <a:pt x="616" y="133"/>
                  </a:lnTo>
                  <a:lnTo>
                    <a:pt x="616" y="3"/>
                  </a:lnTo>
                  <a:lnTo>
                    <a:pt x="619" y="6"/>
                  </a:lnTo>
                  <a:lnTo>
                    <a:pt x="3" y="6"/>
                  </a:lnTo>
                  <a:lnTo>
                    <a:pt x="6" y="3"/>
                  </a:lnTo>
                  <a:lnTo>
                    <a:pt x="6" y="133"/>
                  </a:lnTo>
                  <a:close/>
                </a:path>
              </a:pathLst>
            </a:custGeom>
            <a:solidFill>
              <a:srgbClr val="FFFFFF"/>
            </a:solidFill>
            <a:ln w="0" cap="flat">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68" name="Rectangle 32"/>
            <p:cNvSpPr>
              <a:spLocks noChangeArrowheads="1"/>
            </p:cNvSpPr>
            <p:nvPr/>
          </p:nvSpPr>
          <p:spPr bwMode="auto">
            <a:xfrm>
              <a:off x="1369" y="2160"/>
              <a:ext cx="659"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Predecessor</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69" name="Rectangle 33"/>
            <p:cNvSpPr>
              <a:spLocks noChangeArrowheads="1"/>
            </p:cNvSpPr>
            <p:nvPr/>
          </p:nvSpPr>
          <p:spPr bwMode="auto">
            <a:xfrm>
              <a:off x="1841" y="2160"/>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sp>
          <p:nvSpPr>
            <p:cNvPr id="70" name="Rectangle 34"/>
            <p:cNvSpPr>
              <a:spLocks noChangeArrowheads="1"/>
            </p:cNvSpPr>
            <p:nvPr/>
          </p:nvSpPr>
          <p:spPr bwMode="auto">
            <a:xfrm>
              <a:off x="3004" y="2155"/>
              <a:ext cx="617" cy="13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71" name="Freeform 35"/>
            <p:cNvSpPr>
              <a:spLocks noEditPoints="1"/>
            </p:cNvSpPr>
            <p:nvPr/>
          </p:nvSpPr>
          <p:spPr bwMode="auto">
            <a:xfrm>
              <a:off x="3001" y="2152"/>
              <a:ext cx="623" cy="136"/>
            </a:xfrm>
            <a:custGeom>
              <a:avLst/>
              <a:gdLst>
                <a:gd name="T0" fmla="*/ 0 w 623"/>
                <a:gd name="T1" fmla="*/ 0 h 136"/>
                <a:gd name="T2" fmla="*/ 623 w 623"/>
                <a:gd name="T3" fmla="*/ 0 h 136"/>
                <a:gd name="T4" fmla="*/ 623 w 623"/>
                <a:gd name="T5" fmla="*/ 136 h 136"/>
                <a:gd name="T6" fmla="*/ 0 w 623"/>
                <a:gd name="T7" fmla="*/ 136 h 136"/>
                <a:gd name="T8" fmla="*/ 0 w 623"/>
                <a:gd name="T9" fmla="*/ 0 h 136"/>
                <a:gd name="T10" fmla="*/ 7 w 623"/>
                <a:gd name="T11" fmla="*/ 133 h 136"/>
                <a:gd name="T12" fmla="*/ 3 w 623"/>
                <a:gd name="T13" fmla="*/ 130 h 136"/>
                <a:gd name="T14" fmla="*/ 620 w 623"/>
                <a:gd name="T15" fmla="*/ 130 h 136"/>
                <a:gd name="T16" fmla="*/ 617 w 623"/>
                <a:gd name="T17" fmla="*/ 133 h 136"/>
                <a:gd name="T18" fmla="*/ 617 w 623"/>
                <a:gd name="T19" fmla="*/ 3 h 136"/>
                <a:gd name="T20" fmla="*/ 620 w 623"/>
                <a:gd name="T21" fmla="*/ 6 h 136"/>
                <a:gd name="T22" fmla="*/ 3 w 623"/>
                <a:gd name="T23" fmla="*/ 6 h 136"/>
                <a:gd name="T24" fmla="*/ 7 w 623"/>
                <a:gd name="T25" fmla="*/ 3 h 136"/>
                <a:gd name="T26" fmla="*/ 7 w 623"/>
                <a:gd name="T27" fmla="*/ 133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23" h="136">
                  <a:moveTo>
                    <a:pt x="0" y="0"/>
                  </a:moveTo>
                  <a:lnTo>
                    <a:pt x="623" y="0"/>
                  </a:lnTo>
                  <a:lnTo>
                    <a:pt x="623" y="136"/>
                  </a:lnTo>
                  <a:lnTo>
                    <a:pt x="0" y="136"/>
                  </a:lnTo>
                  <a:lnTo>
                    <a:pt x="0" y="0"/>
                  </a:lnTo>
                  <a:close/>
                  <a:moveTo>
                    <a:pt x="7" y="133"/>
                  </a:moveTo>
                  <a:lnTo>
                    <a:pt x="3" y="130"/>
                  </a:lnTo>
                  <a:lnTo>
                    <a:pt x="620" y="130"/>
                  </a:lnTo>
                  <a:lnTo>
                    <a:pt x="617" y="133"/>
                  </a:lnTo>
                  <a:lnTo>
                    <a:pt x="617" y="3"/>
                  </a:lnTo>
                  <a:lnTo>
                    <a:pt x="620" y="6"/>
                  </a:lnTo>
                  <a:lnTo>
                    <a:pt x="3" y="6"/>
                  </a:lnTo>
                  <a:lnTo>
                    <a:pt x="7" y="3"/>
                  </a:lnTo>
                  <a:lnTo>
                    <a:pt x="7" y="133"/>
                  </a:lnTo>
                  <a:close/>
                </a:path>
              </a:pathLst>
            </a:custGeom>
            <a:solidFill>
              <a:srgbClr val="FFFFFF"/>
            </a:solidFill>
            <a:ln w="0" cap="flat">
              <a:solidFill>
                <a:srgbClr val="FFFFFF"/>
              </a:solidFill>
              <a:prstDash val="solid"/>
              <a:round/>
              <a:headEnd/>
              <a:tailEnd/>
            </a:ln>
          </p:spPr>
          <p:txBody>
            <a:bodyPr vert="horz" wrap="square" lIns="91440" tIns="45720" rIns="91440" bIns="45720" numCol="1" anchor="t" anchorCtr="0" compatLnSpc="1">
              <a:prstTxWarp prst="textNoShape">
                <a:avLst/>
              </a:prstTxWarp>
            </a:bodyPr>
            <a:lstStyle/>
            <a:p>
              <a:endParaRPr lang="en-IN" sz="1600" b="1">
                <a:latin typeface="Times New Roman" pitchFamily="18" charset="0"/>
                <a:cs typeface="Times New Roman" pitchFamily="18" charset="0"/>
              </a:endParaRPr>
            </a:p>
          </p:txBody>
        </p:sp>
        <p:sp>
          <p:nvSpPr>
            <p:cNvPr id="72" name="Rectangle 36"/>
            <p:cNvSpPr>
              <a:spLocks noChangeArrowheads="1"/>
            </p:cNvSpPr>
            <p:nvPr/>
          </p:nvSpPr>
          <p:spPr bwMode="auto">
            <a:xfrm>
              <a:off x="3116" y="2160"/>
              <a:ext cx="67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dirty="0" smtClean="0">
                  <a:ln>
                    <a:noFill/>
                  </a:ln>
                  <a:solidFill>
                    <a:srgbClr val="000000"/>
                  </a:solidFill>
                  <a:effectLst/>
                  <a:latin typeface="Times New Roman" pitchFamily="18" charset="0"/>
                  <a:cs typeface="Times New Roman" pitchFamily="18" charset="0"/>
                </a:rPr>
                <a:t>Successor</a:t>
              </a:r>
              <a:endParaRPr kumimoji="0" lang="en-US" sz="1600" b="1" i="0" u="none" strike="noStrike" cap="none" normalizeH="0" baseline="0" dirty="0" smtClean="0">
                <a:ln>
                  <a:noFill/>
                </a:ln>
                <a:solidFill>
                  <a:schemeClr val="tx1"/>
                </a:solidFill>
                <a:effectLst/>
                <a:latin typeface="Times New Roman" pitchFamily="18" charset="0"/>
                <a:cs typeface="Times New Roman" pitchFamily="18" charset="0"/>
              </a:endParaRPr>
            </a:p>
          </p:txBody>
        </p:sp>
        <p:sp>
          <p:nvSpPr>
            <p:cNvPr id="74" name="Rectangle 38"/>
            <p:cNvSpPr>
              <a:spLocks noChangeArrowheads="1"/>
            </p:cNvSpPr>
            <p:nvPr/>
          </p:nvSpPr>
          <p:spPr bwMode="auto">
            <a:xfrm>
              <a:off x="3511" y="2160"/>
              <a:ext cx="32" cy="1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p>
              <a:pPr marL="0" marR="0" lvl="0" indent="0" defTabSz="914400" rtl="0" eaLnBrk="1" fontAlgn="base" latinLnBrk="0" hangingPunct="1">
                <a:lnSpc>
                  <a:spcPct val="100000"/>
                </a:lnSpc>
                <a:spcBef>
                  <a:spcPct val="0"/>
                </a:spcBef>
                <a:spcAft>
                  <a:spcPct val="0"/>
                </a:spcAft>
                <a:buClrTx/>
                <a:buSzTx/>
                <a:buFontTx/>
                <a:buNone/>
                <a:tabLst/>
              </a:pPr>
              <a:r>
                <a:rPr kumimoji="0" lang="en-US" sz="1600" b="1" i="0" u="none" strike="noStrike" cap="none" normalizeH="0" baseline="0" smtClean="0">
                  <a:ln>
                    <a:noFill/>
                  </a:ln>
                  <a:solidFill>
                    <a:srgbClr val="000000"/>
                  </a:solidFill>
                  <a:effectLst/>
                  <a:latin typeface="Times New Roman" pitchFamily="18" charset="0"/>
                  <a:cs typeface="Times New Roman" pitchFamily="18" charset="0"/>
                </a:rPr>
                <a:t> </a:t>
              </a:r>
              <a:endParaRPr kumimoji="0" lang="en-US" sz="1600" b="1" i="0" u="none" strike="noStrike" cap="none" normalizeH="0" baseline="0" smtClean="0">
                <a:ln>
                  <a:noFill/>
                </a:ln>
                <a:solidFill>
                  <a:schemeClr val="tx1"/>
                </a:solidFill>
                <a:effectLst/>
                <a:latin typeface="Times New Roman" pitchFamily="18" charset="0"/>
                <a:cs typeface="Times New Roman" pitchFamily="18" charset="0"/>
              </a:endParaRPr>
            </a:p>
          </p:txBody>
        </p:sp>
      </p:grpSp>
      <p:sp>
        <p:nvSpPr>
          <p:cNvPr id="39" name="Slide Number Placeholder 38"/>
          <p:cNvSpPr>
            <a:spLocks noGrp="1"/>
          </p:cNvSpPr>
          <p:nvPr>
            <p:ph type="sldNum" sz="quarter" idx="12"/>
          </p:nvPr>
        </p:nvSpPr>
        <p:spPr/>
        <p:txBody>
          <a:bodyPr/>
          <a:lstStyle/>
          <a:p>
            <a:fld id="{0C087B72-CC60-4FF0-9C96-8509CDF76D05}" type="slidenum">
              <a:rPr lang="en-IN" smtClean="0"/>
              <a:pPr/>
              <a:t>89</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Scheduling and Milestones</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90</a:t>
            </a:fld>
            <a:endParaRPr lang="en-IN"/>
          </a:p>
        </p:txBody>
      </p:sp>
      <p:sp>
        <p:nvSpPr>
          <p:cNvPr id="5" name="Content Placeholder 2"/>
          <p:cNvSpPr>
            <a:spLocks noGrp="1"/>
          </p:cNvSpPr>
          <p:nvPr>
            <p:ph idx="1"/>
          </p:nvPr>
        </p:nvSpPr>
        <p:spPr/>
        <p:txBody>
          <a:bodyPr>
            <a:noAutofit/>
          </a:bodyPr>
          <a:lstStyle/>
          <a:p>
            <a:pPr marL="363538" lvl="1" indent="-363538" algn="just">
              <a:buFont typeface="Arial" pitchFamily="34" charset="0"/>
              <a:buChar char="•"/>
            </a:pPr>
            <a:r>
              <a:rPr lang="en-IN" sz="2400" dirty="0" smtClean="0">
                <a:latin typeface="Times New Roman" pitchFamily="18" charset="0"/>
                <a:cs typeface="Times New Roman" pitchFamily="18" charset="0"/>
              </a:rPr>
              <a:t>Based upon the details of WBS and the sequence of activities, an activity network diagram is drawn which shows the sequence of serial and parallel activities in the project. </a:t>
            </a:r>
          </a:p>
          <a:p>
            <a:pPr marL="363538" lvl="1" indent="-363538" algn="just">
              <a:buFont typeface="Arial" pitchFamily="34" charset="0"/>
              <a:buChar char="•"/>
            </a:pPr>
            <a:r>
              <a:rPr lang="en-IN" sz="2400" dirty="0" smtClean="0">
                <a:latin typeface="Times New Roman" pitchFamily="18" charset="0"/>
                <a:cs typeface="Times New Roman" pitchFamily="18" charset="0"/>
              </a:rPr>
              <a:t>There is no cycle in the activity network diagram.</a:t>
            </a:r>
          </a:p>
          <a:p>
            <a:pPr marL="363538" lvl="1" indent="-363538" algn="just">
              <a:buFont typeface="Arial" pitchFamily="34" charset="0"/>
              <a:buChar char="•"/>
            </a:pPr>
            <a:r>
              <a:rPr lang="en-IN" sz="2400" dirty="0" smtClean="0">
                <a:latin typeface="Times New Roman" pitchFamily="18" charset="0"/>
                <a:cs typeface="Times New Roman" pitchFamily="18" charset="0"/>
              </a:rPr>
              <a:t>The expected completion time in days is shown inside the nodes, along with the activities.	</a:t>
            </a: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duration of the project is equal to the longest path from the start to the finish node of the network.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A </a:t>
            </a:r>
            <a:r>
              <a:rPr lang="en-IN" sz="2400" i="1" dirty="0">
                <a:latin typeface="Times New Roman" pitchFamily="18" charset="0"/>
                <a:cs typeface="Times New Roman" pitchFamily="18" charset="0"/>
              </a:rPr>
              <a:t>path</a:t>
            </a:r>
            <a:r>
              <a:rPr lang="en-IN" sz="2400" dirty="0">
                <a:latin typeface="Times New Roman" pitchFamily="18" charset="0"/>
                <a:cs typeface="Times New Roman" pitchFamily="18" charset="0"/>
              </a:rPr>
              <a:t> in the network diagram is one of the routes following the arcs from the start to the finish node.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length of a path is the sum of the expected estimated durations of the activities on the path.</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grpSp>
        <p:nvGrpSpPr>
          <p:cNvPr id="5" name="Canvas 138"/>
          <p:cNvGrpSpPr/>
          <p:nvPr/>
        </p:nvGrpSpPr>
        <p:grpSpPr>
          <a:xfrm>
            <a:off x="1331640" y="2708920"/>
            <a:ext cx="6788703" cy="2952329"/>
            <a:chOff x="0" y="0"/>
            <a:chExt cx="5734050" cy="2438400"/>
          </a:xfrm>
        </p:grpSpPr>
        <p:sp>
          <p:nvSpPr>
            <p:cNvPr id="6" name="Rectangle 5"/>
            <p:cNvSpPr/>
            <p:nvPr/>
          </p:nvSpPr>
          <p:spPr>
            <a:xfrm>
              <a:off x="0" y="0"/>
              <a:ext cx="5734050" cy="2438400"/>
            </a:xfrm>
            <a:prstGeom prst="rect">
              <a:avLst/>
            </a:prstGeom>
            <a:noFill/>
          </p:spPr>
        </p:sp>
        <p:sp>
          <p:nvSpPr>
            <p:cNvPr id="7" name="Rectangle 6"/>
            <p:cNvSpPr>
              <a:spLocks noChangeArrowheads="1"/>
            </p:cNvSpPr>
            <p:nvPr/>
          </p:nvSpPr>
          <p:spPr bwMode="auto">
            <a:xfrm>
              <a:off x="2476555" y="1511924"/>
              <a:ext cx="796625" cy="424429"/>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Detailed   design, 18</a:t>
              </a:r>
            </a:p>
          </p:txBody>
        </p:sp>
        <p:sp>
          <p:nvSpPr>
            <p:cNvPr id="8" name="Rectangle 7"/>
            <p:cNvSpPr>
              <a:spLocks noChangeArrowheads="1"/>
            </p:cNvSpPr>
            <p:nvPr/>
          </p:nvSpPr>
          <p:spPr bwMode="auto">
            <a:xfrm>
              <a:off x="937789" y="871978"/>
              <a:ext cx="916325" cy="363324"/>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Architectural design, 10</a:t>
              </a:r>
            </a:p>
          </p:txBody>
        </p:sp>
        <p:sp>
          <p:nvSpPr>
            <p:cNvPr id="9" name="Rectangle 8"/>
            <p:cNvSpPr>
              <a:spLocks noChangeArrowheads="1"/>
            </p:cNvSpPr>
            <p:nvPr/>
          </p:nvSpPr>
          <p:spPr bwMode="auto">
            <a:xfrm>
              <a:off x="2476555" y="790230"/>
              <a:ext cx="796625" cy="393051"/>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dirty="0">
                  <a:effectLst/>
                  <a:latin typeface="Times New Roman" pitchFamily="18" charset="0"/>
                  <a:ea typeface="Times New Roman"/>
                  <a:cs typeface="Times New Roman" pitchFamily="18" charset="0"/>
                </a:rPr>
                <a:t>Database</a:t>
              </a:r>
            </a:p>
            <a:p>
              <a:pPr algn="ctr">
                <a:lnSpc>
                  <a:spcPct val="115000"/>
                </a:lnSpc>
                <a:spcAft>
                  <a:spcPts val="0"/>
                </a:spcAft>
              </a:pPr>
              <a:r>
                <a:rPr lang="en-IN" sz="1400" b="1" dirty="0">
                  <a:effectLst/>
                  <a:latin typeface="Times New Roman" pitchFamily="18" charset="0"/>
                  <a:ea typeface="Times New Roman"/>
                  <a:cs typeface="Times New Roman" pitchFamily="18" charset="0"/>
                </a:rPr>
                <a:t>design, 13</a:t>
              </a:r>
            </a:p>
          </p:txBody>
        </p:sp>
        <p:sp>
          <p:nvSpPr>
            <p:cNvPr id="10" name="Rectangle 9"/>
            <p:cNvSpPr>
              <a:spLocks noChangeArrowheads="1"/>
            </p:cNvSpPr>
            <p:nvPr/>
          </p:nvSpPr>
          <p:spPr bwMode="auto">
            <a:xfrm>
              <a:off x="3857647" y="344332"/>
              <a:ext cx="742966" cy="445898"/>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Output </a:t>
              </a:r>
            </a:p>
            <a:p>
              <a:pPr algn="ctr">
                <a:lnSpc>
                  <a:spcPct val="115000"/>
                </a:lnSpc>
                <a:spcAft>
                  <a:spcPts val="0"/>
                </a:spcAft>
              </a:pPr>
              <a:r>
                <a:rPr lang="en-IN" sz="1400" b="1">
                  <a:effectLst/>
                  <a:latin typeface="Times New Roman" pitchFamily="18" charset="0"/>
                  <a:ea typeface="Times New Roman"/>
                  <a:cs typeface="Times New Roman" pitchFamily="18" charset="0"/>
                </a:rPr>
                <a:t>design, 6</a:t>
              </a:r>
            </a:p>
          </p:txBody>
        </p:sp>
        <p:sp>
          <p:nvSpPr>
            <p:cNvPr id="11" name="Rectangle 10"/>
            <p:cNvSpPr>
              <a:spLocks noChangeArrowheads="1"/>
            </p:cNvSpPr>
            <p:nvPr/>
          </p:nvSpPr>
          <p:spPr bwMode="auto">
            <a:xfrm>
              <a:off x="2476555" y="78445"/>
              <a:ext cx="794974" cy="409565"/>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Input </a:t>
              </a:r>
            </a:p>
            <a:p>
              <a:pPr algn="ctr">
                <a:lnSpc>
                  <a:spcPct val="115000"/>
                </a:lnSpc>
                <a:spcAft>
                  <a:spcPts val="0"/>
                </a:spcAft>
              </a:pPr>
              <a:r>
                <a:rPr lang="en-IN" sz="1400" b="1">
                  <a:effectLst/>
                  <a:latin typeface="Times New Roman" pitchFamily="18" charset="0"/>
                  <a:ea typeface="Times New Roman"/>
                  <a:cs typeface="Times New Roman" pitchFamily="18" charset="0"/>
                </a:rPr>
                <a:t>design, 6</a:t>
              </a:r>
            </a:p>
          </p:txBody>
        </p:sp>
        <p:sp>
          <p:nvSpPr>
            <p:cNvPr id="12" name="Rectangle 11"/>
            <p:cNvSpPr>
              <a:spLocks noChangeArrowheads="1"/>
            </p:cNvSpPr>
            <p:nvPr/>
          </p:nvSpPr>
          <p:spPr bwMode="auto">
            <a:xfrm>
              <a:off x="5009245" y="871978"/>
              <a:ext cx="648857" cy="363324"/>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Finish, 0</a:t>
              </a:r>
            </a:p>
          </p:txBody>
        </p:sp>
        <p:cxnSp>
          <p:nvCxnSpPr>
            <p:cNvPr id="13" name="AutoShape 147"/>
            <p:cNvCxnSpPr>
              <a:cxnSpLocks noChangeShapeType="1"/>
              <a:stCxn id="8" idx="3"/>
              <a:endCxn id="11" idx="1"/>
            </p:cNvCxnSpPr>
            <p:nvPr/>
          </p:nvCxnSpPr>
          <p:spPr bwMode="auto">
            <a:xfrm flipV="1">
              <a:off x="1854114" y="284053"/>
              <a:ext cx="622441" cy="769586"/>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14" name="AutoShape 151"/>
            <p:cNvCxnSpPr>
              <a:cxnSpLocks noChangeShapeType="1"/>
              <a:stCxn id="11" idx="3"/>
              <a:endCxn id="10" idx="1"/>
            </p:cNvCxnSpPr>
            <p:nvPr/>
          </p:nvCxnSpPr>
          <p:spPr bwMode="auto">
            <a:xfrm>
              <a:off x="3271529" y="284053"/>
              <a:ext cx="586118" cy="28322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15" name="AutoShape 152"/>
            <p:cNvCxnSpPr>
              <a:cxnSpLocks noChangeShapeType="1"/>
              <a:stCxn id="8" idx="3"/>
              <a:endCxn id="9" idx="1"/>
            </p:cNvCxnSpPr>
            <p:nvPr/>
          </p:nvCxnSpPr>
          <p:spPr bwMode="auto">
            <a:xfrm flipV="1">
              <a:off x="1854114" y="986755"/>
              <a:ext cx="622441" cy="6688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16" name="AutoShape 153"/>
            <p:cNvCxnSpPr>
              <a:cxnSpLocks noChangeShapeType="1"/>
              <a:stCxn id="8" idx="3"/>
              <a:endCxn id="7" idx="1"/>
            </p:cNvCxnSpPr>
            <p:nvPr/>
          </p:nvCxnSpPr>
          <p:spPr bwMode="auto">
            <a:xfrm>
              <a:off x="1854114" y="1053640"/>
              <a:ext cx="622441" cy="67049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17" name="AutoShape 154"/>
            <p:cNvCxnSpPr>
              <a:cxnSpLocks noChangeShapeType="1"/>
              <a:stCxn id="7" idx="3"/>
              <a:endCxn id="12" idx="1"/>
            </p:cNvCxnSpPr>
            <p:nvPr/>
          </p:nvCxnSpPr>
          <p:spPr bwMode="auto">
            <a:xfrm flipV="1">
              <a:off x="3273180" y="1053640"/>
              <a:ext cx="1736065" cy="67049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18" name="AutoShape 155"/>
            <p:cNvCxnSpPr>
              <a:cxnSpLocks noChangeShapeType="1"/>
              <a:stCxn id="9" idx="3"/>
              <a:endCxn id="10" idx="1"/>
            </p:cNvCxnSpPr>
            <p:nvPr/>
          </p:nvCxnSpPr>
          <p:spPr bwMode="auto">
            <a:xfrm flipV="1">
              <a:off x="3273180" y="567281"/>
              <a:ext cx="584467" cy="419474"/>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19" name="Text Box 158"/>
            <p:cNvSpPr txBox="1">
              <a:spLocks noChangeArrowheads="1"/>
            </p:cNvSpPr>
            <p:nvPr/>
          </p:nvSpPr>
          <p:spPr bwMode="auto">
            <a:xfrm>
              <a:off x="937790" y="2133703"/>
              <a:ext cx="4220707" cy="228729"/>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gn="ctr">
                <a:lnSpc>
                  <a:spcPct val="115000"/>
                </a:lnSpc>
                <a:spcAft>
                  <a:spcPts val="1000"/>
                </a:spcAft>
              </a:pPr>
              <a:r>
                <a:rPr lang="en-IN" sz="2000" b="1" dirty="0">
                  <a:effectLst/>
                  <a:latin typeface="Times New Roman" pitchFamily="18" charset="0"/>
                  <a:ea typeface="Times New Roman"/>
                  <a:cs typeface="Times New Roman" pitchFamily="18" charset="0"/>
                </a:rPr>
                <a:t>Figure </a:t>
              </a:r>
              <a:r>
                <a:rPr lang="en-IN" sz="2000" b="1" dirty="0" smtClean="0">
                  <a:effectLst/>
                  <a:latin typeface="Times New Roman" pitchFamily="18" charset="0"/>
                  <a:ea typeface="Times New Roman"/>
                  <a:cs typeface="Times New Roman" pitchFamily="18" charset="0"/>
                </a:rPr>
                <a:t>5.5</a:t>
              </a:r>
              <a:r>
                <a:rPr lang="en-IN" sz="2000" b="1" dirty="0">
                  <a:effectLst/>
                  <a:latin typeface="Times New Roman" pitchFamily="18" charset="0"/>
                  <a:ea typeface="Times New Roman"/>
                  <a:cs typeface="Times New Roman" pitchFamily="18" charset="0"/>
                </a:rPr>
                <a:t>: Activity network diagram</a:t>
              </a:r>
            </a:p>
          </p:txBody>
        </p:sp>
        <p:cxnSp>
          <p:nvCxnSpPr>
            <p:cNvPr id="20" name="AutoShape 157"/>
            <p:cNvCxnSpPr>
              <a:cxnSpLocks noChangeShapeType="1"/>
            </p:cNvCxnSpPr>
            <p:nvPr/>
          </p:nvCxnSpPr>
          <p:spPr bwMode="auto">
            <a:xfrm>
              <a:off x="4600613" y="608568"/>
              <a:ext cx="408632" cy="445072"/>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21" name="Rectangle 20"/>
            <p:cNvSpPr>
              <a:spLocks noChangeArrowheads="1"/>
            </p:cNvSpPr>
            <p:nvPr/>
          </p:nvSpPr>
          <p:spPr bwMode="auto">
            <a:xfrm>
              <a:off x="56961" y="871152"/>
              <a:ext cx="648857" cy="364150"/>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Start, 0</a:t>
              </a:r>
            </a:p>
          </p:txBody>
        </p:sp>
        <p:cxnSp>
          <p:nvCxnSpPr>
            <p:cNvPr id="22" name="AutoShape 161"/>
            <p:cNvCxnSpPr>
              <a:cxnSpLocks noChangeShapeType="1"/>
              <a:stCxn id="21" idx="3"/>
              <a:endCxn id="8" idx="1"/>
            </p:cNvCxnSpPr>
            <p:nvPr/>
          </p:nvCxnSpPr>
          <p:spPr bwMode="auto">
            <a:xfrm>
              <a:off x="705818" y="1053640"/>
              <a:ext cx="231971" cy="826"/>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grpSp>
      <p:sp>
        <p:nvSpPr>
          <p:cNvPr id="4" name="Rectangle 3"/>
          <p:cNvSpPr/>
          <p:nvPr/>
        </p:nvSpPr>
        <p:spPr>
          <a:xfrm>
            <a:off x="755576" y="1628800"/>
            <a:ext cx="4733027" cy="387798"/>
          </a:xfrm>
          <a:prstGeom prst="rect">
            <a:avLst/>
          </a:prstGeom>
        </p:spPr>
        <p:txBody>
          <a:bodyPr wrap="none">
            <a:spAutoFit/>
          </a:bodyPr>
          <a:lstStyle/>
          <a:p>
            <a:pPr>
              <a:lnSpc>
                <a:spcPct val="80000"/>
              </a:lnSpc>
            </a:pPr>
            <a:r>
              <a:rPr lang="en-IN" sz="2400" dirty="0" smtClean="0">
                <a:solidFill>
                  <a:srgbClr val="00B0F0"/>
                </a:solidFill>
                <a:latin typeface="Times New Roman" pitchFamily="18" charset="0"/>
                <a:ea typeface="Times New Roman"/>
                <a:cs typeface="Times New Roman" pitchFamily="18" charset="0"/>
              </a:rPr>
              <a:t>Example: Activity network diagram</a:t>
            </a:r>
            <a:endParaRPr lang="en-IN" sz="2400" dirty="0">
              <a:solidFill>
                <a:srgbClr val="00B0F0"/>
              </a:solidFill>
              <a:latin typeface="Times New Roman" pitchFamily="18" charset="0"/>
              <a:cs typeface="Times New Roman" pitchFamily="18" charset="0"/>
            </a:endParaRPr>
          </a:p>
        </p:txBody>
      </p:sp>
      <p:sp>
        <p:nvSpPr>
          <p:cNvPr id="23" name="Slide Number Placeholder 22"/>
          <p:cNvSpPr>
            <a:spLocks noGrp="1"/>
          </p:cNvSpPr>
          <p:nvPr>
            <p:ph type="sldNum" sz="quarter" idx="12"/>
          </p:nvPr>
        </p:nvSpPr>
        <p:spPr/>
        <p:txBody>
          <a:bodyPr/>
          <a:lstStyle/>
          <a:p>
            <a:fld id="{0C087B72-CC60-4FF0-9C96-8509CDF76D05}" type="slidenum">
              <a:rPr lang="en-IN" smtClean="0"/>
              <a:pPr/>
              <a:t>91</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116632"/>
            <a:ext cx="8229600" cy="1143000"/>
          </a:xfrm>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412776"/>
            <a:ext cx="8229600" cy="5184576"/>
          </a:xfrm>
        </p:spPr>
        <p:txBody>
          <a:bodyPr>
            <a:normAutofit fontScale="92500" lnSpcReduction="20000"/>
          </a:bodyPr>
          <a:lstStyle/>
          <a:p>
            <a:pPr marL="0" indent="0" algn="just">
              <a:buNone/>
            </a:pPr>
            <a:r>
              <a:rPr lang="en-IN" sz="2600" dirty="0">
                <a:solidFill>
                  <a:srgbClr val="00B0F0"/>
                </a:solidFill>
                <a:latin typeface="Times New Roman" pitchFamily="18" charset="0"/>
                <a:cs typeface="Times New Roman" pitchFamily="18" charset="0"/>
              </a:rPr>
              <a:t>PERT-CPM Method</a:t>
            </a:r>
          </a:p>
          <a:p>
            <a:pPr algn="just"/>
            <a:r>
              <a:rPr lang="en-IN" sz="2400" dirty="0" smtClean="0">
                <a:latin typeface="Times New Roman" pitchFamily="18" charset="0"/>
                <a:cs typeface="Times New Roman" pitchFamily="18" charset="0"/>
              </a:rPr>
              <a:t>The duration </a:t>
            </a:r>
            <a:r>
              <a:rPr lang="en-IN" sz="2400" dirty="0">
                <a:latin typeface="Times New Roman" pitchFamily="18" charset="0"/>
                <a:cs typeface="Times New Roman" pitchFamily="18" charset="0"/>
              </a:rPr>
              <a:t>of the project must be at least the length of the longest path</a:t>
            </a:r>
            <a:r>
              <a:rPr lang="en-IN" sz="2400" dirty="0" smtClean="0">
                <a:latin typeface="Times New Roman" pitchFamily="18" charset="0"/>
                <a:cs typeface="Times New Roman" pitchFamily="18" charset="0"/>
              </a:rPr>
              <a:t>.</a:t>
            </a:r>
          </a:p>
          <a:p>
            <a:pPr algn="just"/>
            <a:r>
              <a:rPr lang="en-IN" sz="2400" dirty="0">
                <a:latin typeface="Times New Roman" pitchFamily="18" charset="0"/>
                <a:cs typeface="Times New Roman" pitchFamily="18" charset="0"/>
              </a:rPr>
              <a:t>Thus, the estimated project duration equals the length of the longest path through the project network. </a:t>
            </a:r>
            <a:endParaRPr lang="en-IN" sz="2400" dirty="0" smtClean="0">
              <a:latin typeface="Times New Roman" pitchFamily="18" charset="0"/>
              <a:cs typeface="Times New Roman" pitchFamily="18" charset="0"/>
            </a:endParaRPr>
          </a:p>
          <a:p>
            <a:pPr algn="just"/>
            <a:r>
              <a:rPr lang="en-IN" sz="2400" i="1" dirty="0" smtClean="0">
                <a:latin typeface="Times New Roman" pitchFamily="18" charset="0"/>
                <a:cs typeface="Times New Roman" pitchFamily="18" charset="0"/>
              </a:rPr>
              <a:t>This </a:t>
            </a:r>
            <a:r>
              <a:rPr lang="en-IN" sz="2400" i="1" dirty="0">
                <a:latin typeface="Times New Roman" pitchFamily="18" charset="0"/>
                <a:cs typeface="Times New Roman" pitchFamily="18" charset="0"/>
              </a:rPr>
              <a:t>longest path is called the critical path.  </a:t>
            </a:r>
          </a:p>
          <a:p>
            <a:pPr algn="just"/>
            <a:r>
              <a:rPr lang="en-IN" sz="2400" dirty="0">
                <a:latin typeface="Times New Roman" pitchFamily="18" charset="0"/>
                <a:cs typeface="Times New Roman" pitchFamily="18" charset="0"/>
              </a:rPr>
              <a:t>For larger projects, it may be helpful to determine the following values for each activity:  </a:t>
            </a:r>
          </a:p>
          <a:p>
            <a:pPr lvl="1" algn="just"/>
            <a:r>
              <a:rPr lang="en-IN" sz="2400" i="1" dirty="0">
                <a:latin typeface="Times New Roman" pitchFamily="18" charset="0"/>
                <a:cs typeface="Times New Roman" pitchFamily="18" charset="0"/>
              </a:rPr>
              <a:t>Earliest Start time </a:t>
            </a:r>
            <a:r>
              <a:rPr lang="en-IN" sz="2400" dirty="0">
                <a:latin typeface="Times New Roman" pitchFamily="18" charset="0"/>
                <a:cs typeface="Times New Roman" pitchFamily="18" charset="0"/>
              </a:rPr>
              <a:t>(T</a:t>
            </a:r>
            <a:r>
              <a:rPr lang="en-IN" sz="1500" dirty="0">
                <a:latin typeface="Times New Roman" pitchFamily="18" charset="0"/>
                <a:cs typeface="Times New Roman" pitchFamily="18" charset="0"/>
              </a:rPr>
              <a:t>ES</a:t>
            </a:r>
            <a:r>
              <a:rPr lang="en-IN" sz="2400" dirty="0">
                <a:latin typeface="Times New Roman" pitchFamily="18" charset="0"/>
                <a:cs typeface="Times New Roman" pitchFamily="18" charset="0"/>
              </a:rPr>
              <a:t>): It is the earliest time an activity may begin after allowing the preceding activities to finish. Earliest start time (T</a:t>
            </a:r>
            <a:r>
              <a:rPr lang="en-IN" sz="1500" dirty="0">
                <a:latin typeface="Times New Roman" pitchFamily="18" charset="0"/>
                <a:cs typeface="Times New Roman" pitchFamily="18" charset="0"/>
              </a:rPr>
              <a:t>ES</a:t>
            </a:r>
            <a:r>
              <a:rPr lang="en-IN" sz="2400" dirty="0">
                <a:latin typeface="Times New Roman" pitchFamily="18" charset="0"/>
                <a:cs typeface="Times New Roman" pitchFamily="18" charset="0"/>
              </a:rPr>
              <a:t>) = max (T</a:t>
            </a:r>
            <a:r>
              <a:rPr lang="en-IN" sz="1500" dirty="0">
                <a:latin typeface="Times New Roman" pitchFamily="18" charset="0"/>
                <a:cs typeface="Times New Roman" pitchFamily="18" charset="0"/>
              </a:rPr>
              <a:t>EF</a:t>
            </a:r>
            <a:r>
              <a:rPr lang="en-IN" sz="2400" dirty="0">
                <a:latin typeface="Times New Roman" pitchFamily="18" charset="0"/>
                <a:cs typeface="Times New Roman" pitchFamily="18" charset="0"/>
              </a:rPr>
              <a:t> of immediate predecessors). </a:t>
            </a:r>
          </a:p>
          <a:p>
            <a:pPr lvl="1" algn="just"/>
            <a:r>
              <a:rPr lang="en-IN" sz="2400" i="1" dirty="0">
                <a:latin typeface="Times New Roman" pitchFamily="18" charset="0"/>
                <a:cs typeface="Times New Roman" pitchFamily="18" charset="0"/>
              </a:rPr>
              <a:t>Earliest Finish time </a:t>
            </a:r>
            <a:r>
              <a:rPr lang="en-IN" sz="2400" dirty="0">
                <a:latin typeface="Times New Roman" pitchFamily="18" charset="0"/>
                <a:cs typeface="Times New Roman" pitchFamily="18" charset="0"/>
              </a:rPr>
              <a:t>(T</a:t>
            </a:r>
            <a:r>
              <a:rPr lang="en-IN" sz="1500" dirty="0">
                <a:latin typeface="Times New Roman" pitchFamily="18" charset="0"/>
                <a:cs typeface="Times New Roman" pitchFamily="18" charset="0"/>
              </a:rPr>
              <a:t>EF</a:t>
            </a:r>
            <a:r>
              <a:rPr lang="en-IN" sz="2400" dirty="0">
                <a:latin typeface="Times New Roman" pitchFamily="18" charset="0"/>
                <a:cs typeface="Times New Roman" pitchFamily="18" charset="0"/>
              </a:rPr>
              <a:t>): It is the earliest time an activity may finish after allowing the preceding activities to finish. Earliest finish time (T</a:t>
            </a:r>
            <a:r>
              <a:rPr lang="en-IN" sz="1500" dirty="0">
                <a:latin typeface="Times New Roman" pitchFamily="18" charset="0"/>
                <a:cs typeface="Times New Roman" pitchFamily="18" charset="0"/>
              </a:rPr>
              <a:t>EF</a:t>
            </a:r>
            <a:r>
              <a:rPr lang="en-IN" sz="2400" dirty="0">
                <a:latin typeface="Times New Roman" pitchFamily="18" charset="0"/>
                <a:cs typeface="Times New Roman" pitchFamily="18" charset="0"/>
              </a:rPr>
              <a:t>) = T</a:t>
            </a:r>
            <a:r>
              <a:rPr lang="en-IN" sz="1500" dirty="0">
                <a:latin typeface="Times New Roman" pitchFamily="18" charset="0"/>
                <a:cs typeface="Times New Roman" pitchFamily="18" charset="0"/>
              </a:rPr>
              <a:t>ES</a:t>
            </a:r>
            <a:r>
              <a:rPr lang="en-IN" sz="2400" dirty="0">
                <a:latin typeface="Times New Roman" pitchFamily="18" charset="0"/>
                <a:cs typeface="Times New Roman" pitchFamily="18" charset="0"/>
              </a:rPr>
              <a:t> + Activity duration</a:t>
            </a:r>
            <a:r>
              <a:rPr lang="en-IN" sz="2400" dirty="0" smtClean="0">
                <a:latin typeface="Times New Roman" pitchFamily="18" charset="0"/>
                <a:cs typeface="Times New Roman" pitchFamily="18" charset="0"/>
              </a:rPr>
              <a:t>.</a:t>
            </a:r>
          </a:p>
          <a:p>
            <a:pPr marL="363538" lvl="1" indent="-363538" algn="just">
              <a:buFont typeface="Arial" pitchFamily="34" charset="0"/>
              <a:buChar char="•"/>
            </a:pP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ES</a:t>
            </a:r>
            <a:r>
              <a:rPr lang="en-IN" sz="2400" dirty="0">
                <a:latin typeface="Times New Roman" pitchFamily="18" charset="0"/>
                <a:cs typeface="Times New Roman" pitchFamily="18" charset="0"/>
              </a:rPr>
              <a:t> and </a:t>
            </a: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EF</a:t>
            </a:r>
            <a:r>
              <a:rPr lang="en-IN" sz="2400" dirty="0">
                <a:latin typeface="Times New Roman" pitchFamily="18" charset="0"/>
                <a:cs typeface="Times New Roman" pitchFamily="18" charset="0"/>
              </a:rPr>
              <a:t> are calculated in the </a:t>
            </a:r>
            <a:r>
              <a:rPr lang="en-IN" sz="2400" i="1" dirty="0">
                <a:latin typeface="Times New Roman" pitchFamily="18" charset="0"/>
                <a:cs typeface="Times New Roman" pitchFamily="18" charset="0"/>
              </a:rPr>
              <a:t>forward pass</a:t>
            </a:r>
            <a:r>
              <a:rPr lang="en-IN" sz="2400" dirty="0">
                <a:latin typeface="Times New Roman" pitchFamily="18" charset="0"/>
                <a:cs typeface="Times New Roman" pitchFamily="18" charset="0"/>
              </a:rPr>
              <a:t> through the network </a:t>
            </a:r>
            <a:r>
              <a:rPr lang="en-IN" sz="2400" dirty="0" smtClean="0">
                <a:latin typeface="Times New Roman" pitchFamily="18" charset="0"/>
                <a:cs typeface="Times New Roman" pitchFamily="18" charset="0"/>
              </a:rPr>
              <a:t>diagram.</a:t>
            </a:r>
            <a:endParaRPr lang="en-IN" sz="24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92</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600200"/>
            <a:ext cx="8229600" cy="5069160"/>
          </a:xfrm>
        </p:spPr>
        <p:txBody>
          <a:bodyPr>
            <a:normAutofit fontScale="77500" lnSpcReduction="20000"/>
          </a:bodyPr>
          <a:lstStyle/>
          <a:p>
            <a:pPr marL="0" indent="0" algn="just">
              <a:buNone/>
            </a:pPr>
            <a:r>
              <a:rPr lang="en-IN" sz="3400" dirty="0">
                <a:solidFill>
                  <a:srgbClr val="00B0F0"/>
                </a:solidFill>
                <a:latin typeface="Times New Roman" pitchFamily="18" charset="0"/>
                <a:cs typeface="Times New Roman" pitchFamily="18" charset="0"/>
              </a:rPr>
              <a:t>PERT-CPM Method</a:t>
            </a:r>
          </a:p>
          <a:p>
            <a:pPr algn="just"/>
            <a:r>
              <a:rPr lang="en-IN" sz="2600" dirty="0" smtClean="0">
                <a:latin typeface="Times New Roman" pitchFamily="18" charset="0"/>
                <a:cs typeface="Times New Roman" pitchFamily="18" charset="0"/>
              </a:rPr>
              <a:t>Sometimes </a:t>
            </a:r>
            <a:r>
              <a:rPr lang="en-IN" sz="2600" dirty="0">
                <a:latin typeface="Times New Roman" pitchFamily="18" charset="0"/>
                <a:cs typeface="Times New Roman" pitchFamily="18" charset="0"/>
              </a:rPr>
              <a:t>activities take longer than the expected time duration that may delay project completion. </a:t>
            </a:r>
            <a:endParaRPr lang="en-IN" sz="2600" dirty="0" smtClean="0">
              <a:latin typeface="Times New Roman" pitchFamily="18" charset="0"/>
              <a:cs typeface="Times New Roman" pitchFamily="18" charset="0"/>
            </a:endParaRPr>
          </a:p>
          <a:p>
            <a:pPr algn="just"/>
            <a:r>
              <a:rPr lang="en-IN" sz="2600" dirty="0" smtClean="0">
                <a:latin typeface="Times New Roman" pitchFamily="18" charset="0"/>
                <a:cs typeface="Times New Roman" pitchFamily="18" charset="0"/>
              </a:rPr>
              <a:t>So</a:t>
            </a:r>
            <a:r>
              <a:rPr lang="en-IN" sz="2600" dirty="0">
                <a:latin typeface="Times New Roman" pitchFamily="18" charset="0"/>
                <a:cs typeface="Times New Roman" pitchFamily="18" charset="0"/>
              </a:rPr>
              <a:t>, </a:t>
            </a:r>
            <a:r>
              <a:rPr lang="en-IN" sz="2600" dirty="0" smtClean="0">
                <a:latin typeface="Times New Roman" pitchFamily="18" charset="0"/>
                <a:cs typeface="Times New Roman" pitchFamily="18" charset="0"/>
              </a:rPr>
              <a:t>to determine </a:t>
            </a:r>
            <a:r>
              <a:rPr lang="en-IN" sz="2600" dirty="0">
                <a:latin typeface="Times New Roman" pitchFamily="18" charset="0"/>
                <a:cs typeface="Times New Roman" pitchFamily="18" charset="0"/>
              </a:rPr>
              <a:t>how much late an activity can start or finish without delaying project </a:t>
            </a:r>
            <a:r>
              <a:rPr lang="en-IN" sz="2600" dirty="0" smtClean="0">
                <a:latin typeface="Times New Roman" pitchFamily="18" charset="0"/>
                <a:cs typeface="Times New Roman" pitchFamily="18" charset="0"/>
              </a:rPr>
              <a:t>completion as: </a:t>
            </a:r>
            <a:r>
              <a:rPr lang="en-IN" sz="2600" dirty="0">
                <a:latin typeface="Times New Roman" pitchFamily="18" charset="0"/>
                <a:cs typeface="Times New Roman" pitchFamily="18" charset="0"/>
              </a:rPr>
              <a:t> </a:t>
            </a:r>
          </a:p>
          <a:p>
            <a:pPr lvl="1" algn="just"/>
            <a:r>
              <a:rPr lang="en-IN" sz="2600" i="1" dirty="0">
                <a:latin typeface="Times New Roman" pitchFamily="18" charset="0"/>
                <a:cs typeface="Times New Roman" pitchFamily="18" charset="0"/>
              </a:rPr>
              <a:t>Latest Start time (T</a:t>
            </a:r>
            <a:r>
              <a:rPr lang="en-IN" sz="2600" i="1" baseline="-25000" dirty="0">
                <a:latin typeface="Times New Roman" pitchFamily="18" charset="0"/>
                <a:cs typeface="Times New Roman" pitchFamily="18" charset="0"/>
              </a:rPr>
              <a:t>LS</a:t>
            </a:r>
            <a:r>
              <a:rPr lang="en-IN" sz="2600" i="1" dirty="0">
                <a:latin typeface="Times New Roman" pitchFamily="18" charset="0"/>
                <a:cs typeface="Times New Roman" pitchFamily="18" charset="0"/>
              </a:rPr>
              <a:t>)</a:t>
            </a:r>
            <a:r>
              <a:rPr lang="en-IN" sz="2600" dirty="0">
                <a:latin typeface="Times New Roman" pitchFamily="18" charset="0"/>
                <a:cs typeface="Times New Roman" pitchFamily="18" charset="0"/>
              </a:rPr>
              <a:t>:  It is the latest time an activity may begin without delaying project completion. Latest start time </a:t>
            </a:r>
            <a:r>
              <a:rPr lang="en-IN" sz="2600" i="1" dirty="0">
                <a:latin typeface="Times New Roman" pitchFamily="18" charset="0"/>
                <a:cs typeface="Times New Roman" pitchFamily="18" charset="0"/>
              </a:rPr>
              <a:t>(T</a:t>
            </a:r>
            <a:r>
              <a:rPr lang="en-IN" sz="2600" i="1" baseline="-25000" dirty="0">
                <a:latin typeface="Times New Roman" pitchFamily="18" charset="0"/>
                <a:cs typeface="Times New Roman" pitchFamily="18" charset="0"/>
              </a:rPr>
              <a:t>LS</a:t>
            </a:r>
            <a:r>
              <a:rPr lang="en-IN" sz="2600" i="1" dirty="0">
                <a:latin typeface="Times New Roman" pitchFamily="18" charset="0"/>
                <a:cs typeface="Times New Roman" pitchFamily="18" charset="0"/>
              </a:rPr>
              <a:t>)</a:t>
            </a:r>
            <a:r>
              <a:rPr lang="en-IN" sz="2600" dirty="0">
                <a:latin typeface="Times New Roman" pitchFamily="18" charset="0"/>
                <a:cs typeface="Times New Roman" pitchFamily="18" charset="0"/>
              </a:rPr>
              <a:t> = </a:t>
            </a:r>
            <a:r>
              <a:rPr lang="en-IN" sz="2600" i="1" dirty="0">
                <a:latin typeface="Times New Roman" pitchFamily="18" charset="0"/>
                <a:cs typeface="Times New Roman" pitchFamily="18" charset="0"/>
              </a:rPr>
              <a:t>T</a:t>
            </a:r>
            <a:r>
              <a:rPr lang="en-IN" sz="2600" i="1" baseline="-25000" dirty="0">
                <a:latin typeface="Times New Roman" pitchFamily="18" charset="0"/>
                <a:cs typeface="Times New Roman" pitchFamily="18" charset="0"/>
              </a:rPr>
              <a:t>LF</a:t>
            </a:r>
            <a:r>
              <a:rPr lang="en-IN" sz="2600" baseline="-25000" dirty="0">
                <a:latin typeface="Times New Roman" pitchFamily="18" charset="0"/>
                <a:cs typeface="Times New Roman" pitchFamily="18" charset="0"/>
              </a:rPr>
              <a:t>  </a:t>
            </a:r>
            <a:r>
              <a:rPr lang="en-IN" sz="2600" dirty="0">
                <a:latin typeface="Times New Roman" pitchFamily="18" charset="0"/>
                <a:cs typeface="Times New Roman" pitchFamily="18" charset="0"/>
              </a:rPr>
              <a:t>- Activity </a:t>
            </a:r>
            <a:r>
              <a:rPr lang="en-IN" sz="2600" dirty="0" smtClean="0">
                <a:latin typeface="Times New Roman" pitchFamily="18" charset="0"/>
                <a:cs typeface="Times New Roman" pitchFamily="18" charset="0"/>
              </a:rPr>
              <a:t>duration.</a:t>
            </a:r>
            <a:r>
              <a:rPr lang="en-IN" sz="2600" dirty="0">
                <a:latin typeface="Times New Roman" pitchFamily="18" charset="0"/>
                <a:cs typeface="Times New Roman" pitchFamily="18" charset="0"/>
              </a:rPr>
              <a:t> </a:t>
            </a:r>
          </a:p>
          <a:p>
            <a:pPr lvl="1" algn="just"/>
            <a:r>
              <a:rPr lang="en-IN" sz="2600" i="1" dirty="0">
                <a:latin typeface="Times New Roman" pitchFamily="18" charset="0"/>
                <a:cs typeface="Times New Roman" pitchFamily="18" charset="0"/>
              </a:rPr>
              <a:t>Latest Finish time (T</a:t>
            </a:r>
            <a:r>
              <a:rPr lang="en-IN" sz="2600" i="1" baseline="-25000" dirty="0">
                <a:latin typeface="Times New Roman" pitchFamily="18" charset="0"/>
                <a:cs typeface="Times New Roman" pitchFamily="18" charset="0"/>
              </a:rPr>
              <a:t>LF</a:t>
            </a:r>
            <a:r>
              <a:rPr lang="en-IN" sz="2600" i="1" dirty="0">
                <a:latin typeface="Times New Roman" pitchFamily="18" charset="0"/>
                <a:cs typeface="Times New Roman" pitchFamily="18" charset="0"/>
              </a:rPr>
              <a:t>)</a:t>
            </a:r>
            <a:r>
              <a:rPr lang="en-IN" sz="2600" dirty="0">
                <a:latin typeface="Times New Roman" pitchFamily="18" charset="0"/>
                <a:cs typeface="Times New Roman" pitchFamily="18" charset="0"/>
              </a:rPr>
              <a:t>: It is the latest time an activity may finish without delaying project completion. Latest finish time = </a:t>
            </a:r>
            <a:r>
              <a:rPr lang="en-IN" sz="2600" i="1" dirty="0">
                <a:latin typeface="Times New Roman" pitchFamily="18" charset="0"/>
                <a:cs typeface="Times New Roman" pitchFamily="18" charset="0"/>
              </a:rPr>
              <a:t>T</a:t>
            </a:r>
            <a:r>
              <a:rPr lang="en-IN" sz="2600" i="1" baseline="-25000" dirty="0">
                <a:latin typeface="Times New Roman" pitchFamily="18" charset="0"/>
                <a:cs typeface="Times New Roman" pitchFamily="18" charset="0"/>
              </a:rPr>
              <a:t>LF</a:t>
            </a:r>
            <a:r>
              <a:rPr lang="en-IN" sz="2600" dirty="0">
                <a:latin typeface="Times New Roman" pitchFamily="18" charset="0"/>
                <a:cs typeface="Times New Roman" pitchFamily="18" charset="0"/>
              </a:rPr>
              <a:t> = min (</a:t>
            </a:r>
            <a:r>
              <a:rPr lang="en-IN" sz="2600" i="1" dirty="0">
                <a:latin typeface="Times New Roman" pitchFamily="18" charset="0"/>
                <a:cs typeface="Times New Roman" pitchFamily="18" charset="0"/>
              </a:rPr>
              <a:t>T</a:t>
            </a:r>
            <a:r>
              <a:rPr lang="en-IN" sz="2600" i="1" baseline="-25000" dirty="0">
                <a:latin typeface="Times New Roman" pitchFamily="18" charset="0"/>
                <a:cs typeface="Times New Roman" pitchFamily="18" charset="0"/>
              </a:rPr>
              <a:t>LS</a:t>
            </a:r>
            <a:r>
              <a:rPr lang="en-IN" sz="2600" dirty="0">
                <a:latin typeface="Times New Roman" pitchFamily="18" charset="0"/>
                <a:cs typeface="Times New Roman" pitchFamily="18" charset="0"/>
              </a:rPr>
              <a:t> of immediate successors</a:t>
            </a:r>
            <a:r>
              <a:rPr lang="en-IN" sz="2600" dirty="0" smtClean="0">
                <a:latin typeface="Times New Roman" pitchFamily="18" charset="0"/>
                <a:cs typeface="Times New Roman" pitchFamily="18" charset="0"/>
              </a:rPr>
              <a:t>).</a:t>
            </a:r>
          </a:p>
          <a:p>
            <a:pPr lvl="1" algn="just"/>
            <a:r>
              <a:rPr lang="en-IN" sz="2600" i="1" dirty="0">
                <a:latin typeface="Times New Roman" pitchFamily="18" charset="0"/>
                <a:cs typeface="Times New Roman" pitchFamily="18" charset="0"/>
              </a:rPr>
              <a:t>Slack time (TS</a:t>
            </a:r>
            <a:r>
              <a:rPr lang="en-IN" sz="2600" i="1" dirty="0" smtClean="0">
                <a:latin typeface="Times New Roman" pitchFamily="18" charset="0"/>
                <a:cs typeface="Times New Roman" pitchFamily="18" charset="0"/>
              </a:rPr>
              <a:t>)</a:t>
            </a:r>
            <a:r>
              <a:rPr lang="en-IN" sz="2600" dirty="0" smtClean="0">
                <a:latin typeface="Times New Roman" pitchFamily="18" charset="0"/>
                <a:cs typeface="Times New Roman" pitchFamily="18" charset="0"/>
              </a:rPr>
              <a:t>:</a:t>
            </a:r>
            <a:r>
              <a:rPr lang="en-IN" sz="2600" i="1" dirty="0" smtClean="0">
                <a:latin typeface="Times New Roman" pitchFamily="18" charset="0"/>
                <a:cs typeface="Times New Roman" pitchFamily="18" charset="0"/>
              </a:rPr>
              <a:t> </a:t>
            </a:r>
            <a:r>
              <a:rPr lang="en-IN" sz="2600" dirty="0">
                <a:latin typeface="Times New Roman" pitchFamily="18" charset="0"/>
                <a:cs typeface="Times New Roman" pitchFamily="18" charset="0"/>
              </a:rPr>
              <a:t>The slack time for an activity is the difference between its latest finish time and its earliest finish time. Slack time (TS) = T</a:t>
            </a:r>
            <a:r>
              <a:rPr lang="en-IN" sz="1500" dirty="0">
                <a:latin typeface="Times New Roman" pitchFamily="18" charset="0"/>
                <a:cs typeface="Times New Roman" pitchFamily="18" charset="0"/>
              </a:rPr>
              <a:t>LF</a:t>
            </a:r>
            <a:r>
              <a:rPr lang="en-IN" sz="2600" dirty="0">
                <a:latin typeface="Times New Roman" pitchFamily="18" charset="0"/>
                <a:cs typeface="Times New Roman" pitchFamily="18" charset="0"/>
              </a:rPr>
              <a:t> – T</a:t>
            </a:r>
            <a:r>
              <a:rPr lang="en-IN" sz="1500" dirty="0">
                <a:latin typeface="Times New Roman" pitchFamily="18" charset="0"/>
                <a:cs typeface="Times New Roman" pitchFamily="18" charset="0"/>
              </a:rPr>
              <a:t>EF</a:t>
            </a:r>
            <a:r>
              <a:rPr lang="en-IN" sz="2600" dirty="0">
                <a:latin typeface="Times New Roman" pitchFamily="18" charset="0"/>
                <a:cs typeface="Times New Roman" pitchFamily="18" charset="0"/>
              </a:rPr>
              <a:t> = T</a:t>
            </a:r>
            <a:r>
              <a:rPr lang="en-IN" sz="1500" dirty="0">
                <a:latin typeface="Times New Roman" pitchFamily="18" charset="0"/>
                <a:cs typeface="Times New Roman" pitchFamily="18" charset="0"/>
              </a:rPr>
              <a:t>LS</a:t>
            </a:r>
            <a:r>
              <a:rPr lang="en-IN" sz="2600" dirty="0">
                <a:latin typeface="Times New Roman" pitchFamily="18" charset="0"/>
                <a:cs typeface="Times New Roman" pitchFamily="18" charset="0"/>
              </a:rPr>
              <a:t> – T</a:t>
            </a:r>
            <a:r>
              <a:rPr lang="en-IN" sz="1500" dirty="0">
                <a:latin typeface="Times New Roman" pitchFamily="18" charset="0"/>
                <a:cs typeface="Times New Roman" pitchFamily="18" charset="0"/>
              </a:rPr>
              <a:t>ES</a:t>
            </a:r>
            <a:r>
              <a:rPr lang="en-IN" sz="2600" dirty="0">
                <a:latin typeface="Times New Roman" pitchFamily="18" charset="0"/>
                <a:cs typeface="Times New Roman" pitchFamily="18" charset="0"/>
              </a:rPr>
              <a:t>. </a:t>
            </a:r>
          </a:p>
          <a:p>
            <a:pPr marL="342900" lvl="1" indent="-342900" algn="just">
              <a:buFont typeface="Arial" pitchFamily="34" charset="0"/>
              <a:buChar char="•"/>
            </a:pPr>
            <a:r>
              <a:rPr lang="en-IN" sz="2600" dirty="0" smtClean="0">
                <a:latin typeface="Times New Roman" pitchFamily="18" charset="0"/>
                <a:cs typeface="Times New Roman" pitchFamily="18" charset="0"/>
              </a:rPr>
              <a:t>The </a:t>
            </a:r>
            <a:r>
              <a:rPr lang="en-IN" sz="2600" dirty="0">
                <a:latin typeface="Times New Roman" pitchFamily="18" charset="0"/>
                <a:cs typeface="Times New Roman" pitchFamily="18" charset="0"/>
              </a:rPr>
              <a:t>backward pass through the network diagram is made starting with the final activities and moving backward in time toward the initial activities to calculate T</a:t>
            </a:r>
            <a:r>
              <a:rPr lang="en-IN" sz="1500" dirty="0">
                <a:latin typeface="Times New Roman" pitchFamily="18" charset="0"/>
                <a:cs typeface="Times New Roman" pitchFamily="18" charset="0"/>
              </a:rPr>
              <a:t>LS</a:t>
            </a:r>
            <a:r>
              <a:rPr lang="en-IN" sz="2600" dirty="0">
                <a:latin typeface="Times New Roman" pitchFamily="18" charset="0"/>
                <a:cs typeface="Times New Roman" pitchFamily="18" charset="0"/>
              </a:rPr>
              <a:t> and T</a:t>
            </a:r>
            <a:r>
              <a:rPr lang="en-IN" sz="1400" dirty="0">
                <a:latin typeface="Times New Roman" pitchFamily="18" charset="0"/>
                <a:cs typeface="Times New Roman" pitchFamily="18" charset="0"/>
              </a:rPr>
              <a:t>LF</a:t>
            </a:r>
            <a:r>
              <a:rPr lang="en-IN" sz="2600" dirty="0">
                <a:latin typeface="Times New Roman" pitchFamily="18" charset="0"/>
                <a:cs typeface="Times New Roman" pitchFamily="18" charset="0"/>
              </a:rPr>
              <a:t>. </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93</a:t>
            </a:fld>
            <a:endParaRPr lang="en-IN"/>
          </a:p>
        </p:txBody>
      </p:sp>
    </p:spTree>
    <p:extLst>
      <p:ext uri="{BB962C8B-B14F-4D97-AF65-F5344CB8AC3E}">
        <p14:creationId xmlns:p14="http://schemas.microsoft.com/office/powerpoint/2010/main" val="28228032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28215" y="125151"/>
            <a:ext cx="8229600" cy="1143000"/>
          </a:xfrm>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grpSp>
        <p:nvGrpSpPr>
          <p:cNvPr id="603" name="Canvas 386"/>
          <p:cNvGrpSpPr/>
          <p:nvPr/>
        </p:nvGrpSpPr>
        <p:grpSpPr>
          <a:xfrm>
            <a:off x="395536" y="1628800"/>
            <a:ext cx="8496944" cy="4968551"/>
            <a:chOff x="0" y="0"/>
            <a:chExt cx="5734050" cy="4119880"/>
          </a:xfrm>
        </p:grpSpPr>
        <p:sp>
          <p:nvSpPr>
            <p:cNvPr id="604" name="Rectangle 603"/>
            <p:cNvSpPr/>
            <p:nvPr/>
          </p:nvSpPr>
          <p:spPr>
            <a:xfrm>
              <a:off x="0" y="0"/>
              <a:ext cx="5734050" cy="4119880"/>
            </a:xfrm>
            <a:prstGeom prst="rect">
              <a:avLst/>
            </a:prstGeom>
            <a:noFill/>
          </p:spPr>
        </p:sp>
        <p:sp>
          <p:nvSpPr>
            <p:cNvPr id="605" name="Rectangle 604"/>
            <p:cNvSpPr>
              <a:spLocks noChangeArrowheads="1"/>
            </p:cNvSpPr>
            <p:nvPr/>
          </p:nvSpPr>
          <p:spPr bwMode="auto">
            <a:xfrm>
              <a:off x="2476555" y="2824471"/>
              <a:ext cx="796625" cy="425198"/>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Detailed   design, 18</a:t>
              </a:r>
            </a:p>
          </p:txBody>
        </p:sp>
        <p:sp>
          <p:nvSpPr>
            <p:cNvPr id="606" name="Rectangle 605"/>
            <p:cNvSpPr>
              <a:spLocks noChangeArrowheads="1"/>
            </p:cNvSpPr>
            <p:nvPr/>
          </p:nvSpPr>
          <p:spPr bwMode="auto">
            <a:xfrm>
              <a:off x="937789" y="1590158"/>
              <a:ext cx="916325" cy="363276"/>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Architectural design, 10</a:t>
              </a:r>
            </a:p>
          </p:txBody>
        </p:sp>
        <p:sp>
          <p:nvSpPr>
            <p:cNvPr id="607" name="Rectangle 606"/>
            <p:cNvSpPr>
              <a:spLocks noChangeArrowheads="1"/>
            </p:cNvSpPr>
            <p:nvPr/>
          </p:nvSpPr>
          <p:spPr bwMode="auto">
            <a:xfrm>
              <a:off x="2476555" y="1590158"/>
              <a:ext cx="796625" cy="473084"/>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Database</a:t>
              </a:r>
            </a:p>
            <a:p>
              <a:pPr algn="ctr">
                <a:lnSpc>
                  <a:spcPct val="115000"/>
                </a:lnSpc>
                <a:spcAft>
                  <a:spcPts val="0"/>
                </a:spcAft>
              </a:pPr>
              <a:r>
                <a:rPr lang="en-IN" sz="1400" b="1">
                  <a:effectLst/>
                  <a:latin typeface="Times New Roman" pitchFamily="18" charset="0"/>
                  <a:ea typeface="Times New Roman"/>
                  <a:cs typeface="Times New Roman" pitchFamily="18" charset="0"/>
                </a:rPr>
                <a:t>design, 13</a:t>
              </a:r>
            </a:p>
          </p:txBody>
        </p:sp>
        <p:sp>
          <p:nvSpPr>
            <p:cNvPr id="608" name="Rectangle 607"/>
            <p:cNvSpPr>
              <a:spLocks noChangeArrowheads="1"/>
            </p:cNvSpPr>
            <p:nvPr/>
          </p:nvSpPr>
          <p:spPr bwMode="auto">
            <a:xfrm>
              <a:off x="3857647" y="1062582"/>
              <a:ext cx="742966" cy="445839"/>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Output </a:t>
              </a:r>
            </a:p>
            <a:p>
              <a:pPr algn="ctr">
                <a:lnSpc>
                  <a:spcPct val="115000"/>
                </a:lnSpc>
                <a:spcAft>
                  <a:spcPts val="0"/>
                </a:spcAft>
              </a:pPr>
              <a:r>
                <a:rPr lang="en-IN" sz="1400" b="1">
                  <a:effectLst/>
                  <a:latin typeface="Times New Roman" pitchFamily="18" charset="0"/>
                  <a:ea typeface="Times New Roman"/>
                  <a:cs typeface="Times New Roman" pitchFamily="18" charset="0"/>
                </a:rPr>
                <a:t>design, 6</a:t>
              </a:r>
            </a:p>
          </p:txBody>
        </p:sp>
        <p:sp>
          <p:nvSpPr>
            <p:cNvPr id="609" name="Rectangle 608"/>
            <p:cNvSpPr>
              <a:spLocks noChangeArrowheads="1"/>
            </p:cNvSpPr>
            <p:nvPr/>
          </p:nvSpPr>
          <p:spPr bwMode="auto">
            <a:xfrm>
              <a:off x="2476555" y="387219"/>
              <a:ext cx="794974" cy="409511"/>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Input </a:t>
              </a:r>
            </a:p>
            <a:p>
              <a:pPr algn="ctr">
                <a:lnSpc>
                  <a:spcPct val="115000"/>
                </a:lnSpc>
                <a:spcAft>
                  <a:spcPts val="0"/>
                </a:spcAft>
              </a:pPr>
              <a:r>
                <a:rPr lang="en-IN" sz="1400" b="1">
                  <a:effectLst/>
                  <a:latin typeface="Times New Roman" pitchFamily="18" charset="0"/>
                  <a:ea typeface="Times New Roman"/>
                  <a:cs typeface="Times New Roman" pitchFamily="18" charset="0"/>
                </a:rPr>
                <a:t>design, 6</a:t>
              </a:r>
            </a:p>
          </p:txBody>
        </p:sp>
        <p:sp>
          <p:nvSpPr>
            <p:cNvPr id="610" name="Rectangle 609"/>
            <p:cNvSpPr>
              <a:spLocks noChangeArrowheads="1"/>
            </p:cNvSpPr>
            <p:nvPr/>
          </p:nvSpPr>
          <p:spPr bwMode="auto">
            <a:xfrm>
              <a:off x="5009245" y="1590158"/>
              <a:ext cx="648857" cy="363276"/>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Finish, 0</a:t>
              </a:r>
            </a:p>
          </p:txBody>
        </p:sp>
        <p:cxnSp>
          <p:nvCxnSpPr>
            <p:cNvPr id="611" name="AutoShape 394"/>
            <p:cNvCxnSpPr>
              <a:cxnSpLocks noChangeShapeType="1"/>
            </p:cNvCxnSpPr>
            <p:nvPr/>
          </p:nvCxnSpPr>
          <p:spPr bwMode="auto">
            <a:xfrm flipV="1">
              <a:off x="1854114" y="593626"/>
              <a:ext cx="622441" cy="1178996"/>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612" name="AutoShape 395"/>
            <p:cNvCxnSpPr>
              <a:cxnSpLocks noChangeShapeType="1"/>
              <a:stCxn id="609" idx="3"/>
              <a:endCxn id="608" idx="1"/>
            </p:cNvCxnSpPr>
            <p:nvPr/>
          </p:nvCxnSpPr>
          <p:spPr bwMode="auto">
            <a:xfrm>
              <a:off x="3271529" y="592800"/>
              <a:ext cx="586118" cy="692701"/>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613" name="AutoShape 396"/>
            <p:cNvCxnSpPr>
              <a:cxnSpLocks noChangeShapeType="1"/>
              <a:stCxn id="606" idx="3"/>
              <a:endCxn id="607" idx="1"/>
            </p:cNvCxnSpPr>
            <p:nvPr/>
          </p:nvCxnSpPr>
          <p:spPr bwMode="auto">
            <a:xfrm>
              <a:off x="1854114" y="1771796"/>
              <a:ext cx="622441" cy="55317"/>
            </a:xfrm>
            <a:prstGeom prst="straightConnector1">
              <a:avLst/>
            </a:prstGeom>
            <a:noFill/>
            <a:ln w="38100">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614" name="AutoShape 397"/>
            <p:cNvCxnSpPr>
              <a:cxnSpLocks noChangeShapeType="1"/>
              <a:stCxn id="606" idx="3"/>
              <a:endCxn id="605" idx="1"/>
            </p:cNvCxnSpPr>
            <p:nvPr/>
          </p:nvCxnSpPr>
          <p:spPr bwMode="auto">
            <a:xfrm>
              <a:off x="1854114" y="1771796"/>
              <a:ext cx="622441" cy="1265687"/>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615" name="AutoShape 398"/>
            <p:cNvCxnSpPr>
              <a:cxnSpLocks noChangeShapeType="1"/>
              <a:stCxn id="605" idx="3"/>
              <a:endCxn id="610" idx="1"/>
            </p:cNvCxnSpPr>
            <p:nvPr/>
          </p:nvCxnSpPr>
          <p:spPr bwMode="auto">
            <a:xfrm flipV="1">
              <a:off x="3273180" y="1771796"/>
              <a:ext cx="1736065" cy="1265687"/>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cxnSp>
        <p:cxnSp>
          <p:nvCxnSpPr>
            <p:cNvPr id="616" name="AutoShape 399"/>
            <p:cNvCxnSpPr>
              <a:cxnSpLocks noChangeShapeType="1"/>
            </p:cNvCxnSpPr>
            <p:nvPr/>
          </p:nvCxnSpPr>
          <p:spPr bwMode="auto">
            <a:xfrm flipV="1">
              <a:off x="3273180" y="1285502"/>
              <a:ext cx="584467" cy="459874"/>
            </a:xfrm>
            <a:prstGeom prst="straightConnector1">
              <a:avLst/>
            </a:prstGeom>
            <a:noFill/>
            <a:ln w="38100">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617" name="Text Box 400"/>
            <p:cNvSpPr txBox="1">
              <a:spLocks noChangeArrowheads="1"/>
            </p:cNvSpPr>
            <p:nvPr/>
          </p:nvSpPr>
          <p:spPr bwMode="auto">
            <a:xfrm>
              <a:off x="1330942" y="3835039"/>
              <a:ext cx="3243048" cy="222919"/>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gn="ctr">
                <a:lnSpc>
                  <a:spcPct val="115000"/>
                </a:lnSpc>
                <a:spcAft>
                  <a:spcPts val="1000"/>
                </a:spcAft>
              </a:pPr>
              <a:r>
                <a:rPr lang="en-IN" sz="2000" b="1" dirty="0">
                  <a:effectLst/>
                  <a:latin typeface="Times New Roman" pitchFamily="18" charset="0"/>
                  <a:ea typeface="Times New Roman"/>
                  <a:cs typeface="Times New Roman" pitchFamily="18" charset="0"/>
                </a:rPr>
                <a:t>Figure </a:t>
              </a:r>
              <a:r>
                <a:rPr lang="en-IN" sz="2000" b="1" dirty="0" smtClean="0">
                  <a:effectLst/>
                  <a:latin typeface="Times New Roman" pitchFamily="18" charset="0"/>
                  <a:ea typeface="Times New Roman"/>
                  <a:cs typeface="Times New Roman" pitchFamily="18" charset="0"/>
                </a:rPr>
                <a:t>5.6</a:t>
              </a:r>
              <a:r>
                <a:rPr lang="en-IN" sz="2000" b="1" dirty="0">
                  <a:effectLst/>
                  <a:latin typeface="Times New Roman" pitchFamily="18" charset="0"/>
                  <a:ea typeface="Times New Roman"/>
                  <a:cs typeface="Times New Roman" pitchFamily="18" charset="0"/>
                </a:rPr>
                <a:t>: PERT with the critical path </a:t>
              </a:r>
            </a:p>
          </p:txBody>
        </p:sp>
        <p:cxnSp>
          <p:nvCxnSpPr>
            <p:cNvPr id="618" name="AutoShape 401"/>
            <p:cNvCxnSpPr>
              <a:cxnSpLocks noChangeShapeType="1"/>
              <a:stCxn id="608" idx="3"/>
            </p:cNvCxnSpPr>
            <p:nvPr/>
          </p:nvCxnSpPr>
          <p:spPr bwMode="auto">
            <a:xfrm>
              <a:off x="4600613" y="1285502"/>
              <a:ext cx="408632" cy="486294"/>
            </a:xfrm>
            <a:prstGeom prst="straightConnector1">
              <a:avLst/>
            </a:prstGeom>
            <a:noFill/>
            <a:ln w="38100">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619" name="Rectangle 618"/>
            <p:cNvSpPr>
              <a:spLocks noChangeArrowheads="1"/>
            </p:cNvSpPr>
            <p:nvPr/>
          </p:nvSpPr>
          <p:spPr bwMode="auto">
            <a:xfrm>
              <a:off x="56961" y="1589332"/>
              <a:ext cx="648857" cy="364102"/>
            </a:xfrm>
            <a:prstGeom prst="rect">
              <a:avLst/>
            </a:prstGeom>
            <a:solidFill>
              <a:srgbClr val="FFFFFF"/>
            </a:solidFill>
            <a:ln w="9525">
              <a:solidFill>
                <a:srgbClr val="000000"/>
              </a:solidFill>
              <a:miter lim="800000"/>
              <a:headEnd/>
              <a:tailEnd/>
            </a:ln>
          </p:spPr>
          <p:txBody>
            <a:bodyPr rot="0" vert="horz" wrap="square" lIns="0" tIns="0" rIns="0" bIns="0" anchor="t" anchorCtr="0" upright="1">
              <a:noAutofit/>
            </a:bodyPr>
            <a:lstStyle/>
            <a:p>
              <a:pPr algn="ctr">
                <a:lnSpc>
                  <a:spcPct val="115000"/>
                </a:lnSpc>
                <a:spcAft>
                  <a:spcPts val="0"/>
                </a:spcAft>
              </a:pPr>
              <a:r>
                <a:rPr lang="en-IN" sz="1400" b="1">
                  <a:effectLst/>
                  <a:latin typeface="Times New Roman" pitchFamily="18" charset="0"/>
                  <a:ea typeface="Times New Roman"/>
                  <a:cs typeface="Times New Roman" pitchFamily="18" charset="0"/>
                </a:rPr>
                <a:t>Start, 0</a:t>
              </a:r>
            </a:p>
          </p:txBody>
        </p:sp>
        <p:cxnSp>
          <p:nvCxnSpPr>
            <p:cNvPr id="620" name="AutoShape 403"/>
            <p:cNvCxnSpPr>
              <a:cxnSpLocks noChangeShapeType="1"/>
              <a:stCxn id="619" idx="3"/>
              <a:endCxn id="606" idx="1"/>
            </p:cNvCxnSpPr>
            <p:nvPr/>
          </p:nvCxnSpPr>
          <p:spPr bwMode="auto">
            <a:xfrm>
              <a:off x="705818" y="1771796"/>
              <a:ext cx="231971" cy="826"/>
            </a:xfrm>
            <a:prstGeom prst="straightConnector1">
              <a:avLst/>
            </a:prstGeom>
            <a:noFill/>
            <a:ln w="38100">
              <a:solidFill>
                <a:srgbClr val="000000"/>
              </a:solidFill>
              <a:round/>
              <a:headEnd/>
              <a:tailEnd type="triangle" w="med" len="med"/>
            </a:ln>
            <a:extLst>
              <a:ext uri="{909E8E84-426E-40DD-AFC4-6F175D3DCCD1}">
                <a14:hiddenFill xmlns:a14="http://schemas.microsoft.com/office/drawing/2010/main">
                  <a:noFill/>
                </a14:hiddenFill>
              </a:ext>
            </a:extLst>
          </p:spPr>
        </p:cxnSp>
        <p:sp>
          <p:nvSpPr>
            <p:cNvPr id="621" name="Text Box 404"/>
            <p:cNvSpPr txBox="1">
              <a:spLocks noChangeArrowheads="1"/>
            </p:cNvSpPr>
            <p:nvPr/>
          </p:nvSpPr>
          <p:spPr bwMode="auto">
            <a:xfrm>
              <a:off x="161802" y="1198811"/>
              <a:ext cx="400376"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a:t>
              </a:r>
              <a:r>
                <a:rPr lang="en-IN" sz="1400" b="1">
                  <a:effectLst/>
                  <a:latin typeface="Times New Roman" pitchFamily="18" charset="0"/>
                  <a:ea typeface="Times New Roman"/>
                  <a:cs typeface="Times New Roman" pitchFamily="18" charset="0"/>
                </a:rPr>
                <a:t>= 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a:t>
              </a:r>
              <a:r>
                <a:rPr lang="en-IN" sz="1400" b="1">
                  <a:effectLst/>
                  <a:latin typeface="Times New Roman" pitchFamily="18" charset="0"/>
                  <a:ea typeface="Times New Roman"/>
                  <a:cs typeface="Times New Roman" pitchFamily="18" charset="0"/>
                </a:rPr>
                <a:t>= 0</a:t>
              </a:r>
            </a:p>
          </p:txBody>
        </p:sp>
        <p:sp>
          <p:nvSpPr>
            <p:cNvPr id="622" name="Text Box 405"/>
            <p:cNvSpPr txBox="1">
              <a:spLocks noChangeArrowheads="1"/>
            </p:cNvSpPr>
            <p:nvPr/>
          </p:nvSpPr>
          <p:spPr bwMode="auto">
            <a:xfrm>
              <a:off x="1162330" y="1199636"/>
              <a:ext cx="514298"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10</a:t>
              </a:r>
            </a:p>
          </p:txBody>
        </p:sp>
        <p:sp>
          <p:nvSpPr>
            <p:cNvPr id="623" name="Text Box 406"/>
            <p:cNvSpPr txBox="1">
              <a:spLocks noChangeArrowheads="1"/>
            </p:cNvSpPr>
            <p:nvPr/>
          </p:nvSpPr>
          <p:spPr bwMode="auto">
            <a:xfrm>
              <a:off x="161802" y="1199636"/>
              <a:ext cx="400376"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0</a:t>
              </a:r>
            </a:p>
          </p:txBody>
        </p:sp>
        <p:sp>
          <p:nvSpPr>
            <p:cNvPr id="624" name="Text Box 407"/>
            <p:cNvSpPr txBox="1">
              <a:spLocks noChangeArrowheads="1"/>
            </p:cNvSpPr>
            <p:nvPr/>
          </p:nvSpPr>
          <p:spPr bwMode="auto">
            <a:xfrm>
              <a:off x="5095924" y="1199636"/>
              <a:ext cx="496136" cy="308785"/>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29</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29</a:t>
              </a:r>
            </a:p>
          </p:txBody>
        </p:sp>
        <p:sp>
          <p:nvSpPr>
            <p:cNvPr id="625" name="Text Box 408"/>
            <p:cNvSpPr txBox="1">
              <a:spLocks noChangeArrowheads="1"/>
            </p:cNvSpPr>
            <p:nvPr/>
          </p:nvSpPr>
          <p:spPr bwMode="auto">
            <a:xfrm>
              <a:off x="4000462" y="691876"/>
              <a:ext cx="485405"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23</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29</a:t>
              </a:r>
            </a:p>
          </p:txBody>
        </p:sp>
        <p:sp>
          <p:nvSpPr>
            <p:cNvPr id="626" name="Text Box 409"/>
            <p:cNvSpPr txBox="1">
              <a:spLocks noChangeArrowheads="1"/>
            </p:cNvSpPr>
            <p:nvPr/>
          </p:nvSpPr>
          <p:spPr bwMode="auto">
            <a:xfrm>
              <a:off x="2685411" y="2465323"/>
              <a:ext cx="429270"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10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a:t>
              </a:r>
              <a:r>
                <a:rPr lang="en-IN" sz="1400" b="1">
                  <a:effectLst/>
                  <a:latin typeface="Times New Roman" pitchFamily="18" charset="0"/>
                  <a:ea typeface="Times New Roman"/>
                  <a:cs typeface="Times New Roman" pitchFamily="18" charset="0"/>
                </a:rPr>
                <a:t>= 28</a:t>
              </a:r>
            </a:p>
          </p:txBody>
        </p:sp>
        <p:sp>
          <p:nvSpPr>
            <p:cNvPr id="627" name="Text Box 410"/>
            <p:cNvSpPr txBox="1">
              <a:spLocks noChangeArrowheads="1"/>
            </p:cNvSpPr>
            <p:nvPr/>
          </p:nvSpPr>
          <p:spPr bwMode="auto">
            <a:xfrm>
              <a:off x="2637531" y="1198811"/>
              <a:ext cx="477150" cy="30961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10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23</a:t>
              </a:r>
            </a:p>
          </p:txBody>
        </p:sp>
        <p:sp>
          <p:nvSpPr>
            <p:cNvPr id="628" name="Text Box 411"/>
            <p:cNvSpPr txBox="1">
              <a:spLocks noChangeArrowheads="1"/>
            </p:cNvSpPr>
            <p:nvPr/>
          </p:nvSpPr>
          <p:spPr bwMode="auto">
            <a:xfrm>
              <a:off x="161802" y="2005449"/>
              <a:ext cx="400376"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 </a:t>
              </a:r>
              <a:r>
                <a:rPr lang="en-IN" sz="1400" b="1">
                  <a:effectLst/>
                  <a:latin typeface="Times New Roman" pitchFamily="18" charset="0"/>
                  <a:ea typeface="Times New Roman"/>
                  <a:cs typeface="Times New Roman" pitchFamily="18" charset="0"/>
                </a:rPr>
                <a:t>= 0</a:t>
              </a:r>
            </a:p>
          </p:txBody>
        </p:sp>
        <p:sp>
          <p:nvSpPr>
            <p:cNvPr id="629" name="Text Box 412"/>
            <p:cNvSpPr txBox="1">
              <a:spLocks noChangeArrowheads="1"/>
            </p:cNvSpPr>
            <p:nvPr/>
          </p:nvSpPr>
          <p:spPr bwMode="auto">
            <a:xfrm>
              <a:off x="2637531" y="862780"/>
              <a:ext cx="477150" cy="336030"/>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dirty="0">
                  <a:effectLst/>
                  <a:latin typeface="Times New Roman" pitchFamily="18" charset="0"/>
                  <a:ea typeface="Times New Roman"/>
                  <a:cs typeface="Times New Roman" pitchFamily="18" charset="0"/>
                </a:rPr>
                <a:t>T</a:t>
              </a:r>
              <a:r>
                <a:rPr lang="en-IN" sz="1400" b="1" baseline="-25000" dirty="0">
                  <a:effectLst/>
                  <a:latin typeface="Times New Roman" pitchFamily="18" charset="0"/>
                  <a:ea typeface="Times New Roman"/>
                  <a:cs typeface="Times New Roman" pitchFamily="18" charset="0"/>
                </a:rPr>
                <a:t>LS </a:t>
              </a:r>
              <a:r>
                <a:rPr lang="en-IN" sz="1400" b="1" dirty="0">
                  <a:effectLst/>
                  <a:latin typeface="Times New Roman" pitchFamily="18" charset="0"/>
                  <a:ea typeface="Times New Roman"/>
                  <a:cs typeface="Times New Roman" pitchFamily="18" charset="0"/>
                </a:rPr>
                <a:t>= 17</a:t>
              </a:r>
            </a:p>
            <a:p>
              <a:pPr>
                <a:lnSpc>
                  <a:spcPct val="115000"/>
                </a:lnSpc>
                <a:spcAft>
                  <a:spcPts val="1000"/>
                </a:spcAft>
              </a:pPr>
              <a:r>
                <a:rPr lang="en-IN" sz="1400" b="1" dirty="0">
                  <a:effectLst/>
                  <a:latin typeface="Times New Roman" pitchFamily="18" charset="0"/>
                  <a:ea typeface="Times New Roman"/>
                  <a:cs typeface="Times New Roman" pitchFamily="18" charset="0"/>
                </a:rPr>
                <a:t>T</a:t>
              </a:r>
              <a:r>
                <a:rPr lang="en-IN" sz="1400" b="1" baseline="-25000" dirty="0">
                  <a:effectLst/>
                  <a:latin typeface="Times New Roman" pitchFamily="18" charset="0"/>
                  <a:ea typeface="Times New Roman"/>
                  <a:cs typeface="Times New Roman" pitchFamily="18" charset="0"/>
                </a:rPr>
                <a:t>LF </a:t>
              </a:r>
              <a:r>
                <a:rPr lang="en-IN" sz="1400" b="1" dirty="0">
                  <a:effectLst/>
                  <a:latin typeface="Times New Roman" pitchFamily="18" charset="0"/>
                  <a:ea typeface="Times New Roman"/>
                  <a:cs typeface="Times New Roman" pitchFamily="18" charset="0"/>
                </a:rPr>
                <a:t>= 23</a:t>
              </a:r>
            </a:p>
          </p:txBody>
        </p:sp>
        <p:sp>
          <p:nvSpPr>
            <p:cNvPr id="630" name="Text Box 413"/>
            <p:cNvSpPr txBox="1">
              <a:spLocks noChangeArrowheads="1"/>
            </p:cNvSpPr>
            <p:nvPr/>
          </p:nvSpPr>
          <p:spPr bwMode="auto">
            <a:xfrm>
              <a:off x="1114450" y="2005449"/>
              <a:ext cx="562178"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 </a:t>
              </a:r>
              <a:r>
                <a:rPr lang="en-IN" sz="1400" b="1">
                  <a:effectLst/>
                  <a:latin typeface="Times New Roman" pitchFamily="18" charset="0"/>
                  <a:ea typeface="Times New Roman"/>
                  <a:cs typeface="Times New Roman" pitchFamily="18" charset="0"/>
                </a:rPr>
                <a:t>= 10</a:t>
              </a:r>
            </a:p>
          </p:txBody>
        </p:sp>
        <p:sp>
          <p:nvSpPr>
            <p:cNvPr id="631" name="Text Box 414"/>
            <p:cNvSpPr txBox="1">
              <a:spLocks noChangeArrowheads="1"/>
            </p:cNvSpPr>
            <p:nvPr/>
          </p:nvSpPr>
          <p:spPr bwMode="auto">
            <a:xfrm>
              <a:off x="2685411" y="2151585"/>
              <a:ext cx="429270"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10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a:t>
              </a:r>
              <a:r>
                <a:rPr lang="en-IN" sz="1400" b="1">
                  <a:effectLst/>
                  <a:latin typeface="Times New Roman" pitchFamily="18" charset="0"/>
                  <a:ea typeface="Times New Roman"/>
                  <a:cs typeface="Times New Roman" pitchFamily="18" charset="0"/>
                </a:rPr>
                <a:t>= 23 </a:t>
              </a:r>
            </a:p>
          </p:txBody>
        </p:sp>
        <p:sp>
          <p:nvSpPr>
            <p:cNvPr id="632" name="Text Box 415"/>
            <p:cNvSpPr txBox="1">
              <a:spLocks noChangeArrowheads="1"/>
            </p:cNvSpPr>
            <p:nvPr/>
          </p:nvSpPr>
          <p:spPr bwMode="auto">
            <a:xfrm>
              <a:off x="2685411" y="3335534"/>
              <a:ext cx="534110"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11</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 </a:t>
              </a:r>
              <a:r>
                <a:rPr lang="en-IN" sz="1400" b="1">
                  <a:effectLst/>
                  <a:latin typeface="Times New Roman" pitchFamily="18" charset="0"/>
                  <a:ea typeface="Times New Roman"/>
                  <a:cs typeface="Times New Roman" pitchFamily="18" charset="0"/>
                </a:rPr>
                <a:t>= 29</a:t>
              </a:r>
            </a:p>
          </p:txBody>
        </p:sp>
        <p:sp>
          <p:nvSpPr>
            <p:cNvPr id="633" name="Text Box 416"/>
            <p:cNvSpPr txBox="1">
              <a:spLocks noChangeArrowheads="1"/>
            </p:cNvSpPr>
            <p:nvPr/>
          </p:nvSpPr>
          <p:spPr bwMode="auto">
            <a:xfrm>
              <a:off x="4000462" y="1516677"/>
              <a:ext cx="485405"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23</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 </a:t>
              </a:r>
              <a:r>
                <a:rPr lang="en-IN" sz="1400" b="1">
                  <a:effectLst/>
                  <a:latin typeface="Times New Roman" pitchFamily="18" charset="0"/>
                  <a:ea typeface="Times New Roman"/>
                  <a:cs typeface="Times New Roman" pitchFamily="18" charset="0"/>
                </a:rPr>
                <a:t>= 29</a:t>
              </a:r>
            </a:p>
          </p:txBody>
        </p:sp>
        <p:sp>
          <p:nvSpPr>
            <p:cNvPr id="634" name="Text Box 417"/>
            <p:cNvSpPr txBox="1">
              <a:spLocks noChangeArrowheads="1"/>
            </p:cNvSpPr>
            <p:nvPr/>
          </p:nvSpPr>
          <p:spPr bwMode="auto">
            <a:xfrm>
              <a:off x="5095924" y="2005449"/>
              <a:ext cx="447431"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LS </a:t>
              </a:r>
              <a:r>
                <a:rPr lang="en-IN" sz="1400" b="1">
                  <a:effectLst/>
                  <a:latin typeface="Times New Roman" pitchFamily="18" charset="0"/>
                  <a:ea typeface="Times New Roman"/>
                  <a:cs typeface="Times New Roman" pitchFamily="18" charset="0"/>
                </a:rPr>
                <a:t>= 29</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LF </a:t>
              </a:r>
              <a:r>
                <a:rPr lang="en-IN" sz="1400" b="1">
                  <a:effectLst/>
                  <a:latin typeface="Times New Roman" pitchFamily="18" charset="0"/>
                  <a:ea typeface="Times New Roman"/>
                  <a:cs typeface="Times New Roman" pitchFamily="18" charset="0"/>
                </a:rPr>
                <a:t>= 29</a:t>
              </a:r>
            </a:p>
          </p:txBody>
        </p:sp>
        <p:sp>
          <p:nvSpPr>
            <p:cNvPr id="635" name="Text Box 418"/>
            <p:cNvSpPr txBox="1">
              <a:spLocks noChangeArrowheads="1"/>
            </p:cNvSpPr>
            <p:nvPr/>
          </p:nvSpPr>
          <p:spPr bwMode="auto">
            <a:xfrm>
              <a:off x="2609463" y="0"/>
              <a:ext cx="476324" cy="310436"/>
            </a:xfrm>
            <a:prstGeom prst="rect">
              <a:avLst/>
            </a:prstGeom>
            <a:solidFill>
              <a:srgbClr val="FFFFFF"/>
            </a:solidFill>
            <a:ln w="9525">
              <a:solidFill>
                <a:schemeClr val="bg1">
                  <a:lumMod val="100000"/>
                  <a:lumOff val="0"/>
                </a:schemeClr>
              </a:solidFill>
              <a:miter lim="800000"/>
              <a:headEnd/>
              <a:tailEnd/>
            </a:ln>
          </p:spPr>
          <p:txBody>
            <a:bodyPr rot="0" vert="horz" wrap="square" lIns="0" tIns="0" rIns="0" bIns="0" anchor="t" anchorCtr="0" upright="1">
              <a:noAutofit/>
            </a:bodyPr>
            <a:lstStyle/>
            <a:p>
              <a:pPr>
                <a:lnSpc>
                  <a:spcPct val="115000"/>
                </a:lnSpc>
                <a:spcAft>
                  <a:spcPts val="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ES </a:t>
              </a:r>
              <a:r>
                <a:rPr lang="en-IN" sz="1400" b="1">
                  <a:effectLst/>
                  <a:latin typeface="Times New Roman" pitchFamily="18" charset="0"/>
                  <a:ea typeface="Times New Roman"/>
                  <a:cs typeface="Times New Roman" pitchFamily="18" charset="0"/>
                </a:rPr>
                <a:t>= 10</a:t>
              </a:r>
            </a:p>
            <a:p>
              <a:pPr>
                <a:lnSpc>
                  <a:spcPct val="115000"/>
                </a:lnSpc>
                <a:spcAft>
                  <a:spcPts val="1000"/>
                </a:spcAft>
              </a:pPr>
              <a:r>
                <a:rPr lang="en-IN" sz="1400" b="1">
                  <a:effectLst/>
                  <a:latin typeface="Times New Roman" pitchFamily="18" charset="0"/>
                  <a:ea typeface="Times New Roman"/>
                  <a:cs typeface="Times New Roman" pitchFamily="18" charset="0"/>
                </a:rPr>
                <a:t>T</a:t>
              </a:r>
              <a:r>
                <a:rPr lang="en-IN" sz="1400" b="1" baseline="-25000">
                  <a:effectLst/>
                  <a:latin typeface="Times New Roman" pitchFamily="18" charset="0"/>
                  <a:ea typeface="Times New Roman"/>
                  <a:cs typeface="Times New Roman" pitchFamily="18" charset="0"/>
                </a:rPr>
                <a:t>EF </a:t>
              </a:r>
              <a:r>
                <a:rPr lang="en-IN" sz="1400" b="1">
                  <a:effectLst/>
                  <a:latin typeface="Times New Roman" pitchFamily="18" charset="0"/>
                  <a:ea typeface="Times New Roman"/>
                  <a:cs typeface="Times New Roman" pitchFamily="18" charset="0"/>
                </a:rPr>
                <a:t>= 16</a:t>
              </a:r>
            </a:p>
          </p:txBody>
        </p:sp>
      </p:grpSp>
      <p:sp>
        <p:nvSpPr>
          <p:cNvPr id="4667" name="Rectangle 4666"/>
          <p:cNvSpPr/>
          <p:nvPr/>
        </p:nvSpPr>
        <p:spPr>
          <a:xfrm>
            <a:off x="329232" y="1181155"/>
            <a:ext cx="2874615" cy="387798"/>
          </a:xfrm>
          <a:prstGeom prst="rect">
            <a:avLst/>
          </a:prstGeom>
        </p:spPr>
        <p:txBody>
          <a:bodyPr wrap="square">
            <a:spAutoFit/>
          </a:bodyPr>
          <a:lstStyle/>
          <a:p>
            <a:pPr>
              <a:lnSpc>
                <a:spcPct val="80000"/>
              </a:lnSpc>
            </a:pPr>
            <a:r>
              <a:rPr lang="en-IN" sz="2400" dirty="0">
                <a:solidFill>
                  <a:srgbClr val="00B0F0"/>
                </a:solidFill>
                <a:latin typeface="Times New Roman" pitchFamily="18" charset="0"/>
                <a:cs typeface="Times New Roman" pitchFamily="18" charset="0"/>
              </a:rPr>
              <a:t>PERT-CPM Method</a:t>
            </a:r>
          </a:p>
        </p:txBody>
      </p:sp>
      <p:sp>
        <p:nvSpPr>
          <p:cNvPr id="37" name="Slide Number Placeholder 36"/>
          <p:cNvSpPr>
            <a:spLocks noGrp="1"/>
          </p:cNvSpPr>
          <p:nvPr>
            <p:ph type="sldNum" sz="quarter" idx="12"/>
          </p:nvPr>
        </p:nvSpPr>
        <p:spPr/>
        <p:txBody>
          <a:bodyPr/>
          <a:lstStyle/>
          <a:p>
            <a:fld id="{0C087B72-CC60-4FF0-9C96-8509CDF76D05}" type="slidenum">
              <a:rPr lang="en-IN" smtClean="0"/>
              <a:pPr/>
              <a:t>94</a:t>
            </a:fld>
            <a:endParaRPr lang="en-IN"/>
          </a:p>
        </p:txBody>
      </p:sp>
    </p:spTree>
    <p:extLst>
      <p:ext uri="{BB962C8B-B14F-4D97-AF65-F5344CB8AC3E}">
        <p14:creationId xmlns:p14="http://schemas.microsoft.com/office/powerpoint/2010/main" val="21676935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600200"/>
            <a:ext cx="8229600" cy="4997152"/>
          </a:xfrm>
        </p:spPr>
        <p:txBody>
          <a:bodyPr>
            <a:normAutofit/>
          </a:bodyPr>
          <a:lstStyle/>
          <a:p>
            <a:pPr marL="0" indent="0" algn="just">
              <a:buNone/>
            </a:pPr>
            <a:r>
              <a:rPr lang="en-IN" sz="2600" dirty="0">
                <a:solidFill>
                  <a:srgbClr val="00B0F0"/>
                </a:solidFill>
                <a:latin typeface="Times New Roman" pitchFamily="18" charset="0"/>
                <a:cs typeface="Times New Roman" pitchFamily="18" charset="0"/>
              </a:rPr>
              <a:t>PERT-CPM Method</a:t>
            </a:r>
          </a:p>
          <a:p>
            <a:pPr algn="just"/>
            <a:r>
              <a:rPr lang="en-IN" sz="2200" dirty="0" smtClean="0">
                <a:latin typeface="Times New Roman" pitchFamily="18" charset="0"/>
                <a:cs typeface="Times New Roman" pitchFamily="18" charset="0"/>
              </a:rPr>
              <a:t>There </a:t>
            </a:r>
            <a:r>
              <a:rPr lang="en-IN" sz="2200" dirty="0">
                <a:latin typeface="Times New Roman" pitchFamily="18" charset="0"/>
                <a:cs typeface="Times New Roman" pitchFamily="18" charset="0"/>
              </a:rPr>
              <a:t>are some activities having no slack and other activities have slack time. The </a:t>
            </a:r>
            <a:r>
              <a:rPr lang="en-IN" sz="2200" i="1" dirty="0">
                <a:latin typeface="Times New Roman" pitchFamily="18" charset="0"/>
                <a:cs typeface="Times New Roman" pitchFamily="18" charset="0"/>
              </a:rPr>
              <a:t>critical path</a:t>
            </a:r>
            <a:r>
              <a:rPr lang="en-IN" sz="2200" dirty="0">
                <a:latin typeface="Times New Roman" pitchFamily="18" charset="0"/>
                <a:cs typeface="Times New Roman" pitchFamily="18" charset="0"/>
              </a:rPr>
              <a:t> then is the path through the network in which none of the activities have slack.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Each activity with zero slack is on the critical path through the project network such that any delay along this path will delay project completion.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critical path </a:t>
            </a:r>
            <a:r>
              <a:rPr lang="en-IN" sz="2200" dirty="0" smtClean="0">
                <a:latin typeface="Times New Roman" pitchFamily="18" charset="0"/>
                <a:cs typeface="Times New Roman" pitchFamily="18" charset="0"/>
              </a:rPr>
              <a:t>is </a:t>
            </a:r>
            <a:r>
              <a:rPr lang="en-IN" sz="2200" dirty="0">
                <a:latin typeface="Times New Roman" pitchFamily="18" charset="0"/>
                <a:cs typeface="Times New Roman" pitchFamily="18" charset="0"/>
              </a:rPr>
              <a:t>shown in Figure 4.6 with dark arrows in the network diagram</a:t>
            </a:r>
            <a:r>
              <a:rPr lang="en-IN" sz="2200" dirty="0" smtClean="0">
                <a:latin typeface="Times New Roman" pitchFamily="18" charset="0"/>
                <a:cs typeface="Times New Roman" pitchFamily="18" charset="0"/>
              </a:rPr>
              <a:t>.</a:t>
            </a:r>
          </a:p>
          <a:p>
            <a:pPr algn="just"/>
            <a:r>
              <a:rPr lang="en-IN" sz="2200" dirty="0">
                <a:latin typeface="Times New Roman" pitchFamily="18" charset="0"/>
                <a:cs typeface="Times New Roman" pitchFamily="18" charset="0"/>
              </a:rPr>
              <a:t>The critical path is:</a:t>
            </a:r>
          </a:p>
          <a:p>
            <a:pPr marL="0" indent="0" algn="just">
              <a:buNone/>
              <a:tabLst>
                <a:tab pos="261938" algn="l"/>
                <a:tab pos="449263" algn="l"/>
              </a:tabLst>
            </a:pPr>
            <a:r>
              <a:rPr lang="en-IN" sz="1800" dirty="0" smtClean="0">
                <a:latin typeface="Times New Roman" pitchFamily="18" charset="0"/>
                <a:cs typeface="Times New Roman" pitchFamily="18" charset="0"/>
              </a:rPr>
              <a:t>	</a:t>
            </a:r>
            <a:r>
              <a:rPr lang="en-IN" sz="1600" b="1" dirty="0" smtClean="0">
                <a:latin typeface="Times New Roman" pitchFamily="18" charset="0"/>
                <a:cs typeface="Times New Roman" pitchFamily="18" charset="0"/>
              </a:rPr>
              <a:t>Start </a:t>
            </a:r>
            <a:r>
              <a:rPr lang="en-IN" sz="1600" b="1" dirty="0">
                <a:latin typeface="Times New Roman" pitchFamily="18" charset="0"/>
                <a:cs typeface="Times New Roman" pitchFamily="18" charset="0"/>
              </a:rPr>
              <a:t>node &gt; Architectural design &gt; Database design &gt; Output design &gt; Finish node </a:t>
            </a:r>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95</a:t>
            </a:fld>
            <a:endParaRPr lang="en-IN"/>
          </a:p>
        </p:txBody>
      </p:sp>
    </p:spTree>
    <p:extLst>
      <p:ext uri="{BB962C8B-B14F-4D97-AF65-F5344CB8AC3E}">
        <p14:creationId xmlns:p14="http://schemas.microsoft.com/office/powerpoint/2010/main" val="40189209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p:txBody>
          <a:bodyPr>
            <a:normAutofit lnSpcReduction="10000"/>
          </a:bodyPr>
          <a:lstStyle/>
          <a:p>
            <a:pPr marL="0" indent="0" algn="just">
              <a:buNone/>
            </a:pPr>
            <a:r>
              <a:rPr lang="en-IN" sz="2400" b="1" dirty="0">
                <a:solidFill>
                  <a:srgbClr val="00B0F0"/>
                </a:solidFill>
                <a:latin typeface="Times New Roman" pitchFamily="18" charset="0"/>
                <a:cs typeface="Times New Roman" pitchFamily="18" charset="0"/>
              </a:rPr>
              <a:t>PERT-CPM Method</a:t>
            </a:r>
          </a:p>
          <a:p>
            <a:pPr algn="just"/>
            <a:r>
              <a:rPr lang="en-IN" sz="2200" b="1" dirty="0" smtClean="0">
                <a:latin typeface="Times New Roman" pitchFamily="18" charset="0"/>
                <a:cs typeface="Times New Roman" pitchFamily="18" charset="0"/>
              </a:rPr>
              <a:t>Advantage:</a:t>
            </a:r>
          </a:p>
          <a:p>
            <a:pPr lvl="1" algn="just"/>
            <a:r>
              <a:rPr lang="en-IN" sz="2200" dirty="0" smtClean="0">
                <a:latin typeface="Times New Roman" pitchFamily="18" charset="0"/>
                <a:cs typeface="Times New Roman" pitchFamily="18" charset="0"/>
              </a:rPr>
              <a:t>PERT </a:t>
            </a:r>
            <a:r>
              <a:rPr lang="en-IN" sz="2200" dirty="0">
                <a:latin typeface="Times New Roman" pitchFamily="18" charset="0"/>
                <a:cs typeface="Times New Roman" pitchFamily="18" charset="0"/>
              </a:rPr>
              <a:t>is useful to determine the expected project completion time, the probability of completion before a specified date, and the start and end dates. </a:t>
            </a:r>
            <a:endParaRPr lang="en-IN" sz="2200" dirty="0" smtClean="0">
              <a:latin typeface="Times New Roman" pitchFamily="18" charset="0"/>
              <a:cs typeface="Times New Roman" pitchFamily="18" charset="0"/>
            </a:endParaRPr>
          </a:p>
          <a:p>
            <a:pPr lvl="1" algn="just"/>
            <a:r>
              <a:rPr lang="en-IN" sz="2200" dirty="0" smtClean="0">
                <a:latin typeface="Times New Roman" pitchFamily="18" charset="0"/>
                <a:cs typeface="Times New Roman" pitchFamily="18" charset="0"/>
              </a:rPr>
              <a:t>It </a:t>
            </a:r>
            <a:r>
              <a:rPr lang="en-IN" sz="2200" dirty="0">
                <a:latin typeface="Times New Roman" pitchFamily="18" charset="0"/>
                <a:cs typeface="Times New Roman" pitchFamily="18" charset="0"/>
              </a:rPr>
              <a:t>helps to find the critical path activities that directly influence the completion time. </a:t>
            </a:r>
            <a:endParaRPr lang="en-IN" sz="2200" b="1" dirty="0">
              <a:solidFill>
                <a:schemeClr val="accent1">
                  <a:lumMod val="75000"/>
                </a:schemeClr>
              </a:solidFill>
              <a:latin typeface="Times New Roman" pitchFamily="18" charset="0"/>
              <a:cs typeface="Times New Roman" pitchFamily="18" charset="0"/>
            </a:endParaRPr>
          </a:p>
          <a:p>
            <a:pPr algn="just"/>
            <a:r>
              <a:rPr lang="en-IN" sz="2200" b="1" dirty="0" smtClean="0">
                <a:latin typeface="Times New Roman" pitchFamily="18" charset="0"/>
                <a:cs typeface="Times New Roman" pitchFamily="18" charset="0"/>
              </a:rPr>
              <a:t>Limitation:</a:t>
            </a: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time estimates for activities are somewhat subjective and depend on judgment. </a:t>
            </a:r>
            <a:endParaRPr lang="en-IN" sz="2200" dirty="0" smtClean="0">
              <a:latin typeface="Times New Roman" pitchFamily="18" charset="0"/>
              <a:cs typeface="Times New Roman" pitchFamily="18" charset="0"/>
            </a:endParaRPr>
          </a:p>
          <a:p>
            <a:pPr lvl="1" algn="just"/>
            <a:r>
              <a:rPr lang="en-IN" sz="2200" dirty="0" smtClean="0">
                <a:latin typeface="Times New Roman" pitchFamily="18" charset="0"/>
                <a:cs typeface="Times New Roman" pitchFamily="18" charset="0"/>
              </a:rPr>
              <a:t>If </a:t>
            </a:r>
            <a:r>
              <a:rPr lang="en-IN" sz="2200" dirty="0">
                <a:latin typeface="Times New Roman" pitchFamily="18" charset="0"/>
                <a:cs typeface="Times New Roman" pitchFamily="18" charset="0"/>
              </a:rPr>
              <a:t>there is little experience in performing an activity, the time is fixed only by an educated guess. </a:t>
            </a:r>
          </a:p>
          <a:p>
            <a:pPr algn="just"/>
            <a:endParaRPr lang="en-IN" sz="2200"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96</a:t>
            </a:fld>
            <a:endParaRPr lang="en-IN"/>
          </a:p>
        </p:txBody>
      </p:sp>
    </p:spTree>
    <p:extLst>
      <p:ext uri="{BB962C8B-B14F-4D97-AF65-F5344CB8AC3E}">
        <p14:creationId xmlns:p14="http://schemas.microsoft.com/office/powerpoint/2010/main" val="75383853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412776"/>
            <a:ext cx="8229600" cy="4968552"/>
          </a:xfrm>
        </p:spPr>
        <p:txBody>
          <a:bodyPr>
            <a:normAutofit/>
          </a:bodyPr>
          <a:lstStyle/>
          <a:p>
            <a:pPr marL="0" indent="0" algn="just">
              <a:buNone/>
            </a:pPr>
            <a:r>
              <a:rPr lang="en-IN" sz="2600" dirty="0">
                <a:solidFill>
                  <a:srgbClr val="00B0F0"/>
                </a:solidFill>
                <a:latin typeface="Times New Roman" pitchFamily="18" charset="0"/>
                <a:cs typeface="Times New Roman" pitchFamily="18" charset="0"/>
              </a:rPr>
              <a:t>Time </a:t>
            </a:r>
            <a:r>
              <a:rPr lang="en-IN" sz="2600" dirty="0" smtClean="0">
                <a:solidFill>
                  <a:srgbClr val="00B0F0"/>
                </a:solidFill>
                <a:latin typeface="Times New Roman" pitchFamily="18" charset="0"/>
                <a:cs typeface="Times New Roman" pitchFamily="18" charset="0"/>
              </a:rPr>
              <a:t>allocation</a:t>
            </a: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project time can be estimated based on certain assumptions and the experience of estimating the likely estimates of the activities in the project.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Therefore</a:t>
            </a:r>
            <a:r>
              <a:rPr lang="en-IN" sz="2400" dirty="0">
                <a:latin typeface="Times New Roman" pitchFamily="18" charset="0"/>
                <a:cs typeface="Times New Roman" pitchFamily="18" charset="0"/>
              </a:rPr>
              <a:t>, the estimation of time duration for a project includes three time estimates: </a:t>
            </a:r>
          </a:p>
          <a:p>
            <a:pPr lvl="1" algn="just"/>
            <a:r>
              <a:rPr lang="en-IN" sz="2400" i="1" dirty="0">
                <a:latin typeface="Times New Roman" pitchFamily="18" charset="0"/>
                <a:cs typeface="Times New Roman" pitchFamily="18" charset="0"/>
              </a:rPr>
              <a:t>Optimistic time (T</a:t>
            </a:r>
            <a:r>
              <a:rPr lang="en-IN" sz="2400" i="1" baseline="-25000" dirty="0">
                <a:latin typeface="Times New Roman" pitchFamily="18" charset="0"/>
                <a:cs typeface="Times New Roman" pitchFamily="18" charset="0"/>
              </a:rPr>
              <a:t>O</a:t>
            </a:r>
            <a:r>
              <a:rPr lang="en-IN" sz="2400" i="1" dirty="0">
                <a:latin typeface="Times New Roman" pitchFamily="18" charset="0"/>
                <a:cs typeface="Times New Roman" pitchFamily="18" charset="0"/>
              </a:rPr>
              <a:t>)</a:t>
            </a:r>
            <a:r>
              <a:rPr lang="en-IN" sz="2400" dirty="0">
                <a:latin typeface="Times New Roman" pitchFamily="18" charset="0"/>
                <a:cs typeface="Times New Roman" pitchFamily="18" charset="0"/>
              </a:rPr>
              <a:t>: It is the shortest time in which the activity can be completed. </a:t>
            </a:r>
          </a:p>
          <a:p>
            <a:pPr lvl="1" algn="just"/>
            <a:r>
              <a:rPr lang="en-IN" sz="2400" i="1" dirty="0">
                <a:latin typeface="Times New Roman" pitchFamily="18" charset="0"/>
                <a:cs typeface="Times New Roman" pitchFamily="18" charset="0"/>
              </a:rPr>
              <a:t>Most likely time (T</a:t>
            </a:r>
            <a:r>
              <a:rPr lang="en-IN" sz="2400" i="1" baseline="-25000" dirty="0">
                <a:latin typeface="Times New Roman" pitchFamily="18" charset="0"/>
                <a:cs typeface="Times New Roman" pitchFamily="18" charset="0"/>
              </a:rPr>
              <a:t>M</a:t>
            </a:r>
            <a:r>
              <a:rPr lang="en-IN" sz="2400" i="1" dirty="0">
                <a:latin typeface="Times New Roman" pitchFamily="18" charset="0"/>
                <a:cs typeface="Times New Roman" pitchFamily="18" charset="0"/>
              </a:rPr>
              <a:t>)</a:t>
            </a:r>
            <a:r>
              <a:rPr lang="en-IN" sz="2400" dirty="0">
                <a:latin typeface="Times New Roman" pitchFamily="18" charset="0"/>
                <a:cs typeface="Times New Roman" pitchFamily="18" charset="0"/>
              </a:rPr>
              <a:t>: It is the completion time having the highest probability. </a:t>
            </a:r>
          </a:p>
          <a:p>
            <a:pPr lvl="1" algn="just"/>
            <a:r>
              <a:rPr lang="en-IN" sz="2400" i="1" dirty="0">
                <a:latin typeface="Times New Roman" pitchFamily="18" charset="0"/>
                <a:cs typeface="Times New Roman" pitchFamily="18" charset="0"/>
              </a:rPr>
              <a:t>Pessimistic time (T</a:t>
            </a:r>
            <a:r>
              <a:rPr lang="en-IN" sz="2400" i="1" baseline="-25000" dirty="0">
                <a:latin typeface="Times New Roman" pitchFamily="18" charset="0"/>
                <a:cs typeface="Times New Roman" pitchFamily="18" charset="0"/>
              </a:rPr>
              <a:t>P</a:t>
            </a:r>
            <a:r>
              <a:rPr lang="en-IN" sz="2400" i="1" dirty="0">
                <a:latin typeface="Times New Roman" pitchFamily="18" charset="0"/>
                <a:cs typeface="Times New Roman" pitchFamily="18" charset="0"/>
              </a:rPr>
              <a:t>)</a:t>
            </a:r>
            <a:r>
              <a:rPr lang="en-IN" sz="2400" dirty="0">
                <a:latin typeface="Times New Roman" pitchFamily="18" charset="0"/>
                <a:cs typeface="Times New Roman" pitchFamily="18" charset="0"/>
              </a:rPr>
              <a:t>: It is the longest time that an activity might require. </a:t>
            </a: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97</a:t>
            </a:fld>
            <a:endParaRPr lang="en-IN"/>
          </a:p>
        </p:txBody>
      </p:sp>
    </p:spTree>
    <p:extLst>
      <p:ext uri="{BB962C8B-B14F-4D97-AF65-F5344CB8AC3E}">
        <p14:creationId xmlns:p14="http://schemas.microsoft.com/office/powerpoint/2010/main" val="40189209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Project </a:t>
            </a:r>
            <a:r>
              <a:rPr lang="en-IN" sz="3200" b="1" dirty="0">
                <a:solidFill>
                  <a:srgbClr val="0000FF"/>
                </a:solidFill>
                <a:latin typeface="Times New Roman" pitchFamily="18" charset="0"/>
                <a:cs typeface="Times New Roman" pitchFamily="18" charset="0"/>
              </a:rPr>
              <a:t>Scheduling and </a:t>
            </a:r>
            <a:r>
              <a:rPr lang="en-IN" sz="3200" b="1" dirty="0" smtClean="0">
                <a:solidFill>
                  <a:srgbClr val="0000FF"/>
                </a:solidFill>
                <a:latin typeface="Times New Roman" pitchFamily="18" charset="0"/>
                <a:cs typeface="Times New Roman" pitchFamily="18" charset="0"/>
              </a:rPr>
              <a:t>Milestones</a:t>
            </a:r>
            <a:endParaRPr lang="en-IN" sz="3200" b="1" dirty="0">
              <a:solidFill>
                <a:srgbClr val="0000FF"/>
              </a:solidFill>
              <a:latin typeface="Times New Roman" pitchFamily="18" charset="0"/>
              <a:cs typeface="Times New Roman" pitchFamily="18" charset="0"/>
            </a:endParaRPr>
          </a:p>
        </p:txBody>
      </p:sp>
      <p:sp>
        <p:nvSpPr>
          <p:cNvPr id="3" name="Content Placeholder 2"/>
          <p:cNvSpPr>
            <a:spLocks noGrp="1"/>
          </p:cNvSpPr>
          <p:nvPr>
            <p:ph idx="1"/>
          </p:nvPr>
        </p:nvSpPr>
        <p:spPr>
          <a:xfrm>
            <a:off x="457200" y="1412776"/>
            <a:ext cx="8229600" cy="4968552"/>
          </a:xfrm>
        </p:spPr>
        <p:txBody>
          <a:bodyPr>
            <a:normAutofit lnSpcReduction="10000"/>
          </a:bodyPr>
          <a:lstStyle/>
          <a:p>
            <a:pPr marL="0" indent="0" algn="just">
              <a:buNone/>
            </a:pPr>
            <a:r>
              <a:rPr lang="en-IN" sz="2400" dirty="0">
                <a:solidFill>
                  <a:srgbClr val="00B0F0"/>
                </a:solidFill>
                <a:latin typeface="Times New Roman" pitchFamily="18" charset="0"/>
                <a:cs typeface="Times New Roman" pitchFamily="18" charset="0"/>
              </a:rPr>
              <a:t>Time </a:t>
            </a:r>
            <a:r>
              <a:rPr lang="en-IN" sz="2400" dirty="0" smtClean="0">
                <a:solidFill>
                  <a:srgbClr val="00B0F0"/>
                </a:solidFill>
                <a:latin typeface="Times New Roman" pitchFamily="18" charset="0"/>
                <a:cs typeface="Times New Roman" pitchFamily="18" charset="0"/>
              </a:rPr>
              <a:t>allocation</a:t>
            </a:r>
          </a:p>
          <a:p>
            <a:pPr algn="just"/>
            <a:r>
              <a:rPr lang="en-IN" sz="2400" dirty="0">
                <a:latin typeface="Times New Roman" pitchFamily="18" charset="0"/>
                <a:cs typeface="Times New Roman" pitchFamily="18" charset="0"/>
              </a:rPr>
              <a:t>The expected time for each activity can be approximated using the following weighted average: </a:t>
            </a:r>
          </a:p>
          <a:p>
            <a:pPr marL="457200" lvl="1" indent="0" algn="just">
              <a:buNone/>
            </a:pPr>
            <a:r>
              <a:rPr lang="en-IN" sz="2400" dirty="0" smtClean="0">
                <a:latin typeface="Times New Roman" pitchFamily="18" charset="0"/>
                <a:cs typeface="Times New Roman" pitchFamily="18" charset="0"/>
              </a:rPr>
              <a:t>	Expected </a:t>
            </a:r>
            <a:r>
              <a:rPr lang="en-IN" sz="2400" dirty="0">
                <a:latin typeface="Times New Roman" pitchFamily="18" charset="0"/>
                <a:cs typeface="Times New Roman" pitchFamily="18" charset="0"/>
              </a:rPr>
              <a:t>time </a:t>
            </a:r>
            <a:r>
              <a:rPr lang="en-IN" sz="2400" i="1" dirty="0">
                <a:latin typeface="Times New Roman" pitchFamily="18" charset="0"/>
                <a:cs typeface="Times New Roman" pitchFamily="18" charset="0"/>
              </a:rPr>
              <a:t>(T)</a:t>
            </a:r>
            <a:r>
              <a:rPr lang="en-IN" sz="2400" dirty="0">
                <a:latin typeface="Times New Roman" pitchFamily="18" charset="0"/>
                <a:cs typeface="Times New Roman" pitchFamily="18" charset="0"/>
              </a:rPr>
              <a:t> = (</a:t>
            </a: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O</a:t>
            </a:r>
            <a:r>
              <a:rPr lang="en-IN" sz="2400" dirty="0">
                <a:latin typeface="Times New Roman" pitchFamily="18" charset="0"/>
                <a:cs typeface="Times New Roman" pitchFamily="18" charset="0"/>
              </a:rPr>
              <a:t> + 4 × </a:t>
            </a: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M </a:t>
            </a:r>
            <a:r>
              <a:rPr lang="en-IN" sz="2400" i="1" dirty="0">
                <a:latin typeface="Times New Roman" pitchFamily="18" charset="0"/>
                <a:cs typeface="Times New Roman" pitchFamily="18" charset="0"/>
              </a:rPr>
              <a:t>+ T</a:t>
            </a:r>
            <a:r>
              <a:rPr lang="en-IN" sz="2400" i="1" baseline="-25000" dirty="0">
                <a:latin typeface="Times New Roman" pitchFamily="18" charset="0"/>
                <a:cs typeface="Times New Roman" pitchFamily="18" charset="0"/>
              </a:rPr>
              <a:t>P</a:t>
            </a:r>
            <a:r>
              <a:rPr lang="en-IN" sz="2400" dirty="0">
                <a:latin typeface="Times New Roman" pitchFamily="18" charset="0"/>
                <a:cs typeface="Times New Roman" pitchFamily="18" charset="0"/>
              </a:rPr>
              <a:t>)/6 </a:t>
            </a:r>
          </a:p>
          <a:p>
            <a:pPr algn="just"/>
            <a:r>
              <a:rPr lang="en-IN" sz="2400" dirty="0">
                <a:latin typeface="Times New Roman" pitchFamily="18" charset="0"/>
                <a:cs typeface="Times New Roman" pitchFamily="18" charset="0"/>
              </a:rPr>
              <a:t>This expected time might be displayed on the network diagram along with the activities in boxes.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The </a:t>
            </a:r>
            <a:r>
              <a:rPr lang="en-IN" sz="2400" dirty="0">
                <a:latin typeface="Times New Roman" pitchFamily="18" charset="0"/>
                <a:cs typeface="Times New Roman" pitchFamily="18" charset="0"/>
              </a:rPr>
              <a:t>variance for each activity is determined as: </a:t>
            </a:r>
          </a:p>
          <a:p>
            <a:pPr marL="457200" lvl="1" indent="0" algn="just">
              <a:buNone/>
            </a:pPr>
            <a:r>
              <a:rPr lang="en-IN" sz="2400" dirty="0" smtClean="0">
                <a:latin typeface="Times New Roman" pitchFamily="18" charset="0"/>
                <a:cs typeface="Times New Roman" pitchFamily="18" charset="0"/>
              </a:rPr>
              <a:t>	[(</a:t>
            </a: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P</a:t>
            </a:r>
            <a:r>
              <a:rPr lang="en-IN" sz="2400" dirty="0">
                <a:latin typeface="Times New Roman" pitchFamily="18" charset="0"/>
                <a:cs typeface="Times New Roman" pitchFamily="18" charset="0"/>
              </a:rPr>
              <a:t> - </a:t>
            </a:r>
            <a:r>
              <a:rPr lang="en-IN" sz="2400" i="1" dirty="0">
                <a:latin typeface="Times New Roman" pitchFamily="18" charset="0"/>
                <a:cs typeface="Times New Roman" pitchFamily="18" charset="0"/>
              </a:rPr>
              <a:t>T</a:t>
            </a:r>
            <a:r>
              <a:rPr lang="en-IN" sz="2400" i="1" baseline="-25000" dirty="0">
                <a:latin typeface="Times New Roman" pitchFamily="18" charset="0"/>
                <a:cs typeface="Times New Roman" pitchFamily="18" charset="0"/>
              </a:rPr>
              <a:t>O</a:t>
            </a:r>
            <a:r>
              <a:rPr lang="en-IN" sz="2400" dirty="0">
                <a:latin typeface="Times New Roman" pitchFamily="18" charset="0"/>
                <a:cs typeface="Times New Roman" pitchFamily="18" charset="0"/>
              </a:rPr>
              <a:t>)/6]</a:t>
            </a:r>
            <a:r>
              <a:rPr lang="en-IN" sz="2400" baseline="30000" dirty="0">
                <a:latin typeface="Times New Roman" pitchFamily="18" charset="0"/>
                <a:cs typeface="Times New Roman" pitchFamily="18" charset="0"/>
              </a:rPr>
              <a:t>2 </a:t>
            </a:r>
            <a:endParaRPr lang="en-IN" sz="2400" dirty="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The variance in the total project durations is the sum of the variances of the activity duration on the critical path. </a:t>
            </a:r>
            <a:endParaRPr lang="en-IN" sz="2400" dirty="0" smtClean="0">
              <a:latin typeface="Times New Roman" pitchFamily="18" charset="0"/>
              <a:cs typeface="Times New Roman" pitchFamily="18" charset="0"/>
            </a:endParaRPr>
          </a:p>
          <a:p>
            <a:pPr algn="just"/>
            <a:r>
              <a:rPr lang="en-IN" sz="2400" dirty="0" smtClean="0">
                <a:latin typeface="Times New Roman" pitchFamily="18" charset="0"/>
                <a:cs typeface="Times New Roman" pitchFamily="18" charset="0"/>
              </a:rPr>
              <a:t>This </a:t>
            </a:r>
            <a:r>
              <a:rPr lang="en-IN" sz="2400" dirty="0">
                <a:latin typeface="Times New Roman" pitchFamily="18" charset="0"/>
                <a:cs typeface="Times New Roman" pitchFamily="18" charset="0"/>
              </a:rPr>
              <a:t>is helpful for project managers in determining the completion time of the project. </a:t>
            </a:r>
            <a:r>
              <a:rPr lang="en-IN" sz="2400" b="1" dirty="0">
                <a:latin typeface="Times New Roman" pitchFamily="18" charset="0"/>
                <a:cs typeface="Times New Roman" pitchFamily="18" charset="0"/>
              </a:rPr>
              <a:t> </a:t>
            </a:r>
            <a:endParaRPr lang="en-IN" sz="2400" dirty="0">
              <a:latin typeface="Times New Roman" pitchFamily="18" charset="0"/>
              <a:cs typeface="Times New Roman" pitchFamily="18" charset="0"/>
            </a:endParaRPr>
          </a:p>
          <a:p>
            <a:pPr algn="just"/>
            <a:endParaRPr lang="en-IN" sz="2200" b="1" dirty="0" smtClean="0">
              <a:solidFill>
                <a:srgbClr val="00B0F0"/>
              </a:solidFill>
              <a:latin typeface="Times New Roman" pitchFamily="18" charset="0"/>
              <a:cs typeface="Times New Roman" pitchFamily="18" charset="0"/>
            </a:endParaRPr>
          </a:p>
          <a:p>
            <a:pPr marL="0" indent="0" algn="just">
              <a:buNone/>
            </a:pPr>
            <a:endParaRPr lang="en-IN"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98</a:t>
            </a:fld>
            <a:endParaRPr lang="en-IN"/>
          </a:p>
        </p:txBody>
      </p:sp>
    </p:spTree>
    <p:extLst>
      <p:ext uri="{BB962C8B-B14F-4D97-AF65-F5344CB8AC3E}">
        <p14:creationId xmlns:p14="http://schemas.microsoft.com/office/powerpoint/2010/main" val="13611224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IN" sz="2400" dirty="0">
                <a:solidFill>
                  <a:srgbClr val="00B0F0"/>
                </a:solidFill>
                <a:latin typeface="Times New Roman" pitchFamily="18" charset="0"/>
                <a:cs typeface="Times New Roman" pitchFamily="18" charset="0"/>
              </a:rPr>
              <a:t>Resource </a:t>
            </a:r>
            <a:r>
              <a:rPr lang="en-IN" sz="2400" dirty="0" smtClean="0">
                <a:solidFill>
                  <a:srgbClr val="00B0F0"/>
                </a:solidFill>
                <a:latin typeface="Times New Roman" pitchFamily="18" charset="0"/>
                <a:cs typeface="Times New Roman" pitchFamily="18" charset="0"/>
              </a:rPr>
              <a:t>allocation</a:t>
            </a:r>
          </a:p>
          <a:p>
            <a:pPr algn="just"/>
            <a:r>
              <a:rPr lang="en-IN" sz="2200" dirty="0">
                <a:latin typeface="Times New Roman" pitchFamily="18" charset="0"/>
                <a:cs typeface="Times New Roman" pitchFamily="18" charset="0"/>
              </a:rPr>
              <a:t>A </a:t>
            </a:r>
            <a:r>
              <a:rPr lang="en-IN" sz="2200" i="1" dirty="0">
                <a:latin typeface="Times New Roman" pitchFamily="18" charset="0"/>
                <a:cs typeface="Times New Roman" pitchFamily="18" charset="0"/>
              </a:rPr>
              <a:t>Gantt chart </a:t>
            </a:r>
            <a:r>
              <a:rPr lang="en-IN" sz="2200" dirty="0">
                <a:latin typeface="Times New Roman" pitchFamily="18" charset="0"/>
                <a:cs typeface="Times New Roman" pitchFamily="18" charset="0"/>
              </a:rPr>
              <a:t>is a horizontal bar chart that provides a graphical illustration of a project schedule</a:t>
            </a:r>
            <a:r>
              <a:rPr lang="en-IN" sz="2200" dirty="0" smtClean="0">
                <a:latin typeface="Times New Roman" pitchFamily="18" charset="0"/>
                <a:cs typeface="Times New Roman" pitchFamily="18" charset="0"/>
              </a:rPr>
              <a:t>.</a:t>
            </a:r>
          </a:p>
          <a:p>
            <a:pPr algn="just"/>
            <a:r>
              <a:rPr lang="en-IN" sz="2200" dirty="0" smtClean="0">
                <a:latin typeface="Times New Roman" pitchFamily="18" charset="0"/>
                <a:cs typeface="Times New Roman" pitchFamily="18" charset="0"/>
              </a:rPr>
              <a:t>It </a:t>
            </a:r>
            <a:r>
              <a:rPr lang="en-IN" sz="2200" dirty="0">
                <a:latin typeface="Times New Roman" pitchFamily="18" charset="0"/>
                <a:cs typeface="Times New Roman" pitchFamily="18" charset="0"/>
              </a:rPr>
              <a:t>is commonly used for scheduling the tasks, allocating the resources, and tracking the progress of projects.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Drawing a Gantt chart requires tasks, duration of the tasks, and resources requirements to complete the tasks. Gantt charts are also useful for monitoring the progress of the project. </a:t>
            </a:r>
          </a:p>
          <a:p>
            <a:pPr algn="just"/>
            <a:r>
              <a:rPr lang="en-IN" sz="2200" dirty="0">
                <a:latin typeface="Times New Roman" pitchFamily="18" charset="0"/>
                <a:cs typeface="Times New Roman" pitchFamily="18" charset="0"/>
              </a:rPr>
              <a:t>In a Gantt chart, activities are generally shown vertically on the left-hand side and the horizontal bar indicates the start date, end date, and duration of each activity. </a:t>
            </a:r>
            <a:endParaRPr lang="en-IN" sz="2200" dirty="0">
              <a:solidFill>
                <a:srgbClr val="00B0F0"/>
              </a:solidFill>
              <a:latin typeface="Times New Roman" pitchFamily="18" charset="0"/>
              <a:cs typeface="Times New Roman" pitchFamily="18" charset="0"/>
            </a:endParaRPr>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99</a:t>
            </a:fld>
            <a:endParaRPr lang="en-IN"/>
          </a:p>
        </p:txBody>
      </p:sp>
    </p:spTree>
    <p:extLst>
      <p:ext uri="{BB962C8B-B14F-4D97-AF65-F5344CB8AC3E}">
        <p14:creationId xmlns:p14="http://schemas.microsoft.com/office/powerpoint/2010/main" val="1242825177"/>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25470"/>
          </a:xfrm>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a:xfrm>
            <a:off x="457200" y="1142984"/>
            <a:ext cx="8229600" cy="328602"/>
          </a:xfrm>
        </p:spPr>
        <p:txBody>
          <a:bodyPr>
            <a:noAutofit/>
          </a:bodyPr>
          <a:lstStyle/>
          <a:p>
            <a:pPr marL="0" indent="0">
              <a:buNone/>
            </a:pPr>
            <a:r>
              <a:rPr lang="en-IN" sz="2400" dirty="0">
                <a:solidFill>
                  <a:srgbClr val="00B0F0"/>
                </a:solidFill>
                <a:latin typeface="Times New Roman" pitchFamily="18" charset="0"/>
                <a:cs typeface="Times New Roman" pitchFamily="18" charset="0"/>
              </a:rPr>
              <a:t>Resource </a:t>
            </a:r>
            <a:r>
              <a:rPr lang="en-IN" sz="2400" dirty="0" smtClean="0">
                <a:solidFill>
                  <a:srgbClr val="00B0F0"/>
                </a:solidFill>
                <a:latin typeface="Times New Roman" pitchFamily="18" charset="0"/>
                <a:cs typeface="Times New Roman" pitchFamily="18" charset="0"/>
              </a:rPr>
              <a:t>allocation</a:t>
            </a:r>
            <a:endParaRPr lang="en-IN" sz="2400" dirty="0">
              <a:solidFill>
                <a:srgbClr val="00B0F0"/>
              </a:solidFill>
              <a:latin typeface="Times New Roman" pitchFamily="18" charset="0"/>
              <a:cs typeface="Times New Roman" pitchFamily="18" charset="0"/>
            </a:endParaRPr>
          </a:p>
          <a:p>
            <a:endParaRPr lang="en-IN" sz="2400" dirty="0"/>
          </a:p>
        </p:txBody>
      </p:sp>
      <p:sp>
        <p:nvSpPr>
          <p:cNvPr id="10" name="Rectangle 9"/>
          <p:cNvSpPr/>
          <p:nvPr/>
        </p:nvSpPr>
        <p:spPr>
          <a:xfrm>
            <a:off x="2051720" y="6088770"/>
            <a:ext cx="4874027" cy="400110"/>
          </a:xfrm>
          <a:prstGeom prst="rect">
            <a:avLst/>
          </a:prstGeom>
        </p:spPr>
        <p:txBody>
          <a:bodyPr wrap="none">
            <a:spAutoFit/>
          </a:bodyPr>
          <a:lstStyle/>
          <a:p>
            <a:r>
              <a:rPr lang="en-IN" sz="2000" b="1" dirty="0">
                <a:latin typeface="Times New Roman" pitchFamily="18" charset="0"/>
                <a:cs typeface="Times New Roman" pitchFamily="18" charset="0"/>
              </a:rPr>
              <a:t>Figure </a:t>
            </a:r>
            <a:r>
              <a:rPr lang="en-IN" sz="2000" b="1" dirty="0" smtClean="0">
                <a:latin typeface="Times New Roman" pitchFamily="18" charset="0"/>
                <a:cs typeface="Times New Roman" pitchFamily="18" charset="0"/>
              </a:rPr>
              <a:t>5.7</a:t>
            </a:r>
            <a:r>
              <a:rPr lang="en-IN" sz="2000" b="1" dirty="0">
                <a:latin typeface="Times New Roman" pitchFamily="18" charset="0"/>
                <a:cs typeface="Times New Roman" pitchFamily="18" charset="0"/>
              </a:rPr>
              <a:t>: Gantt chart for software design</a:t>
            </a:r>
          </a:p>
        </p:txBody>
      </p:sp>
      <p:sp>
        <p:nvSpPr>
          <p:cNvPr id="7" name="Slide Number Placeholder 6"/>
          <p:cNvSpPr>
            <a:spLocks noGrp="1"/>
          </p:cNvSpPr>
          <p:nvPr>
            <p:ph type="sldNum" sz="quarter" idx="12"/>
          </p:nvPr>
        </p:nvSpPr>
        <p:spPr/>
        <p:txBody>
          <a:bodyPr/>
          <a:lstStyle/>
          <a:p>
            <a:fld id="{0C087B72-CC60-4FF0-9C96-8509CDF76D05}" type="slidenum">
              <a:rPr lang="en-IN" smtClean="0"/>
              <a:pPr/>
              <a:t>100</a:t>
            </a:fld>
            <a:endParaRPr lang="en-IN"/>
          </a:p>
        </p:txBody>
      </p:sp>
      <p:graphicFrame>
        <p:nvGraphicFramePr>
          <p:cNvPr id="9" name="Table 8"/>
          <p:cNvGraphicFramePr>
            <a:graphicFrameLocks noGrp="1"/>
          </p:cNvGraphicFramePr>
          <p:nvPr/>
        </p:nvGraphicFramePr>
        <p:xfrm>
          <a:off x="642910" y="1714488"/>
          <a:ext cx="7643867" cy="4006023"/>
        </p:xfrm>
        <a:graphic>
          <a:graphicData uri="http://schemas.openxmlformats.org/drawingml/2006/table">
            <a:tbl>
              <a:tblPr>
                <a:tableStyleId>{616DA210-FB5B-4158-B5E0-FEB733F419BA}</a:tableStyleId>
              </a:tblPr>
              <a:tblGrid>
                <a:gridCol w="1357322">
                  <a:extLst>
                    <a:ext uri="{9D8B030D-6E8A-4147-A177-3AD203B41FA5}">
                      <a16:colId xmlns:a16="http://schemas.microsoft.com/office/drawing/2014/main" val="20000"/>
                    </a:ext>
                  </a:extLst>
                </a:gridCol>
                <a:gridCol w="836952">
                  <a:extLst>
                    <a:ext uri="{9D8B030D-6E8A-4147-A177-3AD203B41FA5}">
                      <a16:colId xmlns:a16="http://schemas.microsoft.com/office/drawing/2014/main" val="20001"/>
                    </a:ext>
                  </a:extLst>
                </a:gridCol>
                <a:gridCol w="834920">
                  <a:extLst>
                    <a:ext uri="{9D8B030D-6E8A-4147-A177-3AD203B41FA5}">
                      <a16:colId xmlns:a16="http://schemas.microsoft.com/office/drawing/2014/main" val="20002"/>
                    </a:ext>
                  </a:extLst>
                </a:gridCol>
                <a:gridCol w="1042773">
                  <a:extLst>
                    <a:ext uri="{9D8B030D-6E8A-4147-A177-3AD203B41FA5}">
                      <a16:colId xmlns:a16="http://schemas.microsoft.com/office/drawing/2014/main" val="20003"/>
                    </a:ext>
                  </a:extLst>
                </a:gridCol>
                <a:gridCol w="892328">
                  <a:extLst>
                    <a:ext uri="{9D8B030D-6E8A-4147-A177-3AD203B41FA5}">
                      <a16:colId xmlns:a16="http://schemas.microsoft.com/office/drawing/2014/main" val="20004"/>
                    </a:ext>
                  </a:extLst>
                </a:gridCol>
                <a:gridCol w="939285">
                  <a:extLst>
                    <a:ext uri="{9D8B030D-6E8A-4147-A177-3AD203B41FA5}">
                      <a16:colId xmlns:a16="http://schemas.microsoft.com/office/drawing/2014/main" val="20005"/>
                    </a:ext>
                  </a:extLst>
                </a:gridCol>
                <a:gridCol w="939285">
                  <a:extLst>
                    <a:ext uri="{9D8B030D-6E8A-4147-A177-3AD203B41FA5}">
                      <a16:colId xmlns:a16="http://schemas.microsoft.com/office/drawing/2014/main" val="20006"/>
                    </a:ext>
                  </a:extLst>
                </a:gridCol>
                <a:gridCol w="801002">
                  <a:extLst>
                    <a:ext uri="{9D8B030D-6E8A-4147-A177-3AD203B41FA5}">
                      <a16:colId xmlns:a16="http://schemas.microsoft.com/office/drawing/2014/main" val="20007"/>
                    </a:ext>
                  </a:extLst>
                </a:gridCol>
              </a:tblGrid>
              <a:tr h="648437">
                <a:tc>
                  <a:txBody>
                    <a:bodyPr/>
                    <a:lstStyle/>
                    <a:p>
                      <a:pPr algn="just">
                        <a:lnSpc>
                          <a:spcPct val="115000"/>
                        </a:lnSpc>
                        <a:spcAft>
                          <a:spcPts val="0"/>
                        </a:spcAft>
                      </a:pPr>
                      <a:r>
                        <a:rPr lang="en-US" dirty="0"/>
                        <a:t>Task name</a:t>
                      </a:r>
                      <a:endParaRPr lang="en-IN" dirty="0"/>
                    </a:p>
                  </a:txBody>
                  <a:tcPr marL="27305" marR="27305" marT="0" marB="0"/>
                </a:tc>
                <a:tc>
                  <a:txBody>
                    <a:bodyPr/>
                    <a:lstStyle/>
                    <a:p>
                      <a:pPr algn="ctr">
                        <a:lnSpc>
                          <a:spcPct val="115000"/>
                        </a:lnSpc>
                        <a:spcAft>
                          <a:spcPts val="0"/>
                        </a:spcAft>
                      </a:pPr>
                      <a:r>
                        <a:rPr lang="en-US"/>
                        <a:t>Duration (days)</a:t>
                      </a:r>
                      <a:endParaRPr lang="en-IN"/>
                    </a:p>
                  </a:txBody>
                  <a:tcPr marL="27305" marR="27305" marT="0" marB="0"/>
                </a:tc>
                <a:tc>
                  <a:txBody>
                    <a:bodyPr/>
                    <a:lstStyle/>
                    <a:p>
                      <a:pPr algn="ctr">
                        <a:lnSpc>
                          <a:spcPct val="115000"/>
                        </a:lnSpc>
                        <a:spcAft>
                          <a:spcPts val="0"/>
                        </a:spcAft>
                      </a:pPr>
                      <a:r>
                        <a:rPr lang="en-US"/>
                        <a:t>Start date</a:t>
                      </a:r>
                      <a:endParaRPr lang="en-IN"/>
                    </a:p>
                  </a:txBody>
                  <a:tcPr marL="27305" marR="27305" marT="0" marB="0"/>
                </a:tc>
                <a:tc>
                  <a:txBody>
                    <a:bodyPr/>
                    <a:lstStyle/>
                    <a:p>
                      <a:pPr algn="ctr">
                        <a:lnSpc>
                          <a:spcPct val="115000"/>
                        </a:lnSpc>
                        <a:spcAft>
                          <a:spcPts val="0"/>
                        </a:spcAft>
                      </a:pPr>
                      <a:r>
                        <a:rPr lang="en-US"/>
                        <a:t>End date</a:t>
                      </a:r>
                      <a:endParaRPr lang="en-IN"/>
                    </a:p>
                  </a:txBody>
                  <a:tcPr marL="27305" marR="27305" marT="0" marB="0"/>
                </a:tc>
                <a:tc gridSpan="4">
                  <a:txBody>
                    <a:bodyPr/>
                    <a:lstStyle/>
                    <a:p>
                      <a:pPr>
                        <a:lnSpc>
                          <a:spcPct val="115000"/>
                        </a:lnSpc>
                        <a:spcAft>
                          <a:spcPts val="0"/>
                        </a:spcAft>
                      </a:pPr>
                      <a:r>
                        <a:rPr lang="en-US" dirty="0"/>
                        <a:t>Jan            </a:t>
                      </a:r>
                      <a:r>
                        <a:rPr lang="en-US" dirty="0" err="1"/>
                        <a:t>Jan</a:t>
                      </a:r>
                      <a:r>
                        <a:rPr lang="en-US" dirty="0"/>
                        <a:t>            Feb            </a:t>
                      </a:r>
                      <a:r>
                        <a:rPr lang="en-US" dirty="0" err="1"/>
                        <a:t>Feb</a:t>
                      </a:r>
                      <a:endParaRPr lang="en-IN" dirty="0"/>
                    </a:p>
                    <a:p>
                      <a:pPr>
                        <a:lnSpc>
                          <a:spcPct val="115000"/>
                        </a:lnSpc>
                        <a:spcAft>
                          <a:spcPts val="0"/>
                        </a:spcAft>
                      </a:pPr>
                      <a:r>
                        <a:rPr lang="en-US" dirty="0"/>
                        <a:t>20              31              10              20 </a:t>
                      </a:r>
                      <a:endParaRPr lang="en-IN" dirty="0"/>
                    </a:p>
                  </a:txBody>
                  <a:tcPr marL="27305" marR="27305" marT="0" marB="0"/>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0"/>
                  </a:ext>
                </a:extLst>
              </a:tr>
              <a:tr h="648437">
                <a:tc>
                  <a:txBody>
                    <a:bodyPr/>
                    <a:lstStyle/>
                    <a:p>
                      <a:pPr algn="just">
                        <a:lnSpc>
                          <a:spcPct val="115000"/>
                        </a:lnSpc>
                        <a:spcAft>
                          <a:spcPts val="0"/>
                        </a:spcAft>
                      </a:pPr>
                      <a:r>
                        <a:rPr lang="en-US" dirty="0"/>
                        <a:t>Architectural design</a:t>
                      </a:r>
                      <a:endParaRPr lang="en-IN" dirty="0"/>
                    </a:p>
                  </a:txBody>
                  <a:tcPr marL="27305" marR="27305" marT="0" marB="0"/>
                </a:tc>
                <a:tc>
                  <a:txBody>
                    <a:bodyPr/>
                    <a:lstStyle/>
                    <a:p>
                      <a:pPr algn="ctr">
                        <a:lnSpc>
                          <a:spcPct val="115000"/>
                        </a:lnSpc>
                        <a:spcAft>
                          <a:spcPts val="0"/>
                        </a:spcAft>
                      </a:pPr>
                      <a:r>
                        <a:rPr lang="en-US" dirty="0"/>
                        <a:t>10</a:t>
                      </a:r>
                      <a:endParaRPr lang="en-IN" dirty="0"/>
                    </a:p>
                  </a:txBody>
                  <a:tcPr marL="27305" marR="27305" marT="0" marB="0"/>
                </a:tc>
                <a:tc>
                  <a:txBody>
                    <a:bodyPr/>
                    <a:lstStyle/>
                    <a:p>
                      <a:pPr algn="ctr">
                        <a:lnSpc>
                          <a:spcPct val="115000"/>
                        </a:lnSpc>
                        <a:spcAft>
                          <a:spcPts val="0"/>
                        </a:spcAft>
                      </a:pPr>
                      <a:r>
                        <a:rPr lang="en-US"/>
                        <a:t>20/01/11</a:t>
                      </a:r>
                      <a:endParaRPr lang="en-IN"/>
                    </a:p>
                  </a:txBody>
                  <a:tcPr marL="27305" marR="27305" marT="0" marB="0"/>
                </a:tc>
                <a:tc>
                  <a:txBody>
                    <a:bodyPr/>
                    <a:lstStyle/>
                    <a:p>
                      <a:pPr algn="ctr">
                        <a:lnSpc>
                          <a:spcPct val="115000"/>
                        </a:lnSpc>
                        <a:spcAft>
                          <a:spcPts val="0"/>
                        </a:spcAft>
                      </a:pPr>
                      <a:r>
                        <a:rPr lang="en-US" dirty="0"/>
                        <a:t>29/01/11</a:t>
                      </a:r>
                      <a:endParaRPr lang="en-IN"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a:p>
                  </a:txBody>
                  <a:tcPr marL="27305" marR="27305" marT="0" marB="0"/>
                </a:tc>
                <a:tc>
                  <a:txBody>
                    <a:bodyPr/>
                    <a:lstStyle/>
                    <a:p>
                      <a:pPr algn="just">
                        <a:lnSpc>
                          <a:spcPct val="115000"/>
                        </a:lnSpc>
                        <a:spcAft>
                          <a:spcPts val="0"/>
                        </a:spcAft>
                      </a:pPr>
                      <a:endParaRPr lang="en-US"/>
                    </a:p>
                  </a:txBody>
                  <a:tcPr marL="27305" marR="27305" marT="0" marB="0"/>
                </a:tc>
                <a:extLst>
                  <a:ext uri="{0D108BD9-81ED-4DB2-BD59-A6C34878D82A}">
                    <a16:rowId xmlns:a16="http://schemas.microsoft.com/office/drawing/2014/main" val="10001"/>
                  </a:ext>
                </a:extLst>
              </a:tr>
              <a:tr h="648437">
                <a:tc>
                  <a:txBody>
                    <a:bodyPr/>
                    <a:lstStyle/>
                    <a:p>
                      <a:pPr algn="just">
                        <a:lnSpc>
                          <a:spcPct val="115000"/>
                        </a:lnSpc>
                        <a:spcAft>
                          <a:spcPts val="0"/>
                        </a:spcAft>
                      </a:pPr>
                      <a:r>
                        <a:rPr lang="en-US"/>
                        <a:t>Input </a:t>
                      </a:r>
                      <a:endParaRPr lang="en-IN"/>
                    </a:p>
                    <a:p>
                      <a:pPr algn="just">
                        <a:lnSpc>
                          <a:spcPct val="115000"/>
                        </a:lnSpc>
                        <a:spcAft>
                          <a:spcPts val="0"/>
                        </a:spcAft>
                      </a:pPr>
                      <a:r>
                        <a:rPr lang="en-US"/>
                        <a:t>design</a:t>
                      </a:r>
                      <a:endParaRPr lang="en-IN"/>
                    </a:p>
                  </a:txBody>
                  <a:tcPr marL="27305" marR="27305" marT="0" marB="0"/>
                </a:tc>
                <a:tc>
                  <a:txBody>
                    <a:bodyPr/>
                    <a:lstStyle/>
                    <a:p>
                      <a:pPr algn="ctr">
                        <a:lnSpc>
                          <a:spcPct val="115000"/>
                        </a:lnSpc>
                        <a:spcAft>
                          <a:spcPts val="0"/>
                        </a:spcAft>
                      </a:pPr>
                      <a:r>
                        <a:rPr lang="en-US"/>
                        <a:t>6</a:t>
                      </a:r>
                      <a:endParaRPr lang="en-IN"/>
                    </a:p>
                  </a:txBody>
                  <a:tcPr marL="27305" marR="27305" marT="0" marB="0"/>
                </a:tc>
                <a:tc>
                  <a:txBody>
                    <a:bodyPr/>
                    <a:lstStyle/>
                    <a:p>
                      <a:pPr algn="ctr">
                        <a:lnSpc>
                          <a:spcPct val="115000"/>
                        </a:lnSpc>
                        <a:spcAft>
                          <a:spcPts val="0"/>
                        </a:spcAft>
                      </a:pPr>
                      <a:r>
                        <a:rPr lang="en-US"/>
                        <a:t>31/01/11</a:t>
                      </a:r>
                      <a:endParaRPr lang="en-IN"/>
                    </a:p>
                  </a:txBody>
                  <a:tcPr marL="27305" marR="27305" marT="0" marB="0"/>
                </a:tc>
                <a:tc>
                  <a:txBody>
                    <a:bodyPr/>
                    <a:lstStyle/>
                    <a:p>
                      <a:pPr algn="ctr">
                        <a:lnSpc>
                          <a:spcPct val="115000"/>
                        </a:lnSpc>
                        <a:spcAft>
                          <a:spcPts val="0"/>
                        </a:spcAft>
                      </a:pPr>
                      <a:r>
                        <a:rPr lang="en-US"/>
                        <a:t>05/02/11</a:t>
                      </a:r>
                      <a:endParaRPr lang="en-IN"/>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extLst>
                  <a:ext uri="{0D108BD9-81ED-4DB2-BD59-A6C34878D82A}">
                    <a16:rowId xmlns:a16="http://schemas.microsoft.com/office/drawing/2014/main" val="10002"/>
                  </a:ext>
                </a:extLst>
              </a:tr>
              <a:tr h="648437">
                <a:tc>
                  <a:txBody>
                    <a:bodyPr/>
                    <a:lstStyle/>
                    <a:p>
                      <a:pPr algn="just">
                        <a:lnSpc>
                          <a:spcPct val="115000"/>
                        </a:lnSpc>
                        <a:spcAft>
                          <a:spcPts val="0"/>
                        </a:spcAft>
                      </a:pPr>
                      <a:r>
                        <a:rPr lang="en-US" dirty="0"/>
                        <a:t>Database design</a:t>
                      </a:r>
                      <a:endParaRPr lang="en-IN" dirty="0"/>
                    </a:p>
                  </a:txBody>
                  <a:tcPr marL="27305" marR="27305" marT="0" marB="0"/>
                </a:tc>
                <a:tc>
                  <a:txBody>
                    <a:bodyPr/>
                    <a:lstStyle/>
                    <a:p>
                      <a:pPr algn="ctr">
                        <a:lnSpc>
                          <a:spcPct val="115000"/>
                        </a:lnSpc>
                        <a:spcAft>
                          <a:spcPts val="0"/>
                        </a:spcAft>
                      </a:pPr>
                      <a:r>
                        <a:rPr lang="en-US"/>
                        <a:t>13</a:t>
                      </a:r>
                      <a:endParaRPr lang="en-IN"/>
                    </a:p>
                  </a:txBody>
                  <a:tcPr marL="27305" marR="27305" marT="0" marB="0"/>
                </a:tc>
                <a:tc>
                  <a:txBody>
                    <a:bodyPr/>
                    <a:lstStyle/>
                    <a:p>
                      <a:pPr algn="ctr">
                        <a:lnSpc>
                          <a:spcPct val="115000"/>
                        </a:lnSpc>
                        <a:spcAft>
                          <a:spcPts val="0"/>
                        </a:spcAft>
                      </a:pPr>
                      <a:r>
                        <a:rPr lang="en-US"/>
                        <a:t>31/01/11</a:t>
                      </a:r>
                      <a:endParaRPr lang="en-IN"/>
                    </a:p>
                  </a:txBody>
                  <a:tcPr marL="27305" marR="27305" marT="0" marB="0"/>
                </a:tc>
                <a:tc>
                  <a:txBody>
                    <a:bodyPr/>
                    <a:lstStyle/>
                    <a:p>
                      <a:pPr algn="ctr">
                        <a:lnSpc>
                          <a:spcPct val="115000"/>
                        </a:lnSpc>
                        <a:spcAft>
                          <a:spcPts val="0"/>
                        </a:spcAft>
                      </a:pPr>
                      <a:r>
                        <a:rPr lang="en-US"/>
                        <a:t>12/02/11</a:t>
                      </a:r>
                      <a:endParaRPr lang="en-IN"/>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extLst>
                  <a:ext uri="{0D108BD9-81ED-4DB2-BD59-A6C34878D82A}">
                    <a16:rowId xmlns:a16="http://schemas.microsoft.com/office/drawing/2014/main" val="10003"/>
                  </a:ext>
                </a:extLst>
              </a:tr>
              <a:tr h="763838">
                <a:tc>
                  <a:txBody>
                    <a:bodyPr/>
                    <a:lstStyle/>
                    <a:p>
                      <a:pPr algn="just">
                        <a:lnSpc>
                          <a:spcPct val="115000"/>
                        </a:lnSpc>
                        <a:spcAft>
                          <a:spcPts val="0"/>
                        </a:spcAft>
                      </a:pPr>
                      <a:r>
                        <a:rPr lang="en-US"/>
                        <a:t>Output </a:t>
                      </a:r>
                      <a:endParaRPr lang="en-IN"/>
                    </a:p>
                    <a:p>
                      <a:pPr algn="just">
                        <a:lnSpc>
                          <a:spcPct val="115000"/>
                        </a:lnSpc>
                        <a:spcAft>
                          <a:spcPts val="0"/>
                        </a:spcAft>
                      </a:pPr>
                      <a:r>
                        <a:rPr lang="en-US"/>
                        <a:t>design	</a:t>
                      </a:r>
                      <a:endParaRPr lang="en-IN"/>
                    </a:p>
                  </a:txBody>
                  <a:tcPr marL="27305" marR="27305" marT="0" marB="0"/>
                </a:tc>
                <a:tc>
                  <a:txBody>
                    <a:bodyPr/>
                    <a:lstStyle/>
                    <a:p>
                      <a:pPr algn="ctr">
                        <a:lnSpc>
                          <a:spcPct val="115000"/>
                        </a:lnSpc>
                        <a:spcAft>
                          <a:spcPts val="0"/>
                        </a:spcAft>
                      </a:pPr>
                      <a:r>
                        <a:rPr lang="en-US"/>
                        <a:t>6</a:t>
                      </a:r>
                      <a:endParaRPr lang="en-IN"/>
                    </a:p>
                  </a:txBody>
                  <a:tcPr marL="27305" marR="27305" marT="0" marB="0"/>
                </a:tc>
                <a:tc>
                  <a:txBody>
                    <a:bodyPr/>
                    <a:lstStyle/>
                    <a:p>
                      <a:pPr algn="ctr">
                        <a:lnSpc>
                          <a:spcPct val="115000"/>
                        </a:lnSpc>
                        <a:spcAft>
                          <a:spcPts val="0"/>
                        </a:spcAft>
                      </a:pPr>
                      <a:r>
                        <a:rPr lang="en-US"/>
                        <a:t>13/02/11</a:t>
                      </a:r>
                      <a:endParaRPr lang="en-IN"/>
                    </a:p>
                  </a:txBody>
                  <a:tcPr marL="27305" marR="27305" marT="0" marB="0"/>
                </a:tc>
                <a:tc>
                  <a:txBody>
                    <a:bodyPr/>
                    <a:lstStyle/>
                    <a:p>
                      <a:pPr algn="ctr">
                        <a:lnSpc>
                          <a:spcPct val="115000"/>
                        </a:lnSpc>
                        <a:spcAft>
                          <a:spcPts val="0"/>
                        </a:spcAft>
                      </a:pPr>
                      <a:r>
                        <a:rPr lang="en-US"/>
                        <a:t>18/02/11</a:t>
                      </a:r>
                      <a:endParaRPr lang="en-IN"/>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dirty="0"/>
                    </a:p>
                  </a:txBody>
                  <a:tcPr marL="27305" marR="27305" marT="0" marB="0"/>
                </a:tc>
                <a:extLst>
                  <a:ext uri="{0D108BD9-81ED-4DB2-BD59-A6C34878D82A}">
                    <a16:rowId xmlns:a16="http://schemas.microsoft.com/office/drawing/2014/main" val="10004"/>
                  </a:ext>
                </a:extLst>
              </a:tr>
              <a:tr h="648437">
                <a:tc>
                  <a:txBody>
                    <a:bodyPr/>
                    <a:lstStyle/>
                    <a:p>
                      <a:pPr algn="just">
                        <a:lnSpc>
                          <a:spcPct val="115000"/>
                        </a:lnSpc>
                        <a:spcAft>
                          <a:spcPts val="0"/>
                        </a:spcAft>
                      </a:pPr>
                      <a:r>
                        <a:rPr lang="en-US"/>
                        <a:t>Detailed design</a:t>
                      </a:r>
                      <a:endParaRPr lang="en-IN"/>
                    </a:p>
                  </a:txBody>
                  <a:tcPr marL="27305" marR="27305" marT="0" marB="0"/>
                </a:tc>
                <a:tc>
                  <a:txBody>
                    <a:bodyPr/>
                    <a:lstStyle/>
                    <a:p>
                      <a:pPr algn="ctr">
                        <a:lnSpc>
                          <a:spcPct val="115000"/>
                        </a:lnSpc>
                        <a:spcAft>
                          <a:spcPts val="0"/>
                        </a:spcAft>
                      </a:pPr>
                      <a:r>
                        <a:rPr lang="en-US"/>
                        <a:t>18</a:t>
                      </a:r>
                      <a:endParaRPr lang="en-IN"/>
                    </a:p>
                  </a:txBody>
                  <a:tcPr marL="27305" marR="27305" marT="0" marB="0"/>
                </a:tc>
                <a:tc>
                  <a:txBody>
                    <a:bodyPr/>
                    <a:lstStyle/>
                    <a:p>
                      <a:pPr algn="ctr">
                        <a:lnSpc>
                          <a:spcPct val="115000"/>
                        </a:lnSpc>
                        <a:spcAft>
                          <a:spcPts val="0"/>
                        </a:spcAft>
                      </a:pPr>
                      <a:r>
                        <a:rPr lang="en-US"/>
                        <a:t>31/01/11</a:t>
                      </a:r>
                      <a:endParaRPr lang="en-IN"/>
                    </a:p>
                  </a:txBody>
                  <a:tcPr marL="27305" marR="27305" marT="0" marB="0"/>
                </a:tc>
                <a:tc>
                  <a:txBody>
                    <a:bodyPr/>
                    <a:lstStyle/>
                    <a:p>
                      <a:pPr algn="ctr">
                        <a:lnSpc>
                          <a:spcPct val="115000"/>
                        </a:lnSpc>
                        <a:spcAft>
                          <a:spcPts val="0"/>
                        </a:spcAft>
                      </a:pPr>
                      <a:r>
                        <a:rPr lang="en-US"/>
                        <a:t>17/02/11</a:t>
                      </a:r>
                      <a:endParaRPr lang="en-IN"/>
                    </a:p>
                  </a:txBody>
                  <a:tcPr marL="27305" marR="27305" marT="0" marB="0"/>
                </a:tc>
                <a:tc>
                  <a:txBody>
                    <a:bodyPr/>
                    <a:lstStyle/>
                    <a:p>
                      <a:pPr algn="just">
                        <a:lnSpc>
                          <a:spcPct val="115000"/>
                        </a:lnSpc>
                        <a:spcAft>
                          <a:spcPts val="0"/>
                        </a:spcAft>
                      </a:pPr>
                      <a:endParaRPr lang="en-US"/>
                    </a:p>
                  </a:txBody>
                  <a:tcPr marL="27305" marR="27305" marT="0" marB="0"/>
                </a:tc>
                <a:tc>
                  <a:txBody>
                    <a:bodyPr/>
                    <a:lstStyle/>
                    <a:p>
                      <a:pPr algn="just">
                        <a:lnSpc>
                          <a:spcPct val="115000"/>
                        </a:lnSpc>
                        <a:spcAft>
                          <a:spcPts val="0"/>
                        </a:spcAft>
                      </a:pPr>
                      <a:endParaRPr lang="en-US" dirty="0"/>
                    </a:p>
                  </a:txBody>
                  <a:tcPr marL="27305" marR="27305" marT="0" marB="0"/>
                </a:tc>
                <a:tc>
                  <a:txBody>
                    <a:bodyPr/>
                    <a:lstStyle/>
                    <a:p>
                      <a:pPr algn="just">
                        <a:lnSpc>
                          <a:spcPct val="115000"/>
                        </a:lnSpc>
                        <a:spcAft>
                          <a:spcPts val="0"/>
                        </a:spcAft>
                      </a:pPr>
                      <a:endParaRPr lang="en-US"/>
                    </a:p>
                  </a:txBody>
                  <a:tcPr marL="27305" marR="27305" marT="0" marB="0"/>
                </a:tc>
                <a:tc>
                  <a:txBody>
                    <a:bodyPr/>
                    <a:lstStyle/>
                    <a:p>
                      <a:pPr algn="just">
                        <a:lnSpc>
                          <a:spcPct val="115000"/>
                        </a:lnSpc>
                        <a:spcAft>
                          <a:spcPts val="0"/>
                        </a:spcAft>
                      </a:pPr>
                      <a:endParaRPr lang="en-US" dirty="0"/>
                    </a:p>
                  </a:txBody>
                  <a:tcPr marL="27305" marR="27305" marT="0" marB="0"/>
                </a:tc>
                <a:extLst>
                  <a:ext uri="{0D108BD9-81ED-4DB2-BD59-A6C34878D82A}">
                    <a16:rowId xmlns:a16="http://schemas.microsoft.com/office/drawing/2014/main" val="10005"/>
                  </a:ext>
                </a:extLst>
              </a:tr>
            </a:tbl>
          </a:graphicData>
        </a:graphic>
      </p:graphicFrame>
      <p:sp>
        <p:nvSpPr>
          <p:cNvPr id="8209" name="Rectangle 17" descr="Narrow horizontal"/>
          <p:cNvSpPr>
            <a:spLocks noChangeArrowheads="1"/>
          </p:cNvSpPr>
          <p:nvPr/>
        </p:nvSpPr>
        <p:spPr bwMode="auto">
          <a:xfrm>
            <a:off x="4729178" y="2355854"/>
            <a:ext cx="771516" cy="644517"/>
          </a:xfrm>
          <a:prstGeom prst="rect">
            <a:avLst/>
          </a:prstGeom>
          <a:pattFill prst="narHorz">
            <a:fgClr>
              <a:srgbClr val="808080"/>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0" name="Rectangle 18" descr="Narrow horizontal"/>
          <p:cNvSpPr>
            <a:spLocks noChangeArrowheads="1"/>
          </p:cNvSpPr>
          <p:nvPr/>
        </p:nvSpPr>
        <p:spPr bwMode="auto">
          <a:xfrm>
            <a:off x="6862784" y="4357694"/>
            <a:ext cx="495298" cy="714380"/>
          </a:xfrm>
          <a:prstGeom prst="rect">
            <a:avLst/>
          </a:prstGeom>
          <a:pattFill prst="narHorz">
            <a:fgClr>
              <a:srgbClr val="808080"/>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1" name="Rectangle 19" descr="Narrow horizontal"/>
          <p:cNvSpPr>
            <a:spLocks noChangeArrowheads="1"/>
          </p:cNvSpPr>
          <p:nvPr/>
        </p:nvSpPr>
        <p:spPr bwMode="auto">
          <a:xfrm>
            <a:off x="5643570" y="3000372"/>
            <a:ext cx="428628" cy="642942"/>
          </a:xfrm>
          <a:prstGeom prst="rect">
            <a:avLst/>
          </a:prstGeom>
          <a:pattFill prst="narHorz">
            <a:fgClr>
              <a:srgbClr val="808080"/>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2" name="Rectangle 20" descr="Narrow horizontal"/>
          <p:cNvSpPr>
            <a:spLocks noChangeArrowheads="1"/>
          </p:cNvSpPr>
          <p:nvPr/>
        </p:nvSpPr>
        <p:spPr bwMode="auto">
          <a:xfrm>
            <a:off x="6072198" y="3000372"/>
            <a:ext cx="642942" cy="642942"/>
          </a:xfrm>
          <a:prstGeom prst="rect">
            <a:avLst/>
          </a:prstGeom>
          <a:pattFill prst="narHorz">
            <a:fgClr>
              <a:srgbClr val="FFFFFF"/>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3" name="Rectangle 21" descr="Narrow horizontal"/>
          <p:cNvSpPr>
            <a:spLocks noChangeArrowheads="1"/>
          </p:cNvSpPr>
          <p:nvPr/>
        </p:nvSpPr>
        <p:spPr bwMode="auto">
          <a:xfrm>
            <a:off x="5643570" y="5072074"/>
            <a:ext cx="1571636" cy="642942"/>
          </a:xfrm>
          <a:prstGeom prst="rect">
            <a:avLst/>
          </a:prstGeom>
          <a:pattFill prst="narHorz">
            <a:fgClr>
              <a:srgbClr val="808080"/>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4" name="Rectangle 22" descr="Narrow horizontal"/>
          <p:cNvSpPr>
            <a:spLocks noChangeArrowheads="1"/>
          </p:cNvSpPr>
          <p:nvPr/>
        </p:nvSpPr>
        <p:spPr bwMode="auto">
          <a:xfrm>
            <a:off x="5643570" y="3714752"/>
            <a:ext cx="1071570" cy="571504"/>
          </a:xfrm>
          <a:prstGeom prst="rect">
            <a:avLst/>
          </a:prstGeom>
          <a:pattFill prst="narHorz">
            <a:fgClr>
              <a:srgbClr val="808080"/>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15" name="Rectangle 23" descr="Narrow horizontal"/>
          <p:cNvSpPr>
            <a:spLocks noChangeArrowheads="1"/>
          </p:cNvSpPr>
          <p:nvPr/>
        </p:nvSpPr>
        <p:spPr bwMode="auto">
          <a:xfrm>
            <a:off x="7215206" y="5072074"/>
            <a:ext cx="142875" cy="642942"/>
          </a:xfrm>
          <a:prstGeom prst="rect">
            <a:avLst/>
          </a:prstGeom>
          <a:pattFill prst="narHorz">
            <a:fgClr>
              <a:srgbClr val="FFFFFF"/>
            </a:fgClr>
            <a:bgClr>
              <a:srgbClr val="FFFFFF"/>
            </a:bgClr>
          </a:patt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360471805"/>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IN" sz="2400" dirty="0" smtClean="0">
                <a:solidFill>
                  <a:srgbClr val="00B0F0"/>
                </a:solidFill>
                <a:latin typeface="Times New Roman" pitchFamily="18" charset="0"/>
                <a:cs typeface="Times New Roman" pitchFamily="18" charset="0"/>
              </a:rPr>
              <a:t>Monitoring</a:t>
            </a:r>
            <a:r>
              <a:rPr lang="en-IN" sz="2400" dirty="0">
                <a:solidFill>
                  <a:srgbClr val="00B0F0"/>
                </a:solidFill>
                <a:latin typeface="Times New Roman" pitchFamily="18" charset="0"/>
                <a:cs typeface="Times New Roman" pitchFamily="18" charset="0"/>
              </a:rPr>
              <a:t>, Tracking, and </a:t>
            </a:r>
            <a:r>
              <a:rPr lang="en-IN" sz="2400" dirty="0" smtClean="0">
                <a:solidFill>
                  <a:srgbClr val="00B0F0"/>
                </a:solidFill>
                <a:latin typeface="Times New Roman" pitchFamily="18" charset="0"/>
                <a:cs typeface="Times New Roman" pitchFamily="18" charset="0"/>
              </a:rPr>
              <a:t>Control</a:t>
            </a:r>
          </a:p>
          <a:p>
            <a:pPr algn="just"/>
            <a:r>
              <a:rPr lang="en-IN" sz="2200" dirty="0">
                <a:latin typeface="Times New Roman" pitchFamily="18" charset="0"/>
                <a:cs typeface="Times New Roman" pitchFamily="18" charset="0"/>
              </a:rPr>
              <a:t>There are several methods for monitoring, tracking, and controlling the project activities.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Some automated tools such as Microsoft Project, SMART, etc., are also used for monitoring the projects.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The most popular methods used for project monitoring and tracking are </a:t>
            </a:r>
            <a:endParaRPr lang="en-IN" sz="2200" dirty="0" smtClean="0">
              <a:latin typeface="Times New Roman" pitchFamily="18" charset="0"/>
              <a:cs typeface="Times New Roman" pitchFamily="18" charset="0"/>
            </a:endParaRPr>
          </a:p>
          <a:p>
            <a:pPr lvl="1" algn="just"/>
            <a:r>
              <a:rPr lang="en-IN" sz="2200" i="1" dirty="0" smtClean="0">
                <a:latin typeface="Times New Roman" pitchFamily="18" charset="0"/>
                <a:cs typeface="Times New Roman" pitchFamily="18" charset="0"/>
              </a:rPr>
              <a:t>Review meetings, </a:t>
            </a:r>
          </a:p>
          <a:p>
            <a:pPr lvl="1" algn="just"/>
            <a:r>
              <a:rPr lang="en-IN" sz="2200" i="1" dirty="0" smtClean="0">
                <a:latin typeface="Times New Roman" pitchFamily="18" charset="0"/>
                <a:cs typeface="Times New Roman" pitchFamily="18" charset="0"/>
              </a:rPr>
              <a:t>Cost-schedule milestone graphs, </a:t>
            </a:r>
          </a:p>
          <a:p>
            <a:pPr lvl="1" algn="just"/>
            <a:r>
              <a:rPr lang="en-IN" sz="2200" i="1" dirty="0" smtClean="0">
                <a:latin typeface="Times New Roman" pitchFamily="18" charset="0"/>
                <a:cs typeface="Times New Roman" pitchFamily="18" charset="0"/>
              </a:rPr>
              <a:t>Status reporting, </a:t>
            </a:r>
          </a:p>
          <a:p>
            <a:pPr lvl="1" algn="just"/>
            <a:r>
              <a:rPr lang="en-IN" sz="2200" i="1" dirty="0" smtClean="0">
                <a:latin typeface="Times New Roman" pitchFamily="18" charset="0"/>
                <a:cs typeface="Times New Roman" pitchFamily="18" charset="0"/>
              </a:rPr>
              <a:t>Earn value </a:t>
            </a:r>
            <a:r>
              <a:rPr lang="en-IN" sz="2200" i="1" dirty="0">
                <a:latin typeface="Times New Roman" pitchFamily="18" charset="0"/>
                <a:cs typeface="Times New Roman" pitchFamily="18" charset="0"/>
              </a:rPr>
              <a:t>methods, </a:t>
            </a:r>
            <a:r>
              <a:rPr lang="en-IN" sz="2200" i="1" dirty="0" smtClean="0">
                <a:latin typeface="Times New Roman" pitchFamily="18" charset="0"/>
                <a:cs typeface="Times New Roman" pitchFamily="18" charset="0"/>
              </a:rPr>
              <a:t>and </a:t>
            </a:r>
            <a:r>
              <a:rPr lang="en-IN" sz="2200" i="1" dirty="0">
                <a:latin typeface="Times New Roman" pitchFamily="18" charset="0"/>
                <a:cs typeface="Times New Roman" pitchFamily="18" charset="0"/>
              </a:rPr>
              <a:t>so </a:t>
            </a:r>
            <a:r>
              <a:rPr lang="en-IN" sz="2200" i="1" dirty="0" smtClean="0">
                <a:latin typeface="Times New Roman" pitchFamily="18" charset="0"/>
                <a:cs typeface="Times New Roman" pitchFamily="18" charset="0"/>
              </a:rPr>
              <a:t>on.</a:t>
            </a:r>
            <a:endParaRPr lang="en-IN" sz="2200" i="1" dirty="0">
              <a:solidFill>
                <a:srgbClr val="00B0F0"/>
              </a:solidFill>
              <a:latin typeface="Times New Roman" pitchFamily="18" charset="0"/>
              <a:cs typeface="Times New Roman" pitchFamily="18" charset="0"/>
            </a:endParaRPr>
          </a:p>
          <a:p>
            <a:pPr algn="just"/>
            <a:endParaRPr lang="en-IN" dirty="0"/>
          </a:p>
        </p:txBody>
      </p:sp>
      <p:sp>
        <p:nvSpPr>
          <p:cNvPr id="4" name="Slide Number Placeholder 3"/>
          <p:cNvSpPr>
            <a:spLocks noGrp="1"/>
          </p:cNvSpPr>
          <p:nvPr>
            <p:ph type="sldNum" sz="quarter" idx="12"/>
          </p:nvPr>
        </p:nvSpPr>
        <p:spPr/>
        <p:txBody>
          <a:bodyPr/>
          <a:lstStyle/>
          <a:p>
            <a:fld id="{0C087B72-CC60-4FF0-9C96-8509CDF76D05}" type="slidenum">
              <a:rPr lang="en-IN" smtClean="0"/>
              <a:pPr/>
              <a:t>101</a:t>
            </a:fld>
            <a:endParaRPr lang="en-IN"/>
          </a:p>
        </p:txBody>
      </p:sp>
    </p:spTree>
    <p:extLst>
      <p:ext uri="{BB962C8B-B14F-4D97-AF65-F5344CB8AC3E}">
        <p14:creationId xmlns:p14="http://schemas.microsoft.com/office/powerpoint/2010/main" val="3360471805"/>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a:xfrm>
            <a:off x="457200" y="1600200"/>
            <a:ext cx="8229600" cy="4781128"/>
          </a:xfrm>
        </p:spPr>
        <p:txBody>
          <a:bodyPr>
            <a:normAutofit fontScale="92500" lnSpcReduction="10000"/>
          </a:bodyPr>
          <a:lstStyle/>
          <a:p>
            <a:pPr marL="0" indent="0" algn="just">
              <a:buNone/>
            </a:pPr>
            <a:r>
              <a:rPr lang="en-IN" sz="2600" dirty="0">
                <a:solidFill>
                  <a:srgbClr val="00B0F0"/>
                </a:solidFill>
                <a:latin typeface="Times New Roman" pitchFamily="18" charset="0"/>
                <a:cs typeface="Times New Roman" pitchFamily="18" charset="0"/>
              </a:rPr>
              <a:t>Monitoring, Tracking, and Control</a:t>
            </a:r>
          </a:p>
          <a:p>
            <a:pPr algn="just"/>
            <a:r>
              <a:rPr lang="en-IN" sz="2400" b="1" i="1" dirty="0">
                <a:latin typeface="Times New Roman" pitchFamily="18" charset="0"/>
                <a:cs typeface="Times New Roman" pitchFamily="18" charset="0"/>
              </a:rPr>
              <a:t>Review meetings</a:t>
            </a:r>
            <a:r>
              <a:rPr lang="en-IN" sz="2400" b="1" dirty="0">
                <a:latin typeface="Times New Roman" pitchFamily="18" charset="0"/>
                <a:cs typeface="Times New Roman" pitchFamily="18" charset="0"/>
              </a:rPr>
              <a:t> </a:t>
            </a:r>
            <a:endParaRPr lang="en-IN" sz="2400" b="1" dirty="0" smtClean="0">
              <a:latin typeface="Times New Roman" pitchFamily="18" charset="0"/>
              <a:cs typeface="Times New Roman" pitchFamily="18" charset="0"/>
            </a:endParaRPr>
          </a:p>
          <a:p>
            <a:pPr lvl="1" algn="just"/>
            <a:r>
              <a:rPr lang="en-IN" sz="2200" i="1" dirty="0" smtClean="0">
                <a:latin typeface="Times New Roman" pitchFamily="18" charset="0"/>
                <a:cs typeface="Times New Roman" pitchFamily="18" charset="0"/>
              </a:rPr>
              <a:t>Review </a:t>
            </a:r>
            <a:r>
              <a:rPr lang="en-IN" sz="2200" i="1" dirty="0">
                <a:latin typeface="Times New Roman" pitchFamily="18" charset="0"/>
                <a:cs typeface="Times New Roman" pitchFamily="18" charset="0"/>
              </a:rPr>
              <a:t>meetings</a:t>
            </a:r>
            <a:r>
              <a:rPr lang="en-IN" sz="2200" dirty="0">
                <a:latin typeface="Times New Roman" pitchFamily="18" charset="0"/>
                <a:cs typeface="Times New Roman" pitchFamily="18" charset="0"/>
              </a:rPr>
              <a:t> are conducted to ensure that the planned schedule is executed within time and appropriate </a:t>
            </a:r>
            <a:r>
              <a:rPr lang="en-IN" sz="2200" dirty="0" smtClean="0">
                <a:latin typeface="Times New Roman" pitchFamily="18" charset="0"/>
                <a:cs typeface="Times New Roman" pitchFamily="18" charset="0"/>
              </a:rPr>
              <a:t>resources.</a:t>
            </a:r>
          </a:p>
          <a:p>
            <a:pPr lvl="1" algn="just"/>
            <a:r>
              <a:rPr lang="en-IN" sz="2200" dirty="0" smtClean="0">
                <a:latin typeface="Times New Roman" pitchFamily="18" charset="0"/>
                <a:cs typeface="Times New Roman" pitchFamily="18" charset="0"/>
              </a:rPr>
              <a:t>Project </a:t>
            </a:r>
            <a:r>
              <a:rPr lang="en-IN" sz="2200" dirty="0">
                <a:latin typeface="Times New Roman" pitchFamily="18" charset="0"/>
                <a:cs typeface="Times New Roman" pitchFamily="18" charset="0"/>
              </a:rPr>
              <a:t>managers conduct review meetings regularly to check the status of all the tasks specified in the Gantt chart</a:t>
            </a:r>
            <a:r>
              <a:rPr lang="en-IN" sz="2200" dirty="0" smtClean="0">
                <a:latin typeface="Times New Roman" pitchFamily="18" charset="0"/>
                <a:cs typeface="Times New Roman" pitchFamily="18" charset="0"/>
              </a:rPr>
              <a:t>.</a:t>
            </a:r>
          </a:p>
          <a:p>
            <a:pPr algn="just"/>
            <a:r>
              <a:rPr lang="en-IN" sz="2400" b="1" i="1" dirty="0" smtClean="0">
                <a:latin typeface="Times New Roman" pitchFamily="18" charset="0"/>
                <a:cs typeface="Times New Roman" pitchFamily="18" charset="0"/>
              </a:rPr>
              <a:t>Status reporting</a:t>
            </a:r>
          </a:p>
          <a:p>
            <a:pPr lvl="1" algn="just"/>
            <a:r>
              <a:rPr lang="en-IN" sz="2200" dirty="0" smtClean="0">
                <a:latin typeface="Times New Roman" pitchFamily="18" charset="0"/>
                <a:cs typeface="Times New Roman" pitchFamily="18" charset="0"/>
              </a:rPr>
              <a:t>In </a:t>
            </a:r>
            <a:r>
              <a:rPr lang="en-IN" sz="2200" i="1" dirty="0">
                <a:latin typeface="Times New Roman" pitchFamily="18" charset="0"/>
                <a:cs typeface="Times New Roman" pitchFamily="18" charset="0"/>
              </a:rPr>
              <a:t>status reporting</a:t>
            </a:r>
            <a:r>
              <a:rPr lang="en-IN" sz="2200" dirty="0">
                <a:latin typeface="Times New Roman" pitchFamily="18" charset="0"/>
                <a:cs typeface="Times New Roman" pitchFamily="18" charset="0"/>
              </a:rPr>
              <a:t>, each member of the project records the status of their assigned </a:t>
            </a:r>
            <a:r>
              <a:rPr lang="en-IN" sz="2200" dirty="0" smtClean="0">
                <a:latin typeface="Times New Roman" pitchFamily="18" charset="0"/>
                <a:cs typeface="Times New Roman" pitchFamily="18" charset="0"/>
              </a:rPr>
              <a:t>tasks. </a:t>
            </a: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project manager calls periodical project status meetings and each member reports the current status of the tasks. </a:t>
            </a:r>
            <a:endParaRPr lang="en-IN" sz="2200" dirty="0" smtClean="0">
              <a:latin typeface="Times New Roman" pitchFamily="18" charset="0"/>
              <a:cs typeface="Times New Roman" pitchFamily="18" charset="0"/>
            </a:endParaRP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problems faced by the team members are discussed in the status </a:t>
            </a:r>
            <a:r>
              <a:rPr lang="en-IN" sz="2200" dirty="0" smtClean="0">
                <a:latin typeface="Times New Roman" pitchFamily="18" charset="0"/>
                <a:cs typeface="Times New Roman" pitchFamily="18" charset="0"/>
              </a:rPr>
              <a:t>meeting. The </a:t>
            </a:r>
            <a:r>
              <a:rPr lang="en-IN" sz="2200" dirty="0">
                <a:latin typeface="Times New Roman" pitchFamily="18" charset="0"/>
                <a:cs typeface="Times New Roman" pitchFamily="18" charset="0"/>
              </a:rPr>
              <a:t>project status meeting is generally called weekly or quarterly.</a:t>
            </a:r>
          </a:p>
          <a:p>
            <a:pPr algn="just"/>
            <a:endParaRPr lang="en-IN" sz="22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102</a:t>
            </a:fld>
            <a:endParaRPr lang="en-IN"/>
          </a:p>
        </p:txBody>
      </p:sp>
    </p:spTree>
    <p:extLst>
      <p:ext uri="{BB962C8B-B14F-4D97-AF65-F5344CB8AC3E}">
        <p14:creationId xmlns:p14="http://schemas.microsoft.com/office/powerpoint/2010/main" val="4167707159"/>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IN" sz="2400" dirty="0">
                <a:solidFill>
                  <a:srgbClr val="00B0F0"/>
                </a:solidFill>
                <a:latin typeface="Times New Roman" pitchFamily="18" charset="0"/>
                <a:cs typeface="Times New Roman" pitchFamily="18" charset="0"/>
              </a:rPr>
              <a:t>Monitoring, Tracking, and Control</a:t>
            </a:r>
          </a:p>
          <a:p>
            <a:pPr algn="just"/>
            <a:r>
              <a:rPr lang="en-IN" sz="2200" b="1" i="1" dirty="0" smtClean="0">
                <a:latin typeface="Times New Roman" pitchFamily="18" charset="0"/>
                <a:cs typeface="Times New Roman" pitchFamily="18" charset="0"/>
              </a:rPr>
              <a:t>Cost-schedule </a:t>
            </a:r>
            <a:r>
              <a:rPr lang="en-IN" sz="2200" b="1" i="1" dirty="0">
                <a:latin typeface="Times New Roman" pitchFamily="18" charset="0"/>
                <a:cs typeface="Times New Roman" pitchFamily="18" charset="0"/>
              </a:rPr>
              <a:t>milestone graph </a:t>
            </a:r>
            <a:endParaRPr lang="en-IN" sz="2200" b="1" i="1" dirty="0" smtClean="0">
              <a:latin typeface="Times New Roman" pitchFamily="18" charset="0"/>
              <a:cs typeface="Times New Roman" pitchFamily="18" charset="0"/>
            </a:endParaRP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cost-schedule milestone graph is a graphical representation of the progress of a project. </a:t>
            </a:r>
            <a:endParaRPr lang="en-IN" sz="2200" dirty="0" smtClean="0">
              <a:latin typeface="Times New Roman" pitchFamily="18" charset="0"/>
              <a:cs typeface="Times New Roman" pitchFamily="18" charset="0"/>
            </a:endParaRPr>
          </a:p>
          <a:p>
            <a:pPr lvl="1" algn="just"/>
            <a:r>
              <a:rPr lang="en-IN" sz="2200" dirty="0" smtClean="0">
                <a:latin typeface="Times New Roman" pitchFamily="18" charset="0"/>
                <a:cs typeface="Times New Roman" pitchFamily="18" charset="0"/>
              </a:rPr>
              <a:t>The </a:t>
            </a:r>
            <a:r>
              <a:rPr lang="en-IN" sz="2200" dirty="0">
                <a:latin typeface="Times New Roman" pitchFamily="18" charset="0"/>
                <a:cs typeface="Times New Roman" pitchFamily="18" charset="0"/>
              </a:rPr>
              <a:t>project progress is measured monthly or at the interval decided by the project manager through the cost estimated against the planned </a:t>
            </a:r>
            <a:r>
              <a:rPr lang="en-IN" sz="2200" dirty="0" smtClean="0">
                <a:latin typeface="Times New Roman" pitchFamily="18" charset="0"/>
                <a:cs typeface="Times New Roman" pitchFamily="18" charset="0"/>
              </a:rPr>
              <a:t>schedule.</a:t>
            </a:r>
          </a:p>
          <a:p>
            <a:pPr lvl="1" algn="just"/>
            <a:r>
              <a:rPr lang="en-IN" sz="2200" dirty="0" smtClean="0">
                <a:latin typeface="Times New Roman" pitchFamily="18" charset="0"/>
                <a:cs typeface="Times New Roman" pitchFamily="18" charset="0"/>
              </a:rPr>
              <a:t>At </a:t>
            </a:r>
            <a:r>
              <a:rPr lang="en-IN" sz="2200" dirty="0">
                <a:latin typeface="Times New Roman" pitchFamily="18" charset="0"/>
                <a:cs typeface="Times New Roman" pitchFamily="18" charset="0"/>
              </a:rPr>
              <a:t>each milestone, the actual cost is compared with the schedule. A variation represents the fluctuation in the planned cost and planned schedule.</a:t>
            </a:r>
          </a:p>
          <a:p>
            <a:pPr algn="just"/>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103</a:t>
            </a:fld>
            <a:endParaRPr lang="en-IN"/>
          </a:p>
        </p:txBody>
      </p:sp>
    </p:spTree>
    <p:extLst>
      <p:ext uri="{BB962C8B-B14F-4D97-AF65-F5344CB8AC3E}">
        <p14:creationId xmlns:p14="http://schemas.microsoft.com/office/powerpoint/2010/main" val="4167707159"/>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a:solidFill>
                  <a:srgbClr val="0000FF"/>
                </a:solidFill>
                <a:latin typeface="Times New Roman" pitchFamily="18" charset="0"/>
                <a:cs typeface="Times New Roman" pitchFamily="18" charset="0"/>
              </a:rPr>
              <a:t>Project Scheduling and Milestones</a:t>
            </a:r>
            <a:endParaRPr lang="en-IN" sz="3200" dirty="0"/>
          </a:p>
        </p:txBody>
      </p:sp>
      <p:sp>
        <p:nvSpPr>
          <p:cNvPr id="3" name="Content Placeholder 2"/>
          <p:cNvSpPr>
            <a:spLocks noGrp="1"/>
          </p:cNvSpPr>
          <p:nvPr>
            <p:ph idx="1"/>
          </p:nvPr>
        </p:nvSpPr>
        <p:spPr/>
        <p:txBody>
          <a:bodyPr>
            <a:normAutofit/>
          </a:bodyPr>
          <a:lstStyle/>
          <a:p>
            <a:pPr marL="0" indent="0" algn="just">
              <a:buNone/>
            </a:pPr>
            <a:r>
              <a:rPr lang="en-IN" sz="2400" dirty="0">
                <a:solidFill>
                  <a:srgbClr val="00B0F0"/>
                </a:solidFill>
                <a:latin typeface="Times New Roman" pitchFamily="18" charset="0"/>
                <a:cs typeface="Times New Roman" pitchFamily="18" charset="0"/>
              </a:rPr>
              <a:t>Monitoring, Tracking, and Control</a:t>
            </a:r>
          </a:p>
          <a:p>
            <a:pPr algn="just"/>
            <a:r>
              <a:rPr lang="en-IN" sz="2200" b="1" i="1" dirty="0" smtClean="0">
                <a:latin typeface="Times New Roman" pitchFamily="18" charset="0"/>
                <a:cs typeface="Times New Roman" pitchFamily="18" charset="0"/>
              </a:rPr>
              <a:t>Earn value analysis</a:t>
            </a:r>
            <a:r>
              <a:rPr lang="en-IN" sz="2200" b="1" dirty="0" smtClean="0">
                <a:latin typeface="Times New Roman" pitchFamily="18" charset="0"/>
                <a:cs typeface="Times New Roman" pitchFamily="18" charset="0"/>
              </a:rPr>
              <a:t> </a:t>
            </a:r>
          </a:p>
          <a:p>
            <a:pPr lvl="1" algn="just"/>
            <a:r>
              <a:rPr lang="en-IN" sz="2000" dirty="0" smtClean="0">
                <a:latin typeface="Times New Roman" pitchFamily="18" charset="0"/>
                <a:cs typeface="Times New Roman" pitchFamily="18" charset="0"/>
              </a:rPr>
              <a:t>The </a:t>
            </a:r>
            <a:r>
              <a:rPr lang="en-IN" sz="2000" i="1" dirty="0">
                <a:latin typeface="Times New Roman" pitchFamily="18" charset="0"/>
                <a:cs typeface="Times New Roman" pitchFamily="18" charset="0"/>
              </a:rPr>
              <a:t>earn value analysis</a:t>
            </a:r>
            <a:r>
              <a:rPr lang="en-IN" sz="2000" dirty="0">
                <a:latin typeface="Times New Roman" pitchFamily="18" charset="0"/>
                <a:cs typeface="Times New Roman" pitchFamily="18" charset="0"/>
              </a:rPr>
              <a:t> is a quantitative analysis to determine the progress of a project. </a:t>
            </a:r>
            <a:endParaRPr lang="en-IN" sz="2000" dirty="0" smtClean="0">
              <a:latin typeface="Times New Roman" pitchFamily="18" charset="0"/>
              <a:cs typeface="Times New Roman" pitchFamily="18" charset="0"/>
            </a:endParaRPr>
          </a:p>
          <a:p>
            <a:pPr lvl="1" algn="just"/>
            <a:r>
              <a:rPr lang="en-IN" sz="2000" dirty="0" smtClean="0">
                <a:latin typeface="Times New Roman" pitchFamily="18" charset="0"/>
                <a:cs typeface="Times New Roman" pitchFamily="18" charset="0"/>
              </a:rPr>
              <a:t>Each </a:t>
            </a:r>
            <a:r>
              <a:rPr lang="en-IN" sz="2000" dirty="0">
                <a:latin typeface="Times New Roman" pitchFamily="18" charset="0"/>
                <a:cs typeface="Times New Roman" pitchFamily="18" charset="0"/>
              </a:rPr>
              <a:t>task is given an earn value, i.e., the effort decided during project planning in the ratios of the project size. </a:t>
            </a:r>
            <a:endParaRPr lang="en-IN" sz="2000" dirty="0" smtClean="0">
              <a:latin typeface="Times New Roman" pitchFamily="18" charset="0"/>
              <a:cs typeface="Times New Roman" pitchFamily="18" charset="0"/>
            </a:endParaRPr>
          </a:p>
          <a:p>
            <a:pPr lvl="1" algn="just"/>
            <a:r>
              <a:rPr lang="en-IN" sz="2000" dirty="0" smtClean="0">
                <a:latin typeface="Times New Roman" pitchFamily="18" charset="0"/>
                <a:cs typeface="Times New Roman" pitchFamily="18" charset="0"/>
              </a:rPr>
              <a:t>The </a:t>
            </a:r>
            <a:r>
              <a:rPr lang="en-IN" sz="2000" dirty="0">
                <a:latin typeface="Times New Roman" pitchFamily="18" charset="0"/>
                <a:cs typeface="Times New Roman" pitchFamily="18" charset="0"/>
              </a:rPr>
              <a:t>earn value of each task is summed and thus it is the total cost that is estimated. </a:t>
            </a:r>
            <a:endParaRPr lang="en-IN" sz="2000" dirty="0" smtClean="0">
              <a:latin typeface="Times New Roman" pitchFamily="18" charset="0"/>
              <a:cs typeface="Times New Roman" pitchFamily="18" charset="0"/>
            </a:endParaRPr>
          </a:p>
          <a:p>
            <a:pPr lvl="1" algn="just"/>
            <a:r>
              <a:rPr lang="en-IN" sz="2000" dirty="0" smtClean="0">
                <a:latin typeface="Times New Roman" pitchFamily="18" charset="0"/>
                <a:cs typeface="Times New Roman" pitchFamily="18" charset="0"/>
              </a:rPr>
              <a:t>This </a:t>
            </a:r>
            <a:r>
              <a:rPr lang="en-IN" sz="2000" dirty="0">
                <a:latin typeface="Times New Roman" pitchFamily="18" charset="0"/>
                <a:cs typeface="Times New Roman" pitchFamily="18" charset="0"/>
              </a:rPr>
              <a:t>value is compared with the actual cost reported in the cost-schedule or status reporting document. </a:t>
            </a:r>
            <a:endParaRPr lang="en-IN" sz="2000" dirty="0" smtClean="0">
              <a:latin typeface="Times New Roman" pitchFamily="18" charset="0"/>
              <a:cs typeface="Times New Roman" pitchFamily="18" charset="0"/>
            </a:endParaRPr>
          </a:p>
          <a:p>
            <a:pPr lvl="1" algn="just"/>
            <a:r>
              <a:rPr lang="en-IN" sz="2000" dirty="0" smtClean="0">
                <a:latin typeface="Times New Roman" pitchFamily="18" charset="0"/>
                <a:cs typeface="Times New Roman" pitchFamily="18" charset="0"/>
              </a:rPr>
              <a:t>The </a:t>
            </a:r>
            <a:r>
              <a:rPr lang="en-IN" sz="2000" dirty="0">
                <a:latin typeface="Times New Roman" pitchFamily="18" charset="0"/>
                <a:cs typeface="Times New Roman" pitchFamily="18" charset="0"/>
              </a:rPr>
              <a:t>project manager can find the progress of the project and the deviation in the cost or schedule.</a:t>
            </a:r>
          </a:p>
          <a:p>
            <a:pPr algn="just"/>
            <a:endParaRPr lang="en-IN" sz="2200"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104</a:t>
            </a:fld>
            <a:endParaRPr lang="en-IN"/>
          </a:p>
        </p:txBody>
      </p:sp>
    </p:spTree>
    <p:extLst>
      <p:ext uri="{BB962C8B-B14F-4D97-AF65-F5344CB8AC3E}">
        <p14:creationId xmlns:p14="http://schemas.microsoft.com/office/powerpoint/2010/main" val="452147515"/>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3200" b="1" dirty="0" smtClean="0">
                <a:solidFill>
                  <a:srgbClr val="0000FF"/>
                </a:solidFill>
                <a:latin typeface="Times New Roman" pitchFamily="18" charset="0"/>
                <a:cs typeface="Times New Roman" pitchFamily="18" charset="0"/>
              </a:rPr>
              <a:t>Miscellaneous Plans</a:t>
            </a:r>
            <a:endParaRPr lang="en-IN" sz="3200" dirty="0"/>
          </a:p>
        </p:txBody>
      </p:sp>
      <p:sp>
        <p:nvSpPr>
          <p:cNvPr id="3" name="Content Placeholder 2"/>
          <p:cNvSpPr>
            <a:spLocks noGrp="1"/>
          </p:cNvSpPr>
          <p:nvPr>
            <p:ph idx="1"/>
          </p:nvPr>
        </p:nvSpPr>
        <p:spPr/>
        <p:txBody>
          <a:bodyPr>
            <a:normAutofit/>
          </a:bodyPr>
          <a:lstStyle/>
          <a:p>
            <a:pPr lvl="1">
              <a:buFont typeface="Wingdings" pitchFamily="2" charset="2"/>
              <a:buChar char="ü"/>
            </a:pPr>
            <a:r>
              <a:rPr lang="en-IN" sz="2200" dirty="0" smtClean="0">
                <a:latin typeface="Times New Roman" pitchFamily="18" charset="0"/>
                <a:cs typeface="Times New Roman" pitchFamily="18" charset="0"/>
              </a:rPr>
              <a:t>Planning </a:t>
            </a:r>
            <a:r>
              <a:rPr lang="en-IN" sz="2200" dirty="0">
                <a:latin typeface="Times New Roman" pitchFamily="18" charset="0"/>
                <a:cs typeface="Times New Roman" pitchFamily="18" charset="0"/>
              </a:rPr>
              <a:t>for the development life cycle</a:t>
            </a:r>
          </a:p>
          <a:p>
            <a:pPr lvl="1">
              <a:buFont typeface="Wingdings" pitchFamily="2" charset="2"/>
              <a:buChar char="ü"/>
            </a:pPr>
            <a:r>
              <a:rPr lang="en-IN" sz="2200" dirty="0">
                <a:latin typeface="Times New Roman" pitchFamily="18" charset="0"/>
                <a:cs typeface="Times New Roman" pitchFamily="18" charset="0"/>
              </a:rPr>
              <a:t>Configuration management plan</a:t>
            </a:r>
          </a:p>
          <a:p>
            <a:pPr lvl="1">
              <a:buFont typeface="Wingdings" pitchFamily="2" charset="2"/>
              <a:buChar char="ü"/>
            </a:pPr>
            <a:r>
              <a:rPr lang="en-IN" sz="2200" dirty="0">
                <a:latin typeface="Times New Roman" pitchFamily="18" charset="0"/>
                <a:cs typeface="Times New Roman" pitchFamily="18" charset="0"/>
              </a:rPr>
              <a:t>Risk management plan</a:t>
            </a:r>
          </a:p>
          <a:p>
            <a:pPr lvl="1">
              <a:buFont typeface="Wingdings" pitchFamily="2" charset="2"/>
              <a:buChar char="ü"/>
            </a:pPr>
            <a:r>
              <a:rPr lang="en-IN" sz="2200" dirty="0">
                <a:latin typeface="Times New Roman" pitchFamily="18" charset="0"/>
                <a:cs typeface="Times New Roman" pitchFamily="18" charset="0"/>
              </a:rPr>
              <a:t>Quality assurance plan</a:t>
            </a:r>
          </a:p>
          <a:p>
            <a:pPr lvl="1">
              <a:buFont typeface="Wingdings" pitchFamily="2" charset="2"/>
              <a:buChar char="ü"/>
            </a:pPr>
            <a:r>
              <a:rPr lang="en-IN" sz="2200" dirty="0">
                <a:latin typeface="Times New Roman" pitchFamily="18" charset="0"/>
                <a:cs typeface="Times New Roman" pitchFamily="18" charset="0"/>
              </a:rPr>
              <a:t>System testing plan</a:t>
            </a:r>
          </a:p>
          <a:p>
            <a:pPr lvl="1">
              <a:buFont typeface="Wingdings" pitchFamily="2" charset="2"/>
              <a:buChar char="ü"/>
            </a:pPr>
            <a:r>
              <a:rPr lang="en-IN" sz="2200" dirty="0">
                <a:latin typeface="Times New Roman" pitchFamily="18" charset="0"/>
                <a:cs typeface="Times New Roman" pitchFamily="18" charset="0"/>
              </a:rPr>
              <a:t>Deployment plan</a:t>
            </a:r>
          </a:p>
          <a:p>
            <a:pPr marL="363538" indent="-363538">
              <a:buNone/>
            </a:pPr>
            <a:endParaRPr lang="en-IN" sz="2400" dirty="0">
              <a:solidFill>
                <a:srgbClr val="00B0F0"/>
              </a:solidFill>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105</a:t>
            </a:fld>
            <a:endParaRPr lang="en-IN"/>
          </a:p>
        </p:txBody>
      </p:sp>
    </p:spTree>
    <p:extLst>
      <p:ext uri="{BB962C8B-B14F-4D97-AF65-F5344CB8AC3E}">
        <p14:creationId xmlns:p14="http://schemas.microsoft.com/office/powerpoint/2010/main" val="960231958"/>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332656"/>
            <a:ext cx="8229600" cy="1143000"/>
          </a:xfrm>
        </p:spPr>
        <p:txBody>
          <a:bodyPr>
            <a:normAutofit/>
          </a:bodyPr>
          <a:lstStyle/>
          <a:p>
            <a:r>
              <a:rPr lang="en-IN" sz="3200" b="1" dirty="0" smtClean="0">
                <a:solidFill>
                  <a:srgbClr val="0000FF"/>
                </a:solidFill>
                <a:latin typeface="Times New Roman" pitchFamily="18" charset="0"/>
                <a:cs typeface="Times New Roman" pitchFamily="18" charset="0"/>
              </a:rPr>
              <a:t>Summary</a:t>
            </a:r>
            <a:endParaRPr lang="en-IN" sz="3200" dirty="0"/>
          </a:p>
        </p:txBody>
      </p:sp>
      <p:sp>
        <p:nvSpPr>
          <p:cNvPr id="3" name="Content Placeholder 2"/>
          <p:cNvSpPr>
            <a:spLocks noGrp="1"/>
          </p:cNvSpPr>
          <p:nvPr>
            <p:ph idx="1"/>
          </p:nvPr>
        </p:nvSpPr>
        <p:spPr>
          <a:xfrm>
            <a:off x="539552" y="1412776"/>
            <a:ext cx="8229600" cy="5040560"/>
          </a:xfrm>
        </p:spPr>
        <p:txBody>
          <a:bodyPr>
            <a:noAutofit/>
          </a:bodyPr>
          <a:lstStyle/>
          <a:p>
            <a:pPr algn="just"/>
            <a:r>
              <a:rPr lang="en-IN" sz="2200" dirty="0">
                <a:latin typeface="Times New Roman" pitchFamily="18" charset="0"/>
                <a:cs typeface="Times New Roman" pitchFamily="18" charset="0"/>
              </a:rPr>
              <a:t>Project planning is necessary for devising resources and budgets, for monitoring and controlling the activities of project management. </a:t>
            </a:r>
            <a:endParaRPr lang="en-IN" sz="2200" dirty="0" smtClean="0">
              <a:latin typeface="Times New Roman" pitchFamily="18" charset="0"/>
              <a:cs typeface="Times New Roman" pitchFamily="18" charset="0"/>
            </a:endParaRPr>
          </a:p>
          <a:p>
            <a:pPr algn="just"/>
            <a:r>
              <a:rPr lang="en-IN" sz="2200" dirty="0" smtClean="0">
                <a:latin typeface="Times New Roman" pitchFamily="18" charset="0"/>
                <a:cs typeface="Times New Roman" pitchFamily="18" charset="0"/>
              </a:rPr>
              <a:t>There </a:t>
            </a:r>
            <a:r>
              <a:rPr lang="en-IN" sz="2200" dirty="0">
                <a:latin typeface="Times New Roman" pitchFamily="18" charset="0"/>
                <a:cs typeface="Times New Roman" pitchFamily="18" charset="0"/>
              </a:rPr>
              <a:t>are various units of size measurement, such as lines of code (LOC), function point (FP), token count (TC), fuzzy logic sizing, object </a:t>
            </a:r>
            <a:r>
              <a:rPr lang="en-IN" sz="2200" dirty="0" smtClean="0">
                <a:latin typeface="Times New Roman" pitchFamily="18" charset="0"/>
                <a:cs typeface="Times New Roman" pitchFamily="18" charset="0"/>
              </a:rPr>
              <a:t>point </a:t>
            </a:r>
            <a:r>
              <a:rPr lang="en-IN" sz="2200" dirty="0">
                <a:latin typeface="Times New Roman" pitchFamily="18" charset="0"/>
                <a:cs typeface="Times New Roman" pitchFamily="18" charset="0"/>
              </a:rPr>
              <a:t>(</a:t>
            </a:r>
            <a:r>
              <a:rPr lang="en-IN" sz="2200" dirty="0" smtClean="0">
                <a:latin typeface="Times New Roman" pitchFamily="18" charset="0"/>
                <a:cs typeface="Times New Roman" pitchFamily="18" charset="0"/>
              </a:rPr>
              <a:t>OP), </a:t>
            </a:r>
            <a:r>
              <a:rPr lang="en-IN" sz="2200" dirty="0">
                <a:latin typeface="Times New Roman" pitchFamily="18" charset="0"/>
                <a:cs typeface="Times New Roman" pitchFamily="18" charset="0"/>
              </a:rPr>
              <a:t>standard component sizing, etc. </a:t>
            </a:r>
            <a:endParaRPr lang="en-IN" sz="2200" dirty="0" smtClean="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The most popular estimation techniques are estimation by analogy, Delphi estimation, algorithmic cost </a:t>
            </a:r>
            <a:r>
              <a:rPr lang="en-IN" sz="2200" dirty="0" smtClean="0">
                <a:latin typeface="Times New Roman" pitchFamily="18" charset="0"/>
                <a:cs typeface="Times New Roman" pitchFamily="18" charset="0"/>
              </a:rPr>
              <a:t>modelling, </a:t>
            </a:r>
            <a:r>
              <a:rPr lang="en-IN" sz="2200" dirty="0">
                <a:latin typeface="Times New Roman" pitchFamily="18" charset="0"/>
                <a:cs typeface="Times New Roman" pitchFamily="18" charset="0"/>
              </a:rPr>
              <a:t>and analytical technique. </a:t>
            </a:r>
            <a:r>
              <a:rPr lang="en-IN" sz="2200" dirty="0" smtClean="0">
                <a:latin typeface="Times New Roman" pitchFamily="18" charset="0"/>
                <a:cs typeface="Times New Roman" pitchFamily="18" charset="0"/>
              </a:rPr>
              <a:t>Project scheduling is an important responsibility performed by project managers in order to complete the project in a successful manner. </a:t>
            </a:r>
          </a:p>
          <a:p>
            <a:pPr algn="just"/>
            <a:r>
              <a:rPr lang="en-IN" sz="2200" dirty="0" smtClean="0">
                <a:latin typeface="Times New Roman" pitchFamily="18" charset="0"/>
                <a:cs typeface="Times New Roman" pitchFamily="18" charset="0"/>
              </a:rPr>
              <a:t>These plans are the selection of the development life cycle, configuration management plan, risk management plan, quality assurance plan, system testing plan, and deployment plan.</a:t>
            </a:r>
          </a:p>
          <a:p>
            <a:pPr algn="just"/>
            <a:endParaRPr lang="en-IN" sz="2200" dirty="0" smtClean="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0C087B72-CC60-4FF0-9C96-8509CDF76D05}" type="slidenum">
              <a:rPr lang="en-IN" smtClean="0"/>
              <a:pPr/>
              <a:t>106</a:t>
            </a:fld>
            <a:endParaRPr lang="en-IN"/>
          </a:p>
        </p:txBody>
      </p:sp>
    </p:spTree>
    <p:extLst>
      <p:ext uri="{BB962C8B-B14F-4D97-AF65-F5344CB8AC3E}">
        <p14:creationId xmlns:p14="http://schemas.microsoft.com/office/powerpoint/2010/main" val="93093368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1869</TotalTime>
  <Words>7556</Words>
  <Application>Microsoft Office PowerPoint</Application>
  <PresentationFormat>On-screen Show (4:3)</PresentationFormat>
  <Paragraphs>1433</Paragraphs>
  <Slides>106</Slides>
  <Notes>11</Notes>
  <HiddenSlides>28</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3</vt:i4>
      </vt:variant>
      <vt:variant>
        <vt:lpstr>Slide Titles</vt:lpstr>
      </vt:variant>
      <vt:variant>
        <vt:i4>106</vt:i4>
      </vt:variant>
    </vt:vector>
  </HeadingPairs>
  <TitlesOfParts>
    <vt:vector size="116" baseType="lpstr">
      <vt:lpstr>Arial</vt:lpstr>
      <vt:lpstr>Arial Unicode MS</vt:lpstr>
      <vt:lpstr>Book Antiqua</vt:lpstr>
      <vt:lpstr>Calibri</vt:lpstr>
      <vt:lpstr>Times New Roman</vt:lpstr>
      <vt:lpstr>Wingdings</vt:lpstr>
      <vt:lpstr>Office Theme</vt:lpstr>
      <vt:lpstr>VISIO</vt:lpstr>
      <vt:lpstr>Document</vt:lpstr>
      <vt:lpstr>Microsoft Equation 3.0</vt:lpstr>
      <vt:lpstr>Project Planning and Estimation </vt:lpstr>
      <vt:lpstr>Introduction</vt:lpstr>
      <vt:lpstr>Project Planning Activities</vt:lpstr>
      <vt:lpstr>Software Product, Project and Process</vt:lpstr>
      <vt:lpstr>Software Product, Project and Process</vt:lpstr>
      <vt:lpstr>Software Product, Project and Process</vt:lpstr>
      <vt:lpstr>Software Metrics and Measurements</vt:lpstr>
      <vt:lpstr>Software Metrics and Measurements</vt:lpstr>
      <vt:lpstr>Software Metrics and Measurements</vt:lpstr>
      <vt:lpstr>Project Size Estimation</vt:lpstr>
      <vt:lpstr>Project Size Estimation</vt:lpstr>
      <vt:lpstr>Project Size Estimation</vt:lpstr>
      <vt:lpstr>Project Size Estimation</vt:lpstr>
      <vt:lpstr>Project Size Estimation</vt:lpstr>
      <vt:lpstr>Project Size Estimation</vt:lpstr>
      <vt:lpstr>Project Size Estimation</vt:lpstr>
      <vt:lpstr>Function oriented metrics (FP) </vt:lpstr>
      <vt:lpstr>CountTotal in FP-Based Metric</vt:lpstr>
      <vt:lpstr>VAF in FP-Based Metric</vt:lpstr>
      <vt:lpstr>VAF in FP-Based Metric (Cont’d)</vt:lpstr>
      <vt:lpstr>Values in FP-Based Metric</vt:lpstr>
      <vt:lpstr>Project Size Estimation: FP-Based Metric</vt:lpstr>
      <vt:lpstr>An Example of FP-Based Estimation</vt:lpstr>
      <vt:lpstr>An Example of FP-Based Estimation</vt:lpstr>
      <vt:lpstr>An Example of FP-Based Estimation</vt:lpstr>
      <vt:lpstr>An Example of FP-Based Estimation</vt:lpstr>
      <vt:lpstr>An Example of FP-Based Estimation</vt:lpstr>
      <vt:lpstr>Project Size Estimation</vt:lpstr>
      <vt:lpstr>Project Size Estimation</vt:lpstr>
      <vt:lpstr>Project Size Estimation</vt:lpstr>
      <vt:lpstr>Project Size Estimation</vt:lpstr>
      <vt:lpstr>Project Size Estimation</vt:lpstr>
      <vt:lpstr>Project Size Estimation</vt:lpstr>
      <vt:lpstr>Project Size Estimation</vt:lpstr>
      <vt:lpstr>Project Size Estimation</vt:lpstr>
      <vt:lpstr>Project Size Estimation</vt:lpstr>
      <vt:lpstr>Effort Estimation</vt:lpstr>
      <vt:lpstr>Effort Estimation Approaches</vt:lpstr>
      <vt:lpstr>Effort Estimation Approaches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Basic COCOMO Model</vt:lpstr>
      <vt:lpstr>Basic COCOMO Model</vt:lpstr>
      <vt:lpstr>Effort Estimation Techniques</vt:lpstr>
      <vt:lpstr>Intermediate COCOMO Model</vt:lpstr>
      <vt:lpstr>Effort Estimation Techniques</vt:lpstr>
      <vt:lpstr>Intermediate COCOMO Model</vt:lpstr>
      <vt:lpstr>Intermediate COCOMO Model</vt:lpstr>
      <vt:lpstr>Effort Estimation Techniques</vt:lpstr>
      <vt:lpstr>Detailed COCOMO Model</vt:lpstr>
      <vt:lpstr>Detailed COCOMO Model</vt:lpstr>
      <vt:lpstr>Detailed COCOMO Model</vt:lpstr>
      <vt:lpstr>Detailed COCOMO Model</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Effort Estimation Techniques</vt:lpstr>
      <vt:lpstr>Staffing and Personnel Planning</vt:lpstr>
      <vt:lpstr>Staffing and Personnel Planning</vt:lpstr>
      <vt:lpstr>Staffing and Personnel Planning</vt:lpstr>
      <vt:lpstr>Staffing and Personnel Planning</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Project Scheduling and Milestones</vt:lpstr>
      <vt:lpstr>Miscellaneous Plans</vt:lpstr>
      <vt:lpstr>Summary</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Planning and Estimation</dc:title>
  <dc:creator>Sapna</dc:creator>
  <cp:lastModifiedBy>Admin</cp:lastModifiedBy>
  <cp:revision>300</cp:revision>
  <dcterms:created xsi:type="dcterms:W3CDTF">2013-08-06T08:04:41Z</dcterms:created>
  <dcterms:modified xsi:type="dcterms:W3CDTF">2026-10-06T07:56:52Z</dcterms:modified>
</cp:coreProperties>
</file>