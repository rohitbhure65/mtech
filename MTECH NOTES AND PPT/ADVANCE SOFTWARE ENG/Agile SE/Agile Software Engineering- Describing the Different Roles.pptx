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9" r:id="rId44"/>
    <p:sldId id="300" r:id="rId45"/>
    <p:sldId id="301" r:id="rId46"/>
    <p:sldId id="302" r:id="rId47"/>
    <p:sldId id="298" r:id="rId48"/>
    <p:sldId id="303" r:id="rId49"/>
    <p:sldId id="304" r:id="rId50"/>
    <p:sldId id="305" r:id="rId51"/>
    <p:sldId id="306" r:id="rId52"/>
    <p:sldId id="307" r:id="rId53"/>
    <p:sldId id="308" r:id="rId54"/>
    <p:sldId id="309" r:id="rId55"/>
    <p:sldId id="310" r:id="rId56"/>
    <p:sldId id="311" r:id="rId5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18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609990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6330" y="136524"/>
            <a:ext cx="8611340" cy="789613"/>
          </a:xfrm>
        </p:spPr>
        <p:txBody>
          <a:bodyPr/>
          <a:lstStyle>
            <a:lvl1pPr>
              <a:defRPr b="1">
                <a:solidFill>
                  <a:srgbClr val="C00000"/>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266330" y="1020932"/>
            <a:ext cx="8611340" cy="545088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84DFD94-9AF5-4750-A612-64C774B24713}"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cxnSp>
        <p:nvCxnSpPr>
          <p:cNvPr id="8" name="Straight Connector 7">
            <a:extLst>
              <a:ext uri="{FF2B5EF4-FFF2-40B4-BE49-F238E27FC236}">
                <a16:creationId xmlns:a16="http://schemas.microsoft.com/office/drawing/2014/main" id="{224495AD-567D-2ADD-BE5E-6850C77BACB5}"/>
              </a:ext>
            </a:extLst>
          </p:cNvPr>
          <p:cNvCxnSpPr/>
          <p:nvPr userDrawn="1"/>
        </p:nvCxnSpPr>
        <p:spPr>
          <a:xfrm>
            <a:off x="0" y="926137"/>
            <a:ext cx="8877670" cy="0"/>
          </a:xfrm>
          <a:prstGeom prst="line">
            <a:avLst/>
          </a:prstGeom>
          <a:ln w="28575"/>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69258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4DFD94-9AF5-4750-A612-64C774B24713}"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436214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4DFD94-9AF5-4750-A612-64C774B24713}" type="datetimeFigureOut">
              <a:rPr lang="en-IN" smtClean="0"/>
              <a:t>04-04-2026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776708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4DFD94-9AF5-4750-A612-64C774B24713}" type="datetimeFigureOut">
              <a:rPr lang="en-IN" smtClean="0"/>
              <a:t>04-04-2026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4196799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4DFD94-9AF5-4750-A612-64C774B24713}" type="datetimeFigureOut">
              <a:rPr lang="en-IN" smtClean="0"/>
              <a:t>04-04-2026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946011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4DFD94-9AF5-4750-A612-64C774B24713}" type="datetimeFigureOut">
              <a:rPr lang="en-IN" smtClean="0"/>
              <a:t>04-04-2026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560334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4DFD94-9AF5-4750-A612-64C774B24713}" type="datetimeFigureOut">
              <a:rPr lang="en-IN" smtClean="0"/>
              <a:t>04-04-2026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924824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4DFD94-9AF5-4750-A612-64C774B24713}" type="datetimeFigureOut">
              <a:rPr lang="en-IN" smtClean="0"/>
              <a:t>04-04-2026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1128665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555665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614648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4DFD94-9AF5-4750-A612-64C774B24713}" type="datetimeFigureOut">
              <a:rPr lang="en-IN" smtClean="0"/>
              <a:t>04-04-2026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1F8360-00E8-462F-93F6-51CC5257BC34}" type="slidenum">
              <a:rPr lang="en-IN" smtClean="0"/>
              <a:t>‹#›</a:t>
            </a:fld>
            <a:endParaRPr lang="en-IN"/>
          </a:p>
        </p:txBody>
      </p:sp>
    </p:spTree>
    <p:extLst>
      <p:ext uri="{BB962C8B-B14F-4D97-AF65-F5344CB8AC3E}">
        <p14:creationId xmlns:p14="http://schemas.microsoft.com/office/powerpoint/2010/main" val="22838588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9000"/>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6B841-2D9F-0D42-9AED-FE29F9246E22}"/>
              </a:ext>
            </a:extLst>
          </p:cNvPr>
          <p:cNvSpPr>
            <a:spLocks noGrp="1"/>
          </p:cNvSpPr>
          <p:nvPr>
            <p:ph type="ctrTitle"/>
          </p:nvPr>
        </p:nvSpPr>
        <p:spPr/>
        <p:txBody>
          <a:bodyPr/>
          <a:lstStyle/>
          <a:p>
            <a:r>
              <a:rPr lang="en-IN" dirty="0"/>
              <a:t>Agile Software Engineering</a:t>
            </a:r>
          </a:p>
        </p:txBody>
      </p:sp>
      <p:sp>
        <p:nvSpPr>
          <p:cNvPr id="3" name="Subtitle 2">
            <a:extLst>
              <a:ext uri="{FF2B5EF4-FFF2-40B4-BE49-F238E27FC236}">
                <a16:creationId xmlns:a16="http://schemas.microsoft.com/office/drawing/2014/main" id="{1A4E7A6A-519E-5A54-9FF4-6F1F5C07C4A4}"/>
              </a:ext>
            </a:extLst>
          </p:cNvPr>
          <p:cNvSpPr>
            <a:spLocks noGrp="1"/>
          </p:cNvSpPr>
          <p:nvPr>
            <p:ph type="subTitle" idx="1"/>
          </p:nvPr>
        </p:nvSpPr>
        <p:spPr/>
        <p:txBody>
          <a:bodyPr>
            <a:normAutofit/>
          </a:bodyPr>
          <a:lstStyle/>
          <a:p>
            <a:r>
              <a:rPr lang="en-US" sz="4800" b="1" dirty="0">
                <a:solidFill>
                  <a:srgbClr val="FF0000"/>
                </a:solidFill>
              </a:rPr>
              <a:t>Describing the Different Roles</a:t>
            </a:r>
            <a:endParaRPr lang="en-IN" sz="4800" b="1" dirty="0">
              <a:solidFill>
                <a:srgbClr val="FF0000"/>
              </a:solidFill>
            </a:endParaRPr>
          </a:p>
        </p:txBody>
      </p:sp>
    </p:spTree>
    <p:extLst>
      <p:ext uri="{BB962C8B-B14F-4D97-AF65-F5344CB8AC3E}">
        <p14:creationId xmlns:p14="http://schemas.microsoft.com/office/powerpoint/2010/main" val="2473625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96CAD-1656-10CC-D360-45D45C5F6B5D}"/>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7F79EFDB-52D5-C0FF-8011-4B150096A9DA}"/>
              </a:ext>
            </a:extLst>
          </p:cNvPr>
          <p:cNvSpPr>
            <a:spLocks noGrp="1"/>
          </p:cNvSpPr>
          <p:nvPr>
            <p:ph idx="1"/>
          </p:nvPr>
        </p:nvSpPr>
        <p:spPr>
          <a:xfrm>
            <a:off x="266330" y="1020932"/>
            <a:ext cx="8611340" cy="5700544"/>
          </a:xfrm>
        </p:spPr>
        <p:txBody>
          <a:bodyPr>
            <a:normAutofit/>
          </a:bodyPr>
          <a:lstStyle/>
          <a:p>
            <a:r>
              <a:rPr lang="en-US" dirty="0"/>
              <a:t>It is important to understand the different roles that are used in Agile because they lay the foundation for how the work is delivered. </a:t>
            </a:r>
          </a:p>
          <a:p>
            <a:r>
              <a:rPr lang="en-US" dirty="0"/>
              <a:t>Detailing the responsibilities of each role shows how the Agile principles are brought to life in organizations of various sizes and complexities.</a:t>
            </a:r>
          </a:p>
          <a:p>
            <a:r>
              <a:rPr lang="en-US" dirty="0"/>
              <a:t>Scrum, the most widely used Agile methodology (VersionOne 2013) and deep dive into the descriptions of the product owner, the Scrum master, and the Scrum team. </a:t>
            </a:r>
          </a:p>
          <a:p>
            <a:r>
              <a:rPr lang="en-US" dirty="0"/>
              <a:t>With that foundation, we can then discover other roles and methodologies and how they approach the delivery of working software to key </a:t>
            </a:r>
            <a:r>
              <a:rPr lang="en-IN" dirty="0"/>
              <a:t>stakeholders and customers.</a:t>
            </a:r>
          </a:p>
        </p:txBody>
      </p:sp>
    </p:spTree>
    <p:extLst>
      <p:ext uri="{BB962C8B-B14F-4D97-AF65-F5344CB8AC3E}">
        <p14:creationId xmlns:p14="http://schemas.microsoft.com/office/powerpoint/2010/main" val="3440939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F8977-3B42-7F6A-6522-C6D107F08159}"/>
              </a:ext>
            </a:extLst>
          </p:cNvPr>
          <p:cNvSpPr>
            <a:spLocks noGrp="1"/>
          </p:cNvSpPr>
          <p:nvPr>
            <p:ph type="title"/>
          </p:nvPr>
        </p:nvSpPr>
        <p:spPr/>
        <p:txBody>
          <a:bodyPr/>
          <a:lstStyle/>
          <a:p>
            <a:r>
              <a:rPr lang="en-US" dirty="0"/>
              <a:t>Deep Dive into Scrum Roles</a:t>
            </a:r>
            <a:endParaRPr lang="en-IN" dirty="0"/>
          </a:p>
        </p:txBody>
      </p:sp>
      <p:sp>
        <p:nvSpPr>
          <p:cNvPr id="3" name="Content Placeholder 2">
            <a:extLst>
              <a:ext uri="{FF2B5EF4-FFF2-40B4-BE49-F238E27FC236}">
                <a16:creationId xmlns:a16="http://schemas.microsoft.com/office/drawing/2014/main" id="{6720430C-5DD0-28DE-DA4F-DB10956333D2}"/>
              </a:ext>
            </a:extLst>
          </p:cNvPr>
          <p:cNvSpPr>
            <a:spLocks noGrp="1"/>
          </p:cNvSpPr>
          <p:nvPr>
            <p:ph idx="1"/>
          </p:nvPr>
        </p:nvSpPr>
        <p:spPr/>
        <p:txBody>
          <a:bodyPr/>
          <a:lstStyle/>
          <a:p>
            <a:r>
              <a:rPr lang="en-US" dirty="0"/>
              <a:t>To provide a more in-depth review of roles within Agile, we dive into the roles with the Scrum methodology—</a:t>
            </a:r>
          </a:p>
          <a:p>
            <a:r>
              <a:rPr lang="en-US" dirty="0"/>
              <a:t>the product owner, </a:t>
            </a:r>
          </a:p>
          <a:p>
            <a:r>
              <a:rPr lang="en-US" dirty="0"/>
              <a:t>the Scrum master, and </a:t>
            </a:r>
          </a:p>
          <a:p>
            <a:r>
              <a:rPr lang="en-US" dirty="0"/>
              <a:t>the team.</a:t>
            </a:r>
            <a:endParaRPr lang="en-IN" dirty="0"/>
          </a:p>
        </p:txBody>
      </p:sp>
    </p:spTree>
    <p:extLst>
      <p:ext uri="{BB962C8B-B14F-4D97-AF65-F5344CB8AC3E}">
        <p14:creationId xmlns:p14="http://schemas.microsoft.com/office/powerpoint/2010/main" val="2063762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01F6B-57F7-1EE6-FFBB-25E5049D22E2}"/>
              </a:ext>
            </a:extLst>
          </p:cNvPr>
          <p:cNvSpPr>
            <a:spLocks noGrp="1"/>
          </p:cNvSpPr>
          <p:nvPr>
            <p:ph type="title"/>
          </p:nvPr>
        </p:nvSpPr>
        <p:spPr/>
        <p:txBody>
          <a:bodyPr/>
          <a:lstStyle/>
          <a:p>
            <a:r>
              <a:rPr lang="en-IN" dirty="0"/>
              <a:t>Product Owner</a:t>
            </a:r>
          </a:p>
        </p:txBody>
      </p:sp>
      <p:sp>
        <p:nvSpPr>
          <p:cNvPr id="3" name="Content Placeholder 2">
            <a:extLst>
              <a:ext uri="{FF2B5EF4-FFF2-40B4-BE49-F238E27FC236}">
                <a16:creationId xmlns:a16="http://schemas.microsoft.com/office/drawing/2014/main" id="{F765BE3F-4B92-615F-0BB0-1B2D626670CA}"/>
              </a:ext>
            </a:extLst>
          </p:cNvPr>
          <p:cNvSpPr>
            <a:spLocks noGrp="1"/>
          </p:cNvSpPr>
          <p:nvPr>
            <p:ph idx="1"/>
          </p:nvPr>
        </p:nvSpPr>
        <p:spPr/>
        <p:txBody>
          <a:bodyPr>
            <a:normAutofit lnSpcReduction="10000"/>
          </a:bodyPr>
          <a:lstStyle/>
          <a:p>
            <a:r>
              <a:rPr lang="en-US" dirty="0"/>
              <a:t>The first critical role to understand in Scrum is the product owner. </a:t>
            </a:r>
          </a:p>
          <a:p>
            <a:r>
              <a:rPr lang="en-US" dirty="0"/>
              <a:t>This role gets right to the heart of two of the twelve Agile principles: #4, “Business people and developers must work together daily throughout the project,” and #1, “Our highest priority is to satisfy the customer through early and continuous delivery of valuable software.” </a:t>
            </a:r>
          </a:p>
          <a:p>
            <a:r>
              <a:rPr lang="en-US" dirty="0"/>
              <a:t>To satisfy the customer, Scrum requires active engagement from “the business,” and that engagement is found through this role. </a:t>
            </a:r>
          </a:p>
          <a:p>
            <a:r>
              <a:rPr lang="en-US" dirty="0"/>
              <a:t>The product owner must have a vision for what the product is supposed to do and must be able to convey that vision to the development team</a:t>
            </a:r>
            <a:endParaRPr lang="en-IN" dirty="0"/>
          </a:p>
        </p:txBody>
      </p:sp>
    </p:spTree>
    <p:extLst>
      <p:ext uri="{BB962C8B-B14F-4D97-AF65-F5344CB8AC3E}">
        <p14:creationId xmlns:p14="http://schemas.microsoft.com/office/powerpoint/2010/main" val="3196583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E15C1-FB03-000B-1B93-71D3D2BE8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F37716-10E5-AC6D-AAD2-60192A949575}"/>
              </a:ext>
            </a:extLst>
          </p:cNvPr>
          <p:cNvSpPr>
            <a:spLocks noGrp="1"/>
          </p:cNvSpPr>
          <p:nvPr>
            <p:ph type="title"/>
          </p:nvPr>
        </p:nvSpPr>
        <p:spPr/>
        <p:txBody>
          <a:bodyPr/>
          <a:lstStyle/>
          <a:p>
            <a:r>
              <a:rPr lang="en-IN" dirty="0"/>
              <a:t>Product Owner</a:t>
            </a:r>
          </a:p>
        </p:txBody>
      </p:sp>
      <p:sp>
        <p:nvSpPr>
          <p:cNvPr id="3" name="Content Placeholder 2">
            <a:extLst>
              <a:ext uri="{FF2B5EF4-FFF2-40B4-BE49-F238E27FC236}">
                <a16:creationId xmlns:a16="http://schemas.microsoft.com/office/drawing/2014/main" id="{645F67D4-5FB7-4E1F-F1BE-F757B9A87F5B}"/>
              </a:ext>
            </a:extLst>
          </p:cNvPr>
          <p:cNvSpPr>
            <a:spLocks noGrp="1"/>
          </p:cNvSpPr>
          <p:nvPr>
            <p:ph idx="1"/>
          </p:nvPr>
        </p:nvSpPr>
        <p:spPr/>
        <p:txBody>
          <a:bodyPr>
            <a:normAutofit lnSpcReduction="10000"/>
          </a:bodyPr>
          <a:lstStyle/>
          <a:p>
            <a:r>
              <a:rPr lang="en-US" dirty="0"/>
              <a:t>“As the name suggests, a product owner should own the product on behalf of the company. </a:t>
            </a:r>
          </a:p>
          <a:p>
            <a:r>
              <a:rPr lang="en-US" dirty="0"/>
              <a:t>You can think of the product owner as the individual who champions the product, who facilitates the product decisions, and who has the final say about the product, for instance, if and how feedback is actioned, or when which features are released”.</a:t>
            </a:r>
          </a:p>
          <a:p>
            <a:r>
              <a:rPr lang="en-US" dirty="0"/>
              <a:t>Turning the product vision into an actionable project is accomplished by creating and maintaining the product backlog, which is the core responsibility of the product owner. </a:t>
            </a:r>
          </a:p>
          <a:p>
            <a:r>
              <a:rPr lang="en-US" dirty="0"/>
              <a:t>The product backlog contains all of the requirements for the project in priority order to ensure that the team is always working on the </a:t>
            </a:r>
            <a:r>
              <a:rPr lang="en-IN" dirty="0"/>
              <a:t>most important things.</a:t>
            </a:r>
          </a:p>
        </p:txBody>
      </p:sp>
    </p:spTree>
    <p:extLst>
      <p:ext uri="{BB962C8B-B14F-4D97-AF65-F5344CB8AC3E}">
        <p14:creationId xmlns:p14="http://schemas.microsoft.com/office/powerpoint/2010/main" val="183919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20495-589A-0648-F00A-3AB07883DE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41F547-3B58-67F9-0E16-071A1CCA7CA1}"/>
              </a:ext>
            </a:extLst>
          </p:cNvPr>
          <p:cNvSpPr>
            <a:spLocks noGrp="1"/>
          </p:cNvSpPr>
          <p:nvPr>
            <p:ph type="title"/>
          </p:nvPr>
        </p:nvSpPr>
        <p:spPr/>
        <p:txBody>
          <a:bodyPr/>
          <a:lstStyle/>
          <a:p>
            <a:r>
              <a:rPr lang="en-IN" dirty="0"/>
              <a:t>Product Owner - Setting the Priorities</a:t>
            </a:r>
          </a:p>
        </p:txBody>
      </p:sp>
      <p:sp>
        <p:nvSpPr>
          <p:cNvPr id="3" name="Content Placeholder 2">
            <a:extLst>
              <a:ext uri="{FF2B5EF4-FFF2-40B4-BE49-F238E27FC236}">
                <a16:creationId xmlns:a16="http://schemas.microsoft.com/office/drawing/2014/main" id="{A088B2A0-2EDE-C5B8-A89D-7B0699BB282C}"/>
              </a:ext>
            </a:extLst>
          </p:cNvPr>
          <p:cNvSpPr>
            <a:spLocks noGrp="1"/>
          </p:cNvSpPr>
          <p:nvPr>
            <p:ph idx="1"/>
          </p:nvPr>
        </p:nvSpPr>
        <p:spPr/>
        <p:txBody>
          <a:bodyPr>
            <a:normAutofit/>
          </a:bodyPr>
          <a:lstStyle/>
          <a:p>
            <a:r>
              <a:rPr lang="en-US" dirty="0"/>
              <a:t>Therefore, one important part of the product owner role is the responsibility of setting the priorities, and this can belong to only one person. </a:t>
            </a:r>
          </a:p>
          <a:p>
            <a:r>
              <a:rPr lang="en-US" dirty="0"/>
              <a:t>If you have two or more people tasked with setting the priorities, then you are likely to incur a conflict. </a:t>
            </a:r>
          </a:p>
          <a:p>
            <a:r>
              <a:rPr lang="en-US" dirty="0"/>
              <a:t>In the business world, it is very common to have more work to do than the team can reasonably get done, so there are often multiple top priorities;</a:t>
            </a:r>
          </a:p>
          <a:p>
            <a:r>
              <a:rPr lang="en-US" dirty="0"/>
              <a:t>having one person tasked with being a tie-breaker can make the difference between success and failure within a project.</a:t>
            </a:r>
            <a:endParaRPr lang="en-IN" dirty="0"/>
          </a:p>
        </p:txBody>
      </p:sp>
    </p:spTree>
    <p:extLst>
      <p:ext uri="{BB962C8B-B14F-4D97-AF65-F5344CB8AC3E}">
        <p14:creationId xmlns:p14="http://schemas.microsoft.com/office/powerpoint/2010/main" val="2420673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82F0A-BE38-5227-6243-667F13199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4C362F-3FCB-D376-B607-BF2C4838FBD4}"/>
              </a:ext>
            </a:extLst>
          </p:cNvPr>
          <p:cNvSpPr>
            <a:spLocks noGrp="1"/>
          </p:cNvSpPr>
          <p:nvPr>
            <p:ph type="title"/>
          </p:nvPr>
        </p:nvSpPr>
        <p:spPr/>
        <p:txBody>
          <a:bodyPr/>
          <a:lstStyle/>
          <a:p>
            <a:r>
              <a:rPr lang="en-IN" dirty="0"/>
              <a:t>Product Owner - Setting the Priorities</a:t>
            </a:r>
          </a:p>
        </p:txBody>
      </p:sp>
      <p:sp>
        <p:nvSpPr>
          <p:cNvPr id="3" name="Content Placeholder 2">
            <a:extLst>
              <a:ext uri="{FF2B5EF4-FFF2-40B4-BE49-F238E27FC236}">
                <a16:creationId xmlns:a16="http://schemas.microsoft.com/office/drawing/2014/main" id="{1D52480F-4FA9-EE45-4957-57E4AE7AC678}"/>
              </a:ext>
            </a:extLst>
          </p:cNvPr>
          <p:cNvSpPr>
            <a:spLocks noGrp="1"/>
          </p:cNvSpPr>
          <p:nvPr>
            <p:ph idx="1"/>
          </p:nvPr>
        </p:nvSpPr>
        <p:spPr/>
        <p:txBody>
          <a:bodyPr>
            <a:normAutofit fontScale="85000" lnSpcReduction="20000"/>
          </a:bodyPr>
          <a:lstStyle/>
          <a:p>
            <a:r>
              <a:rPr lang="en-IN" b="1" i="1" dirty="0"/>
              <a:t>Cayman Design Example</a:t>
            </a:r>
          </a:p>
          <a:p>
            <a:r>
              <a:rPr lang="en-US" dirty="0"/>
              <a:t>Our company, Cayman Design, has built a web site to tell people the weather.</a:t>
            </a:r>
          </a:p>
          <a:p>
            <a:r>
              <a:rPr lang="en-US" dirty="0"/>
              <a:t>Thus far, we have developed the following:</a:t>
            </a:r>
          </a:p>
          <a:p>
            <a:pPr lvl="1"/>
            <a:r>
              <a:rPr lang="en-US" dirty="0"/>
              <a:t>• Built a landing page for site visitors to come to</a:t>
            </a:r>
          </a:p>
          <a:p>
            <a:pPr lvl="1"/>
            <a:r>
              <a:rPr lang="en-US" dirty="0"/>
              <a:t>• Added a way to pull in or import the latest weather information</a:t>
            </a:r>
          </a:p>
          <a:p>
            <a:pPr lvl="1"/>
            <a:r>
              <a:rPr lang="en-US" dirty="0"/>
              <a:t>• Created a page to display that information</a:t>
            </a:r>
          </a:p>
          <a:p>
            <a:r>
              <a:rPr lang="en-US" dirty="0"/>
              <a:t>It may seem a bit simplistic, but we wanted to start with the basics and get our product to market quickly, knowing that we can add features in future sprints. </a:t>
            </a:r>
          </a:p>
          <a:p>
            <a:r>
              <a:rPr lang="en-US" dirty="0"/>
              <a:t>The product owner knew that, for the initial launch, the target market was largest in New York City, and Cayman Design needed to provide only weather for New York City to satisfy the most urgent business need. </a:t>
            </a:r>
          </a:p>
          <a:p>
            <a:r>
              <a:rPr lang="en-US" dirty="0"/>
              <a:t>Then following the initial launch, the product owner will prioritize other features that can be released in a more iterative manner. The concept of being able to iterate, continuously grow, and improve an application is central to the benefits of Agile.</a:t>
            </a:r>
            <a:endParaRPr lang="en-IN" dirty="0"/>
          </a:p>
        </p:txBody>
      </p:sp>
    </p:spTree>
    <p:extLst>
      <p:ext uri="{BB962C8B-B14F-4D97-AF65-F5344CB8AC3E}">
        <p14:creationId xmlns:p14="http://schemas.microsoft.com/office/powerpoint/2010/main" val="2065267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0A336-C2DD-89E0-503A-BCB40BA214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B582DF-E709-DC9B-F501-68051DF741C6}"/>
              </a:ext>
            </a:extLst>
          </p:cNvPr>
          <p:cNvSpPr>
            <a:spLocks noGrp="1"/>
          </p:cNvSpPr>
          <p:nvPr>
            <p:ph type="title"/>
          </p:nvPr>
        </p:nvSpPr>
        <p:spPr/>
        <p:txBody>
          <a:bodyPr/>
          <a:lstStyle/>
          <a:p>
            <a:r>
              <a:rPr lang="en-IN" dirty="0"/>
              <a:t>Product Owner - Setting the Priorities</a:t>
            </a:r>
          </a:p>
        </p:txBody>
      </p:sp>
      <p:sp>
        <p:nvSpPr>
          <p:cNvPr id="3" name="Content Placeholder 2">
            <a:extLst>
              <a:ext uri="{FF2B5EF4-FFF2-40B4-BE49-F238E27FC236}">
                <a16:creationId xmlns:a16="http://schemas.microsoft.com/office/drawing/2014/main" id="{F2F90733-910F-0695-F918-A0C6C2DD8222}"/>
              </a:ext>
            </a:extLst>
          </p:cNvPr>
          <p:cNvSpPr>
            <a:spLocks noGrp="1"/>
          </p:cNvSpPr>
          <p:nvPr>
            <p:ph idx="1"/>
          </p:nvPr>
        </p:nvSpPr>
        <p:spPr/>
        <p:txBody>
          <a:bodyPr>
            <a:normAutofit/>
          </a:bodyPr>
          <a:lstStyle/>
          <a:p>
            <a:r>
              <a:rPr lang="en-IN" b="1" i="1" dirty="0"/>
              <a:t>Prioritization by Business Value</a:t>
            </a:r>
          </a:p>
          <a:p>
            <a:r>
              <a:rPr lang="en-US" dirty="0"/>
              <a:t>What should Cayman Design work on next? We have a number of conflicting </a:t>
            </a:r>
            <a:r>
              <a:rPr lang="en-IN" dirty="0"/>
              <a:t>priorities.</a:t>
            </a:r>
          </a:p>
          <a:p>
            <a:r>
              <a:rPr lang="en-US" dirty="0"/>
              <a:t>• We want to add more cities so our application will appeal to a broader </a:t>
            </a:r>
            <a:r>
              <a:rPr lang="en-IN" dirty="0"/>
              <a:t>audience.</a:t>
            </a:r>
          </a:p>
          <a:p>
            <a:r>
              <a:rPr lang="en-US" dirty="0"/>
              <a:t>• We want to add features that will drive revenue and help monetize the site, such as selling weather-related calendars.</a:t>
            </a:r>
          </a:p>
          <a:p>
            <a:r>
              <a:rPr lang="en-US" dirty="0"/>
              <a:t>• Our IT teams have found that the code they have written to import the weather data is too slow, and they need to “refactor” the code to increase </a:t>
            </a:r>
            <a:r>
              <a:rPr lang="en-IN" dirty="0"/>
              <a:t>the processing speed.</a:t>
            </a:r>
          </a:p>
        </p:txBody>
      </p:sp>
    </p:spTree>
    <p:extLst>
      <p:ext uri="{BB962C8B-B14F-4D97-AF65-F5344CB8AC3E}">
        <p14:creationId xmlns:p14="http://schemas.microsoft.com/office/powerpoint/2010/main" val="3581981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01E59-DA42-A8A2-D086-E8F0A40C88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60B852-7A71-AF28-6AE1-F9019ACC89CE}"/>
              </a:ext>
            </a:extLst>
          </p:cNvPr>
          <p:cNvSpPr>
            <a:spLocks noGrp="1"/>
          </p:cNvSpPr>
          <p:nvPr>
            <p:ph type="title"/>
          </p:nvPr>
        </p:nvSpPr>
        <p:spPr/>
        <p:txBody>
          <a:bodyPr/>
          <a:lstStyle/>
          <a:p>
            <a:r>
              <a:rPr lang="en-IN" dirty="0"/>
              <a:t>Product Owner - Setting the Priorities</a:t>
            </a:r>
          </a:p>
        </p:txBody>
      </p:sp>
      <p:sp>
        <p:nvSpPr>
          <p:cNvPr id="3" name="Content Placeholder 2">
            <a:extLst>
              <a:ext uri="{FF2B5EF4-FFF2-40B4-BE49-F238E27FC236}">
                <a16:creationId xmlns:a16="http://schemas.microsoft.com/office/drawing/2014/main" id="{DE19E1FA-FBAA-762C-34E3-DB278291A0AA}"/>
              </a:ext>
            </a:extLst>
          </p:cNvPr>
          <p:cNvSpPr>
            <a:spLocks noGrp="1"/>
          </p:cNvSpPr>
          <p:nvPr>
            <p:ph idx="1"/>
          </p:nvPr>
        </p:nvSpPr>
        <p:spPr/>
        <p:txBody>
          <a:bodyPr>
            <a:normAutofit lnSpcReduction="10000"/>
          </a:bodyPr>
          <a:lstStyle/>
          <a:p>
            <a:r>
              <a:rPr lang="en-US" dirty="0"/>
              <a:t>Each one of these three efforts is important and valid, so how do you know which one to work on first? Within Agile, the main driver of priorities should be business value. Business value can take a number of forms, such as the following:</a:t>
            </a:r>
          </a:p>
          <a:p>
            <a:r>
              <a:rPr lang="en-US" dirty="0"/>
              <a:t>Increased revenue</a:t>
            </a:r>
          </a:p>
          <a:p>
            <a:r>
              <a:rPr lang="en-US" dirty="0"/>
              <a:t>Expansion of addressable market (i.e., with this new feature, more people will be interested in buying it)</a:t>
            </a:r>
          </a:p>
          <a:p>
            <a:r>
              <a:rPr lang="en-US" dirty="0"/>
              <a:t>Decreased cost</a:t>
            </a:r>
          </a:p>
          <a:p>
            <a:r>
              <a:rPr lang="en-US" dirty="0"/>
              <a:t>Increased customer satisfaction</a:t>
            </a:r>
          </a:p>
          <a:p>
            <a:r>
              <a:rPr lang="en-US" dirty="0"/>
              <a:t>Increased processing speed</a:t>
            </a:r>
          </a:p>
          <a:p>
            <a:r>
              <a:rPr lang="en-US" dirty="0"/>
              <a:t>Increased stability of the application</a:t>
            </a:r>
          </a:p>
          <a:p>
            <a:r>
              <a:rPr lang="en-US" dirty="0"/>
              <a:t>Improved usability</a:t>
            </a:r>
            <a:endParaRPr lang="en-IN" dirty="0"/>
          </a:p>
        </p:txBody>
      </p:sp>
    </p:spTree>
    <p:extLst>
      <p:ext uri="{BB962C8B-B14F-4D97-AF65-F5344CB8AC3E}">
        <p14:creationId xmlns:p14="http://schemas.microsoft.com/office/powerpoint/2010/main" val="1574378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AC207-10AB-C097-EC0A-7799920D6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29BA1C-36B3-BFD1-095A-BA15CA9F15CC}"/>
              </a:ext>
            </a:extLst>
          </p:cNvPr>
          <p:cNvSpPr>
            <a:spLocks noGrp="1"/>
          </p:cNvSpPr>
          <p:nvPr>
            <p:ph type="title"/>
          </p:nvPr>
        </p:nvSpPr>
        <p:spPr/>
        <p:txBody>
          <a:bodyPr/>
          <a:lstStyle/>
          <a:p>
            <a:r>
              <a:rPr lang="en-IN" dirty="0"/>
              <a:t>Product Owner - Sprint Results</a:t>
            </a:r>
          </a:p>
        </p:txBody>
      </p:sp>
      <p:sp>
        <p:nvSpPr>
          <p:cNvPr id="3" name="Content Placeholder 2">
            <a:extLst>
              <a:ext uri="{FF2B5EF4-FFF2-40B4-BE49-F238E27FC236}">
                <a16:creationId xmlns:a16="http://schemas.microsoft.com/office/drawing/2014/main" id="{7522DDEC-C28F-1BD0-731C-A3BDBE88F06F}"/>
              </a:ext>
            </a:extLst>
          </p:cNvPr>
          <p:cNvSpPr>
            <a:spLocks noGrp="1"/>
          </p:cNvSpPr>
          <p:nvPr>
            <p:ph idx="1"/>
          </p:nvPr>
        </p:nvSpPr>
        <p:spPr>
          <a:xfrm>
            <a:off x="266330" y="1020932"/>
            <a:ext cx="8611340" cy="5700544"/>
          </a:xfrm>
        </p:spPr>
        <p:txBody>
          <a:bodyPr>
            <a:normAutofit fontScale="92500" lnSpcReduction="10000"/>
          </a:bodyPr>
          <a:lstStyle/>
          <a:p>
            <a:r>
              <a:rPr lang="en-US" dirty="0"/>
              <a:t>Another responsibility of the product owner is to accept or reject the work at the end of the sprint or iteration. </a:t>
            </a:r>
          </a:p>
          <a:p>
            <a:r>
              <a:rPr lang="en-US" dirty="0"/>
              <a:t>Although that is a technical description of the product owner’s responsibilities, it is not in the spirit of Agile to simply reject the work, because that is not being collaborative. </a:t>
            </a:r>
          </a:p>
          <a:p>
            <a:r>
              <a:rPr lang="en-US" dirty="0"/>
              <a:t>The more likely scenario is that if the results of the sprint do not meet the product owner’s expectations, then he or she will add new user stories to future sprints to correct the imperfection.</a:t>
            </a:r>
          </a:p>
          <a:p>
            <a:r>
              <a:rPr lang="en-US" dirty="0"/>
              <a:t>It is also the product owner’s responsibility to make sure all of the necessary work was completed on a story. </a:t>
            </a:r>
          </a:p>
          <a:p>
            <a:r>
              <a:rPr lang="en-US" dirty="0"/>
              <a:t>If the team says that a story is done and yet the code is filled with bugs or the documentation is lacking, the product owner needs to hold the team accountable for the quality of their work.</a:t>
            </a:r>
            <a:endParaRPr lang="en-IN" dirty="0"/>
          </a:p>
        </p:txBody>
      </p:sp>
    </p:spTree>
    <p:extLst>
      <p:ext uri="{BB962C8B-B14F-4D97-AF65-F5344CB8AC3E}">
        <p14:creationId xmlns:p14="http://schemas.microsoft.com/office/powerpoint/2010/main" val="3127734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FDE84-88CC-C76C-6D15-D26F155074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10675-8511-9063-71B4-253AE260284E}"/>
              </a:ext>
            </a:extLst>
          </p:cNvPr>
          <p:cNvSpPr>
            <a:spLocks noGrp="1"/>
          </p:cNvSpPr>
          <p:nvPr>
            <p:ph type="title"/>
          </p:nvPr>
        </p:nvSpPr>
        <p:spPr/>
        <p:txBody>
          <a:bodyPr>
            <a:normAutofit fontScale="90000"/>
          </a:bodyPr>
          <a:lstStyle/>
          <a:p>
            <a:r>
              <a:rPr lang="en-IN" dirty="0"/>
              <a:t>Product Owner - Release Management</a:t>
            </a:r>
          </a:p>
        </p:txBody>
      </p:sp>
      <p:sp>
        <p:nvSpPr>
          <p:cNvPr id="3" name="Content Placeholder 2">
            <a:extLst>
              <a:ext uri="{FF2B5EF4-FFF2-40B4-BE49-F238E27FC236}">
                <a16:creationId xmlns:a16="http://schemas.microsoft.com/office/drawing/2014/main" id="{5294FEC6-23A4-BDBA-A8A4-52E7897A3762}"/>
              </a:ext>
            </a:extLst>
          </p:cNvPr>
          <p:cNvSpPr>
            <a:spLocks noGrp="1"/>
          </p:cNvSpPr>
          <p:nvPr>
            <p:ph idx="1"/>
          </p:nvPr>
        </p:nvSpPr>
        <p:spPr/>
        <p:txBody>
          <a:bodyPr>
            <a:normAutofit fontScale="92500" lnSpcReduction="10000"/>
          </a:bodyPr>
          <a:lstStyle/>
          <a:p>
            <a:r>
              <a:rPr lang="en-US" dirty="0"/>
              <a:t>Related to the setting of individual priorities, the product owner is also responsible for release management, deciding how many features need to be included in a product before it can be released. </a:t>
            </a:r>
          </a:p>
          <a:p>
            <a:r>
              <a:rPr lang="en-US" dirty="0"/>
              <a:t>This is critical with new products, because you do not want to launch something that will not resonate with your target customers.</a:t>
            </a:r>
          </a:p>
          <a:p>
            <a:r>
              <a:rPr lang="en-US" dirty="0"/>
              <a:t>In our example of Cayman Design, the product owner determined that a web site displaying data for New York City was sufficient for an initial release.</a:t>
            </a:r>
          </a:p>
          <a:p>
            <a:r>
              <a:rPr lang="en-US" dirty="0"/>
              <a:t>Once the product is in production, new features can be released as soon as </a:t>
            </a:r>
            <a:r>
              <a:rPr lang="en-IN" dirty="0"/>
              <a:t>they are available.</a:t>
            </a:r>
          </a:p>
          <a:p>
            <a:r>
              <a:rPr lang="en-US" dirty="0"/>
              <a:t>It is the responsibility of the product owner to determine what constitutes a release and then manage the feature set within that release.</a:t>
            </a:r>
            <a:endParaRPr lang="en-IN" dirty="0"/>
          </a:p>
        </p:txBody>
      </p:sp>
    </p:spTree>
    <p:extLst>
      <p:ext uri="{BB962C8B-B14F-4D97-AF65-F5344CB8AC3E}">
        <p14:creationId xmlns:p14="http://schemas.microsoft.com/office/powerpoint/2010/main" val="2012175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E1AC1-6ED4-0AD0-5A02-7D7F6FD2AF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5970FF-BCF2-E19E-2659-E19CE91D9FB4}"/>
              </a:ext>
            </a:extLst>
          </p:cNvPr>
          <p:cNvSpPr>
            <a:spLocks noGrp="1"/>
          </p:cNvSpPr>
          <p:nvPr>
            <p:ph type="title"/>
          </p:nvPr>
        </p:nvSpPr>
        <p:spPr/>
        <p:txBody>
          <a:bodyPr>
            <a:noAutofit/>
          </a:bodyPr>
          <a:lstStyle/>
          <a:p>
            <a:r>
              <a:rPr lang="en-IN" sz="3600" dirty="0"/>
              <a:t>Product Owner - </a:t>
            </a:r>
            <a:r>
              <a:rPr lang="en-US" sz="3600" i="1" dirty="0"/>
              <a:t>Who Is the Product Owner?</a:t>
            </a:r>
            <a:endParaRPr lang="en-IN" sz="3600" dirty="0"/>
          </a:p>
        </p:txBody>
      </p:sp>
      <p:sp>
        <p:nvSpPr>
          <p:cNvPr id="3" name="Content Placeholder 2">
            <a:extLst>
              <a:ext uri="{FF2B5EF4-FFF2-40B4-BE49-F238E27FC236}">
                <a16:creationId xmlns:a16="http://schemas.microsoft.com/office/drawing/2014/main" id="{5E79F8F5-2256-8639-7E94-F4899A84AA7A}"/>
              </a:ext>
            </a:extLst>
          </p:cNvPr>
          <p:cNvSpPr>
            <a:spLocks noGrp="1"/>
          </p:cNvSpPr>
          <p:nvPr>
            <p:ph idx="1"/>
          </p:nvPr>
        </p:nvSpPr>
        <p:spPr/>
        <p:txBody>
          <a:bodyPr>
            <a:normAutofit/>
          </a:bodyPr>
          <a:lstStyle/>
          <a:p>
            <a:r>
              <a:rPr lang="en-US" dirty="0"/>
              <a:t>Given these responsibilities for understanding the marketplace, authoring and prioritizing the requirements, ensuring adequate completion, and managing the releases, who are the best people to fill this critical role? </a:t>
            </a:r>
          </a:p>
          <a:p>
            <a:r>
              <a:rPr lang="en-US" dirty="0"/>
              <a:t>The most important consideration when selecting a product owner is to make sure that the person has an eye on the marketplace and the needs of customers and prospects. </a:t>
            </a:r>
          </a:p>
          <a:p>
            <a:r>
              <a:rPr lang="en-US" dirty="0"/>
              <a:t>It is critical that the product owner know WHAT the team needs to build, so he or she must have easy access to feedback and market drivers.</a:t>
            </a:r>
            <a:endParaRPr lang="en-IN" dirty="0"/>
          </a:p>
        </p:txBody>
      </p:sp>
    </p:spTree>
    <p:extLst>
      <p:ext uri="{BB962C8B-B14F-4D97-AF65-F5344CB8AC3E}">
        <p14:creationId xmlns:p14="http://schemas.microsoft.com/office/powerpoint/2010/main" val="893147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0A17A-7647-8B18-B540-75F662E5FB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42B828-B5C8-A1AE-DB5A-85BA798E45CA}"/>
              </a:ext>
            </a:extLst>
          </p:cNvPr>
          <p:cNvSpPr>
            <a:spLocks noGrp="1"/>
          </p:cNvSpPr>
          <p:nvPr>
            <p:ph type="title"/>
          </p:nvPr>
        </p:nvSpPr>
        <p:spPr/>
        <p:txBody>
          <a:bodyPr>
            <a:noAutofit/>
          </a:bodyPr>
          <a:lstStyle/>
          <a:p>
            <a:r>
              <a:rPr lang="en-IN" sz="3600" dirty="0"/>
              <a:t>Product Owner - </a:t>
            </a:r>
            <a:r>
              <a:rPr lang="en-US" sz="3600" i="1" dirty="0"/>
              <a:t>Who Is the Product Owner?</a:t>
            </a:r>
            <a:endParaRPr lang="en-IN" sz="3600" dirty="0"/>
          </a:p>
        </p:txBody>
      </p:sp>
      <p:sp>
        <p:nvSpPr>
          <p:cNvPr id="3" name="Content Placeholder 2">
            <a:extLst>
              <a:ext uri="{FF2B5EF4-FFF2-40B4-BE49-F238E27FC236}">
                <a16:creationId xmlns:a16="http://schemas.microsoft.com/office/drawing/2014/main" id="{554BA21E-EE93-9000-A0F0-60FBA5E78654}"/>
              </a:ext>
            </a:extLst>
          </p:cNvPr>
          <p:cNvSpPr>
            <a:spLocks noGrp="1"/>
          </p:cNvSpPr>
          <p:nvPr>
            <p:ph idx="1"/>
          </p:nvPr>
        </p:nvSpPr>
        <p:spPr>
          <a:xfrm>
            <a:off x="266330" y="1020932"/>
            <a:ext cx="8611340" cy="5700544"/>
          </a:xfrm>
        </p:spPr>
        <p:txBody>
          <a:bodyPr>
            <a:normAutofit fontScale="92500" lnSpcReduction="20000"/>
          </a:bodyPr>
          <a:lstStyle/>
          <a:p>
            <a:r>
              <a:rPr lang="en-US" dirty="0"/>
              <a:t>The person who plays the role of product owner can vary depending on the organization. </a:t>
            </a:r>
          </a:p>
          <a:p>
            <a:r>
              <a:rPr lang="en-US" dirty="0"/>
              <a:t>For example, the product owner may be a product manager, if the company has a formal product management organization. </a:t>
            </a:r>
          </a:p>
          <a:p>
            <a:r>
              <a:rPr lang="en-US" dirty="0"/>
              <a:t>Otherwise, there are several other ways to fill this role. </a:t>
            </a:r>
          </a:p>
          <a:p>
            <a:r>
              <a:rPr lang="en-US" dirty="0"/>
              <a:t>First, you can have business analysts (BAs) serve as product owner, and these BAs can be in either IT or other organizations.</a:t>
            </a:r>
          </a:p>
          <a:p>
            <a:r>
              <a:rPr lang="en-US" dirty="0"/>
              <a:t>People in account management who are responsible for engaging with current customers can be a fit too. </a:t>
            </a:r>
          </a:p>
          <a:p>
            <a:r>
              <a:rPr lang="en-US" dirty="0"/>
              <a:t>If the development work being undertaken is more operational in nature, then someone with operational expertise can fulfill this function. </a:t>
            </a:r>
          </a:p>
          <a:p>
            <a:r>
              <a:rPr lang="en-US" dirty="0"/>
              <a:t>As long as care is taken to create a solid feedback loop, then the product owner can come from many areas of the company.</a:t>
            </a:r>
            <a:endParaRPr lang="en-IN" dirty="0"/>
          </a:p>
        </p:txBody>
      </p:sp>
    </p:spTree>
    <p:extLst>
      <p:ext uri="{BB962C8B-B14F-4D97-AF65-F5344CB8AC3E}">
        <p14:creationId xmlns:p14="http://schemas.microsoft.com/office/powerpoint/2010/main" val="1769771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11812-293E-4237-835B-D44CF1F68D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E425E0-7D3E-4BFA-A836-25E60BFF4465}"/>
              </a:ext>
            </a:extLst>
          </p:cNvPr>
          <p:cNvSpPr>
            <a:spLocks noGrp="1"/>
          </p:cNvSpPr>
          <p:nvPr>
            <p:ph type="title"/>
          </p:nvPr>
        </p:nvSpPr>
        <p:spPr/>
        <p:txBody>
          <a:bodyPr>
            <a:noAutofit/>
          </a:bodyPr>
          <a:lstStyle/>
          <a:p>
            <a:r>
              <a:rPr lang="en-IN" sz="3600" dirty="0"/>
              <a:t>Product Owner - </a:t>
            </a:r>
            <a:r>
              <a:rPr lang="en-US" sz="3600" i="1" dirty="0"/>
              <a:t>Who Is the Product Owner?</a:t>
            </a:r>
            <a:endParaRPr lang="en-IN" sz="3600" dirty="0"/>
          </a:p>
        </p:txBody>
      </p:sp>
      <p:sp>
        <p:nvSpPr>
          <p:cNvPr id="3" name="Content Placeholder 2">
            <a:extLst>
              <a:ext uri="{FF2B5EF4-FFF2-40B4-BE49-F238E27FC236}">
                <a16:creationId xmlns:a16="http://schemas.microsoft.com/office/drawing/2014/main" id="{ECBFDD48-7D2A-E409-2E77-B074C45469DA}"/>
              </a:ext>
            </a:extLst>
          </p:cNvPr>
          <p:cNvSpPr>
            <a:spLocks noGrp="1"/>
          </p:cNvSpPr>
          <p:nvPr>
            <p:ph idx="1"/>
          </p:nvPr>
        </p:nvSpPr>
        <p:spPr/>
        <p:txBody>
          <a:bodyPr>
            <a:normAutofit fontScale="85000" lnSpcReduction="10000"/>
          </a:bodyPr>
          <a:lstStyle/>
          <a:p>
            <a:r>
              <a:rPr lang="en-US" dirty="0"/>
              <a:t>The person who plays the role of product owner can vary depending on the organization. </a:t>
            </a:r>
          </a:p>
          <a:p>
            <a:r>
              <a:rPr lang="en-US" dirty="0"/>
              <a:t>For example, the product owner may be a product manager, if the company has a formal product management organization. </a:t>
            </a:r>
          </a:p>
          <a:p>
            <a:r>
              <a:rPr lang="en-US" dirty="0"/>
              <a:t>Otherwise, there are several other ways to fill this role. </a:t>
            </a:r>
          </a:p>
          <a:p>
            <a:r>
              <a:rPr lang="en-US" dirty="0"/>
              <a:t>First, you can have business analysts (BAs) serve as product owner, and these BAs can be in either IT or other organizations.</a:t>
            </a:r>
          </a:p>
          <a:p>
            <a:r>
              <a:rPr lang="en-US" dirty="0"/>
              <a:t>People in account management who are responsible for engaging with current customers can be a fit too. </a:t>
            </a:r>
          </a:p>
          <a:p>
            <a:r>
              <a:rPr lang="en-US" dirty="0"/>
              <a:t>If the development work being undertaken is more operational in nature, then someone with operational expertise can fulfill this function. </a:t>
            </a:r>
          </a:p>
          <a:p>
            <a:r>
              <a:rPr lang="en-US" dirty="0"/>
              <a:t>As long as care is taken to create a solid feedback loop, then the product owner can come from many areas of the company.</a:t>
            </a:r>
            <a:endParaRPr lang="en-IN" dirty="0"/>
          </a:p>
        </p:txBody>
      </p:sp>
    </p:spTree>
    <p:extLst>
      <p:ext uri="{BB962C8B-B14F-4D97-AF65-F5344CB8AC3E}">
        <p14:creationId xmlns:p14="http://schemas.microsoft.com/office/powerpoint/2010/main" val="15879883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C59B7-AE45-6143-B927-99F61CA13BF4}"/>
              </a:ext>
            </a:extLst>
          </p:cNvPr>
          <p:cNvSpPr>
            <a:spLocks noGrp="1"/>
          </p:cNvSpPr>
          <p:nvPr>
            <p:ph type="title"/>
          </p:nvPr>
        </p:nvSpPr>
        <p:spPr/>
        <p:txBody>
          <a:bodyPr/>
          <a:lstStyle/>
          <a:p>
            <a:r>
              <a:rPr lang="en-IN" dirty="0"/>
              <a:t>Scrum Master</a:t>
            </a:r>
          </a:p>
        </p:txBody>
      </p:sp>
      <p:sp>
        <p:nvSpPr>
          <p:cNvPr id="3" name="Content Placeholder 2">
            <a:extLst>
              <a:ext uri="{FF2B5EF4-FFF2-40B4-BE49-F238E27FC236}">
                <a16:creationId xmlns:a16="http://schemas.microsoft.com/office/drawing/2014/main" id="{BF123C5F-2D22-AEC3-A94E-67EED9021F7F}"/>
              </a:ext>
            </a:extLst>
          </p:cNvPr>
          <p:cNvSpPr>
            <a:spLocks noGrp="1"/>
          </p:cNvSpPr>
          <p:nvPr>
            <p:ph idx="1"/>
          </p:nvPr>
        </p:nvSpPr>
        <p:spPr>
          <a:xfrm>
            <a:off x="266330" y="1020932"/>
            <a:ext cx="8611340" cy="5700544"/>
          </a:xfrm>
        </p:spPr>
        <p:txBody>
          <a:bodyPr>
            <a:normAutofit fontScale="92500" lnSpcReduction="20000"/>
          </a:bodyPr>
          <a:lstStyle/>
          <a:p>
            <a:r>
              <a:rPr lang="en-US" dirty="0"/>
              <a:t>The second of the three defined roles in Scrum is the Scrum master, which is a new and very different position for many organizations. </a:t>
            </a:r>
          </a:p>
          <a:p>
            <a:r>
              <a:rPr lang="en-US" dirty="0"/>
              <a:t>The Scrum master is responsible for leading the development team and working through any issues that arise during a sprint. </a:t>
            </a:r>
          </a:p>
          <a:p>
            <a:r>
              <a:rPr lang="en-US" dirty="0"/>
              <a:t>The specific responsibilities can vary based on the size and experience of the team, as well as the size and complexity of the work effort. </a:t>
            </a:r>
          </a:p>
          <a:p>
            <a:r>
              <a:rPr lang="en-US" dirty="0"/>
              <a:t>There are some consistent personality traits that lead to a successful Scrum master. </a:t>
            </a:r>
          </a:p>
          <a:p>
            <a:r>
              <a:rPr lang="en-US" dirty="0"/>
              <a:t>For example, the Scrum master must be willing to make decisions and actively work throughout the organization to remove impediments or roadblocks for the team. </a:t>
            </a:r>
          </a:p>
          <a:p>
            <a:r>
              <a:rPr lang="en-US" dirty="0"/>
              <a:t>Being Scrum master is not right for everyone: Some people are not comfortable with the visibility associated with the role or taking the initiative necessary to succeed.</a:t>
            </a:r>
            <a:endParaRPr lang="en-IN" dirty="0"/>
          </a:p>
        </p:txBody>
      </p:sp>
    </p:spTree>
    <p:extLst>
      <p:ext uri="{BB962C8B-B14F-4D97-AF65-F5344CB8AC3E}">
        <p14:creationId xmlns:p14="http://schemas.microsoft.com/office/powerpoint/2010/main" val="1794384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C5704-60C1-1340-28D0-94904489DA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4533D7-767F-A5DC-E4C1-C159E6804561}"/>
              </a:ext>
            </a:extLst>
          </p:cNvPr>
          <p:cNvSpPr>
            <a:spLocks noGrp="1"/>
          </p:cNvSpPr>
          <p:nvPr>
            <p:ph type="title"/>
          </p:nvPr>
        </p:nvSpPr>
        <p:spPr/>
        <p:txBody>
          <a:bodyPr>
            <a:normAutofit fontScale="90000"/>
          </a:bodyPr>
          <a:lstStyle/>
          <a:p>
            <a:r>
              <a:rPr lang="en-IN" dirty="0"/>
              <a:t>Scrum Master - Removing Impediments</a:t>
            </a:r>
          </a:p>
        </p:txBody>
      </p:sp>
      <p:sp>
        <p:nvSpPr>
          <p:cNvPr id="3" name="Content Placeholder 2">
            <a:extLst>
              <a:ext uri="{FF2B5EF4-FFF2-40B4-BE49-F238E27FC236}">
                <a16:creationId xmlns:a16="http://schemas.microsoft.com/office/drawing/2014/main" id="{505F3E8A-A10A-8487-F723-021E7E6D861B}"/>
              </a:ext>
            </a:extLst>
          </p:cNvPr>
          <p:cNvSpPr>
            <a:spLocks noGrp="1"/>
          </p:cNvSpPr>
          <p:nvPr>
            <p:ph idx="1"/>
          </p:nvPr>
        </p:nvSpPr>
        <p:spPr>
          <a:xfrm>
            <a:off x="266330" y="1020932"/>
            <a:ext cx="8611340" cy="5498740"/>
          </a:xfrm>
        </p:spPr>
        <p:txBody>
          <a:bodyPr>
            <a:normAutofit/>
          </a:bodyPr>
          <a:lstStyle/>
          <a:p>
            <a:r>
              <a:rPr lang="en-US" dirty="0"/>
              <a:t>Removing impediments is one key role that the Scrum master plays. </a:t>
            </a:r>
          </a:p>
          <a:p>
            <a:r>
              <a:rPr lang="en-US" dirty="0"/>
              <a:t>An impediment is anything that gets in the way of the developers getting their work done.</a:t>
            </a:r>
          </a:p>
          <a:p>
            <a:r>
              <a:rPr lang="en-US" dirty="0"/>
              <a:t>A number of tasks are easier to do when not interrupted, such as studying for a test, building a model airplane, painting a room, or writing code. </a:t>
            </a:r>
          </a:p>
          <a:p>
            <a:r>
              <a:rPr lang="en-US" dirty="0"/>
              <a:t>When we get into a rhythm, we can get a tremendous amount of work done because our minds can focus on the task at hand.</a:t>
            </a:r>
            <a:endParaRPr lang="en-IN" dirty="0"/>
          </a:p>
        </p:txBody>
      </p:sp>
    </p:spTree>
    <p:extLst>
      <p:ext uri="{BB962C8B-B14F-4D97-AF65-F5344CB8AC3E}">
        <p14:creationId xmlns:p14="http://schemas.microsoft.com/office/powerpoint/2010/main" val="1535175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DD9A3-CFE3-09C4-938F-0E92088741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4787D4-8041-3852-7CF8-637E5B0A29BD}"/>
              </a:ext>
            </a:extLst>
          </p:cNvPr>
          <p:cNvSpPr>
            <a:spLocks noGrp="1"/>
          </p:cNvSpPr>
          <p:nvPr>
            <p:ph type="title"/>
          </p:nvPr>
        </p:nvSpPr>
        <p:spPr/>
        <p:txBody>
          <a:bodyPr>
            <a:normAutofit fontScale="90000"/>
          </a:bodyPr>
          <a:lstStyle/>
          <a:p>
            <a:r>
              <a:rPr lang="en-IN" dirty="0"/>
              <a:t>Scrum Master - Removing Impediments</a:t>
            </a:r>
          </a:p>
        </p:txBody>
      </p:sp>
      <p:sp>
        <p:nvSpPr>
          <p:cNvPr id="3" name="Content Placeholder 2">
            <a:extLst>
              <a:ext uri="{FF2B5EF4-FFF2-40B4-BE49-F238E27FC236}">
                <a16:creationId xmlns:a16="http://schemas.microsoft.com/office/drawing/2014/main" id="{293C815C-4EFF-7CCD-33D4-15569348D6FF}"/>
              </a:ext>
            </a:extLst>
          </p:cNvPr>
          <p:cNvSpPr>
            <a:spLocks noGrp="1"/>
          </p:cNvSpPr>
          <p:nvPr>
            <p:ph idx="1"/>
          </p:nvPr>
        </p:nvSpPr>
        <p:spPr>
          <a:xfrm>
            <a:off x="266330" y="1020932"/>
            <a:ext cx="8611340" cy="5700544"/>
          </a:xfrm>
        </p:spPr>
        <p:txBody>
          <a:bodyPr>
            <a:normAutofit lnSpcReduction="10000"/>
          </a:bodyPr>
          <a:lstStyle/>
          <a:p>
            <a:r>
              <a:rPr lang="en-US" dirty="0"/>
              <a:t>What happens when we are interrupted by the telephone or someone asking a question or a noisy neighbor? </a:t>
            </a:r>
          </a:p>
          <a:p>
            <a:r>
              <a:rPr lang="en-US" dirty="0"/>
              <a:t>Any of these things can break our rhythm, and getting started again after an interruption is not as simple as sitting back down and picking up where we left off. </a:t>
            </a:r>
          </a:p>
          <a:p>
            <a:r>
              <a:rPr lang="en-US" dirty="0"/>
              <a:t>“When subjects reengage in a sequence of tasks following an interruption, there is an increased response time, or ‘restart cost’”.</a:t>
            </a:r>
          </a:p>
          <a:p>
            <a:r>
              <a:rPr lang="en-US" dirty="0"/>
              <a:t>This “restart cost” can be significant and can result in lost productivity. </a:t>
            </a:r>
          </a:p>
          <a:p>
            <a:r>
              <a:rPr lang="en-US" dirty="0"/>
              <a:t>These interruptions are one type of impediment. </a:t>
            </a:r>
          </a:p>
          <a:p>
            <a:r>
              <a:rPr lang="en-US" dirty="0"/>
              <a:t>It is the Scrum master’s job to remove as many impediments as possible.</a:t>
            </a:r>
            <a:endParaRPr lang="en-IN" dirty="0"/>
          </a:p>
        </p:txBody>
      </p:sp>
    </p:spTree>
    <p:extLst>
      <p:ext uri="{BB962C8B-B14F-4D97-AF65-F5344CB8AC3E}">
        <p14:creationId xmlns:p14="http://schemas.microsoft.com/office/powerpoint/2010/main" val="5311610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4BD9D-087C-A67A-2764-4D0447F7CB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2289EF-FD14-C755-C16D-312F1FEF1845}"/>
              </a:ext>
            </a:extLst>
          </p:cNvPr>
          <p:cNvSpPr>
            <a:spLocks noGrp="1"/>
          </p:cNvSpPr>
          <p:nvPr>
            <p:ph type="title"/>
          </p:nvPr>
        </p:nvSpPr>
        <p:spPr/>
        <p:txBody>
          <a:bodyPr>
            <a:normAutofit fontScale="90000"/>
          </a:bodyPr>
          <a:lstStyle/>
          <a:p>
            <a:r>
              <a:rPr lang="en-IN" dirty="0"/>
              <a:t>Scrum Master - Removing Impediments</a:t>
            </a:r>
          </a:p>
        </p:txBody>
      </p:sp>
      <p:sp>
        <p:nvSpPr>
          <p:cNvPr id="3" name="Content Placeholder 2">
            <a:extLst>
              <a:ext uri="{FF2B5EF4-FFF2-40B4-BE49-F238E27FC236}">
                <a16:creationId xmlns:a16="http://schemas.microsoft.com/office/drawing/2014/main" id="{2BF9EF47-E188-256D-ADF4-41577F3D3B84}"/>
              </a:ext>
            </a:extLst>
          </p:cNvPr>
          <p:cNvSpPr>
            <a:spLocks noGrp="1"/>
          </p:cNvSpPr>
          <p:nvPr>
            <p:ph idx="1"/>
          </p:nvPr>
        </p:nvSpPr>
        <p:spPr>
          <a:xfrm>
            <a:off x="266330" y="1020932"/>
            <a:ext cx="8611340" cy="5700544"/>
          </a:xfrm>
        </p:spPr>
        <p:txBody>
          <a:bodyPr>
            <a:normAutofit/>
          </a:bodyPr>
          <a:lstStyle/>
          <a:p>
            <a:pPr lvl="1"/>
            <a:r>
              <a:rPr lang="en-US" dirty="0"/>
              <a:t>The team in the next aisle plays music while they are working, and they play it so loud that it causes you to lose your concentration. </a:t>
            </a:r>
          </a:p>
          <a:p>
            <a:pPr lvl="1"/>
            <a:r>
              <a:rPr lang="en-US" dirty="0"/>
              <a:t>Rather than try to work through it or create a scene by shouting that they need to knock it off, the developer can let the Scrum master know of this impediment, and the Scrum master can coordinate with the other team to find a workable solution; it might be the investment of headphones, or setting a specific time when playing loud music is acceptable.</a:t>
            </a:r>
          </a:p>
          <a:p>
            <a:r>
              <a:rPr lang="en-US" dirty="0"/>
              <a:t>There is significant value in having a team member who can remove these types of roadblocks so that developers can spend the majority of their time writing code. </a:t>
            </a:r>
          </a:p>
          <a:p>
            <a:r>
              <a:rPr lang="en-US" dirty="0"/>
              <a:t>The ability to tackle these issues requires determination and stubbornness, so selecting the right person for </a:t>
            </a:r>
            <a:r>
              <a:rPr lang="en-IN" dirty="0"/>
              <a:t>the role is important.</a:t>
            </a:r>
          </a:p>
        </p:txBody>
      </p:sp>
    </p:spTree>
    <p:extLst>
      <p:ext uri="{BB962C8B-B14F-4D97-AF65-F5344CB8AC3E}">
        <p14:creationId xmlns:p14="http://schemas.microsoft.com/office/powerpoint/2010/main" val="3195984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4D648-EF54-D111-A968-A6772A2B4F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8E6D52-81AF-F397-EE15-0C4B63B7746C}"/>
              </a:ext>
            </a:extLst>
          </p:cNvPr>
          <p:cNvSpPr>
            <a:spLocks noGrp="1"/>
          </p:cNvSpPr>
          <p:nvPr>
            <p:ph type="title"/>
          </p:nvPr>
        </p:nvSpPr>
        <p:spPr/>
        <p:txBody>
          <a:bodyPr>
            <a:noAutofit/>
          </a:bodyPr>
          <a:lstStyle/>
          <a:p>
            <a:r>
              <a:rPr lang="en-IN" sz="4000" dirty="0"/>
              <a:t>Scrum Master - </a:t>
            </a:r>
            <a:r>
              <a:rPr lang="en-IN" sz="3600" dirty="0"/>
              <a:t>Communicator and Liaison</a:t>
            </a:r>
          </a:p>
        </p:txBody>
      </p:sp>
      <p:sp>
        <p:nvSpPr>
          <p:cNvPr id="3" name="Content Placeholder 2">
            <a:extLst>
              <a:ext uri="{FF2B5EF4-FFF2-40B4-BE49-F238E27FC236}">
                <a16:creationId xmlns:a16="http://schemas.microsoft.com/office/drawing/2014/main" id="{BBBABE07-4437-97AB-17C9-C40FE0B1F58B}"/>
              </a:ext>
            </a:extLst>
          </p:cNvPr>
          <p:cNvSpPr>
            <a:spLocks noGrp="1"/>
          </p:cNvSpPr>
          <p:nvPr>
            <p:ph idx="1"/>
          </p:nvPr>
        </p:nvSpPr>
        <p:spPr>
          <a:xfrm>
            <a:off x="266330" y="1020932"/>
            <a:ext cx="8611340" cy="5700544"/>
          </a:xfrm>
        </p:spPr>
        <p:txBody>
          <a:bodyPr>
            <a:normAutofit fontScale="92500" lnSpcReduction="10000"/>
          </a:bodyPr>
          <a:lstStyle/>
          <a:p>
            <a:r>
              <a:rPr lang="en-US" dirty="0"/>
              <a:t>With any project, there are many questions about how something should be done or what exactly is meant in a certain requirement; the Scrum master is the coordination link to getting all of the necessary answers. </a:t>
            </a:r>
          </a:p>
          <a:p>
            <a:r>
              <a:rPr lang="en-US" dirty="0"/>
              <a:t>This may involve attending a number of meetings or seeking out specific people. </a:t>
            </a:r>
          </a:p>
          <a:p>
            <a:r>
              <a:rPr lang="en-US" dirty="0"/>
              <a:t>The Scrum master is also responsible for conveying information back to the team. </a:t>
            </a:r>
          </a:p>
          <a:p>
            <a:r>
              <a:rPr lang="en-US" dirty="0"/>
              <a:t>If something material changes on a project, such as the proposed delivery date, the Scrum master may be the first to hear this news, and he or she is responsible for ensuring that the team is kept fully informed. </a:t>
            </a:r>
          </a:p>
          <a:p>
            <a:r>
              <a:rPr lang="en-US" dirty="0"/>
              <a:t>Agile strives for “no surprises,” and the Scrum master can assist with this goal by keeping the team apprised of all </a:t>
            </a:r>
            <a:r>
              <a:rPr lang="en-IN" dirty="0"/>
              <a:t>information.</a:t>
            </a:r>
          </a:p>
        </p:txBody>
      </p:sp>
    </p:spTree>
    <p:extLst>
      <p:ext uri="{BB962C8B-B14F-4D97-AF65-F5344CB8AC3E}">
        <p14:creationId xmlns:p14="http://schemas.microsoft.com/office/powerpoint/2010/main" val="2444494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6A8AD-8076-230D-8974-37312FEC00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9AE16A-E3B9-259A-11F4-02B656F64204}"/>
              </a:ext>
            </a:extLst>
          </p:cNvPr>
          <p:cNvSpPr>
            <a:spLocks noGrp="1"/>
          </p:cNvSpPr>
          <p:nvPr>
            <p:ph type="title"/>
          </p:nvPr>
        </p:nvSpPr>
        <p:spPr/>
        <p:txBody>
          <a:bodyPr>
            <a:noAutofit/>
          </a:bodyPr>
          <a:lstStyle/>
          <a:p>
            <a:r>
              <a:rPr lang="en-IN" sz="4000" dirty="0"/>
              <a:t>Scrum Master - </a:t>
            </a:r>
            <a:r>
              <a:rPr lang="en-US" sz="2800" i="1" dirty="0"/>
              <a:t>Adherence to Scrum Best Practices</a:t>
            </a:r>
            <a:endParaRPr lang="en-IN" sz="3600" dirty="0"/>
          </a:p>
        </p:txBody>
      </p:sp>
      <p:sp>
        <p:nvSpPr>
          <p:cNvPr id="3" name="Content Placeholder 2">
            <a:extLst>
              <a:ext uri="{FF2B5EF4-FFF2-40B4-BE49-F238E27FC236}">
                <a16:creationId xmlns:a16="http://schemas.microsoft.com/office/drawing/2014/main" id="{6F7DBFDC-B82E-2CA2-8371-6ABC7730301D}"/>
              </a:ext>
            </a:extLst>
          </p:cNvPr>
          <p:cNvSpPr>
            <a:spLocks noGrp="1"/>
          </p:cNvSpPr>
          <p:nvPr>
            <p:ph idx="1"/>
          </p:nvPr>
        </p:nvSpPr>
        <p:spPr>
          <a:xfrm>
            <a:off x="266330" y="1020932"/>
            <a:ext cx="8611340" cy="5700544"/>
          </a:xfrm>
        </p:spPr>
        <p:txBody>
          <a:bodyPr>
            <a:normAutofit/>
          </a:bodyPr>
          <a:lstStyle/>
          <a:p>
            <a:r>
              <a:rPr lang="en-US" dirty="0"/>
              <a:t>The Scrum master is also responsible for making sure that the team is adhering to the principles of Scrum. </a:t>
            </a:r>
          </a:p>
          <a:p>
            <a:r>
              <a:rPr lang="en-US" dirty="0"/>
              <a:t>For example, if you have a particularly quiet teammate and another member who is fairly dominant, it is the Scrum master’s job to make sure all voices are heard. </a:t>
            </a:r>
          </a:p>
          <a:p>
            <a:r>
              <a:rPr lang="en-US" dirty="0"/>
              <a:t>That might mean asking specific questions to the quiet team member and paying close attention to the answers. </a:t>
            </a:r>
          </a:p>
          <a:p>
            <a:r>
              <a:rPr lang="en-US" dirty="0"/>
              <a:t>It might also mean delicately informing the dominant team member to stop talking and let everyone participate.</a:t>
            </a:r>
            <a:endParaRPr lang="en-IN" dirty="0"/>
          </a:p>
        </p:txBody>
      </p:sp>
    </p:spTree>
    <p:extLst>
      <p:ext uri="{BB962C8B-B14F-4D97-AF65-F5344CB8AC3E}">
        <p14:creationId xmlns:p14="http://schemas.microsoft.com/office/powerpoint/2010/main" val="13606653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8E91C-F19C-4129-F2E0-5F944B792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241F7D-0BC6-825E-EFAA-80FF2B6D99A7}"/>
              </a:ext>
            </a:extLst>
          </p:cNvPr>
          <p:cNvSpPr>
            <a:spLocks noGrp="1"/>
          </p:cNvSpPr>
          <p:nvPr>
            <p:ph type="title"/>
          </p:nvPr>
        </p:nvSpPr>
        <p:spPr/>
        <p:txBody>
          <a:bodyPr>
            <a:noAutofit/>
          </a:bodyPr>
          <a:lstStyle/>
          <a:p>
            <a:r>
              <a:rPr lang="en-IN" sz="4000" dirty="0"/>
              <a:t>Scrum Master - </a:t>
            </a:r>
            <a:r>
              <a:rPr lang="en-US" sz="2800" i="1" dirty="0"/>
              <a:t>Adherence to Scrum Best Practices</a:t>
            </a:r>
            <a:endParaRPr lang="en-IN" sz="3600" dirty="0"/>
          </a:p>
        </p:txBody>
      </p:sp>
      <p:sp>
        <p:nvSpPr>
          <p:cNvPr id="3" name="Content Placeholder 2">
            <a:extLst>
              <a:ext uri="{FF2B5EF4-FFF2-40B4-BE49-F238E27FC236}">
                <a16:creationId xmlns:a16="http://schemas.microsoft.com/office/drawing/2014/main" id="{597B693F-C0EB-414F-0141-922D73BB9F90}"/>
              </a:ext>
            </a:extLst>
          </p:cNvPr>
          <p:cNvSpPr>
            <a:spLocks noGrp="1"/>
          </p:cNvSpPr>
          <p:nvPr>
            <p:ph idx="1"/>
          </p:nvPr>
        </p:nvSpPr>
        <p:spPr>
          <a:xfrm>
            <a:off x="266330" y="1020932"/>
            <a:ext cx="8611340" cy="5700544"/>
          </a:xfrm>
        </p:spPr>
        <p:txBody>
          <a:bodyPr>
            <a:normAutofit/>
          </a:bodyPr>
          <a:lstStyle/>
          <a:p>
            <a:r>
              <a:rPr lang="en-US" dirty="0"/>
              <a:t>This might sound like a small responsibility, but effective team management can be the difference between the success and failure of a </a:t>
            </a:r>
            <a:r>
              <a:rPr lang="en-IN" dirty="0"/>
              <a:t>project.</a:t>
            </a:r>
          </a:p>
          <a:p>
            <a:r>
              <a:rPr lang="en-US" dirty="0"/>
              <a:t>One of the meetings that is part of the Scrum process is the Sprint retrospective. </a:t>
            </a:r>
          </a:p>
          <a:p>
            <a:r>
              <a:rPr lang="en-US" dirty="0"/>
              <a:t>This meeting takes place at the end of each sprint, and it is a time for the team to reflect on what went well in the last sprint and what needs improving in the next sprint. </a:t>
            </a:r>
          </a:p>
          <a:p>
            <a:r>
              <a:rPr lang="en-US" dirty="0"/>
              <a:t>This is a meeting that can be dismissed as unnecessary, but it is actually vitally important to the Agile process. </a:t>
            </a:r>
          </a:p>
          <a:p>
            <a:r>
              <a:rPr lang="en-US" dirty="0"/>
              <a:t>It is the Scrum master’s job to make sure that the team does not cut corners that diminish the effectiveness of Agile.</a:t>
            </a:r>
            <a:endParaRPr lang="en-IN" dirty="0"/>
          </a:p>
        </p:txBody>
      </p:sp>
    </p:spTree>
    <p:extLst>
      <p:ext uri="{BB962C8B-B14F-4D97-AF65-F5344CB8AC3E}">
        <p14:creationId xmlns:p14="http://schemas.microsoft.com/office/powerpoint/2010/main" val="3213799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48119-688D-9B0D-376D-64F6F18DF2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0CCF1-372E-0560-D2BB-160E273040A4}"/>
              </a:ext>
            </a:extLst>
          </p:cNvPr>
          <p:cNvSpPr>
            <a:spLocks noGrp="1"/>
          </p:cNvSpPr>
          <p:nvPr>
            <p:ph type="title"/>
          </p:nvPr>
        </p:nvSpPr>
        <p:spPr/>
        <p:txBody>
          <a:bodyPr>
            <a:noAutofit/>
          </a:bodyPr>
          <a:lstStyle/>
          <a:p>
            <a:r>
              <a:rPr lang="en-IN" sz="4000" dirty="0"/>
              <a:t>Scrum Master - </a:t>
            </a:r>
            <a:r>
              <a:rPr lang="en-US" sz="2800" i="1" dirty="0"/>
              <a:t>Adherence to Scrum Best Practices</a:t>
            </a:r>
            <a:endParaRPr lang="en-IN" sz="3600" dirty="0"/>
          </a:p>
        </p:txBody>
      </p:sp>
      <p:sp>
        <p:nvSpPr>
          <p:cNvPr id="3" name="Content Placeholder 2">
            <a:extLst>
              <a:ext uri="{FF2B5EF4-FFF2-40B4-BE49-F238E27FC236}">
                <a16:creationId xmlns:a16="http://schemas.microsoft.com/office/drawing/2014/main" id="{81F70513-A8E2-1E3D-E5F9-F2E9C196DB95}"/>
              </a:ext>
            </a:extLst>
          </p:cNvPr>
          <p:cNvSpPr>
            <a:spLocks noGrp="1"/>
          </p:cNvSpPr>
          <p:nvPr>
            <p:ph idx="1"/>
          </p:nvPr>
        </p:nvSpPr>
        <p:spPr>
          <a:xfrm>
            <a:off x="266330" y="1020932"/>
            <a:ext cx="8611340" cy="5700544"/>
          </a:xfrm>
        </p:spPr>
        <p:txBody>
          <a:bodyPr>
            <a:normAutofit/>
          </a:bodyPr>
          <a:lstStyle/>
          <a:p>
            <a:r>
              <a:rPr lang="en-US" dirty="0"/>
              <a:t>The Scrum master also needs to hold the team accountable for honoring their commitments. </a:t>
            </a:r>
          </a:p>
          <a:p>
            <a:r>
              <a:rPr lang="en-US" dirty="0"/>
              <a:t>If the team is not completing testing or documentation, the Scrum master needs to work with the team to improve their performance and address any root causes that might have led to the lapse.</a:t>
            </a:r>
            <a:endParaRPr lang="en-IN" dirty="0"/>
          </a:p>
        </p:txBody>
      </p:sp>
    </p:spTree>
    <p:extLst>
      <p:ext uri="{BB962C8B-B14F-4D97-AF65-F5344CB8AC3E}">
        <p14:creationId xmlns:p14="http://schemas.microsoft.com/office/powerpoint/2010/main" val="17839716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4BF45-5052-8AA9-6BA7-807387929B3E}"/>
              </a:ext>
            </a:extLst>
          </p:cNvPr>
          <p:cNvSpPr>
            <a:spLocks noGrp="1"/>
          </p:cNvSpPr>
          <p:nvPr>
            <p:ph type="title"/>
          </p:nvPr>
        </p:nvSpPr>
        <p:spPr/>
        <p:txBody>
          <a:bodyPr/>
          <a:lstStyle/>
          <a:p>
            <a:r>
              <a:rPr lang="en-US" dirty="0"/>
              <a:t>Who Should Be the Scrum Master?</a:t>
            </a:r>
            <a:endParaRPr lang="en-IN" dirty="0"/>
          </a:p>
        </p:txBody>
      </p:sp>
      <p:sp>
        <p:nvSpPr>
          <p:cNvPr id="3" name="Content Placeholder 2">
            <a:extLst>
              <a:ext uri="{FF2B5EF4-FFF2-40B4-BE49-F238E27FC236}">
                <a16:creationId xmlns:a16="http://schemas.microsoft.com/office/drawing/2014/main" id="{CCC596CC-3527-FE08-7886-BAEFC90FDFC2}"/>
              </a:ext>
            </a:extLst>
          </p:cNvPr>
          <p:cNvSpPr>
            <a:spLocks noGrp="1"/>
          </p:cNvSpPr>
          <p:nvPr>
            <p:ph idx="1"/>
          </p:nvPr>
        </p:nvSpPr>
        <p:spPr/>
        <p:txBody>
          <a:bodyPr>
            <a:normAutofit fontScale="92500" lnSpcReduction="10000"/>
          </a:bodyPr>
          <a:lstStyle/>
          <a:p>
            <a:r>
              <a:rPr lang="en-US" dirty="0"/>
              <a:t>When a new team is formed, determining who should be the Scrum master is a big decision, and there are several likely areas to search for talent.</a:t>
            </a:r>
          </a:p>
          <a:p>
            <a:r>
              <a:rPr lang="en-US" b="1" dirty="0"/>
              <a:t>Technical Lead or Lead Developer</a:t>
            </a:r>
          </a:p>
          <a:p>
            <a:pPr lvl="1"/>
            <a:r>
              <a:rPr lang="en-US" dirty="0"/>
              <a:t>A common choice for a Scrum master is the person on the team who has demonstrated a capacity for decision making by being the lead developer or the technical lead. </a:t>
            </a:r>
          </a:p>
          <a:p>
            <a:pPr lvl="1"/>
            <a:r>
              <a:rPr lang="en-US" dirty="0"/>
              <a:t>These people are usually very proficient at the application and are adept at solving complex problems, so they naturally rise as potential leaders.</a:t>
            </a:r>
          </a:p>
          <a:p>
            <a:pPr lvl="1"/>
            <a:r>
              <a:rPr lang="en-US" dirty="0"/>
              <a:t>Whether they are a good fit for the Scrum master role depends on their personality and preferences. </a:t>
            </a:r>
          </a:p>
          <a:p>
            <a:pPr lvl="1"/>
            <a:r>
              <a:rPr lang="en-US" dirty="0"/>
              <a:t>First, they must be willing to coach and collaborate with team members versus making decisions and dictating to the team.</a:t>
            </a:r>
          </a:p>
          <a:p>
            <a:pPr lvl="1"/>
            <a:r>
              <a:rPr lang="en-US" dirty="0"/>
              <a:t>Also, they must be comfortable with the visibility of the role, because it often requires more interactions with management and other departments.</a:t>
            </a:r>
            <a:endParaRPr lang="en-IN" dirty="0"/>
          </a:p>
        </p:txBody>
      </p:sp>
    </p:spTree>
    <p:extLst>
      <p:ext uri="{BB962C8B-B14F-4D97-AF65-F5344CB8AC3E}">
        <p14:creationId xmlns:p14="http://schemas.microsoft.com/office/powerpoint/2010/main" val="26370953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9551A-6372-318A-7033-67A3F44540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25CA19-E870-7ADA-FE33-C9D2B90D9AAC}"/>
              </a:ext>
            </a:extLst>
          </p:cNvPr>
          <p:cNvSpPr>
            <a:spLocks noGrp="1"/>
          </p:cNvSpPr>
          <p:nvPr>
            <p:ph type="title"/>
          </p:nvPr>
        </p:nvSpPr>
        <p:spPr/>
        <p:txBody>
          <a:bodyPr/>
          <a:lstStyle/>
          <a:p>
            <a:r>
              <a:rPr lang="en-US" dirty="0"/>
              <a:t>Who Should Be the Scrum Master?</a:t>
            </a:r>
            <a:endParaRPr lang="en-IN" dirty="0"/>
          </a:p>
        </p:txBody>
      </p:sp>
      <p:sp>
        <p:nvSpPr>
          <p:cNvPr id="3" name="Content Placeholder 2">
            <a:extLst>
              <a:ext uri="{FF2B5EF4-FFF2-40B4-BE49-F238E27FC236}">
                <a16:creationId xmlns:a16="http://schemas.microsoft.com/office/drawing/2014/main" id="{9819AE18-B9D8-CD2A-F0D5-7B18CE72A678}"/>
              </a:ext>
            </a:extLst>
          </p:cNvPr>
          <p:cNvSpPr>
            <a:spLocks noGrp="1"/>
          </p:cNvSpPr>
          <p:nvPr>
            <p:ph idx="1"/>
          </p:nvPr>
        </p:nvSpPr>
        <p:spPr/>
        <p:txBody>
          <a:bodyPr>
            <a:normAutofit/>
          </a:bodyPr>
          <a:lstStyle/>
          <a:p>
            <a:r>
              <a:rPr lang="en-IN" b="1" dirty="0"/>
              <a:t>Project Manager</a:t>
            </a:r>
          </a:p>
          <a:p>
            <a:pPr lvl="1"/>
            <a:r>
              <a:rPr lang="en-US" dirty="0"/>
              <a:t>Some project managers are a natural fit to morph into Scrum masters, but that is certainly not always the case. </a:t>
            </a:r>
          </a:p>
          <a:p>
            <a:pPr lvl="1"/>
            <a:r>
              <a:rPr lang="en-US" dirty="0"/>
              <a:t>The project manager’s role in a Waterfall environment is typically that of accountability and enforcement. </a:t>
            </a:r>
          </a:p>
          <a:p>
            <a:pPr lvl="1"/>
            <a:r>
              <a:rPr lang="en-US" dirty="0"/>
              <a:t>The project manager would likely have a detailed project plan clearly outlining due dates and task owners. </a:t>
            </a:r>
          </a:p>
          <a:p>
            <a:pPr lvl="1"/>
            <a:r>
              <a:rPr lang="en-US" dirty="0"/>
              <a:t>That person’s job is to make sure that everyone completes their tasks on time and as expected; this is very different from the role of Scrum master, who needs to serve as a coach and </a:t>
            </a:r>
            <a:r>
              <a:rPr lang="en-IN" dirty="0"/>
              <a:t>a collaborator.</a:t>
            </a:r>
          </a:p>
        </p:txBody>
      </p:sp>
    </p:spTree>
    <p:extLst>
      <p:ext uri="{BB962C8B-B14F-4D97-AF65-F5344CB8AC3E}">
        <p14:creationId xmlns:p14="http://schemas.microsoft.com/office/powerpoint/2010/main" val="21437689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5250C-AEBA-4F87-3876-C483094353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55B55A-A983-703B-68C4-47B90F4DC094}"/>
              </a:ext>
            </a:extLst>
          </p:cNvPr>
          <p:cNvSpPr>
            <a:spLocks noGrp="1"/>
          </p:cNvSpPr>
          <p:nvPr>
            <p:ph type="title"/>
          </p:nvPr>
        </p:nvSpPr>
        <p:spPr/>
        <p:txBody>
          <a:bodyPr/>
          <a:lstStyle/>
          <a:p>
            <a:r>
              <a:rPr lang="en-US" dirty="0"/>
              <a:t>Who Should Be the Scrum Master?</a:t>
            </a:r>
            <a:endParaRPr lang="en-IN" dirty="0"/>
          </a:p>
        </p:txBody>
      </p:sp>
      <p:sp>
        <p:nvSpPr>
          <p:cNvPr id="3" name="Content Placeholder 2">
            <a:extLst>
              <a:ext uri="{FF2B5EF4-FFF2-40B4-BE49-F238E27FC236}">
                <a16:creationId xmlns:a16="http://schemas.microsoft.com/office/drawing/2014/main" id="{7FA54BBD-BB60-8CF2-E49D-C631D8A52025}"/>
              </a:ext>
            </a:extLst>
          </p:cNvPr>
          <p:cNvSpPr>
            <a:spLocks noGrp="1"/>
          </p:cNvSpPr>
          <p:nvPr>
            <p:ph idx="1"/>
          </p:nvPr>
        </p:nvSpPr>
        <p:spPr/>
        <p:txBody>
          <a:bodyPr>
            <a:normAutofit/>
          </a:bodyPr>
          <a:lstStyle/>
          <a:p>
            <a:r>
              <a:rPr lang="en-IN" b="1" dirty="0"/>
              <a:t>Project Manager</a:t>
            </a:r>
          </a:p>
          <a:p>
            <a:pPr lvl="1"/>
            <a:r>
              <a:rPr lang="en-US" dirty="0"/>
              <a:t>When an unexpected problem arises, some project managers approach it by completing risk matrixes and reassigning tasks and establishing a new timeline, while escalating the occurrence to upper management. </a:t>
            </a:r>
          </a:p>
          <a:p>
            <a:pPr lvl="1"/>
            <a:r>
              <a:rPr lang="en-US" dirty="0"/>
              <a:t>The Scrum master would take an entirely different approach: collaborating with both the team and the product owner on what they learned and how it could affect the product. </a:t>
            </a:r>
          </a:p>
          <a:p>
            <a:pPr lvl="1"/>
            <a:r>
              <a:rPr lang="en-US" dirty="0"/>
              <a:t>By working collaboratively, the Scrum master would seek a new solution and would actively participate in brainstorming and creative problem solving.</a:t>
            </a:r>
          </a:p>
          <a:p>
            <a:pPr lvl="1"/>
            <a:r>
              <a:rPr lang="en-US" dirty="0"/>
              <a:t>Some project managers can easily make the shift from the command and control practices often associated with Waterfall projects to being collaborative in an Agile environment, but it certainly is not always possible.</a:t>
            </a:r>
            <a:endParaRPr lang="en-IN" dirty="0"/>
          </a:p>
        </p:txBody>
      </p:sp>
    </p:spTree>
    <p:extLst>
      <p:ext uri="{BB962C8B-B14F-4D97-AF65-F5344CB8AC3E}">
        <p14:creationId xmlns:p14="http://schemas.microsoft.com/office/powerpoint/2010/main" val="18225724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6F43E-1A37-AC0F-0A83-7E41112215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BB4A2-2652-AF66-3E03-B4FD70F2C827}"/>
              </a:ext>
            </a:extLst>
          </p:cNvPr>
          <p:cNvSpPr>
            <a:spLocks noGrp="1"/>
          </p:cNvSpPr>
          <p:nvPr>
            <p:ph type="title"/>
          </p:nvPr>
        </p:nvSpPr>
        <p:spPr/>
        <p:txBody>
          <a:bodyPr/>
          <a:lstStyle/>
          <a:p>
            <a:r>
              <a:rPr lang="en-US" dirty="0"/>
              <a:t>Who Should Be the Scrum Master?</a:t>
            </a:r>
            <a:endParaRPr lang="en-IN" dirty="0"/>
          </a:p>
        </p:txBody>
      </p:sp>
      <p:sp>
        <p:nvSpPr>
          <p:cNvPr id="3" name="Content Placeholder 2">
            <a:extLst>
              <a:ext uri="{FF2B5EF4-FFF2-40B4-BE49-F238E27FC236}">
                <a16:creationId xmlns:a16="http://schemas.microsoft.com/office/drawing/2014/main" id="{9A5DC237-6425-158E-95EA-BF24E91E503F}"/>
              </a:ext>
            </a:extLst>
          </p:cNvPr>
          <p:cNvSpPr>
            <a:spLocks noGrp="1"/>
          </p:cNvSpPr>
          <p:nvPr>
            <p:ph idx="1"/>
          </p:nvPr>
        </p:nvSpPr>
        <p:spPr/>
        <p:txBody>
          <a:bodyPr>
            <a:normAutofit fontScale="92500"/>
          </a:bodyPr>
          <a:lstStyle/>
          <a:p>
            <a:r>
              <a:rPr lang="en-IN" b="1" dirty="0"/>
              <a:t>IT/Functional Manager</a:t>
            </a:r>
          </a:p>
          <a:p>
            <a:pPr lvl="1"/>
            <a:r>
              <a:rPr lang="en-US" dirty="0"/>
              <a:t>Another often debated subject is whether the Scrum master can or should be the IT manager. </a:t>
            </a:r>
          </a:p>
          <a:p>
            <a:pPr lvl="1"/>
            <a:r>
              <a:rPr lang="en-US" dirty="0"/>
              <a:t>Again, this depends entirely on the makeup of the </a:t>
            </a:r>
            <a:r>
              <a:rPr lang="en-IN" dirty="0"/>
              <a:t>organization.</a:t>
            </a:r>
          </a:p>
          <a:p>
            <a:pPr lvl="1"/>
            <a:r>
              <a:rPr lang="en-US" dirty="0"/>
              <a:t>If your organization has been in Waterfall for quite some time, then you might have IT managers who are accustomed to making all of the decisions.</a:t>
            </a:r>
          </a:p>
          <a:p>
            <a:pPr lvl="1"/>
            <a:r>
              <a:rPr lang="en-US" dirty="0"/>
              <a:t>They might be more comfortable assigning tasks and managing the Scrum team as individual employees, rather than a team; if this is the case, then the IT manager should absolutely not be the Scrum master. </a:t>
            </a:r>
          </a:p>
          <a:p>
            <a:pPr lvl="1"/>
            <a:r>
              <a:rPr lang="en-US" dirty="0"/>
              <a:t>The team will never find its own rhythm if they are being managed in a Waterfall manner. </a:t>
            </a:r>
          </a:p>
          <a:p>
            <a:pPr lvl="1"/>
            <a:r>
              <a:rPr lang="en-US" dirty="0"/>
              <a:t>In fact, on many Scrum teams, the managers are not allowed to attend the Scrum meetings, or if they do, they are not allowed to speak.</a:t>
            </a:r>
            <a:endParaRPr lang="en-IN" dirty="0"/>
          </a:p>
        </p:txBody>
      </p:sp>
    </p:spTree>
    <p:extLst>
      <p:ext uri="{BB962C8B-B14F-4D97-AF65-F5344CB8AC3E}">
        <p14:creationId xmlns:p14="http://schemas.microsoft.com/office/powerpoint/2010/main" val="19089720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CC725-E337-7380-094F-4D9CAB73D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98928E-4EE3-13E0-DB31-512C451CA020}"/>
              </a:ext>
            </a:extLst>
          </p:cNvPr>
          <p:cNvSpPr>
            <a:spLocks noGrp="1"/>
          </p:cNvSpPr>
          <p:nvPr>
            <p:ph type="title"/>
          </p:nvPr>
        </p:nvSpPr>
        <p:spPr/>
        <p:txBody>
          <a:bodyPr/>
          <a:lstStyle/>
          <a:p>
            <a:r>
              <a:rPr lang="en-US" dirty="0"/>
              <a:t>Who Should Be the Scrum Master?</a:t>
            </a:r>
            <a:endParaRPr lang="en-IN" dirty="0"/>
          </a:p>
        </p:txBody>
      </p:sp>
      <p:sp>
        <p:nvSpPr>
          <p:cNvPr id="3" name="Content Placeholder 2">
            <a:extLst>
              <a:ext uri="{FF2B5EF4-FFF2-40B4-BE49-F238E27FC236}">
                <a16:creationId xmlns:a16="http://schemas.microsoft.com/office/drawing/2014/main" id="{1FCF10EC-8A7C-98DA-CB54-C082840421AC}"/>
              </a:ext>
            </a:extLst>
          </p:cNvPr>
          <p:cNvSpPr>
            <a:spLocks noGrp="1"/>
          </p:cNvSpPr>
          <p:nvPr>
            <p:ph idx="1"/>
          </p:nvPr>
        </p:nvSpPr>
        <p:spPr/>
        <p:txBody>
          <a:bodyPr>
            <a:normAutofit/>
          </a:bodyPr>
          <a:lstStyle/>
          <a:p>
            <a:r>
              <a:rPr lang="en-US" dirty="0"/>
              <a:t>Who makes the best Scrum master? </a:t>
            </a:r>
          </a:p>
          <a:p>
            <a:r>
              <a:rPr lang="en-US" dirty="0"/>
              <a:t>As with most things in Agile, the answer is—it depends. </a:t>
            </a:r>
          </a:p>
          <a:p>
            <a:r>
              <a:rPr lang="en-US" dirty="0"/>
              <a:t>Good Scrum masters can be developers, quality assurance (QA) folks, or BAs. In fact, the Scrum master does not even need to be in the IT organization. </a:t>
            </a:r>
          </a:p>
          <a:p>
            <a:r>
              <a:rPr lang="en-US" dirty="0"/>
              <a:t>There have been successful models where the Scrum master is an analyst from account management or a customer service organization. </a:t>
            </a:r>
          </a:p>
          <a:p>
            <a:r>
              <a:rPr lang="en-US" dirty="0"/>
              <a:t>The important thing when choosing your Scrum master is that the person should be able to remove impediments, minimize interruptions, lead the team, and enforce the principles of Agile.</a:t>
            </a:r>
            <a:endParaRPr lang="en-IN" dirty="0"/>
          </a:p>
        </p:txBody>
      </p:sp>
    </p:spTree>
    <p:extLst>
      <p:ext uri="{BB962C8B-B14F-4D97-AF65-F5344CB8AC3E}">
        <p14:creationId xmlns:p14="http://schemas.microsoft.com/office/powerpoint/2010/main" val="11687612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BAE3F-FFBB-D133-1AF5-7023315EC3BE}"/>
              </a:ext>
            </a:extLst>
          </p:cNvPr>
          <p:cNvSpPr>
            <a:spLocks noGrp="1"/>
          </p:cNvSpPr>
          <p:nvPr>
            <p:ph type="title"/>
          </p:nvPr>
        </p:nvSpPr>
        <p:spPr/>
        <p:txBody>
          <a:bodyPr/>
          <a:lstStyle/>
          <a:p>
            <a:r>
              <a:rPr lang="en-IN" dirty="0"/>
              <a:t>Product Owner + Scrum Master</a:t>
            </a:r>
          </a:p>
        </p:txBody>
      </p:sp>
      <p:sp>
        <p:nvSpPr>
          <p:cNvPr id="3" name="Content Placeholder 2">
            <a:extLst>
              <a:ext uri="{FF2B5EF4-FFF2-40B4-BE49-F238E27FC236}">
                <a16:creationId xmlns:a16="http://schemas.microsoft.com/office/drawing/2014/main" id="{B39EFA5C-63DC-0FA2-38B7-70BF0B2BF133}"/>
              </a:ext>
            </a:extLst>
          </p:cNvPr>
          <p:cNvSpPr>
            <a:spLocks noGrp="1"/>
          </p:cNvSpPr>
          <p:nvPr>
            <p:ph idx="1"/>
          </p:nvPr>
        </p:nvSpPr>
        <p:spPr/>
        <p:txBody>
          <a:bodyPr/>
          <a:lstStyle/>
          <a:p>
            <a:r>
              <a:rPr lang="en-US" dirty="0"/>
              <a:t>For an Agile implementation to maximize its effectiveness, the product owner and the Scrum master both need to be enthusiastic advocates for their respective roles</a:t>
            </a:r>
            <a:r>
              <a:rPr lang="en-US"/>
              <a:t>. </a:t>
            </a:r>
          </a:p>
          <a:p>
            <a:r>
              <a:rPr lang="en-US"/>
              <a:t>Both </a:t>
            </a:r>
            <a:r>
              <a:rPr lang="en-US" dirty="0"/>
              <a:t>need to be strong communicators who are committed to the success of the product and the team, focusing on collaboration and </a:t>
            </a:r>
            <a:r>
              <a:rPr lang="en-US"/>
              <a:t>finding creative and </a:t>
            </a:r>
            <a:r>
              <a:rPr lang="en-US" dirty="0"/>
              <a:t>workable solutions to the problems that naturally arise.</a:t>
            </a:r>
            <a:endParaRPr lang="en-IN" dirty="0"/>
          </a:p>
        </p:txBody>
      </p:sp>
    </p:spTree>
    <p:extLst>
      <p:ext uri="{BB962C8B-B14F-4D97-AF65-F5344CB8AC3E}">
        <p14:creationId xmlns:p14="http://schemas.microsoft.com/office/powerpoint/2010/main" val="31600574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7ACF8-F55F-AFE4-F6FE-4A3B40E0E0FC}"/>
              </a:ext>
            </a:extLst>
          </p:cNvPr>
          <p:cNvSpPr>
            <a:spLocks noGrp="1"/>
          </p:cNvSpPr>
          <p:nvPr>
            <p:ph type="title"/>
          </p:nvPr>
        </p:nvSpPr>
        <p:spPr/>
        <p:txBody>
          <a:bodyPr/>
          <a:lstStyle/>
          <a:p>
            <a:r>
              <a:rPr lang="en-IN" dirty="0"/>
              <a:t>The Team</a:t>
            </a:r>
          </a:p>
        </p:txBody>
      </p:sp>
      <p:sp>
        <p:nvSpPr>
          <p:cNvPr id="3" name="Content Placeholder 2">
            <a:extLst>
              <a:ext uri="{FF2B5EF4-FFF2-40B4-BE49-F238E27FC236}">
                <a16:creationId xmlns:a16="http://schemas.microsoft.com/office/drawing/2014/main" id="{F2FE4471-F51A-2310-A74B-15612EAC0D06}"/>
              </a:ext>
            </a:extLst>
          </p:cNvPr>
          <p:cNvSpPr>
            <a:spLocks noGrp="1"/>
          </p:cNvSpPr>
          <p:nvPr>
            <p:ph idx="1"/>
          </p:nvPr>
        </p:nvSpPr>
        <p:spPr/>
        <p:txBody>
          <a:bodyPr/>
          <a:lstStyle/>
          <a:p>
            <a:r>
              <a:rPr lang="en-US" dirty="0"/>
              <a:t>The final defined role within Scrum is the Scrum team, full of talented people who will ultimately deliver on the project. </a:t>
            </a:r>
          </a:p>
          <a:p>
            <a:r>
              <a:rPr lang="en-US" dirty="0"/>
              <a:t>Like product owners and Scrum masters, there is great variability in how the teams are formed and who is included.</a:t>
            </a:r>
          </a:p>
          <a:p>
            <a:r>
              <a:rPr lang="en-US" dirty="0"/>
              <a:t>Before we dive into the optimal team makeup in size and membership, let’s cover the key foundational considerations for an effective Scrum team. </a:t>
            </a:r>
          </a:p>
          <a:p>
            <a:r>
              <a:rPr lang="en-US" dirty="0"/>
              <a:t>It is imperative that a Scrum team operate with trust, transparency, and teamwork.</a:t>
            </a:r>
            <a:endParaRPr lang="en-IN" dirty="0"/>
          </a:p>
        </p:txBody>
      </p:sp>
    </p:spTree>
    <p:extLst>
      <p:ext uri="{BB962C8B-B14F-4D97-AF65-F5344CB8AC3E}">
        <p14:creationId xmlns:p14="http://schemas.microsoft.com/office/powerpoint/2010/main" val="39690472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56799-6C0E-01AE-C325-DCBD61580A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6B387-0631-2E8E-49CA-6FC27CCBCDFD}"/>
              </a:ext>
            </a:extLst>
          </p:cNvPr>
          <p:cNvSpPr>
            <a:spLocks noGrp="1"/>
          </p:cNvSpPr>
          <p:nvPr>
            <p:ph type="title"/>
          </p:nvPr>
        </p:nvSpPr>
        <p:spPr/>
        <p:txBody>
          <a:bodyPr/>
          <a:lstStyle/>
          <a:p>
            <a:r>
              <a:rPr lang="en-IN" dirty="0"/>
              <a:t>The Team - Working Agreement</a:t>
            </a:r>
          </a:p>
        </p:txBody>
      </p:sp>
      <p:sp>
        <p:nvSpPr>
          <p:cNvPr id="3" name="Content Placeholder 2">
            <a:extLst>
              <a:ext uri="{FF2B5EF4-FFF2-40B4-BE49-F238E27FC236}">
                <a16:creationId xmlns:a16="http://schemas.microsoft.com/office/drawing/2014/main" id="{8DD30B89-1543-DA58-2FBD-7E07B3E14F12}"/>
              </a:ext>
            </a:extLst>
          </p:cNvPr>
          <p:cNvSpPr>
            <a:spLocks noGrp="1"/>
          </p:cNvSpPr>
          <p:nvPr>
            <p:ph idx="1"/>
          </p:nvPr>
        </p:nvSpPr>
        <p:spPr/>
        <p:txBody>
          <a:bodyPr/>
          <a:lstStyle/>
          <a:p>
            <a:r>
              <a:rPr lang="en-US" dirty="0"/>
              <a:t>One way that trust and teamwork are established and enforced is through the creation of a working agreement: </a:t>
            </a:r>
          </a:p>
          <a:p>
            <a:r>
              <a:rPr lang="en-US" dirty="0"/>
              <a:t>This is a document or set of expectations that define how the Scrum team is going to work together. </a:t>
            </a:r>
          </a:p>
          <a:p>
            <a:r>
              <a:rPr lang="en-US" dirty="0"/>
              <a:t>The working agreement is the first point of collaboration for a new Scrum team as they define their relationships. </a:t>
            </a:r>
          </a:p>
          <a:p>
            <a:r>
              <a:rPr lang="en-US" dirty="0"/>
              <a:t>It is more than just rules of engagement for team behavior; the working agreement ultimately reflects the values and commitment of the team.</a:t>
            </a:r>
            <a:endParaRPr lang="en-IN" dirty="0"/>
          </a:p>
        </p:txBody>
      </p:sp>
    </p:spTree>
    <p:extLst>
      <p:ext uri="{BB962C8B-B14F-4D97-AF65-F5344CB8AC3E}">
        <p14:creationId xmlns:p14="http://schemas.microsoft.com/office/powerpoint/2010/main" val="4560717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0565A-71AA-6771-BE44-377C9447E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F6CE84-F3B5-07B5-60E2-BE797F7628C4}"/>
              </a:ext>
            </a:extLst>
          </p:cNvPr>
          <p:cNvSpPr>
            <a:spLocks noGrp="1"/>
          </p:cNvSpPr>
          <p:nvPr>
            <p:ph type="title"/>
          </p:nvPr>
        </p:nvSpPr>
        <p:spPr/>
        <p:txBody>
          <a:bodyPr/>
          <a:lstStyle/>
          <a:p>
            <a:r>
              <a:rPr lang="en-IN" dirty="0"/>
              <a:t>The Team - Working Agreement</a:t>
            </a:r>
          </a:p>
        </p:txBody>
      </p:sp>
      <p:sp>
        <p:nvSpPr>
          <p:cNvPr id="3" name="Content Placeholder 2">
            <a:extLst>
              <a:ext uri="{FF2B5EF4-FFF2-40B4-BE49-F238E27FC236}">
                <a16:creationId xmlns:a16="http://schemas.microsoft.com/office/drawing/2014/main" id="{2507069E-39E8-4AC1-E56D-561848F1EC9F}"/>
              </a:ext>
            </a:extLst>
          </p:cNvPr>
          <p:cNvSpPr>
            <a:spLocks noGrp="1"/>
          </p:cNvSpPr>
          <p:nvPr>
            <p:ph idx="1"/>
          </p:nvPr>
        </p:nvSpPr>
        <p:spPr/>
        <p:txBody>
          <a:bodyPr>
            <a:normAutofit fontScale="92500" lnSpcReduction="10000"/>
          </a:bodyPr>
          <a:lstStyle/>
          <a:p>
            <a:r>
              <a:rPr lang="en-US" dirty="0"/>
              <a:t>Chris Sterling presented a list of potential working agreement topics in his blog, “Creating a Team Working Agreement”.</a:t>
            </a:r>
          </a:p>
          <a:p>
            <a:r>
              <a:rPr lang="en-US" dirty="0"/>
              <a:t>With Scrum Teams I have found the following topics are a good starter list to start the creation of a Working Agreement:</a:t>
            </a:r>
          </a:p>
          <a:p>
            <a:pPr lvl="1"/>
            <a:r>
              <a:rPr lang="en-US" dirty="0"/>
              <a:t>Time and location of Daily Scrum</a:t>
            </a:r>
          </a:p>
          <a:p>
            <a:pPr lvl="1"/>
            <a:r>
              <a:rPr lang="en-US" dirty="0"/>
              <a:t>Testing strategy (unit, functional, integration, performance, stress, etc. . .)</a:t>
            </a:r>
          </a:p>
          <a:p>
            <a:pPr lvl="1"/>
            <a:r>
              <a:rPr lang="en-US" dirty="0"/>
              <a:t>Build and infrastructure plans (shared responsibilities)</a:t>
            </a:r>
          </a:p>
          <a:p>
            <a:pPr lvl="1"/>
            <a:r>
              <a:rPr lang="en-US" dirty="0"/>
              <a:t>Team norms (be on time, respect estimates, help when needed, etc. . .)</a:t>
            </a:r>
          </a:p>
          <a:p>
            <a:pPr lvl="1"/>
            <a:r>
              <a:rPr lang="en-US" dirty="0"/>
              <a:t>How to address bugs/fires during Sprint</a:t>
            </a:r>
          </a:p>
          <a:p>
            <a:pPr lvl="1"/>
            <a:r>
              <a:rPr lang="en-US" dirty="0"/>
              <a:t>Product Owner availability (phone, office hours, attendance in Daily Scrum)</a:t>
            </a:r>
          </a:p>
          <a:p>
            <a:pPr lvl="1"/>
            <a:r>
              <a:rPr lang="en-US" dirty="0"/>
              <a:t>Capacity plan for initial Sprint(s)</a:t>
            </a:r>
            <a:endParaRPr lang="en-IN" dirty="0"/>
          </a:p>
        </p:txBody>
      </p:sp>
    </p:spTree>
    <p:extLst>
      <p:ext uri="{BB962C8B-B14F-4D97-AF65-F5344CB8AC3E}">
        <p14:creationId xmlns:p14="http://schemas.microsoft.com/office/powerpoint/2010/main" val="35766192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5D04C-F16F-DF15-7ED7-8284EC3AF0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42379C-57D0-DDA1-2330-E2002F293585}"/>
              </a:ext>
            </a:extLst>
          </p:cNvPr>
          <p:cNvSpPr>
            <a:spLocks noGrp="1"/>
          </p:cNvSpPr>
          <p:nvPr>
            <p:ph type="title"/>
          </p:nvPr>
        </p:nvSpPr>
        <p:spPr/>
        <p:txBody>
          <a:bodyPr/>
          <a:lstStyle/>
          <a:p>
            <a:r>
              <a:rPr lang="en-IN" dirty="0"/>
              <a:t>The Team - Fist of Five</a:t>
            </a:r>
          </a:p>
        </p:txBody>
      </p:sp>
      <p:sp>
        <p:nvSpPr>
          <p:cNvPr id="3" name="Content Placeholder 2">
            <a:extLst>
              <a:ext uri="{FF2B5EF4-FFF2-40B4-BE49-F238E27FC236}">
                <a16:creationId xmlns:a16="http://schemas.microsoft.com/office/drawing/2014/main" id="{A941387F-852A-C31C-1ECC-152C58C7AC70}"/>
              </a:ext>
            </a:extLst>
          </p:cNvPr>
          <p:cNvSpPr>
            <a:spLocks noGrp="1"/>
          </p:cNvSpPr>
          <p:nvPr>
            <p:ph idx="1"/>
          </p:nvPr>
        </p:nvSpPr>
        <p:spPr/>
        <p:txBody>
          <a:bodyPr>
            <a:normAutofit/>
          </a:bodyPr>
          <a:lstStyle/>
          <a:p>
            <a:r>
              <a:rPr lang="en-US" dirty="0"/>
              <a:t>“</a:t>
            </a:r>
            <a:r>
              <a:rPr lang="en-US" b="1" dirty="0"/>
              <a:t>Fist of five</a:t>
            </a:r>
            <a:r>
              <a:rPr lang="en-US" dirty="0"/>
              <a:t>” is another important concept to understand when discussing Scrum teams and the desire for trust, transparency, and teamwork. </a:t>
            </a:r>
          </a:p>
          <a:p>
            <a:r>
              <a:rPr lang="en-US" dirty="0"/>
              <a:t>Here is how it works: </a:t>
            </a:r>
          </a:p>
          <a:p>
            <a:r>
              <a:rPr lang="en-US" dirty="0"/>
              <a:t>Whenever a team comes to a decision point where they are discussing several options and there is no ideal solution, </a:t>
            </a:r>
            <a:r>
              <a:rPr lang="en-US" b="1" dirty="0"/>
              <a:t>they may vote on the best available option</a:t>
            </a:r>
            <a:r>
              <a:rPr lang="en-US" dirty="0"/>
              <a:t>. </a:t>
            </a:r>
          </a:p>
          <a:p>
            <a:r>
              <a:rPr lang="en-US" dirty="0"/>
              <a:t>A team member will propose a direction forward and the team will demonstrate their acceptance by holding up their hands with the </a:t>
            </a:r>
            <a:r>
              <a:rPr lang="en-US" b="1" dirty="0"/>
              <a:t>number of fingers </a:t>
            </a:r>
            <a:r>
              <a:rPr lang="en-US" dirty="0"/>
              <a:t>that corresponds with their level of support.</a:t>
            </a:r>
            <a:endParaRPr lang="en-IN" dirty="0"/>
          </a:p>
        </p:txBody>
      </p:sp>
    </p:spTree>
    <p:extLst>
      <p:ext uri="{BB962C8B-B14F-4D97-AF65-F5344CB8AC3E}">
        <p14:creationId xmlns:p14="http://schemas.microsoft.com/office/powerpoint/2010/main" val="13670164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0A278-3B36-E13A-65EF-0AA6C3DD9A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82711-7AD8-3F59-9DF5-1B63FB97993D}"/>
              </a:ext>
            </a:extLst>
          </p:cNvPr>
          <p:cNvSpPr>
            <a:spLocks noGrp="1"/>
          </p:cNvSpPr>
          <p:nvPr>
            <p:ph type="title"/>
          </p:nvPr>
        </p:nvSpPr>
        <p:spPr/>
        <p:txBody>
          <a:bodyPr/>
          <a:lstStyle/>
          <a:p>
            <a:r>
              <a:rPr lang="en-IN" dirty="0"/>
              <a:t>The Team - Fist of Five</a:t>
            </a:r>
          </a:p>
        </p:txBody>
      </p:sp>
      <p:sp>
        <p:nvSpPr>
          <p:cNvPr id="3" name="Content Placeholder 2">
            <a:extLst>
              <a:ext uri="{FF2B5EF4-FFF2-40B4-BE49-F238E27FC236}">
                <a16:creationId xmlns:a16="http://schemas.microsoft.com/office/drawing/2014/main" id="{06452E18-470F-EF68-A37A-649356C633E4}"/>
              </a:ext>
            </a:extLst>
          </p:cNvPr>
          <p:cNvSpPr>
            <a:spLocks noGrp="1"/>
          </p:cNvSpPr>
          <p:nvPr>
            <p:ph idx="1"/>
          </p:nvPr>
        </p:nvSpPr>
        <p:spPr/>
        <p:txBody>
          <a:bodyPr>
            <a:normAutofit/>
          </a:bodyPr>
          <a:lstStyle/>
          <a:p>
            <a:r>
              <a:rPr lang="en-US" dirty="0"/>
              <a:t>5 fingers: I am all in. I completely agree.</a:t>
            </a:r>
          </a:p>
          <a:p>
            <a:r>
              <a:rPr lang="en-US" dirty="0"/>
              <a:t>4 fingers: I buy into the option and I will support it.</a:t>
            </a:r>
          </a:p>
          <a:p>
            <a:r>
              <a:rPr lang="en-US" dirty="0"/>
              <a:t>3 fingers: I have some reservations, but I can support the decision and move forward.</a:t>
            </a:r>
          </a:p>
          <a:p>
            <a:r>
              <a:rPr lang="en-US" dirty="0"/>
              <a:t>2 fingers: I have reservations, and I cannot support this decision without further discussion and clarification.</a:t>
            </a:r>
          </a:p>
          <a:p>
            <a:r>
              <a:rPr lang="en-US" dirty="0"/>
              <a:t>1 finger: I cannot support this decision. I completely disagree.</a:t>
            </a:r>
          </a:p>
          <a:p>
            <a:r>
              <a:rPr lang="en-US" dirty="0"/>
              <a:t>The fist of five allows all team members to show their level of support so there can be no “quiet dissenters” or people who say nothing in the meeting and then sabotage the decision afterward.</a:t>
            </a:r>
            <a:endParaRPr lang="en-IN" dirty="0"/>
          </a:p>
        </p:txBody>
      </p:sp>
    </p:spTree>
    <p:extLst>
      <p:ext uri="{BB962C8B-B14F-4D97-AF65-F5344CB8AC3E}">
        <p14:creationId xmlns:p14="http://schemas.microsoft.com/office/powerpoint/2010/main" val="13348825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2747D-0E35-09CB-DAD1-0129F0D671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A65188-BEFC-14DE-49D4-1F3670B39104}"/>
              </a:ext>
            </a:extLst>
          </p:cNvPr>
          <p:cNvSpPr>
            <a:spLocks noGrp="1"/>
          </p:cNvSpPr>
          <p:nvPr>
            <p:ph type="title"/>
          </p:nvPr>
        </p:nvSpPr>
        <p:spPr/>
        <p:txBody>
          <a:bodyPr/>
          <a:lstStyle/>
          <a:p>
            <a:r>
              <a:rPr lang="en-IN" dirty="0"/>
              <a:t>The Team - Fist of Five</a:t>
            </a:r>
          </a:p>
        </p:txBody>
      </p:sp>
      <p:sp>
        <p:nvSpPr>
          <p:cNvPr id="3" name="Content Placeholder 2">
            <a:extLst>
              <a:ext uri="{FF2B5EF4-FFF2-40B4-BE49-F238E27FC236}">
                <a16:creationId xmlns:a16="http://schemas.microsoft.com/office/drawing/2014/main" id="{689A76E6-7BAD-73A8-DDA4-59F60A646201}"/>
              </a:ext>
            </a:extLst>
          </p:cNvPr>
          <p:cNvSpPr>
            <a:spLocks noGrp="1"/>
          </p:cNvSpPr>
          <p:nvPr>
            <p:ph idx="1"/>
          </p:nvPr>
        </p:nvSpPr>
        <p:spPr>
          <a:xfrm>
            <a:off x="266330" y="1020932"/>
            <a:ext cx="8611340" cy="5837068"/>
          </a:xfrm>
        </p:spPr>
        <p:txBody>
          <a:bodyPr>
            <a:normAutofit lnSpcReduction="10000"/>
          </a:bodyPr>
          <a:lstStyle/>
          <a:p>
            <a:r>
              <a:rPr lang="en-US" dirty="0"/>
              <a:t>As long as everyone shows 3, 4, or 5 fingers, the team is free to proceed. If anyone shows a 1 or a 2, the team needs to stop and discuss the issue further. </a:t>
            </a:r>
          </a:p>
          <a:p>
            <a:r>
              <a:rPr lang="en-US" dirty="0"/>
              <a:t>The team should not move forward until every team member is at a 3 or higher. </a:t>
            </a:r>
          </a:p>
          <a:p>
            <a:r>
              <a:rPr lang="en-US" dirty="0"/>
              <a:t>Another common problem that fist of five solves is the team dynamic with introverts and extroverts. </a:t>
            </a:r>
          </a:p>
          <a:p>
            <a:r>
              <a:rPr lang="en-US" dirty="0"/>
              <a:t>There are people who are naturally quieter in their demeanor and do not want to interrupt others or jump into a heated debate; fist of five allows those people to have their voice heard in a very nonconfrontational manner. </a:t>
            </a:r>
          </a:p>
          <a:p>
            <a:r>
              <a:rPr lang="en-US" dirty="0"/>
              <a:t>By simply holding up a “2,” that person now has the opportunity to express concerns or ask critical questions.</a:t>
            </a:r>
            <a:endParaRPr lang="en-IN" dirty="0"/>
          </a:p>
        </p:txBody>
      </p:sp>
    </p:spTree>
    <p:extLst>
      <p:ext uri="{BB962C8B-B14F-4D97-AF65-F5344CB8AC3E}">
        <p14:creationId xmlns:p14="http://schemas.microsoft.com/office/powerpoint/2010/main" val="14382954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5A5CE-E555-DC23-E5DA-01EB15D2F3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5555BB-A758-D6ED-DDB7-9E6C6A609BD1}"/>
              </a:ext>
            </a:extLst>
          </p:cNvPr>
          <p:cNvSpPr>
            <a:spLocks noGrp="1"/>
          </p:cNvSpPr>
          <p:nvPr>
            <p:ph type="title"/>
          </p:nvPr>
        </p:nvSpPr>
        <p:spPr/>
        <p:txBody>
          <a:bodyPr/>
          <a:lstStyle/>
          <a:p>
            <a:r>
              <a:rPr lang="en-IN" dirty="0"/>
              <a:t>The Team - Self-Organizing</a:t>
            </a:r>
          </a:p>
        </p:txBody>
      </p:sp>
      <p:sp>
        <p:nvSpPr>
          <p:cNvPr id="3" name="Content Placeholder 2">
            <a:extLst>
              <a:ext uri="{FF2B5EF4-FFF2-40B4-BE49-F238E27FC236}">
                <a16:creationId xmlns:a16="http://schemas.microsoft.com/office/drawing/2014/main" id="{64FCA54B-DC53-53B2-2D09-3FAE408F99BA}"/>
              </a:ext>
            </a:extLst>
          </p:cNvPr>
          <p:cNvSpPr>
            <a:spLocks noGrp="1"/>
          </p:cNvSpPr>
          <p:nvPr>
            <p:ph idx="1"/>
          </p:nvPr>
        </p:nvSpPr>
        <p:spPr>
          <a:xfrm>
            <a:off x="266330" y="1020932"/>
            <a:ext cx="8611340" cy="5837068"/>
          </a:xfrm>
        </p:spPr>
        <p:txBody>
          <a:bodyPr>
            <a:normAutofit lnSpcReduction="10000"/>
          </a:bodyPr>
          <a:lstStyle/>
          <a:p>
            <a:r>
              <a:rPr lang="en-US" dirty="0"/>
              <a:t>The working agreement and fist of five reinforce one of the critical points of Agile and Scrum—that the team must be self-organizing. What does this mean?</a:t>
            </a:r>
          </a:p>
          <a:p>
            <a:r>
              <a:rPr lang="en-US" dirty="0"/>
              <a:t>Not only does the team get to decide how they will work together, but they also are empowered to </a:t>
            </a:r>
            <a:r>
              <a:rPr lang="en-US" b="1" dirty="0"/>
              <a:t>define and evolve their roles </a:t>
            </a:r>
            <a:r>
              <a:rPr lang="en-US" dirty="0"/>
              <a:t>within the team.</a:t>
            </a:r>
          </a:p>
          <a:p>
            <a:r>
              <a:rPr lang="en-US" dirty="0"/>
              <a:t>Self-organizing teams can radically outperform larger, traditionally managed teams.</a:t>
            </a:r>
          </a:p>
          <a:p>
            <a:r>
              <a:rPr lang="en-US" dirty="0"/>
              <a:t>Family-sized groups naturally self-organize when the right conditions are met:</a:t>
            </a:r>
          </a:p>
          <a:p>
            <a:pPr lvl="1"/>
            <a:r>
              <a:rPr lang="en-US" dirty="0"/>
              <a:t>Members are committed to clear, short-term goals</a:t>
            </a:r>
          </a:p>
          <a:p>
            <a:pPr lvl="1"/>
            <a:r>
              <a:rPr lang="en-US" dirty="0"/>
              <a:t>Members can gauge the group’s progress</a:t>
            </a:r>
          </a:p>
          <a:p>
            <a:pPr lvl="1"/>
            <a:r>
              <a:rPr lang="en-US" dirty="0"/>
              <a:t>Members can observe each other’s contribution</a:t>
            </a:r>
          </a:p>
          <a:p>
            <a:pPr lvl="1"/>
            <a:r>
              <a:rPr lang="en-US" dirty="0"/>
              <a:t>Members feel safe to give each other unvarnished feedback</a:t>
            </a:r>
            <a:endParaRPr lang="en-IN" dirty="0"/>
          </a:p>
        </p:txBody>
      </p:sp>
    </p:spTree>
    <p:extLst>
      <p:ext uri="{BB962C8B-B14F-4D97-AF65-F5344CB8AC3E}">
        <p14:creationId xmlns:p14="http://schemas.microsoft.com/office/powerpoint/2010/main" val="22194164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47B01-3963-2F15-6203-E9D9E45807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D4AB5E-DDFD-CFBD-4049-14CF1B90C74F}"/>
              </a:ext>
            </a:extLst>
          </p:cNvPr>
          <p:cNvSpPr>
            <a:spLocks noGrp="1"/>
          </p:cNvSpPr>
          <p:nvPr>
            <p:ph type="title"/>
          </p:nvPr>
        </p:nvSpPr>
        <p:spPr/>
        <p:txBody>
          <a:bodyPr/>
          <a:lstStyle/>
          <a:p>
            <a:r>
              <a:rPr lang="en-IN" dirty="0"/>
              <a:t>The Team - Self-Organizing</a:t>
            </a:r>
          </a:p>
        </p:txBody>
      </p:sp>
      <p:sp>
        <p:nvSpPr>
          <p:cNvPr id="3" name="Content Placeholder 2">
            <a:extLst>
              <a:ext uri="{FF2B5EF4-FFF2-40B4-BE49-F238E27FC236}">
                <a16:creationId xmlns:a16="http://schemas.microsoft.com/office/drawing/2014/main" id="{838A2AF4-0A5B-D2C8-EEA0-932F81834D0D}"/>
              </a:ext>
            </a:extLst>
          </p:cNvPr>
          <p:cNvSpPr>
            <a:spLocks noGrp="1"/>
          </p:cNvSpPr>
          <p:nvPr>
            <p:ph idx="1"/>
          </p:nvPr>
        </p:nvSpPr>
        <p:spPr>
          <a:xfrm>
            <a:off x="266330" y="1020932"/>
            <a:ext cx="8611340" cy="5837068"/>
          </a:xfrm>
        </p:spPr>
        <p:txBody>
          <a:bodyPr>
            <a:normAutofit/>
          </a:bodyPr>
          <a:lstStyle/>
          <a:p>
            <a:r>
              <a:rPr lang="en-US" dirty="0"/>
              <a:t>Another critical difference between Waterfall and Agile is the handling of task assignments on self-organizing teams. </a:t>
            </a:r>
          </a:p>
          <a:p>
            <a:r>
              <a:rPr lang="en-US" dirty="0"/>
              <a:t>Once the sprint has been groomed, the team members can select the tasks that they want to work on. </a:t>
            </a:r>
          </a:p>
          <a:p>
            <a:r>
              <a:rPr lang="en-US" dirty="0"/>
              <a:t>This ownership of task assignment is a huge departure from Waterfall, where the manager often told each developer what he or she was expected to accomplish. </a:t>
            </a:r>
          </a:p>
          <a:p>
            <a:r>
              <a:rPr lang="en-US" dirty="0"/>
              <a:t>The ability for each team member to pick assignments leads to significant lifts in job satisfaction.</a:t>
            </a:r>
            <a:endParaRPr lang="en-IN" dirty="0"/>
          </a:p>
        </p:txBody>
      </p:sp>
    </p:spTree>
    <p:extLst>
      <p:ext uri="{BB962C8B-B14F-4D97-AF65-F5344CB8AC3E}">
        <p14:creationId xmlns:p14="http://schemas.microsoft.com/office/powerpoint/2010/main" val="9328466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F79A8-5A26-DDA6-819F-A1F256B215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908628-67ED-1623-782B-BA9A7429032A}"/>
              </a:ext>
            </a:extLst>
          </p:cNvPr>
          <p:cNvSpPr>
            <a:spLocks noGrp="1"/>
          </p:cNvSpPr>
          <p:nvPr>
            <p:ph type="title"/>
          </p:nvPr>
        </p:nvSpPr>
        <p:spPr/>
        <p:txBody>
          <a:bodyPr/>
          <a:lstStyle/>
          <a:p>
            <a:r>
              <a:rPr lang="en-IN" dirty="0"/>
              <a:t>The Team - Self-Organizing</a:t>
            </a:r>
          </a:p>
        </p:txBody>
      </p:sp>
      <p:sp>
        <p:nvSpPr>
          <p:cNvPr id="3" name="Content Placeholder 2">
            <a:extLst>
              <a:ext uri="{FF2B5EF4-FFF2-40B4-BE49-F238E27FC236}">
                <a16:creationId xmlns:a16="http://schemas.microsoft.com/office/drawing/2014/main" id="{27C546FD-0BC3-A75F-D6E6-5F352E1ECFFA}"/>
              </a:ext>
            </a:extLst>
          </p:cNvPr>
          <p:cNvSpPr>
            <a:spLocks noGrp="1"/>
          </p:cNvSpPr>
          <p:nvPr>
            <p:ph idx="1"/>
          </p:nvPr>
        </p:nvSpPr>
        <p:spPr>
          <a:xfrm>
            <a:off x="266330" y="1020932"/>
            <a:ext cx="8611340" cy="5837068"/>
          </a:xfrm>
        </p:spPr>
        <p:txBody>
          <a:bodyPr>
            <a:normAutofit/>
          </a:bodyPr>
          <a:lstStyle/>
          <a:p>
            <a:r>
              <a:rPr lang="en-US" dirty="0"/>
              <a:t>It also invites the opportunity for cross-training, because less experienced people could request tasks that they would like to learn, and they can be mentored by the more experienced members of the team. </a:t>
            </a:r>
          </a:p>
        </p:txBody>
      </p:sp>
    </p:spTree>
    <p:extLst>
      <p:ext uri="{BB962C8B-B14F-4D97-AF65-F5344CB8AC3E}">
        <p14:creationId xmlns:p14="http://schemas.microsoft.com/office/powerpoint/2010/main" val="38209465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17E33-6122-FA00-7BEA-D99245707E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D176BC-AC93-73AE-9A0D-8C84A4E3A53F}"/>
              </a:ext>
            </a:extLst>
          </p:cNvPr>
          <p:cNvSpPr>
            <a:spLocks noGrp="1"/>
          </p:cNvSpPr>
          <p:nvPr>
            <p:ph type="title"/>
          </p:nvPr>
        </p:nvSpPr>
        <p:spPr/>
        <p:txBody>
          <a:bodyPr/>
          <a:lstStyle/>
          <a:p>
            <a:r>
              <a:rPr lang="en-IN" dirty="0"/>
              <a:t>The Team - Team Size</a:t>
            </a:r>
          </a:p>
        </p:txBody>
      </p:sp>
      <p:sp>
        <p:nvSpPr>
          <p:cNvPr id="3" name="Content Placeholder 2">
            <a:extLst>
              <a:ext uri="{FF2B5EF4-FFF2-40B4-BE49-F238E27FC236}">
                <a16:creationId xmlns:a16="http://schemas.microsoft.com/office/drawing/2014/main" id="{35CB915F-8B17-2B5C-79F6-DBF5A106CA8F}"/>
              </a:ext>
            </a:extLst>
          </p:cNvPr>
          <p:cNvSpPr>
            <a:spLocks noGrp="1"/>
          </p:cNvSpPr>
          <p:nvPr>
            <p:ph idx="1"/>
          </p:nvPr>
        </p:nvSpPr>
        <p:spPr>
          <a:xfrm>
            <a:off x="266330" y="1020932"/>
            <a:ext cx="8611340" cy="5837068"/>
          </a:xfrm>
        </p:spPr>
        <p:txBody>
          <a:bodyPr>
            <a:normAutofit/>
          </a:bodyPr>
          <a:lstStyle/>
          <a:p>
            <a:r>
              <a:rPr lang="en-US" dirty="0"/>
              <a:t>The best practice is for a team of five to nine people. The reason for this recommendation is easy to understand: </a:t>
            </a:r>
          </a:p>
          <a:p>
            <a:r>
              <a:rPr lang="en-US" dirty="0"/>
              <a:t>Anything fewer than five means you lose an element of collaboration and the ability to assign tasks to different people based on the requirements of the sprint, </a:t>
            </a:r>
          </a:p>
          <a:p>
            <a:r>
              <a:rPr lang="en-US" dirty="0"/>
              <a:t>but more than nine means you can have too much collaboration with a variety of opinions and personalities that must be managed as a cohesive unit. </a:t>
            </a:r>
          </a:p>
          <a:p>
            <a:r>
              <a:rPr lang="en-US" dirty="0"/>
              <a:t>If you have a product that requires a large team, it might be worth breaking it into two teams; this adds complexity, but can certainly be managed.</a:t>
            </a:r>
          </a:p>
        </p:txBody>
      </p:sp>
    </p:spTree>
    <p:extLst>
      <p:ext uri="{BB962C8B-B14F-4D97-AF65-F5344CB8AC3E}">
        <p14:creationId xmlns:p14="http://schemas.microsoft.com/office/powerpoint/2010/main" val="39203482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4B8A2-6248-74EC-91CF-D866C7FF44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6E0F33-6A09-71B9-39EB-0F6D011CEB78}"/>
              </a:ext>
            </a:extLst>
          </p:cNvPr>
          <p:cNvSpPr>
            <a:spLocks noGrp="1"/>
          </p:cNvSpPr>
          <p:nvPr>
            <p:ph type="title"/>
          </p:nvPr>
        </p:nvSpPr>
        <p:spPr/>
        <p:txBody>
          <a:bodyPr/>
          <a:lstStyle/>
          <a:p>
            <a:r>
              <a:rPr lang="en-IN" dirty="0"/>
              <a:t>The Team - Cross-Functional</a:t>
            </a:r>
          </a:p>
        </p:txBody>
      </p:sp>
      <p:sp>
        <p:nvSpPr>
          <p:cNvPr id="3" name="Content Placeholder 2">
            <a:extLst>
              <a:ext uri="{FF2B5EF4-FFF2-40B4-BE49-F238E27FC236}">
                <a16:creationId xmlns:a16="http://schemas.microsoft.com/office/drawing/2014/main" id="{BF8AEDEC-48BE-A7B9-3681-D5CA183AF1EF}"/>
              </a:ext>
            </a:extLst>
          </p:cNvPr>
          <p:cNvSpPr>
            <a:spLocks noGrp="1"/>
          </p:cNvSpPr>
          <p:nvPr>
            <p:ph idx="1"/>
          </p:nvPr>
        </p:nvSpPr>
        <p:spPr>
          <a:xfrm>
            <a:off x="266330" y="1020932"/>
            <a:ext cx="8611340" cy="5837068"/>
          </a:xfrm>
        </p:spPr>
        <p:txBody>
          <a:bodyPr>
            <a:normAutofit/>
          </a:bodyPr>
          <a:lstStyle/>
          <a:p>
            <a:r>
              <a:rPr lang="en-US" dirty="0"/>
              <a:t>The team needs to be cross-functional so that the requirements can be designed, coded, and tested within a single sprint. </a:t>
            </a:r>
          </a:p>
          <a:p>
            <a:r>
              <a:rPr lang="en-US" dirty="0"/>
              <a:t>Therefore, each team should be composed of people with these skills so they can develop working software without the involvement of ancillary resources. </a:t>
            </a:r>
          </a:p>
          <a:p>
            <a:r>
              <a:rPr lang="en-US" dirty="0"/>
              <a:t>This is particularly important when it comes to testing. Scrum strives for working software at the end of each sprint, and this requires that the code be tested thoroughly so that it could be deployed, if that was the release plan. </a:t>
            </a:r>
          </a:p>
          <a:p>
            <a:r>
              <a:rPr lang="en-US" dirty="0"/>
              <a:t>Having full-time, dedicated testing (QA) people on each team can facilitate this goal.</a:t>
            </a:r>
          </a:p>
        </p:txBody>
      </p:sp>
    </p:spTree>
    <p:extLst>
      <p:ext uri="{BB962C8B-B14F-4D97-AF65-F5344CB8AC3E}">
        <p14:creationId xmlns:p14="http://schemas.microsoft.com/office/powerpoint/2010/main" val="18190579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B50A9-7248-32AC-67D6-5868210C61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9BB746-579F-A783-C634-F932CE405B1E}"/>
              </a:ext>
            </a:extLst>
          </p:cNvPr>
          <p:cNvSpPr>
            <a:spLocks noGrp="1"/>
          </p:cNvSpPr>
          <p:nvPr>
            <p:ph type="title"/>
          </p:nvPr>
        </p:nvSpPr>
        <p:spPr/>
        <p:txBody>
          <a:bodyPr/>
          <a:lstStyle/>
          <a:p>
            <a:r>
              <a:rPr lang="en-IN" dirty="0"/>
              <a:t>The Team - Chickens and Pigs</a:t>
            </a:r>
          </a:p>
        </p:txBody>
      </p:sp>
      <p:sp>
        <p:nvSpPr>
          <p:cNvPr id="3" name="Content Placeholder 2">
            <a:extLst>
              <a:ext uri="{FF2B5EF4-FFF2-40B4-BE49-F238E27FC236}">
                <a16:creationId xmlns:a16="http://schemas.microsoft.com/office/drawing/2014/main" id="{EE953602-1B9A-8BB2-13DC-7131C49A50A7}"/>
              </a:ext>
            </a:extLst>
          </p:cNvPr>
          <p:cNvSpPr>
            <a:spLocks noGrp="1"/>
          </p:cNvSpPr>
          <p:nvPr>
            <p:ph idx="1"/>
          </p:nvPr>
        </p:nvSpPr>
        <p:spPr>
          <a:xfrm>
            <a:off x="266330" y="1020932"/>
            <a:ext cx="8611340" cy="5837068"/>
          </a:xfrm>
        </p:spPr>
        <p:txBody>
          <a:bodyPr>
            <a:normAutofit fontScale="92500" lnSpcReduction="20000"/>
          </a:bodyPr>
          <a:lstStyle/>
          <a:p>
            <a:r>
              <a:rPr lang="en-US" dirty="0"/>
              <a:t>The concept of “chickens” and “pigs” within Scrum comes from the comic strip shown below.</a:t>
            </a:r>
          </a:p>
          <a:p>
            <a:endParaRPr lang="en-US" dirty="0"/>
          </a:p>
          <a:p>
            <a:endParaRPr lang="en-US" dirty="0"/>
          </a:p>
          <a:p>
            <a:endParaRPr lang="en-US" dirty="0"/>
          </a:p>
          <a:p>
            <a:endParaRPr lang="en-US" dirty="0"/>
          </a:p>
          <a:p>
            <a:endParaRPr lang="en-US" dirty="0"/>
          </a:p>
          <a:p>
            <a:endParaRPr lang="en-US" dirty="0"/>
          </a:p>
          <a:p>
            <a:r>
              <a:rPr lang="en-US" dirty="0"/>
              <a:t>The point of this cartoon is that some people in the Scrum process have a higher level of commitment (pigs) than others (chickens) based on the nature of their work. </a:t>
            </a:r>
          </a:p>
          <a:p>
            <a:r>
              <a:rPr lang="en-US" dirty="0"/>
              <a:t>For example, developers are pigs: “Team members commit to a goal and do the work that is required to meet it. </a:t>
            </a:r>
          </a:p>
          <a:p>
            <a:r>
              <a:rPr lang="en-US" dirty="0"/>
              <a:t>They are called pigs, because they, like the pigs in the joke, are committed to the project”</a:t>
            </a:r>
          </a:p>
        </p:txBody>
      </p:sp>
      <p:pic>
        <p:nvPicPr>
          <p:cNvPr id="1026" name="Picture 2">
            <a:extLst>
              <a:ext uri="{FF2B5EF4-FFF2-40B4-BE49-F238E27FC236}">
                <a16:creationId xmlns:a16="http://schemas.microsoft.com/office/drawing/2014/main" id="{BD248E51-D389-7BF2-3507-D876B9BCC2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0915" y="1701091"/>
            <a:ext cx="6782170" cy="2387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94986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00B53-8074-2704-589B-A34C0E9C80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FDC2F1-55F3-55CD-1459-C6C3B458BA97}"/>
              </a:ext>
            </a:extLst>
          </p:cNvPr>
          <p:cNvSpPr>
            <a:spLocks noGrp="1"/>
          </p:cNvSpPr>
          <p:nvPr>
            <p:ph type="title"/>
          </p:nvPr>
        </p:nvSpPr>
        <p:spPr/>
        <p:txBody>
          <a:bodyPr/>
          <a:lstStyle/>
          <a:p>
            <a:r>
              <a:rPr lang="en-IN" dirty="0"/>
              <a:t>The Team - Chickens and Pigs</a:t>
            </a:r>
          </a:p>
        </p:txBody>
      </p:sp>
      <p:sp>
        <p:nvSpPr>
          <p:cNvPr id="3" name="Content Placeholder 2">
            <a:extLst>
              <a:ext uri="{FF2B5EF4-FFF2-40B4-BE49-F238E27FC236}">
                <a16:creationId xmlns:a16="http://schemas.microsoft.com/office/drawing/2014/main" id="{8996BC35-467E-30F9-6328-7A6EA52D3845}"/>
              </a:ext>
            </a:extLst>
          </p:cNvPr>
          <p:cNvSpPr>
            <a:spLocks noGrp="1"/>
          </p:cNvSpPr>
          <p:nvPr>
            <p:ph idx="1"/>
          </p:nvPr>
        </p:nvSpPr>
        <p:spPr>
          <a:xfrm>
            <a:off x="266330" y="1020932"/>
            <a:ext cx="8611340" cy="5837068"/>
          </a:xfrm>
        </p:spPr>
        <p:txBody>
          <a:bodyPr>
            <a:normAutofit fontScale="92500"/>
          </a:bodyPr>
          <a:lstStyle/>
          <a:p>
            <a:r>
              <a:rPr lang="en-US" dirty="0"/>
              <a:t>This commitment cannot be taken lightly. It is a promise, and the developers know that if something goes wrong, they might have to work long hours in order to deliver on that commitment. </a:t>
            </a:r>
          </a:p>
          <a:p>
            <a:r>
              <a:rPr lang="en-US" dirty="0"/>
              <a:t>They are, in effect, putting their reputations on the line every time they make a commitment. </a:t>
            </a:r>
          </a:p>
          <a:p>
            <a:r>
              <a:rPr lang="en-US" dirty="0"/>
              <a:t>The more promises that are kept, the more the team’s reputation in the organization goes up; but if several promises are missed, then the team is held in lower regard. </a:t>
            </a:r>
          </a:p>
          <a:p>
            <a:r>
              <a:rPr lang="en-US" dirty="0"/>
              <a:t>Hence, the developers are pigs because their level of commitment is absolute. </a:t>
            </a:r>
          </a:p>
          <a:p>
            <a:r>
              <a:rPr lang="en-US" dirty="0"/>
              <a:t>Chickens, on the other hand, are definitely interested in the project and want to see it succeed, but their reputations or careers (or proverbial “necks”) are not on the line.</a:t>
            </a:r>
          </a:p>
        </p:txBody>
      </p:sp>
    </p:spTree>
    <p:extLst>
      <p:ext uri="{BB962C8B-B14F-4D97-AF65-F5344CB8AC3E}">
        <p14:creationId xmlns:p14="http://schemas.microsoft.com/office/powerpoint/2010/main" val="30136068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F4C0F-0459-8D2B-C142-1A03773C71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DE4384-F339-3CB0-67E6-E638F21A5574}"/>
              </a:ext>
            </a:extLst>
          </p:cNvPr>
          <p:cNvSpPr>
            <a:spLocks noGrp="1"/>
          </p:cNvSpPr>
          <p:nvPr>
            <p:ph type="title"/>
          </p:nvPr>
        </p:nvSpPr>
        <p:spPr/>
        <p:txBody>
          <a:bodyPr/>
          <a:lstStyle/>
          <a:p>
            <a:r>
              <a:rPr lang="en-IN" dirty="0"/>
              <a:t>The Team - Chickens and Pigs</a:t>
            </a:r>
          </a:p>
        </p:txBody>
      </p:sp>
      <p:sp>
        <p:nvSpPr>
          <p:cNvPr id="3" name="Content Placeholder 2">
            <a:extLst>
              <a:ext uri="{FF2B5EF4-FFF2-40B4-BE49-F238E27FC236}">
                <a16:creationId xmlns:a16="http://schemas.microsoft.com/office/drawing/2014/main" id="{3341CD6A-BD9B-BFEF-1A14-0D726D5428C7}"/>
              </a:ext>
            </a:extLst>
          </p:cNvPr>
          <p:cNvSpPr>
            <a:spLocks noGrp="1"/>
          </p:cNvSpPr>
          <p:nvPr>
            <p:ph idx="1"/>
          </p:nvPr>
        </p:nvSpPr>
        <p:spPr>
          <a:xfrm>
            <a:off x="266330" y="1020932"/>
            <a:ext cx="8611340" cy="5837068"/>
          </a:xfrm>
        </p:spPr>
        <p:txBody>
          <a:bodyPr>
            <a:normAutofit fontScale="92500"/>
          </a:bodyPr>
          <a:lstStyle/>
          <a:p>
            <a:r>
              <a:rPr lang="en-US" dirty="0"/>
              <a:t>This commitment cannot be taken lightly. It is a promise, and the developers know that if something goes wrong, they might have to work long hours in order to deliver on that commitment. </a:t>
            </a:r>
          </a:p>
          <a:p>
            <a:r>
              <a:rPr lang="en-US" dirty="0"/>
              <a:t>They are, in effect, putting their reputations on the line every time they make a commitment. </a:t>
            </a:r>
          </a:p>
          <a:p>
            <a:r>
              <a:rPr lang="en-US" dirty="0"/>
              <a:t>The more promises that are kept, the more the team’s reputation in the organization goes up; but if several promises are missed, then the team is held in lower regard. </a:t>
            </a:r>
          </a:p>
          <a:p>
            <a:r>
              <a:rPr lang="en-US" dirty="0"/>
              <a:t>Hence, the developers are pigs because their level of commitment is absolute. </a:t>
            </a:r>
          </a:p>
          <a:p>
            <a:r>
              <a:rPr lang="en-US" dirty="0"/>
              <a:t>Chickens, on the other hand, are definitely interested in the project and want to see it succeed, but their reputations or careers (or proverbial “necks”) are not on the line.</a:t>
            </a:r>
          </a:p>
        </p:txBody>
      </p:sp>
    </p:spTree>
    <p:extLst>
      <p:ext uri="{BB962C8B-B14F-4D97-AF65-F5344CB8AC3E}">
        <p14:creationId xmlns:p14="http://schemas.microsoft.com/office/powerpoint/2010/main" val="28952854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00C0C-F875-E71D-701B-EAB172E22768}"/>
              </a:ext>
            </a:extLst>
          </p:cNvPr>
          <p:cNvSpPr>
            <a:spLocks noGrp="1"/>
          </p:cNvSpPr>
          <p:nvPr>
            <p:ph type="title"/>
          </p:nvPr>
        </p:nvSpPr>
        <p:spPr/>
        <p:txBody>
          <a:bodyPr/>
          <a:lstStyle/>
          <a:p>
            <a:r>
              <a:rPr lang="en-IN" dirty="0"/>
              <a:t>Extended Team Members</a:t>
            </a:r>
          </a:p>
        </p:txBody>
      </p:sp>
      <p:sp>
        <p:nvSpPr>
          <p:cNvPr id="3" name="Content Placeholder 2">
            <a:extLst>
              <a:ext uri="{FF2B5EF4-FFF2-40B4-BE49-F238E27FC236}">
                <a16:creationId xmlns:a16="http://schemas.microsoft.com/office/drawing/2014/main" id="{4011C57F-1B23-DB25-C4EE-38CEDBE2FC42}"/>
              </a:ext>
            </a:extLst>
          </p:cNvPr>
          <p:cNvSpPr>
            <a:spLocks noGrp="1"/>
          </p:cNvSpPr>
          <p:nvPr>
            <p:ph idx="1"/>
          </p:nvPr>
        </p:nvSpPr>
        <p:spPr>
          <a:xfrm>
            <a:off x="266330" y="1020932"/>
            <a:ext cx="8611340" cy="5837068"/>
          </a:xfrm>
        </p:spPr>
        <p:txBody>
          <a:bodyPr>
            <a:normAutofit fontScale="92500" lnSpcReduction="10000"/>
          </a:bodyPr>
          <a:lstStyle/>
          <a:p>
            <a:r>
              <a:rPr lang="en-US" dirty="0"/>
              <a:t>Within Scrum, there are the three core roles that we have just discussed: product owner, Scrum master, and the team. </a:t>
            </a:r>
          </a:p>
          <a:p>
            <a:r>
              <a:rPr lang="en-US" dirty="0"/>
              <a:t>Beyond that, a number of necessary contributors make up the extended team.</a:t>
            </a:r>
          </a:p>
          <a:p>
            <a:r>
              <a:rPr lang="en-US" b="1" dirty="0"/>
              <a:t>Project Sponsor</a:t>
            </a:r>
          </a:p>
          <a:p>
            <a:r>
              <a:rPr lang="en-US" dirty="0"/>
              <a:t>Most large efforts need a project sponsor to advocate for the project. </a:t>
            </a:r>
          </a:p>
          <a:p>
            <a:r>
              <a:rPr lang="en-US" dirty="0"/>
              <a:t>What distinguishes project sponsors from the other roles is that they have the authority to allocate funds and people to projects. </a:t>
            </a:r>
          </a:p>
          <a:p>
            <a:r>
              <a:rPr lang="en-US" dirty="0"/>
              <a:t>They are true decision makers and can back up their commitment with actual resources. </a:t>
            </a:r>
          </a:p>
          <a:p>
            <a:r>
              <a:rPr lang="en-US" dirty="0"/>
              <a:t>The person in this role is often an executive who is advocating for this effort and is responsible for the strategic implications.</a:t>
            </a:r>
            <a:endParaRPr lang="en-IN" dirty="0"/>
          </a:p>
        </p:txBody>
      </p:sp>
    </p:spTree>
    <p:extLst>
      <p:ext uri="{BB962C8B-B14F-4D97-AF65-F5344CB8AC3E}">
        <p14:creationId xmlns:p14="http://schemas.microsoft.com/office/powerpoint/2010/main" val="41264412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92508-9F0F-F4DD-041E-666C9A56B9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D78626-5419-8E53-0048-CB97A789147E}"/>
              </a:ext>
            </a:extLst>
          </p:cNvPr>
          <p:cNvSpPr>
            <a:spLocks noGrp="1"/>
          </p:cNvSpPr>
          <p:nvPr>
            <p:ph type="title"/>
          </p:nvPr>
        </p:nvSpPr>
        <p:spPr/>
        <p:txBody>
          <a:bodyPr/>
          <a:lstStyle/>
          <a:p>
            <a:r>
              <a:rPr lang="en-IN" dirty="0"/>
              <a:t>Extended Team Members</a:t>
            </a:r>
          </a:p>
        </p:txBody>
      </p:sp>
      <p:sp>
        <p:nvSpPr>
          <p:cNvPr id="3" name="Content Placeholder 2">
            <a:extLst>
              <a:ext uri="{FF2B5EF4-FFF2-40B4-BE49-F238E27FC236}">
                <a16:creationId xmlns:a16="http://schemas.microsoft.com/office/drawing/2014/main" id="{F2DD673A-6ED0-769B-D376-D3818D443FA0}"/>
              </a:ext>
            </a:extLst>
          </p:cNvPr>
          <p:cNvSpPr>
            <a:spLocks noGrp="1"/>
          </p:cNvSpPr>
          <p:nvPr>
            <p:ph idx="1"/>
          </p:nvPr>
        </p:nvSpPr>
        <p:spPr>
          <a:xfrm>
            <a:off x="266330" y="1020932"/>
            <a:ext cx="8611340" cy="5837068"/>
          </a:xfrm>
        </p:spPr>
        <p:txBody>
          <a:bodyPr>
            <a:normAutofit fontScale="92500"/>
          </a:bodyPr>
          <a:lstStyle/>
          <a:p>
            <a:r>
              <a:rPr lang="en-US" b="1" dirty="0"/>
              <a:t>Stakeholders</a:t>
            </a:r>
          </a:p>
          <a:p>
            <a:r>
              <a:rPr lang="en-US" dirty="0"/>
              <a:t>Another critical role in the Agile and Scrum process is the stakeholders. </a:t>
            </a:r>
          </a:p>
          <a:p>
            <a:r>
              <a:rPr lang="en-US" dirty="0"/>
              <a:t>These are people who are either directly or indirectly affected by the project. </a:t>
            </a:r>
          </a:p>
          <a:p>
            <a:r>
              <a:rPr lang="en-US" b="1" dirty="0"/>
              <a:t>Internal stakeholders </a:t>
            </a:r>
            <a:r>
              <a:rPr lang="en-US" dirty="0"/>
              <a:t>are inside the company, and could range from users of the system to the CEO, depending on the size and scope of the project. </a:t>
            </a:r>
          </a:p>
          <a:p>
            <a:r>
              <a:rPr lang="en-US" b="1" dirty="0"/>
              <a:t>External stakeholders </a:t>
            </a:r>
            <a:r>
              <a:rPr lang="en-US" dirty="0"/>
              <a:t>are outside the company, and again could range from users of the system to shareholders of stock in the company. </a:t>
            </a:r>
          </a:p>
          <a:p>
            <a:r>
              <a:rPr lang="en-US" dirty="0"/>
              <a:t>Therefore, a single project can have multiple stakeholders, and this audience is critically important to keep informed on the project’s progress and to consult with for key decisions.</a:t>
            </a:r>
            <a:endParaRPr lang="en-IN" dirty="0"/>
          </a:p>
        </p:txBody>
      </p:sp>
    </p:spTree>
    <p:extLst>
      <p:ext uri="{BB962C8B-B14F-4D97-AF65-F5344CB8AC3E}">
        <p14:creationId xmlns:p14="http://schemas.microsoft.com/office/powerpoint/2010/main" val="16249098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A5FC5-737A-58A0-EAA0-C93BDEEAA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1199C4-FECD-7AAA-D639-FD06CE09A13A}"/>
              </a:ext>
            </a:extLst>
          </p:cNvPr>
          <p:cNvSpPr>
            <a:spLocks noGrp="1"/>
          </p:cNvSpPr>
          <p:nvPr>
            <p:ph type="title"/>
          </p:nvPr>
        </p:nvSpPr>
        <p:spPr/>
        <p:txBody>
          <a:bodyPr/>
          <a:lstStyle/>
          <a:p>
            <a:r>
              <a:rPr lang="en-IN" dirty="0"/>
              <a:t>Extended Team Members</a:t>
            </a:r>
          </a:p>
        </p:txBody>
      </p:sp>
      <p:sp>
        <p:nvSpPr>
          <p:cNvPr id="3" name="Content Placeholder 2">
            <a:extLst>
              <a:ext uri="{FF2B5EF4-FFF2-40B4-BE49-F238E27FC236}">
                <a16:creationId xmlns:a16="http://schemas.microsoft.com/office/drawing/2014/main" id="{66F8AA89-7420-ED12-8B46-402BCBE557D3}"/>
              </a:ext>
            </a:extLst>
          </p:cNvPr>
          <p:cNvSpPr>
            <a:spLocks noGrp="1"/>
          </p:cNvSpPr>
          <p:nvPr>
            <p:ph idx="1"/>
          </p:nvPr>
        </p:nvSpPr>
        <p:spPr>
          <a:xfrm>
            <a:off x="266330" y="1020932"/>
            <a:ext cx="8611340" cy="5837068"/>
          </a:xfrm>
        </p:spPr>
        <p:txBody>
          <a:bodyPr>
            <a:normAutofit fontScale="92500" lnSpcReduction="20000"/>
          </a:bodyPr>
          <a:lstStyle/>
          <a:p>
            <a:r>
              <a:rPr lang="en-US" b="1" dirty="0"/>
              <a:t>Stakeholders</a:t>
            </a:r>
          </a:p>
          <a:p>
            <a:r>
              <a:rPr lang="en-US" dirty="0"/>
              <a:t>Other examples of stakeholders could include the leaders of the following types of organizations:</a:t>
            </a:r>
          </a:p>
          <a:p>
            <a:pPr lvl="1"/>
            <a:r>
              <a:rPr lang="en-US" dirty="0"/>
              <a:t>The operations team, who will be responsible for on-boarding (or turning on) new customers </a:t>
            </a:r>
          </a:p>
          <a:p>
            <a:pPr lvl="1"/>
            <a:r>
              <a:rPr lang="en-US" dirty="0"/>
              <a:t>The customer service representatives (CSRs), who must support end users who call in with questions</a:t>
            </a:r>
          </a:p>
          <a:p>
            <a:pPr lvl="1"/>
            <a:r>
              <a:rPr lang="en-US" dirty="0"/>
              <a:t>The technical help desk, because they will take technical questions from internal and possibly external users</a:t>
            </a:r>
          </a:p>
          <a:p>
            <a:pPr lvl="1"/>
            <a:r>
              <a:rPr lang="en-US" dirty="0"/>
              <a:t>The finance or billing organization, which is tasked with billing customers and thus booking the revenue</a:t>
            </a:r>
          </a:p>
          <a:p>
            <a:r>
              <a:rPr lang="en-US" dirty="0"/>
              <a:t>There can be many others, and virtually every organization within a company may have some stake in an upcoming project, depending on the size and scope of the effort. </a:t>
            </a:r>
          </a:p>
          <a:p>
            <a:r>
              <a:rPr lang="en-US" dirty="0"/>
              <a:t>Stakeholders are critical because their impressions, whether they are correct or incorrect, of how a project is proceeding can influence funding, timelines, team resources, etc. </a:t>
            </a:r>
          </a:p>
          <a:p>
            <a:r>
              <a:rPr lang="en-US" dirty="0"/>
              <a:t>It is essential to recognize and appreciate the role of the stakeholders.</a:t>
            </a:r>
            <a:endParaRPr lang="en-IN" dirty="0"/>
          </a:p>
        </p:txBody>
      </p:sp>
    </p:spTree>
    <p:extLst>
      <p:ext uri="{BB962C8B-B14F-4D97-AF65-F5344CB8AC3E}">
        <p14:creationId xmlns:p14="http://schemas.microsoft.com/office/powerpoint/2010/main" val="9318441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D7A10-65A2-EF9E-D4EF-030B45855F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5E0A94-3F03-84EE-6A57-6AF24F2AA9C7}"/>
              </a:ext>
            </a:extLst>
          </p:cNvPr>
          <p:cNvSpPr>
            <a:spLocks noGrp="1"/>
          </p:cNvSpPr>
          <p:nvPr>
            <p:ph type="title"/>
          </p:nvPr>
        </p:nvSpPr>
        <p:spPr/>
        <p:txBody>
          <a:bodyPr/>
          <a:lstStyle/>
          <a:p>
            <a:r>
              <a:rPr lang="en-IN" dirty="0"/>
              <a:t>Extended Team Members</a:t>
            </a:r>
          </a:p>
        </p:txBody>
      </p:sp>
      <p:sp>
        <p:nvSpPr>
          <p:cNvPr id="3" name="Content Placeholder 2">
            <a:extLst>
              <a:ext uri="{FF2B5EF4-FFF2-40B4-BE49-F238E27FC236}">
                <a16:creationId xmlns:a16="http://schemas.microsoft.com/office/drawing/2014/main" id="{EA5D77AD-8536-C611-BE6F-3C1AAB520280}"/>
              </a:ext>
            </a:extLst>
          </p:cNvPr>
          <p:cNvSpPr>
            <a:spLocks noGrp="1"/>
          </p:cNvSpPr>
          <p:nvPr>
            <p:ph idx="1"/>
          </p:nvPr>
        </p:nvSpPr>
        <p:spPr>
          <a:xfrm>
            <a:off x="266330" y="1020932"/>
            <a:ext cx="8611340" cy="5837068"/>
          </a:xfrm>
        </p:spPr>
        <p:txBody>
          <a:bodyPr>
            <a:normAutofit fontScale="92500" lnSpcReduction="20000"/>
          </a:bodyPr>
          <a:lstStyle/>
          <a:p>
            <a:r>
              <a:rPr lang="en-US" b="1" dirty="0"/>
              <a:t>Stakeholders</a:t>
            </a:r>
          </a:p>
          <a:p>
            <a:r>
              <a:rPr lang="en-US" dirty="0"/>
              <a:t>Other examples of stakeholders could include the leaders of the following types of organizations:</a:t>
            </a:r>
          </a:p>
          <a:p>
            <a:pPr lvl="1"/>
            <a:r>
              <a:rPr lang="en-US" dirty="0"/>
              <a:t>The operations team, who will be responsible for on-boarding (or turning on) new customers </a:t>
            </a:r>
          </a:p>
          <a:p>
            <a:pPr lvl="1"/>
            <a:r>
              <a:rPr lang="en-US" dirty="0"/>
              <a:t>The customer service representatives (CSRs), who must support end users who call in with questions</a:t>
            </a:r>
          </a:p>
          <a:p>
            <a:pPr lvl="1"/>
            <a:r>
              <a:rPr lang="en-US" dirty="0"/>
              <a:t>The technical help desk, because they will take technical questions from internal and possibly external users</a:t>
            </a:r>
          </a:p>
          <a:p>
            <a:pPr lvl="1"/>
            <a:r>
              <a:rPr lang="en-US" dirty="0"/>
              <a:t>The finance or billing organization, which is tasked with billing customers and thus booking the revenue</a:t>
            </a:r>
          </a:p>
          <a:p>
            <a:r>
              <a:rPr lang="en-US" dirty="0"/>
              <a:t>There can be many others, and virtually every organization within a company may have some stake in an upcoming project, depending on the size and scope of the effort. </a:t>
            </a:r>
          </a:p>
          <a:p>
            <a:r>
              <a:rPr lang="en-US" dirty="0"/>
              <a:t>Stakeholders are critical because their impressions, whether they are correct or incorrect, of how a project is proceeding can influence funding, timelines, team resources, etc. </a:t>
            </a:r>
          </a:p>
          <a:p>
            <a:r>
              <a:rPr lang="en-US" dirty="0"/>
              <a:t>It is essential to recognize and appreciate the role of the stakeholders.</a:t>
            </a:r>
            <a:endParaRPr lang="en-IN" dirty="0"/>
          </a:p>
        </p:txBody>
      </p:sp>
    </p:spTree>
    <p:extLst>
      <p:ext uri="{BB962C8B-B14F-4D97-AF65-F5344CB8AC3E}">
        <p14:creationId xmlns:p14="http://schemas.microsoft.com/office/powerpoint/2010/main" val="25579555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A5743-57E0-6B44-CD6A-6EFF1C2628B5}"/>
              </a:ext>
            </a:extLst>
          </p:cNvPr>
          <p:cNvSpPr>
            <a:spLocks noGrp="1"/>
          </p:cNvSpPr>
          <p:nvPr>
            <p:ph type="title"/>
          </p:nvPr>
        </p:nvSpPr>
        <p:spPr/>
        <p:txBody>
          <a:bodyPr/>
          <a:lstStyle/>
          <a:p>
            <a:r>
              <a:rPr lang="en-IN" dirty="0"/>
              <a:t>Roles in Other Methodologies</a:t>
            </a:r>
          </a:p>
        </p:txBody>
      </p:sp>
      <p:sp>
        <p:nvSpPr>
          <p:cNvPr id="3" name="Content Placeholder 2">
            <a:extLst>
              <a:ext uri="{FF2B5EF4-FFF2-40B4-BE49-F238E27FC236}">
                <a16:creationId xmlns:a16="http://schemas.microsoft.com/office/drawing/2014/main" id="{682B54A5-DFCF-3480-5471-E8C0DB9D9DD0}"/>
              </a:ext>
            </a:extLst>
          </p:cNvPr>
          <p:cNvSpPr>
            <a:spLocks noGrp="1"/>
          </p:cNvSpPr>
          <p:nvPr>
            <p:ph idx="1"/>
          </p:nvPr>
        </p:nvSpPr>
        <p:spPr/>
        <p:txBody>
          <a:bodyPr/>
          <a:lstStyle/>
          <a:p>
            <a:r>
              <a:rPr lang="en-US" dirty="0"/>
              <a:t>Now that the roles within Scrum are well understood, it is easier to compare and contrast the roles in the other methodologies.</a:t>
            </a:r>
          </a:p>
          <a:p>
            <a:r>
              <a:rPr lang="en-US" b="1" dirty="0"/>
              <a:t>Project Sponsor</a:t>
            </a:r>
          </a:p>
          <a:p>
            <a:r>
              <a:rPr lang="en-US" dirty="0"/>
              <a:t>As previously mentioned, this role is critical because it possesses the authority and budget to actually approve a project. </a:t>
            </a:r>
          </a:p>
          <a:p>
            <a:r>
              <a:rPr lang="en-US" dirty="0"/>
              <a:t>In Crystal, FDD, Lean, and Scrum, this person is referred to as the sponsor, sometimes as the executive sponsor or project sponsor. </a:t>
            </a:r>
          </a:p>
          <a:p>
            <a:r>
              <a:rPr lang="en-US" dirty="0"/>
              <a:t>In DSDM, the term project champion may be used.</a:t>
            </a:r>
            <a:endParaRPr lang="en-IN" dirty="0"/>
          </a:p>
        </p:txBody>
      </p:sp>
    </p:spTree>
    <p:extLst>
      <p:ext uri="{BB962C8B-B14F-4D97-AF65-F5344CB8AC3E}">
        <p14:creationId xmlns:p14="http://schemas.microsoft.com/office/powerpoint/2010/main" val="17690055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8A21A-55E7-ACC3-703F-D3592FD2DA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343B8-8D33-BAE5-2DE4-766C86903924}"/>
              </a:ext>
            </a:extLst>
          </p:cNvPr>
          <p:cNvSpPr>
            <a:spLocks noGrp="1"/>
          </p:cNvSpPr>
          <p:nvPr>
            <p:ph type="title"/>
          </p:nvPr>
        </p:nvSpPr>
        <p:spPr/>
        <p:txBody>
          <a:bodyPr/>
          <a:lstStyle/>
          <a:p>
            <a:r>
              <a:rPr lang="en-IN" dirty="0"/>
              <a:t>Roles in Other Methodologies</a:t>
            </a:r>
          </a:p>
        </p:txBody>
      </p:sp>
      <p:sp>
        <p:nvSpPr>
          <p:cNvPr id="3" name="Content Placeholder 2">
            <a:extLst>
              <a:ext uri="{FF2B5EF4-FFF2-40B4-BE49-F238E27FC236}">
                <a16:creationId xmlns:a16="http://schemas.microsoft.com/office/drawing/2014/main" id="{B7937875-0328-508C-B14A-67A4935F33F4}"/>
              </a:ext>
            </a:extLst>
          </p:cNvPr>
          <p:cNvSpPr>
            <a:spLocks noGrp="1"/>
          </p:cNvSpPr>
          <p:nvPr>
            <p:ph idx="1"/>
          </p:nvPr>
        </p:nvSpPr>
        <p:spPr/>
        <p:txBody>
          <a:bodyPr/>
          <a:lstStyle/>
          <a:p>
            <a:r>
              <a:rPr lang="en-US" b="1" dirty="0"/>
              <a:t>Requirements Gatherer</a:t>
            </a:r>
          </a:p>
          <a:p>
            <a:r>
              <a:rPr lang="en-US" dirty="0"/>
              <a:t>This role is the person who gathers the requirements, understands the needs of the customer/end user, communicates the business value, and sets the detailed vision of what the product needs to be.</a:t>
            </a:r>
            <a:endParaRPr lang="en-IN" dirty="0"/>
          </a:p>
        </p:txBody>
      </p:sp>
    </p:spTree>
    <p:extLst>
      <p:ext uri="{BB962C8B-B14F-4D97-AF65-F5344CB8AC3E}">
        <p14:creationId xmlns:p14="http://schemas.microsoft.com/office/powerpoint/2010/main" val="36757259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5F6F5-C537-4FFF-4E84-2821F5802D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A6516E-0AE7-AF5F-C524-2A2C3B4EE8BE}"/>
              </a:ext>
            </a:extLst>
          </p:cNvPr>
          <p:cNvSpPr>
            <a:spLocks noGrp="1"/>
          </p:cNvSpPr>
          <p:nvPr>
            <p:ph type="title"/>
          </p:nvPr>
        </p:nvSpPr>
        <p:spPr/>
        <p:txBody>
          <a:bodyPr/>
          <a:lstStyle/>
          <a:p>
            <a:r>
              <a:rPr lang="en-IN" dirty="0"/>
              <a:t>Roles in Other Methodologies</a:t>
            </a:r>
          </a:p>
        </p:txBody>
      </p:sp>
      <p:sp>
        <p:nvSpPr>
          <p:cNvPr id="3" name="Content Placeholder 2">
            <a:extLst>
              <a:ext uri="{FF2B5EF4-FFF2-40B4-BE49-F238E27FC236}">
                <a16:creationId xmlns:a16="http://schemas.microsoft.com/office/drawing/2014/main" id="{1ADD5F29-9AD4-32B9-F54B-8A525542BD1E}"/>
              </a:ext>
            </a:extLst>
          </p:cNvPr>
          <p:cNvSpPr>
            <a:spLocks noGrp="1"/>
          </p:cNvSpPr>
          <p:nvPr>
            <p:ph idx="1"/>
          </p:nvPr>
        </p:nvSpPr>
        <p:spPr>
          <a:xfrm>
            <a:off x="266330" y="1020932"/>
            <a:ext cx="8611340" cy="5627518"/>
          </a:xfrm>
        </p:spPr>
        <p:txBody>
          <a:bodyPr>
            <a:normAutofit fontScale="85000" lnSpcReduction="10000"/>
          </a:bodyPr>
          <a:lstStyle/>
          <a:p>
            <a:r>
              <a:rPr lang="en-US" b="1" dirty="0"/>
              <a:t>Requirements Gatherer</a:t>
            </a:r>
          </a:p>
          <a:p>
            <a:r>
              <a:rPr lang="en-US" dirty="0"/>
              <a:t>As already described in detail, the product owner fills this role in Scrum. </a:t>
            </a:r>
          </a:p>
          <a:p>
            <a:r>
              <a:rPr lang="en-US" dirty="0"/>
              <a:t>Lean software development also defines this as the product owner.</a:t>
            </a:r>
          </a:p>
          <a:p>
            <a:r>
              <a:rPr lang="en-US" dirty="0"/>
              <a:t>Within XP, this role is referred to as the customer because he or she represents the needs and priorities of the ultimate end user.</a:t>
            </a:r>
          </a:p>
          <a:p>
            <a:r>
              <a:rPr lang="en-US" dirty="0"/>
              <a:t>Those in this role are responsible for understanding what end users really need, how much they value it, and what they will pay.</a:t>
            </a:r>
          </a:p>
          <a:p>
            <a:r>
              <a:rPr lang="en-US" dirty="0"/>
              <a:t>In feature-driven development (FDD), the role of requirements gatherer is split between two titles: </a:t>
            </a:r>
          </a:p>
          <a:p>
            <a:r>
              <a:rPr lang="en-US" dirty="0"/>
              <a:t>the </a:t>
            </a:r>
            <a:r>
              <a:rPr lang="en-US" b="1" dirty="0"/>
              <a:t>chief programmer</a:t>
            </a:r>
            <a:r>
              <a:rPr lang="en-US" dirty="0"/>
              <a:t>, who is responsible for prioritizing the work to be done, and </a:t>
            </a:r>
          </a:p>
          <a:p>
            <a:r>
              <a:rPr lang="en-US" dirty="0"/>
              <a:t>the </a:t>
            </a:r>
            <a:r>
              <a:rPr lang="en-US" b="1" dirty="0"/>
              <a:t>domain experts</a:t>
            </a:r>
            <a:r>
              <a:rPr lang="en-US" dirty="0"/>
              <a:t>, who know the application in great detail and can articulate the business needs to the developers</a:t>
            </a:r>
            <a:endParaRPr lang="en-IN" dirty="0"/>
          </a:p>
        </p:txBody>
      </p:sp>
    </p:spTree>
    <p:extLst>
      <p:ext uri="{BB962C8B-B14F-4D97-AF65-F5344CB8AC3E}">
        <p14:creationId xmlns:p14="http://schemas.microsoft.com/office/powerpoint/2010/main" val="28470113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CB3F2-5C5B-975A-63B1-638FB87F83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6BD13C-7F1B-D677-139A-B842F6340081}"/>
              </a:ext>
            </a:extLst>
          </p:cNvPr>
          <p:cNvSpPr>
            <a:spLocks noGrp="1"/>
          </p:cNvSpPr>
          <p:nvPr>
            <p:ph type="title"/>
          </p:nvPr>
        </p:nvSpPr>
        <p:spPr/>
        <p:txBody>
          <a:bodyPr/>
          <a:lstStyle/>
          <a:p>
            <a:r>
              <a:rPr lang="en-IN" dirty="0"/>
              <a:t>Roles in Other Methodologies</a:t>
            </a:r>
          </a:p>
        </p:txBody>
      </p:sp>
      <p:sp>
        <p:nvSpPr>
          <p:cNvPr id="3" name="Content Placeholder 2">
            <a:extLst>
              <a:ext uri="{FF2B5EF4-FFF2-40B4-BE49-F238E27FC236}">
                <a16:creationId xmlns:a16="http://schemas.microsoft.com/office/drawing/2014/main" id="{62A98D6F-43EC-14CA-A6C5-9D1FA7750693}"/>
              </a:ext>
            </a:extLst>
          </p:cNvPr>
          <p:cNvSpPr>
            <a:spLocks noGrp="1"/>
          </p:cNvSpPr>
          <p:nvPr>
            <p:ph idx="1"/>
          </p:nvPr>
        </p:nvSpPr>
        <p:spPr>
          <a:xfrm>
            <a:off x="266330" y="1020932"/>
            <a:ext cx="8611340" cy="5627518"/>
          </a:xfrm>
        </p:spPr>
        <p:txBody>
          <a:bodyPr>
            <a:normAutofit/>
          </a:bodyPr>
          <a:lstStyle/>
          <a:p>
            <a:r>
              <a:rPr lang="en-US" b="1" dirty="0"/>
              <a:t>Requirements Gatherer</a:t>
            </a:r>
          </a:p>
          <a:p>
            <a:r>
              <a:rPr lang="en-US" dirty="0"/>
              <a:t>In DSDM, this responsibility is also divided between several roles. </a:t>
            </a:r>
          </a:p>
          <a:p>
            <a:r>
              <a:rPr lang="en-US" dirty="0"/>
              <a:t>The </a:t>
            </a:r>
            <a:r>
              <a:rPr lang="en-US" b="1" dirty="0"/>
              <a:t>visionary </a:t>
            </a:r>
            <a:r>
              <a:rPr lang="en-US" dirty="0"/>
              <a:t>understands the long-term direction and the ultimate goal for the product.</a:t>
            </a:r>
          </a:p>
          <a:p>
            <a:r>
              <a:rPr lang="en-US" dirty="0"/>
              <a:t>The </a:t>
            </a:r>
            <a:r>
              <a:rPr lang="en-US" b="1" dirty="0"/>
              <a:t>ambassador</a:t>
            </a:r>
            <a:r>
              <a:rPr lang="en-US" dirty="0"/>
              <a:t> user acts as an ambassador for the end users and makes sure their needs and priorities are considered. </a:t>
            </a:r>
          </a:p>
          <a:p>
            <a:r>
              <a:rPr lang="en-US" dirty="0"/>
              <a:t>The </a:t>
            </a:r>
            <a:r>
              <a:rPr lang="en-US" b="1" dirty="0"/>
              <a:t>advisory</a:t>
            </a:r>
            <a:r>
              <a:rPr lang="en-US" dirty="0"/>
              <a:t> user will be more focused on the usability and workflow details for the product</a:t>
            </a:r>
            <a:endParaRPr lang="en-IN" dirty="0"/>
          </a:p>
        </p:txBody>
      </p:sp>
    </p:spTree>
    <p:extLst>
      <p:ext uri="{BB962C8B-B14F-4D97-AF65-F5344CB8AC3E}">
        <p14:creationId xmlns:p14="http://schemas.microsoft.com/office/powerpoint/2010/main" val="1696636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2B7E5-6B5D-FBCE-E715-D3B983325B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000DB9-D672-ABED-CC39-012FF75DE8C3}"/>
              </a:ext>
            </a:extLst>
          </p:cNvPr>
          <p:cNvSpPr>
            <a:spLocks noGrp="1"/>
          </p:cNvSpPr>
          <p:nvPr>
            <p:ph type="title"/>
          </p:nvPr>
        </p:nvSpPr>
        <p:spPr/>
        <p:txBody>
          <a:bodyPr/>
          <a:lstStyle/>
          <a:p>
            <a:r>
              <a:rPr lang="en-IN" dirty="0"/>
              <a:t>Roles in Other Methodologies</a:t>
            </a:r>
          </a:p>
        </p:txBody>
      </p:sp>
      <p:sp>
        <p:nvSpPr>
          <p:cNvPr id="3" name="Content Placeholder 2">
            <a:extLst>
              <a:ext uri="{FF2B5EF4-FFF2-40B4-BE49-F238E27FC236}">
                <a16:creationId xmlns:a16="http://schemas.microsoft.com/office/drawing/2014/main" id="{47C8E64F-45DF-BB91-3E5D-D7BD005809D3}"/>
              </a:ext>
            </a:extLst>
          </p:cNvPr>
          <p:cNvSpPr>
            <a:spLocks noGrp="1"/>
          </p:cNvSpPr>
          <p:nvPr>
            <p:ph idx="1"/>
          </p:nvPr>
        </p:nvSpPr>
        <p:spPr>
          <a:xfrm>
            <a:off x="266330" y="1020932"/>
            <a:ext cx="8611340" cy="5627518"/>
          </a:xfrm>
        </p:spPr>
        <p:txBody>
          <a:bodyPr>
            <a:normAutofit/>
          </a:bodyPr>
          <a:lstStyle/>
          <a:p>
            <a:r>
              <a:rPr lang="en-US" b="1" dirty="0"/>
              <a:t>Project Manager</a:t>
            </a:r>
          </a:p>
          <a:p>
            <a:r>
              <a:rPr lang="en-US" dirty="0"/>
              <a:t>As mentioned, there is some debate over this role within Scrum, </a:t>
            </a:r>
          </a:p>
          <a:p>
            <a:r>
              <a:rPr lang="en-US" dirty="0"/>
              <a:t>but other methodologies still define and see value in naming someone to serve as the project manager. </a:t>
            </a:r>
          </a:p>
          <a:p>
            <a:r>
              <a:rPr lang="en-US" dirty="0"/>
              <a:t>Within Crystal and DSDM, for example, the role follows this definition and is called the project manager; </a:t>
            </a:r>
          </a:p>
          <a:p>
            <a:r>
              <a:rPr lang="en-US" dirty="0"/>
              <a:t>in the XP world, this role is the same, but it is called the tracker. </a:t>
            </a:r>
          </a:p>
          <a:p>
            <a:r>
              <a:rPr lang="en-US" dirty="0"/>
              <a:t>In FDD and Lean software development, the project manager role is expanded to include caring for the team and ensuring that their environment is optimized</a:t>
            </a:r>
            <a:endParaRPr lang="en-IN" dirty="0"/>
          </a:p>
        </p:txBody>
      </p:sp>
    </p:spTree>
    <p:extLst>
      <p:ext uri="{BB962C8B-B14F-4D97-AF65-F5344CB8AC3E}">
        <p14:creationId xmlns:p14="http://schemas.microsoft.com/office/powerpoint/2010/main" val="37382047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656A4-0FDB-20D7-865F-912DAB9AC8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92B3A-EC95-AC8E-0B20-61C106737602}"/>
              </a:ext>
            </a:extLst>
          </p:cNvPr>
          <p:cNvSpPr>
            <a:spLocks noGrp="1"/>
          </p:cNvSpPr>
          <p:nvPr>
            <p:ph type="title"/>
          </p:nvPr>
        </p:nvSpPr>
        <p:spPr/>
        <p:txBody>
          <a:bodyPr/>
          <a:lstStyle/>
          <a:p>
            <a:r>
              <a:rPr lang="en-IN" dirty="0"/>
              <a:t>Roles in Other Methodologies</a:t>
            </a:r>
          </a:p>
        </p:txBody>
      </p:sp>
      <p:sp>
        <p:nvSpPr>
          <p:cNvPr id="3" name="Content Placeholder 2">
            <a:extLst>
              <a:ext uri="{FF2B5EF4-FFF2-40B4-BE49-F238E27FC236}">
                <a16:creationId xmlns:a16="http://schemas.microsoft.com/office/drawing/2014/main" id="{C6DA4278-1B1C-7B6E-9D4B-1C2968006E51}"/>
              </a:ext>
            </a:extLst>
          </p:cNvPr>
          <p:cNvSpPr>
            <a:spLocks noGrp="1"/>
          </p:cNvSpPr>
          <p:nvPr>
            <p:ph idx="1"/>
          </p:nvPr>
        </p:nvSpPr>
        <p:spPr>
          <a:xfrm>
            <a:off x="266330" y="1020932"/>
            <a:ext cx="8611340" cy="5627518"/>
          </a:xfrm>
        </p:spPr>
        <p:txBody>
          <a:bodyPr>
            <a:normAutofit/>
          </a:bodyPr>
          <a:lstStyle/>
          <a:p>
            <a:r>
              <a:rPr lang="en-US" b="1" dirty="0"/>
              <a:t>Team Coach</a:t>
            </a:r>
          </a:p>
          <a:p>
            <a:r>
              <a:rPr lang="en-US" dirty="0"/>
              <a:t>Although FDD and Lean include maximizing dynamics within the project manager role and Scrum assigns these responsibilities to the Scrum master, several other methodologies have a specific role for the coach.</a:t>
            </a:r>
          </a:p>
          <a:p>
            <a:r>
              <a:rPr lang="en-US" dirty="0"/>
              <a:t>Within XP, this type of function is split between two roles, </a:t>
            </a:r>
            <a:r>
              <a:rPr lang="en-US" b="1" dirty="0"/>
              <a:t>the coach and the big boss</a:t>
            </a:r>
            <a:r>
              <a:rPr lang="en-US" dirty="0"/>
              <a:t>, but one person may cover both. </a:t>
            </a:r>
          </a:p>
          <a:p>
            <a:r>
              <a:rPr lang="en-US" dirty="0"/>
              <a:t>The </a:t>
            </a:r>
            <a:r>
              <a:rPr lang="en-US" b="1" dirty="0"/>
              <a:t>coach</a:t>
            </a:r>
            <a:r>
              <a:rPr lang="en-US" dirty="0"/>
              <a:t> is viewed as the mentor to the team; he or she has earned the team’s respect and leads by example </a:t>
            </a:r>
          </a:p>
          <a:p>
            <a:r>
              <a:rPr lang="en-US" dirty="0"/>
              <a:t>The </a:t>
            </a:r>
            <a:r>
              <a:rPr lang="en-US" b="1" dirty="0"/>
              <a:t>big boss </a:t>
            </a:r>
            <a:r>
              <a:rPr lang="en-US" dirty="0"/>
              <a:t>is responsible for holding the team accountable and ensuring that they do what they say they are going to do</a:t>
            </a:r>
            <a:endParaRPr lang="en-IN" dirty="0"/>
          </a:p>
        </p:txBody>
      </p:sp>
    </p:spTree>
    <p:extLst>
      <p:ext uri="{BB962C8B-B14F-4D97-AF65-F5344CB8AC3E}">
        <p14:creationId xmlns:p14="http://schemas.microsoft.com/office/powerpoint/2010/main" val="30001931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BB2F2-A99B-66CA-B365-03C02BC491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8B39F9-B088-55B8-D819-CF34A9CC5C31}"/>
              </a:ext>
            </a:extLst>
          </p:cNvPr>
          <p:cNvSpPr>
            <a:spLocks noGrp="1"/>
          </p:cNvSpPr>
          <p:nvPr>
            <p:ph type="title"/>
          </p:nvPr>
        </p:nvSpPr>
        <p:spPr/>
        <p:txBody>
          <a:bodyPr/>
          <a:lstStyle/>
          <a:p>
            <a:r>
              <a:rPr lang="en-IN" dirty="0"/>
              <a:t>Roles in Other Methodologies</a:t>
            </a:r>
          </a:p>
        </p:txBody>
      </p:sp>
      <p:sp>
        <p:nvSpPr>
          <p:cNvPr id="3" name="Content Placeholder 2">
            <a:extLst>
              <a:ext uri="{FF2B5EF4-FFF2-40B4-BE49-F238E27FC236}">
                <a16:creationId xmlns:a16="http://schemas.microsoft.com/office/drawing/2014/main" id="{2C7AF00E-DAE9-F97A-3F5B-01379FD57504}"/>
              </a:ext>
            </a:extLst>
          </p:cNvPr>
          <p:cNvSpPr>
            <a:spLocks noGrp="1"/>
          </p:cNvSpPr>
          <p:nvPr>
            <p:ph idx="1"/>
          </p:nvPr>
        </p:nvSpPr>
        <p:spPr>
          <a:xfrm>
            <a:off x="266330" y="1020932"/>
            <a:ext cx="8611340" cy="5627518"/>
          </a:xfrm>
        </p:spPr>
        <p:txBody>
          <a:bodyPr>
            <a:normAutofit lnSpcReduction="10000"/>
          </a:bodyPr>
          <a:lstStyle/>
          <a:p>
            <a:r>
              <a:rPr lang="en-US" b="1" dirty="0"/>
              <a:t>Team Coach</a:t>
            </a:r>
          </a:p>
          <a:p>
            <a:r>
              <a:rPr lang="en-US" dirty="0"/>
              <a:t>Within DSDM, the role is split between the team leader and the coach. </a:t>
            </a:r>
          </a:p>
          <a:p>
            <a:r>
              <a:rPr lang="en-US" dirty="0"/>
              <a:t>The specific responsibilities of the </a:t>
            </a:r>
            <a:r>
              <a:rPr lang="en-US" b="1" dirty="0"/>
              <a:t>team leader </a:t>
            </a:r>
            <a:r>
              <a:rPr lang="en-US" dirty="0"/>
              <a:t>include working with the team on the immediate deliverables—the day-to-day activities, timeliness of deliverables, and full team participation </a:t>
            </a:r>
          </a:p>
          <a:p>
            <a:r>
              <a:rPr lang="en-US" dirty="0"/>
              <a:t>the </a:t>
            </a:r>
            <a:r>
              <a:rPr lang="en-US" b="1" dirty="0"/>
              <a:t>coach</a:t>
            </a:r>
            <a:r>
              <a:rPr lang="en-US" dirty="0"/>
              <a:t> is focused on ensuring that the team understands and embraces the principles of Agile. </a:t>
            </a:r>
          </a:p>
          <a:p>
            <a:r>
              <a:rPr lang="en-US" dirty="0"/>
              <a:t>Crystal does not specifically define this type of role.</a:t>
            </a:r>
          </a:p>
          <a:p>
            <a:r>
              <a:rPr lang="en-US" dirty="0"/>
              <a:t>What makes this team coach role unique within Agile is that it does not correlate to any management responsibilities.</a:t>
            </a:r>
            <a:endParaRPr lang="en-IN" dirty="0"/>
          </a:p>
        </p:txBody>
      </p:sp>
    </p:spTree>
    <p:extLst>
      <p:ext uri="{BB962C8B-B14F-4D97-AF65-F5344CB8AC3E}">
        <p14:creationId xmlns:p14="http://schemas.microsoft.com/office/powerpoint/2010/main" val="15178043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C0D7C-C199-1E92-0670-6F41FE235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EB8CE1-36E9-1E55-E009-61C5E6316744}"/>
              </a:ext>
            </a:extLst>
          </p:cNvPr>
          <p:cNvSpPr>
            <a:spLocks noGrp="1"/>
          </p:cNvSpPr>
          <p:nvPr>
            <p:ph type="title"/>
          </p:nvPr>
        </p:nvSpPr>
        <p:spPr/>
        <p:txBody>
          <a:bodyPr/>
          <a:lstStyle/>
          <a:p>
            <a:r>
              <a:rPr lang="en-IN" dirty="0"/>
              <a:t>Roles in Other Methodologies</a:t>
            </a:r>
          </a:p>
        </p:txBody>
      </p:sp>
      <p:sp>
        <p:nvSpPr>
          <p:cNvPr id="3" name="Content Placeholder 2">
            <a:extLst>
              <a:ext uri="{FF2B5EF4-FFF2-40B4-BE49-F238E27FC236}">
                <a16:creationId xmlns:a16="http://schemas.microsoft.com/office/drawing/2014/main" id="{84EFC929-4E2C-AD90-072D-9AE5CF5B5402}"/>
              </a:ext>
            </a:extLst>
          </p:cNvPr>
          <p:cNvSpPr>
            <a:spLocks noGrp="1"/>
          </p:cNvSpPr>
          <p:nvPr>
            <p:ph idx="1"/>
          </p:nvPr>
        </p:nvSpPr>
        <p:spPr>
          <a:xfrm>
            <a:off x="266330" y="1020932"/>
            <a:ext cx="8611340" cy="5627518"/>
          </a:xfrm>
        </p:spPr>
        <p:txBody>
          <a:bodyPr>
            <a:normAutofit/>
          </a:bodyPr>
          <a:lstStyle/>
          <a:p>
            <a:r>
              <a:rPr lang="en-US" b="1" dirty="0"/>
              <a:t>Architect or Technical Lead</a:t>
            </a:r>
          </a:p>
          <a:p>
            <a:r>
              <a:rPr lang="en-US" dirty="0"/>
              <a:t>Many of the Agile methodologies have a technical lead or architect who is responsible for making technical decisions about how the product or feature should be deployed. </a:t>
            </a:r>
          </a:p>
          <a:p>
            <a:r>
              <a:rPr lang="en-US" dirty="0"/>
              <a:t>Feature-driven development calls this </a:t>
            </a:r>
            <a:r>
              <a:rPr lang="en-US" b="1" dirty="0"/>
              <a:t>the chief architect</a:t>
            </a:r>
            <a:r>
              <a:rPr lang="en-US" dirty="0"/>
              <a:t>, and those in the role are responsible for the overall architecture of the application or environment and ensuring that individual features do not compromise the integrity of the system. </a:t>
            </a:r>
          </a:p>
          <a:p>
            <a:r>
              <a:rPr lang="en-US" dirty="0"/>
              <a:t>In DSDM, this role is referred to as the </a:t>
            </a:r>
            <a:r>
              <a:rPr lang="en-US" b="1" dirty="0"/>
              <a:t>technical coordinator</a:t>
            </a:r>
            <a:r>
              <a:rPr lang="en-US" dirty="0"/>
              <a:t>; in Crystal, it is </a:t>
            </a:r>
            <a:r>
              <a:rPr lang="en-US" b="1" dirty="0"/>
              <a:t>the architect</a:t>
            </a:r>
            <a:r>
              <a:rPr lang="en-US" dirty="0"/>
              <a:t>; and in Lean software development, it is the </a:t>
            </a:r>
            <a:r>
              <a:rPr lang="en-US" b="1" dirty="0"/>
              <a:t>technical owner</a:t>
            </a:r>
            <a:r>
              <a:rPr lang="en-US" dirty="0"/>
              <a:t>.</a:t>
            </a:r>
            <a:endParaRPr lang="en-IN" dirty="0"/>
          </a:p>
        </p:txBody>
      </p:sp>
    </p:spTree>
    <p:extLst>
      <p:ext uri="{BB962C8B-B14F-4D97-AF65-F5344CB8AC3E}">
        <p14:creationId xmlns:p14="http://schemas.microsoft.com/office/powerpoint/2010/main" val="37920781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5FCC3-68A7-A115-BA26-5B63F34D16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B28B1C-55DE-7271-0314-5A7B4FA581BA}"/>
              </a:ext>
            </a:extLst>
          </p:cNvPr>
          <p:cNvSpPr>
            <a:spLocks noGrp="1"/>
          </p:cNvSpPr>
          <p:nvPr>
            <p:ph type="title"/>
          </p:nvPr>
        </p:nvSpPr>
        <p:spPr/>
        <p:txBody>
          <a:bodyPr/>
          <a:lstStyle/>
          <a:p>
            <a:r>
              <a:rPr lang="en-IN" dirty="0"/>
              <a:t>Roles in Other Methodologies</a:t>
            </a:r>
          </a:p>
        </p:txBody>
      </p:sp>
      <p:sp>
        <p:nvSpPr>
          <p:cNvPr id="3" name="Content Placeholder 2">
            <a:extLst>
              <a:ext uri="{FF2B5EF4-FFF2-40B4-BE49-F238E27FC236}">
                <a16:creationId xmlns:a16="http://schemas.microsoft.com/office/drawing/2014/main" id="{0FB09F0F-B0B5-8EA1-A66C-0529409B66B5}"/>
              </a:ext>
            </a:extLst>
          </p:cNvPr>
          <p:cNvSpPr>
            <a:spLocks noGrp="1"/>
          </p:cNvSpPr>
          <p:nvPr>
            <p:ph idx="1"/>
          </p:nvPr>
        </p:nvSpPr>
        <p:spPr>
          <a:xfrm>
            <a:off x="266330" y="1020932"/>
            <a:ext cx="8611340" cy="5627518"/>
          </a:xfrm>
        </p:spPr>
        <p:txBody>
          <a:bodyPr>
            <a:normAutofit/>
          </a:bodyPr>
          <a:lstStyle/>
          <a:p>
            <a:r>
              <a:rPr lang="en-US" b="1" dirty="0"/>
              <a:t>Documentation and Training</a:t>
            </a:r>
          </a:p>
          <a:p>
            <a:r>
              <a:rPr lang="en-US" dirty="0"/>
              <a:t>Some Agile teams may include people responsible for documentation; the amount of documentation required in the Agile methodologies varies depending on the nature of the project and the tools in place to organically capture documentation (such as user stories). </a:t>
            </a:r>
          </a:p>
          <a:p>
            <a:r>
              <a:rPr lang="en-US" dirty="0"/>
              <a:t>There may be a need for a technical writer—referred to as a </a:t>
            </a:r>
            <a:r>
              <a:rPr lang="en-US" b="1" dirty="0"/>
              <a:t>scribe</a:t>
            </a:r>
            <a:r>
              <a:rPr lang="en-US" dirty="0"/>
              <a:t> in DSDM—to document the application. </a:t>
            </a:r>
          </a:p>
          <a:p>
            <a:r>
              <a:rPr lang="en-US" dirty="0"/>
              <a:t>In addition, an organization may need a training professional to prepare end user documentation or actually deliver end user training. </a:t>
            </a:r>
          </a:p>
          <a:p>
            <a:r>
              <a:rPr lang="en-US" dirty="0"/>
              <a:t>Typically these roles are considered part of the extended team within Agile.</a:t>
            </a:r>
            <a:endParaRPr lang="en-IN" dirty="0"/>
          </a:p>
        </p:txBody>
      </p:sp>
    </p:spTree>
    <p:extLst>
      <p:ext uri="{BB962C8B-B14F-4D97-AF65-F5344CB8AC3E}">
        <p14:creationId xmlns:p14="http://schemas.microsoft.com/office/powerpoint/2010/main" val="4500117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54689-EF57-49A0-A888-9673F94F9E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2AB918-6C86-4DEF-99CE-77D0EEED2172}"/>
              </a:ext>
            </a:extLst>
          </p:cNvPr>
          <p:cNvSpPr>
            <a:spLocks noGrp="1"/>
          </p:cNvSpPr>
          <p:nvPr>
            <p:ph type="title"/>
          </p:nvPr>
        </p:nvSpPr>
        <p:spPr/>
        <p:txBody>
          <a:bodyPr/>
          <a:lstStyle/>
          <a:p>
            <a:r>
              <a:rPr lang="en-IN" dirty="0"/>
              <a:t>Roles in Other Methodologies</a:t>
            </a:r>
          </a:p>
        </p:txBody>
      </p:sp>
      <p:sp>
        <p:nvSpPr>
          <p:cNvPr id="3" name="Content Placeholder 2">
            <a:extLst>
              <a:ext uri="{FF2B5EF4-FFF2-40B4-BE49-F238E27FC236}">
                <a16:creationId xmlns:a16="http://schemas.microsoft.com/office/drawing/2014/main" id="{7BBB7D62-3FB4-F05E-8F16-63DC457C67CE}"/>
              </a:ext>
            </a:extLst>
          </p:cNvPr>
          <p:cNvSpPr>
            <a:spLocks noGrp="1"/>
          </p:cNvSpPr>
          <p:nvPr>
            <p:ph idx="1"/>
          </p:nvPr>
        </p:nvSpPr>
        <p:spPr>
          <a:xfrm>
            <a:off x="266330" y="1020932"/>
            <a:ext cx="8611340" cy="5627518"/>
          </a:xfrm>
        </p:spPr>
        <p:txBody>
          <a:bodyPr>
            <a:normAutofit fontScale="92500" lnSpcReduction="20000"/>
          </a:bodyPr>
          <a:lstStyle/>
          <a:p>
            <a:r>
              <a:rPr lang="en-US" b="1" dirty="0"/>
              <a:t>Agile Coach</a:t>
            </a:r>
          </a:p>
          <a:p>
            <a:r>
              <a:rPr lang="en-US" dirty="0"/>
              <a:t>Large organizations with several Agile teams may want to employ the assistance of an Agile coach, either as a full-time employee or as a consultant. </a:t>
            </a:r>
          </a:p>
          <a:p>
            <a:r>
              <a:rPr lang="en-US" dirty="0"/>
              <a:t>The Agile coach oversees the company’s Agile implementations and makes sure that each team is operating at maximum efficiency. </a:t>
            </a:r>
          </a:p>
          <a:p>
            <a:r>
              <a:rPr lang="en-US" dirty="0"/>
              <a:t>This can be a critical role in ensuring consistency among numerous self-organizing teams. </a:t>
            </a:r>
          </a:p>
          <a:p>
            <a:r>
              <a:rPr lang="en-US"/>
              <a:t>Although </a:t>
            </a:r>
            <a:r>
              <a:rPr lang="en-US" dirty="0"/>
              <a:t>you do not want to remove the autonomy of individual teams, it is worthwhile to have someone with cultural oversight to ensure that Agile principles are being consistently and appropriately applied throughout the organization</a:t>
            </a:r>
            <a:r>
              <a:rPr lang="en-US"/>
              <a:t>. </a:t>
            </a:r>
          </a:p>
          <a:p>
            <a:r>
              <a:rPr lang="en-US"/>
              <a:t>The </a:t>
            </a:r>
            <a:r>
              <a:rPr lang="en-US" dirty="0"/>
              <a:t>Agile coach can also help with training and providing feedback when issues arise.</a:t>
            </a:r>
            <a:endParaRPr lang="en-IN" dirty="0"/>
          </a:p>
        </p:txBody>
      </p:sp>
    </p:spTree>
    <p:extLst>
      <p:ext uri="{BB962C8B-B14F-4D97-AF65-F5344CB8AC3E}">
        <p14:creationId xmlns:p14="http://schemas.microsoft.com/office/powerpoint/2010/main" val="31674712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578</TotalTime>
  <Words>6339</Words>
  <Application>Microsoft Office PowerPoint</Application>
  <PresentationFormat>On-screen Show (4:3)</PresentationFormat>
  <Paragraphs>348</Paragraphs>
  <Slides>56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56</vt:i4>
      </vt:variant>
    </vt:vector>
  </HeadingPairs>
  <TitlesOfParts>
    <vt:vector size="60" baseType="lpstr">
      <vt:lpstr>Arial</vt:lpstr>
      <vt:lpstr>Calibri</vt:lpstr>
      <vt:lpstr>Calibri Light</vt:lpstr>
      <vt:lpstr>Office Theme</vt:lpstr>
      <vt:lpstr>Agile Software Engineering</vt:lpstr>
      <vt:lpstr>PowerPoint Presentation</vt:lpstr>
      <vt:lpstr>Deep Dive into Scrum Roles</vt:lpstr>
      <vt:lpstr>Product Owner</vt:lpstr>
      <vt:lpstr>Product Owner</vt:lpstr>
      <vt:lpstr>Product Owner - Setting the Priorities</vt:lpstr>
      <vt:lpstr>Product Owner - Setting the Priorities</vt:lpstr>
      <vt:lpstr>Product Owner - Setting the Priorities</vt:lpstr>
      <vt:lpstr>Product Owner - Setting the Priorities</vt:lpstr>
      <vt:lpstr>Product Owner - Sprint Results</vt:lpstr>
      <vt:lpstr>Product Owner - Release Management</vt:lpstr>
      <vt:lpstr>Product Owner - Who Is the Product Owner?</vt:lpstr>
      <vt:lpstr>Product Owner - Who Is the Product Owner?</vt:lpstr>
      <vt:lpstr>Product Owner - Who Is the Product Owner?</vt:lpstr>
      <vt:lpstr>Scrum Master</vt:lpstr>
      <vt:lpstr>Scrum Master - Removing Impediments</vt:lpstr>
      <vt:lpstr>Scrum Master - Removing Impediments</vt:lpstr>
      <vt:lpstr>Scrum Master - Removing Impediments</vt:lpstr>
      <vt:lpstr>Scrum Master - Communicator and Liaison</vt:lpstr>
      <vt:lpstr>Scrum Master - Adherence to Scrum Best Practices</vt:lpstr>
      <vt:lpstr>Scrum Master - Adherence to Scrum Best Practices</vt:lpstr>
      <vt:lpstr>Scrum Master - Adherence to Scrum Best Practices</vt:lpstr>
      <vt:lpstr>Who Should Be the Scrum Master?</vt:lpstr>
      <vt:lpstr>Who Should Be the Scrum Master?</vt:lpstr>
      <vt:lpstr>Who Should Be the Scrum Master?</vt:lpstr>
      <vt:lpstr>Who Should Be the Scrum Master?</vt:lpstr>
      <vt:lpstr>Who Should Be the Scrum Master?</vt:lpstr>
      <vt:lpstr>Product Owner + Scrum Master</vt:lpstr>
      <vt:lpstr>The Team</vt:lpstr>
      <vt:lpstr>The Team - Working Agreement</vt:lpstr>
      <vt:lpstr>The Team - Working Agreement</vt:lpstr>
      <vt:lpstr>The Team - Fist of Five</vt:lpstr>
      <vt:lpstr>The Team - Fist of Five</vt:lpstr>
      <vt:lpstr>The Team - Fist of Five</vt:lpstr>
      <vt:lpstr>The Team - Self-Organizing</vt:lpstr>
      <vt:lpstr>The Team - Self-Organizing</vt:lpstr>
      <vt:lpstr>The Team - Self-Organizing</vt:lpstr>
      <vt:lpstr>The Team - Team Size</vt:lpstr>
      <vt:lpstr>The Team - Cross-Functional</vt:lpstr>
      <vt:lpstr>The Team - Chickens and Pigs</vt:lpstr>
      <vt:lpstr>The Team - Chickens and Pigs</vt:lpstr>
      <vt:lpstr>The Team - Chickens and Pigs</vt:lpstr>
      <vt:lpstr>Extended Team Members</vt:lpstr>
      <vt:lpstr>Extended Team Members</vt:lpstr>
      <vt:lpstr>Extended Team Members</vt:lpstr>
      <vt:lpstr>Extended Team Members</vt:lpstr>
      <vt:lpstr>Roles in Other Methodologies</vt:lpstr>
      <vt:lpstr>Roles in Other Methodologies</vt:lpstr>
      <vt:lpstr>Roles in Other Methodologies</vt:lpstr>
      <vt:lpstr>Roles in Other Methodologies</vt:lpstr>
      <vt:lpstr>Roles in Other Methodologies</vt:lpstr>
      <vt:lpstr>Roles in Other Methodologies</vt:lpstr>
      <vt:lpstr>Roles in Other Methodologies</vt:lpstr>
      <vt:lpstr>Roles in Other Methodologies</vt:lpstr>
      <vt:lpstr>Roles in Other Methodologies</vt:lpstr>
      <vt:lpstr>Roles in Other Methodologies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Nitin Uikey</dc:creator>
  <cp:lastModifiedBy>Nitin Uikey</cp:lastModifiedBy>
  <cp:revision>54</cp:revision>
  <dcterms:created xsi:type="dcterms:W3CDTF">2026-01-06T05:40:50Z</dcterms:created>
  <dcterms:modified xsi:type="dcterms:W3CDTF">2026-04-04T11:02:45Z</dcterms:modified>
</cp:coreProperties>
</file>