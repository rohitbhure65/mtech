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18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609990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66330" y="136524"/>
            <a:ext cx="8611340" cy="789613"/>
          </a:xfrm>
        </p:spPr>
        <p:txBody>
          <a:bodyPr/>
          <a:lstStyle>
            <a:lvl1pPr>
              <a:defRPr b="1">
                <a:solidFill>
                  <a:srgbClr val="C00000"/>
                </a:solidFill>
                <a:effectLst>
                  <a:outerShdw blurRad="38100" dist="38100" dir="2700000" algn="tl">
                    <a:srgbClr val="000000">
                      <a:alpha val="43137"/>
                    </a:srgbClr>
                  </a:outerShdw>
                </a:effectLst>
              </a:defRPr>
            </a:lvl1pPr>
          </a:lstStyle>
          <a:p>
            <a:r>
              <a:rPr lang="en-US" dirty="0"/>
              <a:t>Click to edit Master title style</a:t>
            </a:r>
          </a:p>
        </p:txBody>
      </p:sp>
      <p:sp>
        <p:nvSpPr>
          <p:cNvPr id="3" name="Content Placeholder 2"/>
          <p:cNvSpPr>
            <a:spLocks noGrp="1"/>
          </p:cNvSpPr>
          <p:nvPr>
            <p:ph idx="1"/>
          </p:nvPr>
        </p:nvSpPr>
        <p:spPr>
          <a:xfrm>
            <a:off x="266330" y="1020932"/>
            <a:ext cx="8611340" cy="5450889"/>
          </a:xfrm>
        </p:spPr>
        <p:txBody>
          <a:bodyPr/>
          <a:lstStyle>
            <a:lvl1pPr>
              <a:defRPr>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84DFD94-9AF5-4750-A612-64C774B24713}"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cxnSp>
        <p:nvCxnSpPr>
          <p:cNvPr id="8" name="Straight Connector 7">
            <a:extLst>
              <a:ext uri="{FF2B5EF4-FFF2-40B4-BE49-F238E27FC236}">
                <a16:creationId xmlns:a16="http://schemas.microsoft.com/office/drawing/2014/main" id="{224495AD-567D-2ADD-BE5E-6850C77BACB5}"/>
              </a:ext>
            </a:extLst>
          </p:cNvPr>
          <p:cNvCxnSpPr/>
          <p:nvPr userDrawn="1"/>
        </p:nvCxnSpPr>
        <p:spPr>
          <a:xfrm>
            <a:off x="0" y="926137"/>
            <a:ext cx="8877670" cy="0"/>
          </a:xfrm>
          <a:prstGeom prst="line">
            <a:avLst/>
          </a:prstGeom>
          <a:ln w="28575"/>
          <a:effectLst>
            <a:outerShdw blurRad="50800" dist="38100" dir="2700000" algn="tl" rotWithShape="0">
              <a:prstClr val="black">
                <a:alpha val="40000"/>
              </a:prstClr>
            </a:outerShdw>
          </a:effectLst>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9258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DFD94-9AF5-4750-A612-64C774B24713}"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4362140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4DFD94-9AF5-4750-A612-64C774B24713}" type="datetimeFigureOut">
              <a:rPr lang="en-IN" smtClean="0"/>
              <a:t>13-01-2026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776708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4DFD94-9AF5-4750-A612-64C774B24713}" type="datetimeFigureOut">
              <a:rPr lang="en-IN" smtClean="0"/>
              <a:t>13-01-2026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4196799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DFD94-9AF5-4750-A612-64C774B24713}" type="datetimeFigureOut">
              <a:rPr lang="en-IN" smtClean="0"/>
              <a:t>13-01-2026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39460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DFD94-9AF5-4750-A612-64C774B24713}" type="datetimeFigureOut">
              <a:rPr lang="en-IN" smtClean="0"/>
              <a:t>13-01-2026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5603349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13-01-2026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924824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4DFD94-9AF5-4750-A612-64C774B24713}" type="datetimeFigureOut">
              <a:rPr lang="en-IN" smtClean="0"/>
              <a:t>13-01-2026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1128665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2555665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4DFD94-9AF5-4750-A612-64C774B24713}" type="datetimeFigureOut">
              <a:rPr lang="en-IN" smtClean="0"/>
              <a:t>13-01-2026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1F8360-00E8-462F-93F6-51CC5257BC34}" type="slidenum">
              <a:rPr lang="en-IN" smtClean="0"/>
              <a:t>‹#›</a:t>
            </a:fld>
            <a:endParaRPr lang="en-IN"/>
          </a:p>
        </p:txBody>
      </p:sp>
    </p:spTree>
    <p:extLst>
      <p:ext uri="{BB962C8B-B14F-4D97-AF65-F5344CB8AC3E}">
        <p14:creationId xmlns:p14="http://schemas.microsoft.com/office/powerpoint/2010/main" val="614648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DFD94-9AF5-4750-A612-64C774B24713}" type="datetimeFigureOut">
              <a:rPr lang="en-IN" smtClean="0"/>
              <a:t>13-01-2026</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1F8360-00E8-462F-93F6-51CC5257BC34}" type="slidenum">
              <a:rPr lang="en-IN" smtClean="0"/>
              <a:t>‹#›</a:t>
            </a:fld>
            <a:endParaRPr lang="en-IN"/>
          </a:p>
        </p:txBody>
      </p:sp>
    </p:spTree>
    <p:extLst>
      <p:ext uri="{BB962C8B-B14F-4D97-AF65-F5344CB8AC3E}">
        <p14:creationId xmlns:p14="http://schemas.microsoft.com/office/powerpoint/2010/main" val="22838588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000"/>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6B841-2D9F-0D42-9AED-FE29F9246E22}"/>
              </a:ext>
            </a:extLst>
          </p:cNvPr>
          <p:cNvSpPr>
            <a:spLocks noGrp="1"/>
          </p:cNvSpPr>
          <p:nvPr>
            <p:ph type="ctrTitle"/>
          </p:nvPr>
        </p:nvSpPr>
        <p:spPr/>
        <p:txBody>
          <a:bodyPr/>
          <a:lstStyle/>
          <a:p>
            <a:r>
              <a:rPr lang="en-IN" dirty="0"/>
              <a:t>Agile Software Engineering</a:t>
            </a:r>
          </a:p>
        </p:txBody>
      </p:sp>
      <p:sp>
        <p:nvSpPr>
          <p:cNvPr id="3" name="Subtitle 2">
            <a:extLst>
              <a:ext uri="{FF2B5EF4-FFF2-40B4-BE49-F238E27FC236}">
                <a16:creationId xmlns:a16="http://schemas.microsoft.com/office/drawing/2014/main" id="{1A4E7A6A-519E-5A54-9FF4-6F1F5C07C4A4}"/>
              </a:ext>
            </a:extLst>
          </p:cNvPr>
          <p:cNvSpPr>
            <a:spLocks noGrp="1"/>
          </p:cNvSpPr>
          <p:nvPr>
            <p:ph type="subTitle" idx="1"/>
          </p:nvPr>
        </p:nvSpPr>
        <p:spPr/>
        <p:txBody>
          <a:bodyPr>
            <a:normAutofit/>
          </a:bodyPr>
          <a:lstStyle/>
          <a:p>
            <a:r>
              <a:rPr lang="en-US" sz="4800" b="1" dirty="0">
                <a:solidFill>
                  <a:srgbClr val="FF0000"/>
                </a:solidFill>
              </a:rPr>
              <a:t>Organizational Culture</a:t>
            </a:r>
          </a:p>
          <a:p>
            <a:r>
              <a:rPr lang="en-US" sz="4800" b="1" dirty="0">
                <a:solidFill>
                  <a:srgbClr val="FF0000"/>
                </a:solidFill>
              </a:rPr>
              <a:t>Considerations with Agile</a:t>
            </a:r>
            <a:endParaRPr lang="en-IN" sz="4800" b="1" dirty="0">
              <a:solidFill>
                <a:srgbClr val="FF0000"/>
              </a:solidFill>
            </a:endParaRPr>
          </a:p>
        </p:txBody>
      </p:sp>
    </p:spTree>
    <p:extLst>
      <p:ext uri="{BB962C8B-B14F-4D97-AF65-F5344CB8AC3E}">
        <p14:creationId xmlns:p14="http://schemas.microsoft.com/office/powerpoint/2010/main" val="2473625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96CAD-1656-10CC-D360-45D45C5F6B5D}"/>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7F79EFDB-52D5-C0FF-8011-4B150096A9DA}"/>
              </a:ext>
            </a:extLst>
          </p:cNvPr>
          <p:cNvSpPr>
            <a:spLocks noGrp="1"/>
          </p:cNvSpPr>
          <p:nvPr>
            <p:ph idx="1"/>
          </p:nvPr>
        </p:nvSpPr>
        <p:spPr/>
        <p:txBody>
          <a:bodyPr/>
          <a:lstStyle/>
          <a:p>
            <a:r>
              <a:rPr lang="en-US" dirty="0"/>
              <a:t>Moving from Waterfall to Agile requires an organizational culture transformation in most companies. </a:t>
            </a:r>
          </a:p>
          <a:p>
            <a:r>
              <a:rPr lang="en-US" dirty="0"/>
              <a:t>This chapter delves into the impacts as well as examples of both successful and unsuccessful ways to handle the culture change.</a:t>
            </a:r>
          </a:p>
          <a:p>
            <a:r>
              <a:rPr lang="en-US" dirty="0"/>
              <a:t>First, we understand what organizational culture is and how it influences an organization. </a:t>
            </a:r>
          </a:p>
          <a:p>
            <a:r>
              <a:rPr lang="en-US" dirty="0"/>
              <a:t>Then we look through the eyes of three positions in a company to see how Agile changes the way common situations and challenges are addressed.</a:t>
            </a:r>
            <a:endParaRPr lang="en-IN" dirty="0"/>
          </a:p>
        </p:txBody>
      </p:sp>
    </p:spTree>
    <p:extLst>
      <p:ext uri="{BB962C8B-B14F-4D97-AF65-F5344CB8AC3E}">
        <p14:creationId xmlns:p14="http://schemas.microsoft.com/office/powerpoint/2010/main" val="3440939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8A86C-01D2-B0D8-95D0-96D52DCCD85D}"/>
              </a:ext>
            </a:extLst>
          </p:cNvPr>
          <p:cNvSpPr>
            <a:spLocks noGrp="1"/>
          </p:cNvSpPr>
          <p:nvPr>
            <p:ph type="title"/>
          </p:nvPr>
        </p:nvSpPr>
        <p:spPr/>
        <p:txBody>
          <a:bodyPr>
            <a:noAutofit/>
          </a:bodyPr>
          <a:lstStyle/>
          <a:p>
            <a:r>
              <a:rPr lang="en-US" sz="2800" dirty="0"/>
              <a:t>What Is Organizational Culture, and Why Does It Matter?</a:t>
            </a:r>
            <a:endParaRPr lang="en-IN" sz="2800" dirty="0"/>
          </a:p>
        </p:txBody>
      </p:sp>
      <p:sp>
        <p:nvSpPr>
          <p:cNvPr id="3" name="Content Placeholder 2">
            <a:extLst>
              <a:ext uri="{FF2B5EF4-FFF2-40B4-BE49-F238E27FC236}">
                <a16:creationId xmlns:a16="http://schemas.microsoft.com/office/drawing/2014/main" id="{AD301108-1317-AB1E-A30C-379E8A9C0C34}"/>
              </a:ext>
            </a:extLst>
          </p:cNvPr>
          <p:cNvSpPr>
            <a:spLocks noGrp="1"/>
          </p:cNvSpPr>
          <p:nvPr>
            <p:ph idx="1"/>
          </p:nvPr>
        </p:nvSpPr>
        <p:spPr/>
        <p:txBody>
          <a:bodyPr/>
          <a:lstStyle/>
          <a:p>
            <a:r>
              <a:rPr lang="en-US" dirty="0"/>
              <a:t>According to Philip Atkinson, corporate culture “is the infrastructure, the glue that binds together </a:t>
            </a:r>
            <a:r>
              <a:rPr lang="en-US" b="1" dirty="0"/>
              <a:t>people</a:t>
            </a:r>
            <a:r>
              <a:rPr lang="en-US" dirty="0"/>
              <a:t> and </a:t>
            </a:r>
            <a:r>
              <a:rPr lang="en-US" b="1" dirty="0"/>
              <a:t>processes</a:t>
            </a:r>
            <a:r>
              <a:rPr lang="en-US" dirty="0"/>
              <a:t> to generate results . . . The culture should become the major force that propels the organization onward” (Atkinson 2012).</a:t>
            </a:r>
          </a:p>
          <a:p>
            <a:r>
              <a:rPr lang="en-US" dirty="0"/>
              <a:t>How important is the organizational culture in a company’s ability to adopt Agile? </a:t>
            </a:r>
            <a:r>
              <a:rPr lang="en-US" dirty="0">
                <a:solidFill>
                  <a:srgbClr val="FF0000"/>
                </a:solidFill>
              </a:rPr>
              <a:t>Critical. </a:t>
            </a:r>
          </a:p>
          <a:p>
            <a:r>
              <a:rPr lang="en-US" dirty="0"/>
              <a:t>In fact, in the VersionOne annual survey of “The State of Agile Development,” they found that culture change is the primary barrier to further Agile adoption at companies (VersionOne 2013, p. 9).</a:t>
            </a:r>
            <a:endParaRPr lang="en-IN" dirty="0"/>
          </a:p>
        </p:txBody>
      </p:sp>
    </p:spTree>
    <p:extLst>
      <p:ext uri="{BB962C8B-B14F-4D97-AF65-F5344CB8AC3E}">
        <p14:creationId xmlns:p14="http://schemas.microsoft.com/office/powerpoint/2010/main" val="2471519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AEB4B-9FF0-C616-AFE8-2AFE5C6C4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D647D-B4F2-708E-A3AE-98C8FB255778}"/>
              </a:ext>
            </a:extLst>
          </p:cNvPr>
          <p:cNvSpPr>
            <a:spLocks noGrp="1"/>
          </p:cNvSpPr>
          <p:nvPr>
            <p:ph type="title"/>
          </p:nvPr>
        </p:nvSpPr>
        <p:spPr/>
        <p:txBody>
          <a:bodyPr>
            <a:noAutofit/>
          </a:bodyPr>
          <a:lstStyle/>
          <a:p>
            <a:r>
              <a:rPr lang="en-US" sz="2800" dirty="0"/>
              <a:t>What Is Organizational Culture, and Why Does It Matter?</a:t>
            </a:r>
            <a:endParaRPr lang="en-IN" sz="2800" dirty="0"/>
          </a:p>
        </p:txBody>
      </p:sp>
      <p:sp>
        <p:nvSpPr>
          <p:cNvPr id="3" name="Content Placeholder 2">
            <a:extLst>
              <a:ext uri="{FF2B5EF4-FFF2-40B4-BE49-F238E27FC236}">
                <a16:creationId xmlns:a16="http://schemas.microsoft.com/office/drawing/2014/main" id="{3E128822-FF98-97C0-3CC9-348303908AE8}"/>
              </a:ext>
            </a:extLst>
          </p:cNvPr>
          <p:cNvSpPr>
            <a:spLocks noGrp="1"/>
          </p:cNvSpPr>
          <p:nvPr>
            <p:ph idx="1"/>
          </p:nvPr>
        </p:nvSpPr>
        <p:spPr/>
        <p:txBody>
          <a:bodyPr/>
          <a:lstStyle/>
          <a:p>
            <a:r>
              <a:rPr lang="en-US" dirty="0"/>
              <a:t>Why is it so hard to change a culture? </a:t>
            </a:r>
          </a:p>
          <a:p>
            <a:r>
              <a:rPr lang="en-US" dirty="0"/>
              <a:t>An organization’s culture was not built overnight; it is the accumulation of years of interactions and experiences that have formed into a belief system of how work progresses and how decisions are made. </a:t>
            </a:r>
          </a:p>
          <a:p>
            <a:r>
              <a:rPr lang="en-US" dirty="0"/>
              <a:t>To shift the culture, one must create new experiences and reward those who dare to embrace the new and unfamiliar.</a:t>
            </a:r>
          </a:p>
          <a:p>
            <a:r>
              <a:rPr lang="en-US" dirty="0"/>
              <a:t>The organization must be prepared to examine its old practices with a critical eye and try a new way of doing </a:t>
            </a:r>
            <a:r>
              <a:rPr lang="en-IN" dirty="0"/>
              <a:t>things.</a:t>
            </a:r>
          </a:p>
        </p:txBody>
      </p:sp>
    </p:spTree>
    <p:extLst>
      <p:ext uri="{BB962C8B-B14F-4D97-AF65-F5344CB8AC3E}">
        <p14:creationId xmlns:p14="http://schemas.microsoft.com/office/powerpoint/2010/main" val="589577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4BB02-EEB1-A5A5-9568-AB0C029CC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C5D84-25B3-22FD-1E16-55545F53533B}"/>
              </a:ext>
            </a:extLst>
          </p:cNvPr>
          <p:cNvSpPr>
            <a:spLocks noGrp="1"/>
          </p:cNvSpPr>
          <p:nvPr>
            <p:ph type="title"/>
          </p:nvPr>
        </p:nvSpPr>
        <p:spPr/>
        <p:txBody>
          <a:bodyPr>
            <a:noAutofit/>
          </a:bodyPr>
          <a:lstStyle/>
          <a:p>
            <a:r>
              <a:rPr lang="en-US" sz="2800" dirty="0"/>
              <a:t>What Is Organizational Culture, and Why Does It Matter?</a:t>
            </a:r>
            <a:endParaRPr lang="en-IN" sz="2800" dirty="0"/>
          </a:p>
        </p:txBody>
      </p:sp>
      <p:sp>
        <p:nvSpPr>
          <p:cNvPr id="3" name="Content Placeholder 2">
            <a:extLst>
              <a:ext uri="{FF2B5EF4-FFF2-40B4-BE49-F238E27FC236}">
                <a16:creationId xmlns:a16="http://schemas.microsoft.com/office/drawing/2014/main" id="{B0BB145D-6585-5C13-B67D-AAE092064A1D}"/>
              </a:ext>
            </a:extLst>
          </p:cNvPr>
          <p:cNvSpPr>
            <a:spLocks noGrp="1"/>
          </p:cNvSpPr>
          <p:nvPr>
            <p:ph idx="1"/>
          </p:nvPr>
        </p:nvSpPr>
        <p:spPr/>
        <p:txBody>
          <a:bodyPr/>
          <a:lstStyle/>
          <a:p>
            <a:r>
              <a:rPr lang="en-US" dirty="0"/>
              <a:t>When the new experiences are difficult or uncomfortable, it is common to revert to old habits. </a:t>
            </a:r>
          </a:p>
          <a:p>
            <a:r>
              <a:rPr lang="en-US" dirty="0"/>
              <a:t>Driving true culture change, which Agile requires, needs commitment and nurturing from all levels of the organization.</a:t>
            </a:r>
          </a:p>
          <a:p>
            <a:endParaRPr lang="en-US" dirty="0"/>
          </a:p>
          <a:p>
            <a:r>
              <a:rPr lang="en-US" dirty="0"/>
              <a:t>General Perception of Change:</a:t>
            </a:r>
          </a:p>
          <a:p>
            <a:r>
              <a:rPr lang="en-US" dirty="0"/>
              <a:t>Kya </a:t>
            </a:r>
            <a:r>
              <a:rPr lang="en-US" dirty="0" err="1"/>
              <a:t>zaroorat</a:t>
            </a:r>
            <a:r>
              <a:rPr lang="en-US" dirty="0"/>
              <a:t> </a:t>
            </a:r>
            <a:r>
              <a:rPr lang="en-US" dirty="0" err="1"/>
              <a:t>hai</a:t>
            </a:r>
            <a:endParaRPr lang="en-US" dirty="0"/>
          </a:p>
          <a:p>
            <a:r>
              <a:rPr lang="en-US" dirty="0" err="1"/>
              <a:t>Chalta</a:t>
            </a:r>
            <a:r>
              <a:rPr lang="en-US" dirty="0"/>
              <a:t> </a:t>
            </a:r>
            <a:r>
              <a:rPr lang="en-US" dirty="0" err="1"/>
              <a:t>hai</a:t>
            </a:r>
            <a:endParaRPr lang="en-US" dirty="0"/>
          </a:p>
          <a:p>
            <a:r>
              <a:rPr lang="en-US" dirty="0"/>
              <a:t>Sahi to </a:t>
            </a:r>
            <a:r>
              <a:rPr lang="en-US" dirty="0" err="1"/>
              <a:t>chal</a:t>
            </a:r>
            <a:r>
              <a:rPr lang="en-US" dirty="0"/>
              <a:t> </a:t>
            </a:r>
            <a:r>
              <a:rPr lang="en-US" dirty="0" err="1"/>
              <a:t>raha</a:t>
            </a:r>
            <a:r>
              <a:rPr lang="en-US" dirty="0"/>
              <a:t> </a:t>
            </a:r>
            <a:r>
              <a:rPr lang="en-US" dirty="0" err="1"/>
              <a:t>hai</a:t>
            </a:r>
            <a:endParaRPr lang="en-US" dirty="0"/>
          </a:p>
          <a:p>
            <a:r>
              <a:rPr lang="en-US" dirty="0" err="1"/>
              <a:t>Itne</a:t>
            </a:r>
            <a:r>
              <a:rPr lang="en-US" dirty="0"/>
              <a:t> </a:t>
            </a:r>
            <a:r>
              <a:rPr lang="en-US" dirty="0" err="1"/>
              <a:t>saal</a:t>
            </a:r>
            <a:r>
              <a:rPr lang="en-US" dirty="0"/>
              <a:t> se </a:t>
            </a:r>
            <a:r>
              <a:rPr lang="en-US" dirty="0" err="1"/>
              <a:t>chala</a:t>
            </a:r>
            <a:r>
              <a:rPr lang="en-US" dirty="0"/>
              <a:t> to </a:t>
            </a:r>
            <a:r>
              <a:rPr lang="en-US" dirty="0" err="1"/>
              <a:t>rahe</a:t>
            </a:r>
            <a:r>
              <a:rPr lang="en-US" dirty="0"/>
              <a:t> </a:t>
            </a:r>
            <a:r>
              <a:rPr lang="en-US" dirty="0" err="1"/>
              <a:t>hai</a:t>
            </a:r>
            <a:r>
              <a:rPr lang="en-US" dirty="0"/>
              <a:t>.</a:t>
            </a:r>
            <a:endParaRPr lang="en-IN" dirty="0"/>
          </a:p>
        </p:txBody>
      </p:sp>
    </p:spTree>
    <p:extLst>
      <p:ext uri="{BB962C8B-B14F-4D97-AF65-F5344CB8AC3E}">
        <p14:creationId xmlns:p14="http://schemas.microsoft.com/office/powerpoint/2010/main" val="1924301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C3C10-222F-E260-310C-9C2C52C3A6BB}"/>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58C3B1C1-EC12-6DD7-84D4-CA880FA44315}"/>
              </a:ext>
            </a:extLst>
          </p:cNvPr>
          <p:cNvSpPr>
            <a:spLocks noGrp="1"/>
          </p:cNvSpPr>
          <p:nvPr>
            <p:ph idx="1"/>
          </p:nvPr>
        </p:nvSpPr>
        <p:spPr/>
        <p:txBody>
          <a:bodyPr>
            <a:normAutofit/>
          </a:bodyPr>
          <a:lstStyle/>
          <a:p>
            <a:r>
              <a:rPr lang="en-US" dirty="0"/>
              <a:t>The first perspective we want to explore concerns the individual team members that are being placed on an Agile team. </a:t>
            </a:r>
          </a:p>
          <a:p>
            <a:r>
              <a:rPr lang="en-US" dirty="0"/>
              <a:t>These people are typically in development and quality assurance (QA) roles but could include others in the organization.</a:t>
            </a:r>
          </a:p>
          <a:p>
            <a:r>
              <a:rPr lang="en-US" dirty="0"/>
              <a:t>The team role is described in detail in Chapter 4, “Describing the Different Roles.” Why would team members want to embrace Agile for their projects?</a:t>
            </a:r>
          </a:p>
          <a:p>
            <a:r>
              <a:rPr lang="en-US" dirty="0"/>
              <a:t>Several key principles within Agile are highly desirable to most individual team members.</a:t>
            </a:r>
            <a:endParaRPr lang="en-IN" dirty="0"/>
          </a:p>
        </p:txBody>
      </p:sp>
    </p:spTree>
    <p:extLst>
      <p:ext uri="{BB962C8B-B14F-4D97-AF65-F5344CB8AC3E}">
        <p14:creationId xmlns:p14="http://schemas.microsoft.com/office/powerpoint/2010/main" val="16361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387EB-0A72-F1DA-64D0-729A732FD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B6F74-2850-7B94-5978-67D640B9D5FD}"/>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BBA59D3B-7A47-C854-513C-DF2F8D57F68B}"/>
              </a:ext>
            </a:extLst>
          </p:cNvPr>
          <p:cNvSpPr>
            <a:spLocks noGrp="1"/>
          </p:cNvSpPr>
          <p:nvPr>
            <p:ph idx="1"/>
          </p:nvPr>
        </p:nvSpPr>
        <p:spPr/>
        <p:txBody>
          <a:bodyPr>
            <a:normAutofit/>
          </a:bodyPr>
          <a:lstStyle/>
          <a:p>
            <a:r>
              <a:rPr lang="en-US" dirty="0"/>
              <a:t>What Is Different?</a:t>
            </a:r>
          </a:p>
          <a:p>
            <a:r>
              <a:rPr lang="en-US" dirty="0"/>
              <a:t>To understand the benefits and cultural impacts of Agile, first we should explore what is actually different with the Agile practices and the typical work environments of pre-Agile organizations.</a:t>
            </a:r>
            <a:endParaRPr lang="en-IN" dirty="0"/>
          </a:p>
        </p:txBody>
      </p:sp>
    </p:spTree>
    <p:extLst>
      <p:ext uri="{BB962C8B-B14F-4D97-AF65-F5344CB8AC3E}">
        <p14:creationId xmlns:p14="http://schemas.microsoft.com/office/powerpoint/2010/main" val="3264112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1ACC4-2F9F-8504-8E2B-C7BDFE99D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D3CC4-2A4D-56CA-7572-64C568DB5873}"/>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C9A018FC-1E17-337C-918F-E1B81A048D41}"/>
              </a:ext>
            </a:extLst>
          </p:cNvPr>
          <p:cNvSpPr>
            <a:spLocks noGrp="1"/>
          </p:cNvSpPr>
          <p:nvPr>
            <p:ph idx="1"/>
          </p:nvPr>
        </p:nvSpPr>
        <p:spPr/>
        <p:txBody>
          <a:bodyPr>
            <a:normAutofit/>
          </a:bodyPr>
          <a:lstStyle/>
          <a:p>
            <a:r>
              <a:rPr lang="en-IN" b="1" i="1" dirty="0"/>
              <a:t>Self-Organizing Teams</a:t>
            </a:r>
          </a:p>
          <a:p>
            <a:r>
              <a:rPr lang="en-US" dirty="0"/>
              <a:t>Agile advocates for self-organizing teams, which is a big change for many organizations. </a:t>
            </a:r>
          </a:p>
          <a:p>
            <a:r>
              <a:rPr lang="en-US" dirty="0"/>
              <a:t>Many workplaces hire individuals to work on a specific thing, and even though they are part of an organizational structure, they really act alone. </a:t>
            </a:r>
          </a:p>
          <a:p>
            <a:r>
              <a:rPr lang="en-US" dirty="0"/>
              <a:t>They are responsible for their own work, and their performance is measured based on their individual achievements.</a:t>
            </a:r>
            <a:endParaRPr lang="en-IN" dirty="0"/>
          </a:p>
        </p:txBody>
      </p:sp>
    </p:spTree>
    <p:extLst>
      <p:ext uri="{BB962C8B-B14F-4D97-AF65-F5344CB8AC3E}">
        <p14:creationId xmlns:p14="http://schemas.microsoft.com/office/powerpoint/2010/main" val="851487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6E64-6621-4BDE-0DEC-CB600B477E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51BFE2-A592-C4D8-DA40-FB337377DC58}"/>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59B5E6EE-9E3D-C760-0666-99FD2EDEDF3B}"/>
              </a:ext>
            </a:extLst>
          </p:cNvPr>
          <p:cNvSpPr>
            <a:spLocks noGrp="1"/>
          </p:cNvSpPr>
          <p:nvPr>
            <p:ph idx="1"/>
          </p:nvPr>
        </p:nvSpPr>
        <p:spPr/>
        <p:txBody>
          <a:bodyPr>
            <a:normAutofit/>
          </a:bodyPr>
          <a:lstStyle/>
          <a:p>
            <a:r>
              <a:rPr lang="en-IN" b="1" i="1" dirty="0"/>
              <a:t>Self-Organizing Teams: </a:t>
            </a:r>
            <a:r>
              <a:rPr lang="en-US" dirty="0"/>
              <a:t>That all changes with Agile:</a:t>
            </a:r>
          </a:p>
          <a:p>
            <a:r>
              <a:rPr lang="en-US" dirty="0"/>
              <a:t>Employees come together as a team—not just a set of individuals—and they establish themselves as an entity. </a:t>
            </a:r>
          </a:p>
          <a:p>
            <a:r>
              <a:rPr lang="en-US" dirty="0"/>
              <a:t>They become a group of people driving toward a common goal.</a:t>
            </a:r>
          </a:p>
          <a:p>
            <a:r>
              <a:rPr lang="en-US" dirty="0"/>
              <a:t>One of the first manifestations of this newly created team takes the form of a working agreement, described in Chapter 4. </a:t>
            </a:r>
          </a:p>
          <a:p>
            <a:r>
              <a:rPr lang="en-US" dirty="0"/>
              <a:t>The team gets to establish their own norms and rules of engagement without management oversight; this offers developers and testers a great deal of autonomy that may not have existed before Agile.</a:t>
            </a:r>
            <a:endParaRPr lang="en-IN" dirty="0"/>
          </a:p>
        </p:txBody>
      </p:sp>
    </p:spTree>
    <p:extLst>
      <p:ext uri="{BB962C8B-B14F-4D97-AF65-F5344CB8AC3E}">
        <p14:creationId xmlns:p14="http://schemas.microsoft.com/office/powerpoint/2010/main" val="1416527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6A533-47F5-3DD9-ABAB-C23EC28BC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4C303A-38E7-6F15-BD55-B61D105AD758}"/>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157B51AF-94BB-00AC-8FF8-94567067ACF5}"/>
              </a:ext>
            </a:extLst>
          </p:cNvPr>
          <p:cNvSpPr>
            <a:spLocks noGrp="1"/>
          </p:cNvSpPr>
          <p:nvPr>
            <p:ph idx="1"/>
          </p:nvPr>
        </p:nvSpPr>
        <p:spPr/>
        <p:txBody>
          <a:bodyPr>
            <a:normAutofit/>
          </a:bodyPr>
          <a:lstStyle/>
          <a:p>
            <a:r>
              <a:rPr lang="en-IN" b="1" i="1" dirty="0"/>
              <a:t>Self-Organizing Teams: </a:t>
            </a:r>
            <a:r>
              <a:rPr lang="en-US" dirty="0"/>
              <a:t>That all changes with Agile:</a:t>
            </a:r>
          </a:p>
          <a:p>
            <a:r>
              <a:rPr lang="en-US" dirty="0"/>
              <a:t>Another desirable outcome of self-organizing teams is that the team members get to actually select the tasks they want to work on during the iteration.</a:t>
            </a:r>
          </a:p>
          <a:p>
            <a:r>
              <a:rPr lang="en-US" dirty="0"/>
              <a:t>Before Agile, many organizations distributed work from the manager to the developer, without the developer getting much say at all on the assigned tasks.</a:t>
            </a:r>
          </a:p>
          <a:p>
            <a:r>
              <a:rPr lang="en-US" dirty="0"/>
              <a:t>The pre-Agile assumption was that managers understood the work and how best to deliver it, so they would assign the necessary tasks to individual developers who would execute on their task.</a:t>
            </a:r>
            <a:endParaRPr lang="en-IN" dirty="0"/>
          </a:p>
        </p:txBody>
      </p:sp>
    </p:spTree>
    <p:extLst>
      <p:ext uri="{BB962C8B-B14F-4D97-AF65-F5344CB8AC3E}">
        <p14:creationId xmlns:p14="http://schemas.microsoft.com/office/powerpoint/2010/main" val="3544215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E6209-517D-AE5C-0B30-F60422DB2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6BC16-54D0-6911-6E45-75DF553C321E}"/>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FF575A21-BE62-67B8-CDD1-6F931F5BAEFB}"/>
              </a:ext>
            </a:extLst>
          </p:cNvPr>
          <p:cNvSpPr>
            <a:spLocks noGrp="1"/>
          </p:cNvSpPr>
          <p:nvPr>
            <p:ph idx="1"/>
          </p:nvPr>
        </p:nvSpPr>
        <p:spPr/>
        <p:txBody>
          <a:bodyPr>
            <a:normAutofit/>
          </a:bodyPr>
          <a:lstStyle/>
          <a:p>
            <a:r>
              <a:rPr lang="en-IN" b="1" i="1" dirty="0"/>
              <a:t>Self-Organizing Teams: </a:t>
            </a:r>
            <a:r>
              <a:rPr lang="en-US" dirty="0"/>
              <a:t>That all changes with Agile:</a:t>
            </a:r>
          </a:p>
          <a:p>
            <a:r>
              <a:rPr lang="en-US" dirty="0"/>
              <a:t>There is a high cost of missed opportunities with this method that Agile addresses: </a:t>
            </a:r>
          </a:p>
          <a:p>
            <a:r>
              <a:rPr lang="en-US" dirty="0"/>
              <a:t>The developers might have a better solution for the business problem, and Agile gives them the opportunity to voice their suggestions and alternatives. </a:t>
            </a:r>
          </a:p>
          <a:p>
            <a:r>
              <a:rPr lang="en-US" dirty="0"/>
              <a:t>Also, developers may have skills in a variety of areas, and to be assigned tasks by someone else does not allow them to choose to work on different items.</a:t>
            </a:r>
            <a:endParaRPr lang="en-IN" dirty="0"/>
          </a:p>
        </p:txBody>
      </p:sp>
    </p:spTree>
    <p:extLst>
      <p:ext uri="{BB962C8B-B14F-4D97-AF65-F5344CB8AC3E}">
        <p14:creationId xmlns:p14="http://schemas.microsoft.com/office/powerpoint/2010/main" val="24966019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BD0B2-75C7-4103-7323-5D43B1145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75B77-E2DA-0AE6-0FD1-CF85D1DF2F93}"/>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3032D542-5E67-8057-0CB3-EAD4C9A267C4}"/>
              </a:ext>
            </a:extLst>
          </p:cNvPr>
          <p:cNvSpPr>
            <a:spLocks noGrp="1"/>
          </p:cNvSpPr>
          <p:nvPr>
            <p:ph idx="1"/>
          </p:nvPr>
        </p:nvSpPr>
        <p:spPr/>
        <p:txBody>
          <a:bodyPr>
            <a:normAutofit/>
          </a:bodyPr>
          <a:lstStyle/>
          <a:p>
            <a:r>
              <a:rPr lang="en-IN" b="1" i="1" dirty="0"/>
              <a:t>Continuous Improvement</a:t>
            </a:r>
          </a:p>
          <a:p>
            <a:r>
              <a:rPr lang="en-US" dirty="0"/>
              <a:t>Within Agile, each team member is responsible for ensuring that problems from a past or current iteration are not carried into the next one; </a:t>
            </a:r>
          </a:p>
          <a:p>
            <a:r>
              <a:rPr lang="en-US" dirty="0"/>
              <a:t>this creates a higher level of engagement from employees, because they have to determine how best to solve any problems or issues existing within the team. </a:t>
            </a:r>
          </a:p>
          <a:p>
            <a:r>
              <a:rPr lang="en-US" dirty="0"/>
              <a:t>This type of continuous improvement applies not just to their code and the products they produce but also to their sense of teamwork.</a:t>
            </a:r>
            <a:endParaRPr lang="en-IN" dirty="0"/>
          </a:p>
        </p:txBody>
      </p:sp>
    </p:spTree>
    <p:extLst>
      <p:ext uri="{BB962C8B-B14F-4D97-AF65-F5344CB8AC3E}">
        <p14:creationId xmlns:p14="http://schemas.microsoft.com/office/powerpoint/2010/main" val="3762121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F93CE-70CF-2124-1AAA-65F012BD9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A05AD-7D4F-20DA-6598-0C6D16C94F34}"/>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FEEA20F4-E5B4-2DE1-A231-14B4F48C8A72}"/>
              </a:ext>
            </a:extLst>
          </p:cNvPr>
          <p:cNvSpPr>
            <a:spLocks noGrp="1"/>
          </p:cNvSpPr>
          <p:nvPr>
            <p:ph idx="1"/>
          </p:nvPr>
        </p:nvSpPr>
        <p:spPr/>
        <p:txBody>
          <a:bodyPr>
            <a:normAutofit/>
          </a:bodyPr>
          <a:lstStyle/>
          <a:p>
            <a:r>
              <a:rPr lang="en-IN" b="1" i="1" dirty="0"/>
              <a:t>Continuous Improvement</a:t>
            </a:r>
          </a:p>
          <a:p>
            <a:r>
              <a:rPr lang="en-US" dirty="0"/>
              <a:t>The reason why this is a compelling difference from other methodologies is because individuals are no longer waiting to have their problems solved for them—they are actively engaged in the solutions. </a:t>
            </a:r>
          </a:p>
          <a:p>
            <a:r>
              <a:rPr lang="en-US" dirty="0"/>
              <a:t>In the past, a developer or tester might have relied on the manager or someone else in the organization to resolve issues, improve processes, and relay information. </a:t>
            </a:r>
          </a:p>
          <a:p>
            <a:r>
              <a:rPr lang="en-US" dirty="0"/>
              <a:t>Within Agile, the teams are empowered and encouraged to seek out answers and improvements on their own.</a:t>
            </a:r>
            <a:endParaRPr lang="en-IN" dirty="0"/>
          </a:p>
        </p:txBody>
      </p:sp>
    </p:spTree>
    <p:extLst>
      <p:ext uri="{BB962C8B-B14F-4D97-AF65-F5344CB8AC3E}">
        <p14:creationId xmlns:p14="http://schemas.microsoft.com/office/powerpoint/2010/main" val="1606204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39EB5-8FD7-9FD3-14C0-9A59781CA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B76D7-E83A-AFC9-16A5-F9AC4483E209}"/>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709F6B67-3E87-6EDB-DF3C-656925B14173}"/>
              </a:ext>
            </a:extLst>
          </p:cNvPr>
          <p:cNvSpPr>
            <a:spLocks noGrp="1"/>
          </p:cNvSpPr>
          <p:nvPr>
            <p:ph idx="1"/>
          </p:nvPr>
        </p:nvSpPr>
        <p:spPr/>
        <p:txBody>
          <a:bodyPr>
            <a:normAutofit/>
          </a:bodyPr>
          <a:lstStyle/>
          <a:p>
            <a:r>
              <a:rPr lang="en-IN" b="1" i="1" dirty="0"/>
              <a:t>Frequent Delivery</a:t>
            </a:r>
          </a:p>
          <a:p>
            <a:r>
              <a:rPr lang="en-US" dirty="0"/>
              <a:t>When developers move into Agile teams, they may experience a profound shift with the expectations of working software and frequent delivery. </a:t>
            </a:r>
          </a:p>
          <a:p>
            <a:r>
              <a:rPr lang="en-US" dirty="0"/>
              <a:t>In many pre-Agile organizations, developers and testers could work on a project for months and months with very little feedback. </a:t>
            </a:r>
          </a:p>
          <a:p>
            <a:r>
              <a:rPr lang="en-US" dirty="0"/>
              <a:t>This is no longer true in an Agile workplace: </a:t>
            </a:r>
          </a:p>
          <a:p>
            <a:r>
              <a:rPr lang="en-US" dirty="0"/>
              <a:t>Teams are asked to deliver tested code very quickly so that stakeholders can review progress and make adjustments if necessary.</a:t>
            </a:r>
            <a:endParaRPr lang="en-IN" dirty="0"/>
          </a:p>
        </p:txBody>
      </p:sp>
    </p:spTree>
    <p:extLst>
      <p:ext uri="{BB962C8B-B14F-4D97-AF65-F5344CB8AC3E}">
        <p14:creationId xmlns:p14="http://schemas.microsoft.com/office/powerpoint/2010/main" val="2792203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C39F1-9EEA-F7DB-2B47-B85B1C648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AA8DD-4A86-89A0-69B6-B91F39CA7ED7}"/>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6FE2AFBA-5AB8-F57E-D4FF-28E9E8AF8364}"/>
              </a:ext>
            </a:extLst>
          </p:cNvPr>
          <p:cNvSpPr>
            <a:spLocks noGrp="1"/>
          </p:cNvSpPr>
          <p:nvPr>
            <p:ph idx="1"/>
          </p:nvPr>
        </p:nvSpPr>
        <p:spPr/>
        <p:txBody>
          <a:bodyPr>
            <a:normAutofit/>
          </a:bodyPr>
          <a:lstStyle/>
          <a:p>
            <a:r>
              <a:rPr lang="en-IN" b="1" i="1" dirty="0"/>
              <a:t>Frequent Delivery</a:t>
            </a:r>
          </a:p>
          <a:p>
            <a:r>
              <a:rPr lang="en-US" dirty="0"/>
              <a:t>Obtaining feedback is critical to an organization’s ability to course-correct if something is not quite right or does not meet the needs of the customer. </a:t>
            </a:r>
          </a:p>
          <a:p>
            <a:r>
              <a:rPr lang="en-US" dirty="0"/>
              <a:t>Within Waterfall, because working software was not delivered at regular intervals but rather as a “big bang” after months or years of development, gathering this type of interim feedback was difficult. </a:t>
            </a:r>
          </a:p>
          <a:p>
            <a:r>
              <a:rPr lang="en-US" dirty="0"/>
              <a:t>Becoming comfortable with frequent delivery is important for developers and testers because they must truly desire the feedback and be willing to act on it.</a:t>
            </a:r>
            <a:endParaRPr lang="en-IN" dirty="0"/>
          </a:p>
        </p:txBody>
      </p:sp>
    </p:spTree>
    <p:extLst>
      <p:ext uri="{BB962C8B-B14F-4D97-AF65-F5344CB8AC3E}">
        <p14:creationId xmlns:p14="http://schemas.microsoft.com/office/powerpoint/2010/main" val="3862495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06469-E7C3-6084-B838-4C19B9EC5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30E0E-A2BA-8222-2768-878F5995C9A2}"/>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459E319F-183E-39C9-3F62-8D467A1721AA}"/>
              </a:ext>
            </a:extLst>
          </p:cNvPr>
          <p:cNvSpPr>
            <a:spLocks noGrp="1"/>
          </p:cNvSpPr>
          <p:nvPr>
            <p:ph idx="1"/>
          </p:nvPr>
        </p:nvSpPr>
        <p:spPr/>
        <p:txBody>
          <a:bodyPr>
            <a:normAutofit/>
          </a:bodyPr>
          <a:lstStyle/>
          <a:p>
            <a:r>
              <a:rPr lang="en-US" b="1" i="1" dirty="0"/>
              <a:t>Removing the “Us versus Them” Scenarios</a:t>
            </a:r>
          </a:p>
          <a:p>
            <a:r>
              <a:rPr lang="en-US" dirty="0"/>
              <a:t>In a pre-Agile world, some development teams handed off their code to a testing group, where the QA activities took place; </a:t>
            </a:r>
          </a:p>
          <a:p>
            <a:r>
              <a:rPr lang="en-US" dirty="0"/>
              <a:t>this handoff frequently created an “us versus them” environment, </a:t>
            </a:r>
          </a:p>
          <a:p>
            <a:r>
              <a:rPr lang="en-US" dirty="0"/>
              <a:t>where the developers could criticize the testers based on the types and quality of tests they were running, and the testers could lament the poorly written code that they were expected to debug.</a:t>
            </a:r>
            <a:endParaRPr lang="en-IN" dirty="0"/>
          </a:p>
        </p:txBody>
      </p:sp>
    </p:spTree>
    <p:extLst>
      <p:ext uri="{BB962C8B-B14F-4D97-AF65-F5344CB8AC3E}">
        <p14:creationId xmlns:p14="http://schemas.microsoft.com/office/powerpoint/2010/main" val="3536918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C4976-2A0B-897A-3ED3-6B4F49210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85952-7040-2EF1-19F0-8F0DBDBEC192}"/>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02830DBB-C122-2378-F322-7F87B2317A91}"/>
              </a:ext>
            </a:extLst>
          </p:cNvPr>
          <p:cNvSpPr>
            <a:spLocks noGrp="1"/>
          </p:cNvSpPr>
          <p:nvPr>
            <p:ph idx="1"/>
          </p:nvPr>
        </p:nvSpPr>
        <p:spPr/>
        <p:txBody>
          <a:bodyPr>
            <a:normAutofit/>
          </a:bodyPr>
          <a:lstStyle/>
          <a:p>
            <a:r>
              <a:rPr lang="en-US" b="1" i="1" dirty="0"/>
              <a:t>Removing the “Us versus Them” Scenarios</a:t>
            </a:r>
          </a:p>
          <a:p>
            <a:r>
              <a:rPr lang="en-US" dirty="0"/>
              <a:t>By changing the definition of “done”—a concept described in detail in Chapter 6,</a:t>
            </a:r>
          </a:p>
          <a:p>
            <a:r>
              <a:rPr lang="en-US" dirty="0"/>
              <a:t>“Grooming and Planning”—to include testing, the team has a new appreciation for the testing effort. </a:t>
            </a:r>
          </a:p>
          <a:p>
            <a:r>
              <a:rPr lang="en-US" dirty="0"/>
              <a:t>Developers are now collaborating with their testing teammates to create the highest quality software. </a:t>
            </a:r>
          </a:p>
          <a:p>
            <a:r>
              <a:rPr lang="en-US" dirty="0"/>
              <a:t>If an iteration cannot be completed on time because of testing problems, the entire team is responsible.</a:t>
            </a:r>
          </a:p>
          <a:p>
            <a:r>
              <a:rPr lang="en-IN" dirty="0"/>
              <a:t>Agile is about working </a:t>
            </a:r>
            <a:r>
              <a:rPr lang="en-US" dirty="0"/>
              <a:t>together toward a common goal, and it creates a structure or framework to facilitate collaboration and break down organizational silos.</a:t>
            </a:r>
            <a:endParaRPr lang="en-IN" dirty="0"/>
          </a:p>
        </p:txBody>
      </p:sp>
    </p:spTree>
    <p:extLst>
      <p:ext uri="{BB962C8B-B14F-4D97-AF65-F5344CB8AC3E}">
        <p14:creationId xmlns:p14="http://schemas.microsoft.com/office/powerpoint/2010/main" val="2268210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D35F7-47F4-D822-7722-7F9A77D81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CEBBE1-C16F-97DE-7F78-A1C4EBDCA207}"/>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E27991CE-008F-EB08-7A00-940B1E0A6214}"/>
              </a:ext>
            </a:extLst>
          </p:cNvPr>
          <p:cNvSpPr>
            <a:spLocks noGrp="1"/>
          </p:cNvSpPr>
          <p:nvPr>
            <p:ph idx="1"/>
          </p:nvPr>
        </p:nvSpPr>
        <p:spPr/>
        <p:txBody>
          <a:bodyPr>
            <a:normAutofit/>
          </a:bodyPr>
          <a:lstStyle/>
          <a:p>
            <a:r>
              <a:rPr lang="en-US" b="1" i="1" dirty="0"/>
              <a:t>Physical Workspace</a:t>
            </a:r>
          </a:p>
          <a:p>
            <a:r>
              <a:rPr lang="en-US" dirty="0"/>
              <a:t>The collaboration aspect of Agile allows team members to work together and solve problems quickly. </a:t>
            </a:r>
          </a:p>
          <a:p>
            <a:r>
              <a:rPr lang="en-US" dirty="0"/>
              <a:t>When the entire development team is co-located, which is ideal, then how the seating arrangements are managed can greatly contribute to their effectiveness. </a:t>
            </a:r>
          </a:p>
          <a:p>
            <a:r>
              <a:rPr lang="en-US" dirty="0"/>
              <a:t>The best scenario is for the team to sit together in a type of pod arrangement that easily facilitates spontaneous conversations. </a:t>
            </a:r>
          </a:p>
          <a:p>
            <a:r>
              <a:rPr lang="en-US" dirty="0"/>
              <a:t>Cubicle walls (or even offices) can be torn down so everyone can sit together and see one another (see Figure 2.1). </a:t>
            </a:r>
            <a:r>
              <a:rPr lang="en-US" dirty="0">
                <a:solidFill>
                  <a:srgbClr val="FF0000"/>
                </a:solidFill>
              </a:rPr>
              <a:t>This invites collaboration.</a:t>
            </a:r>
            <a:endParaRPr lang="en-IN" dirty="0">
              <a:solidFill>
                <a:srgbClr val="FF0000"/>
              </a:solidFill>
            </a:endParaRPr>
          </a:p>
        </p:txBody>
      </p:sp>
    </p:spTree>
    <p:extLst>
      <p:ext uri="{BB962C8B-B14F-4D97-AF65-F5344CB8AC3E}">
        <p14:creationId xmlns:p14="http://schemas.microsoft.com/office/powerpoint/2010/main" val="28876400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31C7B-2AC8-3A5F-3BEA-7E9C6CFAB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E2BCBE-8732-BDEE-1ED7-5B9D02F63A94}"/>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4865D061-5E72-D934-845F-86447D21AA84}"/>
              </a:ext>
            </a:extLst>
          </p:cNvPr>
          <p:cNvSpPr>
            <a:spLocks noGrp="1"/>
          </p:cNvSpPr>
          <p:nvPr>
            <p:ph idx="1"/>
          </p:nvPr>
        </p:nvSpPr>
        <p:spPr/>
        <p:txBody>
          <a:bodyPr>
            <a:normAutofit/>
          </a:bodyPr>
          <a:lstStyle/>
          <a:p>
            <a:r>
              <a:rPr lang="en-US" b="1" i="1" dirty="0"/>
              <a:t>Physical Workspace</a:t>
            </a:r>
          </a:p>
          <a:p>
            <a:r>
              <a:rPr lang="en-IN" dirty="0"/>
              <a:t>The founders of Scrum </a:t>
            </a:r>
            <a:r>
              <a:rPr lang="en-US" dirty="0"/>
              <a:t>were very direct on this point: </a:t>
            </a:r>
            <a:r>
              <a:rPr lang="en-US" dirty="0">
                <a:solidFill>
                  <a:srgbClr val="FF0000"/>
                </a:solidFill>
              </a:rPr>
              <a:t>“Use open working environments. Such environments allow people to communicate more easily, make it easier to get together, </a:t>
            </a:r>
            <a:r>
              <a:rPr lang="en-IN" dirty="0">
                <a:solidFill>
                  <a:srgbClr val="FF0000"/>
                </a:solidFill>
              </a:rPr>
              <a:t>and facilitate self-organization”.</a:t>
            </a:r>
          </a:p>
          <a:p>
            <a:r>
              <a:rPr lang="en-US" dirty="0"/>
              <a:t>By allowing the developers and testers to have easy access to one another, questions or issues that may have taken several e-mails or meetings to resolve can be addressed face-to-face for immediate resolution. </a:t>
            </a:r>
          </a:p>
          <a:p>
            <a:r>
              <a:rPr lang="en-US" dirty="0"/>
              <a:t>The speed of clarification and problem solving that comes from being collaborative provides teams with an excellent opportunity to improve their deliverables.</a:t>
            </a:r>
            <a:endParaRPr lang="en-IN" dirty="0"/>
          </a:p>
        </p:txBody>
      </p:sp>
    </p:spTree>
    <p:extLst>
      <p:ext uri="{BB962C8B-B14F-4D97-AF65-F5344CB8AC3E}">
        <p14:creationId xmlns:p14="http://schemas.microsoft.com/office/powerpoint/2010/main" val="2646667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58D61-83C5-8693-CA2F-BB824A116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C713F9-8D18-091A-A682-8973927BD55D}"/>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E9196D4C-524E-C2FC-F69E-25B2055B1F68}"/>
              </a:ext>
            </a:extLst>
          </p:cNvPr>
          <p:cNvSpPr>
            <a:spLocks noGrp="1"/>
          </p:cNvSpPr>
          <p:nvPr>
            <p:ph idx="1"/>
          </p:nvPr>
        </p:nvSpPr>
        <p:spPr/>
        <p:txBody>
          <a:bodyPr>
            <a:normAutofit/>
          </a:bodyPr>
          <a:lstStyle/>
          <a:p>
            <a:r>
              <a:rPr lang="en-US" b="1" i="1" dirty="0"/>
              <a:t>Physical Workspace</a:t>
            </a:r>
          </a:p>
        </p:txBody>
      </p:sp>
      <p:pic>
        <p:nvPicPr>
          <p:cNvPr id="5" name="Picture 4">
            <a:extLst>
              <a:ext uri="{FF2B5EF4-FFF2-40B4-BE49-F238E27FC236}">
                <a16:creationId xmlns:a16="http://schemas.microsoft.com/office/drawing/2014/main" id="{233EE4E2-4CDB-E085-3038-FDFBF7E1B0D3}"/>
              </a:ext>
            </a:extLst>
          </p:cNvPr>
          <p:cNvPicPr>
            <a:picLocks noChangeAspect="1"/>
          </p:cNvPicPr>
          <p:nvPr/>
        </p:nvPicPr>
        <p:blipFill>
          <a:blip r:embed="rId2"/>
          <a:stretch>
            <a:fillRect/>
          </a:stretch>
        </p:blipFill>
        <p:spPr>
          <a:xfrm>
            <a:off x="532238" y="1561171"/>
            <a:ext cx="7984273" cy="5296829"/>
          </a:xfrm>
          <a:prstGeom prst="rect">
            <a:avLst/>
          </a:prstGeom>
        </p:spPr>
      </p:pic>
    </p:spTree>
    <p:extLst>
      <p:ext uri="{BB962C8B-B14F-4D97-AF65-F5344CB8AC3E}">
        <p14:creationId xmlns:p14="http://schemas.microsoft.com/office/powerpoint/2010/main" val="3205184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F5E2E-452C-A574-A612-F98CA9E958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FC3265-8473-F572-CFF6-0CBC17EAE425}"/>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941E4E4F-A684-A046-EAB8-A687B1835CF2}"/>
              </a:ext>
            </a:extLst>
          </p:cNvPr>
          <p:cNvSpPr>
            <a:spLocks noGrp="1"/>
          </p:cNvSpPr>
          <p:nvPr>
            <p:ph idx="1"/>
          </p:nvPr>
        </p:nvSpPr>
        <p:spPr/>
        <p:txBody>
          <a:bodyPr>
            <a:normAutofit/>
          </a:bodyPr>
          <a:lstStyle/>
          <a:p>
            <a:pPr algn="ctr"/>
            <a:r>
              <a:rPr lang="en-US" b="1" i="1" dirty="0">
                <a:solidFill>
                  <a:srgbClr val="FF0000"/>
                </a:solidFill>
              </a:rPr>
              <a:t>Failures/ Risks</a:t>
            </a:r>
          </a:p>
          <a:p>
            <a:r>
              <a:rPr lang="en-US" b="1" i="1" dirty="0"/>
              <a:t>Unhealthy Teams</a:t>
            </a:r>
          </a:p>
          <a:p>
            <a:pPr lvl="1"/>
            <a:r>
              <a:rPr lang="en-US" dirty="0"/>
              <a:t>Fail to self-organize</a:t>
            </a:r>
          </a:p>
          <a:p>
            <a:pPr lvl="1"/>
            <a:r>
              <a:rPr lang="en-US" dirty="0"/>
              <a:t>More comfortable being told what to do and simply execute on that order.</a:t>
            </a:r>
          </a:p>
          <a:p>
            <a:pPr lvl="1"/>
            <a:r>
              <a:rPr lang="en-US" dirty="0"/>
              <a:t>When we ask those people to become more engaged and be part of the solution process, they are reluctant, or incapable of doing so.</a:t>
            </a:r>
          </a:p>
          <a:p>
            <a:pPr lvl="1"/>
            <a:r>
              <a:rPr lang="en-US" dirty="0"/>
              <a:t>For others, it is simply in their DNA to take direction from others and not rise to the level of accountability that Agile requires; </a:t>
            </a:r>
          </a:p>
          <a:p>
            <a:pPr lvl="1"/>
            <a:r>
              <a:rPr lang="en-US" dirty="0"/>
              <a:t>these people will not be successful on Agile teams, so the organization needs to either find them a different role or allow them to move on.</a:t>
            </a:r>
          </a:p>
        </p:txBody>
      </p:sp>
    </p:spTree>
    <p:extLst>
      <p:ext uri="{BB962C8B-B14F-4D97-AF65-F5344CB8AC3E}">
        <p14:creationId xmlns:p14="http://schemas.microsoft.com/office/powerpoint/2010/main" val="17770484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C0123-C8C1-F82C-762B-4C7B88E23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7539D-2DF7-26E5-C937-9EC2C200CF31}"/>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D0AFB4F4-CB8E-A772-87AC-1527F2EE93C4}"/>
              </a:ext>
            </a:extLst>
          </p:cNvPr>
          <p:cNvSpPr>
            <a:spLocks noGrp="1"/>
          </p:cNvSpPr>
          <p:nvPr>
            <p:ph idx="1"/>
          </p:nvPr>
        </p:nvSpPr>
        <p:spPr/>
        <p:txBody>
          <a:bodyPr>
            <a:normAutofit/>
          </a:bodyPr>
          <a:lstStyle/>
          <a:p>
            <a:pPr algn="ctr"/>
            <a:r>
              <a:rPr lang="en-US" b="1" i="1" dirty="0">
                <a:solidFill>
                  <a:srgbClr val="FF0000"/>
                </a:solidFill>
              </a:rPr>
              <a:t>Failures/ Risks</a:t>
            </a:r>
          </a:p>
          <a:p>
            <a:r>
              <a:rPr lang="en-US" b="1" i="1" dirty="0"/>
              <a:t>Unhealthy Teams</a:t>
            </a:r>
          </a:p>
          <a:p>
            <a:pPr lvl="1"/>
            <a:r>
              <a:rPr lang="en-US" dirty="0"/>
              <a:t>Another example of the inability to self-organize is where teams demonstrate hostility, bullying, or demeaning behavior toward one or more of their team members. </a:t>
            </a:r>
          </a:p>
          <a:p>
            <a:pPr lvl="1"/>
            <a:r>
              <a:rPr lang="en-US" dirty="0"/>
              <a:t>This aggressive behavior cannot be tolerated, and if the team cannot resolve it on their own, then management needs to get involved. </a:t>
            </a:r>
          </a:p>
          <a:p>
            <a:pPr lvl="1"/>
            <a:r>
              <a:rPr lang="en-US" dirty="0"/>
              <a:t>Agile workplaces are safe environments where people are encouraged to learn and grow and take chances and deliver great results; </a:t>
            </a:r>
          </a:p>
          <a:p>
            <a:pPr lvl="1"/>
            <a:r>
              <a:rPr lang="en-US" dirty="0"/>
              <a:t>but if there is an unhealthy team dynamic, that can be difficult—maybe impossible—to achieve.</a:t>
            </a:r>
          </a:p>
        </p:txBody>
      </p:sp>
    </p:spTree>
    <p:extLst>
      <p:ext uri="{BB962C8B-B14F-4D97-AF65-F5344CB8AC3E}">
        <p14:creationId xmlns:p14="http://schemas.microsoft.com/office/powerpoint/2010/main" val="1687574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3BA88-EDFD-C301-F86D-24DD825045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45F27-8DFB-D417-EF77-4D53FA41DC21}"/>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E942B058-2325-9162-D179-849C9990DFC8}"/>
              </a:ext>
            </a:extLst>
          </p:cNvPr>
          <p:cNvSpPr>
            <a:spLocks noGrp="1"/>
          </p:cNvSpPr>
          <p:nvPr>
            <p:ph idx="1"/>
          </p:nvPr>
        </p:nvSpPr>
        <p:spPr/>
        <p:txBody>
          <a:bodyPr>
            <a:normAutofit/>
          </a:bodyPr>
          <a:lstStyle/>
          <a:p>
            <a:pPr algn="ctr"/>
            <a:r>
              <a:rPr lang="en-US" b="1" i="1" dirty="0">
                <a:solidFill>
                  <a:srgbClr val="FF0000"/>
                </a:solidFill>
              </a:rPr>
              <a:t>Failures/ Risks</a:t>
            </a:r>
          </a:p>
          <a:p>
            <a:r>
              <a:rPr lang="en-US" b="1" i="1" dirty="0"/>
              <a:t>Inability to Adapt</a:t>
            </a:r>
          </a:p>
          <a:p>
            <a:pPr lvl="1"/>
            <a:r>
              <a:rPr lang="en-US" dirty="0"/>
              <a:t>Agile requires team members to change, and that is uncomfortable for some people. </a:t>
            </a:r>
          </a:p>
          <a:p>
            <a:pPr lvl="1"/>
            <a:r>
              <a:rPr lang="en-US" dirty="0"/>
              <a:t>They need to change how they interact, how they do their work, where they sit, and much more. </a:t>
            </a:r>
          </a:p>
          <a:p>
            <a:pPr lvl="1"/>
            <a:r>
              <a:rPr lang="en-US" dirty="0"/>
              <a:t>An inability to adapt is a key reason why some team members fail in an Agile transformation.</a:t>
            </a:r>
          </a:p>
          <a:p>
            <a:pPr lvl="1"/>
            <a:r>
              <a:rPr lang="en-US" dirty="0"/>
              <a:t>Having a geographically distributed team introduces challenges, and some teams fail to adapt and accommodate. </a:t>
            </a:r>
          </a:p>
          <a:p>
            <a:pPr lvl="1"/>
            <a:r>
              <a:rPr lang="en-US" dirty="0"/>
              <a:t>If the team does not make the effort to include the virtual resources in key conversations and meetings, then their ability to contribute is compromised; this can especially be true with international resources.</a:t>
            </a:r>
          </a:p>
        </p:txBody>
      </p:sp>
    </p:spTree>
    <p:extLst>
      <p:ext uri="{BB962C8B-B14F-4D97-AF65-F5344CB8AC3E}">
        <p14:creationId xmlns:p14="http://schemas.microsoft.com/office/powerpoint/2010/main" val="470411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8AD7-F1A3-84B9-4765-C186FE1B73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8FA7E-DDB8-3B9A-365F-CBCCE8B12EAE}"/>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F5F286BC-E52E-D649-8E94-AC32BE7F398C}"/>
              </a:ext>
            </a:extLst>
          </p:cNvPr>
          <p:cNvSpPr>
            <a:spLocks noGrp="1"/>
          </p:cNvSpPr>
          <p:nvPr>
            <p:ph idx="1"/>
          </p:nvPr>
        </p:nvSpPr>
        <p:spPr/>
        <p:txBody>
          <a:bodyPr>
            <a:normAutofit/>
          </a:bodyPr>
          <a:lstStyle/>
          <a:p>
            <a:pPr algn="ctr"/>
            <a:r>
              <a:rPr lang="en-US" b="1" i="1" dirty="0">
                <a:solidFill>
                  <a:srgbClr val="FF0000"/>
                </a:solidFill>
              </a:rPr>
              <a:t>Failures/ Risks</a:t>
            </a:r>
          </a:p>
          <a:p>
            <a:r>
              <a:rPr lang="en-US" b="1" i="1" dirty="0"/>
              <a:t>Inability to Adapt</a:t>
            </a:r>
          </a:p>
          <a:p>
            <a:pPr lvl="1"/>
            <a:r>
              <a:rPr lang="en-US" dirty="0"/>
              <a:t>Agile requires team members to change, and that is uncomfortable for some people. </a:t>
            </a:r>
          </a:p>
          <a:p>
            <a:pPr lvl="1"/>
            <a:r>
              <a:rPr lang="en-US" dirty="0"/>
              <a:t>They need to change how they interact, how they do their work, where they sit, and much more. </a:t>
            </a:r>
          </a:p>
          <a:p>
            <a:pPr lvl="1"/>
            <a:r>
              <a:rPr lang="en-US" dirty="0"/>
              <a:t>An inability to adapt is a key reason why some team members fail in an Agile transformation.</a:t>
            </a:r>
          </a:p>
          <a:p>
            <a:pPr lvl="1"/>
            <a:r>
              <a:rPr lang="en-US" dirty="0"/>
              <a:t>Having a geographically distributed team introduces challenges, and some teams fail to adapt and accommodate. </a:t>
            </a:r>
          </a:p>
          <a:p>
            <a:pPr lvl="1"/>
            <a:r>
              <a:rPr lang="en-US" dirty="0"/>
              <a:t>If the team does not make the effort to include the virtual resources in key conversations and meetings, then their ability to contribute is compromised; this can especially be true with international resources.</a:t>
            </a:r>
          </a:p>
        </p:txBody>
      </p:sp>
    </p:spTree>
    <p:extLst>
      <p:ext uri="{BB962C8B-B14F-4D97-AF65-F5344CB8AC3E}">
        <p14:creationId xmlns:p14="http://schemas.microsoft.com/office/powerpoint/2010/main" val="37589243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CCB7A-EA91-CB19-8869-2BAF42000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1D6B0D-2A32-0293-4D7C-95E2CF5A72DC}"/>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54A79ABC-A492-59CA-997B-397A472829C8}"/>
              </a:ext>
            </a:extLst>
          </p:cNvPr>
          <p:cNvSpPr>
            <a:spLocks noGrp="1"/>
          </p:cNvSpPr>
          <p:nvPr>
            <p:ph idx="1"/>
          </p:nvPr>
        </p:nvSpPr>
        <p:spPr/>
        <p:txBody>
          <a:bodyPr>
            <a:normAutofit/>
          </a:bodyPr>
          <a:lstStyle/>
          <a:p>
            <a:pPr algn="ctr"/>
            <a:r>
              <a:rPr lang="en-US" b="1" i="1" dirty="0">
                <a:solidFill>
                  <a:srgbClr val="FF0000"/>
                </a:solidFill>
              </a:rPr>
              <a:t>Failures/ Risks</a:t>
            </a:r>
          </a:p>
          <a:p>
            <a:r>
              <a:rPr lang="en-US" b="1" i="1" dirty="0"/>
              <a:t>Inability to Adapt</a:t>
            </a:r>
          </a:p>
          <a:p>
            <a:pPr lvl="1"/>
            <a:r>
              <a:rPr lang="en-US" dirty="0"/>
              <a:t>Another example involves making the transition from cubicles to an open concept. </a:t>
            </a:r>
          </a:p>
          <a:p>
            <a:pPr lvl="1"/>
            <a:r>
              <a:rPr lang="en-US" dirty="0"/>
              <a:t>When introducing the collaborative work arrangement, worries may range from a colleague who wears too much perfume, </a:t>
            </a:r>
          </a:p>
          <a:p>
            <a:pPr lvl="1"/>
            <a:r>
              <a:rPr lang="en-US" dirty="0"/>
              <a:t>to a germophobe who fears being sneezed on, to concerns about background noise and the ability to concentrate. </a:t>
            </a:r>
          </a:p>
          <a:p>
            <a:pPr lvl="1"/>
            <a:r>
              <a:rPr lang="en-US" dirty="0"/>
              <a:t>All are legitimate issues that need to be addressed, but none are worth abandoning the benefits of moving to the open, collaborative space.</a:t>
            </a:r>
          </a:p>
        </p:txBody>
      </p:sp>
    </p:spTree>
    <p:extLst>
      <p:ext uri="{BB962C8B-B14F-4D97-AF65-F5344CB8AC3E}">
        <p14:creationId xmlns:p14="http://schemas.microsoft.com/office/powerpoint/2010/main" val="3402226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425EA-266F-FF3A-B245-200AFD447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1B7810-6D9E-3562-AC48-E8C93CD510B6}"/>
              </a:ext>
            </a:extLst>
          </p:cNvPr>
          <p:cNvSpPr>
            <a:spLocks noGrp="1"/>
          </p:cNvSpPr>
          <p:nvPr>
            <p:ph type="title"/>
          </p:nvPr>
        </p:nvSpPr>
        <p:spPr/>
        <p:txBody>
          <a:bodyPr/>
          <a:lstStyle/>
          <a:p>
            <a:r>
              <a:rPr lang="en-IN" dirty="0"/>
              <a:t>The Team Members’ Viewpoint</a:t>
            </a:r>
          </a:p>
        </p:txBody>
      </p:sp>
      <p:sp>
        <p:nvSpPr>
          <p:cNvPr id="3" name="Content Placeholder 2">
            <a:extLst>
              <a:ext uri="{FF2B5EF4-FFF2-40B4-BE49-F238E27FC236}">
                <a16:creationId xmlns:a16="http://schemas.microsoft.com/office/drawing/2014/main" id="{B348D716-7EEE-D359-9194-438E20A8F3A8}"/>
              </a:ext>
            </a:extLst>
          </p:cNvPr>
          <p:cNvSpPr>
            <a:spLocks noGrp="1"/>
          </p:cNvSpPr>
          <p:nvPr>
            <p:ph idx="1"/>
          </p:nvPr>
        </p:nvSpPr>
        <p:spPr/>
        <p:txBody>
          <a:bodyPr>
            <a:normAutofit lnSpcReduction="10000"/>
          </a:bodyPr>
          <a:lstStyle/>
          <a:p>
            <a:pPr algn="ctr"/>
            <a:r>
              <a:rPr lang="en-US" b="1" i="1" dirty="0">
                <a:solidFill>
                  <a:srgbClr val="FF0000"/>
                </a:solidFill>
              </a:rPr>
              <a:t>Failures/ Risks</a:t>
            </a:r>
          </a:p>
          <a:p>
            <a:r>
              <a:rPr lang="en-US" b="1" i="1" dirty="0"/>
              <a:t>Lacking Commitment</a:t>
            </a:r>
          </a:p>
          <a:p>
            <a:pPr lvl="1"/>
            <a:r>
              <a:rPr lang="en-US" dirty="0"/>
              <a:t>Within Agile, the team commits to the amount of work that they intend to complete during an iteration. </a:t>
            </a:r>
          </a:p>
          <a:p>
            <a:pPr lvl="1"/>
            <a:r>
              <a:rPr lang="en-US" dirty="0"/>
              <a:t>If a team does not feel a sense of obligation to that commitment, the level of success that can be achieved is in jeopardy. </a:t>
            </a:r>
          </a:p>
          <a:p>
            <a:pPr lvl="1"/>
            <a:r>
              <a:rPr lang="en-US" dirty="0"/>
              <a:t>Some teams reach the end of an iteration in which they have not completed the required work, but they have an attitude of “oh well, we tried”; these are not successful teams.</a:t>
            </a:r>
          </a:p>
          <a:p>
            <a:pPr lvl="1"/>
            <a:r>
              <a:rPr lang="en-US" dirty="0"/>
              <a:t>Failing to honor a commitment should be a disappointment.</a:t>
            </a:r>
          </a:p>
          <a:p>
            <a:pPr lvl="1"/>
            <a:r>
              <a:rPr lang="en-US" dirty="0"/>
              <a:t>It should serve as an opportunity to assess what went wrong and how it can be corrected in the future</a:t>
            </a:r>
            <a:r>
              <a:rPr lang="en-US"/>
              <a:t>. </a:t>
            </a:r>
          </a:p>
          <a:p>
            <a:pPr lvl="1"/>
            <a:r>
              <a:rPr lang="en-US"/>
              <a:t>The </a:t>
            </a:r>
            <a:r>
              <a:rPr lang="en-US" dirty="0"/>
              <a:t>teams that are </a:t>
            </a:r>
            <a:r>
              <a:rPr lang="en-US"/>
              <a:t>lackadaisical about their </a:t>
            </a:r>
            <a:r>
              <a:rPr lang="en-US" dirty="0"/>
              <a:t>commitment will never be truly Agile.</a:t>
            </a:r>
          </a:p>
        </p:txBody>
      </p:sp>
    </p:spTree>
    <p:extLst>
      <p:ext uri="{BB962C8B-B14F-4D97-AF65-F5344CB8AC3E}">
        <p14:creationId xmlns:p14="http://schemas.microsoft.com/office/powerpoint/2010/main" val="1040623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2EFB3-9ED8-3C36-69F6-3AEAE93446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0075F1-1110-2A9E-97E6-004A0770A5EF}"/>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9F9491E3-412C-1E13-BDD6-7CA78726317C}"/>
              </a:ext>
            </a:extLst>
          </p:cNvPr>
          <p:cNvSpPr>
            <a:spLocks noGrp="1"/>
          </p:cNvSpPr>
          <p:nvPr>
            <p:ph idx="1"/>
          </p:nvPr>
        </p:nvSpPr>
        <p:spPr/>
        <p:txBody>
          <a:bodyPr>
            <a:normAutofit/>
          </a:bodyPr>
          <a:lstStyle/>
          <a:p>
            <a:r>
              <a:rPr lang="en-US" dirty="0"/>
              <a:t>Agile for team members is full of new opportunities and a chance to contribute in ways that may not have been available in the old environment. </a:t>
            </a:r>
          </a:p>
          <a:p>
            <a:r>
              <a:rPr lang="en-US" dirty="0"/>
              <a:t>The same is true for managers, but they may feel as though their role is shrinking or becoming less important. </a:t>
            </a:r>
          </a:p>
          <a:p>
            <a:r>
              <a:rPr lang="en-US" dirty="0"/>
              <a:t>In many instances, Agile alters their span of control, which can create unease and a lack of clarity regarding expectations and performance measurements.</a:t>
            </a:r>
          </a:p>
        </p:txBody>
      </p:sp>
    </p:spTree>
    <p:extLst>
      <p:ext uri="{BB962C8B-B14F-4D97-AF65-F5344CB8AC3E}">
        <p14:creationId xmlns:p14="http://schemas.microsoft.com/office/powerpoint/2010/main" val="54193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B6A52-E58A-122D-5D75-0478E71D6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AFF660-DE5B-3F4C-2625-A4EBE2483D8F}"/>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EF0752E4-C6E7-C6ED-E19F-C64DD61B2955}"/>
              </a:ext>
            </a:extLst>
          </p:cNvPr>
          <p:cNvSpPr>
            <a:spLocks noGrp="1"/>
          </p:cNvSpPr>
          <p:nvPr>
            <p:ph idx="1"/>
          </p:nvPr>
        </p:nvSpPr>
        <p:spPr/>
        <p:txBody>
          <a:bodyPr>
            <a:normAutofit/>
          </a:bodyPr>
          <a:lstStyle/>
          <a:p>
            <a:r>
              <a:rPr lang="en-IN" b="1" dirty="0"/>
              <a:t>What Is Different?</a:t>
            </a:r>
          </a:p>
          <a:p>
            <a:r>
              <a:rPr lang="en-US" dirty="0"/>
              <a:t>The differences for managers center on how their role has evolved. </a:t>
            </a:r>
          </a:p>
          <a:p>
            <a:r>
              <a:rPr lang="en-US" dirty="0"/>
              <a:t>It can be quite positive, but it is definitely different, and some managers are unable or unwilling to let go of their past responsibilities to embrace the new ways that they can help the team.</a:t>
            </a:r>
            <a:endParaRPr lang="en-IN" b="1" dirty="0"/>
          </a:p>
        </p:txBody>
      </p:sp>
    </p:spTree>
    <p:extLst>
      <p:ext uri="{BB962C8B-B14F-4D97-AF65-F5344CB8AC3E}">
        <p14:creationId xmlns:p14="http://schemas.microsoft.com/office/powerpoint/2010/main" val="1895781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BA3F-61E9-9883-DED2-4AF912587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7AE3D4-7647-B99A-CCC6-5CFD7E55D551}"/>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D2C98304-6E62-BC0D-4FB7-C2C6DCEC622A}"/>
              </a:ext>
            </a:extLst>
          </p:cNvPr>
          <p:cNvSpPr>
            <a:spLocks noGrp="1"/>
          </p:cNvSpPr>
          <p:nvPr>
            <p:ph idx="1"/>
          </p:nvPr>
        </p:nvSpPr>
        <p:spPr/>
        <p:txBody>
          <a:bodyPr>
            <a:normAutofit lnSpcReduction="10000"/>
          </a:bodyPr>
          <a:lstStyle/>
          <a:p>
            <a:r>
              <a:rPr lang="en-IN" b="1" i="1" dirty="0"/>
              <a:t>Questions, Not Solutions</a:t>
            </a:r>
          </a:p>
          <a:p>
            <a:r>
              <a:rPr lang="en-US" dirty="0"/>
              <a:t>Perhaps the biggest impact to most managers is that they are no longer responsible for defining the solutions—</a:t>
            </a:r>
            <a:r>
              <a:rPr lang="en-US" b="1" dirty="0"/>
              <a:t>this now belongs to the team</a:t>
            </a:r>
            <a:r>
              <a:rPr lang="en-US" dirty="0"/>
              <a:t>. </a:t>
            </a:r>
          </a:p>
          <a:p>
            <a:r>
              <a:rPr lang="en-US" dirty="0"/>
              <a:t>Many managers have prided themselves on being owners of an application or architecture, so adjusting to the idea of team members making decisions about those applications can be difficult.</a:t>
            </a:r>
          </a:p>
          <a:p>
            <a:r>
              <a:rPr lang="en-US" dirty="0"/>
              <a:t>The manager is in the pivotal position of being able to facilitate how much a team learns and how quickly they embrace their self-organization. </a:t>
            </a:r>
          </a:p>
          <a:p>
            <a:r>
              <a:rPr lang="en-US" dirty="0"/>
              <a:t>The most effective managers will make the </a:t>
            </a:r>
            <a:r>
              <a:rPr lang="en-US" b="1" dirty="0"/>
              <a:t>shift from telling to asking</a:t>
            </a:r>
            <a:r>
              <a:rPr lang="en-US" dirty="0"/>
              <a:t>.</a:t>
            </a:r>
            <a:endParaRPr lang="en-IN" dirty="0"/>
          </a:p>
        </p:txBody>
      </p:sp>
    </p:spTree>
    <p:extLst>
      <p:ext uri="{BB962C8B-B14F-4D97-AF65-F5344CB8AC3E}">
        <p14:creationId xmlns:p14="http://schemas.microsoft.com/office/powerpoint/2010/main" val="234254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640FC-E0CB-05C4-057B-0D124731D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1A206-EC2D-DFA9-74B6-0C139DC5BB14}"/>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764406A3-4BEE-4093-578C-40748CFF9241}"/>
              </a:ext>
            </a:extLst>
          </p:cNvPr>
          <p:cNvSpPr>
            <a:spLocks noGrp="1"/>
          </p:cNvSpPr>
          <p:nvPr>
            <p:ph idx="1"/>
          </p:nvPr>
        </p:nvSpPr>
        <p:spPr/>
        <p:txBody>
          <a:bodyPr>
            <a:normAutofit lnSpcReduction="10000"/>
          </a:bodyPr>
          <a:lstStyle/>
          <a:p>
            <a:r>
              <a:rPr lang="en-IN" b="1" i="1" dirty="0"/>
              <a:t>Questions, Not Solutions</a:t>
            </a:r>
          </a:p>
          <a:p>
            <a:r>
              <a:rPr lang="en-US" dirty="0"/>
              <a:t>When a team member approaches management and asks, </a:t>
            </a:r>
          </a:p>
          <a:p>
            <a:pPr lvl="1"/>
            <a:r>
              <a:rPr lang="en-US" dirty="0"/>
              <a:t>“How can we increase the response times with the database?” </a:t>
            </a:r>
          </a:p>
          <a:p>
            <a:r>
              <a:rPr lang="en-US" dirty="0"/>
              <a:t>The manager in a pre-Agile world would provide an answer or at least a suggestion. </a:t>
            </a:r>
          </a:p>
          <a:p>
            <a:r>
              <a:rPr lang="en-US" dirty="0"/>
              <a:t>In an Agile environment, the best managers will ask questions: </a:t>
            </a:r>
          </a:p>
          <a:p>
            <a:pPr lvl="1"/>
            <a:r>
              <a:rPr lang="en-US" dirty="0"/>
              <a:t>“Why do you think the response time is bad?” </a:t>
            </a:r>
          </a:p>
          <a:p>
            <a:pPr lvl="1"/>
            <a:r>
              <a:rPr lang="en-US" dirty="0"/>
              <a:t>“What is the customer expecting?” </a:t>
            </a:r>
          </a:p>
          <a:p>
            <a:pPr lvl="1"/>
            <a:r>
              <a:rPr lang="en-US" dirty="0"/>
              <a:t>“What data is being retrieved?” “Is that the right amount of data?” </a:t>
            </a:r>
          </a:p>
          <a:p>
            <a:pPr lvl="1"/>
            <a:r>
              <a:rPr lang="en-US" dirty="0"/>
              <a:t>“Are any business rules being applied to the query?” </a:t>
            </a:r>
          </a:p>
          <a:p>
            <a:pPr lvl="1"/>
            <a:r>
              <a:rPr lang="en-US" dirty="0"/>
              <a:t>And so on.</a:t>
            </a:r>
            <a:endParaRPr lang="en-IN" dirty="0"/>
          </a:p>
        </p:txBody>
      </p:sp>
    </p:spTree>
    <p:extLst>
      <p:ext uri="{BB962C8B-B14F-4D97-AF65-F5344CB8AC3E}">
        <p14:creationId xmlns:p14="http://schemas.microsoft.com/office/powerpoint/2010/main" val="33642782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D945C-4A7C-B3E9-23EF-D77A8565E1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8C27A-7F1B-5875-60B5-4D7D19554879}"/>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379FEBE9-8A2C-25E1-34BE-F2D71E732406}"/>
              </a:ext>
            </a:extLst>
          </p:cNvPr>
          <p:cNvSpPr>
            <a:spLocks noGrp="1"/>
          </p:cNvSpPr>
          <p:nvPr>
            <p:ph idx="1"/>
          </p:nvPr>
        </p:nvSpPr>
        <p:spPr/>
        <p:txBody>
          <a:bodyPr>
            <a:normAutofit/>
          </a:bodyPr>
          <a:lstStyle/>
          <a:p>
            <a:r>
              <a:rPr lang="en-IN" b="1" i="1" dirty="0"/>
              <a:t>Clearing Roadblocks</a:t>
            </a:r>
          </a:p>
          <a:p>
            <a:r>
              <a:rPr lang="en-US" dirty="0"/>
              <a:t>The manager’s role shifts to one of clearing roadblocks for the team to enable their success. </a:t>
            </a:r>
          </a:p>
          <a:p>
            <a:r>
              <a:rPr lang="en-US" dirty="0"/>
              <a:t>This is a different role for a manager, and although it is vitally important to the organization, it might not feel very rewarding, at least not at first. </a:t>
            </a:r>
          </a:p>
          <a:p>
            <a:r>
              <a:rPr lang="en-US" dirty="0"/>
              <a:t>If the team has an issue with training or tools or collaboration with other departments, the manager can be a great help navigating the political environment to solve the problem.</a:t>
            </a:r>
            <a:endParaRPr lang="en-IN" dirty="0"/>
          </a:p>
        </p:txBody>
      </p:sp>
    </p:spTree>
    <p:extLst>
      <p:ext uri="{BB962C8B-B14F-4D97-AF65-F5344CB8AC3E}">
        <p14:creationId xmlns:p14="http://schemas.microsoft.com/office/powerpoint/2010/main" val="32992737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138E4-F1DB-77FE-8DC4-3ABF120CF9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67C4F-C9E3-71C9-E363-8556B071A33D}"/>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2D73B9E0-0A73-DC66-4E5E-DBDB60F64293}"/>
              </a:ext>
            </a:extLst>
          </p:cNvPr>
          <p:cNvSpPr>
            <a:spLocks noGrp="1"/>
          </p:cNvSpPr>
          <p:nvPr>
            <p:ph idx="1"/>
          </p:nvPr>
        </p:nvSpPr>
        <p:spPr/>
        <p:txBody>
          <a:bodyPr>
            <a:normAutofit/>
          </a:bodyPr>
          <a:lstStyle/>
          <a:p>
            <a:r>
              <a:rPr lang="en-IN" b="1" i="1" dirty="0"/>
              <a:t>Clearing Roadblocks</a:t>
            </a:r>
          </a:p>
          <a:p>
            <a:r>
              <a:rPr lang="en-US" dirty="0"/>
              <a:t>The difference is that the manager used to be deeply involved in the problem solving, but now he or she is clearing roadblocks to allow the team-led solution to come to completion. </a:t>
            </a:r>
          </a:p>
          <a:p>
            <a:r>
              <a:rPr lang="en-US" dirty="0"/>
              <a:t>Some managers view this </a:t>
            </a:r>
            <a:r>
              <a:rPr lang="en-US" dirty="0">
                <a:solidFill>
                  <a:srgbClr val="FF0000"/>
                </a:solidFill>
              </a:rPr>
              <a:t>negatively</a:t>
            </a:r>
            <a:r>
              <a:rPr lang="en-US" dirty="0"/>
              <a:t>, as though part of their job—or even their worth to the company—has been diminished.</a:t>
            </a:r>
            <a:endParaRPr lang="en-IN" dirty="0"/>
          </a:p>
        </p:txBody>
      </p:sp>
    </p:spTree>
    <p:extLst>
      <p:ext uri="{BB962C8B-B14F-4D97-AF65-F5344CB8AC3E}">
        <p14:creationId xmlns:p14="http://schemas.microsoft.com/office/powerpoint/2010/main" val="4035866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4994-1490-70C2-CC5F-E6AE0D00CB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10326-A403-DC02-7E9F-563ED3BA167F}"/>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B75B99DD-5994-5851-1140-1A354717586B}"/>
              </a:ext>
            </a:extLst>
          </p:cNvPr>
          <p:cNvSpPr>
            <a:spLocks noGrp="1"/>
          </p:cNvSpPr>
          <p:nvPr>
            <p:ph idx="1"/>
          </p:nvPr>
        </p:nvSpPr>
        <p:spPr/>
        <p:txBody>
          <a:bodyPr>
            <a:normAutofit/>
          </a:bodyPr>
          <a:lstStyle/>
          <a:p>
            <a:r>
              <a:rPr lang="en-IN" b="1" i="1" dirty="0"/>
              <a:t>Clearing Roadblocks</a:t>
            </a:r>
          </a:p>
          <a:p>
            <a:r>
              <a:rPr lang="en-US" dirty="0"/>
              <a:t>Effective managers in an Agile environment are a tremendous asset. </a:t>
            </a:r>
          </a:p>
          <a:p>
            <a:r>
              <a:rPr lang="en-US" dirty="0"/>
              <a:t>Since they no longer have to focus on every day-to-day detail associated with the project, they can devote time to higher-level activities such as technology architecture and true employee development—areas that are often neglected in the pre-Agile environments.</a:t>
            </a:r>
          </a:p>
          <a:p>
            <a:r>
              <a:rPr lang="en-US" dirty="0"/>
              <a:t>Managers can assist with mapping the business process flow and then make recommendations to improve performance and drive toward simplicity.</a:t>
            </a:r>
            <a:endParaRPr lang="en-IN" dirty="0"/>
          </a:p>
        </p:txBody>
      </p:sp>
    </p:spTree>
    <p:extLst>
      <p:ext uri="{BB962C8B-B14F-4D97-AF65-F5344CB8AC3E}">
        <p14:creationId xmlns:p14="http://schemas.microsoft.com/office/powerpoint/2010/main" val="11812103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BEE3-6F72-942A-27DE-D1AB62FC7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8E0CE9-DC10-5009-B4FD-6C711D1CFAF6}"/>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902A2ED2-B5D5-5A3B-B6E5-D1A1D28B9829}"/>
              </a:ext>
            </a:extLst>
          </p:cNvPr>
          <p:cNvSpPr>
            <a:spLocks noGrp="1"/>
          </p:cNvSpPr>
          <p:nvPr>
            <p:ph idx="1"/>
          </p:nvPr>
        </p:nvSpPr>
        <p:spPr/>
        <p:txBody>
          <a:bodyPr>
            <a:normAutofit/>
          </a:bodyPr>
          <a:lstStyle/>
          <a:p>
            <a:r>
              <a:rPr lang="en-IN" b="1" i="1" dirty="0"/>
              <a:t>Trusting the Team</a:t>
            </a:r>
          </a:p>
          <a:p>
            <a:r>
              <a:rPr lang="en-US" dirty="0"/>
              <a:t>Some managers are predisposed not to trust those beneath them in the organization.</a:t>
            </a:r>
          </a:p>
          <a:p>
            <a:r>
              <a:rPr lang="en-US" dirty="0"/>
              <a:t>Douglas McGregor captured this management style in his X-Y theory of management. </a:t>
            </a:r>
          </a:p>
          <a:p>
            <a:r>
              <a:rPr lang="en-US" dirty="0"/>
              <a:t>The Theory X manager believes that employees are inherently lazy and therefore, need authoritative supervision and a comprehensive set of controls to manage them (McGregor 1960). </a:t>
            </a:r>
          </a:p>
          <a:p>
            <a:r>
              <a:rPr lang="en-US" dirty="0"/>
              <a:t>Thus, Theory X managers will have a very hard time with an Agile implementation, because they fundamentally believe that self-organizing teams cannot exist.</a:t>
            </a:r>
            <a:endParaRPr lang="en-IN" dirty="0"/>
          </a:p>
        </p:txBody>
      </p:sp>
    </p:spTree>
    <p:extLst>
      <p:ext uri="{BB962C8B-B14F-4D97-AF65-F5344CB8AC3E}">
        <p14:creationId xmlns:p14="http://schemas.microsoft.com/office/powerpoint/2010/main" val="2070453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404C-04E7-92B9-821A-05CF401958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36BDC-6622-D3C2-D1B8-C9C200F897AE}"/>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A1EF227B-14EC-B771-B177-97B6164B8291}"/>
              </a:ext>
            </a:extLst>
          </p:cNvPr>
          <p:cNvSpPr>
            <a:spLocks noGrp="1"/>
          </p:cNvSpPr>
          <p:nvPr>
            <p:ph idx="1"/>
          </p:nvPr>
        </p:nvSpPr>
        <p:spPr/>
        <p:txBody>
          <a:bodyPr>
            <a:normAutofit/>
          </a:bodyPr>
          <a:lstStyle/>
          <a:p>
            <a:r>
              <a:rPr lang="en-IN" b="1" i="1" dirty="0"/>
              <a:t>Trusting the Team</a:t>
            </a:r>
          </a:p>
          <a:p>
            <a:r>
              <a:rPr lang="en-US" dirty="0"/>
              <a:t>These people tend to act as </a:t>
            </a:r>
            <a:r>
              <a:rPr lang="en-US" b="1" dirty="0"/>
              <a:t>“command and control</a:t>
            </a:r>
            <a:r>
              <a:rPr lang="en-US" dirty="0"/>
              <a:t>,” meaning that they dictate the work to be done and even how it will be done, and they tightly control the environment for that work. </a:t>
            </a:r>
          </a:p>
          <a:p>
            <a:r>
              <a:rPr lang="en-US" dirty="0"/>
              <a:t>Clearly, this type of management attitude directly conflicts with the very core of Agile values. </a:t>
            </a:r>
          </a:p>
          <a:p>
            <a:r>
              <a:rPr lang="en-US" dirty="0"/>
              <a:t>This belief system still exists in the modern workplace and must be addressed to ensure Agile success.</a:t>
            </a:r>
          </a:p>
          <a:p>
            <a:r>
              <a:rPr lang="en-US" dirty="0"/>
              <a:t>If an organization has Theory X types of managers, they may need to move to new positions to not interfere with the Agile implementation.</a:t>
            </a:r>
            <a:endParaRPr lang="en-IN" dirty="0"/>
          </a:p>
        </p:txBody>
      </p:sp>
    </p:spTree>
    <p:extLst>
      <p:ext uri="{BB962C8B-B14F-4D97-AF65-F5344CB8AC3E}">
        <p14:creationId xmlns:p14="http://schemas.microsoft.com/office/powerpoint/2010/main" val="2187975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CB52D-3354-003F-CFA0-DE67BA697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1FFBA-378F-B762-ACE3-1F326B57EBCC}"/>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18C5708A-AF99-D8A8-99C0-CB3E82BAA0D4}"/>
              </a:ext>
            </a:extLst>
          </p:cNvPr>
          <p:cNvSpPr>
            <a:spLocks noGrp="1"/>
          </p:cNvSpPr>
          <p:nvPr>
            <p:ph idx="1"/>
          </p:nvPr>
        </p:nvSpPr>
        <p:spPr/>
        <p:txBody>
          <a:bodyPr>
            <a:normAutofit lnSpcReduction="10000"/>
          </a:bodyPr>
          <a:lstStyle/>
          <a:p>
            <a:r>
              <a:rPr lang="en-IN" b="1" i="1" dirty="0"/>
              <a:t>Trusting the Team</a:t>
            </a:r>
          </a:p>
          <a:p>
            <a:r>
              <a:rPr lang="en-US" dirty="0"/>
              <a:t>Even if the manager is not a Theory X manager, he or she may still need to make adjustments in trusting the team. </a:t>
            </a:r>
          </a:p>
          <a:p>
            <a:r>
              <a:rPr lang="en-US" dirty="0"/>
              <a:t>For some period of time (perhaps years), the manager has evaluated staff aptitudes based on a non-Agile measure.</a:t>
            </a:r>
          </a:p>
          <a:p>
            <a:r>
              <a:rPr lang="en-US" dirty="0"/>
              <a:t>Often, managers have a hard time envisioning their employees stepping into and embracing new responsibilities and problem-solving techniques. </a:t>
            </a:r>
          </a:p>
          <a:p>
            <a:r>
              <a:rPr lang="en-US" dirty="0"/>
              <a:t>The most effective Agile managers are those who know that the best way to truly embrace Agile is by letting go of their control and allowing the team to learn, and perhaps fail.</a:t>
            </a:r>
            <a:endParaRPr lang="en-IN" dirty="0"/>
          </a:p>
        </p:txBody>
      </p:sp>
    </p:spTree>
    <p:extLst>
      <p:ext uri="{BB962C8B-B14F-4D97-AF65-F5344CB8AC3E}">
        <p14:creationId xmlns:p14="http://schemas.microsoft.com/office/powerpoint/2010/main" val="4146536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2E2E-26D5-8CA0-3FE1-698ACBC68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4D463-DDB4-2B63-24D6-7E1111F8971A}"/>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07E72E47-64E7-BE93-BF52-284AB229CA1E}"/>
              </a:ext>
            </a:extLst>
          </p:cNvPr>
          <p:cNvSpPr>
            <a:spLocks noGrp="1"/>
          </p:cNvSpPr>
          <p:nvPr>
            <p:ph idx="1"/>
          </p:nvPr>
        </p:nvSpPr>
        <p:spPr/>
        <p:txBody>
          <a:bodyPr>
            <a:normAutofit/>
          </a:bodyPr>
          <a:lstStyle/>
          <a:p>
            <a:pPr algn="ctr"/>
            <a:r>
              <a:rPr lang="en-IN" b="1" i="1" dirty="0">
                <a:solidFill>
                  <a:srgbClr val="FF0000"/>
                </a:solidFill>
              </a:rPr>
              <a:t>Failures/ Risks</a:t>
            </a:r>
          </a:p>
          <a:p>
            <a:r>
              <a:rPr lang="en-IN" b="1" i="1" dirty="0"/>
              <a:t>Command and Control</a:t>
            </a:r>
          </a:p>
          <a:p>
            <a:r>
              <a:rPr lang="en-US" dirty="0"/>
              <a:t>“I like being able to manage people, control the environment, and manipulate the teams to get the deliverable that I want.” </a:t>
            </a:r>
          </a:p>
          <a:p>
            <a:r>
              <a:rPr lang="en-US" dirty="0"/>
              <a:t>A person with this type of philosophy will have a very hard time adjusting to an Agile environment.</a:t>
            </a:r>
            <a:endParaRPr lang="en-IN" dirty="0"/>
          </a:p>
        </p:txBody>
      </p:sp>
    </p:spTree>
    <p:extLst>
      <p:ext uri="{BB962C8B-B14F-4D97-AF65-F5344CB8AC3E}">
        <p14:creationId xmlns:p14="http://schemas.microsoft.com/office/powerpoint/2010/main" val="4186615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D9315-3A09-F093-FC02-49DE44F71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FF9BF-A51E-0DDE-9CD6-3526E48DE65A}"/>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4475D90E-6729-A60F-94A7-8A5BECB085FD}"/>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Command and Control</a:t>
            </a:r>
          </a:p>
          <a:p>
            <a:r>
              <a:rPr lang="en-US" dirty="0"/>
              <a:t>Ask questions instead of offering solutions. </a:t>
            </a:r>
          </a:p>
          <a:p>
            <a:pPr lvl="1"/>
            <a:r>
              <a:rPr lang="en-US" dirty="0"/>
              <a:t>If a manager can shift into a questioning mode, he or she can help the team to self-organize and establish trust. </a:t>
            </a:r>
          </a:p>
          <a:p>
            <a:pPr lvl="1"/>
            <a:r>
              <a:rPr lang="en-US" dirty="0"/>
              <a:t>This could be as simple as asking “What do you think we should do next?”</a:t>
            </a:r>
          </a:p>
          <a:p>
            <a:r>
              <a:rPr lang="en-US" dirty="0"/>
              <a:t>Direct others to the team.</a:t>
            </a:r>
          </a:p>
          <a:p>
            <a:pPr lvl="1"/>
            <a:r>
              <a:rPr lang="en-US" dirty="0"/>
              <a:t>If someone from another organization has a question or needs information, instead of immediately answering, as command and control personalities tend to do, a manager can encourage that person to ask the team directly. </a:t>
            </a:r>
          </a:p>
          <a:p>
            <a:pPr lvl="1"/>
            <a:r>
              <a:rPr lang="en-US" dirty="0"/>
              <a:t>This will position the team as the authoritative </a:t>
            </a:r>
            <a:r>
              <a:rPr lang="en-IN" dirty="0"/>
              <a:t>source of information.</a:t>
            </a:r>
          </a:p>
        </p:txBody>
      </p:sp>
    </p:spTree>
    <p:extLst>
      <p:ext uri="{BB962C8B-B14F-4D97-AF65-F5344CB8AC3E}">
        <p14:creationId xmlns:p14="http://schemas.microsoft.com/office/powerpoint/2010/main" val="4049092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8677D-3527-55A6-6D55-CA371A638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2DC3A7-5F29-B5DE-D162-5FB8FBED0929}"/>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14111F23-1378-3F3F-81F0-DBF63F6009A5}"/>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Command and Control</a:t>
            </a:r>
          </a:p>
          <a:p>
            <a:r>
              <a:rPr lang="en-US" dirty="0"/>
              <a:t>Do not talk. </a:t>
            </a:r>
          </a:p>
          <a:p>
            <a:pPr lvl="1"/>
            <a:r>
              <a:rPr lang="en-US" dirty="0"/>
              <a:t>When a command and control manager attends a meeting, typically the first impulse is to actively contribute to the meeting to advance the discussion. </a:t>
            </a:r>
          </a:p>
          <a:p>
            <a:pPr lvl="1"/>
            <a:r>
              <a:rPr lang="en-US" dirty="0"/>
              <a:t>As a start to break down this tendency, a manager can try not to speak during an entire meeting. </a:t>
            </a:r>
          </a:p>
          <a:p>
            <a:pPr lvl="1"/>
            <a:r>
              <a:rPr lang="en-US" dirty="0"/>
              <a:t>The silence might be profound, particularly if the team is conditioned to receiving direction. </a:t>
            </a:r>
          </a:p>
          <a:p>
            <a:pPr lvl="1"/>
            <a:r>
              <a:rPr lang="en-US" dirty="0"/>
              <a:t>The manager can embrace the silence and let the team members fill it with their ideas and suggestions.</a:t>
            </a:r>
            <a:endParaRPr lang="en-IN" dirty="0"/>
          </a:p>
        </p:txBody>
      </p:sp>
    </p:spTree>
    <p:extLst>
      <p:ext uri="{BB962C8B-B14F-4D97-AF65-F5344CB8AC3E}">
        <p14:creationId xmlns:p14="http://schemas.microsoft.com/office/powerpoint/2010/main" val="2902067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2CF3-D840-86DC-42CD-B70341DE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2665-3940-C896-E034-D285FAC85B3E}"/>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41B72BBB-D50F-5E06-BC06-9973E7FC1331}"/>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Territorial</a:t>
            </a:r>
          </a:p>
          <a:p>
            <a:r>
              <a:rPr lang="en-US" dirty="0"/>
              <a:t>Some managers truly believe that they </a:t>
            </a:r>
            <a:r>
              <a:rPr lang="en-US" b="1" dirty="0">
                <a:effectLst>
                  <a:outerShdw blurRad="38100" dist="38100" dir="2700000" algn="tl">
                    <a:srgbClr val="000000">
                      <a:alpha val="43137"/>
                    </a:srgbClr>
                  </a:outerShdw>
                </a:effectLst>
              </a:rPr>
              <a:t>“own” </a:t>
            </a:r>
            <a:r>
              <a:rPr lang="en-US" dirty="0"/>
              <a:t>a process or an application and that no one should make decisions on that process or application without their involvement and consent. </a:t>
            </a:r>
          </a:p>
          <a:p>
            <a:r>
              <a:rPr lang="en-US" dirty="0"/>
              <a:t>Agile is very collaborative and customer-focused, and </a:t>
            </a:r>
          </a:p>
          <a:p>
            <a:r>
              <a:rPr lang="en-US" dirty="0"/>
              <a:t>If a solution is presented that crosses systems or changes workflows to enhance the experience for the customer, that effort needs to be allowed to proceed without deference to artificial organizational boundaries.</a:t>
            </a:r>
            <a:endParaRPr lang="en-IN" dirty="0"/>
          </a:p>
        </p:txBody>
      </p:sp>
    </p:spTree>
    <p:extLst>
      <p:ext uri="{BB962C8B-B14F-4D97-AF65-F5344CB8AC3E}">
        <p14:creationId xmlns:p14="http://schemas.microsoft.com/office/powerpoint/2010/main" val="35937525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2CF3-D840-86DC-42CD-B70341DE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2665-3940-C896-E034-D285FAC85B3E}"/>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41B72BBB-D50F-5E06-BC06-9973E7FC1331}"/>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Territorial</a:t>
            </a:r>
          </a:p>
          <a:p>
            <a:r>
              <a:rPr lang="en-US" dirty="0"/>
              <a:t>Ownership is a difficult challenge within Agile because we want people to feel accountable for their work. </a:t>
            </a:r>
          </a:p>
          <a:p>
            <a:r>
              <a:rPr lang="en-US" dirty="0"/>
              <a:t>Some could view territorialism as ownership, which implies accountability. </a:t>
            </a:r>
          </a:p>
          <a:p>
            <a:r>
              <a:rPr lang="en-US" dirty="0"/>
              <a:t>The difference that Agile presents is that territorialism for the sake of ownership is bad; accountability for the sake of delivering business value to the organization is good.</a:t>
            </a:r>
            <a:endParaRPr lang="en-IN" dirty="0"/>
          </a:p>
        </p:txBody>
      </p:sp>
    </p:spTree>
    <p:extLst>
      <p:ext uri="{BB962C8B-B14F-4D97-AF65-F5344CB8AC3E}">
        <p14:creationId xmlns:p14="http://schemas.microsoft.com/office/powerpoint/2010/main" val="3231324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2CF3-D840-86DC-42CD-B70341DE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2665-3940-C896-E034-D285FAC85B3E}"/>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41B72BBB-D50F-5E06-BC06-9973E7FC1331}"/>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Territorial</a:t>
            </a:r>
          </a:p>
          <a:p>
            <a:r>
              <a:rPr lang="en-US" dirty="0"/>
              <a:t>Whenever managers find themselves feeling uncomfortable about what is being suggested for “their” application, the best course of action is to step away from the technical details of the situation and dive into the business problem that they are trying to solve. </a:t>
            </a:r>
          </a:p>
          <a:p>
            <a:r>
              <a:rPr lang="en-US" dirty="0"/>
              <a:t>The better we understand the end users’ pain point, the better we can devise solutions, without undue deference to a particular system or workflow. </a:t>
            </a:r>
          </a:p>
          <a:p>
            <a:r>
              <a:rPr lang="en-US" dirty="0"/>
              <a:t>Looking through the eyes of the customer can tear down territorial boundaries quickly.</a:t>
            </a:r>
            <a:endParaRPr lang="en-IN" dirty="0"/>
          </a:p>
        </p:txBody>
      </p:sp>
    </p:spTree>
    <p:extLst>
      <p:ext uri="{BB962C8B-B14F-4D97-AF65-F5344CB8AC3E}">
        <p14:creationId xmlns:p14="http://schemas.microsoft.com/office/powerpoint/2010/main" val="38026614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2CF3-D840-86DC-42CD-B70341DE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2665-3940-C896-E034-D285FAC85B3E}"/>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41B72BBB-D50F-5E06-BC06-9973E7FC1331}"/>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Team Oversight</a:t>
            </a:r>
          </a:p>
          <a:p>
            <a:r>
              <a:rPr lang="en-US" dirty="0"/>
              <a:t>Another failure that comes up from time to time involves managers who simply cannot let go of the team.</a:t>
            </a:r>
          </a:p>
          <a:p>
            <a:r>
              <a:rPr lang="en-US" dirty="0"/>
              <a:t>They continue to distribute work to team members, thwarting their ability to self-organize. </a:t>
            </a:r>
          </a:p>
          <a:p>
            <a:r>
              <a:rPr lang="en-US" dirty="0"/>
              <a:t>Managers who attend and actively participate in the daily stand-up are not allowing the team to self-organize, and those who dictate roles on the team are not helping the Agile environment.</a:t>
            </a:r>
            <a:endParaRPr lang="en-IN" dirty="0"/>
          </a:p>
        </p:txBody>
      </p:sp>
    </p:spTree>
    <p:extLst>
      <p:ext uri="{BB962C8B-B14F-4D97-AF65-F5344CB8AC3E}">
        <p14:creationId xmlns:p14="http://schemas.microsoft.com/office/powerpoint/2010/main" val="1285453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2CF3-D840-86DC-42CD-B70341DE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2665-3940-C896-E034-D285FAC85B3E}"/>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41B72BBB-D50F-5E06-BC06-9973E7FC1331}"/>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Team Oversight</a:t>
            </a:r>
          </a:p>
          <a:p>
            <a:r>
              <a:rPr lang="en-US" dirty="0"/>
              <a:t>How can managers overcome their need to get involved in day-to-day decisions and team oversight? </a:t>
            </a:r>
          </a:p>
          <a:p>
            <a:r>
              <a:rPr lang="en-US" dirty="0"/>
              <a:t>One of the fastest cures to this problem is to stop attending the meetings.</a:t>
            </a:r>
          </a:p>
          <a:p>
            <a:r>
              <a:rPr lang="en-US" dirty="0"/>
              <a:t>This happened at Cayman Design, where a manager chose to stop attending the meetings and would get the necessary information from the transparency Agile afforded.</a:t>
            </a:r>
            <a:endParaRPr lang="en-IN" dirty="0"/>
          </a:p>
        </p:txBody>
      </p:sp>
    </p:spTree>
    <p:extLst>
      <p:ext uri="{BB962C8B-B14F-4D97-AF65-F5344CB8AC3E}">
        <p14:creationId xmlns:p14="http://schemas.microsoft.com/office/powerpoint/2010/main" val="3207987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2CF3-D840-86DC-42CD-B70341DE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2665-3940-C896-E034-D285FAC85B3E}"/>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41B72BBB-D50F-5E06-BC06-9973E7FC1331}"/>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Team Oversight</a:t>
            </a:r>
          </a:p>
          <a:p>
            <a:r>
              <a:rPr lang="en-US" dirty="0"/>
              <a:t>At first, the manager’s absence slowed the team down because they believed they needed her to make key decisions. </a:t>
            </a:r>
          </a:p>
          <a:p>
            <a:r>
              <a:rPr lang="en-US" dirty="0"/>
              <a:t>Over time, the team realized that the manager was not going to attend the meetings, so they needed to solve their own problems and come up with their own recommendations.</a:t>
            </a:r>
            <a:endParaRPr lang="en-IN" dirty="0"/>
          </a:p>
        </p:txBody>
      </p:sp>
    </p:spTree>
    <p:extLst>
      <p:ext uri="{BB962C8B-B14F-4D97-AF65-F5344CB8AC3E}">
        <p14:creationId xmlns:p14="http://schemas.microsoft.com/office/powerpoint/2010/main" val="1770245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2CF3-D840-86DC-42CD-B70341DEC1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22665-3940-C896-E034-D285FAC85B3E}"/>
              </a:ext>
            </a:extLst>
          </p:cNvPr>
          <p:cNvSpPr>
            <a:spLocks noGrp="1"/>
          </p:cNvSpPr>
          <p:nvPr>
            <p:ph type="title"/>
          </p:nvPr>
        </p:nvSpPr>
        <p:spPr/>
        <p:txBody>
          <a:bodyPr/>
          <a:lstStyle/>
          <a:p>
            <a:r>
              <a:rPr lang="en-IN" dirty="0"/>
              <a:t>A Manager’s Viewpoint</a:t>
            </a:r>
          </a:p>
        </p:txBody>
      </p:sp>
      <p:sp>
        <p:nvSpPr>
          <p:cNvPr id="3" name="Content Placeholder 2">
            <a:extLst>
              <a:ext uri="{FF2B5EF4-FFF2-40B4-BE49-F238E27FC236}">
                <a16:creationId xmlns:a16="http://schemas.microsoft.com/office/drawing/2014/main" id="{41B72BBB-D50F-5E06-BC06-9973E7FC1331}"/>
              </a:ext>
            </a:extLst>
          </p:cNvPr>
          <p:cNvSpPr>
            <a:spLocks noGrp="1"/>
          </p:cNvSpPr>
          <p:nvPr>
            <p:ph idx="1"/>
          </p:nvPr>
        </p:nvSpPr>
        <p:spPr>
          <a:xfrm>
            <a:off x="266330" y="1020932"/>
            <a:ext cx="8611340" cy="5700544"/>
          </a:xfrm>
        </p:spPr>
        <p:txBody>
          <a:bodyPr>
            <a:normAutofit/>
          </a:bodyPr>
          <a:lstStyle/>
          <a:p>
            <a:pPr algn="ctr"/>
            <a:r>
              <a:rPr lang="en-IN" b="1" i="1" dirty="0">
                <a:solidFill>
                  <a:srgbClr val="FF0000"/>
                </a:solidFill>
              </a:rPr>
              <a:t>Failures/ Risks</a:t>
            </a:r>
          </a:p>
          <a:p>
            <a:r>
              <a:rPr lang="en-IN" b="1" i="1" dirty="0"/>
              <a:t>Team Oversight</a:t>
            </a:r>
          </a:p>
          <a:p>
            <a:r>
              <a:rPr lang="en-US" dirty="0"/>
              <a:t>It is important to note that an Agile transformation does not happen overnight: </a:t>
            </a:r>
          </a:p>
          <a:p>
            <a:r>
              <a:rPr lang="en-US"/>
              <a:t>Managers </a:t>
            </a:r>
            <a:r>
              <a:rPr lang="en-US" dirty="0"/>
              <a:t>do not move in one motion from being controlling and territorial to being collaborative and enabling, nor do teams accept the accountability of becoming self-organizing and decisive in short order</a:t>
            </a:r>
            <a:r>
              <a:rPr lang="en-US"/>
              <a:t>. </a:t>
            </a:r>
          </a:p>
          <a:p>
            <a:r>
              <a:rPr lang="en-US"/>
              <a:t>Organizations </a:t>
            </a:r>
            <a:r>
              <a:rPr lang="en-US" dirty="0"/>
              <a:t>must be thoughtful and deliberate with the Agile adoption, always striving to embrace the Agile principles and continuously improve.</a:t>
            </a:r>
            <a:endParaRPr lang="en-IN" dirty="0"/>
          </a:p>
        </p:txBody>
      </p:sp>
    </p:spTree>
    <p:extLst>
      <p:ext uri="{BB962C8B-B14F-4D97-AF65-F5344CB8AC3E}">
        <p14:creationId xmlns:p14="http://schemas.microsoft.com/office/powerpoint/2010/main" val="31937540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FC49B-F00A-201E-ED96-D29B6FBD59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F4931-4627-7EA6-02A3-47D5A2CADC75}"/>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4B3C5C2F-5E4F-4B94-CBD8-6905B50711CB}"/>
              </a:ext>
            </a:extLst>
          </p:cNvPr>
          <p:cNvSpPr>
            <a:spLocks noGrp="1"/>
          </p:cNvSpPr>
          <p:nvPr>
            <p:ph idx="1"/>
          </p:nvPr>
        </p:nvSpPr>
        <p:spPr>
          <a:xfrm>
            <a:off x="266330" y="1020932"/>
            <a:ext cx="8611340" cy="5700544"/>
          </a:xfrm>
        </p:spPr>
        <p:txBody>
          <a:bodyPr>
            <a:normAutofit/>
          </a:bodyPr>
          <a:lstStyle/>
          <a:p>
            <a:r>
              <a:rPr lang="en-US" dirty="0"/>
              <a:t>Executives play a critical role in an Agile transformation, because they hold the power in terms of budget and personnel resources to either back the Agile transformation or reinforce the ways of the past. </a:t>
            </a:r>
          </a:p>
          <a:p>
            <a:r>
              <a:rPr lang="en-US" dirty="0"/>
              <a:t>They also have the opportunity (and obligation) to lead by example, because others in the organization are surely watching to see if situations are handled differently, now that they are an “Agile” organization.</a:t>
            </a:r>
            <a:endParaRPr lang="en-IN" dirty="0"/>
          </a:p>
        </p:txBody>
      </p:sp>
    </p:spTree>
    <p:extLst>
      <p:ext uri="{BB962C8B-B14F-4D97-AF65-F5344CB8AC3E}">
        <p14:creationId xmlns:p14="http://schemas.microsoft.com/office/powerpoint/2010/main" val="28702827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AFD77-7D7C-60A9-922B-5296819EF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C4FBF-751A-4251-8440-38D87620F20B}"/>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B3B752C4-C977-18E6-65EB-903F5FF24487}"/>
              </a:ext>
            </a:extLst>
          </p:cNvPr>
          <p:cNvSpPr>
            <a:spLocks noGrp="1"/>
          </p:cNvSpPr>
          <p:nvPr>
            <p:ph idx="1"/>
          </p:nvPr>
        </p:nvSpPr>
        <p:spPr>
          <a:xfrm>
            <a:off x="266330" y="1020932"/>
            <a:ext cx="8611340" cy="5700544"/>
          </a:xfrm>
        </p:spPr>
        <p:txBody>
          <a:bodyPr>
            <a:normAutofit/>
          </a:bodyPr>
          <a:lstStyle/>
          <a:p>
            <a:r>
              <a:rPr lang="en-IN" b="1" dirty="0"/>
              <a:t>What Is Different?</a:t>
            </a:r>
          </a:p>
          <a:p>
            <a:r>
              <a:rPr lang="en-US" dirty="0"/>
              <a:t>How an executive’s role changes within Agile is interesting. </a:t>
            </a:r>
          </a:p>
          <a:p>
            <a:r>
              <a:rPr lang="en-US" dirty="0"/>
              <a:t>Many executives are the sponsors of the Agile transformation without a deep realization that their role will also be altered. </a:t>
            </a:r>
          </a:p>
          <a:p>
            <a:r>
              <a:rPr lang="en-US" dirty="0"/>
              <a:t>Outlined next are several examples of how executives are asked to stretch and evolve in an Agile environment.</a:t>
            </a:r>
            <a:endParaRPr lang="en-IN" dirty="0"/>
          </a:p>
        </p:txBody>
      </p:sp>
    </p:spTree>
    <p:extLst>
      <p:ext uri="{BB962C8B-B14F-4D97-AF65-F5344CB8AC3E}">
        <p14:creationId xmlns:p14="http://schemas.microsoft.com/office/powerpoint/2010/main" val="12473012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58C7E-A95D-CB2F-5D24-58E680F28E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E7345-572C-0DED-F223-D5BF611801F1}"/>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55A79FD2-7AF4-5D70-3081-82BB1B259146}"/>
              </a:ext>
            </a:extLst>
          </p:cNvPr>
          <p:cNvSpPr>
            <a:spLocks noGrp="1"/>
          </p:cNvSpPr>
          <p:nvPr>
            <p:ph idx="1"/>
          </p:nvPr>
        </p:nvSpPr>
        <p:spPr>
          <a:xfrm>
            <a:off x="266330" y="1020932"/>
            <a:ext cx="8611340" cy="5700544"/>
          </a:xfrm>
        </p:spPr>
        <p:txBody>
          <a:bodyPr>
            <a:normAutofit/>
          </a:bodyPr>
          <a:lstStyle/>
          <a:p>
            <a:r>
              <a:rPr lang="en-IN" b="1" dirty="0"/>
              <a:t>Embracing Evolving Requirements</a:t>
            </a:r>
          </a:p>
          <a:p>
            <a:r>
              <a:rPr lang="en-US" dirty="0"/>
              <a:t>Executives are tasked with budgets, milestones, and reporting progress to the board of directors, shareholders, and others who have invested in the success of the company. </a:t>
            </a:r>
          </a:p>
          <a:p>
            <a:r>
              <a:rPr lang="en-US" dirty="0"/>
              <a:t>The executives need to be wise stewards of the financial resources that they control to ensure company success; that is a heavy responsibility, which makes many executives want to chart a clear path before a dime is spent.</a:t>
            </a:r>
            <a:endParaRPr lang="en-IN" dirty="0"/>
          </a:p>
        </p:txBody>
      </p:sp>
    </p:spTree>
    <p:extLst>
      <p:ext uri="{BB962C8B-B14F-4D97-AF65-F5344CB8AC3E}">
        <p14:creationId xmlns:p14="http://schemas.microsoft.com/office/powerpoint/2010/main" val="142284245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51594-06DD-041B-18F6-645EF1F4B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B1F06-8925-E4B5-707A-345CA497A212}"/>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5A2A83FC-7F93-D2F6-5D0F-C03175AE2383}"/>
              </a:ext>
            </a:extLst>
          </p:cNvPr>
          <p:cNvSpPr>
            <a:spLocks noGrp="1"/>
          </p:cNvSpPr>
          <p:nvPr>
            <p:ph idx="1"/>
          </p:nvPr>
        </p:nvSpPr>
        <p:spPr>
          <a:xfrm>
            <a:off x="266330" y="1020932"/>
            <a:ext cx="8611340" cy="5700544"/>
          </a:xfrm>
        </p:spPr>
        <p:txBody>
          <a:bodyPr>
            <a:normAutofit/>
          </a:bodyPr>
          <a:lstStyle/>
          <a:p>
            <a:r>
              <a:rPr lang="en-IN" b="1" dirty="0"/>
              <a:t>Embracing Evolving Requirements</a:t>
            </a:r>
          </a:p>
          <a:p>
            <a:r>
              <a:rPr lang="en-US" dirty="0"/>
              <a:t>This type of thinking works well in a Waterfall environment, where we complete our requirements before we utilize our often expensive development resources. </a:t>
            </a:r>
          </a:p>
          <a:p>
            <a:r>
              <a:rPr lang="en-US" dirty="0"/>
              <a:t>However, the ever-increasing pace of change in the marketplace makes it increasingly difficult to map out an entire project before we even begin. </a:t>
            </a:r>
          </a:p>
          <a:p>
            <a:r>
              <a:rPr lang="en-US" dirty="0"/>
              <a:t>Agile asks executives to shift from operating capital budgets with robust (though often inaccurate) business cases to an environment of rapid delivery and inspection.</a:t>
            </a:r>
            <a:endParaRPr lang="en-IN" dirty="0"/>
          </a:p>
        </p:txBody>
      </p:sp>
    </p:spTree>
    <p:extLst>
      <p:ext uri="{BB962C8B-B14F-4D97-AF65-F5344CB8AC3E}">
        <p14:creationId xmlns:p14="http://schemas.microsoft.com/office/powerpoint/2010/main" val="27869854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DF16D-A0EE-4AD5-AB39-BF46E43CB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1E058-89D4-E9E9-6422-85EE7CC7D1DA}"/>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E8868098-8210-4EF9-CB2B-773C894B988B}"/>
              </a:ext>
            </a:extLst>
          </p:cNvPr>
          <p:cNvSpPr>
            <a:spLocks noGrp="1"/>
          </p:cNvSpPr>
          <p:nvPr>
            <p:ph idx="1"/>
          </p:nvPr>
        </p:nvSpPr>
        <p:spPr>
          <a:xfrm>
            <a:off x="266330" y="1020932"/>
            <a:ext cx="8611340" cy="5700544"/>
          </a:xfrm>
        </p:spPr>
        <p:txBody>
          <a:bodyPr>
            <a:normAutofit/>
          </a:bodyPr>
          <a:lstStyle/>
          <a:p>
            <a:r>
              <a:rPr lang="en-IN" b="1" dirty="0"/>
              <a:t>Respecting the Priorities</a:t>
            </a:r>
          </a:p>
          <a:p>
            <a:r>
              <a:rPr lang="en-US" dirty="0"/>
              <a:t>Executives in all organizations participate in different conversations than the developers and managers, and this leads to slightly different perspectives. </a:t>
            </a:r>
          </a:p>
          <a:p>
            <a:r>
              <a:rPr lang="en-US" dirty="0"/>
              <a:t>If an executive has just been grilled by an existing customer over a problem in the product, or by a high-margin prospect who will sign the contract only if a specific feature is added, it is common for the executive to place high priority on that immediate feedback. </a:t>
            </a:r>
          </a:p>
          <a:p>
            <a:r>
              <a:rPr lang="en-US" dirty="0"/>
              <a:t>Keeping customers happy and gaining new business are critical to the organization and its longevity, so executives are justified in their sense of urgency.</a:t>
            </a:r>
          </a:p>
        </p:txBody>
      </p:sp>
    </p:spTree>
    <p:extLst>
      <p:ext uri="{BB962C8B-B14F-4D97-AF65-F5344CB8AC3E}">
        <p14:creationId xmlns:p14="http://schemas.microsoft.com/office/powerpoint/2010/main" val="20059982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FC648-FDC0-98A8-E5A8-CBF0597FA5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F0E6C-D0AB-9D04-A9AC-D925C600F03A}"/>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AAB2757A-9AF4-325F-2A74-4D0A25DB0830}"/>
              </a:ext>
            </a:extLst>
          </p:cNvPr>
          <p:cNvSpPr>
            <a:spLocks noGrp="1"/>
          </p:cNvSpPr>
          <p:nvPr>
            <p:ph idx="1"/>
          </p:nvPr>
        </p:nvSpPr>
        <p:spPr>
          <a:xfrm>
            <a:off x="266330" y="1020932"/>
            <a:ext cx="8611340" cy="5700544"/>
          </a:xfrm>
        </p:spPr>
        <p:txBody>
          <a:bodyPr>
            <a:normAutofit/>
          </a:bodyPr>
          <a:lstStyle/>
          <a:p>
            <a:r>
              <a:rPr lang="en-IN" b="1" dirty="0"/>
              <a:t>Respecting the Priorities</a:t>
            </a:r>
          </a:p>
          <a:p>
            <a:r>
              <a:rPr lang="en-US" dirty="0"/>
              <a:t>This becomes detrimental in an Agile organization when the executive priority disrupts the current work that has been fully groomed, and has been committed to by the development team.</a:t>
            </a:r>
          </a:p>
          <a:p>
            <a:r>
              <a:rPr lang="en-US" dirty="0"/>
              <a:t>Stopping their work in progress is hazardous and often unnecessary. </a:t>
            </a:r>
          </a:p>
          <a:p>
            <a:r>
              <a:rPr lang="en-US" dirty="0"/>
              <a:t>What an experienced Agile executive will do is understand and respect the current priority projects being delivered and will send the request to the appropriate product owner to begin exploring all of the details of the new request.</a:t>
            </a:r>
          </a:p>
        </p:txBody>
      </p:sp>
    </p:spTree>
    <p:extLst>
      <p:ext uri="{BB962C8B-B14F-4D97-AF65-F5344CB8AC3E}">
        <p14:creationId xmlns:p14="http://schemas.microsoft.com/office/powerpoint/2010/main" val="24472000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BF757-0CE6-3BE3-D97A-C0441018B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6B09F-B6FC-DDEA-5848-F2D0CC514E52}"/>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1A6FC802-DEF2-42BF-7286-8A9CE1123E79}"/>
              </a:ext>
            </a:extLst>
          </p:cNvPr>
          <p:cNvSpPr>
            <a:spLocks noGrp="1"/>
          </p:cNvSpPr>
          <p:nvPr>
            <p:ph idx="1"/>
          </p:nvPr>
        </p:nvSpPr>
        <p:spPr>
          <a:xfrm>
            <a:off x="266330" y="1020932"/>
            <a:ext cx="8611340" cy="5700544"/>
          </a:xfrm>
        </p:spPr>
        <p:txBody>
          <a:bodyPr>
            <a:normAutofit/>
          </a:bodyPr>
          <a:lstStyle/>
          <a:p>
            <a:r>
              <a:rPr lang="en-IN" b="1" dirty="0"/>
              <a:t>Respecting the Priorities</a:t>
            </a:r>
          </a:p>
          <a:p>
            <a:r>
              <a:rPr lang="en-US" dirty="0"/>
              <a:t>The executive that says “stop everything and work on this” when “this” is likely ill-defined and not fully understood creates a chaotic environment where the teams are not able to deliver on their commitments.</a:t>
            </a:r>
          </a:p>
          <a:p>
            <a:r>
              <a:rPr lang="en-US" dirty="0"/>
              <a:t>Executives came to be in their positions because they are decisive, action oriented and results-driven, so their first impulse is to mandate an immediate response. </a:t>
            </a:r>
          </a:p>
          <a:p>
            <a:r>
              <a:rPr lang="en-US" dirty="0"/>
              <a:t>However, respecting the existing priorities, providing the team with an opportunity to clarify the details and examine the best solution, and allowing the team to finish the work currently in flight will lead to much more consistent and predictable results.</a:t>
            </a:r>
          </a:p>
        </p:txBody>
      </p:sp>
    </p:spTree>
    <p:extLst>
      <p:ext uri="{BB962C8B-B14F-4D97-AF65-F5344CB8AC3E}">
        <p14:creationId xmlns:p14="http://schemas.microsoft.com/office/powerpoint/2010/main" val="1299407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90345-580B-E119-077A-6E1F3D645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149D18-98E9-7A70-AA65-2FE848E1657F}"/>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31F8BEF1-1005-1F62-9BE4-6634CC889763}"/>
              </a:ext>
            </a:extLst>
          </p:cNvPr>
          <p:cNvSpPr>
            <a:spLocks noGrp="1"/>
          </p:cNvSpPr>
          <p:nvPr>
            <p:ph idx="1"/>
          </p:nvPr>
        </p:nvSpPr>
        <p:spPr>
          <a:xfrm>
            <a:off x="266330" y="1020932"/>
            <a:ext cx="8611340" cy="5700544"/>
          </a:xfrm>
        </p:spPr>
        <p:txBody>
          <a:bodyPr>
            <a:normAutofit/>
          </a:bodyPr>
          <a:lstStyle/>
          <a:p>
            <a:r>
              <a:rPr lang="en-IN" b="1" dirty="0"/>
              <a:t>Not </a:t>
            </a:r>
            <a:r>
              <a:rPr lang="en-IN" b="1" dirty="0" err="1"/>
              <a:t>Honoring</a:t>
            </a:r>
            <a:r>
              <a:rPr lang="en-IN" b="1" dirty="0"/>
              <a:t> Commitments</a:t>
            </a:r>
          </a:p>
          <a:p>
            <a:r>
              <a:rPr lang="en-US" dirty="0"/>
              <a:t>One of the most common mistakes that executives make is not allowing the teams to honor their commitments. </a:t>
            </a:r>
          </a:p>
          <a:p>
            <a:r>
              <a:rPr lang="en-US" dirty="0"/>
              <a:t>What does this mean? It means that once a sprint goal is committed to, there should be no changes to that goal.</a:t>
            </a:r>
          </a:p>
          <a:p>
            <a:r>
              <a:rPr lang="en-US" dirty="0"/>
              <a:t>This is especially difficult for executives because there is always some crisis or customer request or great idea that an executive wants the team to investigate immediately, and there is a tendency for executives to pull the team off their sprint commitment to work on the latest critical task.</a:t>
            </a:r>
          </a:p>
        </p:txBody>
      </p:sp>
    </p:spTree>
    <p:extLst>
      <p:ext uri="{BB962C8B-B14F-4D97-AF65-F5344CB8AC3E}">
        <p14:creationId xmlns:p14="http://schemas.microsoft.com/office/powerpoint/2010/main" val="6166689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A7ED4-3548-0435-FBBA-E175EC02E1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112FF-A689-6FE4-710C-D161985E6BCE}"/>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ED0E97EF-AD43-05F8-8A38-F17F257547AA}"/>
              </a:ext>
            </a:extLst>
          </p:cNvPr>
          <p:cNvSpPr>
            <a:spLocks noGrp="1"/>
          </p:cNvSpPr>
          <p:nvPr>
            <p:ph idx="1"/>
          </p:nvPr>
        </p:nvSpPr>
        <p:spPr>
          <a:xfrm>
            <a:off x="266330" y="1020932"/>
            <a:ext cx="8611340" cy="5700544"/>
          </a:xfrm>
        </p:spPr>
        <p:txBody>
          <a:bodyPr>
            <a:normAutofit/>
          </a:bodyPr>
          <a:lstStyle/>
          <a:p>
            <a:r>
              <a:rPr lang="en-IN" b="1" dirty="0"/>
              <a:t>Not </a:t>
            </a:r>
            <a:r>
              <a:rPr lang="en-IN" b="1" dirty="0" err="1"/>
              <a:t>Honoring</a:t>
            </a:r>
            <a:r>
              <a:rPr lang="en-IN" b="1" dirty="0"/>
              <a:t> Commitments</a:t>
            </a:r>
          </a:p>
          <a:p>
            <a:r>
              <a:rPr lang="en-US" dirty="0"/>
              <a:t>The executives that refrain from allowing their urgent requests to disrupt the team are more successful in their Agile adoptions.</a:t>
            </a:r>
          </a:p>
          <a:p>
            <a:r>
              <a:rPr lang="en-US" dirty="0"/>
              <a:t>Mike Cohn (2010) is very firm on this issue: “Nothing is allowed to change within the sprint.</a:t>
            </a:r>
          </a:p>
          <a:p>
            <a:r>
              <a:rPr lang="en-US" dirty="0"/>
              <a:t>The team commits to a set of work on the first day and then expects its priorities to remain unchanged for the length of the sprint”</a:t>
            </a:r>
          </a:p>
        </p:txBody>
      </p:sp>
    </p:spTree>
    <p:extLst>
      <p:ext uri="{BB962C8B-B14F-4D97-AF65-F5344CB8AC3E}">
        <p14:creationId xmlns:p14="http://schemas.microsoft.com/office/powerpoint/2010/main" val="29684467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081B0-677B-F672-F430-5A94AEADD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C528A-AA84-61CD-37A4-A17139EF2302}"/>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A4CB7312-4673-0C48-B174-E3F1D396DEFD}"/>
              </a:ext>
            </a:extLst>
          </p:cNvPr>
          <p:cNvSpPr>
            <a:spLocks noGrp="1"/>
          </p:cNvSpPr>
          <p:nvPr>
            <p:ph idx="1"/>
          </p:nvPr>
        </p:nvSpPr>
        <p:spPr>
          <a:xfrm>
            <a:off x="266330" y="1020932"/>
            <a:ext cx="8611340" cy="5700544"/>
          </a:xfrm>
        </p:spPr>
        <p:txBody>
          <a:bodyPr>
            <a:normAutofit/>
          </a:bodyPr>
          <a:lstStyle/>
          <a:p>
            <a:r>
              <a:rPr lang="en-IN" b="1" dirty="0"/>
              <a:t>Valuing the Wrong Metrics</a:t>
            </a:r>
          </a:p>
          <a:p>
            <a:r>
              <a:rPr lang="en-US" dirty="0"/>
              <a:t>Executives play such a critical role in an Agile transformation, and often they may not realize the messages that are sent to the organization when decisions are made, even with the best intentions;</a:t>
            </a:r>
          </a:p>
          <a:p>
            <a:r>
              <a:rPr lang="en-US" dirty="0"/>
              <a:t>Metrics are a perfect example of this concept. </a:t>
            </a:r>
          </a:p>
          <a:p>
            <a:r>
              <a:rPr lang="en-US" dirty="0"/>
              <a:t>A well-meaning executive can completely derail an Agile implementation by trying to measure the wrong things. Let’s look at a few examples.</a:t>
            </a:r>
          </a:p>
          <a:p>
            <a:pPr lvl="1"/>
            <a:r>
              <a:rPr lang="en-US" dirty="0"/>
              <a:t>Actual time taken to complete a task vs. estimated time</a:t>
            </a:r>
          </a:p>
          <a:p>
            <a:pPr lvl="1"/>
            <a:r>
              <a:rPr lang="en-US" dirty="0"/>
              <a:t>Velocity of Team A vs. Team B</a:t>
            </a:r>
          </a:p>
          <a:p>
            <a:pPr lvl="1"/>
            <a:r>
              <a:rPr lang="en-US" dirty="0"/>
              <a:t>Number of stories with acceptance criteria vs. those without</a:t>
            </a:r>
          </a:p>
        </p:txBody>
      </p:sp>
    </p:spTree>
    <p:extLst>
      <p:ext uri="{BB962C8B-B14F-4D97-AF65-F5344CB8AC3E}">
        <p14:creationId xmlns:p14="http://schemas.microsoft.com/office/powerpoint/2010/main" val="14437003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765F9-CC93-29B8-7147-9A314471D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F421B-2A47-9B26-BF93-B432C4997125}"/>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A9B33537-2FFB-F447-6A0C-B6CBA1E87CE8}"/>
              </a:ext>
            </a:extLst>
          </p:cNvPr>
          <p:cNvSpPr>
            <a:spLocks noGrp="1"/>
          </p:cNvSpPr>
          <p:nvPr>
            <p:ph idx="1"/>
          </p:nvPr>
        </p:nvSpPr>
        <p:spPr>
          <a:xfrm>
            <a:off x="266330" y="1020932"/>
            <a:ext cx="8611340" cy="5700544"/>
          </a:xfrm>
        </p:spPr>
        <p:txBody>
          <a:bodyPr>
            <a:normAutofit lnSpcReduction="10000"/>
          </a:bodyPr>
          <a:lstStyle/>
          <a:p>
            <a:r>
              <a:rPr lang="en-IN" b="1" dirty="0"/>
              <a:t>Valuing the Wrong Metrics</a:t>
            </a:r>
          </a:p>
          <a:p>
            <a:r>
              <a:rPr lang="en-US" dirty="0"/>
              <a:t>Each of these metrics may sound reasonable, but they could drive the wrong behavior. </a:t>
            </a:r>
          </a:p>
          <a:p>
            <a:r>
              <a:rPr lang="en-US" dirty="0"/>
              <a:t>With the first example, one might wonder: </a:t>
            </a:r>
          </a:p>
          <a:p>
            <a:r>
              <a:rPr lang="en-US" dirty="0"/>
              <a:t>What does the organization value, working software? or precise estimates? </a:t>
            </a:r>
          </a:p>
          <a:p>
            <a:r>
              <a:rPr lang="en-US" dirty="0"/>
              <a:t>Of course, Agile would like the estimates to be relevant and close to the level of effort required, but we want our developers to spend their time writing great software, not doing extensive research to ensure accuracy in their estimates. </a:t>
            </a:r>
          </a:p>
          <a:p>
            <a:r>
              <a:rPr lang="en-US" dirty="0"/>
              <a:t>Defining the wrong metric could force developers and testers to spend time in unproductive efforts.</a:t>
            </a:r>
          </a:p>
        </p:txBody>
      </p:sp>
    </p:spTree>
    <p:extLst>
      <p:ext uri="{BB962C8B-B14F-4D97-AF65-F5344CB8AC3E}">
        <p14:creationId xmlns:p14="http://schemas.microsoft.com/office/powerpoint/2010/main" val="33052150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19451-2E56-22DC-92C8-2DA718110C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478732-6399-0AE5-B55B-24C7EE896C31}"/>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284C6813-9E6A-2AD5-E9E8-BA72B01E1D40}"/>
              </a:ext>
            </a:extLst>
          </p:cNvPr>
          <p:cNvSpPr>
            <a:spLocks noGrp="1"/>
          </p:cNvSpPr>
          <p:nvPr>
            <p:ph idx="1"/>
          </p:nvPr>
        </p:nvSpPr>
        <p:spPr>
          <a:xfrm>
            <a:off x="266330" y="1020932"/>
            <a:ext cx="8611340" cy="5700544"/>
          </a:xfrm>
        </p:spPr>
        <p:txBody>
          <a:bodyPr>
            <a:normAutofit/>
          </a:bodyPr>
          <a:lstStyle/>
          <a:p>
            <a:r>
              <a:rPr lang="en-IN" b="1" dirty="0"/>
              <a:t>Valuing the Wrong Metrics</a:t>
            </a:r>
          </a:p>
          <a:p>
            <a:r>
              <a:rPr lang="en-US" dirty="0"/>
              <a:t>In the second example, velocity, or the amount of work that a team can accomplish during a sprint is a tool used to predict the amount of work that a team can commit to, not as a measure of productivity.</a:t>
            </a:r>
          </a:p>
          <a:p>
            <a:r>
              <a:rPr lang="en-US" dirty="0"/>
              <a:t>First, two teams could use different measures of effort—a medium sized task or an eight-point story might mean very different things to different teams. </a:t>
            </a:r>
          </a:p>
          <a:p>
            <a:r>
              <a:rPr lang="en-US" dirty="0"/>
              <a:t>Second, a dip in velocity might have nothing to do with productivity: </a:t>
            </a:r>
          </a:p>
          <a:p>
            <a:r>
              <a:rPr lang="en-US" dirty="0"/>
              <a:t>If Team B has three developers at a training class, then the amount of work they can accomplish is reduced, but not because the team is less productive.</a:t>
            </a:r>
          </a:p>
        </p:txBody>
      </p:sp>
    </p:spTree>
    <p:extLst>
      <p:ext uri="{BB962C8B-B14F-4D97-AF65-F5344CB8AC3E}">
        <p14:creationId xmlns:p14="http://schemas.microsoft.com/office/powerpoint/2010/main" val="41015818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C842C-A0C6-9F50-DB0E-8E0808785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C92EE-3A3F-5E85-A460-55125BC0922F}"/>
              </a:ext>
            </a:extLst>
          </p:cNvPr>
          <p:cNvSpPr>
            <a:spLocks noGrp="1"/>
          </p:cNvSpPr>
          <p:nvPr>
            <p:ph type="title"/>
          </p:nvPr>
        </p:nvSpPr>
        <p:spPr/>
        <p:txBody>
          <a:bodyPr/>
          <a:lstStyle/>
          <a:p>
            <a:r>
              <a:rPr lang="en-IN" dirty="0"/>
              <a:t>An Executive’s Viewpoint</a:t>
            </a:r>
          </a:p>
        </p:txBody>
      </p:sp>
      <p:sp>
        <p:nvSpPr>
          <p:cNvPr id="3" name="Content Placeholder 2">
            <a:extLst>
              <a:ext uri="{FF2B5EF4-FFF2-40B4-BE49-F238E27FC236}">
                <a16:creationId xmlns:a16="http://schemas.microsoft.com/office/drawing/2014/main" id="{E713DEC5-4B71-5784-CB00-D5AA4B268A2A}"/>
              </a:ext>
            </a:extLst>
          </p:cNvPr>
          <p:cNvSpPr>
            <a:spLocks noGrp="1"/>
          </p:cNvSpPr>
          <p:nvPr>
            <p:ph idx="1"/>
          </p:nvPr>
        </p:nvSpPr>
        <p:spPr>
          <a:xfrm>
            <a:off x="266330" y="1020932"/>
            <a:ext cx="8611340" cy="5700544"/>
          </a:xfrm>
        </p:spPr>
        <p:txBody>
          <a:bodyPr>
            <a:normAutofit fontScale="92500" lnSpcReduction="10000"/>
          </a:bodyPr>
          <a:lstStyle/>
          <a:p>
            <a:r>
              <a:rPr lang="en-IN" b="1" dirty="0"/>
              <a:t>Valuing the Wrong Metrics</a:t>
            </a:r>
          </a:p>
          <a:p>
            <a:r>
              <a:rPr lang="en-US" dirty="0"/>
              <a:t>Finally, with the third example, the premise behind Agile requirements gathering is that we are learning and negotiating on the best way to deliver maximum business value. </a:t>
            </a:r>
          </a:p>
          <a:p>
            <a:r>
              <a:rPr lang="en-US" dirty="0"/>
              <a:t>If we are measuring the performance of how stories are written, we may unknowingly reduce the conversation about that story.</a:t>
            </a:r>
          </a:p>
          <a:p>
            <a:r>
              <a:rPr lang="en-US" dirty="0"/>
              <a:t>Agile executives need to be very careful about the metrics they choose to ensure that incentives are provided for the correct behaviors. </a:t>
            </a:r>
          </a:p>
          <a:p>
            <a:r>
              <a:rPr lang="en-US" dirty="0"/>
              <a:t>Measuring success in an Agile environment is different from traditional metrics, as we now place a heavy emphasis on customer satisfaction, frequent delivery of working software, and continuous learning.</a:t>
            </a:r>
          </a:p>
        </p:txBody>
      </p:sp>
    </p:spTree>
    <p:extLst>
      <p:ext uri="{BB962C8B-B14F-4D97-AF65-F5344CB8AC3E}">
        <p14:creationId xmlns:p14="http://schemas.microsoft.com/office/powerpoint/2010/main" val="14948493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3294-12D4-2EF5-DA58-57C61BECAE95}"/>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78582AAB-2EE0-26A5-D895-81A7735A388C}"/>
              </a:ext>
            </a:extLst>
          </p:cNvPr>
          <p:cNvSpPr>
            <a:spLocks noGrp="1"/>
          </p:cNvSpPr>
          <p:nvPr>
            <p:ph idx="1"/>
          </p:nvPr>
        </p:nvSpPr>
        <p:spPr/>
        <p:txBody>
          <a:bodyPr>
            <a:normAutofit/>
          </a:bodyPr>
          <a:lstStyle/>
          <a:p>
            <a:r>
              <a:rPr lang="en-US" dirty="0"/>
              <a:t>The organizational culture impacts to an Agile transformation are profound.</a:t>
            </a:r>
          </a:p>
          <a:p>
            <a:r>
              <a:rPr lang="en-US" dirty="0"/>
              <a:t>Successful implementations need support from the team members, management, and executives to embrace new ways of completing work and collaborating.</a:t>
            </a:r>
          </a:p>
          <a:p>
            <a:r>
              <a:rPr lang="en-US" dirty="0"/>
              <a:t>Every role in the organization will be affected in some way, and by understanding what is different and what drives success in each role, </a:t>
            </a:r>
            <a:r>
              <a:rPr lang="en-US"/>
              <a:t>we are better </a:t>
            </a:r>
            <a:r>
              <a:rPr lang="en-US" dirty="0"/>
              <a:t>positioned for the increase in productivity, responsiveness, </a:t>
            </a:r>
            <a:r>
              <a:rPr lang="en-US"/>
              <a:t>and customer satisfaction </a:t>
            </a:r>
            <a:r>
              <a:rPr lang="en-US" dirty="0"/>
              <a:t>that can be delivered by becoming Agile.</a:t>
            </a:r>
            <a:endParaRPr lang="en-IN" dirty="0"/>
          </a:p>
        </p:txBody>
      </p:sp>
    </p:spTree>
    <p:extLst>
      <p:ext uri="{BB962C8B-B14F-4D97-AF65-F5344CB8AC3E}">
        <p14:creationId xmlns:p14="http://schemas.microsoft.com/office/powerpoint/2010/main" val="37791159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256</TotalTime>
  <Words>5259</Words>
  <Application>Microsoft Office PowerPoint</Application>
  <PresentationFormat>On-screen Show (4:3)</PresentationFormat>
  <Paragraphs>340</Paragraphs>
  <Slides>60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Calibri</vt:lpstr>
      <vt:lpstr>Calibri Light</vt:lpstr>
      <vt:lpstr>Office Theme</vt:lpstr>
      <vt:lpstr>Agile Software Engineering</vt:lpstr>
      <vt:lpstr>PowerPoint Presentation</vt:lpstr>
      <vt:lpstr>What Is Organizational Culture, and Why Does It Matter?</vt:lpstr>
      <vt:lpstr>What Is Organizational Culture, and Why Does It Matter?</vt:lpstr>
      <vt:lpstr>What Is Organizational Culture, and Why Does It Matter?</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The Team Members’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 Manager’s Viewpoint</vt:lpstr>
      <vt:lpstr>An Executive’s Viewpoint</vt:lpstr>
      <vt:lpstr>An Executive’s Viewpoint</vt:lpstr>
      <vt:lpstr>An Executive’s Viewpoint</vt:lpstr>
      <vt:lpstr>An Executive’s Viewpoint</vt:lpstr>
      <vt:lpstr>An Executive’s Viewpoint</vt:lpstr>
      <vt:lpstr>An Executive’s Viewpoint</vt:lpstr>
      <vt:lpstr>An Executive’s Viewpoint</vt:lpstr>
      <vt:lpstr>An Executive’s Viewpoint</vt:lpstr>
      <vt:lpstr>An Executive’s Viewpoint</vt:lpstr>
      <vt:lpstr>An Executive’s Viewpoint</vt:lpstr>
      <vt:lpstr>An Executive’s Viewpoint</vt:lpstr>
      <vt:lpstr>An Executive’s Viewpoint</vt:lpstr>
      <vt:lpstr>An Executive’s Viewpoint</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Nitin Uikey</dc:creator>
  <cp:lastModifiedBy>Nitin Uikey</cp:lastModifiedBy>
  <cp:revision>27</cp:revision>
  <dcterms:created xsi:type="dcterms:W3CDTF">2026-01-06T05:40:50Z</dcterms:created>
  <dcterms:modified xsi:type="dcterms:W3CDTF">2026-01-13T09:43:11Z</dcterms:modified>
</cp:coreProperties>
</file>