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3" d="100"/>
          <a:sy n="53" d="100"/>
        </p:scale>
        <p:origin x="90" y="2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84DFD94-9AF5-4750-A612-64C774B24713}" type="datetimeFigureOut">
              <a:rPr lang="en-IN" smtClean="0"/>
              <a:t>24-02-2026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609990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66330" y="136524"/>
            <a:ext cx="8611340" cy="789613"/>
          </a:xfrm>
        </p:spPr>
        <p:txBody>
          <a:bodyPr/>
          <a:lstStyle>
            <a:lvl1pPr>
              <a:defRPr b="1">
                <a:solidFill>
                  <a:srgbClr val="C00000"/>
                </a:solidFill>
                <a:effectLst>
                  <a:outerShdw blurRad="38100" dist="38100" dir="2700000" algn="tl">
                    <a:srgbClr val="000000">
                      <a:alpha val="43137"/>
                    </a:srgbClr>
                  </a:outerShdw>
                </a:effectLst>
              </a:defRPr>
            </a:lvl1pPr>
          </a:lstStyle>
          <a:p>
            <a:r>
              <a:rPr lang="en-US" dirty="0"/>
              <a:t>Click to edit Master title style</a:t>
            </a:r>
          </a:p>
        </p:txBody>
      </p:sp>
      <p:sp>
        <p:nvSpPr>
          <p:cNvPr id="3" name="Content Placeholder 2"/>
          <p:cNvSpPr>
            <a:spLocks noGrp="1"/>
          </p:cNvSpPr>
          <p:nvPr>
            <p:ph idx="1"/>
          </p:nvPr>
        </p:nvSpPr>
        <p:spPr>
          <a:xfrm>
            <a:off x="266330" y="1020932"/>
            <a:ext cx="8611340" cy="5450889"/>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84DFD94-9AF5-4750-A612-64C774B24713}" type="datetimeFigureOut">
              <a:rPr lang="en-IN" smtClean="0"/>
              <a:t>24-02-2026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cxnSp>
        <p:nvCxnSpPr>
          <p:cNvPr id="8" name="Straight Connector 7">
            <a:extLst>
              <a:ext uri="{FF2B5EF4-FFF2-40B4-BE49-F238E27FC236}">
                <a16:creationId xmlns:a16="http://schemas.microsoft.com/office/drawing/2014/main" id="{224495AD-567D-2ADD-BE5E-6850C77BACB5}"/>
              </a:ext>
            </a:extLst>
          </p:cNvPr>
          <p:cNvCxnSpPr/>
          <p:nvPr userDrawn="1"/>
        </p:nvCxnSpPr>
        <p:spPr>
          <a:xfrm>
            <a:off x="0" y="926137"/>
            <a:ext cx="8877670" cy="0"/>
          </a:xfrm>
          <a:prstGeom prst="line">
            <a:avLst/>
          </a:prstGeom>
          <a:ln w="28575"/>
          <a:effectLst>
            <a:outerShdw blurRad="50800" dist="38100" dir="2700000" algn="tl"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69258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4DFD94-9AF5-4750-A612-64C774B24713}" type="datetimeFigureOut">
              <a:rPr lang="en-IN" smtClean="0"/>
              <a:t>24-02-2026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436214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84DFD94-9AF5-4750-A612-64C774B24713}" type="datetimeFigureOut">
              <a:rPr lang="en-IN" smtClean="0"/>
              <a:t>24-02-2026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7767081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84DFD94-9AF5-4750-A612-64C774B24713}" type="datetimeFigureOut">
              <a:rPr lang="en-IN" smtClean="0"/>
              <a:t>24-02-2026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41967992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84DFD94-9AF5-4750-A612-64C774B24713}" type="datetimeFigureOut">
              <a:rPr lang="en-IN" smtClean="0"/>
              <a:t>24-02-2026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946011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4DFD94-9AF5-4750-A612-64C774B24713}" type="datetimeFigureOut">
              <a:rPr lang="en-IN" smtClean="0"/>
              <a:t>24-02-2026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5603349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84DFD94-9AF5-4750-A612-64C774B24713}" type="datetimeFigureOut">
              <a:rPr lang="en-IN" smtClean="0"/>
              <a:t>24-02-2026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2924824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84DFD94-9AF5-4750-A612-64C774B24713}" type="datetimeFigureOut">
              <a:rPr lang="en-IN" smtClean="0"/>
              <a:t>24-02-2026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1128665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4DFD94-9AF5-4750-A612-64C774B24713}" type="datetimeFigureOut">
              <a:rPr lang="en-IN" smtClean="0"/>
              <a:t>24-02-2026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2555665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4DFD94-9AF5-4750-A612-64C774B24713}" type="datetimeFigureOut">
              <a:rPr lang="en-IN" smtClean="0"/>
              <a:t>24-02-2026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6146485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4DFD94-9AF5-4750-A612-64C774B24713}" type="datetimeFigureOut">
              <a:rPr lang="en-IN" smtClean="0"/>
              <a:t>24-02-2026</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1F8360-00E8-462F-93F6-51CC5257BC34}" type="slidenum">
              <a:rPr lang="en-IN" smtClean="0"/>
              <a:t>‹#›</a:t>
            </a:fld>
            <a:endParaRPr lang="en-IN"/>
          </a:p>
        </p:txBody>
      </p:sp>
    </p:spTree>
    <p:extLst>
      <p:ext uri="{BB962C8B-B14F-4D97-AF65-F5344CB8AC3E}">
        <p14:creationId xmlns:p14="http://schemas.microsoft.com/office/powerpoint/2010/main" val="22838588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9000"/>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6B841-2D9F-0D42-9AED-FE29F9246E22}"/>
              </a:ext>
            </a:extLst>
          </p:cNvPr>
          <p:cNvSpPr>
            <a:spLocks noGrp="1"/>
          </p:cNvSpPr>
          <p:nvPr>
            <p:ph type="ctrTitle"/>
          </p:nvPr>
        </p:nvSpPr>
        <p:spPr/>
        <p:txBody>
          <a:bodyPr>
            <a:normAutofit/>
          </a:bodyPr>
          <a:lstStyle/>
          <a:p>
            <a:r>
              <a:rPr lang="en-US" b="1" dirty="0"/>
              <a:t>Professional Ethics and Human Values</a:t>
            </a:r>
            <a:endParaRPr lang="en-IN" b="1" dirty="0"/>
          </a:p>
        </p:txBody>
      </p:sp>
      <p:sp>
        <p:nvSpPr>
          <p:cNvPr id="3" name="Subtitle 2">
            <a:extLst>
              <a:ext uri="{FF2B5EF4-FFF2-40B4-BE49-F238E27FC236}">
                <a16:creationId xmlns:a16="http://schemas.microsoft.com/office/drawing/2014/main" id="{1A4E7A6A-519E-5A54-9FF4-6F1F5C07C4A4}"/>
              </a:ext>
            </a:extLst>
          </p:cNvPr>
          <p:cNvSpPr>
            <a:spLocks noGrp="1"/>
          </p:cNvSpPr>
          <p:nvPr>
            <p:ph type="subTitle" idx="1"/>
          </p:nvPr>
        </p:nvSpPr>
        <p:spPr/>
        <p:txBody>
          <a:bodyPr>
            <a:normAutofit/>
          </a:bodyPr>
          <a:lstStyle/>
          <a:p>
            <a:r>
              <a:rPr lang="en-US" sz="4800" b="1" dirty="0">
                <a:solidFill>
                  <a:srgbClr val="FF0000"/>
                </a:solidFill>
              </a:rPr>
              <a:t>ETHICS FOR IT WORKERS</a:t>
            </a:r>
          </a:p>
          <a:p>
            <a:r>
              <a:rPr lang="en-US" sz="4800" b="1" dirty="0">
                <a:solidFill>
                  <a:srgbClr val="FF0000"/>
                </a:solidFill>
              </a:rPr>
              <a:t>AND IT USERS</a:t>
            </a:r>
            <a:endParaRPr lang="en-IN" sz="4800" b="1" dirty="0">
              <a:solidFill>
                <a:srgbClr val="FF0000"/>
              </a:solidFill>
            </a:endParaRPr>
          </a:p>
        </p:txBody>
      </p:sp>
    </p:spTree>
    <p:extLst>
      <p:ext uri="{BB962C8B-B14F-4D97-AF65-F5344CB8AC3E}">
        <p14:creationId xmlns:p14="http://schemas.microsoft.com/office/powerpoint/2010/main" val="24736250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2E46D-062E-3689-D835-289B6BCCF3EC}"/>
              </a:ext>
            </a:extLst>
          </p:cNvPr>
          <p:cNvSpPr>
            <a:spLocks noGrp="1"/>
          </p:cNvSpPr>
          <p:nvPr>
            <p:ph type="title"/>
          </p:nvPr>
        </p:nvSpPr>
        <p:spPr/>
        <p:txBody>
          <a:bodyPr>
            <a:noAutofit/>
          </a:bodyPr>
          <a:lstStyle/>
          <a:p>
            <a:endParaRPr lang="en-IN" sz="3200" dirty="0"/>
          </a:p>
        </p:txBody>
      </p:sp>
      <p:sp>
        <p:nvSpPr>
          <p:cNvPr id="3" name="Content Placeholder 2">
            <a:extLst>
              <a:ext uri="{FF2B5EF4-FFF2-40B4-BE49-F238E27FC236}">
                <a16:creationId xmlns:a16="http://schemas.microsoft.com/office/drawing/2014/main" id="{70064FB7-B09C-C8C8-C5CD-5E8A110C38A7}"/>
              </a:ext>
            </a:extLst>
          </p:cNvPr>
          <p:cNvSpPr>
            <a:spLocks noGrp="1"/>
          </p:cNvSpPr>
          <p:nvPr>
            <p:ph idx="1"/>
          </p:nvPr>
        </p:nvSpPr>
        <p:spPr>
          <a:xfrm>
            <a:off x="266330" y="1020932"/>
            <a:ext cx="8611340" cy="5700544"/>
          </a:xfrm>
        </p:spPr>
        <p:txBody>
          <a:bodyPr>
            <a:normAutofit fontScale="85000" lnSpcReduction="20000"/>
          </a:bodyPr>
          <a:lstStyle/>
          <a:p>
            <a:r>
              <a:rPr lang="en-US" dirty="0"/>
              <a:t>Queensland, the second largest state in Australia, awarded an outsourcing contract to IBM to build a new payroll application for its Department of Health at an initial cost estimate of $5 million. </a:t>
            </a:r>
          </a:p>
          <a:p>
            <a:r>
              <a:rPr lang="en-US" dirty="0"/>
              <a:t>The project, however, went horribly wrong. </a:t>
            </a:r>
          </a:p>
          <a:p>
            <a:r>
              <a:rPr lang="en-US" dirty="0"/>
              <a:t>Among other issues, the resulting system, delivered many months late, generated incorrect checks for some staff and no checks at all for others. </a:t>
            </a:r>
          </a:p>
          <a:p>
            <a:r>
              <a:rPr lang="en-US" dirty="0"/>
              <a:t>As efforts mounted to fix the problems, the project cost ballooned out of control, eventually reaching more than $1 billion.</a:t>
            </a:r>
          </a:p>
          <a:p>
            <a:r>
              <a:rPr lang="en-US" dirty="0"/>
              <a:t>Subsequent investigation by the state led to the allegations that IBM employees had acted unethically during the bidding process. </a:t>
            </a:r>
          </a:p>
          <a:p>
            <a:r>
              <a:rPr lang="en-US" dirty="0"/>
              <a:t>In a report issued after the investigation, the Queensland government asserted that it would not have contracted with IBM were it not for misrepresentations made by IBM regarding its expertise as well as the true project costs. </a:t>
            </a:r>
          </a:p>
          <a:p>
            <a:r>
              <a:rPr lang="en-US" dirty="0"/>
              <a:t>For its part, IBM claimed that Queensland employees did a terrible job in managing the project—a claim supported by the state’s own investigation.</a:t>
            </a:r>
            <a:endParaRPr lang="en-IN" dirty="0"/>
          </a:p>
        </p:txBody>
      </p:sp>
    </p:spTree>
    <p:extLst>
      <p:ext uri="{BB962C8B-B14F-4D97-AF65-F5344CB8AC3E}">
        <p14:creationId xmlns:p14="http://schemas.microsoft.com/office/powerpoint/2010/main" val="2835297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C4BF4-D38B-0149-988D-C25BFA215E0C}"/>
              </a:ext>
            </a:extLst>
          </p:cNvPr>
          <p:cNvSpPr>
            <a:spLocks noGrp="1"/>
          </p:cNvSpPr>
          <p:nvPr>
            <p:ph type="title"/>
          </p:nvPr>
        </p:nvSpPr>
        <p:spPr/>
        <p:txBody>
          <a:bodyPr>
            <a:noAutofit/>
          </a:bodyPr>
          <a:lstStyle/>
          <a:p>
            <a:r>
              <a:rPr lang="pt-BR" sz="2800" dirty="0"/>
              <a:t>IT WORKER RELATIONSHIPS THAT MUST BE MANAGED</a:t>
            </a:r>
            <a:endParaRPr lang="en-IN" sz="2800" dirty="0"/>
          </a:p>
        </p:txBody>
      </p:sp>
      <p:sp>
        <p:nvSpPr>
          <p:cNvPr id="3" name="Content Placeholder 2">
            <a:extLst>
              <a:ext uri="{FF2B5EF4-FFF2-40B4-BE49-F238E27FC236}">
                <a16:creationId xmlns:a16="http://schemas.microsoft.com/office/drawing/2014/main" id="{1BE1530F-1EAB-8FE0-F248-8FFD1B820E08}"/>
              </a:ext>
            </a:extLst>
          </p:cNvPr>
          <p:cNvSpPr>
            <a:spLocks noGrp="1"/>
          </p:cNvSpPr>
          <p:nvPr>
            <p:ph idx="1"/>
          </p:nvPr>
        </p:nvSpPr>
        <p:spPr/>
        <p:txBody>
          <a:bodyPr/>
          <a:lstStyle/>
          <a:p>
            <a:r>
              <a:rPr lang="en-US" dirty="0"/>
              <a:t>IT workers typically become involved in many different work relationships, including those with employers, clients, suppliers, other professionals, IT users, and society at large. </a:t>
            </a:r>
          </a:p>
          <a:p>
            <a:r>
              <a:rPr lang="en-US" dirty="0"/>
              <a:t>In each relationship, an ethical IT worker acts honestly and appropriately. These various relationships are discussed in the following sections.</a:t>
            </a:r>
            <a:endParaRPr lang="en-IN" dirty="0"/>
          </a:p>
        </p:txBody>
      </p:sp>
    </p:spTree>
    <p:extLst>
      <p:ext uri="{BB962C8B-B14F-4D97-AF65-F5344CB8AC3E}">
        <p14:creationId xmlns:p14="http://schemas.microsoft.com/office/powerpoint/2010/main" val="41938480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0ECA9-9B4B-1696-7AF3-7702C509126C}"/>
              </a:ext>
            </a:extLst>
          </p:cNvPr>
          <p:cNvSpPr>
            <a:spLocks noGrp="1"/>
          </p:cNvSpPr>
          <p:nvPr>
            <p:ph type="title"/>
          </p:nvPr>
        </p:nvSpPr>
        <p:spPr/>
        <p:txBody>
          <a:bodyPr>
            <a:normAutofit fontScale="90000"/>
          </a:bodyPr>
          <a:lstStyle/>
          <a:p>
            <a:r>
              <a:rPr lang="en-US" sz="2700" dirty="0"/>
              <a:t>Relationships Between </a:t>
            </a:r>
            <a:r>
              <a:rPr lang="en-US" dirty="0"/>
              <a:t>IT Workers and Employers</a:t>
            </a:r>
            <a:endParaRPr lang="en-IN" dirty="0"/>
          </a:p>
        </p:txBody>
      </p:sp>
      <p:sp>
        <p:nvSpPr>
          <p:cNvPr id="3" name="Content Placeholder 2">
            <a:extLst>
              <a:ext uri="{FF2B5EF4-FFF2-40B4-BE49-F238E27FC236}">
                <a16:creationId xmlns:a16="http://schemas.microsoft.com/office/drawing/2014/main" id="{3CE72379-CD40-5993-615A-8D7AB2CA0583}"/>
              </a:ext>
            </a:extLst>
          </p:cNvPr>
          <p:cNvSpPr>
            <a:spLocks noGrp="1"/>
          </p:cNvSpPr>
          <p:nvPr>
            <p:ph idx="1"/>
          </p:nvPr>
        </p:nvSpPr>
        <p:spPr/>
        <p:txBody>
          <a:bodyPr>
            <a:normAutofit lnSpcReduction="10000"/>
          </a:bodyPr>
          <a:lstStyle/>
          <a:p>
            <a:r>
              <a:rPr lang="en-US" dirty="0"/>
              <a:t>IT workers and employers have a critical, multifaceted relationship that requires ongoing effort by both parties to keep it strong. </a:t>
            </a:r>
          </a:p>
          <a:p>
            <a:r>
              <a:rPr lang="en-US" dirty="0"/>
              <a:t>An IT worker and an employer typically agree on the fundamental aspects of this relationship before the worker accepts an employment offer. </a:t>
            </a:r>
          </a:p>
          <a:p>
            <a:r>
              <a:rPr lang="en-US" dirty="0"/>
              <a:t>These issues may include job title, general performance expectations, specific work responsibilities, drug-testing requirements, dress code, location of employment, salary, work hours, and company benefits. </a:t>
            </a:r>
          </a:p>
          <a:p>
            <a:r>
              <a:rPr lang="en-US" dirty="0"/>
              <a:t>Many other aspects of this relationship may be addressed in a company’s policy and procedures manual or in the company’s code of conduct, if one exists.</a:t>
            </a:r>
            <a:endParaRPr lang="en-IN" dirty="0"/>
          </a:p>
        </p:txBody>
      </p:sp>
    </p:spTree>
    <p:extLst>
      <p:ext uri="{BB962C8B-B14F-4D97-AF65-F5344CB8AC3E}">
        <p14:creationId xmlns:p14="http://schemas.microsoft.com/office/powerpoint/2010/main" val="42412688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57837-7B7A-219B-A5EB-27A26C024E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AD03FF-CA0E-E3FA-CF81-5200F14FEAE0}"/>
              </a:ext>
            </a:extLst>
          </p:cNvPr>
          <p:cNvSpPr>
            <a:spLocks noGrp="1"/>
          </p:cNvSpPr>
          <p:nvPr>
            <p:ph type="title"/>
          </p:nvPr>
        </p:nvSpPr>
        <p:spPr/>
        <p:txBody>
          <a:bodyPr>
            <a:normAutofit fontScale="90000"/>
          </a:bodyPr>
          <a:lstStyle/>
          <a:p>
            <a:r>
              <a:rPr lang="en-US" sz="2700" dirty="0"/>
              <a:t>Relationships Between </a:t>
            </a:r>
            <a:r>
              <a:rPr lang="en-US" dirty="0"/>
              <a:t>IT Workers and Employers</a:t>
            </a:r>
            <a:endParaRPr lang="en-IN" dirty="0"/>
          </a:p>
        </p:txBody>
      </p:sp>
      <p:sp>
        <p:nvSpPr>
          <p:cNvPr id="3" name="Content Placeholder 2">
            <a:extLst>
              <a:ext uri="{FF2B5EF4-FFF2-40B4-BE49-F238E27FC236}">
                <a16:creationId xmlns:a16="http://schemas.microsoft.com/office/drawing/2014/main" id="{C7CD6EA6-22D0-D4D8-1B49-8CFB2C68AD54}"/>
              </a:ext>
            </a:extLst>
          </p:cNvPr>
          <p:cNvSpPr>
            <a:spLocks noGrp="1"/>
          </p:cNvSpPr>
          <p:nvPr>
            <p:ph idx="1"/>
          </p:nvPr>
        </p:nvSpPr>
        <p:spPr/>
        <p:txBody>
          <a:bodyPr>
            <a:normAutofit fontScale="92500" lnSpcReduction="20000"/>
          </a:bodyPr>
          <a:lstStyle/>
          <a:p>
            <a:r>
              <a:rPr lang="en-US" dirty="0"/>
              <a:t>Topics addressed in such a manual or code of conduct might include protection of company secrets; vacation policy; time off allowed for a funeral or an illness in the family; tuition reimbursement; and use of company resources, including computers and networks.</a:t>
            </a:r>
          </a:p>
          <a:p>
            <a:r>
              <a:rPr lang="en-US" dirty="0"/>
              <a:t>Other aspects of this relationship develop over time, depending on circumstances (for example, whether the employee can leave early one day if the time is made up another day).</a:t>
            </a:r>
          </a:p>
          <a:p>
            <a:r>
              <a:rPr lang="en-US" dirty="0"/>
              <a:t>Some aspects are addressed by law—for example, an employee cannot be required to do anything illegal, such as falsify the results of a quality assurance test.</a:t>
            </a:r>
          </a:p>
          <a:p>
            <a:r>
              <a:rPr lang="en-US" dirty="0"/>
              <a:t>Some issues are specific to the role of the IT worker and are established based on the nature of the work or project—for example, the programming language to be used, the type and amount of documentation to be produced, and the extent of testing to be conducted.</a:t>
            </a:r>
            <a:endParaRPr lang="en-IN" dirty="0"/>
          </a:p>
        </p:txBody>
      </p:sp>
    </p:spTree>
    <p:extLst>
      <p:ext uri="{BB962C8B-B14F-4D97-AF65-F5344CB8AC3E}">
        <p14:creationId xmlns:p14="http://schemas.microsoft.com/office/powerpoint/2010/main" val="21851816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43DA7-37B4-28C6-9893-B44A2A18C6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B77DD4-25D7-7836-AF76-ABA29D537307}"/>
              </a:ext>
            </a:extLst>
          </p:cNvPr>
          <p:cNvSpPr>
            <a:spLocks noGrp="1"/>
          </p:cNvSpPr>
          <p:nvPr>
            <p:ph type="title"/>
          </p:nvPr>
        </p:nvSpPr>
        <p:spPr/>
        <p:txBody>
          <a:bodyPr>
            <a:normAutofit fontScale="90000"/>
          </a:bodyPr>
          <a:lstStyle/>
          <a:p>
            <a:r>
              <a:rPr lang="en-US" sz="2700" dirty="0"/>
              <a:t>Relationships Between </a:t>
            </a:r>
            <a:r>
              <a:rPr lang="en-US" dirty="0"/>
              <a:t>IT Workers and Employers</a:t>
            </a:r>
            <a:endParaRPr lang="en-IN" dirty="0"/>
          </a:p>
        </p:txBody>
      </p:sp>
      <p:sp>
        <p:nvSpPr>
          <p:cNvPr id="3" name="Content Placeholder 2">
            <a:extLst>
              <a:ext uri="{FF2B5EF4-FFF2-40B4-BE49-F238E27FC236}">
                <a16:creationId xmlns:a16="http://schemas.microsoft.com/office/drawing/2014/main" id="{7438BC81-6CE9-061F-EC73-88444F35C59D}"/>
              </a:ext>
            </a:extLst>
          </p:cNvPr>
          <p:cNvSpPr>
            <a:spLocks noGrp="1"/>
          </p:cNvSpPr>
          <p:nvPr>
            <p:ph idx="1"/>
          </p:nvPr>
        </p:nvSpPr>
        <p:spPr/>
        <p:txBody>
          <a:bodyPr>
            <a:normAutofit lnSpcReduction="10000"/>
          </a:bodyPr>
          <a:lstStyle/>
          <a:p>
            <a:r>
              <a:rPr lang="en-US" dirty="0"/>
              <a:t>As the stewards of an organization’s IT resources, IT workers must set an example and enforce policies regarding the ethical use of IT. </a:t>
            </a:r>
          </a:p>
          <a:p>
            <a:r>
              <a:rPr lang="en-US" dirty="0"/>
              <a:t>IT workers often have the skills and knowledge to abuse systems and data or to enable others to do so. </a:t>
            </a:r>
          </a:p>
          <a:p>
            <a:r>
              <a:rPr lang="en-US" dirty="0"/>
              <a:t>Software piracy is an area in which IT workers may be tempted to violate laws and policies. </a:t>
            </a:r>
          </a:p>
          <a:p>
            <a:r>
              <a:rPr lang="en-US" dirty="0"/>
              <a:t>Although end users often get the blame when it comes to using illegal copies of commercial software, software piracy in a corporate setting is sometimes directly traceable to IT staff members—either they allow it to happen or they actively engage in it, often to reduce IT-related spending.</a:t>
            </a:r>
            <a:endParaRPr lang="en-IN" dirty="0"/>
          </a:p>
        </p:txBody>
      </p:sp>
    </p:spTree>
    <p:extLst>
      <p:ext uri="{BB962C8B-B14F-4D97-AF65-F5344CB8AC3E}">
        <p14:creationId xmlns:p14="http://schemas.microsoft.com/office/powerpoint/2010/main" val="39029407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88A47-CFB9-4D44-5C24-DBE0688AA5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C44E17-F776-1A95-B7F3-A7DAB30922AB}"/>
              </a:ext>
            </a:extLst>
          </p:cNvPr>
          <p:cNvSpPr>
            <a:spLocks noGrp="1"/>
          </p:cNvSpPr>
          <p:nvPr>
            <p:ph type="title"/>
          </p:nvPr>
        </p:nvSpPr>
        <p:spPr/>
        <p:txBody>
          <a:bodyPr>
            <a:normAutofit fontScale="90000"/>
          </a:bodyPr>
          <a:lstStyle/>
          <a:p>
            <a:r>
              <a:rPr lang="en-US" sz="2700" dirty="0"/>
              <a:t>Relationships Between </a:t>
            </a:r>
            <a:r>
              <a:rPr lang="en-US" dirty="0"/>
              <a:t>IT Workers and Employers</a:t>
            </a:r>
            <a:endParaRPr lang="en-IN" dirty="0"/>
          </a:p>
        </p:txBody>
      </p:sp>
      <p:sp>
        <p:nvSpPr>
          <p:cNvPr id="3" name="Content Placeholder 2">
            <a:extLst>
              <a:ext uri="{FF2B5EF4-FFF2-40B4-BE49-F238E27FC236}">
                <a16:creationId xmlns:a16="http://schemas.microsoft.com/office/drawing/2014/main" id="{649CCFF8-7BE7-1A26-C221-26EEDD33237A}"/>
              </a:ext>
            </a:extLst>
          </p:cNvPr>
          <p:cNvSpPr>
            <a:spLocks noGrp="1"/>
          </p:cNvSpPr>
          <p:nvPr>
            <p:ph idx="1"/>
          </p:nvPr>
        </p:nvSpPr>
        <p:spPr/>
        <p:txBody>
          <a:bodyPr>
            <a:normAutofit/>
          </a:bodyPr>
          <a:lstStyle/>
          <a:p>
            <a:r>
              <a:rPr lang="en-US" dirty="0"/>
              <a:t>Trade secrecy is another area that can present challenges for IT workers and their employers. </a:t>
            </a:r>
          </a:p>
          <a:p>
            <a:r>
              <a:rPr lang="en-US" dirty="0"/>
              <a:t>A </a:t>
            </a:r>
            <a:r>
              <a:rPr lang="en-US" b="1" dirty="0"/>
              <a:t>trade secret </a:t>
            </a:r>
            <a:r>
              <a:rPr lang="en-US" dirty="0"/>
              <a:t>is information, generally unknown to the public, that a company has taken strong measures to keep confidential. </a:t>
            </a:r>
          </a:p>
          <a:p>
            <a:r>
              <a:rPr lang="en-US" dirty="0"/>
              <a:t>It represents something of economic value that has required effort or cost to develop and that has some degree of uniqueness or novelty. </a:t>
            </a:r>
          </a:p>
          <a:p>
            <a:r>
              <a:rPr lang="en-US" dirty="0"/>
              <a:t>Trade secrets can include the design of new software code, hardware designs, business plans, the design of a user interface to a computer program, and manufacturing processes.</a:t>
            </a:r>
            <a:endParaRPr lang="en-IN" dirty="0"/>
          </a:p>
        </p:txBody>
      </p:sp>
    </p:spTree>
    <p:extLst>
      <p:ext uri="{BB962C8B-B14F-4D97-AF65-F5344CB8AC3E}">
        <p14:creationId xmlns:p14="http://schemas.microsoft.com/office/powerpoint/2010/main" val="4459282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57F19-8049-4062-19A5-F55D995048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FF8F45-F7A4-55B7-9416-5521A0341519}"/>
              </a:ext>
            </a:extLst>
          </p:cNvPr>
          <p:cNvSpPr>
            <a:spLocks noGrp="1"/>
          </p:cNvSpPr>
          <p:nvPr>
            <p:ph type="title"/>
          </p:nvPr>
        </p:nvSpPr>
        <p:spPr/>
        <p:txBody>
          <a:bodyPr>
            <a:normAutofit fontScale="90000"/>
          </a:bodyPr>
          <a:lstStyle/>
          <a:p>
            <a:r>
              <a:rPr lang="en-US" sz="2700" dirty="0"/>
              <a:t>Relationships Between </a:t>
            </a:r>
            <a:r>
              <a:rPr lang="en-US" dirty="0"/>
              <a:t>IT Workers and Employers</a:t>
            </a:r>
            <a:endParaRPr lang="en-IN" dirty="0"/>
          </a:p>
        </p:txBody>
      </p:sp>
      <p:sp>
        <p:nvSpPr>
          <p:cNvPr id="3" name="Content Placeholder 2">
            <a:extLst>
              <a:ext uri="{FF2B5EF4-FFF2-40B4-BE49-F238E27FC236}">
                <a16:creationId xmlns:a16="http://schemas.microsoft.com/office/drawing/2014/main" id="{4C5BA4F8-7E84-F9B5-8508-61734F1E5E68}"/>
              </a:ext>
            </a:extLst>
          </p:cNvPr>
          <p:cNvSpPr>
            <a:spLocks noGrp="1"/>
          </p:cNvSpPr>
          <p:nvPr>
            <p:ph idx="1"/>
          </p:nvPr>
        </p:nvSpPr>
        <p:spPr/>
        <p:txBody>
          <a:bodyPr>
            <a:normAutofit/>
          </a:bodyPr>
          <a:lstStyle/>
          <a:p>
            <a:r>
              <a:rPr lang="en-US" dirty="0"/>
              <a:t>Another issue that can create friction between employers and IT workers is whistleblowing.</a:t>
            </a:r>
          </a:p>
          <a:p>
            <a:r>
              <a:rPr lang="en-US" dirty="0"/>
              <a:t>Whistle-blowing is an effort by an employee to attract attention to a negligent, illegal, unethical, abusive, or dangerous act by a company that threatens the public interest.</a:t>
            </a:r>
          </a:p>
          <a:p>
            <a:r>
              <a:rPr lang="en-US" dirty="0"/>
              <a:t>Whistle-blowers often have special information based on their expertise or position within the offending organization.</a:t>
            </a:r>
            <a:endParaRPr lang="en-IN" dirty="0"/>
          </a:p>
        </p:txBody>
      </p:sp>
    </p:spTree>
    <p:extLst>
      <p:ext uri="{BB962C8B-B14F-4D97-AF65-F5344CB8AC3E}">
        <p14:creationId xmlns:p14="http://schemas.microsoft.com/office/powerpoint/2010/main" val="22431003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D51AC-1DCC-483A-309C-7EF2A051FA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17F727-BB51-3D8C-FEA8-FF38BC605F31}"/>
              </a:ext>
            </a:extLst>
          </p:cNvPr>
          <p:cNvSpPr>
            <a:spLocks noGrp="1"/>
          </p:cNvSpPr>
          <p:nvPr>
            <p:ph type="title"/>
          </p:nvPr>
        </p:nvSpPr>
        <p:spPr/>
        <p:txBody>
          <a:bodyPr>
            <a:normAutofit fontScale="90000"/>
          </a:bodyPr>
          <a:lstStyle/>
          <a:p>
            <a:r>
              <a:rPr lang="en-US" sz="2700" dirty="0"/>
              <a:t>Relationships Between </a:t>
            </a:r>
            <a:r>
              <a:rPr lang="en-US" dirty="0"/>
              <a:t>IT Workers and Employers</a:t>
            </a:r>
            <a:endParaRPr lang="en-IN" dirty="0"/>
          </a:p>
        </p:txBody>
      </p:sp>
      <p:sp>
        <p:nvSpPr>
          <p:cNvPr id="3" name="Content Placeholder 2">
            <a:extLst>
              <a:ext uri="{FF2B5EF4-FFF2-40B4-BE49-F238E27FC236}">
                <a16:creationId xmlns:a16="http://schemas.microsoft.com/office/drawing/2014/main" id="{B22F6413-F5BB-EBE3-150F-AE0A1D3CDB02}"/>
              </a:ext>
            </a:extLst>
          </p:cNvPr>
          <p:cNvSpPr>
            <a:spLocks noGrp="1"/>
          </p:cNvSpPr>
          <p:nvPr>
            <p:ph idx="1"/>
          </p:nvPr>
        </p:nvSpPr>
        <p:spPr/>
        <p:txBody>
          <a:bodyPr>
            <a:normAutofit fontScale="92500" lnSpcReduction="10000"/>
          </a:bodyPr>
          <a:lstStyle/>
          <a:p>
            <a:r>
              <a:rPr lang="en-US" dirty="0"/>
              <a:t>For example, an employee of a computer chip manufacturing company may know that the chemical process used to make the chips is dangerous to employees and the general public. </a:t>
            </a:r>
          </a:p>
          <a:p>
            <a:r>
              <a:rPr lang="en-US" dirty="0"/>
              <a:t>A conscientious employee would call the problem to management’s attention and try to correct it by working with appropriate resources within the company. </a:t>
            </a:r>
          </a:p>
          <a:p>
            <a:r>
              <a:rPr lang="en-US" dirty="0"/>
              <a:t>But what if the employee’s attempt to correct the problem through internal channels was thwarted or ignored? </a:t>
            </a:r>
          </a:p>
          <a:p>
            <a:r>
              <a:rPr lang="en-US" dirty="0"/>
              <a:t>The employee might then consider becoming a whistle-blower and reporting the problem to people outside the company, including state or federal agencies that have jurisdiction. </a:t>
            </a:r>
          </a:p>
          <a:p>
            <a:r>
              <a:rPr lang="en-US" dirty="0"/>
              <a:t>Obviously, such actions could have negative consequences on the employee’s job, perhaps resulting in retaliation </a:t>
            </a:r>
            <a:r>
              <a:rPr lang="en-IN" dirty="0"/>
              <a:t>and firing.</a:t>
            </a:r>
          </a:p>
        </p:txBody>
      </p:sp>
    </p:spTree>
    <p:extLst>
      <p:ext uri="{BB962C8B-B14F-4D97-AF65-F5344CB8AC3E}">
        <p14:creationId xmlns:p14="http://schemas.microsoft.com/office/powerpoint/2010/main" val="6296397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19585-EADC-CA92-1172-66A708E8F9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DE0757-FDE1-7A75-C2B3-338F32A97419}"/>
              </a:ext>
            </a:extLst>
          </p:cNvPr>
          <p:cNvSpPr>
            <a:spLocks noGrp="1"/>
          </p:cNvSpPr>
          <p:nvPr>
            <p:ph type="title"/>
          </p:nvPr>
        </p:nvSpPr>
        <p:spPr/>
        <p:txBody>
          <a:bodyPr>
            <a:normAutofit/>
          </a:bodyPr>
          <a:lstStyle/>
          <a:p>
            <a:r>
              <a:rPr lang="en-US" sz="2700" dirty="0"/>
              <a:t>Relationships Between </a:t>
            </a:r>
            <a:r>
              <a:rPr lang="en-US" dirty="0"/>
              <a:t>IT Workers and Clients</a:t>
            </a:r>
            <a:endParaRPr lang="en-IN" dirty="0"/>
          </a:p>
        </p:txBody>
      </p:sp>
      <p:sp>
        <p:nvSpPr>
          <p:cNvPr id="3" name="Content Placeholder 2">
            <a:extLst>
              <a:ext uri="{FF2B5EF4-FFF2-40B4-BE49-F238E27FC236}">
                <a16:creationId xmlns:a16="http://schemas.microsoft.com/office/drawing/2014/main" id="{6B2BE280-8537-1FF3-CC12-B04F880CBA45}"/>
              </a:ext>
            </a:extLst>
          </p:cNvPr>
          <p:cNvSpPr>
            <a:spLocks noGrp="1"/>
          </p:cNvSpPr>
          <p:nvPr>
            <p:ph idx="1"/>
          </p:nvPr>
        </p:nvSpPr>
        <p:spPr/>
        <p:txBody>
          <a:bodyPr>
            <a:normAutofit/>
          </a:bodyPr>
          <a:lstStyle/>
          <a:p>
            <a:r>
              <a:rPr lang="en-US" dirty="0"/>
              <a:t>IT workers provide services to clients; sometimes those “clients” are coworkers who are part of the same company as the IT worker. </a:t>
            </a:r>
          </a:p>
          <a:p>
            <a:r>
              <a:rPr lang="en-US" dirty="0"/>
              <a:t>In other cases, the client is part of a different company. </a:t>
            </a:r>
          </a:p>
          <a:p>
            <a:r>
              <a:rPr lang="en-US" dirty="0"/>
              <a:t>In relationships between IT workers and clients, each party agrees to provide something of value to the other. </a:t>
            </a:r>
          </a:p>
          <a:p>
            <a:r>
              <a:rPr lang="en-US" dirty="0"/>
              <a:t>Generally speaking, the IT worker provides hardware, software, or services at a certain cost and within a given time frame.</a:t>
            </a:r>
            <a:endParaRPr lang="en-IN" dirty="0"/>
          </a:p>
        </p:txBody>
      </p:sp>
    </p:spTree>
    <p:extLst>
      <p:ext uri="{BB962C8B-B14F-4D97-AF65-F5344CB8AC3E}">
        <p14:creationId xmlns:p14="http://schemas.microsoft.com/office/powerpoint/2010/main" val="4028365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67920-5927-2BC8-C03D-80DC93BEF0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79996-68BD-3475-E7EA-A82BFF4E9172}"/>
              </a:ext>
            </a:extLst>
          </p:cNvPr>
          <p:cNvSpPr>
            <a:spLocks noGrp="1"/>
          </p:cNvSpPr>
          <p:nvPr>
            <p:ph type="title"/>
          </p:nvPr>
        </p:nvSpPr>
        <p:spPr/>
        <p:txBody>
          <a:bodyPr>
            <a:normAutofit/>
          </a:bodyPr>
          <a:lstStyle/>
          <a:p>
            <a:r>
              <a:rPr lang="en-US" sz="2700" dirty="0"/>
              <a:t>Relationships Between </a:t>
            </a:r>
            <a:r>
              <a:rPr lang="en-US" dirty="0"/>
              <a:t>IT Workers and Clients</a:t>
            </a:r>
            <a:endParaRPr lang="en-IN" dirty="0"/>
          </a:p>
        </p:txBody>
      </p:sp>
      <p:sp>
        <p:nvSpPr>
          <p:cNvPr id="3" name="Content Placeholder 2">
            <a:extLst>
              <a:ext uri="{FF2B5EF4-FFF2-40B4-BE49-F238E27FC236}">
                <a16:creationId xmlns:a16="http://schemas.microsoft.com/office/drawing/2014/main" id="{DA833BE8-B187-2616-9E50-18C1DB45CC4F}"/>
              </a:ext>
            </a:extLst>
          </p:cNvPr>
          <p:cNvSpPr>
            <a:spLocks noGrp="1"/>
          </p:cNvSpPr>
          <p:nvPr>
            <p:ph idx="1"/>
          </p:nvPr>
        </p:nvSpPr>
        <p:spPr/>
        <p:txBody>
          <a:bodyPr>
            <a:normAutofit/>
          </a:bodyPr>
          <a:lstStyle/>
          <a:p>
            <a:r>
              <a:rPr lang="en-IN" dirty="0"/>
              <a:t>For </a:t>
            </a:r>
            <a:r>
              <a:rPr lang="en-US" dirty="0"/>
              <a:t>example, an IT worker might agree to implement a new accounts payable software package that meets a client’s requirements. </a:t>
            </a:r>
          </a:p>
          <a:p>
            <a:r>
              <a:rPr lang="en-US" dirty="0"/>
              <a:t>The client provides compensation, access to key contacts, and perhaps a work space. </a:t>
            </a:r>
          </a:p>
          <a:p>
            <a:r>
              <a:rPr lang="en-US" dirty="0"/>
              <a:t>This relationship is usually documented in contractual terms—who does what, when the work begins, how long it will take, how much the client pays, and so on. </a:t>
            </a:r>
          </a:p>
          <a:p>
            <a:r>
              <a:rPr lang="en-US" dirty="0"/>
              <a:t>Although there is often a vast disparity in technical expertise between IT workers and their clients, the two parties must work together to be successful.</a:t>
            </a:r>
            <a:endParaRPr lang="en-IN" dirty="0"/>
          </a:p>
        </p:txBody>
      </p:sp>
    </p:spTree>
    <p:extLst>
      <p:ext uri="{BB962C8B-B14F-4D97-AF65-F5344CB8AC3E}">
        <p14:creationId xmlns:p14="http://schemas.microsoft.com/office/powerpoint/2010/main" val="13388269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E6F95-6205-4034-5D25-9E6AF59868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8CF6B7-F1FE-4CE7-5D86-B9FADFAE7181}"/>
              </a:ext>
            </a:extLst>
          </p:cNvPr>
          <p:cNvSpPr>
            <a:spLocks noGrp="1"/>
          </p:cNvSpPr>
          <p:nvPr>
            <p:ph type="title"/>
          </p:nvPr>
        </p:nvSpPr>
        <p:spPr/>
        <p:txBody>
          <a:bodyPr>
            <a:normAutofit/>
          </a:bodyPr>
          <a:lstStyle/>
          <a:p>
            <a:r>
              <a:rPr lang="en-US" sz="2700" dirty="0"/>
              <a:t>Relationships Between </a:t>
            </a:r>
            <a:r>
              <a:rPr lang="en-US" dirty="0"/>
              <a:t>IT Workers and Clients</a:t>
            </a:r>
            <a:endParaRPr lang="en-IN" dirty="0"/>
          </a:p>
        </p:txBody>
      </p:sp>
      <p:sp>
        <p:nvSpPr>
          <p:cNvPr id="3" name="Content Placeholder 2">
            <a:extLst>
              <a:ext uri="{FF2B5EF4-FFF2-40B4-BE49-F238E27FC236}">
                <a16:creationId xmlns:a16="http://schemas.microsoft.com/office/drawing/2014/main" id="{D11AF0E2-5A10-1103-CF78-8291749565A7}"/>
              </a:ext>
            </a:extLst>
          </p:cNvPr>
          <p:cNvSpPr>
            <a:spLocks noGrp="1"/>
          </p:cNvSpPr>
          <p:nvPr>
            <p:ph idx="1"/>
          </p:nvPr>
        </p:nvSpPr>
        <p:spPr/>
        <p:txBody>
          <a:bodyPr>
            <a:normAutofit/>
          </a:bodyPr>
          <a:lstStyle/>
          <a:p>
            <a:r>
              <a:rPr lang="en-US" dirty="0"/>
              <a:t>Typically, the client makes decisions about a project on the basis of information, alternatives, and recommendations provided by the IT worker. </a:t>
            </a:r>
          </a:p>
          <a:p>
            <a:r>
              <a:rPr lang="en-US" dirty="0"/>
              <a:t>The client trusts the IT worker to use his or her expertise and to act in the client’s best interests. </a:t>
            </a:r>
          </a:p>
          <a:p>
            <a:r>
              <a:rPr lang="en-US" dirty="0"/>
              <a:t>The IT worker must trust that the client will provide relevant information, listen to and understand what the IT worker says, ask questions to understand the impact of key decisions, and use the information to make wise choices among various alternatives.</a:t>
            </a:r>
          </a:p>
          <a:p>
            <a:r>
              <a:rPr lang="en-US" dirty="0"/>
              <a:t>Thus, the responsibility for decision making is shared between the client and the IT </a:t>
            </a:r>
            <a:r>
              <a:rPr lang="en-IN" dirty="0"/>
              <a:t>worker.</a:t>
            </a:r>
          </a:p>
        </p:txBody>
      </p:sp>
    </p:spTree>
    <p:extLst>
      <p:ext uri="{BB962C8B-B14F-4D97-AF65-F5344CB8AC3E}">
        <p14:creationId xmlns:p14="http://schemas.microsoft.com/office/powerpoint/2010/main" val="414365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7FEEB-14BE-4901-D90D-61024C7688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4DAFF2-3DBA-A654-698A-0BA55BC4D218}"/>
              </a:ext>
            </a:extLst>
          </p:cNvPr>
          <p:cNvSpPr>
            <a:spLocks noGrp="1"/>
          </p:cNvSpPr>
          <p:nvPr>
            <p:ph type="title"/>
          </p:nvPr>
        </p:nvSpPr>
        <p:spPr/>
        <p:txBody>
          <a:bodyPr>
            <a:normAutofit/>
          </a:bodyPr>
          <a:lstStyle/>
          <a:p>
            <a:r>
              <a:rPr lang="en-US" sz="2700" dirty="0"/>
              <a:t>Relationships Between </a:t>
            </a:r>
            <a:r>
              <a:rPr lang="en-US" dirty="0"/>
              <a:t>IT Workers and Clients</a:t>
            </a:r>
            <a:endParaRPr lang="en-IN" dirty="0"/>
          </a:p>
        </p:txBody>
      </p:sp>
      <p:sp>
        <p:nvSpPr>
          <p:cNvPr id="3" name="Content Placeholder 2">
            <a:extLst>
              <a:ext uri="{FF2B5EF4-FFF2-40B4-BE49-F238E27FC236}">
                <a16:creationId xmlns:a16="http://schemas.microsoft.com/office/drawing/2014/main" id="{308C72EA-3432-BDD6-7B41-0F6DE37D8B40}"/>
              </a:ext>
            </a:extLst>
          </p:cNvPr>
          <p:cNvSpPr>
            <a:spLocks noGrp="1"/>
          </p:cNvSpPr>
          <p:nvPr>
            <p:ph idx="1"/>
          </p:nvPr>
        </p:nvSpPr>
        <p:spPr/>
        <p:txBody>
          <a:bodyPr>
            <a:normAutofit lnSpcReduction="10000"/>
          </a:bodyPr>
          <a:lstStyle/>
          <a:p>
            <a:r>
              <a:rPr lang="en-US" dirty="0"/>
              <a:t>One potential ethical problem that can interfere with the relationship between IT workers and their clients involves IT consultants or auditors who recommend their own products and services or those of an affiliated vendor to remedy a problem they have detected. </a:t>
            </a:r>
          </a:p>
          <a:p>
            <a:r>
              <a:rPr lang="en-US" dirty="0"/>
              <a:t>Such a situation has the potential to undermine the objectivity of an IT worker due to a conflict of interest—a conflict between the IT worker’s (or the IT firm’s) self-interest and the client’s interests.</a:t>
            </a:r>
          </a:p>
          <a:p>
            <a:pPr lvl="2"/>
            <a:r>
              <a:rPr lang="en-US" dirty="0"/>
              <a:t>For example, an IT consulting firm might be hired to assess a firm’s IT strategic plan. </a:t>
            </a:r>
          </a:p>
          <a:p>
            <a:pPr lvl="2"/>
            <a:r>
              <a:rPr lang="en-US" dirty="0"/>
              <a:t>After a few weeks of analysis, the consulting firm might provide a poor rating for the existing strategy and insist that its proprietary products and services are required to develop a new strategic plan. </a:t>
            </a:r>
          </a:p>
          <a:p>
            <a:pPr lvl="2"/>
            <a:r>
              <a:rPr lang="en-US" dirty="0"/>
              <a:t>Such findings would raise questions about the vendor’s objectivity and the trustworthiness of its recommendations.</a:t>
            </a:r>
            <a:endParaRPr lang="en-IN" dirty="0"/>
          </a:p>
        </p:txBody>
      </p:sp>
    </p:spTree>
    <p:extLst>
      <p:ext uri="{BB962C8B-B14F-4D97-AF65-F5344CB8AC3E}">
        <p14:creationId xmlns:p14="http://schemas.microsoft.com/office/powerpoint/2010/main" val="2825404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0185C-DB07-7F99-0375-CC65185817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FEE3-602D-C954-3FA7-4CFEB70BA285}"/>
              </a:ext>
            </a:extLst>
          </p:cNvPr>
          <p:cNvSpPr>
            <a:spLocks noGrp="1"/>
          </p:cNvSpPr>
          <p:nvPr>
            <p:ph type="title"/>
          </p:nvPr>
        </p:nvSpPr>
        <p:spPr/>
        <p:txBody>
          <a:bodyPr>
            <a:normAutofit/>
          </a:bodyPr>
          <a:lstStyle/>
          <a:p>
            <a:r>
              <a:rPr lang="en-US" sz="2700" dirty="0"/>
              <a:t>Relationships Between </a:t>
            </a:r>
            <a:r>
              <a:rPr lang="en-US" dirty="0"/>
              <a:t>IT Workers and Clients</a:t>
            </a:r>
            <a:endParaRPr lang="en-IN" dirty="0"/>
          </a:p>
        </p:txBody>
      </p:sp>
      <p:sp>
        <p:nvSpPr>
          <p:cNvPr id="3" name="Content Placeholder 2">
            <a:extLst>
              <a:ext uri="{FF2B5EF4-FFF2-40B4-BE49-F238E27FC236}">
                <a16:creationId xmlns:a16="http://schemas.microsoft.com/office/drawing/2014/main" id="{ABB113AD-58E4-5AE1-AD6A-8C9277E6F06E}"/>
              </a:ext>
            </a:extLst>
          </p:cNvPr>
          <p:cNvSpPr>
            <a:spLocks noGrp="1"/>
          </p:cNvSpPr>
          <p:nvPr>
            <p:ph idx="1"/>
          </p:nvPr>
        </p:nvSpPr>
        <p:spPr/>
        <p:txBody>
          <a:bodyPr>
            <a:normAutofit fontScale="92500" lnSpcReduction="10000"/>
          </a:bodyPr>
          <a:lstStyle/>
          <a:p>
            <a:r>
              <a:rPr lang="en-US" dirty="0"/>
              <a:t>Fraud is the crime of obtaining goods, services, or property through deception or trickery. Fraudulent misrepresentation occurs when a person consciously decides to induce another person to rely and act on a misrepresentation. To prove fraud in a court of law, prosecutors must demonstrate the following elements:</a:t>
            </a:r>
          </a:p>
          <a:p>
            <a:pPr lvl="1"/>
            <a:r>
              <a:rPr lang="en-US" dirty="0"/>
              <a:t>The wrongdoer made a false representation of material fact.</a:t>
            </a:r>
          </a:p>
          <a:p>
            <a:pPr lvl="1"/>
            <a:r>
              <a:rPr lang="en-US" dirty="0"/>
              <a:t>The wrongdoer intended to deceive the innocent party.</a:t>
            </a:r>
          </a:p>
          <a:p>
            <a:pPr lvl="1"/>
            <a:r>
              <a:rPr lang="en-US" dirty="0"/>
              <a:t>The innocent party justifiably relied on the misrepresentation.</a:t>
            </a:r>
          </a:p>
          <a:p>
            <a:pPr lvl="1"/>
            <a:r>
              <a:rPr lang="en-US" dirty="0"/>
              <a:t>The innocent party was injured.</a:t>
            </a:r>
          </a:p>
          <a:p>
            <a:r>
              <a:rPr lang="en-US" dirty="0"/>
              <a:t>Misrepresentation is the misstatement or incomplete statement of a material fact. </a:t>
            </a:r>
          </a:p>
          <a:p>
            <a:r>
              <a:rPr lang="en-US" dirty="0"/>
              <a:t>If the misrepresentation causes the other party to enter into a contract, that party may have the legal right to cancel the contract or seek reimbursement for </a:t>
            </a:r>
            <a:r>
              <a:rPr lang="en-IN" dirty="0"/>
              <a:t>damages.</a:t>
            </a:r>
          </a:p>
        </p:txBody>
      </p:sp>
    </p:spTree>
    <p:extLst>
      <p:ext uri="{BB962C8B-B14F-4D97-AF65-F5344CB8AC3E}">
        <p14:creationId xmlns:p14="http://schemas.microsoft.com/office/powerpoint/2010/main" val="863290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1AB04-E47C-5670-6B55-96FF32605B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F984B1-F559-E1A1-6465-0AAA2BE8497A}"/>
              </a:ext>
            </a:extLst>
          </p:cNvPr>
          <p:cNvSpPr>
            <a:spLocks noGrp="1"/>
          </p:cNvSpPr>
          <p:nvPr>
            <p:ph type="title"/>
          </p:nvPr>
        </p:nvSpPr>
        <p:spPr/>
        <p:txBody>
          <a:bodyPr>
            <a:normAutofit/>
          </a:bodyPr>
          <a:lstStyle/>
          <a:p>
            <a:r>
              <a:rPr lang="en-US" sz="2700" dirty="0"/>
              <a:t>Relationships Between </a:t>
            </a:r>
            <a:r>
              <a:rPr lang="en-US" dirty="0"/>
              <a:t>IT Workers and Clients</a:t>
            </a:r>
            <a:endParaRPr lang="en-IN" dirty="0"/>
          </a:p>
        </p:txBody>
      </p:sp>
      <p:sp>
        <p:nvSpPr>
          <p:cNvPr id="3" name="Content Placeholder 2">
            <a:extLst>
              <a:ext uri="{FF2B5EF4-FFF2-40B4-BE49-F238E27FC236}">
                <a16:creationId xmlns:a16="http://schemas.microsoft.com/office/drawing/2014/main" id="{8AC91CA9-0808-864A-8929-9CB020CEC19E}"/>
              </a:ext>
            </a:extLst>
          </p:cNvPr>
          <p:cNvSpPr>
            <a:spLocks noGrp="1"/>
          </p:cNvSpPr>
          <p:nvPr>
            <p:ph idx="1"/>
          </p:nvPr>
        </p:nvSpPr>
        <p:spPr/>
        <p:txBody>
          <a:bodyPr>
            <a:normAutofit fontScale="92500" lnSpcReduction="10000"/>
          </a:bodyPr>
          <a:lstStyle/>
          <a:p>
            <a:r>
              <a:rPr lang="en-US" dirty="0"/>
              <a:t>Breach of contract occurs when one party fails to meet the terms of a contract.</a:t>
            </a:r>
          </a:p>
          <a:p>
            <a:r>
              <a:rPr lang="en-US" dirty="0"/>
              <a:t>Further, a material breach of contract occurs when a party fails to perform certain express or implied obligations, which impairs or destroys the essence of the contract.</a:t>
            </a:r>
          </a:p>
          <a:p>
            <a:r>
              <a:rPr lang="en-US" dirty="0"/>
              <a:t>Because there is no clear line between a minor breach and a material breach, determination is made on a case-by-case basis. </a:t>
            </a:r>
          </a:p>
          <a:p>
            <a:r>
              <a:rPr lang="en-US" dirty="0"/>
              <a:t>“When there has been a material breach of contract, the non-breaching party can either: </a:t>
            </a:r>
          </a:p>
          <a:p>
            <a:pPr lvl="1"/>
            <a:r>
              <a:rPr lang="en-US" dirty="0"/>
              <a:t>(1) withdraw the contract, seek restitution of any compensation paid under the contract to the breaching party, and be discharged from any further performance under the contract; or </a:t>
            </a:r>
          </a:p>
          <a:p>
            <a:pPr lvl="1"/>
            <a:r>
              <a:rPr lang="en-US" dirty="0"/>
              <a:t>(2) treat the contract as being in effect and sue the breaching party to recover damages.”</a:t>
            </a:r>
            <a:endParaRPr lang="en-IN" dirty="0"/>
          </a:p>
        </p:txBody>
      </p:sp>
    </p:spTree>
    <p:extLst>
      <p:ext uri="{BB962C8B-B14F-4D97-AF65-F5344CB8AC3E}">
        <p14:creationId xmlns:p14="http://schemas.microsoft.com/office/powerpoint/2010/main" val="13969782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7BC62-1F32-F726-ECD5-DE238ED7E6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42562E-C460-D775-43D9-B888B441F02F}"/>
              </a:ext>
            </a:extLst>
          </p:cNvPr>
          <p:cNvSpPr>
            <a:spLocks noGrp="1"/>
          </p:cNvSpPr>
          <p:nvPr>
            <p:ph type="title"/>
          </p:nvPr>
        </p:nvSpPr>
        <p:spPr/>
        <p:txBody>
          <a:bodyPr>
            <a:normAutofit/>
          </a:bodyPr>
          <a:lstStyle/>
          <a:p>
            <a:r>
              <a:rPr lang="en-US" sz="2700" dirty="0"/>
              <a:t>Relationships Between </a:t>
            </a:r>
            <a:r>
              <a:rPr lang="en-US" dirty="0"/>
              <a:t>IT Workers and Clients</a:t>
            </a:r>
            <a:endParaRPr lang="en-IN" dirty="0"/>
          </a:p>
        </p:txBody>
      </p:sp>
      <p:sp>
        <p:nvSpPr>
          <p:cNvPr id="3" name="Content Placeholder 2">
            <a:extLst>
              <a:ext uri="{FF2B5EF4-FFF2-40B4-BE49-F238E27FC236}">
                <a16:creationId xmlns:a16="http://schemas.microsoft.com/office/drawing/2014/main" id="{63146381-50DB-DC4E-48E8-302800CD06AC}"/>
              </a:ext>
            </a:extLst>
          </p:cNvPr>
          <p:cNvSpPr>
            <a:spLocks noGrp="1"/>
          </p:cNvSpPr>
          <p:nvPr>
            <p:ph idx="1"/>
          </p:nvPr>
        </p:nvSpPr>
        <p:spPr/>
        <p:txBody>
          <a:bodyPr>
            <a:normAutofit/>
          </a:bodyPr>
          <a:lstStyle/>
          <a:p>
            <a:r>
              <a:rPr lang="en-US" dirty="0"/>
              <a:t>Most IT projects are joint efforts in which vendors and customers work together to develop a system. </a:t>
            </a:r>
          </a:p>
          <a:p>
            <a:r>
              <a:rPr lang="en-US" dirty="0"/>
              <a:t>Assigning fault when such projects go wrong can be difficult; one side might be partially at fault, while the other side is mostly at fault. </a:t>
            </a:r>
          </a:p>
          <a:p>
            <a:r>
              <a:rPr lang="en-US" dirty="0"/>
              <a:t>Clients and vendors often disagree about who is to blame in such circumstances. </a:t>
            </a:r>
          </a:p>
        </p:txBody>
      </p:sp>
    </p:spTree>
    <p:extLst>
      <p:ext uri="{BB962C8B-B14F-4D97-AF65-F5344CB8AC3E}">
        <p14:creationId xmlns:p14="http://schemas.microsoft.com/office/powerpoint/2010/main" val="17919273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719C9-97B3-4F8A-3987-A81444F016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AB0342-9B0A-279D-7122-2E4ADE9C8EF0}"/>
              </a:ext>
            </a:extLst>
          </p:cNvPr>
          <p:cNvSpPr>
            <a:spLocks noGrp="1"/>
          </p:cNvSpPr>
          <p:nvPr>
            <p:ph type="title"/>
          </p:nvPr>
        </p:nvSpPr>
        <p:spPr/>
        <p:txBody>
          <a:bodyPr>
            <a:normAutofit/>
          </a:bodyPr>
          <a:lstStyle/>
          <a:p>
            <a:r>
              <a:rPr lang="en-US" sz="2700" dirty="0"/>
              <a:t>Relationships Between </a:t>
            </a:r>
            <a:r>
              <a:rPr lang="en-US" dirty="0"/>
              <a:t>IT Workers and Clients</a:t>
            </a:r>
            <a:endParaRPr lang="en-IN" dirty="0"/>
          </a:p>
        </p:txBody>
      </p:sp>
      <p:sp>
        <p:nvSpPr>
          <p:cNvPr id="3" name="Content Placeholder 2">
            <a:extLst>
              <a:ext uri="{FF2B5EF4-FFF2-40B4-BE49-F238E27FC236}">
                <a16:creationId xmlns:a16="http://schemas.microsoft.com/office/drawing/2014/main" id="{2FAEE347-E3E0-8590-48A9-635595DB4452}"/>
              </a:ext>
            </a:extLst>
          </p:cNvPr>
          <p:cNvSpPr>
            <a:spLocks noGrp="1"/>
          </p:cNvSpPr>
          <p:nvPr>
            <p:ph idx="1"/>
          </p:nvPr>
        </p:nvSpPr>
        <p:spPr/>
        <p:txBody>
          <a:bodyPr>
            <a:normAutofit lnSpcReduction="10000"/>
          </a:bodyPr>
          <a:lstStyle/>
          <a:p>
            <a:r>
              <a:rPr lang="en-US" dirty="0"/>
              <a:t>Frequent causes of problems in IT projects include the following</a:t>
            </a:r>
          </a:p>
          <a:p>
            <a:pPr lvl="1"/>
            <a:r>
              <a:rPr lang="en-US" b="1" dirty="0"/>
              <a:t>Scope creep</a:t>
            </a:r>
            <a:r>
              <a:rPr lang="en-US" dirty="0"/>
              <a:t>—Changes to the scope of the project or the system requirements can result in cost overruns, missed deadlines, and a project that fails to meet end-user expectations.</a:t>
            </a:r>
          </a:p>
          <a:p>
            <a:pPr lvl="1"/>
            <a:r>
              <a:rPr lang="en-US" b="1" dirty="0"/>
              <a:t>Poor communication</a:t>
            </a:r>
            <a:r>
              <a:rPr lang="en-US" dirty="0"/>
              <a:t>—Miscommunication or a lack of communication between customer and vendor can lead to a system whose performance does not meet expectations.</a:t>
            </a:r>
          </a:p>
          <a:p>
            <a:pPr lvl="1"/>
            <a:r>
              <a:rPr lang="en-US" b="1" dirty="0"/>
              <a:t>Delivery of an obsolete solution</a:t>
            </a:r>
            <a:r>
              <a:rPr lang="en-US" dirty="0"/>
              <a:t>—The vendor delivers a system that meets customer requirements, but a competitor comes out with a system that offers more advanced and useful features.</a:t>
            </a:r>
          </a:p>
          <a:p>
            <a:pPr lvl="1"/>
            <a:r>
              <a:rPr lang="en-US" b="1" dirty="0"/>
              <a:t>Legacy systems</a:t>
            </a:r>
            <a:r>
              <a:rPr lang="en-US" dirty="0"/>
              <a:t>—If a customer fails to reveal information about legacy systems or databases that must connect with the new hardware or software at the start of a project, implementation can become extremely difficult.</a:t>
            </a:r>
            <a:endParaRPr lang="en-IN" dirty="0"/>
          </a:p>
        </p:txBody>
      </p:sp>
    </p:spTree>
    <p:extLst>
      <p:ext uri="{BB962C8B-B14F-4D97-AF65-F5344CB8AC3E}">
        <p14:creationId xmlns:p14="http://schemas.microsoft.com/office/powerpoint/2010/main" val="24847082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25BB6-C172-95B3-1BDF-7BFF2EFE93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857FC7-353C-ACAC-707B-F4A58AFC242E}"/>
              </a:ext>
            </a:extLst>
          </p:cNvPr>
          <p:cNvSpPr>
            <a:spLocks noGrp="1"/>
          </p:cNvSpPr>
          <p:nvPr>
            <p:ph type="title"/>
          </p:nvPr>
        </p:nvSpPr>
        <p:spPr/>
        <p:txBody>
          <a:bodyPr>
            <a:normAutofit fontScale="90000"/>
          </a:bodyPr>
          <a:lstStyle/>
          <a:p>
            <a:r>
              <a:rPr lang="en-US" sz="2700" dirty="0"/>
              <a:t>Relationships Between </a:t>
            </a:r>
            <a:r>
              <a:rPr lang="en-US" dirty="0"/>
              <a:t>IT Workers and Suppliers</a:t>
            </a:r>
            <a:endParaRPr lang="en-IN" dirty="0"/>
          </a:p>
        </p:txBody>
      </p:sp>
      <p:sp>
        <p:nvSpPr>
          <p:cNvPr id="3" name="Content Placeholder 2">
            <a:extLst>
              <a:ext uri="{FF2B5EF4-FFF2-40B4-BE49-F238E27FC236}">
                <a16:creationId xmlns:a16="http://schemas.microsoft.com/office/drawing/2014/main" id="{45753145-0920-D667-1453-B35B0FF8BC9D}"/>
              </a:ext>
            </a:extLst>
          </p:cNvPr>
          <p:cNvSpPr>
            <a:spLocks noGrp="1"/>
          </p:cNvSpPr>
          <p:nvPr>
            <p:ph idx="1"/>
          </p:nvPr>
        </p:nvSpPr>
        <p:spPr/>
        <p:txBody>
          <a:bodyPr>
            <a:normAutofit fontScale="92500" lnSpcReduction="10000"/>
          </a:bodyPr>
          <a:lstStyle/>
          <a:p>
            <a:r>
              <a:rPr lang="en-US" dirty="0"/>
              <a:t>IT workers deal with many different hardware, software, and service providers. </a:t>
            </a:r>
          </a:p>
          <a:p>
            <a:r>
              <a:rPr lang="en-US" dirty="0"/>
              <a:t>Most IT workers understand that building a good working relationship with suppliers encourages the flow of useful communication as well as the sharing of ideas. </a:t>
            </a:r>
          </a:p>
          <a:p>
            <a:r>
              <a:rPr lang="en-US" dirty="0"/>
              <a:t>Such information can lead to innovative and cost-effective ways of using the supplier’s products and services that the IT worker may never have considered.</a:t>
            </a:r>
          </a:p>
          <a:p>
            <a:r>
              <a:rPr lang="en-US" dirty="0"/>
              <a:t>IT workers can develop good relationships with suppliers by dealing fairly with them and not making unreasonable demands. </a:t>
            </a:r>
          </a:p>
          <a:p>
            <a:r>
              <a:rPr lang="en-US" dirty="0"/>
              <a:t>Threatening to replace a supplier who can’t deliver needed equipment tomorrow, when the normal industry lead time is one week, is aggressive behavior that does not help build a good working relationship.</a:t>
            </a:r>
            <a:endParaRPr lang="en-IN" dirty="0"/>
          </a:p>
        </p:txBody>
      </p:sp>
    </p:spTree>
    <p:extLst>
      <p:ext uri="{BB962C8B-B14F-4D97-AF65-F5344CB8AC3E}">
        <p14:creationId xmlns:p14="http://schemas.microsoft.com/office/powerpoint/2010/main" val="9050522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409A8-C875-AD70-9766-953C6D4506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1EFE67-6090-B8A7-83A3-7DC0DEC352E5}"/>
              </a:ext>
            </a:extLst>
          </p:cNvPr>
          <p:cNvSpPr>
            <a:spLocks noGrp="1"/>
          </p:cNvSpPr>
          <p:nvPr>
            <p:ph type="title"/>
          </p:nvPr>
        </p:nvSpPr>
        <p:spPr/>
        <p:txBody>
          <a:bodyPr>
            <a:normAutofit fontScale="90000"/>
          </a:bodyPr>
          <a:lstStyle/>
          <a:p>
            <a:r>
              <a:rPr lang="en-US" sz="2700" dirty="0"/>
              <a:t>Relationships Between </a:t>
            </a:r>
            <a:r>
              <a:rPr lang="en-US" dirty="0"/>
              <a:t>IT Workers and Suppliers</a:t>
            </a:r>
            <a:endParaRPr lang="en-IN" dirty="0"/>
          </a:p>
        </p:txBody>
      </p:sp>
      <p:sp>
        <p:nvSpPr>
          <p:cNvPr id="3" name="Content Placeholder 2">
            <a:extLst>
              <a:ext uri="{FF2B5EF4-FFF2-40B4-BE49-F238E27FC236}">
                <a16:creationId xmlns:a16="http://schemas.microsoft.com/office/drawing/2014/main" id="{0878BA1E-72CE-6326-7C93-35F026C27A90}"/>
              </a:ext>
            </a:extLst>
          </p:cNvPr>
          <p:cNvSpPr>
            <a:spLocks noGrp="1"/>
          </p:cNvSpPr>
          <p:nvPr>
            <p:ph idx="1"/>
          </p:nvPr>
        </p:nvSpPr>
        <p:spPr/>
        <p:txBody>
          <a:bodyPr>
            <a:normAutofit/>
          </a:bodyPr>
          <a:lstStyle/>
          <a:p>
            <a:r>
              <a:rPr lang="en-US" dirty="0"/>
              <a:t>Suppliers strive to maintain positive relationships with their customers in order to make and increase sales. </a:t>
            </a:r>
          </a:p>
          <a:p>
            <a:r>
              <a:rPr lang="en-US" dirty="0"/>
              <a:t>To achieve this goal, they may sometimes engage in unethical actions—for example, offering an IT worker a gift that is actually intended as a bribe.</a:t>
            </a:r>
          </a:p>
          <a:p>
            <a:r>
              <a:rPr lang="en-US" dirty="0"/>
              <a:t>Clearly, IT workers should not accept a bribe from a vendor, and they must be careful when considering what constitutes a bribe. </a:t>
            </a:r>
          </a:p>
          <a:p>
            <a:r>
              <a:rPr lang="en-US" dirty="0"/>
              <a:t>For example, accepting invitations to expensive dinners or payment of entry fees for a golf tournament may seem innocent to the recipient, but it may be perceived as bribery by an auditor.</a:t>
            </a:r>
            <a:endParaRPr lang="en-IN" dirty="0"/>
          </a:p>
        </p:txBody>
      </p:sp>
    </p:spTree>
    <p:extLst>
      <p:ext uri="{BB962C8B-B14F-4D97-AF65-F5344CB8AC3E}">
        <p14:creationId xmlns:p14="http://schemas.microsoft.com/office/powerpoint/2010/main" val="28128849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993CE-D9D6-B8E4-6A59-A247BE28F4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477159-1C4D-8DFB-66D9-993799AF298C}"/>
              </a:ext>
            </a:extLst>
          </p:cNvPr>
          <p:cNvSpPr>
            <a:spLocks noGrp="1"/>
          </p:cNvSpPr>
          <p:nvPr>
            <p:ph type="title"/>
          </p:nvPr>
        </p:nvSpPr>
        <p:spPr/>
        <p:txBody>
          <a:bodyPr>
            <a:normAutofit fontScale="90000"/>
          </a:bodyPr>
          <a:lstStyle/>
          <a:p>
            <a:r>
              <a:rPr lang="en-US" sz="2700" dirty="0"/>
              <a:t>Relationships Between </a:t>
            </a:r>
            <a:r>
              <a:rPr lang="en-US" dirty="0"/>
              <a:t>IT Workers and Suppliers</a:t>
            </a:r>
            <a:endParaRPr lang="en-IN" dirty="0"/>
          </a:p>
        </p:txBody>
      </p:sp>
      <p:sp>
        <p:nvSpPr>
          <p:cNvPr id="3" name="Content Placeholder 2">
            <a:extLst>
              <a:ext uri="{FF2B5EF4-FFF2-40B4-BE49-F238E27FC236}">
                <a16:creationId xmlns:a16="http://schemas.microsoft.com/office/drawing/2014/main" id="{E8C5A504-C9FB-170E-4E34-EC5C8034C5A4}"/>
              </a:ext>
            </a:extLst>
          </p:cNvPr>
          <p:cNvSpPr>
            <a:spLocks noGrp="1"/>
          </p:cNvSpPr>
          <p:nvPr>
            <p:ph idx="1"/>
          </p:nvPr>
        </p:nvSpPr>
        <p:spPr/>
        <p:txBody>
          <a:bodyPr>
            <a:normAutofit/>
          </a:bodyPr>
          <a:lstStyle/>
          <a:p>
            <a:r>
              <a:rPr lang="en-US" dirty="0"/>
              <a:t>Bribery is the act of providing money, property, or favors to someone in business or government in order to obtain a business advantage. </a:t>
            </a:r>
          </a:p>
          <a:p>
            <a:r>
              <a:rPr lang="en-US" dirty="0"/>
              <a:t>An obvious example is a software supplier sales representative who offers money to another company’s employee to get its business. </a:t>
            </a:r>
          </a:p>
          <a:p>
            <a:r>
              <a:rPr lang="en-US" dirty="0"/>
              <a:t>This type of bribe is often referred to as a kickback or a payoff. </a:t>
            </a:r>
          </a:p>
          <a:p>
            <a:r>
              <a:rPr lang="en-US" dirty="0"/>
              <a:t>The person who offers a bribe commits a crime when the offer is made, and the recipient is guilty of a crime if he or she accepts the bribe.</a:t>
            </a:r>
            <a:endParaRPr lang="en-IN" dirty="0"/>
          </a:p>
        </p:txBody>
      </p:sp>
    </p:spTree>
    <p:extLst>
      <p:ext uri="{BB962C8B-B14F-4D97-AF65-F5344CB8AC3E}">
        <p14:creationId xmlns:p14="http://schemas.microsoft.com/office/powerpoint/2010/main" val="6777763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C7F27-798E-5B3D-ED53-812A279C7C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9A65DF-A4C6-05B6-B628-56301D3EA42D}"/>
              </a:ext>
            </a:extLst>
          </p:cNvPr>
          <p:cNvSpPr>
            <a:spLocks noGrp="1"/>
          </p:cNvSpPr>
          <p:nvPr>
            <p:ph type="title"/>
          </p:nvPr>
        </p:nvSpPr>
        <p:spPr/>
        <p:txBody>
          <a:bodyPr>
            <a:normAutofit fontScale="90000"/>
          </a:bodyPr>
          <a:lstStyle/>
          <a:p>
            <a:r>
              <a:rPr lang="en-US" sz="2700" dirty="0"/>
              <a:t>Relationships Between </a:t>
            </a:r>
            <a:r>
              <a:rPr lang="en-US" dirty="0"/>
              <a:t>IT Workers and Suppliers</a:t>
            </a:r>
            <a:endParaRPr lang="en-IN" dirty="0"/>
          </a:p>
        </p:txBody>
      </p:sp>
      <p:sp>
        <p:nvSpPr>
          <p:cNvPr id="3" name="Content Placeholder 2">
            <a:extLst>
              <a:ext uri="{FF2B5EF4-FFF2-40B4-BE49-F238E27FC236}">
                <a16:creationId xmlns:a16="http://schemas.microsoft.com/office/drawing/2014/main" id="{B09B6D44-4358-5E1A-0F28-280D854A86A4}"/>
              </a:ext>
            </a:extLst>
          </p:cNvPr>
          <p:cNvSpPr>
            <a:spLocks noGrp="1"/>
          </p:cNvSpPr>
          <p:nvPr>
            <p:ph idx="1"/>
          </p:nvPr>
        </p:nvSpPr>
        <p:spPr/>
        <p:txBody>
          <a:bodyPr>
            <a:normAutofit/>
          </a:bodyPr>
          <a:lstStyle/>
          <a:p>
            <a:endParaRPr lang="en-IN" dirty="0"/>
          </a:p>
        </p:txBody>
      </p:sp>
      <p:pic>
        <p:nvPicPr>
          <p:cNvPr id="7" name="Picture 6">
            <a:extLst>
              <a:ext uri="{FF2B5EF4-FFF2-40B4-BE49-F238E27FC236}">
                <a16:creationId xmlns:a16="http://schemas.microsoft.com/office/drawing/2014/main" id="{1106C658-1E08-56F2-278A-CBC8F728CD42}"/>
              </a:ext>
            </a:extLst>
          </p:cNvPr>
          <p:cNvPicPr>
            <a:picLocks noChangeAspect="1"/>
          </p:cNvPicPr>
          <p:nvPr/>
        </p:nvPicPr>
        <p:blipFill>
          <a:blip r:embed="rId2"/>
          <a:stretch>
            <a:fillRect/>
          </a:stretch>
        </p:blipFill>
        <p:spPr>
          <a:xfrm>
            <a:off x="266330" y="2333625"/>
            <a:ext cx="8667748" cy="2318119"/>
          </a:xfrm>
          <a:prstGeom prst="rect">
            <a:avLst/>
          </a:prstGeom>
        </p:spPr>
      </p:pic>
    </p:spTree>
    <p:extLst>
      <p:ext uri="{BB962C8B-B14F-4D97-AF65-F5344CB8AC3E}">
        <p14:creationId xmlns:p14="http://schemas.microsoft.com/office/powerpoint/2010/main" val="33831671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0D14A-26D2-0830-5ED2-A535505DE4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A5709A-6183-8075-04BA-D2E15D3A3FF5}"/>
              </a:ext>
            </a:extLst>
          </p:cNvPr>
          <p:cNvSpPr>
            <a:spLocks noGrp="1"/>
          </p:cNvSpPr>
          <p:nvPr>
            <p:ph type="title"/>
          </p:nvPr>
        </p:nvSpPr>
        <p:spPr/>
        <p:txBody>
          <a:bodyPr>
            <a:normAutofit fontScale="90000"/>
          </a:bodyPr>
          <a:lstStyle/>
          <a:p>
            <a:r>
              <a:rPr lang="en-US" sz="2700" dirty="0"/>
              <a:t>Relationships Between</a:t>
            </a:r>
            <a:r>
              <a:rPr lang="en-US" sz="2000" dirty="0"/>
              <a:t> </a:t>
            </a:r>
            <a:r>
              <a:rPr lang="en-US" sz="3600" dirty="0"/>
              <a:t>IT Workers and Other Professionals</a:t>
            </a:r>
            <a:endParaRPr lang="en-IN" dirty="0"/>
          </a:p>
        </p:txBody>
      </p:sp>
      <p:sp>
        <p:nvSpPr>
          <p:cNvPr id="3" name="Content Placeholder 2">
            <a:extLst>
              <a:ext uri="{FF2B5EF4-FFF2-40B4-BE49-F238E27FC236}">
                <a16:creationId xmlns:a16="http://schemas.microsoft.com/office/drawing/2014/main" id="{DB01F7F9-5C60-0972-13FF-D3A6A574BB25}"/>
              </a:ext>
            </a:extLst>
          </p:cNvPr>
          <p:cNvSpPr>
            <a:spLocks noGrp="1"/>
          </p:cNvSpPr>
          <p:nvPr>
            <p:ph idx="1"/>
          </p:nvPr>
        </p:nvSpPr>
        <p:spPr/>
        <p:txBody>
          <a:bodyPr>
            <a:normAutofit fontScale="92500"/>
          </a:bodyPr>
          <a:lstStyle/>
          <a:p>
            <a:r>
              <a:rPr lang="en-US" dirty="0"/>
              <a:t>Professionals often feel a degree of loyalty to the other members of their profession. </a:t>
            </a:r>
          </a:p>
          <a:p>
            <a:r>
              <a:rPr lang="en-US" dirty="0"/>
              <a:t>As a result, they are often quick to help each other obtain new positions but slow to criticize each other in public. </a:t>
            </a:r>
          </a:p>
          <a:p>
            <a:r>
              <a:rPr lang="en-US" dirty="0"/>
              <a:t>Professionals also have an interest in their profession as a whole, because how it is perceived affects how individual members are viewed and treated. </a:t>
            </a:r>
          </a:p>
          <a:p>
            <a:r>
              <a:rPr lang="en-US" dirty="0"/>
              <a:t>(For example, politicians are not generally thought to be very trustworthy, but teachers are.)</a:t>
            </a:r>
          </a:p>
          <a:p>
            <a:r>
              <a:rPr lang="en-US" dirty="0"/>
              <a:t>Hence, professionals owe each other an adherence to the profession’s code of conduct.</a:t>
            </a:r>
          </a:p>
          <a:p>
            <a:r>
              <a:rPr lang="en-US" dirty="0"/>
              <a:t>Experienced professionals can also serve as mentors and help develop new members of the profession.</a:t>
            </a:r>
            <a:endParaRPr lang="en-IN" dirty="0"/>
          </a:p>
        </p:txBody>
      </p:sp>
    </p:spTree>
    <p:extLst>
      <p:ext uri="{BB962C8B-B14F-4D97-AF65-F5344CB8AC3E}">
        <p14:creationId xmlns:p14="http://schemas.microsoft.com/office/powerpoint/2010/main" val="22572378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1B145-3928-CCC3-F73D-5526672880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AEC268-85A9-07F0-BE6C-455B89A9EA6D}"/>
              </a:ext>
            </a:extLst>
          </p:cNvPr>
          <p:cNvSpPr>
            <a:spLocks noGrp="1"/>
          </p:cNvSpPr>
          <p:nvPr>
            <p:ph type="title"/>
          </p:nvPr>
        </p:nvSpPr>
        <p:spPr/>
        <p:txBody>
          <a:bodyPr>
            <a:normAutofit fontScale="90000"/>
          </a:bodyPr>
          <a:lstStyle/>
          <a:p>
            <a:r>
              <a:rPr lang="en-US" sz="2700" dirty="0"/>
              <a:t>Relationships Between</a:t>
            </a:r>
            <a:r>
              <a:rPr lang="en-US" sz="2000" dirty="0"/>
              <a:t> </a:t>
            </a:r>
            <a:r>
              <a:rPr lang="en-US" sz="3600" dirty="0"/>
              <a:t>IT Workers and Other Professionals</a:t>
            </a:r>
            <a:endParaRPr lang="en-IN" dirty="0"/>
          </a:p>
        </p:txBody>
      </p:sp>
      <p:sp>
        <p:nvSpPr>
          <p:cNvPr id="3" name="Content Placeholder 2">
            <a:extLst>
              <a:ext uri="{FF2B5EF4-FFF2-40B4-BE49-F238E27FC236}">
                <a16:creationId xmlns:a16="http://schemas.microsoft.com/office/drawing/2014/main" id="{8C1BC24D-40A3-CE9B-43F2-B46D64CB0AAA}"/>
              </a:ext>
            </a:extLst>
          </p:cNvPr>
          <p:cNvSpPr>
            <a:spLocks noGrp="1"/>
          </p:cNvSpPr>
          <p:nvPr>
            <p:ph idx="1"/>
          </p:nvPr>
        </p:nvSpPr>
        <p:spPr/>
        <p:txBody>
          <a:bodyPr>
            <a:normAutofit/>
          </a:bodyPr>
          <a:lstStyle/>
          <a:p>
            <a:r>
              <a:rPr lang="en-US" dirty="0"/>
              <a:t>A number of ethical problems can arise among members of the IT profession. </a:t>
            </a:r>
          </a:p>
          <a:p>
            <a:r>
              <a:rPr lang="en-US" dirty="0"/>
              <a:t>One of the most common is résumé inflation, which involves lying on a résumé by, for example, claiming competence in an IT skill that is in high demand. </a:t>
            </a:r>
          </a:p>
          <a:p>
            <a:r>
              <a:rPr lang="en-US"/>
              <a:t>Even </a:t>
            </a:r>
            <a:r>
              <a:rPr lang="en-US" dirty="0"/>
              <a:t>though an IT worker might benefit in the short term from exaggerating his or her qualifications, such an action can hurt the profession and the individual in the long run</a:t>
            </a:r>
            <a:r>
              <a:rPr lang="en-US"/>
              <a:t>. </a:t>
            </a:r>
          </a:p>
          <a:p>
            <a:r>
              <a:rPr lang="en-US"/>
              <a:t>Many </a:t>
            </a:r>
            <a:r>
              <a:rPr lang="en-US" dirty="0"/>
              <a:t>employers consider lying on a résumé as grounds for immediate dismissal.</a:t>
            </a:r>
            <a:endParaRPr lang="en-IN" dirty="0"/>
          </a:p>
        </p:txBody>
      </p:sp>
    </p:spTree>
    <p:extLst>
      <p:ext uri="{BB962C8B-B14F-4D97-AF65-F5344CB8AC3E}">
        <p14:creationId xmlns:p14="http://schemas.microsoft.com/office/powerpoint/2010/main" val="19264179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8F9A2-F720-5FB1-32E1-4FF1DBC1A4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5273F3-E42F-0799-028E-8C572FF95EEC}"/>
              </a:ext>
            </a:extLst>
          </p:cNvPr>
          <p:cNvSpPr>
            <a:spLocks noGrp="1"/>
          </p:cNvSpPr>
          <p:nvPr>
            <p:ph type="title"/>
          </p:nvPr>
        </p:nvSpPr>
        <p:spPr/>
        <p:txBody>
          <a:bodyPr>
            <a:normAutofit fontScale="90000"/>
          </a:bodyPr>
          <a:lstStyle/>
          <a:p>
            <a:r>
              <a:rPr lang="en-US" sz="2700" dirty="0"/>
              <a:t>Relationships Between</a:t>
            </a:r>
            <a:r>
              <a:rPr lang="en-US" sz="2000" dirty="0"/>
              <a:t> </a:t>
            </a:r>
            <a:r>
              <a:rPr lang="en-US" sz="3600" dirty="0"/>
              <a:t>IT Workers and Other Professionals</a:t>
            </a:r>
            <a:endParaRPr lang="en-IN" dirty="0"/>
          </a:p>
        </p:txBody>
      </p:sp>
      <p:sp>
        <p:nvSpPr>
          <p:cNvPr id="5" name="Content Placeholder 4">
            <a:extLst>
              <a:ext uri="{FF2B5EF4-FFF2-40B4-BE49-F238E27FC236}">
                <a16:creationId xmlns:a16="http://schemas.microsoft.com/office/drawing/2014/main" id="{9242A965-FDE7-55FA-6A23-E0F1D6F61A41}"/>
              </a:ext>
            </a:extLst>
          </p:cNvPr>
          <p:cNvSpPr>
            <a:spLocks noGrp="1"/>
          </p:cNvSpPr>
          <p:nvPr>
            <p:ph idx="1"/>
          </p:nvPr>
        </p:nvSpPr>
        <p:spPr/>
        <p:txBody>
          <a:bodyPr/>
          <a:lstStyle/>
          <a:p>
            <a:endParaRPr lang="en-IN"/>
          </a:p>
        </p:txBody>
      </p:sp>
      <p:pic>
        <p:nvPicPr>
          <p:cNvPr id="7" name="Picture 6">
            <a:extLst>
              <a:ext uri="{FF2B5EF4-FFF2-40B4-BE49-F238E27FC236}">
                <a16:creationId xmlns:a16="http://schemas.microsoft.com/office/drawing/2014/main" id="{F69655BE-F11A-718E-7BCE-ECFABBA57C69}"/>
              </a:ext>
            </a:extLst>
          </p:cNvPr>
          <p:cNvPicPr>
            <a:picLocks noChangeAspect="1"/>
          </p:cNvPicPr>
          <p:nvPr/>
        </p:nvPicPr>
        <p:blipFill>
          <a:blip r:embed="rId2"/>
          <a:stretch>
            <a:fillRect/>
          </a:stretch>
        </p:blipFill>
        <p:spPr>
          <a:xfrm>
            <a:off x="266330" y="1448176"/>
            <a:ext cx="8675204" cy="4257680"/>
          </a:xfrm>
          <a:prstGeom prst="rect">
            <a:avLst/>
          </a:prstGeom>
        </p:spPr>
      </p:pic>
    </p:spTree>
    <p:extLst>
      <p:ext uri="{BB962C8B-B14F-4D97-AF65-F5344CB8AC3E}">
        <p14:creationId xmlns:p14="http://schemas.microsoft.com/office/powerpoint/2010/main" val="29193247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BAF8F-4C2E-3EAA-58EE-C3AF8CB96D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91DCA4-6290-FD4E-9E7F-2BB83C1E4DE7}"/>
              </a:ext>
            </a:extLst>
          </p:cNvPr>
          <p:cNvSpPr>
            <a:spLocks noGrp="1"/>
          </p:cNvSpPr>
          <p:nvPr>
            <p:ph type="title"/>
          </p:nvPr>
        </p:nvSpPr>
        <p:spPr/>
        <p:txBody>
          <a:bodyPr>
            <a:normAutofit fontScale="90000"/>
          </a:bodyPr>
          <a:lstStyle/>
          <a:p>
            <a:r>
              <a:rPr lang="en-US" sz="2700" dirty="0"/>
              <a:t>Relationships Between</a:t>
            </a:r>
            <a:r>
              <a:rPr lang="en-US" sz="2000" dirty="0"/>
              <a:t> </a:t>
            </a:r>
            <a:r>
              <a:rPr lang="en-US" sz="3600" dirty="0"/>
              <a:t>IT Workers and Other Professionals</a:t>
            </a:r>
            <a:endParaRPr lang="en-IN" dirty="0"/>
          </a:p>
        </p:txBody>
      </p:sp>
      <p:sp>
        <p:nvSpPr>
          <p:cNvPr id="3" name="Content Placeholder 2">
            <a:extLst>
              <a:ext uri="{FF2B5EF4-FFF2-40B4-BE49-F238E27FC236}">
                <a16:creationId xmlns:a16="http://schemas.microsoft.com/office/drawing/2014/main" id="{06FEBF78-0AEB-F09E-0E1D-DE5D69FA2272}"/>
              </a:ext>
            </a:extLst>
          </p:cNvPr>
          <p:cNvSpPr>
            <a:spLocks noGrp="1"/>
          </p:cNvSpPr>
          <p:nvPr>
            <p:ph idx="1"/>
          </p:nvPr>
        </p:nvSpPr>
        <p:spPr/>
        <p:txBody>
          <a:bodyPr>
            <a:normAutofit lnSpcReduction="10000"/>
          </a:bodyPr>
          <a:lstStyle/>
          <a:p>
            <a:r>
              <a:rPr lang="en-US" dirty="0"/>
              <a:t>Another ethical issue that can arise in relationships between IT workers and other professionals is the inappropriate sharing of corporate information. </a:t>
            </a:r>
          </a:p>
          <a:p>
            <a:r>
              <a:rPr lang="en-US" dirty="0"/>
              <a:t>Because of their roles, IT workers may have access to corporate databases of private and confidential information about employees, customers, suppliers, new product plans, promotions, budgets, and so on. </a:t>
            </a:r>
          </a:p>
          <a:p>
            <a:r>
              <a:rPr lang="en-US" dirty="0"/>
              <a:t>It might be sold to other organizations or shared informally during work conversations with others who have no need to know. </a:t>
            </a:r>
          </a:p>
          <a:p>
            <a:r>
              <a:rPr lang="en-US" dirty="0"/>
              <a:t>Revealing such private or confidential information is grounds for termination in many organizations and could even lead to criminal charges.</a:t>
            </a:r>
            <a:endParaRPr lang="en-IN" dirty="0"/>
          </a:p>
        </p:txBody>
      </p:sp>
    </p:spTree>
    <p:extLst>
      <p:ext uri="{BB962C8B-B14F-4D97-AF65-F5344CB8AC3E}">
        <p14:creationId xmlns:p14="http://schemas.microsoft.com/office/powerpoint/2010/main" val="42392329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C7BD6-C05F-552D-7110-C97DAE1ED6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AEAF90-0829-6BEA-977E-CED587FE0915}"/>
              </a:ext>
            </a:extLst>
          </p:cNvPr>
          <p:cNvSpPr>
            <a:spLocks noGrp="1"/>
          </p:cNvSpPr>
          <p:nvPr>
            <p:ph type="title"/>
          </p:nvPr>
        </p:nvSpPr>
        <p:spPr/>
        <p:txBody>
          <a:bodyPr>
            <a:normAutofit/>
          </a:bodyPr>
          <a:lstStyle/>
          <a:p>
            <a:r>
              <a:rPr lang="en-US" sz="2700" dirty="0"/>
              <a:t>Relationships Between</a:t>
            </a:r>
            <a:r>
              <a:rPr lang="en-US" sz="2000" dirty="0"/>
              <a:t> </a:t>
            </a:r>
            <a:r>
              <a:rPr lang="en-US" sz="3600" dirty="0"/>
              <a:t>IT Workers and IT Users</a:t>
            </a:r>
            <a:endParaRPr lang="en-IN" dirty="0"/>
          </a:p>
        </p:txBody>
      </p:sp>
      <p:sp>
        <p:nvSpPr>
          <p:cNvPr id="3" name="Content Placeholder 2">
            <a:extLst>
              <a:ext uri="{FF2B5EF4-FFF2-40B4-BE49-F238E27FC236}">
                <a16:creationId xmlns:a16="http://schemas.microsoft.com/office/drawing/2014/main" id="{4A567B79-97DB-55E0-C3F7-DECA1F452CD0}"/>
              </a:ext>
            </a:extLst>
          </p:cNvPr>
          <p:cNvSpPr>
            <a:spLocks noGrp="1"/>
          </p:cNvSpPr>
          <p:nvPr>
            <p:ph idx="1"/>
          </p:nvPr>
        </p:nvSpPr>
        <p:spPr/>
        <p:txBody>
          <a:bodyPr>
            <a:normAutofit fontScale="92500" lnSpcReduction="10000"/>
          </a:bodyPr>
          <a:lstStyle/>
          <a:p>
            <a:r>
              <a:rPr lang="en-US" dirty="0"/>
              <a:t>The term IT user refers to a person who uses a hardware or software product; the term distinguishes end users from the IT workers who develop, install, service, and support the product. </a:t>
            </a:r>
          </a:p>
          <a:p>
            <a:r>
              <a:rPr lang="en-US" dirty="0"/>
              <a:t>IT users need the product to deliver organizational benefits or to increase their </a:t>
            </a:r>
            <a:r>
              <a:rPr lang="en-IN" dirty="0"/>
              <a:t>productivity.</a:t>
            </a:r>
          </a:p>
          <a:p>
            <a:r>
              <a:rPr lang="en-US" dirty="0"/>
              <a:t>IT workers have a duty to understand a user’s needs and capabilities and to deliver products and services that best meet those needs—subject, of course, to budget and time constraints. </a:t>
            </a:r>
          </a:p>
          <a:p>
            <a:r>
              <a:rPr lang="en-US" dirty="0"/>
              <a:t>They also have a key responsibility to establish an environment that supports ethical behaviors by users. </a:t>
            </a:r>
          </a:p>
          <a:p>
            <a:r>
              <a:rPr lang="en-US" dirty="0"/>
              <a:t>Such an environment discourages software piracy, minimizes the inappropriate use of corporate computing resources, and avoids the inappropriate </a:t>
            </a:r>
            <a:r>
              <a:rPr lang="en-IN" dirty="0"/>
              <a:t>sharing of information.</a:t>
            </a:r>
          </a:p>
        </p:txBody>
      </p:sp>
    </p:spTree>
    <p:extLst>
      <p:ext uri="{BB962C8B-B14F-4D97-AF65-F5344CB8AC3E}">
        <p14:creationId xmlns:p14="http://schemas.microsoft.com/office/powerpoint/2010/main" val="16827655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76A25-5D75-05EA-BB67-C6618B41BA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AEBB76-1022-5537-473F-AE02096D5AB2}"/>
              </a:ext>
            </a:extLst>
          </p:cNvPr>
          <p:cNvSpPr>
            <a:spLocks noGrp="1"/>
          </p:cNvSpPr>
          <p:nvPr>
            <p:ph type="title"/>
          </p:nvPr>
        </p:nvSpPr>
        <p:spPr/>
        <p:txBody>
          <a:bodyPr>
            <a:normAutofit/>
          </a:bodyPr>
          <a:lstStyle/>
          <a:p>
            <a:r>
              <a:rPr lang="en-US" sz="2700" dirty="0"/>
              <a:t>Relationships Between</a:t>
            </a:r>
            <a:r>
              <a:rPr lang="en-US" sz="2000" dirty="0"/>
              <a:t> </a:t>
            </a:r>
            <a:r>
              <a:rPr lang="en-US" sz="3600" dirty="0"/>
              <a:t>IT Workers and Society</a:t>
            </a:r>
            <a:endParaRPr lang="en-IN" dirty="0"/>
          </a:p>
        </p:txBody>
      </p:sp>
      <p:sp>
        <p:nvSpPr>
          <p:cNvPr id="3" name="Content Placeholder 2">
            <a:extLst>
              <a:ext uri="{FF2B5EF4-FFF2-40B4-BE49-F238E27FC236}">
                <a16:creationId xmlns:a16="http://schemas.microsoft.com/office/drawing/2014/main" id="{1E8DB090-3B3D-15D5-8A12-21E9EB15DC5C}"/>
              </a:ext>
            </a:extLst>
          </p:cNvPr>
          <p:cNvSpPr>
            <a:spLocks noGrp="1"/>
          </p:cNvSpPr>
          <p:nvPr>
            <p:ph idx="1"/>
          </p:nvPr>
        </p:nvSpPr>
        <p:spPr/>
        <p:txBody>
          <a:bodyPr>
            <a:normAutofit lnSpcReduction="10000"/>
          </a:bodyPr>
          <a:lstStyle/>
          <a:p>
            <a:r>
              <a:rPr lang="en-US" dirty="0"/>
              <a:t>Regulatory laws establish safety standards for products and services to protect the public.</a:t>
            </a:r>
          </a:p>
          <a:p>
            <a:r>
              <a:rPr lang="en-US" dirty="0"/>
              <a:t>However, these laws are less than perfect, and they cannot safeguard against all negative side effects of a product or process. </a:t>
            </a:r>
          </a:p>
          <a:p>
            <a:r>
              <a:rPr lang="en-US" dirty="0"/>
              <a:t>Often, professionals can clearly see the effect their work will have and can take action to eliminate potential public risks. </a:t>
            </a:r>
          </a:p>
          <a:p>
            <a:r>
              <a:rPr lang="en-US" dirty="0"/>
              <a:t>Thus, society expects members of a profession to provide significant benefits and to not cause harm through their actions. </a:t>
            </a:r>
          </a:p>
          <a:p>
            <a:r>
              <a:rPr lang="en-US" dirty="0"/>
              <a:t>One approach to meeting this expectation is to establish and maintain professional standards that protect the public.</a:t>
            </a:r>
            <a:endParaRPr lang="en-IN" dirty="0"/>
          </a:p>
        </p:txBody>
      </p:sp>
    </p:spTree>
    <p:extLst>
      <p:ext uri="{BB962C8B-B14F-4D97-AF65-F5344CB8AC3E}">
        <p14:creationId xmlns:p14="http://schemas.microsoft.com/office/powerpoint/2010/main" val="36760827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05C91-1907-9075-3B9B-CD1C631B61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AD07C7-C025-1F39-AF74-78EC93D08298}"/>
              </a:ext>
            </a:extLst>
          </p:cNvPr>
          <p:cNvSpPr>
            <a:spLocks noGrp="1"/>
          </p:cNvSpPr>
          <p:nvPr>
            <p:ph type="title"/>
          </p:nvPr>
        </p:nvSpPr>
        <p:spPr/>
        <p:txBody>
          <a:bodyPr>
            <a:normAutofit/>
          </a:bodyPr>
          <a:lstStyle/>
          <a:p>
            <a:r>
              <a:rPr lang="en-US" sz="2700" dirty="0"/>
              <a:t>Relationships Between</a:t>
            </a:r>
            <a:r>
              <a:rPr lang="en-US" sz="2000" dirty="0"/>
              <a:t> </a:t>
            </a:r>
            <a:r>
              <a:rPr lang="en-US" sz="3600" dirty="0"/>
              <a:t>IT Workers and Society</a:t>
            </a:r>
            <a:endParaRPr lang="en-IN" dirty="0"/>
          </a:p>
        </p:txBody>
      </p:sp>
      <p:sp>
        <p:nvSpPr>
          <p:cNvPr id="3" name="Content Placeholder 2">
            <a:extLst>
              <a:ext uri="{FF2B5EF4-FFF2-40B4-BE49-F238E27FC236}">
                <a16:creationId xmlns:a16="http://schemas.microsoft.com/office/drawing/2014/main" id="{9057B449-3FC8-2CD1-DC0A-7A2DBD0B4D92}"/>
              </a:ext>
            </a:extLst>
          </p:cNvPr>
          <p:cNvSpPr>
            <a:spLocks noGrp="1"/>
          </p:cNvSpPr>
          <p:nvPr>
            <p:ph idx="1"/>
          </p:nvPr>
        </p:nvSpPr>
        <p:spPr/>
        <p:txBody>
          <a:bodyPr>
            <a:normAutofit fontScale="92500" lnSpcReduction="10000"/>
          </a:bodyPr>
          <a:lstStyle/>
          <a:p>
            <a:r>
              <a:rPr lang="en-US" dirty="0"/>
              <a:t>Clearly, the actions of an IT worker can affect society. For example, a systems </a:t>
            </a:r>
            <a:r>
              <a:rPr lang="en-US" dirty="0" err="1"/>
              <a:t>analys</a:t>
            </a:r>
            <a:r>
              <a:rPr lang="en-US" dirty="0"/>
              <a:t> may design a computer-based control system to monitor a chemical manufacturing process.</a:t>
            </a:r>
          </a:p>
          <a:p>
            <a:r>
              <a:rPr lang="en-US" dirty="0"/>
              <a:t>A failure or an error in the system may put workers or people who live near the plan at risk. </a:t>
            </a:r>
          </a:p>
          <a:p>
            <a:r>
              <a:rPr lang="en-US" dirty="0"/>
              <a:t>As a result, IT workers have a relationship with members of society who may be affected by their actions. </a:t>
            </a:r>
          </a:p>
          <a:p>
            <a:r>
              <a:rPr lang="en-US" dirty="0"/>
              <a:t>There is currently no single, formal organization of IT workers that takes responsibility for establishing and maintaining standards that protect the public.</a:t>
            </a:r>
          </a:p>
          <a:p>
            <a:r>
              <a:rPr lang="en-US" dirty="0"/>
              <a:t>However, as discussed in the following sections, there are a number of professional organizations that provide useful professional codes of ethics to guide actions that support the ethical behavior of IT workers.</a:t>
            </a:r>
            <a:endParaRPr lang="en-IN" dirty="0"/>
          </a:p>
        </p:txBody>
      </p:sp>
    </p:spTree>
    <p:extLst>
      <p:ext uri="{BB962C8B-B14F-4D97-AF65-F5344CB8AC3E}">
        <p14:creationId xmlns:p14="http://schemas.microsoft.com/office/powerpoint/2010/main" val="21141313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65903-98BC-C0C3-6B67-39FC7BE10CFF}"/>
              </a:ext>
            </a:extLst>
          </p:cNvPr>
          <p:cNvSpPr>
            <a:spLocks noGrp="1"/>
          </p:cNvSpPr>
          <p:nvPr>
            <p:ph type="title"/>
          </p:nvPr>
        </p:nvSpPr>
        <p:spPr/>
        <p:txBody>
          <a:bodyPr>
            <a:noAutofit/>
          </a:bodyPr>
          <a:lstStyle/>
          <a:p>
            <a:r>
              <a:rPr lang="en-US" sz="3600" dirty="0"/>
              <a:t>Encouraging the Professionalism of IT Workers</a:t>
            </a:r>
            <a:endParaRPr lang="en-IN" sz="3600" dirty="0"/>
          </a:p>
        </p:txBody>
      </p:sp>
      <p:sp>
        <p:nvSpPr>
          <p:cNvPr id="3" name="Content Placeholder 2">
            <a:extLst>
              <a:ext uri="{FF2B5EF4-FFF2-40B4-BE49-F238E27FC236}">
                <a16:creationId xmlns:a16="http://schemas.microsoft.com/office/drawing/2014/main" id="{B52CC7DD-2E14-ED22-88EB-B3A422630F12}"/>
              </a:ext>
            </a:extLst>
          </p:cNvPr>
          <p:cNvSpPr>
            <a:spLocks noGrp="1"/>
          </p:cNvSpPr>
          <p:nvPr>
            <p:ph idx="1"/>
          </p:nvPr>
        </p:nvSpPr>
        <p:spPr>
          <a:xfrm>
            <a:off x="266330" y="1020932"/>
            <a:ext cx="8611340" cy="5700544"/>
          </a:xfrm>
        </p:spPr>
        <p:txBody>
          <a:bodyPr>
            <a:normAutofit/>
          </a:bodyPr>
          <a:lstStyle/>
          <a:p>
            <a:r>
              <a:rPr lang="en-US" dirty="0"/>
              <a:t>A professional is one who possesses the skill, good judgment, and work habits expected from a person who has the training and experience to do a job well. </a:t>
            </a:r>
          </a:p>
          <a:p>
            <a:r>
              <a:rPr lang="en-US" dirty="0"/>
              <a:t>Organizations— including many IT organizations—are desperately seeking workers who have the following characteristics of a professional:</a:t>
            </a:r>
          </a:p>
          <a:p>
            <a:pPr lvl="1"/>
            <a:r>
              <a:rPr lang="en-US" dirty="0"/>
              <a:t>They are an expert in the tools and skills needed to do their job.</a:t>
            </a:r>
          </a:p>
          <a:p>
            <a:pPr lvl="1"/>
            <a:r>
              <a:rPr lang="en-US" dirty="0"/>
              <a:t>They adhere to high ethical and moral standards.</a:t>
            </a:r>
          </a:p>
          <a:p>
            <a:pPr lvl="1"/>
            <a:r>
              <a:rPr lang="en-US" dirty="0"/>
              <a:t>They produce high quality results.</a:t>
            </a:r>
          </a:p>
          <a:p>
            <a:pPr lvl="1"/>
            <a:r>
              <a:rPr lang="en-US" dirty="0"/>
              <a:t>They meet their commitments.</a:t>
            </a:r>
          </a:p>
          <a:p>
            <a:pPr lvl="1"/>
            <a:r>
              <a:rPr lang="en-US" dirty="0"/>
              <a:t>They communicate effectively.</a:t>
            </a:r>
          </a:p>
          <a:p>
            <a:pPr lvl="1"/>
            <a:r>
              <a:rPr lang="en-US" dirty="0"/>
              <a:t>They train and develop others who are less skilled or experienced.</a:t>
            </a:r>
            <a:endParaRPr lang="en-IN" dirty="0"/>
          </a:p>
        </p:txBody>
      </p:sp>
    </p:spTree>
    <p:extLst>
      <p:ext uri="{BB962C8B-B14F-4D97-AF65-F5344CB8AC3E}">
        <p14:creationId xmlns:p14="http://schemas.microsoft.com/office/powerpoint/2010/main" val="6727158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CB65F-7640-3FB8-13E9-481332E9E2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CBA882-FD5C-EDDD-8477-CB140C68F6D7}"/>
              </a:ext>
            </a:extLst>
          </p:cNvPr>
          <p:cNvSpPr>
            <a:spLocks noGrp="1"/>
          </p:cNvSpPr>
          <p:nvPr>
            <p:ph type="title"/>
          </p:nvPr>
        </p:nvSpPr>
        <p:spPr/>
        <p:txBody>
          <a:bodyPr>
            <a:noAutofit/>
          </a:bodyPr>
          <a:lstStyle/>
          <a:p>
            <a:r>
              <a:rPr lang="en-US" sz="3600" dirty="0"/>
              <a:t>Encouraging the Professionalism of IT Workers</a:t>
            </a:r>
            <a:endParaRPr lang="en-IN" sz="3600" dirty="0"/>
          </a:p>
        </p:txBody>
      </p:sp>
      <p:sp>
        <p:nvSpPr>
          <p:cNvPr id="3" name="Content Placeholder 2">
            <a:extLst>
              <a:ext uri="{FF2B5EF4-FFF2-40B4-BE49-F238E27FC236}">
                <a16:creationId xmlns:a16="http://schemas.microsoft.com/office/drawing/2014/main" id="{17C6EE99-C38B-FD1C-9F6F-4013A84F952F}"/>
              </a:ext>
            </a:extLst>
          </p:cNvPr>
          <p:cNvSpPr>
            <a:spLocks noGrp="1"/>
          </p:cNvSpPr>
          <p:nvPr>
            <p:ph idx="1"/>
          </p:nvPr>
        </p:nvSpPr>
        <p:spPr>
          <a:xfrm>
            <a:off x="266330" y="1020932"/>
            <a:ext cx="8611340" cy="5700544"/>
          </a:xfrm>
        </p:spPr>
        <p:txBody>
          <a:bodyPr>
            <a:normAutofit/>
          </a:bodyPr>
          <a:lstStyle/>
          <a:p>
            <a:r>
              <a:rPr lang="en-US" dirty="0"/>
              <a:t>IT workers of all types can improve their profession’s reputation for professionalism by </a:t>
            </a:r>
          </a:p>
          <a:p>
            <a:r>
              <a:rPr lang="en-US" dirty="0"/>
              <a:t>(1) subscribing to a professional code of ethics, </a:t>
            </a:r>
          </a:p>
          <a:p>
            <a:r>
              <a:rPr lang="en-US" dirty="0"/>
              <a:t>(2) joining and participating in professional organizations, </a:t>
            </a:r>
          </a:p>
          <a:p>
            <a:r>
              <a:rPr lang="en-US" dirty="0"/>
              <a:t>(3) obtaining appropriate certifications, and </a:t>
            </a:r>
          </a:p>
          <a:p>
            <a:r>
              <a:rPr lang="en-US" dirty="0"/>
              <a:t>(4) supporting government licensing where available. </a:t>
            </a:r>
            <a:endParaRPr lang="en-IN" dirty="0"/>
          </a:p>
        </p:txBody>
      </p:sp>
    </p:spTree>
    <p:extLst>
      <p:ext uri="{BB962C8B-B14F-4D97-AF65-F5344CB8AC3E}">
        <p14:creationId xmlns:p14="http://schemas.microsoft.com/office/powerpoint/2010/main" val="5143710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78121-7FF4-216D-0726-AE99759533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13119C-16D3-4F65-DFBF-226AE637BB12}"/>
              </a:ext>
            </a:extLst>
          </p:cNvPr>
          <p:cNvSpPr>
            <a:spLocks noGrp="1"/>
          </p:cNvSpPr>
          <p:nvPr>
            <p:ph type="title"/>
          </p:nvPr>
        </p:nvSpPr>
        <p:spPr/>
        <p:txBody>
          <a:bodyPr>
            <a:noAutofit/>
          </a:bodyPr>
          <a:lstStyle/>
          <a:p>
            <a:r>
              <a:rPr lang="en-US" sz="3600" dirty="0"/>
              <a:t>Encouraging the Professionalism of IT Workers</a:t>
            </a:r>
            <a:endParaRPr lang="en-IN" sz="3600" dirty="0"/>
          </a:p>
        </p:txBody>
      </p:sp>
      <p:sp>
        <p:nvSpPr>
          <p:cNvPr id="3" name="Content Placeholder 2">
            <a:extLst>
              <a:ext uri="{FF2B5EF4-FFF2-40B4-BE49-F238E27FC236}">
                <a16:creationId xmlns:a16="http://schemas.microsoft.com/office/drawing/2014/main" id="{B7FA8444-B872-A5B3-32EC-FF55FFFFE204}"/>
              </a:ext>
            </a:extLst>
          </p:cNvPr>
          <p:cNvSpPr>
            <a:spLocks noGrp="1"/>
          </p:cNvSpPr>
          <p:nvPr>
            <p:ph idx="1"/>
          </p:nvPr>
        </p:nvSpPr>
        <p:spPr>
          <a:xfrm>
            <a:off x="266330" y="1020932"/>
            <a:ext cx="8611340" cy="5700544"/>
          </a:xfrm>
        </p:spPr>
        <p:txBody>
          <a:bodyPr>
            <a:normAutofit lnSpcReduction="10000"/>
          </a:bodyPr>
          <a:lstStyle/>
          <a:p>
            <a:r>
              <a:rPr lang="en-IN" b="1" dirty="0"/>
              <a:t>Professional Codes of Ethics </a:t>
            </a:r>
          </a:p>
          <a:p>
            <a:r>
              <a:rPr lang="en-US" dirty="0"/>
              <a:t>A professional code of ethics states the principles and core values that are essential to the work of a particular occupational group. Practitioners in many professions subscribe to a code of ethics that governs their behavior.</a:t>
            </a:r>
          </a:p>
          <a:p>
            <a:r>
              <a:rPr lang="en-US" dirty="0"/>
              <a:t>Eg, Doctors, Policeman, Firefighter and so on.</a:t>
            </a:r>
          </a:p>
          <a:p>
            <a:r>
              <a:rPr lang="en-US" dirty="0"/>
              <a:t>Most codes of ethics created by professional organizations have two main parts: </a:t>
            </a:r>
          </a:p>
          <a:p>
            <a:r>
              <a:rPr lang="en-US" dirty="0"/>
              <a:t>The first outlines what the organization aspires to become and the second typically lists rules and principles by which members of the organization are expected to abide. </a:t>
            </a:r>
          </a:p>
          <a:p>
            <a:r>
              <a:rPr lang="en-US" dirty="0"/>
              <a:t>Many codes also include a commitment to continuing education for those who </a:t>
            </a:r>
            <a:r>
              <a:rPr lang="en-IN" dirty="0"/>
              <a:t>practice the profession.</a:t>
            </a:r>
          </a:p>
        </p:txBody>
      </p:sp>
    </p:spTree>
    <p:extLst>
      <p:ext uri="{BB962C8B-B14F-4D97-AF65-F5344CB8AC3E}">
        <p14:creationId xmlns:p14="http://schemas.microsoft.com/office/powerpoint/2010/main" val="41277772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EAE2F-C5BA-E321-B147-F4F25C08DF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4F7FCD-3847-2C68-DC63-20E3EA79961F}"/>
              </a:ext>
            </a:extLst>
          </p:cNvPr>
          <p:cNvSpPr>
            <a:spLocks noGrp="1"/>
          </p:cNvSpPr>
          <p:nvPr>
            <p:ph type="title"/>
          </p:nvPr>
        </p:nvSpPr>
        <p:spPr/>
        <p:txBody>
          <a:bodyPr>
            <a:noAutofit/>
          </a:bodyPr>
          <a:lstStyle/>
          <a:p>
            <a:r>
              <a:rPr lang="en-US" sz="3600" dirty="0"/>
              <a:t>Encouraging the Professionalism of IT Workers</a:t>
            </a:r>
            <a:endParaRPr lang="en-IN" sz="3600" dirty="0"/>
          </a:p>
        </p:txBody>
      </p:sp>
      <p:sp>
        <p:nvSpPr>
          <p:cNvPr id="3" name="Content Placeholder 2">
            <a:extLst>
              <a:ext uri="{FF2B5EF4-FFF2-40B4-BE49-F238E27FC236}">
                <a16:creationId xmlns:a16="http://schemas.microsoft.com/office/drawing/2014/main" id="{B3048C27-EFCC-6F8F-75F6-80AD30C11FF6}"/>
              </a:ext>
            </a:extLst>
          </p:cNvPr>
          <p:cNvSpPr>
            <a:spLocks noGrp="1"/>
          </p:cNvSpPr>
          <p:nvPr>
            <p:ph idx="1"/>
          </p:nvPr>
        </p:nvSpPr>
        <p:spPr>
          <a:xfrm>
            <a:off x="266330" y="1020932"/>
            <a:ext cx="8611340" cy="5700544"/>
          </a:xfrm>
        </p:spPr>
        <p:txBody>
          <a:bodyPr>
            <a:normAutofit fontScale="92500" lnSpcReduction="20000"/>
          </a:bodyPr>
          <a:lstStyle/>
          <a:p>
            <a:r>
              <a:rPr lang="en-IN" b="1" dirty="0"/>
              <a:t>Professional Organizations</a:t>
            </a:r>
          </a:p>
          <a:p>
            <a:r>
              <a:rPr lang="en-US" dirty="0"/>
              <a:t>No one IT professional organization has emerged as preeminent, so there is no universal code of ethics for IT workers. </a:t>
            </a:r>
          </a:p>
          <a:p>
            <a:r>
              <a:rPr lang="en-US" dirty="0"/>
              <a:t>However, the existence of such organizations is useful in a field that is rapidly growing and changing. In order to stay on the top of the many new developments in their field, IT workers need to network with others, seek out new ideas, and continually build on their personal skills and expertise. </a:t>
            </a:r>
          </a:p>
          <a:p>
            <a:r>
              <a:rPr lang="en-US" dirty="0"/>
              <a:t>Whether you are a freelance programmer or the CIO of a Fortune 500 company, membership in an organization of IT workers enables you to associate with others of similar work experience, develop working relationships, and exchange ideas. </a:t>
            </a:r>
          </a:p>
          <a:p>
            <a:r>
              <a:rPr lang="en-US" dirty="0"/>
              <a:t>These organizations disseminate information through email, periodicals, websites, social media, meetings, and conferences.</a:t>
            </a:r>
            <a:endParaRPr lang="en-IN" dirty="0"/>
          </a:p>
        </p:txBody>
      </p:sp>
    </p:spTree>
    <p:extLst>
      <p:ext uri="{BB962C8B-B14F-4D97-AF65-F5344CB8AC3E}">
        <p14:creationId xmlns:p14="http://schemas.microsoft.com/office/powerpoint/2010/main" val="22412772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7659E-D5ED-9F48-464C-CB08D23F01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01E9D0-846D-3628-7F60-A6DD7D27E68B}"/>
              </a:ext>
            </a:extLst>
          </p:cNvPr>
          <p:cNvSpPr>
            <a:spLocks noGrp="1"/>
          </p:cNvSpPr>
          <p:nvPr>
            <p:ph type="title"/>
          </p:nvPr>
        </p:nvSpPr>
        <p:spPr/>
        <p:txBody>
          <a:bodyPr>
            <a:noAutofit/>
          </a:bodyPr>
          <a:lstStyle/>
          <a:p>
            <a:r>
              <a:rPr lang="en-US" sz="3600" dirty="0"/>
              <a:t>Encouraging the Professionalism of IT Workers</a:t>
            </a:r>
            <a:endParaRPr lang="en-IN" sz="3600" dirty="0"/>
          </a:p>
        </p:txBody>
      </p:sp>
      <p:sp>
        <p:nvSpPr>
          <p:cNvPr id="3" name="Content Placeholder 2">
            <a:extLst>
              <a:ext uri="{FF2B5EF4-FFF2-40B4-BE49-F238E27FC236}">
                <a16:creationId xmlns:a16="http://schemas.microsoft.com/office/drawing/2014/main" id="{5DD4E53D-2B54-3D93-940F-49C15A10CEA9}"/>
              </a:ext>
            </a:extLst>
          </p:cNvPr>
          <p:cNvSpPr>
            <a:spLocks noGrp="1"/>
          </p:cNvSpPr>
          <p:nvPr>
            <p:ph idx="1"/>
          </p:nvPr>
        </p:nvSpPr>
        <p:spPr>
          <a:xfrm>
            <a:off x="266330" y="1020932"/>
            <a:ext cx="8611340" cy="5700544"/>
          </a:xfrm>
        </p:spPr>
        <p:txBody>
          <a:bodyPr>
            <a:normAutofit/>
          </a:bodyPr>
          <a:lstStyle/>
          <a:p>
            <a:r>
              <a:rPr lang="en-IN" b="1" dirty="0"/>
              <a:t>Professional Organizations</a:t>
            </a:r>
          </a:p>
          <a:p>
            <a:r>
              <a:rPr lang="en-US" dirty="0"/>
              <a:t>Furthermore, in recognition of the need for professional standards of competency and conduct, many of these organizations have developed codes of ethics. </a:t>
            </a:r>
          </a:p>
          <a:p>
            <a:r>
              <a:rPr lang="en-US" dirty="0"/>
              <a:t>Four of the most prominent IT-related professional organizations are.</a:t>
            </a:r>
          </a:p>
          <a:p>
            <a:r>
              <a:rPr lang="en-US" dirty="0"/>
              <a:t>Association for Computing Machinery (ACM)</a:t>
            </a:r>
          </a:p>
          <a:p>
            <a:r>
              <a:rPr lang="en-US" dirty="0"/>
              <a:t>Institute of Electrical and Electronics Engineers Computer Society (IEEE-CS)</a:t>
            </a:r>
          </a:p>
          <a:p>
            <a:r>
              <a:rPr lang="en-IN" dirty="0"/>
              <a:t>Association of Information Technology Professionals (AITP)</a:t>
            </a:r>
          </a:p>
          <a:p>
            <a:r>
              <a:rPr lang="en-IN" dirty="0" err="1"/>
              <a:t>SysAdmin</a:t>
            </a:r>
            <a:r>
              <a:rPr lang="en-IN" dirty="0"/>
              <a:t>, Audit, Network, Security (SANS) Institute</a:t>
            </a:r>
          </a:p>
        </p:txBody>
      </p:sp>
    </p:spTree>
    <p:extLst>
      <p:ext uri="{BB962C8B-B14F-4D97-AF65-F5344CB8AC3E}">
        <p14:creationId xmlns:p14="http://schemas.microsoft.com/office/powerpoint/2010/main" val="18729152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308F5-B22F-0EAE-EEE6-3F99749A72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7DAA36-055E-CB52-7D33-B761824297BB}"/>
              </a:ext>
            </a:extLst>
          </p:cNvPr>
          <p:cNvSpPr>
            <a:spLocks noGrp="1"/>
          </p:cNvSpPr>
          <p:nvPr>
            <p:ph type="title"/>
          </p:nvPr>
        </p:nvSpPr>
        <p:spPr/>
        <p:txBody>
          <a:bodyPr>
            <a:noAutofit/>
          </a:bodyPr>
          <a:lstStyle/>
          <a:p>
            <a:r>
              <a:rPr lang="en-US" sz="3600" dirty="0"/>
              <a:t>Encouraging the Professionalism of IT Workers</a:t>
            </a:r>
            <a:endParaRPr lang="en-IN" sz="3600" dirty="0"/>
          </a:p>
        </p:txBody>
      </p:sp>
      <p:sp>
        <p:nvSpPr>
          <p:cNvPr id="3" name="Content Placeholder 2">
            <a:extLst>
              <a:ext uri="{FF2B5EF4-FFF2-40B4-BE49-F238E27FC236}">
                <a16:creationId xmlns:a16="http://schemas.microsoft.com/office/drawing/2014/main" id="{E0DBDC5B-9065-F84C-093E-997A96CB9338}"/>
              </a:ext>
            </a:extLst>
          </p:cNvPr>
          <p:cNvSpPr>
            <a:spLocks noGrp="1"/>
          </p:cNvSpPr>
          <p:nvPr>
            <p:ph idx="1"/>
          </p:nvPr>
        </p:nvSpPr>
        <p:spPr>
          <a:xfrm>
            <a:off x="266330" y="1020932"/>
            <a:ext cx="8611340" cy="5700544"/>
          </a:xfrm>
        </p:spPr>
        <p:txBody>
          <a:bodyPr>
            <a:normAutofit/>
          </a:bodyPr>
          <a:lstStyle/>
          <a:p>
            <a:r>
              <a:rPr lang="en-US" b="1" dirty="0"/>
              <a:t>Certification</a:t>
            </a:r>
          </a:p>
          <a:p>
            <a:r>
              <a:rPr lang="en-US" dirty="0"/>
              <a:t>Certification indicates that a professional possesses a particular set of skills, knowledge, or abilities, in the opinion of the certifying organization.</a:t>
            </a:r>
          </a:p>
          <a:p>
            <a:r>
              <a:rPr lang="en-US" dirty="0"/>
              <a:t>On the other hand, because certification is no substitute for experience and doesn’t guarantee that a person will perform well on the job, some hiring managers are rather cynical about the value of certifications. </a:t>
            </a:r>
          </a:p>
          <a:p>
            <a:r>
              <a:rPr lang="en-US" dirty="0"/>
              <a:t>Most IT employees are motivated to learn new skills, and certification provides a structured way of doing so. </a:t>
            </a:r>
          </a:p>
          <a:p>
            <a:r>
              <a:rPr lang="en-US" dirty="0"/>
              <a:t>For such people, completing a certification provides clear recognition and correlates with a plan to help them continue to grow and advance in their careers.</a:t>
            </a:r>
            <a:endParaRPr lang="en-IN" dirty="0"/>
          </a:p>
        </p:txBody>
      </p:sp>
    </p:spTree>
    <p:extLst>
      <p:ext uri="{BB962C8B-B14F-4D97-AF65-F5344CB8AC3E}">
        <p14:creationId xmlns:p14="http://schemas.microsoft.com/office/powerpoint/2010/main" val="18240603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8DD82-960A-F77C-49B1-A92A3E6076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4B8553-2908-E511-277F-4D1903C8DBE2}"/>
              </a:ext>
            </a:extLst>
          </p:cNvPr>
          <p:cNvSpPr>
            <a:spLocks noGrp="1"/>
          </p:cNvSpPr>
          <p:nvPr>
            <p:ph type="title"/>
          </p:nvPr>
        </p:nvSpPr>
        <p:spPr/>
        <p:txBody>
          <a:bodyPr>
            <a:noAutofit/>
          </a:bodyPr>
          <a:lstStyle/>
          <a:p>
            <a:r>
              <a:rPr lang="en-US" sz="3600" dirty="0"/>
              <a:t>Encouraging the Professionalism of IT Workers</a:t>
            </a:r>
            <a:endParaRPr lang="en-IN" sz="3600" dirty="0"/>
          </a:p>
        </p:txBody>
      </p:sp>
      <p:pic>
        <p:nvPicPr>
          <p:cNvPr id="5" name="Content Placeholder 4">
            <a:extLst>
              <a:ext uri="{FF2B5EF4-FFF2-40B4-BE49-F238E27FC236}">
                <a16:creationId xmlns:a16="http://schemas.microsoft.com/office/drawing/2014/main" id="{7ED47D24-CA1F-02AA-3343-B20B14E8A37D}"/>
              </a:ext>
            </a:extLst>
          </p:cNvPr>
          <p:cNvPicPr>
            <a:picLocks noGrp="1" noChangeAspect="1"/>
          </p:cNvPicPr>
          <p:nvPr>
            <p:ph idx="1"/>
          </p:nvPr>
        </p:nvPicPr>
        <p:blipFill>
          <a:blip r:embed="rId2"/>
          <a:stretch>
            <a:fillRect/>
          </a:stretch>
        </p:blipFill>
        <p:spPr>
          <a:xfrm>
            <a:off x="266330" y="1408754"/>
            <a:ext cx="8737920" cy="3346126"/>
          </a:xfrm>
          <a:prstGeom prst="rect">
            <a:avLst/>
          </a:prstGeom>
        </p:spPr>
      </p:pic>
    </p:spTree>
    <p:extLst>
      <p:ext uri="{BB962C8B-B14F-4D97-AF65-F5344CB8AC3E}">
        <p14:creationId xmlns:p14="http://schemas.microsoft.com/office/powerpoint/2010/main" val="3095540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43CDC-6B48-51EF-3E31-027E11DADB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C768FC-2220-4C30-0271-95B5B6313533}"/>
              </a:ext>
            </a:extLst>
          </p:cNvPr>
          <p:cNvSpPr>
            <a:spLocks noGrp="1"/>
          </p:cNvSpPr>
          <p:nvPr>
            <p:ph type="title"/>
          </p:nvPr>
        </p:nvSpPr>
        <p:spPr/>
        <p:txBody>
          <a:bodyPr>
            <a:noAutofit/>
          </a:bodyPr>
          <a:lstStyle/>
          <a:p>
            <a:r>
              <a:rPr lang="en-US" sz="3600" dirty="0"/>
              <a:t>Encouraging the Professionalism of IT Workers</a:t>
            </a:r>
            <a:endParaRPr lang="en-IN" sz="3600" dirty="0"/>
          </a:p>
        </p:txBody>
      </p:sp>
      <p:sp>
        <p:nvSpPr>
          <p:cNvPr id="3" name="Content Placeholder 2">
            <a:extLst>
              <a:ext uri="{FF2B5EF4-FFF2-40B4-BE49-F238E27FC236}">
                <a16:creationId xmlns:a16="http://schemas.microsoft.com/office/drawing/2014/main" id="{B4C45CCD-871C-7784-EFC9-426EB6DE23C0}"/>
              </a:ext>
            </a:extLst>
          </p:cNvPr>
          <p:cNvSpPr>
            <a:spLocks noGrp="1"/>
          </p:cNvSpPr>
          <p:nvPr>
            <p:ph idx="1"/>
          </p:nvPr>
        </p:nvSpPr>
        <p:spPr>
          <a:xfrm>
            <a:off x="266330" y="1020932"/>
            <a:ext cx="8611340" cy="5700544"/>
          </a:xfrm>
        </p:spPr>
        <p:txBody>
          <a:bodyPr>
            <a:normAutofit/>
          </a:bodyPr>
          <a:lstStyle/>
          <a:p>
            <a:r>
              <a:rPr lang="en-US" b="1" dirty="0"/>
              <a:t>Licensing of IT Professionals</a:t>
            </a:r>
          </a:p>
          <a:p>
            <a:r>
              <a:rPr lang="en-US" dirty="0"/>
              <a:t>In the United States, a government license is government-issued permission to engage in an activity or to operate a business. </a:t>
            </a:r>
          </a:p>
          <a:p>
            <a:r>
              <a:rPr lang="en-US" dirty="0"/>
              <a:t>Licensing is generally administered at the state level and often requires that the recipient pass a test of some kind. </a:t>
            </a:r>
          </a:p>
          <a:p>
            <a:r>
              <a:rPr lang="en-US" dirty="0"/>
              <a:t>Some professionals must be licensed, including certified public accountants (CPAs), lawyers, doctors, various types of medical and daycare providers, and some engineers.</a:t>
            </a:r>
            <a:endParaRPr lang="en-IN" dirty="0"/>
          </a:p>
        </p:txBody>
      </p:sp>
    </p:spTree>
    <p:extLst>
      <p:ext uri="{BB962C8B-B14F-4D97-AF65-F5344CB8AC3E}">
        <p14:creationId xmlns:p14="http://schemas.microsoft.com/office/powerpoint/2010/main" val="387213200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491</TotalTime>
  <Words>3678</Words>
  <Application>Microsoft Office PowerPoint</Application>
  <PresentationFormat>On-screen Show (4:3)</PresentationFormat>
  <Paragraphs>190</Paragraphs>
  <Slides>36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Calibri Light</vt:lpstr>
      <vt:lpstr>Office Theme</vt:lpstr>
      <vt:lpstr>Professional Ethics and Human Values</vt:lpstr>
      <vt:lpstr>PowerPoint Presentation</vt:lpstr>
      <vt:lpstr>IT WORKER RELATIONSHIPS THAT MUST BE MANAGED</vt:lpstr>
      <vt:lpstr>Relationships Between IT Workers and Employers</vt:lpstr>
      <vt:lpstr>Relationships Between IT Workers and Employers</vt:lpstr>
      <vt:lpstr>Relationships Between IT Workers and Employers</vt:lpstr>
      <vt:lpstr>Relationships Between IT Workers and Employers</vt:lpstr>
      <vt:lpstr>Relationships Between IT Workers and Employers</vt:lpstr>
      <vt:lpstr>Relationships Between IT Workers and Employers</vt:lpstr>
      <vt:lpstr>Relationships Between IT Workers and Clients</vt:lpstr>
      <vt:lpstr>Relationships Between IT Workers and Clients</vt:lpstr>
      <vt:lpstr>Relationships Between IT Workers and Clients</vt:lpstr>
      <vt:lpstr>Relationships Between IT Workers and Clients</vt:lpstr>
      <vt:lpstr>Relationships Between IT Workers and Clients</vt:lpstr>
      <vt:lpstr>Relationships Between IT Workers and Clients</vt:lpstr>
      <vt:lpstr>Relationships Between IT Workers and Clients</vt:lpstr>
      <vt:lpstr>Relationships Between IT Workers and Clients</vt:lpstr>
      <vt:lpstr>Relationships Between IT Workers and Suppliers</vt:lpstr>
      <vt:lpstr>Relationships Between IT Workers and Suppliers</vt:lpstr>
      <vt:lpstr>Relationships Between IT Workers and Suppliers</vt:lpstr>
      <vt:lpstr>Relationships Between IT Workers and Suppliers</vt:lpstr>
      <vt:lpstr>Relationships Between IT Workers and Other Professionals</vt:lpstr>
      <vt:lpstr>Relationships Between IT Workers and Other Professionals</vt:lpstr>
      <vt:lpstr>Relationships Between IT Workers and Other Professionals</vt:lpstr>
      <vt:lpstr>Relationships Between IT Workers and Other Professionals</vt:lpstr>
      <vt:lpstr>Relationships Between IT Workers and IT Users</vt:lpstr>
      <vt:lpstr>Relationships Between IT Workers and Society</vt:lpstr>
      <vt:lpstr>Relationships Between IT Workers and Society</vt:lpstr>
      <vt:lpstr>Encouraging the Professionalism of IT Workers</vt:lpstr>
      <vt:lpstr>Encouraging the Professionalism of IT Workers</vt:lpstr>
      <vt:lpstr>Encouraging the Professionalism of IT Workers</vt:lpstr>
      <vt:lpstr>Encouraging the Professionalism of IT Workers</vt:lpstr>
      <vt:lpstr>Encouraging the Professionalism of IT Workers</vt:lpstr>
      <vt:lpstr>Encouraging the Professionalism of IT Workers</vt:lpstr>
      <vt:lpstr>Encouraging the Professionalism of IT Workers</vt:lpstr>
      <vt:lpstr>Encouraging the Professionalism of IT Workers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Nitin Uikey</dc:creator>
  <cp:lastModifiedBy>Nitin Uikey</cp:lastModifiedBy>
  <cp:revision>41</cp:revision>
  <dcterms:created xsi:type="dcterms:W3CDTF">2026-01-06T05:40:50Z</dcterms:created>
  <dcterms:modified xsi:type="dcterms:W3CDTF">2026-02-24T08:01:47Z</dcterms:modified>
</cp:coreProperties>
</file>