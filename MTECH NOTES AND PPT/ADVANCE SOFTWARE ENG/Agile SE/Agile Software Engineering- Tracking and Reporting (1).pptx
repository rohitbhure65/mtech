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78"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18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EF783E-ECBD-4D89-BE37-083A5141B9C2}" type="datetimeFigureOut">
              <a:rPr lang="en-IN" smtClean="0"/>
              <a:t>31-03-2026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618F99-46C8-4DA7-9695-8703516A0D32}" type="slidenum">
              <a:rPr lang="en-IN" smtClean="0"/>
              <a:t>‹#›</a:t>
            </a:fld>
            <a:endParaRPr lang="en-IN"/>
          </a:p>
        </p:txBody>
      </p:sp>
    </p:spTree>
    <p:extLst>
      <p:ext uri="{BB962C8B-B14F-4D97-AF65-F5344CB8AC3E}">
        <p14:creationId xmlns:p14="http://schemas.microsoft.com/office/powerpoint/2010/main" val="3694569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68EC58-42EE-47BB-889A-A602177FE5B7}" type="datetime1">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F2DC134-98B8-4E00-A50E-437F754573DB}" type="datetime1">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6972855" y="6480643"/>
            <a:ext cx="2057400" cy="365125"/>
          </a:xfrm>
        </p:spPr>
        <p:txBody>
          <a:bodyPr/>
          <a:lstStyle>
            <a:lvl1pPr>
              <a:defRPr b="0">
                <a:solidFill>
                  <a:schemeClr val="tx1"/>
                </a:solidFill>
              </a:defRPr>
            </a:lvl1pPr>
          </a:lstStyle>
          <a:p>
            <a:fld id="{C70AC583-F9E3-4A59-98F2-FD7379A90CB7}" type="slidenum">
              <a:rPr lang="en-IN" smtClean="0"/>
              <a:pPr/>
              <a:t>‹#›</a:t>
            </a:fld>
            <a:endParaRPr lang="en-IN" b="0" dirty="0"/>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7C10A6-20C7-463B-A122-EE9A44191DEB}" type="datetime1">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86E731-F9BA-432D-AD5A-524D6C476BF1}" type="datetime1">
              <a:rPr lang="en-IN" smtClean="0"/>
              <a:t>31-03-2026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56AAD7-9406-43EE-A865-0984302784D4}" type="datetime1">
              <a:rPr lang="en-IN" smtClean="0"/>
              <a:t>31-03-2026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2EDBAA-1D0A-45D1-A5BB-081862F89D23}" type="datetime1">
              <a:rPr lang="en-IN" smtClean="0"/>
              <a:t>31-03-2026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3C2FBB-EEE0-48AB-9227-D6BD5F61A9B3}" type="datetime1">
              <a:rPr lang="en-IN" smtClean="0"/>
              <a:t>31-03-2026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2C1C41-5793-4ABC-B62B-0A963F7D72D3}" type="datetime1">
              <a:rPr lang="en-IN" smtClean="0"/>
              <a:t>31-03-2026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92D4A2-ACEB-4ACB-8DA0-4D301849AA1A}" type="datetime1">
              <a:rPr lang="en-IN" smtClean="0"/>
              <a:t>31-03-2026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FCFCF3-4EFB-4535-81E7-25F09ED13A08}" type="datetime1">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9825CD-E2F6-42DE-B62A-9C82759EF617}" type="datetime1">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0374B9-4912-4832-A430-88CEC3882527}" type="datetime1">
              <a:rPr lang="en-IN" smtClean="0"/>
              <a:t>31-03-2026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lstStyle/>
          <a:p>
            <a:r>
              <a:rPr lang="en-IN" dirty="0"/>
              <a:t>Agile Software Engineering</a:t>
            </a:r>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US" sz="4800" b="1" dirty="0">
                <a:solidFill>
                  <a:srgbClr val="FF0000"/>
                </a:solidFill>
              </a:rPr>
              <a:t>Tracking and Reporting</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96CAD-1656-10CC-D360-45D45C5F6B5D}"/>
              </a:ext>
            </a:extLst>
          </p:cNvPr>
          <p:cNvSpPr>
            <a:spLocks noGrp="1"/>
          </p:cNvSpPr>
          <p:nvPr>
            <p:ph type="title"/>
          </p:nvPr>
        </p:nvSpPr>
        <p:spPr/>
        <p:txBody>
          <a:bodyPr/>
          <a:lstStyle/>
          <a:p>
            <a:r>
              <a:rPr lang="en-IN" dirty="0"/>
              <a:t>Quality</a:t>
            </a:r>
          </a:p>
        </p:txBody>
      </p:sp>
      <p:sp>
        <p:nvSpPr>
          <p:cNvPr id="3" name="Content Placeholder 2">
            <a:extLst>
              <a:ext uri="{FF2B5EF4-FFF2-40B4-BE49-F238E27FC236}">
                <a16:creationId xmlns:a16="http://schemas.microsoft.com/office/drawing/2014/main" id="{7F79EFDB-52D5-C0FF-8011-4B150096A9DA}"/>
              </a:ext>
            </a:extLst>
          </p:cNvPr>
          <p:cNvSpPr>
            <a:spLocks noGrp="1"/>
          </p:cNvSpPr>
          <p:nvPr>
            <p:ph idx="1"/>
          </p:nvPr>
        </p:nvSpPr>
        <p:spPr>
          <a:xfrm>
            <a:off x="266330" y="1020932"/>
            <a:ext cx="8611340" cy="5700544"/>
          </a:xfrm>
        </p:spPr>
        <p:txBody>
          <a:bodyPr>
            <a:normAutofit/>
          </a:bodyPr>
          <a:lstStyle/>
          <a:p>
            <a:r>
              <a:rPr lang="en-US" dirty="0"/>
              <a:t>This chapter is focused on tracking and measuring our success and quickly identifying the areas that need attention and improvement. </a:t>
            </a:r>
          </a:p>
          <a:p>
            <a:r>
              <a:rPr lang="en-US" dirty="0"/>
              <a:t>We review the tools that are used in tracking, such as Kanban task boards, burn charts, information radiators, and progress charts.</a:t>
            </a:r>
            <a:endParaRPr lang="en-IN" dirty="0"/>
          </a:p>
        </p:txBody>
      </p:sp>
      <p:sp>
        <p:nvSpPr>
          <p:cNvPr id="4" name="Slide Number Placeholder 3">
            <a:extLst>
              <a:ext uri="{FF2B5EF4-FFF2-40B4-BE49-F238E27FC236}">
                <a16:creationId xmlns:a16="http://schemas.microsoft.com/office/drawing/2014/main" id="{65730CA5-68B1-6022-F2F4-C02F73DA2B31}"/>
              </a:ext>
            </a:extLst>
          </p:cNvPr>
          <p:cNvSpPr>
            <a:spLocks noGrp="1"/>
          </p:cNvSpPr>
          <p:nvPr>
            <p:ph type="sldNum" sz="quarter" idx="12"/>
          </p:nvPr>
        </p:nvSpPr>
        <p:spPr/>
        <p:txBody>
          <a:bodyPr/>
          <a:lstStyle/>
          <a:p>
            <a:fld id="{F81F8360-00E8-462F-93F6-51CC5257BC34}" type="slidenum">
              <a:rPr lang="en-IN" smtClean="0"/>
              <a:t>2</a:t>
            </a:fld>
            <a:endParaRPr lang="en-IN"/>
          </a:p>
        </p:txBody>
      </p:sp>
    </p:spTree>
    <p:extLst>
      <p:ext uri="{BB962C8B-B14F-4D97-AF65-F5344CB8AC3E}">
        <p14:creationId xmlns:p14="http://schemas.microsoft.com/office/powerpoint/2010/main" val="344093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9BB0E-1EC8-A86B-8840-F3889EDEEA1B}"/>
              </a:ext>
            </a:extLst>
          </p:cNvPr>
          <p:cNvSpPr>
            <a:spLocks noGrp="1"/>
          </p:cNvSpPr>
          <p:nvPr>
            <p:ph type="title"/>
          </p:nvPr>
        </p:nvSpPr>
        <p:spPr/>
        <p:txBody>
          <a:bodyPr/>
          <a:lstStyle/>
          <a:p>
            <a:r>
              <a:rPr lang="en-IN" dirty="0"/>
              <a:t>Kanban</a:t>
            </a:r>
          </a:p>
        </p:txBody>
      </p:sp>
      <p:sp>
        <p:nvSpPr>
          <p:cNvPr id="3" name="Content Placeholder 2">
            <a:extLst>
              <a:ext uri="{FF2B5EF4-FFF2-40B4-BE49-F238E27FC236}">
                <a16:creationId xmlns:a16="http://schemas.microsoft.com/office/drawing/2014/main" id="{A9BA20F9-E1B6-2276-8B1E-84146C86A0CC}"/>
              </a:ext>
            </a:extLst>
          </p:cNvPr>
          <p:cNvSpPr>
            <a:spLocks noGrp="1"/>
          </p:cNvSpPr>
          <p:nvPr>
            <p:ph idx="1"/>
          </p:nvPr>
        </p:nvSpPr>
        <p:spPr/>
        <p:txBody>
          <a:bodyPr/>
          <a:lstStyle/>
          <a:p>
            <a:r>
              <a:rPr lang="en-US" dirty="0"/>
              <a:t>Kanban is a methodology that we have not focused on because it is fundamentally different from the others that we have discussed. </a:t>
            </a:r>
          </a:p>
          <a:p>
            <a:r>
              <a:rPr lang="en-US" dirty="0"/>
              <a:t>Most of the Agile methodologies deliver working software in a time-boxed fashion, meaning that the work proceeds in iterations, or sprints. </a:t>
            </a:r>
          </a:p>
          <a:p>
            <a:r>
              <a:rPr lang="en-US" dirty="0"/>
              <a:t>Conversely, Kanban operates in a “continuous flow” model, meaning that there is no time box for development; tasks are continuously added to the backlog and removed as they are completed.</a:t>
            </a:r>
            <a:endParaRPr lang="en-IN" dirty="0"/>
          </a:p>
        </p:txBody>
      </p:sp>
      <p:sp>
        <p:nvSpPr>
          <p:cNvPr id="4" name="Slide Number Placeholder 3">
            <a:extLst>
              <a:ext uri="{FF2B5EF4-FFF2-40B4-BE49-F238E27FC236}">
                <a16:creationId xmlns:a16="http://schemas.microsoft.com/office/drawing/2014/main" id="{2571759F-0255-D498-A986-FACB77B1C6BB}"/>
              </a:ext>
            </a:extLst>
          </p:cNvPr>
          <p:cNvSpPr>
            <a:spLocks noGrp="1"/>
          </p:cNvSpPr>
          <p:nvPr>
            <p:ph type="sldNum" sz="quarter" idx="12"/>
          </p:nvPr>
        </p:nvSpPr>
        <p:spPr/>
        <p:txBody>
          <a:bodyPr/>
          <a:lstStyle/>
          <a:p>
            <a:fld id="{C70AC583-F9E3-4A59-98F2-FD7379A90CB7}" type="slidenum">
              <a:rPr lang="en-IN" smtClean="0"/>
              <a:pPr/>
              <a:t>3</a:t>
            </a:fld>
            <a:endParaRPr lang="en-IN" b="0" dirty="0"/>
          </a:p>
        </p:txBody>
      </p:sp>
    </p:spTree>
    <p:extLst>
      <p:ext uri="{BB962C8B-B14F-4D97-AF65-F5344CB8AC3E}">
        <p14:creationId xmlns:p14="http://schemas.microsoft.com/office/powerpoint/2010/main" val="4074900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EE73B-A4A6-14C4-40A2-C4A7E46AEBAE}"/>
              </a:ext>
            </a:extLst>
          </p:cNvPr>
          <p:cNvSpPr>
            <a:spLocks noGrp="1"/>
          </p:cNvSpPr>
          <p:nvPr>
            <p:ph type="title"/>
          </p:nvPr>
        </p:nvSpPr>
        <p:spPr/>
        <p:txBody>
          <a:bodyPr/>
          <a:lstStyle/>
          <a:p>
            <a:r>
              <a:rPr lang="en-IN" dirty="0"/>
              <a:t>Kanban</a:t>
            </a:r>
          </a:p>
        </p:txBody>
      </p:sp>
      <p:sp>
        <p:nvSpPr>
          <p:cNvPr id="3" name="Content Placeholder 2">
            <a:extLst>
              <a:ext uri="{FF2B5EF4-FFF2-40B4-BE49-F238E27FC236}">
                <a16:creationId xmlns:a16="http://schemas.microsoft.com/office/drawing/2014/main" id="{4BAB0711-4158-714D-53B9-3A3E2F8D1E3A}"/>
              </a:ext>
            </a:extLst>
          </p:cNvPr>
          <p:cNvSpPr>
            <a:spLocks noGrp="1"/>
          </p:cNvSpPr>
          <p:nvPr>
            <p:ph idx="1"/>
          </p:nvPr>
        </p:nvSpPr>
        <p:spPr>
          <a:xfrm>
            <a:off x="266330" y="1020932"/>
            <a:ext cx="8611340" cy="5700544"/>
          </a:xfrm>
        </p:spPr>
        <p:txBody>
          <a:bodyPr>
            <a:normAutofit fontScale="92500" lnSpcReduction="10000"/>
          </a:bodyPr>
          <a:lstStyle/>
          <a:p>
            <a:r>
              <a:rPr lang="en-US" dirty="0"/>
              <a:t>Kanban has three primary characteristics:</a:t>
            </a:r>
          </a:p>
          <a:p>
            <a:r>
              <a:rPr lang="en-US" dirty="0"/>
              <a:t>Visualize the workflow</a:t>
            </a:r>
          </a:p>
          <a:p>
            <a:pPr lvl="1"/>
            <a:r>
              <a:rPr lang="en-US" dirty="0"/>
              <a:t>A Kanban board maps the steps of the workflow in columns across a board.</a:t>
            </a:r>
          </a:p>
          <a:p>
            <a:pPr lvl="1"/>
            <a:r>
              <a:rPr lang="en-US" dirty="0"/>
              <a:t>Items, or tasks, are represented on cards or sticky notes and are tracked as they move through the workflow steps.</a:t>
            </a:r>
          </a:p>
          <a:p>
            <a:r>
              <a:rPr lang="en-US" dirty="0"/>
              <a:t>Limit work in progress (WIP)</a:t>
            </a:r>
          </a:p>
          <a:p>
            <a:pPr lvl="1"/>
            <a:r>
              <a:rPr lang="en-US" dirty="0"/>
              <a:t>Assign limits to each column, or workflow step, so that no one group or person can be overloaded with work.</a:t>
            </a:r>
          </a:p>
          <a:p>
            <a:pPr lvl="1"/>
            <a:r>
              <a:rPr lang="en-US" dirty="0"/>
              <a:t>The WIP limits naturally identify bottlenecks in the process so they can be addressed, in keeping with the Lean principles.</a:t>
            </a:r>
          </a:p>
          <a:p>
            <a:r>
              <a:rPr lang="en-US" dirty="0"/>
              <a:t>Measure the lead time</a:t>
            </a:r>
          </a:p>
          <a:p>
            <a:pPr lvl="1"/>
            <a:r>
              <a:rPr lang="en-US" dirty="0"/>
              <a:t>By understanding the workflow and removing the bottlenecks, the teams will discover the time it takes for a task to move from creation to resolution, thus providing the organization with metrics for lead time.</a:t>
            </a:r>
          </a:p>
        </p:txBody>
      </p:sp>
      <p:sp>
        <p:nvSpPr>
          <p:cNvPr id="4" name="Slide Number Placeholder 3">
            <a:extLst>
              <a:ext uri="{FF2B5EF4-FFF2-40B4-BE49-F238E27FC236}">
                <a16:creationId xmlns:a16="http://schemas.microsoft.com/office/drawing/2014/main" id="{8BA03007-395C-8598-C065-AA69542BC389}"/>
              </a:ext>
            </a:extLst>
          </p:cNvPr>
          <p:cNvSpPr>
            <a:spLocks noGrp="1"/>
          </p:cNvSpPr>
          <p:nvPr>
            <p:ph type="sldNum" sz="quarter" idx="12"/>
          </p:nvPr>
        </p:nvSpPr>
        <p:spPr/>
        <p:txBody>
          <a:bodyPr/>
          <a:lstStyle/>
          <a:p>
            <a:fld id="{C70AC583-F9E3-4A59-98F2-FD7379A90CB7}" type="slidenum">
              <a:rPr lang="en-IN" smtClean="0"/>
              <a:pPr/>
              <a:t>4</a:t>
            </a:fld>
            <a:endParaRPr lang="en-IN" b="0" dirty="0"/>
          </a:p>
        </p:txBody>
      </p:sp>
    </p:spTree>
    <p:extLst>
      <p:ext uri="{BB962C8B-B14F-4D97-AF65-F5344CB8AC3E}">
        <p14:creationId xmlns:p14="http://schemas.microsoft.com/office/powerpoint/2010/main" val="995680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47FD0-1C14-B956-EAB0-59064A8BC4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14A9C-5849-D1F1-27E2-67D437F524F5}"/>
              </a:ext>
            </a:extLst>
          </p:cNvPr>
          <p:cNvSpPr>
            <a:spLocks noGrp="1"/>
          </p:cNvSpPr>
          <p:nvPr>
            <p:ph type="title"/>
          </p:nvPr>
        </p:nvSpPr>
        <p:spPr/>
        <p:txBody>
          <a:bodyPr/>
          <a:lstStyle/>
          <a:p>
            <a:r>
              <a:rPr lang="en-IN" dirty="0"/>
              <a:t>Kanban</a:t>
            </a:r>
          </a:p>
        </p:txBody>
      </p:sp>
      <p:sp>
        <p:nvSpPr>
          <p:cNvPr id="3" name="Content Placeholder 2">
            <a:extLst>
              <a:ext uri="{FF2B5EF4-FFF2-40B4-BE49-F238E27FC236}">
                <a16:creationId xmlns:a16="http://schemas.microsoft.com/office/drawing/2014/main" id="{9AA8280C-049A-1E3B-71A2-52926618E63F}"/>
              </a:ext>
            </a:extLst>
          </p:cNvPr>
          <p:cNvSpPr>
            <a:spLocks noGrp="1"/>
          </p:cNvSpPr>
          <p:nvPr>
            <p:ph idx="1"/>
          </p:nvPr>
        </p:nvSpPr>
        <p:spPr>
          <a:xfrm>
            <a:off x="266330" y="1020932"/>
            <a:ext cx="8611340" cy="5700544"/>
          </a:xfrm>
        </p:spPr>
        <p:txBody>
          <a:bodyPr>
            <a:normAutofit/>
          </a:bodyPr>
          <a:lstStyle/>
          <a:p>
            <a:r>
              <a:rPr lang="en-US" dirty="0"/>
              <a:t>How does Kanban compare with Scrum? </a:t>
            </a:r>
          </a:p>
          <a:p>
            <a:r>
              <a:rPr lang="en-US" dirty="0"/>
              <a:t>Scrum is a great fit for products/ projects with a </a:t>
            </a:r>
            <a:r>
              <a:rPr lang="en-US" b="1" dirty="0"/>
              <a:t>time-boxed</a:t>
            </a:r>
            <a:r>
              <a:rPr lang="en-US" dirty="0"/>
              <a:t> workflow, such as product development efforts, that can progress in a series of sprints or iterations. </a:t>
            </a:r>
          </a:p>
          <a:p>
            <a:r>
              <a:rPr lang="en-US" dirty="0"/>
              <a:t>On the other hand, Kanban is a better fit for an </a:t>
            </a:r>
            <a:r>
              <a:rPr lang="en-US" b="1" dirty="0"/>
              <a:t>unpredictable</a:t>
            </a:r>
            <a:r>
              <a:rPr lang="en-US" dirty="0"/>
              <a:t> workflow, </a:t>
            </a:r>
            <a:r>
              <a:rPr lang="en-US" b="1" dirty="0"/>
              <a:t>unplanned</a:t>
            </a:r>
            <a:r>
              <a:rPr lang="en-US" dirty="0"/>
              <a:t> work, and development tasks that require deployment in less time than a typical iteration. </a:t>
            </a:r>
          </a:p>
          <a:p>
            <a:r>
              <a:rPr lang="en-US" dirty="0"/>
              <a:t>For example, Kanban is a great fit for help desk tickets and custom software support where small tickets are continually created and require speedy resolution.</a:t>
            </a:r>
          </a:p>
        </p:txBody>
      </p:sp>
      <p:sp>
        <p:nvSpPr>
          <p:cNvPr id="4" name="Slide Number Placeholder 3">
            <a:extLst>
              <a:ext uri="{FF2B5EF4-FFF2-40B4-BE49-F238E27FC236}">
                <a16:creationId xmlns:a16="http://schemas.microsoft.com/office/drawing/2014/main" id="{D592195E-755D-4F94-9F5E-4797A64DE0BA}"/>
              </a:ext>
            </a:extLst>
          </p:cNvPr>
          <p:cNvSpPr>
            <a:spLocks noGrp="1"/>
          </p:cNvSpPr>
          <p:nvPr>
            <p:ph type="sldNum" sz="quarter" idx="12"/>
          </p:nvPr>
        </p:nvSpPr>
        <p:spPr/>
        <p:txBody>
          <a:bodyPr/>
          <a:lstStyle/>
          <a:p>
            <a:fld id="{C70AC583-F9E3-4A59-98F2-FD7379A90CB7}" type="slidenum">
              <a:rPr lang="en-IN" smtClean="0"/>
              <a:pPr/>
              <a:t>5</a:t>
            </a:fld>
            <a:endParaRPr lang="en-IN" b="0" dirty="0"/>
          </a:p>
        </p:txBody>
      </p:sp>
    </p:spTree>
    <p:extLst>
      <p:ext uri="{BB962C8B-B14F-4D97-AF65-F5344CB8AC3E}">
        <p14:creationId xmlns:p14="http://schemas.microsoft.com/office/powerpoint/2010/main" val="3157767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E6A24-9E16-A0D6-9ADF-BCEA674F0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DA593-3645-D5F2-2C55-6FC4566544F8}"/>
              </a:ext>
            </a:extLst>
          </p:cNvPr>
          <p:cNvSpPr>
            <a:spLocks noGrp="1"/>
          </p:cNvSpPr>
          <p:nvPr>
            <p:ph type="title"/>
          </p:nvPr>
        </p:nvSpPr>
        <p:spPr/>
        <p:txBody>
          <a:bodyPr/>
          <a:lstStyle/>
          <a:p>
            <a:r>
              <a:rPr lang="en-IN" dirty="0"/>
              <a:t>Kanban</a:t>
            </a:r>
          </a:p>
        </p:txBody>
      </p:sp>
      <p:sp>
        <p:nvSpPr>
          <p:cNvPr id="3" name="Content Placeholder 2">
            <a:extLst>
              <a:ext uri="{FF2B5EF4-FFF2-40B4-BE49-F238E27FC236}">
                <a16:creationId xmlns:a16="http://schemas.microsoft.com/office/drawing/2014/main" id="{58A54F7F-83CD-2DE2-6A75-7952862B9FC5}"/>
              </a:ext>
            </a:extLst>
          </p:cNvPr>
          <p:cNvSpPr>
            <a:spLocks noGrp="1"/>
          </p:cNvSpPr>
          <p:nvPr>
            <p:ph idx="1"/>
          </p:nvPr>
        </p:nvSpPr>
        <p:spPr>
          <a:xfrm>
            <a:off x="266330" y="1020932"/>
            <a:ext cx="8611340" cy="5700544"/>
          </a:xfrm>
        </p:spPr>
        <p:txBody>
          <a:bodyPr>
            <a:normAutofit/>
          </a:bodyPr>
          <a:lstStyle/>
          <a:p>
            <a:r>
              <a:rPr lang="en-US" dirty="0"/>
              <a:t>Let’s look at Cayman Design for examples. The new calendar option, where customers can buy print calendars with weather-related historical information, is new product development. </a:t>
            </a:r>
          </a:p>
          <a:p>
            <a:r>
              <a:rPr lang="en-US" dirty="0"/>
              <a:t>It makes sense for that work to progress on a sprint cycle, with new features added in each sprint until the entire product is ready for release.</a:t>
            </a:r>
          </a:p>
          <a:p>
            <a:r>
              <a:rPr lang="en-US" dirty="0"/>
              <a:t>Our product that is in production, however, may have issues that our current customers need addressed, and we have a support team that works those tickets.</a:t>
            </a:r>
          </a:p>
        </p:txBody>
      </p:sp>
      <p:sp>
        <p:nvSpPr>
          <p:cNvPr id="4" name="Slide Number Placeholder 3">
            <a:extLst>
              <a:ext uri="{FF2B5EF4-FFF2-40B4-BE49-F238E27FC236}">
                <a16:creationId xmlns:a16="http://schemas.microsoft.com/office/drawing/2014/main" id="{ED5642E4-E775-5451-A6F9-25D421F224ED}"/>
              </a:ext>
            </a:extLst>
          </p:cNvPr>
          <p:cNvSpPr>
            <a:spLocks noGrp="1"/>
          </p:cNvSpPr>
          <p:nvPr>
            <p:ph type="sldNum" sz="quarter" idx="12"/>
          </p:nvPr>
        </p:nvSpPr>
        <p:spPr/>
        <p:txBody>
          <a:bodyPr/>
          <a:lstStyle/>
          <a:p>
            <a:fld id="{C70AC583-F9E3-4A59-98F2-FD7379A90CB7}" type="slidenum">
              <a:rPr lang="en-IN" smtClean="0"/>
              <a:pPr/>
              <a:t>6</a:t>
            </a:fld>
            <a:endParaRPr lang="en-IN" b="0" dirty="0"/>
          </a:p>
        </p:txBody>
      </p:sp>
    </p:spTree>
    <p:extLst>
      <p:ext uri="{BB962C8B-B14F-4D97-AF65-F5344CB8AC3E}">
        <p14:creationId xmlns:p14="http://schemas.microsoft.com/office/powerpoint/2010/main" val="238449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6EC8A-9B77-BC77-42C4-918135C73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99DA8-4293-C060-7D95-1A34EED28EA1}"/>
              </a:ext>
            </a:extLst>
          </p:cNvPr>
          <p:cNvSpPr>
            <a:spLocks noGrp="1"/>
          </p:cNvSpPr>
          <p:nvPr>
            <p:ph type="title"/>
          </p:nvPr>
        </p:nvSpPr>
        <p:spPr/>
        <p:txBody>
          <a:bodyPr/>
          <a:lstStyle/>
          <a:p>
            <a:r>
              <a:rPr lang="en-IN" dirty="0"/>
              <a:t>Kanban</a:t>
            </a:r>
          </a:p>
        </p:txBody>
      </p:sp>
      <p:sp>
        <p:nvSpPr>
          <p:cNvPr id="3" name="Content Placeholder 2">
            <a:extLst>
              <a:ext uri="{FF2B5EF4-FFF2-40B4-BE49-F238E27FC236}">
                <a16:creationId xmlns:a16="http://schemas.microsoft.com/office/drawing/2014/main" id="{8FC0BC4F-C216-F6FD-7EFC-700EA3B99F25}"/>
              </a:ext>
            </a:extLst>
          </p:cNvPr>
          <p:cNvSpPr>
            <a:spLocks noGrp="1"/>
          </p:cNvSpPr>
          <p:nvPr>
            <p:ph idx="1"/>
          </p:nvPr>
        </p:nvSpPr>
        <p:spPr>
          <a:xfrm>
            <a:off x="266330" y="1020932"/>
            <a:ext cx="8611340" cy="5700544"/>
          </a:xfrm>
        </p:spPr>
        <p:txBody>
          <a:bodyPr>
            <a:normAutofit/>
          </a:bodyPr>
          <a:lstStyle/>
          <a:p>
            <a:r>
              <a:rPr lang="en-US" dirty="0"/>
              <a:t>One customer may report an issue with the browser Chrome; the support team needs to log that ticket, investigate it, write code to correct the issue, and then push that code to production. </a:t>
            </a:r>
          </a:p>
          <a:p>
            <a:r>
              <a:rPr lang="en-US" dirty="0"/>
              <a:t>The customer would not want to wait for that story to be groomed, prioritized, estimated, and put into a sprint and then worked on—they need it fixed right away. </a:t>
            </a:r>
          </a:p>
          <a:p>
            <a:r>
              <a:rPr lang="en-US" dirty="0"/>
              <a:t>This is where Kanban is a great option because it shares all of the Agile elements that make this work so well— collaboration, clear prioritization, small increments of work, fast delivery of working software—and moves it to a continuous workflow.</a:t>
            </a:r>
          </a:p>
        </p:txBody>
      </p:sp>
      <p:sp>
        <p:nvSpPr>
          <p:cNvPr id="4" name="Slide Number Placeholder 3">
            <a:extLst>
              <a:ext uri="{FF2B5EF4-FFF2-40B4-BE49-F238E27FC236}">
                <a16:creationId xmlns:a16="http://schemas.microsoft.com/office/drawing/2014/main" id="{C7B428E3-0CAB-4330-613C-4BF37A696019}"/>
              </a:ext>
            </a:extLst>
          </p:cNvPr>
          <p:cNvSpPr>
            <a:spLocks noGrp="1"/>
          </p:cNvSpPr>
          <p:nvPr>
            <p:ph type="sldNum" sz="quarter" idx="12"/>
          </p:nvPr>
        </p:nvSpPr>
        <p:spPr/>
        <p:txBody>
          <a:bodyPr/>
          <a:lstStyle/>
          <a:p>
            <a:fld id="{C70AC583-F9E3-4A59-98F2-FD7379A90CB7}" type="slidenum">
              <a:rPr lang="en-IN" smtClean="0"/>
              <a:pPr/>
              <a:t>7</a:t>
            </a:fld>
            <a:endParaRPr lang="en-IN" b="0" dirty="0"/>
          </a:p>
        </p:txBody>
      </p:sp>
    </p:spTree>
    <p:extLst>
      <p:ext uri="{BB962C8B-B14F-4D97-AF65-F5344CB8AC3E}">
        <p14:creationId xmlns:p14="http://schemas.microsoft.com/office/powerpoint/2010/main" val="425970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92D96-6387-AF9B-A9A3-E71F16B4434C}"/>
              </a:ext>
            </a:extLst>
          </p:cNvPr>
          <p:cNvSpPr>
            <a:spLocks noGrp="1"/>
          </p:cNvSpPr>
          <p:nvPr>
            <p:ph type="title"/>
          </p:nvPr>
        </p:nvSpPr>
        <p:spPr/>
        <p:txBody>
          <a:bodyPr/>
          <a:lstStyle/>
          <a:p>
            <a:r>
              <a:rPr lang="en-IN" dirty="0"/>
              <a:t>Kanban Board</a:t>
            </a:r>
          </a:p>
        </p:txBody>
      </p:sp>
      <p:sp>
        <p:nvSpPr>
          <p:cNvPr id="3" name="Content Placeholder 2">
            <a:extLst>
              <a:ext uri="{FF2B5EF4-FFF2-40B4-BE49-F238E27FC236}">
                <a16:creationId xmlns:a16="http://schemas.microsoft.com/office/drawing/2014/main" id="{D949A8F0-805E-6B2E-815B-B9B489FEB9D5}"/>
              </a:ext>
            </a:extLst>
          </p:cNvPr>
          <p:cNvSpPr>
            <a:spLocks noGrp="1"/>
          </p:cNvSpPr>
          <p:nvPr>
            <p:ph idx="1"/>
          </p:nvPr>
        </p:nvSpPr>
        <p:spPr/>
        <p:txBody>
          <a:bodyPr>
            <a:normAutofit/>
          </a:bodyPr>
          <a:lstStyle/>
          <a:p>
            <a:r>
              <a:rPr lang="en-US" dirty="0"/>
              <a:t>Teams often use white boards and sticky notes to create the Kanban board, but any visual tool can be used, from a chalkboard to a large sheet of paper and markers. There are also software programs that create online Kanban boards, which is helpful for distributed teams.</a:t>
            </a:r>
          </a:p>
          <a:p>
            <a:r>
              <a:rPr lang="en-US" dirty="0"/>
              <a:t>Looking at a specific example, we have five columns on our Kanban board:</a:t>
            </a:r>
          </a:p>
          <a:p>
            <a:r>
              <a:rPr lang="en-US" b="1" dirty="0"/>
              <a:t>“backlog,” “not started,” “in progress,” “testing,” and “completed.” </a:t>
            </a:r>
          </a:p>
          <a:p>
            <a:r>
              <a:rPr lang="en-US" dirty="0"/>
              <a:t>Because workflow stages can vary based on the nature of the work, the columns will change to match the needs of the particular team.</a:t>
            </a:r>
            <a:endParaRPr lang="en-IN" dirty="0"/>
          </a:p>
        </p:txBody>
      </p:sp>
      <p:sp>
        <p:nvSpPr>
          <p:cNvPr id="4" name="Slide Number Placeholder 3">
            <a:extLst>
              <a:ext uri="{FF2B5EF4-FFF2-40B4-BE49-F238E27FC236}">
                <a16:creationId xmlns:a16="http://schemas.microsoft.com/office/drawing/2014/main" id="{E5C724A2-9F0A-1AD0-2560-874F35E70BBD}"/>
              </a:ext>
            </a:extLst>
          </p:cNvPr>
          <p:cNvSpPr>
            <a:spLocks noGrp="1"/>
          </p:cNvSpPr>
          <p:nvPr>
            <p:ph type="sldNum" sz="quarter" idx="12"/>
          </p:nvPr>
        </p:nvSpPr>
        <p:spPr/>
        <p:txBody>
          <a:bodyPr/>
          <a:lstStyle/>
          <a:p>
            <a:fld id="{C70AC583-F9E3-4A59-98F2-FD7379A90CB7}" type="slidenum">
              <a:rPr lang="en-IN" smtClean="0"/>
              <a:pPr/>
              <a:t>8</a:t>
            </a:fld>
            <a:endParaRPr lang="en-IN" b="0" dirty="0"/>
          </a:p>
        </p:txBody>
      </p:sp>
    </p:spTree>
    <p:extLst>
      <p:ext uri="{BB962C8B-B14F-4D97-AF65-F5344CB8AC3E}">
        <p14:creationId xmlns:p14="http://schemas.microsoft.com/office/powerpoint/2010/main" val="1959752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1DA77-E096-BD7F-4BD3-CD54AEB61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51BF2-DAFA-DBEE-BD52-BFFDEE5751F4}"/>
              </a:ext>
            </a:extLst>
          </p:cNvPr>
          <p:cNvSpPr>
            <a:spLocks noGrp="1"/>
          </p:cNvSpPr>
          <p:nvPr>
            <p:ph type="title"/>
          </p:nvPr>
        </p:nvSpPr>
        <p:spPr/>
        <p:txBody>
          <a:bodyPr/>
          <a:lstStyle/>
          <a:p>
            <a:r>
              <a:rPr lang="en-IN" dirty="0"/>
              <a:t>Kanban Board</a:t>
            </a:r>
          </a:p>
        </p:txBody>
      </p:sp>
      <p:sp>
        <p:nvSpPr>
          <p:cNvPr id="3" name="Content Placeholder 2">
            <a:extLst>
              <a:ext uri="{FF2B5EF4-FFF2-40B4-BE49-F238E27FC236}">
                <a16:creationId xmlns:a16="http://schemas.microsoft.com/office/drawing/2014/main" id="{2D99FEF4-BA90-1B93-31F5-C50C331C8E45}"/>
              </a:ext>
            </a:extLst>
          </p:cNvPr>
          <p:cNvSpPr>
            <a:spLocks noGrp="1"/>
          </p:cNvSpPr>
          <p:nvPr>
            <p:ph idx="1"/>
          </p:nvPr>
        </p:nvSpPr>
        <p:spPr/>
        <p:txBody>
          <a:bodyPr>
            <a:normAutofit fontScale="92500" lnSpcReduction="20000"/>
          </a:bodyPr>
          <a:lstStyle/>
          <a:p>
            <a:r>
              <a:rPr lang="en-US" b="1" dirty="0"/>
              <a:t>Backlog</a:t>
            </a:r>
          </a:p>
          <a:p>
            <a:pPr lvl="1"/>
            <a:r>
              <a:rPr lang="en-US" dirty="0"/>
              <a:t>The product owner puts all of the requirements (stories) on sticky notes in priority order. The estimated effort of the requirement is also noted. This list could be quite lengthy, depending on the size of the backlog.</a:t>
            </a:r>
          </a:p>
          <a:p>
            <a:r>
              <a:rPr lang="en-US" b="1" dirty="0"/>
              <a:t>Not started</a:t>
            </a:r>
          </a:p>
          <a:p>
            <a:pPr lvl="1"/>
            <a:r>
              <a:rPr lang="en-US" dirty="0"/>
              <a:t>These stories have been selected by a developer and are therefore assigned, but the development work has yet to begin. This is equivalent to a “pending” queue, or the next items to be worked.</a:t>
            </a:r>
          </a:p>
          <a:p>
            <a:r>
              <a:rPr lang="en-US" b="1" dirty="0"/>
              <a:t>In progress</a:t>
            </a:r>
          </a:p>
          <a:p>
            <a:pPr lvl="1"/>
            <a:r>
              <a:rPr lang="en-US" dirty="0"/>
              <a:t>These are the requirements that are currently being coded by a developer.</a:t>
            </a:r>
          </a:p>
          <a:p>
            <a:r>
              <a:rPr lang="en-US" b="1" dirty="0"/>
              <a:t>Testing</a:t>
            </a:r>
          </a:p>
          <a:p>
            <a:pPr lvl="1"/>
            <a:r>
              <a:rPr lang="en-US" dirty="0"/>
              <a:t>This is when the testing is done to ensure that the code is working as intended.</a:t>
            </a:r>
          </a:p>
          <a:p>
            <a:r>
              <a:rPr lang="en-US" b="1" dirty="0"/>
              <a:t>Completed</a:t>
            </a:r>
          </a:p>
          <a:p>
            <a:pPr lvl="1"/>
            <a:r>
              <a:rPr lang="en-US" dirty="0"/>
              <a:t>The requirements in this column are considered ready to be delivered to a customer.</a:t>
            </a:r>
            <a:endParaRPr lang="en-IN" dirty="0"/>
          </a:p>
        </p:txBody>
      </p:sp>
      <p:sp>
        <p:nvSpPr>
          <p:cNvPr id="4" name="Slide Number Placeholder 3">
            <a:extLst>
              <a:ext uri="{FF2B5EF4-FFF2-40B4-BE49-F238E27FC236}">
                <a16:creationId xmlns:a16="http://schemas.microsoft.com/office/drawing/2014/main" id="{187880DB-C819-5297-7822-22F3E90B44ED}"/>
              </a:ext>
            </a:extLst>
          </p:cNvPr>
          <p:cNvSpPr>
            <a:spLocks noGrp="1"/>
          </p:cNvSpPr>
          <p:nvPr>
            <p:ph type="sldNum" sz="quarter" idx="12"/>
          </p:nvPr>
        </p:nvSpPr>
        <p:spPr/>
        <p:txBody>
          <a:bodyPr/>
          <a:lstStyle/>
          <a:p>
            <a:fld id="{C70AC583-F9E3-4A59-98F2-FD7379A90CB7}" type="slidenum">
              <a:rPr lang="en-IN" smtClean="0"/>
              <a:pPr/>
              <a:t>9</a:t>
            </a:fld>
            <a:endParaRPr lang="en-IN" b="0" dirty="0"/>
          </a:p>
        </p:txBody>
      </p:sp>
    </p:spTree>
    <p:extLst>
      <p:ext uri="{BB962C8B-B14F-4D97-AF65-F5344CB8AC3E}">
        <p14:creationId xmlns:p14="http://schemas.microsoft.com/office/powerpoint/2010/main" val="1726928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51EE3-DC8B-69E9-FDFC-75761A4115A0}"/>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DA50207F-5EC3-AF0F-5042-0BCDD5EEA3FE}"/>
              </a:ext>
            </a:extLst>
          </p:cNvPr>
          <p:cNvSpPr>
            <a:spLocks noGrp="1"/>
          </p:cNvSpPr>
          <p:nvPr>
            <p:ph idx="1"/>
          </p:nvPr>
        </p:nvSpPr>
        <p:spPr/>
        <p:txBody>
          <a:bodyPr/>
          <a:lstStyle/>
          <a:p>
            <a:r>
              <a:rPr lang="en-US" dirty="0"/>
              <a:t>Kanban allows for limiting the amount of work (stories) in a given stage at any point in time; this limit is commonly referred to as the work in progress (WIP) limit. </a:t>
            </a:r>
          </a:p>
          <a:p>
            <a:r>
              <a:rPr lang="en-US" dirty="0"/>
              <a:t>WIP limits help organizations to identify where there are bottlenecks in their processes. </a:t>
            </a:r>
          </a:p>
          <a:p>
            <a:r>
              <a:rPr lang="en-US" dirty="0"/>
              <a:t>One of the key tenets of Agile is increased transparency, and the Kanban WIP limits bring attention and focus to the areas of the business where things are slowing down so we can quickly address and correct the situation.</a:t>
            </a:r>
            <a:endParaRPr lang="en-IN" dirty="0"/>
          </a:p>
        </p:txBody>
      </p:sp>
      <p:sp>
        <p:nvSpPr>
          <p:cNvPr id="4" name="Slide Number Placeholder 3">
            <a:extLst>
              <a:ext uri="{FF2B5EF4-FFF2-40B4-BE49-F238E27FC236}">
                <a16:creationId xmlns:a16="http://schemas.microsoft.com/office/drawing/2014/main" id="{C939ABBC-E879-DF95-D9EC-79EBEF257AE6}"/>
              </a:ext>
            </a:extLst>
          </p:cNvPr>
          <p:cNvSpPr>
            <a:spLocks noGrp="1"/>
          </p:cNvSpPr>
          <p:nvPr>
            <p:ph type="sldNum" sz="quarter" idx="12"/>
          </p:nvPr>
        </p:nvSpPr>
        <p:spPr/>
        <p:txBody>
          <a:bodyPr/>
          <a:lstStyle/>
          <a:p>
            <a:fld id="{C70AC583-F9E3-4A59-98F2-FD7379A90CB7}" type="slidenum">
              <a:rPr lang="en-IN" smtClean="0"/>
              <a:pPr/>
              <a:t>10</a:t>
            </a:fld>
            <a:endParaRPr lang="en-IN" b="0" dirty="0"/>
          </a:p>
        </p:txBody>
      </p:sp>
    </p:spTree>
    <p:extLst>
      <p:ext uri="{BB962C8B-B14F-4D97-AF65-F5344CB8AC3E}">
        <p14:creationId xmlns:p14="http://schemas.microsoft.com/office/powerpoint/2010/main" val="313671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4FC40-E27E-8CA6-93D2-95C2B8E00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49DBE-451C-759B-45AC-BFE58978281B}"/>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BC5B32C3-1264-9D8C-C4CD-6F422DA40373}"/>
              </a:ext>
            </a:extLst>
          </p:cNvPr>
          <p:cNvSpPr>
            <a:spLocks noGrp="1"/>
          </p:cNvSpPr>
          <p:nvPr>
            <p:ph idx="1"/>
          </p:nvPr>
        </p:nvSpPr>
        <p:spPr/>
        <p:txBody>
          <a:bodyPr/>
          <a:lstStyle/>
          <a:p>
            <a:r>
              <a:rPr lang="en-US" dirty="0"/>
              <a:t>For example, on our Kanban board, we have the following WIP limits:</a:t>
            </a:r>
          </a:p>
          <a:p>
            <a:pPr lvl="2"/>
            <a:r>
              <a:rPr lang="en-US" dirty="0"/>
              <a:t>Backlog: No limit</a:t>
            </a:r>
          </a:p>
          <a:p>
            <a:pPr lvl="2"/>
            <a:r>
              <a:rPr lang="en-US" dirty="0"/>
              <a:t>Not started: WIP limit of 5</a:t>
            </a:r>
          </a:p>
          <a:p>
            <a:pPr lvl="2"/>
            <a:r>
              <a:rPr lang="en-US" dirty="0"/>
              <a:t>In progress: WIP limit of 4</a:t>
            </a:r>
          </a:p>
          <a:p>
            <a:pPr lvl="2"/>
            <a:r>
              <a:rPr lang="en-US" dirty="0"/>
              <a:t>Testing: WIP limit of 3</a:t>
            </a:r>
          </a:p>
          <a:p>
            <a:pPr lvl="2"/>
            <a:r>
              <a:rPr lang="en-US" dirty="0"/>
              <a:t>Completed: No limit</a:t>
            </a:r>
          </a:p>
          <a:p>
            <a:endParaRPr lang="en-IN" dirty="0"/>
          </a:p>
        </p:txBody>
      </p:sp>
      <p:sp>
        <p:nvSpPr>
          <p:cNvPr id="4" name="Slide Number Placeholder 3">
            <a:extLst>
              <a:ext uri="{FF2B5EF4-FFF2-40B4-BE49-F238E27FC236}">
                <a16:creationId xmlns:a16="http://schemas.microsoft.com/office/drawing/2014/main" id="{F3663EAD-3E96-F36E-1F57-DABDD14995DA}"/>
              </a:ext>
            </a:extLst>
          </p:cNvPr>
          <p:cNvSpPr>
            <a:spLocks noGrp="1"/>
          </p:cNvSpPr>
          <p:nvPr>
            <p:ph type="sldNum" sz="quarter" idx="12"/>
          </p:nvPr>
        </p:nvSpPr>
        <p:spPr/>
        <p:txBody>
          <a:bodyPr/>
          <a:lstStyle/>
          <a:p>
            <a:fld id="{C70AC583-F9E3-4A59-98F2-FD7379A90CB7}" type="slidenum">
              <a:rPr lang="en-IN" smtClean="0"/>
              <a:pPr/>
              <a:t>11</a:t>
            </a:fld>
            <a:endParaRPr lang="en-IN" b="0" dirty="0"/>
          </a:p>
        </p:txBody>
      </p:sp>
      <p:pic>
        <p:nvPicPr>
          <p:cNvPr id="6" name="Picture 5">
            <a:extLst>
              <a:ext uri="{FF2B5EF4-FFF2-40B4-BE49-F238E27FC236}">
                <a16:creationId xmlns:a16="http://schemas.microsoft.com/office/drawing/2014/main" id="{D6B81A85-3D84-390C-CCE6-B486A56AD15C}"/>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contrast="40000"/>
                    </a14:imgEffect>
                  </a14:imgLayer>
                </a14:imgProps>
              </a:ext>
            </a:extLst>
          </a:blip>
          <a:stretch>
            <a:fillRect/>
          </a:stretch>
        </p:blipFill>
        <p:spPr>
          <a:xfrm>
            <a:off x="874669" y="3493008"/>
            <a:ext cx="6853697" cy="3364992"/>
          </a:xfrm>
          <a:prstGeom prst="rect">
            <a:avLst/>
          </a:prstGeom>
        </p:spPr>
      </p:pic>
    </p:spTree>
    <p:extLst>
      <p:ext uri="{BB962C8B-B14F-4D97-AF65-F5344CB8AC3E}">
        <p14:creationId xmlns:p14="http://schemas.microsoft.com/office/powerpoint/2010/main" val="3969220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841EB-FD6D-FC8C-5684-B0CFD0F78B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42EC4-8D38-07E3-E4B5-B1CFAB83E90C}"/>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98AA528F-A219-E8E0-6A90-219355CF6289}"/>
              </a:ext>
            </a:extLst>
          </p:cNvPr>
          <p:cNvSpPr>
            <a:spLocks noGrp="1"/>
          </p:cNvSpPr>
          <p:nvPr>
            <p:ph idx="1"/>
          </p:nvPr>
        </p:nvSpPr>
        <p:spPr/>
        <p:txBody>
          <a:bodyPr>
            <a:normAutofit fontScale="85000" lnSpcReduction="20000"/>
          </a:bodyPr>
          <a:lstStyle/>
          <a:p>
            <a:r>
              <a:rPr lang="en-US" dirty="0"/>
              <a:t>By having these limits, we can identify where our bottlenecks are. </a:t>
            </a:r>
          </a:p>
          <a:p>
            <a:r>
              <a:rPr lang="en-US" dirty="0"/>
              <a:t>In this rudimentary example, all of the WIP limits have been reached, and each person is working diligently on his or her tasks. If the developer finishes task D, he cannot move it into testing because their queue is already full. </a:t>
            </a:r>
          </a:p>
          <a:p>
            <a:r>
              <a:rPr lang="en-US" dirty="0"/>
              <a:t>He must wait until task A, B, or C is completed in testing and moved to completion before task D can be pulled into the testing queue. To move task D into testing now would violate the testing WIP limit of 3.</a:t>
            </a:r>
          </a:p>
          <a:p>
            <a:r>
              <a:rPr lang="en-US" dirty="0"/>
              <a:t>Therefore, our developer </a:t>
            </a:r>
            <a:br>
              <a:rPr lang="en-US" dirty="0"/>
            </a:br>
            <a:r>
              <a:rPr lang="en-US" dirty="0"/>
              <a:t>who has completed task D</a:t>
            </a:r>
            <a:br>
              <a:rPr lang="en-US" dirty="0"/>
            </a:br>
            <a:r>
              <a:rPr lang="en-US" dirty="0"/>
              <a:t>cannot pull task H in from </a:t>
            </a:r>
            <a:br>
              <a:rPr lang="en-US" dirty="0"/>
            </a:br>
            <a:r>
              <a:rPr lang="en-US" dirty="0"/>
              <a:t>the “not started” queue, </a:t>
            </a:r>
            <a:br>
              <a:rPr lang="en-US" dirty="0"/>
            </a:br>
            <a:r>
              <a:rPr lang="en-US" dirty="0"/>
              <a:t>because adding that task </a:t>
            </a:r>
            <a:br>
              <a:rPr lang="en-US" dirty="0"/>
            </a:br>
            <a:r>
              <a:rPr lang="en-US" dirty="0"/>
              <a:t>to the “in progress” queue</a:t>
            </a:r>
            <a:br>
              <a:rPr lang="en-US" dirty="0"/>
            </a:br>
            <a:r>
              <a:rPr lang="en-US" dirty="0"/>
              <a:t> would violate the WIP </a:t>
            </a:r>
            <a:br>
              <a:rPr lang="en-US" dirty="0"/>
            </a:br>
            <a:r>
              <a:rPr lang="en-US" dirty="0"/>
              <a:t>limit of 4.</a:t>
            </a:r>
            <a:endParaRPr lang="en-IN" dirty="0"/>
          </a:p>
        </p:txBody>
      </p:sp>
      <p:sp>
        <p:nvSpPr>
          <p:cNvPr id="4" name="Slide Number Placeholder 3">
            <a:extLst>
              <a:ext uri="{FF2B5EF4-FFF2-40B4-BE49-F238E27FC236}">
                <a16:creationId xmlns:a16="http://schemas.microsoft.com/office/drawing/2014/main" id="{5D9364B1-FF3E-701D-87CE-11D26600DAA4}"/>
              </a:ext>
            </a:extLst>
          </p:cNvPr>
          <p:cNvSpPr>
            <a:spLocks noGrp="1"/>
          </p:cNvSpPr>
          <p:nvPr>
            <p:ph type="sldNum" sz="quarter" idx="12"/>
          </p:nvPr>
        </p:nvSpPr>
        <p:spPr/>
        <p:txBody>
          <a:bodyPr/>
          <a:lstStyle/>
          <a:p>
            <a:fld id="{C70AC583-F9E3-4A59-98F2-FD7379A90CB7}" type="slidenum">
              <a:rPr lang="en-IN" smtClean="0"/>
              <a:pPr/>
              <a:t>12</a:t>
            </a:fld>
            <a:endParaRPr lang="en-IN" b="0" dirty="0"/>
          </a:p>
        </p:txBody>
      </p:sp>
      <p:pic>
        <p:nvPicPr>
          <p:cNvPr id="5" name="Picture 4">
            <a:extLst>
              <a:ext uri="{FF2B5EF4-FFF2-40B4-BE49-F238E27FC236}">
                <a16:creationId xmlns:a16="http://schemas.microsoft.com/office/drawing/2014/main" id="{06CEF217-1BEF-7177-348A-0CF3488C6F67}"/>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contrast="40000"/>
                    </a14:imgEffect>
                  </a14:imgLayer>
                </a14:imgProps>
              </a:ext>
            </a:extLst>
          </a:blip>
          <a:stretch>
            <a:fillRect/>
          </a:stretch>
        </p:blipFill>
        <p:spPr>
          <a:xfrm>
            <a:off x="4075071" y="3715551"/>
            <a:ext cx="5631840" cy="2765091"/>
          </a:xfrm>
          <a:prstGeom prst="rect">
            <a:avLst/>
          </a:prstGeom>
        </p:spPr>
      </p:pic>
    </p:spTree>
    <p:extLst>
      <p:ext uri="{BB962C8B-B14F-4D97-AF65-F5344CB8AC3E}">
        <p14:creationId xmlns:p14="http://schemas.microsoft.com/office/powerpoint/2010/main" val="780682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113E7-5276-083B-1735-FC5DA8DB8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A86C0-AD7B-15D0-CD9E-777A812A2792}"/>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5A3ED4A3-2127-315C-5D22-6AC5087E5A3C}"/>
              </a:ext>
            </a:extLst>
          </p:cNvPr>
          <p:cNvSpPr>
            <a:spLocks noGrp="1"/>
          </p:cNvSpPr>
          <p:nvPr>
            <p:ph idx="1"/>
          </p:nvPr>
        </p:nvSpPr>
        <p:spPr/>
        <p:txBody>
          <a:bodyPr>
            <a:normAutofit lnSpcReduction="10000"/>
          </a:bodyPr>
          <a:lstStyle/>
          <a:p>
            <a:r>
              <a:rPr lang="en-US" dirty="0"/>
              <a:t>There are many reasons why this is valuable and reinforces the values of Agile. </a:t>
            </a:r>
          </a:p>
          <a:p>
            <a:r>
              <a:rPr lang="en-US" dirty="0"/>
              <a:t>Perhaps the developers are moving very fast and, as an unfortunate result, they are writing buggy code. </a:t>
            </a:r>
          </a:p>
          <a:p>
            <a:r>
              <a:rPr lang="en-US" dirty="0"/>
              <a:t>Thus, the testing queue is backed up because they cannot get tasks A, B and C to pass testing. </a:t>
            </a:r>
          </a:p>
          <a:p>
            <a:r>
              <a:rPr lang="en-US" dirty="0"/>
              <a:t>The developers are finishing more tasks but they cannot move them to testing yet—and they cannot pick up any new tasks. </a:t>
            </a:r>
          </a:p>
          <a:p>
            <a:r>
              <a:rPr lang="en-US" dirty="0"/>
              <a:t>Therefore, the developers can help the testers with their tasks; the testing queue will get cleared, and the developers will understand that the better code they write, the more smoothly the process will go.</a:t>
            </a:r>
            <a:endParaRPr lang="en-IN" dirty="0"/>
          </a:p>
        </p:txBody>
      </p:sp>
      <p:sp>
        <p:nvSpPr>
          <p:cNvPr id="4" name="Slide Number Placeholder 3">
            <a:extLst>
              <a:ext uri="{FF2B5EF4-FFF2-40B4-BE49-F238E27FC236}">
                <a16:creationId xmlns:a16="http://schemas.microsoft.com/office/drawing/2014/main" id="{3ACFD27B-EB84-4CA7-B925-86534598134F}"/>
              </a:ext>
            </a:extLst>
          </p:cNvPr>
          <p:cNvSpPr>
            <a:spLocks noGrp="1"/>
          </p:cNvSpPr>
          <p:nvPr>
            <p:ph type="sldNum" sz="quarter" idx="12"/>
          </p:nvPr>
        </p:nvSpPr>
        <p:spPr/>
        <p:txBody>
          <a:bodyPr/>
          <a:lstStyle/>
          <a:p>
            <a:fld id="{C70AC583-F9E3-4A59-98F2-FD7379A90CB7}" type="slidenum">
              <a:rPr lang="en-IN" smtClean="0"/>
              <a:pPr/>
              <a:t>13</a:t>
            </a:fld>
            <a:endParaRPr lang="en-IN" b="0" dirty="0"/>
          </a:p>
        </p:txBody>
      </p:sp>
    </p:spTree>
    <p:extLst>
      <p:ext uri="{BB962C8B-B14F-4D97-AF65-F5344CB8AC3E}">
        <p14:creationId xmlns:p14="http://schemas.microsoft.com/office/powerpoint/2010/main" val="1449219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88D06-FCCF-F3A1-9DFC-4FDE00EEA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AD9F7-1635-411A-88C4-841BE69469D0}"/>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DE38F32D-CC7E-2A96-BEF6-1C8C079DD05F}"/>
              </a:ext>
            </a:extLst>
          </p:cNvPr>
          <p:cNvSpPr>
            <a:spLocks noGrp="1"/>
          </p:cNvSpPr>
          <p:nvPr>
            <p:ph idx="1"/>
          </p:nvPr>
        </p:nvSpPr>
        <p:spPr/>
        <p:txBody>
          <a:bodyPr>
            <a:normAutofit/>
          </a:bodyPr>
          <a:lstStyle/>
          <a:p>
            <a:r>
              <a:rPr lang="en-US" dirty="0"/>
              <a:t>The WIP limits also prevent the product owner (or executives) from forcing too much work on the team. </a:t>
            </a:r>
          </a:p>
          <a:p>
            <a:r>
              <a:rPr lang="en-US" dirty="0"/>
              <a:t>The “not started” queue has a WIP limit of 5, so those represent the stories or tasks that are well defined and prioritized. </a:t>
            </a:r>
          </a:p>
          <a:p>
            <a:r>
              <a:rPr lang="en-US" dirty="0"/>
              <a:t>Just as Scrum limits the amount of work by allowing the team to commit only to what they can reasonably finish in the duration of a sprint, the WIP limits accomplish the same goal by limiting how much work can be in each queue.</a:t>
            </a:r>
            <a:endParaRPr lang="en-IN" dirty="0"/>
          </a:p>
        </p:txBody>
      </p:sp>
      <p:sp>
        <p:nvSpPr>
          <p:cNvPr id="4" name="Slide Number Placeholder 3">
            <a:extLst>
              <a:ext uri="{FF2B5EF4-FFF2-40B4-BE49-F238E27FC236}">
                <a16:creationId xmlns:a16="http://schemas.microsoft.com/office/drawing/2014/main" id="{6CCE955E-E178-D693-003C-BF5B81F210BD}"/>
              </a:ext>
            </a:extLst>
          </p:cNvPr>
          <p:cNvSpPr>
            <a:spLocks noGrp="1"/>
          </p:cNvSpPr>
          <p:nvPr>
            <p:ph type="sldNum" sz="quarter" idx="12"/>
          </p:nvPr>
        </p:nvSpPr>
        <p:spPr/>
        <p:txBody>
          <a:bodyPr/>
          <a:lstStyle/>
          <a:p>
            <a:fld id="{C70AC583-F9E3-4A59-98F2-FD7379A90CB7}" type="slidenum">
              <a:rPr lang="en-IN" smtClean="0"/>
              <a:pPr/>
              <a:t>14</a:t>
            </a:fld>
            <a:endParaRPr lang="en-IN" b="0" dirty="0"/>
          </a:p>
        </p:txBody>
      </p:sp>
    </p:spTree>
    <p:extLst>
      <p:ext uri="{BB962C8B-B14F-4D97-AF65-F5344CB8AC3E}">
        <p14:creationId xmlns:p14="http://schemas.microsoft.com/office/powerpoint/2010/main" val="2943928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60B00-E236-FB3F-890E-C5F995CB6B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DBA7B-853D-872B-E6BC-B5220842C59D}"/>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2E718EF5-6519-46C3-74FB-EC7D3AE1A079}"/>
              </a:ext>
            </a:extLst>
          </p:cNvPr>
          <p:cNvSpPr>
            <a:spLocks noGrp="1"/>
          </p:cNvSpPr>
          <p:nvPr>
            <p:ph idx="1"/>
          </p:nvPr>
        </p:nvSpPr>
        <p:spPr/>
        <p:txBody>
          <a:bodyPr>
            <a:normAutofit/>
          </a:bodyPr>
          <a:lstStyle/>
          <a:p>
            <a:r>
              <a:rPr lang="en-US" dirty="0"/>
              <a:t>In this example, WIP limits are set by the number of tasks, but as you can imagine, not all tasks are equal; some tasks are much larger or more complex than others, so some teams set their WIP limits by the number of story points as described in Chapter 6, “Grooming and Planning.” </a:t>
            </a:r>
          </a:p>
          <a:p>
            <a:r>
              <a:rPr lang="en-US" dirty="0"/>
              <a:t>WIP limits could also be based on hours required to complete the task. </a:t>
            </a:r>
          </a:p>
          <a:p>
            <a:r>
              <a:rPr lang="en-US" dirty="0"/>
              <a:t>Setting and enforcing WIP limits can be challenging for teams, so some teams that are new to Kanban start with the workflow and the Kanban board and add WIP limits later, when they are more comfortable with the process.</a:t>
            </a:r>
            <a:endParaRPr lang="en-IN" dirty="0"/>
          </a:p>
        </p:txBody>
      </p:sp>
      <p:sp>
        <p:nvSpPr>
          <p:cNvPr id="4" name="Slide Number Placeholder 3">
            <a:extLst>
              <a:ext uri="{FF2B5EF4-FFF2-40B4-BE49-F238E27FC236}">
                <a16:creationId xmlns:a16="http://schemas.microsoft.com/office/drawing/2014/main" id="{04549648-ADE1-7E4A-DA18-462D57A00396}"/>
              </a:ext>
            </a:extLst>
          </p:cNvPr>
          <p:cNvSpPr>
            <a:spLocks noGrp="1"/>
          </p:cNvSpPr>
          <p:nvPr>
            <p:ph type="sldNum" sz="quarter" idx="12"/>
          </p:nvPr>
        </p:nvSpPr>
        <p:spPr/>
        <p:txBody>
          <a:bodyPr/>
          <a:lstStyle/>
          <a:p>
            <a:fld id="{C70AC583-F9E3-4A59-98F2-FD7379A90CB7}" type="slidenum">
              <a:rPr lang="en-IN" smtClean="0"/>
              <a:pPr/>
              <a:t>15</a:t>
            </a:fld>
            <a:endParaRPr lang="en-IN" b="0" dirty="0"/>
          </a:p>
        </p:txBody>
      </p:sp>
    </p:spTree>
    <p:extLst>
      <p:ext uri="{BB962C8B-B14F-4D97-AF65-F5344CB8AC3E}">
        <p14:creationId xmlns:p14="http://schemas.microsoft.com/office/powerpoint/2010/main" val="424329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22F04-3FEA-13E8-576F-B95717610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6DBC4-E9C2-1854-887E-03C43E9F3ED2}"/>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E9F95235-D542-0182-B0E0-F6A68A101964}"/>
              </a:ext>
            </a:extLst>
          </p:cNvPr>
          <p:cNvSpPr>
            <a:spLocks noGrp="1"/>
          </p:cNvSpPr>
          <p:nvPr>
            <p:ph idx="1"/>
          </p:nvPr>
        </p:nvSpPr>
        <p:spPr/>
        <p:txBody>
          <a:bodyPr>
            <a:normAutofit lnSpcReduction="10000"/>
          </a:bodyPr>
          <a:lstStyle/>
          <a:p>
            <a:r>
              <a:rPr lang="en-US" dirty="0"/>
              <a:t>The Kanban principles are built into Lean software development.</a:t>
            </a:r>
          </a:p>
          <a:p>
            <a:r>
              <a:rPr lang="en-US" dirty="0"/>
              <a:t>Lean principles focus on eliminating waste, specifically “</a:t>
            </a:r>
            <a:r>
              <a:rPr lang="en-US" b="1" dirty="0" err="1"/>
              <a:t>muda</a:t>
            </a:r>
            <a:r>
              <a:rPr lang="en-US" dirty="0"/>
              <a:t>,” “</a:t>
            </a:r>
            <a:r>
              <a:rPr lang="en-US" b="1" dirty="0"/>
              <a:t>mura</a:t>
            </a:r>
            <a:r>
              <a:rPr lang="en-US" dirty="0"/>
              <a:t>,” and “</a:t>
            </a:r>
            <a:r>
              <a:rPr lang="en-US" b="1" dirty="0"/>
              <a:t>muri</a:t>
            </a:r>
            <a:r>
              <a:rPr lang="en-US" dirty="0"/>
              <a:t>”; an effective Kanban board will address all three.</a:t>
            </a:r>
          </a:p>
          <a:p>
            <a:r>
              <a:rPr lang="en-US" dirty="0"/>
              <a:t>“Muda” is waste created by an activity in the process that adds no value; value stream mapping.</a:t>
            </a:r>
          </a:p>
          <a:p>
            <a:pPr lvl="1"/>
            <a:r>
              <a:rPr lang="en-US" dirty="0"/>
              <a:t>When diagramming the workflow to define the columns in Kanban, </a:t>
            </a:r>
            <a:r>
              <a:rPr lang="en-US" dirty="0" err="1"/>
              <a:t>muda</a:t>
            </a:r>
            <a:r>
              <a:rPr lang="en-US" dirty="0"/>
              <a:t> would be evident as a step that is not valuable.</a:t>
            </a:r>
          </a:p>
          <a:p>
            <a:r>
              <a:rPr lang="en-US" dirty="0"/>
              <a:t>“Mura” is the waste generated by unevenness in operations.</a:t>
            </a:r>
          </a:p>
          <a:p>
            <a:pPr lvl="1"/>
            <a:r>
              <a:rPr lang="en-US" dirty="0"/>
              <a:t>With the visibility of the Kanban board, we  can easily see the work flowing through the system to isolate inefficiencies where work is uneven.</a:t>
            </a:r>
            <a:endParaRPr lang="en-IN" dirty="0"/>
          </a:p>
        </p:txBody>
      </p:sp>
      <p:sp>
        <p:nvSpPr>
          <p:cNvPr id="4" name="Slide Number Placeholder 3">
            <a:extLst>
              <a:ext uri="{FF2B5EF4-FFF2-40B4-BE49-F238E27FC236}">
                <a16:creationId xmlns:a16="http://schemas.microsoft.com/office/drawing/2014/main" id="{4D9FFFAD-0B87-CA4D-41DA-AD824E079B6C}"/>
              </a:ext>
            </a:extLst>
          </p:cNvPr>
          <p:cNvSpPr>
            <a:spLocks noGrp="1"/>
          </p:cNvSpPr>
          <p:nvPr>
            <p:ph type="sldNum" sz="quarter" idx="12"/>
          </p:nvPr>
        </p:nvSpPr>
        <p:spPr/>
        <p:txBody>
          <a:bodyPr/>
          <a:lstStyle/>
          <a:p>
            <a:fld id="{C70AC583-F9E3-4A59-98F2-FD7379A90CB7}" type="slidenum">
              <a:rPr lang="en-IN" smtClean="0"/>
              <a:pPr/>
              <a:t>16</a:t>
            </a:fld>
            <a:endParaRPr lang="en-IN" b="0" dirty="0"/>
          </a:p>
        </p:txBody>
      </p:sp>
    </p:spTree>
    <p:extLst>
      <p:ext uri="{BB962C8B-B14F-4D97-AF65-F5344CB8AC3E}">
        <p14:creationId xmlns:p14="http://schemas.microsoft.com/office/powerpoint/2010/main" val="4199402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D8D8F-DAA4-7FEF-157C-06B978B24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A8C31-0EB4-9244-C640-718AC58C624A}"/>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2DD767B4-F6C3-DBE8-5822-8EBA244ADFE6}"/>
              </a:ext>
            </a:extLst>
          </p:cNvPr>
          <p:cNvSpPr>
            <a:spLocks noGrp="1"/>
          </p:cNvSpPr>
          <p:nvPr>
            <p:ph idx="1"/>
          </p:nvPr>
        </p:nvSpPr>
        <p:spPr/>
        <p:txBody>
          <a:bodyPr>
            <a:normAutofit/>
          </a:bodyPr>
          <a:lstStyle/>
          <a:p>
            <a:r>
              <a:rPr lang="en-US" dirty="0"/>
              <a:t>Finally, there is “muri,” which is the overburdening of people or equipment with more work than they can reasonably manage. </a:t>
            </a:r>
          </a:p>
          <a:p>
            <a:pPr lvl="1"/>
            <a:r>
              <a:rPr lang="en-US" dirty="0"/>
              <a:t>The WIP limits in Kanban detect muri by clearly identifying bottlenecks in the process where more work is being added than can effectively be delivered.</a:t>
            </a:r>
          </a:p>
          <a:p>
            <a:r>
              <a:rPr lang="en-US" dirty="0"/>
              <a:t>Kanban is a wonderful alternative for teams who want to embrace all of the values and principles of Agile but whose work is unpredictable and difficult to plan. </a:t>
            </a:r>
          </a:p>
          <a:p>
            <a:r>
              <a:rPr lang="en-US" dirty="0"/>
              <a:t>In many organizations, both Scrum and Kanban are utilized, depending on the makeup of the work.</a:t>
            </a:r>
            <a:endParaRPr lang="en-IN" dirty="0"/>
          </a:p>
        </p:txBody>
      </p:sp>
      <p:sp>
        <p:nvSpPr>
          <p:cNvPr id="4" name="Slide Number Placeholder 3">
            <a:extLst>
              <a:ext uri="{FF2B5EF4-FFF2-40B4-BE49-F238E27FC236}">
                <a16:creationId xmlns:a16="http://schemas.microsoft.com/office/drawing/2014/main" id="{8B95C8C8-4B04-3611-928B-C449F9B67B60}"/>
              </a:ext>
            </a:extLst>
          </p:cNvPr>
          <p:cNvSpPr>
            <a:spLocks noGrp="1"/>
          </p:cNvSpPr>
          <p:nvPr>
            <p:ph type="sldNum" sz="quarter" idx="12"/>
          </p:nvPr>
        </p:nvSpPr>
        <p:spPr/>
        <p:txBody>
          <a:bodyPr/>
          <a:lstStyle/>
          <a:p>
            <a:fld id="{C70AC583-F9E3-4A59-98F2-FD7379A90CB7}" type="slidenum">
              <a:rPr lang="en-IN" smtClean="0"/>
              <a:pPr/>
              <a:t>17</a:t>
            </a:fld>
            <a:endParaRPr lang="en-IN" b="0" dirty="0"/>
          </a:p>
        </p:txBody>
      </p:sp>
    </p:spTree>
    <p:extLst>
      <p:ext uri="{BB962C8B-B14F-4D97-AF65-F5344CB8AC3E}">
        <p14:creationId xmlns:p14="http://schemas.microsoft.com/office/powerpoint/2010/main" val="3179021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7CAD-A9CD-8E80-83D5-487FEC4EA185}"/>
              </a:ext>
            </a:extLst>
          </p:cNvPr>
          <p:cNvSpPr>
            <a:spLocks noGrp="1"/>
          </p:cNvSpPr>
          <p:nvPr>
            <p:ph type="title"/>
          </p:nvPr>
        </p:nvSpPr>
        <p:spPr/>
        <p:txBody>
          <a:bodyPr/>
          <a:lstStyle/>
          <a:p>
            <a:r>
              <a:rPr lang="en-IN" dirty="0"/>
              <a:t>Tracking</a:t>
            </a:r>
          </a:p>
        </p:txBody>
      </p:sp>
      <p:sp>
        <p:nvSpPr>
          <p:cNvPr id="3" name="Content Placeholder 2">
            <a:extLst>
              <a:ext uri="{FF2B5EF4-FFF2-40B4-BE49-F238E27FC236}">
                <a16:creationId xmlns:a16="http://schemas.microsoft.com/office/drawing/2014/main" id="{07222FC6-3842-9F03-4DD8-239CE1F437E0}"/>
              </a:ext>
            </a:extLst>
          </p:cNvPr>
          <p:cNvSpPr>
            <a:spLocks noGrp="1"/>
          </p:cNvSpPr>
          <p:nvPr>
            <p:ph idx="1"/>
          </p:nvPr>
        </p:nvSpPr>
        <p:spPr/>
        <p:txBody>
          <a:bodyPr/>
          <a:lstStyle/>
          <a:p>
            <a:r>
              <a:rPr lang="en-US" dirty="0"/>
              <a:t>Regardless of the particular methodology being used, tracking progress is critical to Agile. </a:t>
            </a:r>
          </a:p>
          <a:p>
            <a:r>
              <a:rPr lang="en-US" dirty="0"/>
              <a:t>Increased transparency and the desire to eliminate surprises make tracking essential to effectively managing an Agile project. </a:t>
            </a:r>
          </a:p>
          <a:p>
            <a:r>
              <a:rPr lang="en-US" dirty="0"/>
              <a:t>We explore several tracking mechanisms and philosophies in detail.</a:t>
            </a:r>
            <a:endParaRPr lang="en-IN" dirty="0"/>
          </a:p>
        </p:txBody>
      </p:sp>
      <p:sp>
        <p:nvSpPr>
          <p:cNvPr id="4" name="Slide Number Placeholder 3">
            <a:extLst>
              <a:ext uri="{FF2B5EF4-FFF2-40B4-BE49-F238E27FC236}">
                <a16:creationId xmlns:a16="http://schemas.microsoft.com/office/drawing/2014/main" id="{60EC56C4-324D-F1E1-FC94-C717782F5875}"/>
              </a:ext>
            </a:extLst>
          </p:cNvPr>
          <p:cNvSpPr>
            <a:spLocks noGrp="1"/>
          </p:cNvSpPr>
          <p:nvPr>
            <p:ph type="sldNum" sz="quarter" idx="12"/>
          </p:nvPr>
        </p:nvSpPr>
        <p:spPr/>
        <p:txBody>
          <a:bodyPr/>
          <a:lstStyle/>
          <a:p>
            <a:fld id="{C70AC583-F9E3-4A59-98F2-FD7379A90CB7}" type="slidenum">
              <a:rPr lang="en-IN" smtClean="0"/>
              <a:pPr/>
              <a:t>18</a:t>
            </a:fld>
            <a:endParaRPr lang="en-IN" b="0" dirty="0"/>
          </a:p>
        </p:txBody>
      </p:sp>
    </p:spTree>
    <p:extLst>
      <p:ext uri="{BB962C8B-B14F-4D97-AF65-F5344CB8AC3E}">
        <p14:creationId xmlns:p14="http://schemas.microsoft.com/office/powerpoint/2010/main" val="1252353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DF0AE-7602-6350-00D7-891CEF9191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843EE-D969-11C0-1B16-81E75EEDA64A}"/>
              </a:ext>
            </a:extLst>
          </p:cNvPr>
          <p:cNvSpPr>
            <a:spLocks noGrp="1"/>
          </p:cNvSpPr>
          <p:nvPr>
            <p:ph type="title"/>
          </p:nvPr>
        </p:nvSpPr>
        <p:spPr/>
        <p:txBody>
          <a:bodyPr/>
          <a:lstStyle/>
          <a:p>
            <a:r>
              <a:rPr lang="en-IN" dirty="0"/>
              <a:t>Tracking - XP</a:t>
            </a:r>
          </a:p>
        </p:txBody>
      </p:sp>
      <p:sp>
        <p:nvSpPr>
          <p:cNvPr id="3" name="Content Placeholder 2">
            <a:extLst>
              <a:ext uri="{FF2B5EF4-FFF2-40B4-BE49-F238E27FC236}">
                <a16:creationId xmlns:a16="http://schemas.microsoft.com/office/drawing/2014/main" id="{7AB5176E-FCEE-3F2C-93F8-887005E8FD3D}"/>
              </a:ext>
            </a:extLst>
          </p:cNvPr>
          <p:cNvSpPr>
            <a:spLocks noGrp="1"/>
          </p:cNvSpPr>
          <p:nvPr>
            <p:ph idx="1"/>
          </p:nvPr>
        </p:nvSpPr>
        <p:spPr>
          <a:xfrm>
            <a:off x="266330" y="1020932"/>
            <a:ext cx="8611340" cy="5700544"/>
          </a:xfrm>
        </p:spPr>
        <p:txBody>
          <a:bodyPr>
            <a:normAutofit fontScale="92500" lnSpcReduction="10000"/>
          </a:bodyPr>
          <a:lstStyle/>
          <a:p>
            <a:r>
              <a:rPr lang="en-US" dirty="0"/>
              <a:t>XP takes tracking so seriously that one of their roles is that of a tracker.</a:t>
            </a:r>
          </a:p>
          <a:p>
            <a:r>
              <a:rPr lang="en-US" dirty="0"/>
              <a:t>The tracker talks to the developers daily and asks two questions—how many ideal days have they worked on a task, and how many ideal days do they have remaining. </a:t>
            </a:r>
          </a:p>
          <a:p>
            <a:r>
              <a:rPr lang="en-US" dirty="0"/>
              <a:t>The ideal days or ideal time is the amount of time a task would take under ideal circumstances, with no interruptions, phone calls, meetings, etc.</a:t>
            </a:r>
          </a:p>
          <a:p>
            <a:r>
              <a:rPr lang="en-US" dirty="0"/>
              <a:t>The tracker should talk to each developer about the task.</a:t>
            </a:r>
          </a:p>
          <a:p>
            <a:r>
              <a:rPr lang="en-US" dirty="0"/>
              <a:t>This reinforces the importance of face-to-face communication so the tracker can ensure that he or she obtaining accurate and realistic responses from the developer. </a:t>
            </a:r>
          </a:p>
          <a:p>
            <a:r>
              <a:rPr lang="en-US" dirty="0"/>
              <a:t>Scrum addresses this in a similar fashion, through the use of the daily stand-up meeting</a:t>
            </a:r>
            <a:endParaRPr lang="en-IN" dirty="0"/>
          </a:p>
        </p:txBody>
      </p:sp>
      <p:sp>
        <p:nvSpPr>
          <p:cNvPr id="4" name="Slide Number Placeholder 3">
            <a:extLst>
              <a:ext uri="{FF2B5EF4-FFF2-40B4-BE49-F238E27FC236}">
                <a16:creationId xmlns:a16="http://schemas.microsoft.com/office/drawing/2014/main" id="{DF2D9A68-74E2-E296-B690-83B72C06ED5C}"/>
              </a:ext>
            </a:extLst>
          </p:cNvPr>
          <p:cNvSpPr>
            <a:spLocks noGrp="1"/>
          </p:cNvSpPr>
          <p:nvPr>
            <p:ph type="sldNum" sz="quarter" idx="12"/>
          </p:nvPr>
        </p:nvSpPr>
        <p:spPr/>
        <p:txBody>
          <a:bodyPr/>
          <a:lstStyle/>
          <a:p>
            <a:fld id="{C70AC583-F9E3-4A59-98F2-FD7379A90CB7}" type="slidenum">
              <a:rPr lang="en-IN" smtClean="0"/>
              <a:pPr/>
              <a:t>19</a:t>
            </a:fld>
            <a:endParaRPr lang="en-IN" b="0" dirty="0"/>
          </a:p>
        </p:txBody>
      </p:sp>
    </p:spTree>
    <p:extLst>
      <p:ext uri="{BB962C8B-B14F-4D97-AF65-F5344CB8AC3E}">
        <p14:creationId xmlns:p14="http://schemas.microsoft.com/office/powerpoint/2010/main" val="3097238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865B1-74EB-F55A-B34E-C69D867AE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7DAFEA-A9E5-2425-5DCB-9591EDB85136}"/>
              </a:ext>
            </a:extLst>
          </p:cNvPr>
          <p:cNvSpPr>
            <a:spLocks noGrp="1"/>
          </p:cNvSpPr>
          <p:nvPr>
            <p:ph type="title"/>
          </p:nvPr>
        </p:nvSpPr>
        <p:spPr/>
        <p:txBody>
          <a:bodyPr/>
          <a:lstStyle/>
          <a:p>
            <a:r>
              <a:rPr lang="en-IN" dirty="0"/>
              <a:t>Tracking – Burn Charts</a:t>
            </a:r>
          </a:p>
        </p:txBody>
      </p:sp>
      <p:sp>
        <p:nvSpPr>
          <p:cNvPr id="3" name="Content Placeholder 2">
            <a:extLst>
              <a:ext uri="{FF2B5EF4-FFF2-40B4-BE49-F238E27FC236}">
                <a16:creationId xmlns:a16="http://schemas.microsoft.com/office/drawing/2014/main" id="{F77FA30B-3431-D081-704E-B3C291A046F5}"/>
              </a:ext>
            </a:extLst>
          </p:cNvPr>
          <p:cNvSpPr>
            <a:spLocks noGrp="1"/>
          </p:cNvSpPr>
          <p:nvPr>
            <p:ph idx="1"/>
          </p:nvPr>
        </p:nvSpPr>
        <p:spPr>
          <a:xfrm>
            <a:off x="266330" y="1020932"/>
            <a:ext cx="8611340" cy="5700544"/>
          </a:xfrm>
        </p:spPr>
        <p:txBody>
          <a:bodyPr>
            <a:normAutofit/>
          </a:bodyPr>
          <a:lstStyle/>
          <a:p>
            <a:r>
              <a:rPr lang="en-US" dirty="0"/>
              <a:t>Burn charts are a mechanism to be transparent about the progress of a release or iteration so the team can decide if they need to alter their approach to the work in order to honor their commitments. </a:t>
            </a:r>
          </a:p>
          <a:p>
            <a:r>
              <a:rPr lang="en-US" dirty="0"/>
              <a:t>By being able to easily see their actual progress charted against the planned progress, they have actionable data to inform their decisions.</a:t>
            </a:r>
            <a:endParaRPr lang="en-IN" dirty="0"/>
          </a:p>
        </p:txBody>
      </p:sp>
      <p:sp>
        <p:nvSpPr>
          <p:cNvPr id="4" name="Slide Number Placeholder 3">
            <a:extLst>
              <a:ext uri="{FF2B5EF4-FFF2-40B4-BE49-F238E27FC236}">
                <a16:creationId xmlns:a16="http://schemas.microsoft.com/office/drawing/2014/main" id="{4526A4EE-DC79-A6D1-FAA1-55B79C34020F}"/>
              </a:ext>
            </a:extLst>
          </p:cNvPr>
          <p:cNvSpPr>
            <a:spLocks noGrp="1"/>
          </p:cNvSpPr>
          <p:nvPr>
            <p:ph type="sldNum" sz="quarter" idx="12"/>
          </p:nvPr>
        </p:nvSpPr>
        <p:spPr/>
        <p:txBody>
          <a:bodyPr/>
          <a:lstStyle/>
          <a:p>
            <a:fld id="{C70AC583-F9E3-4A59-98F2-FD7379A90CB7}" type="slidenum">
              <a:rPr lang="en-IN" smtClean="0"/>
              <a:pPr/>
              <a:t>20</a:t>
            </a:fld>
            <a:endParaRPr lang="en-IN" b="0" dirty="0"/>
          </a:p>
        </p:txBody>
      </p:sp>
    </p:spTree>
    <p:extLst>
      <p:ext uri="{BB962C8B-B14F-4D97-AF65-F5344CB8AC3E}">
        <p14:creationId xmlns:p14="http://schemas.microsoft.com/office/powerpoint/2010/main" val="611411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9DE9E-DA89-E472-D0FF-E208DBF28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D087F3-E517-CCB0-D2A0-773544368EDE}"/>
              </a:ext>
            </a:extLst>
          </p:cNvPr>
          <p:cNvSpPr>
            <a:spLocks noGrp="1"/>
          </p:cNvSpPr>
          <p:nvPr>
            <p:ph type="title"/>
          </p:nvPr>
        </p:nvSpPr>
        <p:spPr/>
        <p:txBody>
          <a:bodyPr/>
          <a:lstStyle/>
          <a:p>
            <a:r>
              <a:rPr lang="en-IN" dirty="0"/>
              <a:t>Tracking – Burn Charts</a:t>
            </a:r>
          </a:p>
        </p:txBody>
      </p:sp>
      <p:sp>
        <p:nvSpPr>
          <p:cNvPr id="3" name="Content Placeholder 2">
            <a:extLst>
              <a:ext uri="{FF2B5EF4-FFF2-40B4-BE49-F238E27FC236}">
                <a16:creationId xmlns:a16="http://schemas.microsoft.com/office/drawing/2014/main" id="{D670FEFA-D4EF-44A6-2CA2-36F3D6F67D8F}"/>
              </a:ext>
            </a:extLst>
          </p:cNvPr>
          <p:cNvSpPr>
            <a:spLocks noGrp="1"/>
          </p:cNvSpPr>
          <p:nvPr>
            <p:ph idx="1"/>
          </p:nvPr>
        </p:nvSpPr>
        <p:spPr>
          <a:xfrm>
            <a:off x="266330" y="1020932"/>
            <a:ext cx="8611340" cy="5700544"/>
          </a:xfrm>
        </p:spPr>
        <p:txBody>
          <a:bodyPr>
            <a:normAutofit/>
          </a:bodyPr>
          <a:lstStyle/>
          <a:p>
            <a:r>
              <a:rPr lang="en-US" b="1" dirty="0"/>
              <a:t>Burn-Up Charts</a:t>
            </a:r>
          </a:p>
          <a:p>
            <a:r>
              <a:rPr lang="en-US" dirty="0"/>
              <a:t>Burn-up charts are a way to depict progress toward a product’s release goal.</a:t>
            </a:r>
          </a:p>
          <a:p>
            <a:r>
              <a:rPr lang="en-US" dirty="0"/>
              <a:t>Typically, time is on the X axis, either in sprints, months, or quarters, and the Y axis represents the release at completion. </a:t>
            </a:r>
          </a:p>
          <a:p>
            <a:r>
              <a:rPr lang="en-US" dirty="0"/>
              <a:t>The Y axis </a:t>
            </a:r>
            <a:br>
              <a:rPr lang="en-US" dirty="0"/>
            </a:br>
            <a:r>
              <a:rPr lang="en-US" dirty="0"/>
              <a:t>can be </a:t>
            </a:r>
            <a:br>
              <a:rPr lang="en-US" dirty="0"/>
            </a:br>
            <a:r>
              <a:rPr lang="en-US" dirty="0"/>
              <a:t>either story </a:t>
            </a:r>
            <a:br>
              <a:rPr lang="en-US" dirty="0"/>
            </a:br>
            <a:r>
              <a:rPr lang="en-US" dirty="0"/>
              <a:t>points or </a:t>
            </a:r>
            <a:br>
              <a:rPr lang="en-US" dirty="0"/>
            </a:br>
            <a:r>
              <a:rPr lang="en-US" dirty="0"/>
              <a:t>feature </a:t>
            </a:r>
            <a:br>
              <a:rPr lang="en-US" dirty="0"/>
            </a:br>
            <a:r>
              <a:rPr lang="en-US" dirty="0"/>
              <a:t>descriptions.</a:t>
            </a:r>
            <a:endParaRPr lang="en-IN" dirty="0"/>
          </a:p>
        </p:txBody>
      </p:sp>
      <p:sp>
        <p:nvSpPr>
          <p:cNvPr id="4" name="Slide Number Placeholder 3">
            <a:extLst>
              <a:ext uri="{FF2B5EF4-FFF2-40B4-BE49-F238E27FC236}">
                <a16:creationId xmlns:a16="http://schemas.microsoft.com/office/drawing/2014/main" id="{F431D546-99A0-B153-52BB-FF676772166A}"/>
              </a:ext>
            </a:extLst>
          </p:cNvPr>
          <p:cNvSpPr>
            <a:spLocks noGrp="1"/>
          </p:cNvSpPr>
          <p:nvPr>
            <p:ph type="sldNum" sz="quarter" idx="12"/>
          </p:nvPr>
        </p:nvSpPr>
        <p:spPr/>
        <p:txBody>
          <a:bodyPr/>
          <a:lstStyle/>
          <a:p>
            <a:fld id="{C70AC583-F9E3-4A59-98F2-FD7379A90CB7}" type="slidenum">
              <a:rPr lang="en-IN" smtClean="0"/>
              <a:pPr/>
              <a:t>21</a:t>
            </a:fld>
            <a:endParaRPr lang="en-IN" b="0" dirty="0"/>
          </a:p>
        </p:txBody>
      </p:sp>
      <p:pic>
        <p:nvPicPr>
          <p:cNvPr id="6" name="Picture 5">
            <a:extLst>
              <a:ext uri="{FF2B5EF4-FFF2-40B4-BE49-F238E27FC236}">
                <a16:creationId xmlns:a16="http://schemas.microsoft.com/office/drawing/2014/main" id="{1849B283-2A5C-9829-47D6-25F3E61EBEC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2444597" y="3429000"/>
            <a:ext cx="6699403" cy="2879134"/>
          </a:xfrm>
          <a:prstGeom prst="rect">
            <a:avLst/>
          </a:prstGeom>
        </p:spPr>
      </p:pic>
    </p:spTree>
    <p:extLst>
      <p:ext uri="{BB962C8B-B14F-4D97-AF65-F5344CB8AC3E}">
        <p14:creationId xmlns:p14="http://schemas.microsoft.com/office/powerpoint/2010/main" val="1957755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37948-52BD-3C1D-090C-0D9382110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85608-AB7A-7439-285D-5E1E527AB372}"/>
              </a:ext>
            </a:extLst>
          </p:cNvPr>
          <p:cNvSpPr>
            <a:spLocks noGrp="1"/>
          </p:cNvSpPr>
          <p:nvPr>
            <p:ph type="title"/>
          </p:nvPr>
        </p:nvSpPr>
        <p:spPr/>
        <p:txBody>
          <a:bodyPr/>
          <a:lstStyle/>
          <a:p>
            <a:r>
              <a:rPr lang="en-IN" dirty="0"/>
              <a:t>Tracking – Burn Charts</a:t>
            </a:r>
          </a:p>
        </p:txBody>
      </p:sp>
      <p:sp>
        <p:nvSpPr>
          <p:cNvPr id="3" name="Content Placeholder 2">
            <a:extLst>
              <a:ext uri="{FF2B5EF4-FFF2-40B4-BE49-F238E27FC236}">
                <a16:creationId xmlns:a16="http://schemas.microsoft.com/office/drawing/2014/main" id="{057F30F0-1AC2-C0D1-3839-E68A089F8833}"/>
              </a:ext>
            </a:extLst>
          </p:cNvPr>
          <p:cNvSpPr>
            <a:spLocks noGrp="1"/>
          </p:cNvSpPr>
          <p:nvPr>
            <p:ph idx="1"/>
          </p:nvPr>
        </p:nvSpPr>
        <p:spPr>
          <a:xfrm>
            <a:off x="266330" y="1020932"/>
            <a:ext cx="8611340" cy="5700544"/>
          </a:xfrm>
        </p:spPr>
        <p:txBody>
          <a:bodyPr>
            <a:normAutofit/>
          </a:bodyPr>
          <a:lstStyle/>
          <a:p>
            <a:r>
              <a:rPr lang="en-US" b="1" dirty="0"/>
              <a:t>Burn-Down Charts</a:t>
            </a:r>
          </a:p>
          <a:p>
            <a:r>
              <a:rPr lang="en-US" dirty="0"/>
              <a:t>Burn-down charts serve a different purpose: These are the daily status checks for the team relative to where they expected to be at a particular point in time.</a:t>
            </a:r>
          </a:p>
          <a:p>
            <a:r>
              <a:rPr lang="en-US" dirty="0"/>
              <a:t>This is a critical tracking element within a sprint or iteration to ensure that any necessary course correction is identified and addressed as early as possible.</a:t>
            </a:r>
          </a:p>
          <a:p>
            <a:r>
              <a:rPr lang="en-US" dirty="0"/>
              <a:t>The team can see </a:t>
            </a:r>
            <a:br>
              <a:rPr lang="en-US" dirty="0"/>
            </a:br>
            <a:r>
              <a:rPr lang="en-US" dirty="0"/>
              <a:t>the total number </a:t>
            </a:r>
            <a:br>
              <a:rPr lang="en-US" dirty="0"/>
            </a:br>
            <a:r>
              <a:rPr lang="en-US" dirty="0"/>
              <a:t>of hours allocated </a:t>
            </a:r>
            <a:br>
              <a:rPr lang="en-US" dirty="0"/>
            </a:br>
            <a:r>
              <a:rPr lang="en-US" dirty="0"/>
              <a:t>to the sprint and </a:t>
            </a:r>
            <a:br>
              <a:rPr lang="en-US" dirty="0"/>
            </a:br>
            <a:r>
              <a:rPr lang="en-US" dirty="0"/>
              <a:t>track their actual </a:t>
            </a:r>
            <a:br>
              <a:rPr lang="en-US" dirty="0"/>
            </a:br>
            <a:r>
              <a:rPr lang="en-US" dirty="0"/>
              <a:t>progress against the target.</a:t>
            </a:r>
            <a:endParaRPr lang="en-IN" dirty="0"/>
          </a:p>
        </p:txBody>
      </p:sp>
      <p:sp>
        <p:nvSpPr>
          <p:cNvPr id="4" name="Slide Number Placeholder 3">
            <a:extLst>
              <a:ext uri="{FF2B5EF4-FFF2-40B4-BE49-F238E27FC236}">
                <a16:creationId xmlns:a16="http://schemas.microsoft.com/office/drawing/2014/main" id="{B7B89637-793A-1D25-29BC-F2FDF0A24655}"/>
              </a:ext>
            </a:extLst>
          </p:cNvPr>
          <p:cNvSpPr>
            <a:spLocks noGrp="1"/>
          </p:cNvSpPr>
          <p:nvPr>
            <p:ph type="sldNum" sz="quarter" idx="12"/>
          </p:nvPr>
        </p:nvSpPr>
        <p:spPr/>
        <p:txBody>
          <a:bodyPr/>
          <a:lstStyle/>
          <a:p>
            <a:fld id="{C70AC583-F9E3-4A59-98F2-FD7379A90CB7}" type="slidenum">
              <a:rPr lang="en-IN" smtClean="0"/>
              <a:pPr/>
              <a:t>22</a:t>
            </a:fld>
            <a:endParaRPr lang="en-IN" b="0" dirty="0"/>
          </a:p>
        </p:txBody>
      </p:sp>
      <p:pic>
        <p:nvPicPr>
          <p:cNvPr id="7" name="Picture 6">
            <a:extLst>
              <a:ext uri="{FF2B5EF4-FFF2-40B4-BE49-F238E27FC236}">
                <a16:creationId xmlns:a16="http://schemas.microsoft.com/office/drawing/2014/main" id="{89A382E8-577D-1A78-F110-7830E1DE2A0C}"/>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3336702" y="3913632"/>
            <a:ext cx="5693553" cy="2835911"/>
          </a:xfrm>
          <a:prstGeom prst="rect">
            <a:avLst/>
          </a:prstGeom>
        </p:spPr>
      </p:pic>
    </p:spTree>
    <p:extLst>
      <p:ext uri="{BB962C8B-B14F-4D97-AF65-F5344CB8AC3E}">
        <p14:creationId xmlns:p14="http://schemas.microsoft.com/office/powerpoint/2010/main" val="1433041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F2EA-BA54-F937-EB00-0BA302C1209E}"/>
              </a:ext>
            </a:extLst>
          </p:cNvPr>
          <p:cNvSpPr>
            <a:spLocks noGrp="1"/>
          </p:cNvSpPr>
          <p:nvPr>
            <p:ph type="title"/>
          </p:nvPr>
        </p:nvSpPr>
        <p:spPr/>
        <p:txBody>
          <a:bodyPr/>
          <a:lstStyle/>
          <a:p>
            <a:r>
              <a:rPr lang="en-IN" dirty="0"/>
              <a:t>Information Radiators</a:t>
            </a:r>
          </a:p>
        </p:txBody>
      </p:sp>
      <p:sp>
        <p:nvSpPr>
          <p:cNvPr id="3" name="Content Placeholder 2">
            <a:extLst>
              <a:ext uri="{FF2B5EF4-FFF2-40B4-BE49-F238E27FC236}">
                <a16:creationId xmlns:a16="http://schemas.microsoft.com/office/drawing/2014/main" id="{985319C1-7C20-2C0C-D9B4-9E976FA87215}"/>
              </a:ext>
            </a:extLst>
          </p:cNvPr>
          <p:cNvSpPr>
            <a:spLocks noGrp="1"/>
          </p:cNvSpPr>
          <p:nvPr>
            <p:ph idx="1"/>
          </p:nvPr>
        </p:nvSpPr>
        <p:spPr/>
        <p:txBody>
          <a:bodyPr/>
          <a:lstStyle/>
          <a:p>
            <a:r>
              <a:rPr lang="en-US" dirty="0"/>
              <a:t>Information radiators are anything posted in the team members’ physical space that they will walk by or see on a regular basis. </a:t>
            </a:r>
          </a:p>
          <a:p>
            <a:r>
              <a:rPr lang="en-US" dirty="0"/>
              <a:t>The idea is that the information radiates into the team’s subconscious because they encounter the information regularly. </a:t>
            </a:r>
          </a:p>
          <a:p>
            <a:r>
              <a:rPr lang="en-US" dirty="0"/>
              <a:t>Radiators work in much the same way </a:t>
            </a:r>
            <a:br>
              <a:rPr lang="en-US" dirty="0"/>
            </a:br>
            <a:r>
              <a:rPr lang="en-US" dirty="0"/>
              <a:t>as advertisements on billboards along </a:t>
            </a:r>
            <a:br>
              <a:rPr lang="en-US" dirty="0"/>
            </a:br>
            <a:r>
              <a:rPr lang="en-US" dirty="0"/>
              <a:t>the freeway. </a:t>
            </a:r>
          </a:p>
          <a:p>
            <a:r>
              <a:rPr lang="en-US" dirty="0"/>
              <a:t>They encourage you to think about </a:t>
            </a:r>
            <a:br>
              <a:rPr lang="en-US" dirty="0"/>
            </a:br>
            <a:r>
              <a:rPr lang="en-US" dirty="0"/>
              <a:t>ideas because they are presented to </a:t>
            </a:r>
            <a:br>
              <a:rPr lang="en-US" dirty="0"/>
            </a:br>
            <a:r>
              <a:rPr lang="en-US" dirty="0"/>
              <a:t>you regularly.</a:t>
            </a:r>
            <a:endParaRPr lang="en-IN" dirty="0"/>
          </a:p>
        </p:txBody>
      </p:sp>
      <p:sp>
        <p:nvSpPr>
          <p:cNvPr id="4" name="Slide Number Placeholder 3">
            <a:extLst>
              <a:ext uri="{FF2B5EF4-FFF2-40B4-BE49-F238E27FC236}">
                <a16:creationId xmlns:a16="http://schemas.microsoft.com/office/drawing/2014/main" id="{5AC503F8-89E1-9779-8FE6-C50EB65359B0}"/>
              </a:ext>
            </a:extLst>
          </p:cNvPr>
          <p:cNvSpPr>
            <a:spLocks noGrp="1"/>
          </p:cNvSpPr>
          <p:nvPr>
            <p:ph type="sldNum" sz="quarter" idx="12"/>
          </p:nvPr>
        </p:nvSpPr>
        <p:spPr/>
        <p:txBody>
          <a:bodyPr/>
          <a:lstStyle/>
          <a:p>
            <a:fld id="{C70AC583-F9E3-4A59-98F2-FD7379A90CB7}" type="slidenum">
              <a:rPr lang="en-IN" smtClean="0"/>
              <a:pPr/>
              <a:t>23</a:t>
            </a:fld>
            <a:endParaRPr lang="en-IN" b="0" dirty="0"/>
          </a:p>
        </p:txBody>
      </p:sp>
      <p:pic>
        <p:nvPicPr>
          <p:cNvPr id="6" name="Picture 5">
            <a:extLst>
              <a:ext uri="{FF2B5EF4-FFF2-40B4-BE49-F238E27FC236}">
                <a16:creationId xmlns:a16="http://schemas.microsoft.com/office/drawing/2014/main" id="{A0018E8C-AB19-078D-4A34-519E156C411D}"/>
              </a:ext>
            </a:extLst>
          </p:cNvPr>
          <p:cNvPicPr>
            <a:picLocks noChangeAspect="1"/>
          </p:cNvPicPr>
          <p:nvPr/>
        </p:nvPicPr>
        <p:blipFill>
          <a:blip r:embed="rId2"/>
          <a:stretch>
            <a:fillRect/>
          </a:stretch>
        </p:blipFill>
        <p:spPr>
          <a:xfrm>
            <a:off x="6177618" y="3118146"/>
            <a:ext cx="2852637" cy="3603330"/>
          </a:xfrm>
          <a:prstGeom prst="rect">
            <a:avLst/>
          </a:prstGeom>
        </p:spPr>
      </p:pic>
    </p:spTree>
    <p:extLst>
      <p:ext uri="{BB962C8B-B14F-4D97-AF65-F5344CB8AC3E}">
        <p14:creationId xmlns:p14="http://schemas.microsoft.com/office/powerpoint/2010/main" val="3156741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F2EA-BA54-F937-EB00-0BA302C1209E}"/>
              </a:ext>
            </a:extLst>
          </p:cNvPr>
          <p:cNvSpPr>
            <a:spLocks noGrp="1"/>
          </p:cNvSpPr>
          <p:nvPr>
            <p:ph type="title"/>
          </p:nvPr>
        </p:nvSpPr>
        <p:spPr/>
        <p:txBody>
          <a:bodyPr/>
          <a:lstStyle/>
          <a:p>
            <a:r>
              <a:rPr lang="en-IN" dirty="0"/>
              <a:t>Information Radiators</a:t>
            </a:r>
          </a:p>
        </p:txBody>
      </p:sp>
      <p:sp>
        <p:nvSpPr>
          <p:cNvPr id="3" name="Content Placeholder 2">
            <a:extLst>
              <a:ext uri="{FF2B5EF4-FFF2-40B4-BE49-F238E27FC236}">
                <a16:creationId xmlns:a16="http://schemas.microsoft.com/office/drawing/2014/main" id="{985319C1-7C20-2C0C-D9B4-9E976FA87215}"/>
              </a:ext>
            </a:extLst>
          </p:cNvPr>
          <p:cNvSpPr>
            <a:spLocks noGrp="1"/>
          </p:cNvSpPr>
          <p:nvPr>
            <p:ph idx="1"/>
          </p:nvPr>
        </p:nvSpPr>
        <p:spPr/>
        <p:txBody>
          <a:bodyPr>
            <a:normAutofit/>
          </a:bodyPr>
          <a:lstStyle/>
          <a:p>
            <a:r>
              <a:rPr lang="en-US" dirty="0"/>
              <a:t>For some Agile teams, the information radiator might be some best practices posted on a white board, such as “We will not write new code until all defects are closed.” </a:t>
            </a:r>
          </a:p>
          <a:p>
            <a:r>
              <a:rPr lang="en-US" dirty="0"/>
              <a:t>Other teams may post the daily status in a common area so the team members know what is going on with the project and maintain a sense of urgency. </a:t>
            </a:r>
          </a:p>
          <a:p>
            <a:r>
              <a:rPr lang="en-US" dirty="0"/>
              <a:t>Some teams may even use information radiators to promote a positive culture and post birthdays or promotions for everyone to see. </a:t>
            </a:r>
          </a:p>
          <a:p>
            <a:r>
              <a:rPr lang="en-US" dirty="0"/>
              <a:t>Regardless of how a team decides to use information radiators, they are a helpful tool to promote team communication. </a:t>
            </a:r>
            <a:endParaRPr lang="en-IN" dirty="0"/>
          </a:p>
        </p:txBody>
      </p:sp>
      <p:sp>
        <p:nvSpPr>
          <p:cNvPr id="4" name="Slide Number Placeholder 3">
            <a:extLst>
              <a:ext uri="{FF2B5EF4-FFF2-40B4-BE49-F238E27FC236}">
                <a16:creationId xmlns:a16="http://schemas.microsoft.com/office/drawing/2014/main" id="{5AC503F8-89E1-9779-8FE6-C50EB65359B0}"/>
              </a:ext>
            </a:extLst>
          </p:cNvPr>
          <p:cNvSpPr>
            <a:spLocks noGrp="1"/>
          </p:cNvSpPr>
          <p:nvPr>
            <p:ph type="sldNum" sz="quarter" idx="12"/>
          </p:nvPr>
        </p:nvSpPr>
        <p:spPr/>
        <p:txBody>
          <a:bodyPr/>
          <a:lstStyle/>
          <a:p>
            <a:fld id="{C70AC583-F9E3-4A59-98F2-FD7379A90CB7}" type="slidenum">
              <a:rPr lang="en-IN" smtClean="0"/>
              <a:pPr/>
              <a:t>24</a:t>
            </a:fld>
            <a:endParaRPr lang="en-IN" b="0" dirty="0"/>
          </a:p>
        </p:txBody>
      </p:sp>
    </p:spTree>
    <p:extLst>
      <p:ext uri="{BB962C8B-B14F-4D97-AF65-F5344CB8AC3E}">
        <p14:creationId xmlns:p14="http://schemas.microsoft.com/office/powerpoint/2010/main" val="8680631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B9519-0850-0EC2-BA67-05BF46394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1E248-7E0D-236D-B2E5-950881192A72}"/>
              </a:ext>
            </a:extLst>
          </p:cNvPr>
          <p:cNvSpPr>
            <a:spLocks noGrp="1"/>
          </p:cNvSpPr>
          <p:nvPr>
            <p:ph type="title"/>
          </p:nvPr>
        </p:nvSpPr>
        <p:spPr/>
        <p:txBody>
          <a:bodyPr/>
          <a:lstStyle/>
          <a:p>
            <a:r>
              <a:rPr lang="en-IN" dirty="0"/>
              <a:t>Tracking – FDD – Parking Lots</a:t>
            </a:r>
          </a:p>
        </p:txBody>
      </p:sp>
      <p:sp>
        <p:nvSpPr>
          <p:cNvPr id="3" name="Content Placeholder 2">
            <a:extLst>
              <a:ext uri="{FF2B5EF4-FFF2-40B4-BE49-F238E27FC236}">
                <a16:creationId xmlns:a16="http://schemas.microsoft.com/office/drawing/2014/main" id="{A45751A1-9C80-7A8C-FFE2-2A8CE58DAC64}"/>
              </a:ext>
            </a:extLst>
          </p:cNvPr>
          <p:cNvSpPr>
            <a:spLocks noGrp="1"/>
          </p:cNvSpPr>
          <p:nvPr>
            <p:ph idx="1"/>
          </p:nvPr>
        </p:nvSpPr>
        <p:spPr>
          <a:xfrm>
            <a:off x="266330" y="1020932"/>
            <a:ext cx="8611340" cy="5700544"/>
          </a:xfrm>
        </p:spPr>
        <p:txBody>
          <a:bodyPr>
            <a:normAutofit/>
          </a:bodyPr>
          <a:lstStyle/>
          <a:p>
            <a:r>
              <a:rPr lang="en-US" dirty="0"/>
              <a:t>FDD incorporates an excellent way to track progress on larger projects where many activities are contributing to a cohesive whole.</a:t>
            </a:r>
          </a:p>
          <a:p>
            <a:r>
              <a:rPr lang="en-US" dirty="0"/>
              <a:t>For our Cayman Design project, we want to create and sell weather-related calendars to customers; this is a large departure from the other features in our weather app because we have to consider inventory, shipping, and payment details. </a:t>
            </a:r>
            <a:endParaRPr lang="en-IN" dirty="0"/>
          </a:p>
        </p:txBody>
      </p:sp>
      <p:sp>
        <p:nvSpPr>
          <p:cNvPr id="4" name="Slide Number Placeholder 3">
            <a:extLst>
              <a:ext uri="{FF2B5EF4-FFF2-40B4-BE49-F238E27FC236}">
                <a16:creationId xmlns:a16="http://schemas.microsoft.com/office/drawing/2014/main" id="{D0BAF1DE-BD7B-63DE-0B46-F8761BE7ED9D}"/>
              </a:ext>
            </a:extLst>
          </p:cNvPr>
          <p:cNvSpPr>
            <a:spLocks noGrp="1"/>
          </p:cNvSpPr>
          <p:nvPr>
            <p:ph type="sldNum" sz="quarter" idx="12"/>
          </p:nvPr>
        </p:nvSpPr>
        <p:spPr/>
        <p:txBody>
          <a:bodyPr/>
          <a:lstStyle/>
          <a:p>
            <a:fld id="{C70AC583-F9E3-4A59-98F2-FD7379A90CB7}" type="slidenum">
              <a:rPr lang="en-IN" smtClean="0"/>
              <a:pPr/>
              <a:t>25</a:t>
            </a:fld>
            <a:endParaRPr lang="en-IN" b="0" dirty="0"/>
          </a:p>
        </p:txBody>
      </p:sp>
      <p:pic>
        <p:nvPicPr>
          <p:cNvPr id="6" name="Picture 5">
            <a:extLst>
              <a:ext uri="{FF2B5EF4-FFF2-40B4-BE49-F238E27FC236}">
                <a16:creationId xmlns:a16="http://schemas.microsoft.com/office/drawing/2014/main" id="{9AB67B4B-1FB5-7DAD-211C-6762A6F4815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792993" y="4037954"/>
            <a:ext cx="5882128" cy="2683522"/>
          </a:xfrm>
          <a:prstGeom prst="rect">
            <a:avLst/>
          </a:prstGeom>
        </p:spPr>
      </p:pic>
    </p:spTree>
    <p:extLst>
      <p:ext uri="{BB962C8B-B14F-4D97-AF65-F5344CB8AC3E}">
        <p14:creationId xmlns:p14="http://schemas.microsoft.com/office/powerpoint/2010/main" val="3646918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B9519-0850-0EC2-BA67-05BF46394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1E248-7E0D-236D-B2E5-950881192A72}"/>
              </a:ext>
            </a:extLst>
          </p:cNvPr>
          <p:cNvSpPr>
            <a:spLocks noGrp="1"/>
          </p:cNvSpPr>
          <p:nvPr>
            <p:ph type="title"/>
          </p:nvPr>
        </p:nvSpPr>
        <p:spPr/>
        <p:txBody>
          <a:bodyPr/>
          <a:lstStyle/>
          <a:p>
            <a:r>
              <a:rPr lang="en-IN" dirty="0"/>
              <a:t>Tracking – FDD – Parking Lots</a:t>
            </a:r>
          </a:p>
        </p:txBody>
      </p:sp>
      <p:sp>
        <p:nvSpPr>
          <p:cNvPr id="3" name="Content Placeholder 2">
            <a:extLst>
              <a:ext uri="{FF2B5EF4-FFF2-40B4-BE49-F238E27FC236}">
                <a16:creationId xmlns:a16="http://schemas.microsoft.com/office/drawing/2014/main" id="{A45751A1-9C80-7A8C-FFE2-2A8CE58DAC64}"/>
              </a:ext>
            </a:extLst>
          </p:cNvPr>
          <p:cNvSpPr>
            <a:spLocks noGrp="1"/>
          </p:cNvSpPr>
          <p:nvPr>
            <p:ph idx="1"/>
          </p:nvPr>
        </p:nvSpPr>
        <p:spPr>
          <a:xfrm>
            <a:off x="266330" y="1020932"/>
            <a:ext cx="8611340" cy="5824836"/>
          </a:xfrm>
        </p:spPr>
        <p:txBody>
          <a:bodyPr>
            <a:normAutofit fontScale="92500" lnSpcReduction="10000"/>
          </a:bodyPr>
          <a:lstStyle/>
          <a:p>
            <a:r>
              <a:rPr lang="en-US" dirty="0"/>
              <a:t>FDD incorporates an excellent way to track progress on larger projects where many activities are contributing to a cohesive whole.</a:t>
            </a:r>
          </a:p>
          <a:p>
            <a:r>
              <a:rPr lang="en-US" dirty="0"/>
              <a:t>For our Cayman Design project, we want to create and sell weather-related calendars to customers; this is a large departure from the other features in our weather app because we have to consider inventory, shipping, and payment details. </a:t>
            </a:r>
          </a:p>
          <a:p>
            <a:r>
              <a:rPr lang="en-US" dirty="0"/>
              <a:t>“Collect Customer Information” consists of seven stories </a:t>
            </a:r>
            <a:br>
              <a:rPr lang="en-US" dirty="0"/>
            </a:br>
            <a:r>
              <a:rPr lang="en-US" dirty="0"/>
              <a:t>totaling 32 points. </a:t>
            </a:r>
          </a:p>
          <a:p>
            <a:r>
              <a:rPr lang="en-US" dirty="0"/>
              <a:t>At this moment, we are 75% complete, </a:t>
            </a:r>
            <a:br>
              <a:rPr lang="en-US" dirty="0"/>
            </a:br>
            <a:r>
              <a:rPr lang="en-US" dirty="0"/>
              <a:t>and the feature is needed by </a:t>
            </a:r>
            <a:br>
              <a:rPr lang="en-US" dirty="0"/>
            </a:br>
            <a:r>
              <a:rPr lang="en-US" dirty="0"/>
              <a:t>August 2014. </a:t>
            </a:r>
          </a:p>
          <a:p>
            <a:r>
              <a:rPr lang="en-US" dirty="0"/>
              <a:t>The color on the story can indicate </a:t>
            </a:r>
            <a:br>
              <a:rPr lang="en-US" dirty="0"/>
            </a:br>
            <a:r>
              <a:rPr lang="en-US" dirty="0"/>
              <a:t>its health, this particular story </a:t>
            </a:r>
            <a:br>
              <a:rPr lang="en-US" dirty="0"/>
            </a:br>
            <a:r>
              <a:rPr lang="en-US" dirty="0"/>
              <a:t>being yellow, meaning it is in jeopardy.</a:t>
            </a:r>
            <a:endParaRPr lang="en-IN" dirty="0"/>
          </a:p>
        </p:txBody>
      </p:sp>
      <p:sp>
        <p:nvSpPr>
          <p:cNvPr id="4" name="Slide Number Placeholder 3">
            <a:extLst>
              <a:ext uri="{FF2B5EF4-FFF2-40B4-BE49-F238E27FC236}">
                <a16:creationId xmlns:a16="http://schemas.microsoft.com/office/drawing/2014/main" id="{D0BAF1DE-BD7B-63DE-0B46-F8761BE7ED9D}"/>
              </a:ext>
            </a:extLst>
          </p:cNvPr>
          <p:cNvSpPr>
            <a:spLocks noGrp="1"/>
          </p:cNvSpPr>
          <p:nvPr>
            <p:ph type="sldNum" sz="quarter" idx="12"/>
          </p:nvPr>
        </p:nvSpPr>
        <p:spPr/>
        <p:txBody>
          <a:bodyPr/>
          <a:lstStyle/>
          <a:p>
            <a:fld id="{C70AC583-F9E3-4A59-98F2-FD7379A90CB7}" type="slidenum">
              <a:rPr lang="en-IN" smtClean="0"/>
              <a:pPr/>
              <a:t>26</a:t>
            </a:fld>
            <a:endParaRPr lang="en-IN" b="0" dirty="0"/>
          </a:p>
        </p:txBody>
      </p:sp>
      <p:pic>
        <p:nvPicPr>
          <p:cNvPr id="6" name="Picture 5">
            <a:extLst>
              <a:ext uri="{FF2B5EF4-FFF2-40B4-BE49-F238E27FC236}">
                <a16:creationId xmlns:a16="http://schemas.microsoft.com/office/drawing/2014/main" id="{9AB67B4B-1FB5-7DAD-211C-6762A6F4815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4030599" y="4430388"/>
            <a:ext cx="5294376" cy="2415380"/>
          </a:xfrm>
          <a:prstGeom prst="rect">
            <a:avLst/>
          </a:prstGeom>
        </p:spPr>
      </p:pic>
    </p:spTree>
    <p:extLst>
      <p:ext uri="{BB962C8B-B14F-4D97-AF65-F5344CB8AC3E}">
        <p14:creationId xmlns:p14="http://schemas.microsoft.com/office/powerpoint/2010/main" val="587138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B14D4-2897-7E40-D5AE-8DD4158A5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87E37-58A8-2D11-AE56-7436F4BCC7D3}"/>
              </a:ext>
            </a:extLst>
          </p:cNvPr>
          <p:cNvSpPr>
            <a:spLocks noGrp="1"/>
          </p:cNvSpPr>
          <p:nvPr>
            <p:ph type="title"/>
          </p:nvPr>
        </p:nvSpPr>
        <p:spPr/>
        <p:txBody>
          <a:bodyPr/>
          <a:lstStyle/>
          <a:p>
            <a:r>
              <a:rPr lang="en-IN" dirty="0"/>
              <a:t>Tracking – FDD – Parking Lots</a:t>
            </a:r>
          </a:p>
        </p:txBody>
      </p:sp>
      <p:pic>
        <p:nvPicPr>
          <p:cNvPr id="7" name="Content Placeholder 6">
            <a:extLst>
              <a:ext uri="{FF2B5EF4-FFF2-40B4-BE49-F238E27FC236}">
                <a16:creationId xmlns:a16="http://schemas.microsoft.com/office/drawing/2014/main" id="{7CC7B840-B4A0-4D24-B067-9E1110FB4098}"/>
              </a:ext>
            </a:extLst>
          </p:cNvPr>
          <p:cNvPicPr>
            <a:picLocks noGrp="1" noChangeAspect="1"/>
          </p:cNvPicPr>
          <p:nvPr>
            <p:ph idx="1"/>
          </p:nvPr>
        </p:nvPicPr>
        <p:blipFill>
          <a:blip r:embed="rId2"/>
          <a:stretch>
            <a:fillRect/>
          </a:stretch>
        </p:blipFill>
        <p:spPr>
          <a:xfrm>
            <a:off x="1371153" y="1113238"/>
            <a:ext cx="6401693" cy="5639587"/>
          </a:xfrm>
          <a:prstGeom prst="rect">
            <a:avLst/>
          </a:prstGeom>
        </p:spPr>
      </p:pic>
      <p:sp>
        <p:nvSpPr>
          <p:cNvPr id="4" name="Slide Number Placeholder 3">
            <a:extLst>
              <a:ext uri="{FF2B5EF4-FFF2-40B4-BE49-F238E27FC236}">
                <a16:creationId xmlns:a16="http://schemas.microsoft.com/office/drawing/2014/main" id="{9AB9426E-534C-6567-A9DF-06AA1099DC93}"/>
              </a:ext>
            </a:extLst>
          </p:cNvPr>
          <p:cNvSpPr>
            <a:spLocks noGrp="1"/>
          </p:cNvSpPr>
          <p:nvPr>
            <p:ph type="sldNum" sz="quarter" idx="12"/>
          </p:nvPr>
        </p:nvSpPr>
        <p:spPr/>
        <p:txBody>
          <a:bodyPr/>
          <a:lstStyle/>
          <a:p>
            <a:fld id="{C70AC583-F9E3-4A59-98F2-FD7379A90CB7}" type="slidenum">
              <a:rPr lang="en-IN" smtClean="0"/>
              <a:pPr/>
              <a:t>27</a:t>
            </a:fld>
            <a:endParaRPr lang="en-IN" b="0" dirty="0"/>
          </a:p>
        </p:txBody>
      </p:sp>
    </p:spTree>
    <p:extLst>
      <p:ext uri="{BB962C8B-B14F-4D97-AF65-F5344CB8AC3E}">
        <p14:creationId xmlns:p14="http://schemas.microsoft.com/office/powerpoint/2010/main" val="394378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D40C-3AD3-1FA0-400C-24A4D6239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92BB5-304E-23C1-FF29-DEDD6A7644F9}"/>
              </a:ext>
            </a:extLst>
          </p:cNvPr>
          <p:cNvSpPr>
            <a:spLocks noGrp="1"/>
          </p:cNvSpPr>
          <p:nvPr>
            <p:ph type="title"/>
          </p:nvPr>
        </p:nvSpPr>
        <p:spPr/>
        <p:txBody>
          <a:bodyPr/>
          <a:lstStyle/>
          <a:p>
            <a:r>
              <a:rPr lang="en-IN" dirty="0"/>
              <a:t>Tracking – FDD – Parking Lots</a:t>
            </a:r>
          </a:p>
        </p:txBody>
      </p:sp>
      <p:sp>
        <p:nvSpPr>
          <p:cNvPr id="3" name="Content Placeholder 2">
            <a:extLst>
              <a:ext uri="{FF2B5EF4-FFF2-40B4-BE49-F238E27FC236}">
                <a16:creationId xmlns:a16="http://schemas.microsoft.com/office/drawing/2014/main" id="{8C62C1DF-7567-F04D-43E2-B157EFD39F5F}"/>
              </a:ext>
            </a:extLst>
          </p:cNvPr>
          <p:cNvSpPr>
            <a:spLocks noGrp="1"/>
          </p:cNvSpPr>
          <p:nvPr>
            <p:ph idx="1"/>
          </p:nvPr>
        </p:nvSpPr>
        <p:spPr>
          <a:xfrm>
            <a:off x="266330" y="1020932"/>
            <a:ext cx="8611340" cy="5824836"/>
          </a:xfrm>
        </p:spPr>
        <p:txBody>
          <a:bodyPr>
            <a:normAutofit/>
          </a:bodyPr>
          <a:lstStyle/>
          <a:p>
            <a:r>
              <a:rPr lang="en-US" dirty="0"/>
              <a:t>From this parking lot view, you can get an immediate sense for the project health, even though we are looking at a total of 66 stories and 325 points. </a:t>
            </a:r>
          </a:p>
          <a:p>
            <a:r>
              <a:rPr lang="en-US" dirty="0"/>
              <a:t>You can add teams/owners to each parking lot and define a more detailed color scheme as needed for your particular project. </a:t>
            </a:r>
          </a:p>
          <a:p>
            <a:r>
              <a:rPr lang="en-US" dirty="0"/>
              <a:t>FDD’s model-driven approach allows it to scale to support large, complex projects</a:t>
            </a:r>
            <a:endParaRPr lang="en-IN" dirty="0"/>
          </a:p>
        </p:txBody>
      </p:sp>
      <p:sp>
        <p:nvSpPr>
          <p:cNvPr id="4" name="Slide Number Placeholder 3">
            <a:extLst>
              <a:ext uri="{FF2B5EF4-FFF2-40B4-BE49-F238E27FC236}">
                <a16:creationId xmlns:a16="http://schemas.microsoft.com/office/drawing/2014/main" id="{658CDC49-1D47-6CB7-F2F1-E18D1F669CB0}"/>
              </a:ext>
            </a:extLst>
          </p:cNvPr>
          <p:cNvSpPr>
            <a:spLocks noGrp="1"/>
          </p:cNvSpPr>
          <p:nvPr>
            <p:ph type="sldNum" sz="quarter" idx="12"/>
          </p:nvPr>
        </p:nvSpPr>
        <p:spPr/>
        <p:txBody>
          <a:bodyPr/>
          <a:lstStyle/>
          <a:p>
            <a:fld id="{C70AC583-F9E3-4A59-98F2-FD7379A90CB7}" type="slidenum">
              <a:rPr lang="en-IN" smtClean="0"/>
              <a:pPr/>
              <a:t>28</a:t>
            </a:fld>
            <a:endParaRPr lang="en-IN" b="0" dirty="0"/>
          </a:p>
        </p:txBody>
      </p:sp>
    </p:spTree>
    <p:extLst>
      <p:ext uri="{BB962C8B-B14F-4D97-AF65-F5344CB8AC3E}">
        <p14:creationId xmlns:p14="http://schemas.microsoft.com/office/powerpoint/2010/main" val="1524547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03E4-1A03-C275-EFA7-51CEB6C85025}"/>
              </a:ext>
            </a:extLst>
          </p:cNvPr>
          <p:cNvSpPr>
            <a:spLocks noGrp="1"/>
          </p:cNvSpPr>
          <p:nvPr>
            <p:ph type="title"/>
          </p:nvPr>
        </p:nvSpPr>
        <p:spPr/>
        <p:txBody>
          <a:bodyPr/>
          <a:lstStyle/>
          <a:p>
            <a:r>
              <a:rPr lang="en-IN" dirty="0"/>
              <a:t>Meetings or Ceremonies</a:t>
            </a:r>
          </a:p>
        </p:txBody>
      </p:sp>
      <p:sp>
        <p:nvSpPr>
          <p:cNvPr id="3" name="Content Placeholder 2">
            <a:extLst>
              <a:ext uri="{FF2B5EF4-FFF2-40B4-BE49-F238E27FC236}">
                <a16:creationId xmlns:a16="http://schemas.microsoft.com/office/drawing/2014/main" id="{109AE357-A676-2CFE-4A0A-8BAEE43F42CD}"/>
              </a:ext>
            </a:extLst>
          </p:cNvPr>
          <p:cNvSpPr>
            <a:spLocks noGrp="1"/>
          </p:cNvSpPr>
          <p:nvPr>
            <p:ph idx="1"/>
          </p:nvPr>
        </p:nvSpPr>
        <p:spPr/>
        <p:txBody>
          <a:bodyPr/>
          <a:lstStyle/>
          <a:p>
            <a:r>
              <a:rPr lang="en-US" dirty="0"/>
              <a:t>Because the teams are working hard during the sprint or iteration to design, code, and test the requirements, we need a mechanism to keep track of their progress and make sure everything is working well on the teams. </a:t>
            </a:r>
          </a:p>
          <a:p>
            <a:r>
              <a:rPr lang="en-US" dirty="0"/>
              <a:t>Similar to how the XP tracker asks each developer how things are going, Scrum, Lean, and DSDM all recommend a daily stand-up meeting, sometimes called the daily Scrum.</a:t>
            </a:r>
            <a:endParaRPr lang="en-IN" dirty="0"/>
          </a:p>
        </p:txBody>
      </p:sp>
      <p:sp>
        <p:nvSpPr>
          <p:cNvPr id="4" name="Slide Number Placeholder 3">
            <a:extLst>
              <a:ext uri="{FF2B5EF4-FFF2-40B4-BE49-F238E27FC236}">
                <a16:creationId xmlns:a16="http://schemas.microsoft.com/office/drawing/2014/main" id="{9F2D7F68-16D1-C13F-BFD0-F6EC80A23DB7}"/>
              </a:ext>
            </a:extLst>
          </p:cNvPr>
          <p:cNvSpPr>
            <a:spLocks noGrp="1"/>
          </p:cNvSpPr>
          <p:nvPr>
            <p:ph type="sldNum" sz="quarter" idx="12"/>
          </p:nvPr>
        </p:nvSpPr>
        <p:spPr/>
        <p:txBody>
          <a:bodyPr/>
          <a:lstStyle/>
          <a:p>
            <a:fld id="{C70AC583-F9E3-4A59-98F2-FD7379A90CB7}" type="slidenum">
              <a:rPr lang="en-IN" smtClean="0"/>
              <a:pPr/>
              <a:t>29</a:t>
            </a:fld>
            <a:endParaRPr lang="en-IN" b="0" dirty="0"/>
          </a:p>
        </p:txBody>
      </p:sp>
    </p:spTree>
    <p:extLst>
      <p:ext uri="{BB962C8B-B14F-4D97-AF65-F5344CB8AC3E}">
        <p14:creationId xmlns:p14="http://schemas.microsoft.com/office/powerpoint/2010/main" val="2642809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AF07D-C6F4-FC49-0ACC-9E421D520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99BEB-4F95-D983-01EC-D94B3529E391}"/>
              </a:ext>
            </a:extLst>
          </p:cNvPr>
          <p:cNvSpPr>
            <a:spLocks noGrp="1"/>
          </p:cNvSpPr>
          <p:nvPr>
            <p:ph type="title"/>
          </p:nvPr>
        </p:nvSpPr>
        <p:spPr/>
        <p:txBody>
          <a:bodyPr/>
          <a:lstStyle/>
          <a:p>
            <a:r>
              <a:rPr lang="en-IN" dirty="0"/>
              <a:t>Meetings or Ceremonies</a:t>
            </a:r>
          </a:p>
        </p:txBody>
      </p:sp>
      <p:sp>
        <p:nvSpPr>
          <p:cNvPr id="3" name="Content Placeholder 2">
            <a:extLst>
              <a:ext uri="{FF2B5EF4-FFF2-40B4-BE49-F238E27FC236}">
                <a16:creationId xmlns:a16="http://schemas.microsoft.com/office/drawing/2014/main" id="{C142D696-ECE2-15B4-7C7A-1C82E5044B7F}"/>
              </a:ext>
            </a:extLst>
          </p:cNvPr>
          <p:cNvSpPr>
            <a:spLocks noGrp="1"/>
          </p:cNvSpPr>
          <p:nvPr>
            <p:ph idx="1"/>
          </p:nvPr>
        </p:nvSpPr>
        <p:spPr/>
        <p:txBody>
          <a:bodyPr/>
          <a:lstStyle/>
          <a:p>
            <a:r>
              <a:rPr lang="en-US" b="1" dirty="0"/>
              <a:t>Daily Stand-Up Meeting</a:t>
            </a:r>
          </a:p>
          <a:p>
            <a:r>
              <a:rPr lang="en-US" dirty="0"/>
              <a:t>Development teams use the daily stand-up meeting to do a quick status check and prepare the team for the day. </a:t>
            </a:r>
          </a:p>
          <a:p>
            <a:r>
              <a:rPr lang="en-US" dirty="0"/>
              <a:t>These meetings usually take less than 15 minutes and provide an opportunity to understand the team’s progress in the iteration. </a:t>
            </a:r>
          </a:p>
          <a:p>
            <a:r>
              <a:rPr lang="en-US" dirty="0"/>
              <a:t>Each team member answers three key questions during the daily stand-up meeting:</a:t>
            </a:r>
            <a:endParaRPr lang="en-IN" dirty="0"/>
          </a:p>
        </p:txBody>
      </p:sp>
      <p:sp>
        <p:nvSpPr>
          <p:cNvPr id="4" name="Slide Number Placeholder 3">
            <a:extLst>
              <a:ext uri="{FF2B5EF4-FFF2-40B4-BE49-F238E27FC236}">
                <a16:creationId xmlns:a16="http://schemas.microsoft.com/office/drawing/2014/main" id="{E04F942B-D1BA-B39B-FA8B-C6B860863C90}"/>
              </a:ext>
            </a:extLst>
          </p:cNvPr>
          <p:cNvSpPr>
            <a:spLocks noGrp="1"/>
          </p:cNvSpPr>
          <p:nvPr>
            <p:ph type="sldNum" sz="quarter" idx="12"/>
          </p:nvPr>
        </p:nvSpPr>
        <p:spPr/>
        <p:txBody>
          <a:bodyPr/>
          <a:lstStyle/>
          <a:p>
            <a:fld id="{C70AC583-F9E3-4A59-98F2-FD7379A90CB7}" type="slidenum">
              <a:rPr lang="en-IN" smtClean="0"/>
              <a:pPr/>
              <a:t>30</a:t>
            </a:fld>
            <a:endParaRPr lang="en-IN" b="0" dirty="0"/>
          </a:p>
        </p:txBody>
      </p:sp>
    </p:spTree>
    <p:extLst>
      <p:ext uri="{BB962C8B-B14F-4D97-AF65-F5344CB8AC3E}">
        <p14:creationId xmlns:p14="http://schemas.microsoft.com/office/powerpoint/2010/main" val="41416030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6A222-86AA-7CD6-997B-7C0B9AA34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24915-7EA1-9E1A-C4A6-1B5A0E344197}"/>
              </a:ext>
            </a:extLst>
          </p:cNvPr>
          <p:cNvSpPr>
            <a:spLocks noGrp="1"/>
          </p:cNvSpPr>
          <p:nvPr>
            <p:ph type="title"/>
          </p:nvPr>
        </p:nvSpPr>
        <p:spPr/>
        <p:txBody>
          <a:bodyPr/>
          <a:lstStyle/>
          <a:p>
            <a:r>
              <a:rPr lang="en-IN" dirty="0"/>
              <a:t>Meetings or Ceremonies</a:t>
            </a:r>
          </a:p>
        </p:txBody>
      </p:sp>
      <p:sp>
        <p:nvSpPr>
          <p:cNvPr id="3" name="Content Placeholder 2">
            <a:extLst>
              <a:ext uri="{FF2B5EF4-FFF2-40B4-BE49-F238E27FC236}">
                <a16:creationId xmlns:a16="http://schemas.microsoft.com/office/drawing/2014/main" id="{236299FA-58E5-E180-CA96-6B1AAAEE4D9F}"/>
              </a:ext>
            </a:extLst>
          </p:cNvPr>
          <p:cNvSpPr>
            <a:spLocks noGrp="1"/>
          </p:cNvSpPr>
          <p:nvPr>
            <p:ph idx="1"/>
          </p:nvPr>
        </p:nvSpPr>
        <p:spPr>
          <a:xfrm>
            <a:off x="266330" y="1020932"/>
            <a:ext cx="8611340" cy="5700544"/>
          </a:xfrm>
        </p:spPr>
        <p:txBody>
          <a:bodyPr>
            <a:normAutofit fontScale="92500" lnSpcReduction="10000"/>
          </a:bodyPr>
          <a:lstStyle/>
          <a:p>
            <a:r>
              <a:rPr lang="en-US" b="1" dirty="0"/>
              <a:t>Daily Stand-Up Meeting</a:t>
            </a:r>
          </a:p>
          <a:p>
            <a:r>
              <a:rPr lang="en-US" b="1" dirty="0"/>
              <a:t>What did I do yesterday? </a:t>
            </a:r>
          </a:p>
          <a:p>
            <a:pPr lvl="1"/>
            <a:r>
              <a:rPr lang="en-US" dirty="0"/>
              <a:t>This is an opportunity for a developer to share what tasks were closed yesterday or if something was more difficult than expected or will require more time.</a:t>
            </a:r>
          </a:p>
          <a:p>
            <a:r>
              <a:rPr lang="en-US" b="1" dirty="0"/>
              <a:t>What am I planning to do today? </a:t>
            </a:r>
          </a:p>
          <a:p>
            <a:pPr lvl="1"/>
            <a:r>
              <a:rPr lang="en-US" dirty="0"/>
              <a:t>This information helps the team know the developer’s area of focus for the day and also if he or she will be unavailable for some portion of time because of meetings or personal considerations.</a:t>
            </a:r>
          </a:p>
          <a:p>
            <a:pPr lvl="1"/>
            <a:r>
              <a:rPr lang="en-US" dirty="0"/>
              <a:t>By understanding what a teammate is working on, the other team members can align their work, if necessary.</a:t>
            </a:r>
          </a:p>
          <a:p>
            <a:r>
              <a:rPr lang="en-US" b="1" dirty="0"/>
              <a:t>Is there anything blocking my progress?</a:t>
            </a:r>
            <a:r>
              <a:rPr lang="en-US" dirty="0"/>
              <a:t> </a:t>
            </a:r>
          </a:p>
          <a:p>
            <a:pPr lvl="1"/>
            <a:r>
              <a:rPr lang="en-US" dirty="0"/>
              <a:t>This could be anything that is preventing advancement, from a technical issue to the lack of a test environment to a clarification question with the product owner. </a:t>
            </a:r>
          </a:p>
          <a:p>
            <a:pPr lvl="1"/>
            <a:r>
              <a:rPr lang="en-US" dirty="0"/>
              <a:t>The key is to share challenges to keep things moving forward in the iteration.</a:t>
            </a:r>
            <a:endParaRPr lang="en-IN" dirty="0"/>
          </a:p>
        </p:txBody>
      </p:sp>
      <p:sp>
        <p:nvSpPr>
          <p:cNvPr id="4" name="Slide Number Placeholder 3">
            <a:extLst>
              <a:ext uri="{FF2B5EF4-FFF2-40B4-BE49-F238E27FC236}">
                <a16:creationId xmlns:a16="http://schemas.microsoft.com/office/drawing/2014/main" id="{F033E791-7FA3-77C1-28E9-808AA748833D}"/>
              </a:ext>
            </a:extLst>
          </p:cNvPr>
          <p:cNvSpPr>
            <a:spLocks noGrp="1"/>
          </p:cNvSpPr>
          <p:nvPr>
            <p:ph type="sldNum" sz="quarter" idx="12"/>
          </p:nvPr>
        </p:nvSpPr>
        <p:spPr/>
        <p:txBody>
          <a:bodyPr/>
          <a:lstStyle/>
          <a:p>
            <a:fld id="{C70AC583-F9E3-4A59-98F2-FD7379A90CB7}" type="slidenum">
              <a:rPr lang="en-IN" smtClean="0"/>
              <a:pPr/>
              <a:t>31</a:t>
            </a:fld>
            <a:endParaRPr lang="en-IN" b="0" dirty="0"/>
          </a:p>
        </p:txBody>
      </p:sp>
    </p:spTree>
    <p:extLst>
      <p:ext uri="{BB962C8B-B14F-4D97-AF65-F5344CB8AC3E}">
        <p14:creationId xmlns:p14="http://schemas.microsoft.com/office/powerpoint/2010/main" val="23198043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3E797-05EB-B4CA-E4D2-BBAA8C87B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14B7E-668D-840C-F5B6-3395A98EA161}"/>
              </a:ext>
            </a:extLst>
          </p:cNvPr>
          <p:cNvSpPr>
            <a:spLocks noGrp="1"/>
          </p:cNvSpPr>
          <p:nvPr>
            <p:ph type="title"/>
          </p:nvPr>
        </p:nvSpPr>
        <p:spPr/>
        <p:txBody>
          <a:bodyPr/>
          <a:lstStyle/>
          <a:p>
            <a:r>
              <a:rPr lang="en-IN" dirty="0"/>
              <a:t>Meetings or Ceremonies</a:t>
            </a:r>
          </a:p>
        </p:txBody>
      </p:sp>
      <p:sp>
        <p:nvSpPr>
          <p:cNvPr id="3" name="Content Placeholder 2">
            <a:extLst>
              <a:ext uri="{FF2B5EF4-FFF2-40B4-BE49-F238E27FC236}">
                <a16:creationId xmlns:a16="http://schemas.microsoft.com/office/drawing/2014/main" id="{F437F7D3-2CBE-2F63-7A14-9D609B48386A}"/>
              </a:ext>
            </a:extLst>
          </p:cNvPr>
          <p:cNvSpPr>
            <a:spLocks noGrp="1"/>
          </p:cNvSpPr>
          <p:nvPr>
            <p:ph idx="1"/>
          </p:nvPr>
        </p:nvSpPr>
        <p:spPr>
          <a:xfrm>
            <a:off x="266330" y="1020932"/>
            <a:ext cx="8611340" cy="5700544"/>
          </a:xfrm>
        </p:spPr>
        <p:txBody>
          <a:bodyPr>
            <a:normAutofit/>
          </a:bodyPr>
          <a:lstStyle/>
          <a:p>
            <a:r>
              <a:rPr lang="en-US" b="1" dirty="0"/>
              <a:t>Daily Stand-Up Meeting</a:t>
            </a:r>
          </a:p>
          <a:p>
            <a:r>
              <a:rPr lang="en-US" dirty="0"/>
              <a:t>Within Agile, the team succeeds or fails together. </a:t>
            </a:r>
          </a:p>
          <a:p>
            <a:r>
              <a:rPr lang="en-US" dirty="0"/>
              <a:t>To ensure that commitments are kept, the team needs to band together to deliver on all tasks. </a:t>
            </a:r>
          </a:p>
          <a:p>
            <a:r>
              <a:rPr lang="en-US" dirty="0"/>
              <a:t>The daily stand-up meeting provides a forum for teammates to calibrate on the work remaining and support each other to success.</a:t>
            </a:r>
          </a:p>
        </p:txBody>
      </p:sp>
      <p:sp>
        <p:nvSpPr>
          <p:cNvPr id="4" name="Slide Number Placeholder 3">
            <a:extLst>
              <a:ext uri="{FF2B5EF4-FFF2-40B4-BE49-F238E27FC236}">
                <a16:creationId xmlns:a16="http://schemas.microsoft.com/office/drawing/2014/main" id="{CB820CEC-91DB-AB7A-FE96-16DE41EF55A0}"/>
              </a:ext>
            </a:extLst>
          </p:cNvPr>
          <p:cNvSpPr>
            <a:spLocks noGrp="1"/>
          </p:cNvSpPr>
          <p:nvPr>
            <p:ph type="sldNum" sz="quarter" idx="12"/>
          </p:nvPr>
        </p:nvSpPr>
        <p:spPr/>
        <p:txBody>
          <a:bodyPr/>
          <a:lstStyle/>
          <a:p>
            <a:fld id="{C70AC583-F9E3-4A59-98F2-FD7379A90CB7}" type="slidenum">
              <a:rPr lang="en-IN" smtClean="0"/>
              <a:pPr/>
              <a:t>32</a:t>
            </a:fld>
            <a:endParaRPr lang="en-IN" b="0" dirty="0"/>
          </a:p>
        </p:txBody>
      </p:sp>
    </p:spTree>
    <p:extLst>
      <p:ext uri="{BB962C8B-B14F-4D97-AF65-F5344CB8AC3E}">
        <p14:creationId xmlns:p14="http://schemas.microsoft.com/office/powerpoint/2010/main" val="31346762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46A43-AED0-AEA7-8D8E-525CF90F31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5B5C4-70BF-51E7-A5C6-0AEF9FC489B0}"/>
              </a:ext>
            </a:extLst>
          </p:cNvPr>
          <p:cNvSpPr>
            <a:spLocks noGrp="1"/>
          </p:cNvSpPr>
          <p:nvPr>
            <p:ph type="title"/>
          </p:nvPr>
        </p:nvSpPr>
        <p:spPr/>
        <p:txBody>
          <a:bodyPr/>
          <a:lstStyle/>
          <a:p>
            <a:r>
              <a:rPr lang="en-IN" dirty="0"/>
              <a:t>Meetings or Ceremonies</a:t>
            </a:r>
          </a:p>
        </p:txBody>
      </p:sp>
      <p:sp>
        <p:nvSpPr>
          <p:cNvPr id="3" name="Content Placeholder 2">
            <a:extLst>
              <a:ext uri="{FF2B5EF4-FFF2-40B4-BE49-F238E27FC236}">
                <a16:creationId xmlns:a16="http://schemas.microsoft.com/office/drawing/2014/main" id="{7BA16D70-FE58-707C-9130-ACE65EB14330}"/>
              </a:ext>
            </a:extLst>
          </p:cNvPr>
          <p:cNvSpPr>
            <a:spLocks noGrp="1"/>
          </p:cNvSpPr>
          <p:nvPr>
            <p:ph idx="1"/>
          </p:nvPr>
        </p:nvSpPr>
        <p:spPr>
          <a:xfrm>
            <a:off x="266330" y="1020932"/>
            <a:ext cx="8611340" cy="5700544"/>
          </a:xfrm>
        </p:spPr>
        <p:txBody>
          <a:bodyPr>
            <a:normAutofit lnSpcReduction="10000"/>
          </a:bodyPr>
          <a:lstStyle/>
          <a:p>
            <a:r>
              <a:rPr lang="en-US" b="1" dirty="0"/>
              <a:t>Sprint Review or Demo</a:t>
            </a:r>
          </a:p>
          <a:p>
            <a:r>
              <a:rPr lang="en-US" dirty="0"/>
              <a:t>A Sprint review, or Sprint demo, is a meeting hosted by the team that is open to a wide audience including extended team members, stakeholders, and potentially even external customers. </a:t>
            </a:r>
          </a:p>
          <a:p>
            <a:r>
              <a:rPr lang="en-US" dirty="0"/>
              <a:t>The sprint review provides the opportunity to showcase the working software to inform and educate the organization on what has been completed and to gather feedback to ensure that the product is delivering on expectations.</a:t>
            </a:r>
          </a:p>
          <a:p>
            <a:r>
              <a:rPr lang="en-US" dirty="0"/>
              <a:t>The session is not intended to be a large, professional meeting with a lengthy presentation. In fact, most teams limit the “prep” time for the demo to two hours or less; we want the teams to spend their time writing great code, not producing pretty PowerPoint slides.</a:t>
            </a:r>
          </a:p>
        </p:txBody>
      </p:sp>
      <p:sp>
        <p:nvSpPr>
          <p:cNvPr id="4" name="Slide Number Placeholder 3">
            <a:extLst>
              <a:ext uri="{FF2B5EF4-FFF2-40B4-BE49-F238E27FC236}">
                <a16:creationId xmlns:a16="http://schemas.microsoft.com/office/drawing/2014/main" id="{23C48CCE-D847-4EAA-1C55-E6ADF149A521}"/>
              </a:ext>
            </a:extLst>
          </p:cNvPr>
          <p:cNvSpPr>
            <a:spLocks noGrp="1"/>
          </p:cNvSpPr>
          <p:nvPr>
            <p:ph type="sldNum" sz="quarter" idx="12"/>
          </p:nvPr>
        </p:nvSpPr>
        <p:spPr/>
        <p:txBody>
          <a:bodyPr/>
          <a:lstStyle/>
          <a:p>
            <a:fld id="{C70AC583-F9E3-4A59-98F2-FD7379A90CB7}" type="slidenum">
              <a:rPr lang="en-IN" smtClean="0"/>
              <a:pPr/>
              <a:t>33</a:t>
            </a:fld>
            <a:endParaRPr lang="en-IN" b="0" dirty="0"/>
          </a:p>
        </p:txBody>
      </p:sp>
    </p:spTree>
    <p:extLst>
      <p:ext uri="{BB962C8B-B14F-4D97-AF65-F5344CB8AC3E}">
        <p14:creationId xmlns:p14="http://schemas.microsoft.com/office/powerpoint/2010/main" val="40343524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AEEFB-D075-A3CC-AD4D-B7503947C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1048B-2FE9-A9D7-26D9-CE83DC6CFA03}"/>
              </a:ext>
            </a:extLst>
          </p:cNvPr>
          <p:cNvSpPr>
            <a:spLocks noGrp="1"/>
          </p:cNvSpPr>
          <p:nvPr>
            <p:ph type="title"/>
          </p:nvPr>
        </p:nvSpPr>
        <p:spPr/>
        <p:txBody>
          <a:bodyPr/>
          <a:lstStyle/>
          <a:p>
            <a:r>
              <a:rPr lang="en-IN" dirty="0"/>
              <a:t>Meetings or Ceremonies</a:t>
            </a:r>
          </a:p>
        </p:txBody>
      </p:sp>
      <p:sp>
        <p:nvSpPr>
          <p:cNvPr id="3" name="Content Placeholder 2">
            <a:extLst>
              <a:ext uri="{FF2B5EF4-FFF2-40B4-BE49-F238E27FC236}">
                <a16:creationId xmlns:a16="http://schemas.microsoft.com/office/drawing/2014/main" id="{7136BA76-D136-FEAF-C373-5962ACB61205}"/>
              </a:ext>
            </a:extLst>
          </p:cNvPr>
          <p:cNvSpPr>
            <a:spLocks noGrp="1"/>
          </p:cNvSpPr>
          <p:nvPr>
            <p:ph idx="1"/>
          </p:nvPr>
        </p:nvSpPr>
        <p:spPr>
          <a:xfrm>
            <a:off x="266330" y="1020932"/>
            <a:ext cx="8611340" cy="5700544"/>
          </a:xfrm>
        </p:spPr>
        <p:txBody>
          <a:bodyPr>
            <a:normAutofit/>
          </a:bodyPr>
          <a:lstStyle/>
          <a:p>
            <a:r>
              <a:rPr lang="en-US" b="1" dirty="0"/>
              <a:t>Sprint Review or Demo</a:t>
            </a:r>
          </a:p>
          <a:p>
            <a:r>
              <a:rPr lang="en-US" dirty="0"/>
              <a:t>The person who leads the discussion varies by team and may even vary by Sprint review. </a:t>
            </a:r>
          </a:p>
          <a:p>
            <a:r>
              <a:rPr lang="en-US" dirty="0"/>
              <a:t>Often the product owner will describe the user stories that were tackled during the sprint, and the Scrum master will demonstrate the working software. </a:t>
            </a:r>
          </a:p>
          <a:p>
            <a:r>
              <a:rPr lang="en-US" dirty="0"/>
              <a:t>On other teams, the product owner runs the entire meeting, because having a nontechnical person work through the software demonstrates its usability.</a:t>
            </a:r>
          </a:p>
          <a:p>
            <a:r>
              <a:rPr lang="en-US" dirty="0"/>
              <a:t>On still other teams, the developers do the demonstration because they feel a great sense of ownership for the value that they have created with the software.</a:t>
            </a:r>
          </a:p>
        </p:txBody>
      </p:sp>
      <p:sp>
        <p:nvSpPr>
          <p:cNvPr id="4" name="Slide Number Placeholder 3">
            <a:extLst>
              <a:ext uri="{FF2B5EF4-FFF2-40B4-BE49-F238E27FC236}">
                <a16:creationId xmlns:a16="http://schemas.microsoft.com/office/drawing/2014/main" id="{D96C52A3-E23F-BBB5-39F3-E907D8DECE78}"/>
              </a:ext>
            </a:extLst>
          </p:cNvPr>
          <p:cNvSpPr>
            <a:spLocks noGrp="1"/>
          </p:cNvSpPr>
          <p:nvPr>
            <p:ph type="sldNum" sz="quarter" idx="12"/>
          </p:nvPr>
        </p:nvSpPr>
        <p:spPr/>
        <p:txBody>
          <a:bodyPr/>
          <a:lstStyle/>
          <a:p>
            <a:fld id="{C70AC583-F9E3-4A59-98F2-FD7379A90CB7}" type="slidenum">
              <a:rPr lang="en-IN" smtClean="0"/>
              <a:pPr/>
              <a:t>34</a:t>
            </a:fld>
            <a:endParaRPr lang="en-IN" b="0" dirty="0"/>
          </a:p>
        </p:txBody>
      </p:sp>
    </p:spTree>
    <p:extLst>
      <p:ext uri="{BB962C8B-B14F-4D97-AF65-F5344CB8AC3E}">
        <p14:creationId xmlns:p14="http://schemas.microsoft.com/office/powerpoint/2010/main" val="3827673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E2771-4ECF-996D-2853-2B3F701B6E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89E1E-30B5-C4FF-10D6-CBDF9B41A218}"/>
              </a:ext>
            </a:extLst>
          </p:cNvPr>
          <p:cNvSpPr>
            <a:spLocks noGrp="1"/>
          </p:cNvSpPr>
          <p:nvPr>
            <p:ph type="title"/>
          </p:nvPr>
        </p:nvSpPr>
        <p:spPr/>
        <p:txBody>
          <a:bodyPr/>
          <a:lstStyle/>
          <a:p>
            <a:r>
              <a:rPr lang="en-IN" dirty="0"/>
              <a:t>Meetings or Ceremonies</a:t>
            </a:r>
          </a:p>
        </p:txBody>
      </p:sp>
      <p:sp>
        <p:nvSpPr>
          <p:cNvPr id="3" name="Content Placeholder 2">
            <a:extLst>
              <a:ext uri="{FF2B5EF4-FFF2-40B4-BE49-F238E27FC236}">
                <a16:creationId xmlns:a16="http://schemas.microsoft.com/office/drawing/2014/main" id="{3CE9FC50-FEEA-571D-D3DB-32C35FECB631}"/>
              </a:ext>
            </a:extLst>
          </p:cNvPr>
          <p:cNvSpPr>
            <a:spLocks noGrp="1"/>
          </p:cNvSpPr>
          <p:nvPr>
            <p:ph idx="1"/>
          </p:nvPr>
        </p:nvSpPr>
        <p:spPr>
          <a:xfrm>
            <a:off x="266330" y="1020932"/>
            <a:ext cx="8611340" cy="5700544"/>
          </a:xfrm>
        </p:spPr>
        <p:txBody>
          <a:bodyPr>
            <a:normAutofit/>
          </a:bodyPr>
          <a:lstStyle/>
          <a:p>
            <a:r>
              <a:rPr lang="en-US" b="1" dirty="0"/>
              <a:t>Sprint Review or Demo</a:t>
            </a:r>
          </a:p>
          <a:p>
            <a:r>
              <a:rPr lang="en-US" dirty="0"/>
              <a:t>If the feedback is particularly negative, the team will need to evaluate whether they should make the new feature publicly available. </a:t>
            </a:r>
          </a:p>
          <a:p>
            <a:r>
              <a:rPr lang="en-US" dirty="0"/>
              <a:t>Positive feedback validates that the new feature is ready for deployment.</a:t>
            </a:r>
          </a:p>
          <a:p>
            <a:r>
              <a:rPr lang="en-US" dirty="0"/>
              <a:t>If the stakeholders offer opportunities for improvement, those can be documented as potential new requirements.</a:t>
            </a:r>
          </a:p>
        </p:txBody>
      </p:sp>
      <p:sp>
        <p:nvSpPr>
          <p:cNvPr id="4" name="Slide Number Placeholder 3">
            <a:extLst>
              <a:ext uri="{FF2B5EF4-FFF2-40B4-BE49-F238E27FC236}">
                <a16:creationId xmlns:a16="http://schemas.microsoft.com/office/drawing/2014/main" id="{3A5D16B3-50D4-3EDC-9753-9EBE12A8981A}"/>
              </a:ext>
            </a:extLst>
          </p:cNvPr>
          <p:cNvSpPr>
            <a:spLocks noGrp="1"/>
          </p:cNvSpPr>
          <p:nvPr>
            <p:ph type="sldNum" sz="quarter" idx="12"/>
          </p:nvPr>
        </p:nvSpPr>
        <p:spPr/>
        <p:txBody>
          <a:bodyPr/>
          <a:lstStyle/>
          <a:p>
            <a:fld id="{C70AC583-F9E3-4A59-98F2-FD7379A90CB7}" type="slidenum">
              <a:rPr lang="en-IN" smtClean="0"/>
              <a:pPr/>
              <a:t>35</a:t>
            </a:fld>
            <a:endParaRPr lang="en-IN" b="0" dirty="0"/>
          </a:p>
        </p:txBody>
      </p:sp>
    </p:spTree>
    <p:extLst>
      <p:ext uri="{BB962C8B-B14F-4D97-AF65-F5344CB8AC3E}">
        <p14:creationId xmlns:p14="http://schemas.microsoft.com/office/powerpoint/2010/main" val="4320346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B9D13-1E7C-4494-97BA-76BE743D8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7C98C-295D-E88F-B5D8-27933ED81C14}"/>
              </a:ext>
            </a:extLst>
          </p:cNvPr>
          <p:cNvSpPr>
            <a:spLocks noGrp="1"/>
          </p:cNvSpPr>
          <p:nvPr>
            <p:ph type="title"/>
          </p:nvPr>
        </p:nvSpPr>
        <p:spPr/>
        <p:txBody>
          <a:bodyPr/>
          <a:lstStyle/>
          <a:p>
            <a:r>
              <a:rPr lang="en-IN" dirty="0"/>
              <a:t>Meetings or Ceremonies</a:t>
            </a:r>
          </a:p>
        </p:txBody>
      </p:sp>
      <p:sp>
        <p:nvSpPr>
          <p:cNvPr id="3" name="Content Placeholder 2">
            <a:extLst>
              <a:ext uri="{FF2B5EF4-FFF2-40B4-BE49-F238E27FC236}">
                <a16:creationId xmlns:a16="http://schemas.microsoft.com/office/drawing/2014/main" id="{5E7D69E8-1451-B70D-229C-D0F6EE2B7CF4}"/>
              </a:ext>
            </a:extLst>
          </p:cNvPr>
          <p:cNvSpPr>
            <a:spLocks noGrp="1"/>
          </p:cNvSpPr>
          <p:nvPr>
            <p:ph idx="1"/>
          </p:nvPr>
        </p:nvSpPr>
        <p:spPr>
          <a:xfrm>
            <a:off x="266330" y="1020932"/>
            <a:ext cx="8611340" cy="5700544"/>
          </a:xfrm>
        </p:spPr>
        <p:txBody>
          <a:bodyPr>
            <a:normAutofit/>
          </a:bodyPr>
          <a:lstStyle/>
          <a:p>
            <a:r>
              <a:rPr lang="en-US" b="1" dirty="0"/>
              <a:t>Retrospectives</a:t>
            </a:r>
          </a:p>
          <a:p>
            <a:r>
              <a:rPr lang="en-US" dirty="0"/>
              <a:t>Retrospectives are an important part of Agile software development as a forum for open communication among team members and as a tool for continual improvement. </a:t>
            </a:r>
          </a:p>
          <a:p>
            <a:r>
              <a:rPr lang="en-US" dirty="0"/>
              <a:t>The Agile Manifesto emphasizes team retrospectives in this principle:</a:t>
            </a:r>
          </a:p>
          <a:p>
            <a:r>
              <a:rPr lang="en-US" dirty="0"/>
              <a:t>“At regular intervals, the team reflects on how to become more effective, then tunes and adjusts its behavior accordingly.” </a:t>
            </a:r>
          </a:p>
          <a:p>
            <a:r>
              <a:rPr lang="en-US" dirty="0"/>
              <a:t>A retrospective is a team meeting at the end of an iteration where the team has the opportunity to inspect and adapt their teamwork</a:t>
            </a:r>
          </a:p>
        </p:txBody>
      </p:sp>
      <p:sp>
        <p:nvSpPr>
          <p:cNvPr id="4" name="Slide Number Placeholder 3">
            <a:extLst>
              <a:ext uri="{FF2B5EF4-FFF2-40B4-BE49-F238E27FC236}">
                <a16:creationId xmlns:a16="http://schemas.microsoft.com/office/drawing/2014/main" id="{3631D09A-7B5F-3E8D-8B37-0F7826C3DD80}"/>
              </a:ext>
            </a:extLst>
          </p:cNvPr>
          <p:cNvSpPr>
            <a:spLocks noGrp="1"/>
          </p:cNvSpPr>
          <p:nvPr>
            <p:ph type="sldNum" sz="quarter" idx="12"/>
          </p:nvPr>
        </p:nvSpPr>
        <p:spPr/>
        <p:txBody>
          <a:bodyPr/>
          <a:lstStyle/>
          <a:p>
            <a:fld id="{C70AC583-F9E3-4A59-98F2-FD7379A90CB7}" type="slidenum">
              <a:rPr lang="en-IN" smtClean="0"/>
              <a:pPr/>
              <a:t>36</a:t>
            </a:fld>
            <a:endParaRPr lang="en-IN" b="0" dirty="0"/>
          </a:p>
        </p:txBody>
      </p:sp>
    </p:spTree>
    <p:extLst>
      <p:ext uri="{BB962C8B-B14F-4D97-AF65-F5344CB8AC3E}">
        <p14:creationId xmlns:p14="http://schemas.microsoft.com/office/powerpoint/2010/main" val="34981308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38BAC-6237-C1F5-C2F5-C5E7472D6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5D2D67-972D-290C-4EC6-F012355D3344}"/>
              </a:ext>
            </a:extLst>
          </p:cNvPr>
          <p:cNvSpPr>
            <a:spLocks noGrp="1"/>
          </p:cNvSpPr>
          <p:nvPr>
            <p:ph type="title"/>
          </p:nvPr>
        </p:nvSpPr>
        <p:spPr/>
        <p:txBody>
          <a:bodyPr/>
          <a:lstStyle/>
          <a:p>
            <a:r>
              <a:rPr lang="en-IN" dirty="0"/>
              <a:t>Meetings or Ceremonies</a:t>
            </a:r>
          </a:p>
        </p:txBody>
      </p:sp>
      <p:sp>
        <p:nvSpPr>
          <p:cNvPr id="3" name="Content Placeholder 2">
            <a:extLst>
              <a:ext uri="{FF2B5EF4-FFF2-40B4-BE49-F238E27FC236}">
                <a16:creationId xmlns:a16="http://schemas.microsoft.com/office/drawing/2014/main" id="{1CAA59A3-17A9-E770-EA9A-566280CFCC85}"/>
              </a:ext>
            </a:extLst>
          </p:cNvPr>
          <p:cNvSpPr>
            <a:spLocks noGrp="1"/>
          </p:cNvSpPr>
          <p:nvPr>
            <p:ph idx="1"/>
          </p:nvPr>
        </p:nvSpPr>
        <p:spPr>
          <a:xfrm>
            <a:off x="266330" y="1020932"/>
            <a:ext cx="8611340" cy="5700544"/>
          </a:xfrm>
        </p:spPr>
        <p:txBody>
          <a:bodyPr>
            <a:normAutofit/>
          </a:bodyPr>
          <a:lstStyle/>
          <a:p>
            <a:r>
              <a:rPr lang="en-US" b="1" dirty="0"/>
              <a:t>Retrospectives</a:t>
            </a:r>
          </a:p>
          <a:p>
            <a:r>
              <a:rPr lang="en-US" dirty="0"/>
              <a:t>One method for facilitating  the discussion is to pass out note cards and ask participants to jot down their observations into categories; the categories could be “</a:t>
            </a:r>
            <a:r>
              <a:rPr lang="en-US" b="1" dirty="0"/>
              <a:t>stop doing</a:t>
            </a:r>
            <a:r>
              <a:rPr lang="en-US" dirty="0"/>
              <a:t>,” “</a:t>
            </a:r>
            <a:r>
              <a:rPr lang="en-US" b="1" dirty="0"/>
              <a:t>start doing</a:t>
            </a:r>
            <a:r>
              <a:rPr lang="en-US" dirty="0"/>
              <a:t>,” and “</a:t>
            </a:r>
            <a:r>
              <a:rPr lang="en-US" b="1" dirty="0"/>
              <a:t>continue</a:t>
            </a:r>
            <a:r>
              <a:rPr lang="en-US" dirty="0"/>
              <a:t>,”.</a:t>
            </a:r>
          </a:p>
          <a:p>
            <a:r>
              <a:rPr lang="en-US" dirty="0"/>
              <a:t>Retrospectives are an important vehicle for the team to continuously grow together as an entity, which will make their work environment more productive </a:t>
            </a:r>
            <a:r>
              <a:rPr lang="en-IN" dirty="0"/>
              <a:t>and more enjoyable.</a:t>
            </a:r>
            <a:endParaRPr lang="en-US" dirty="0"/>
          </a:p>
        </p:txBody>
      </p:sp>
      <p:sp>
        <p:nvSpPr>
          <p:cNvPr id="4" name="Slide Number Placeholder 3">
            <a:extLst>
              <a:ext uri="{FF2B5EF4-FFF2-40B4-BE49-F238E27FC236}">
                <a16:creationId xmlns:a16="http://schemas.microsoft.com/office/drawing/2014/main" id="{AE75537D-0160-8102-37EE-1BB01C250ABA}"/>
              </a:ext>
            </a:extLst>
          </p:cNvPr>
          <p:cNvSpPr>
            <a:spLocks noGrp="1"/>
          </p:cNvSpPr>
          <p:nvPr>
            <p:ph type="sldNum" sz="quarter" idx="12"/>
          </p:nvPr>
        </p:nvSpPr>
        <p:spPr/>
        <p:txBody>
          <a:bodyPr/>
          <a:lstStyle/>
          <a:p>
            <a:fld id="{C70AC583-F9E3-4A59-98F2-FD7379A90CB7}" type="slidenum">
              <a:rPr lang="en-IN" smtClean="0"/>
              <a:pPr/>
              <a:t>37</a:t>
            </a:fld>
            <a:endParaRPr lang="en-IN" b="0" dirty="0"/>
          </a:p>
        </p:txBody>
      </p:sp>
      <p:pic>
        <p:nvPicPr>
          <p:cNvPr id="6" name="Picture 5">
            <a:extLst>
              <a:ext uri="{FF2B5EF4-FFF2-40B4-BE49-F238E27FC236}">
                <a16:creationId xmlns:a16="http://schemas.microsoft.com/office/drawing/2014/main" id="{20B38FF4-66B2-2130-9C52-7B8ABBD42F69}"/>
              </a:ext>
            </a:extLst>
          </p:cNvPr>
          <p:cNvPicPr>
            <a:picLocks noChangeAspect="1"/>
          </p:cNvPicPr>
          <p:nvPr/>
        </p:nvPicPr>
        <p:blipFill>
          <a:blip r:embed="rId2">
            <a:alphaModFix/>
            <a:extLst>
              <a:ext uri="{BEBA8EAE-BF5A-486C-A8C5-ECC9F3942E4B}">
                <a14:imgProps xmlns:a14="http://schemas.microsoft.com/office/drawing/2010/main">
                  <a14:imgLayer r:embed="rId3">
                    <a14:imgEffect>
                      <a14:artisticTexturizer/>
                    </a14:imgEffect>
                  </a14:imgLayer>
                </a14:imgProps>
              </a:ext>
            </a:extLst>
          </a:blip>
          <a:stretch>
            <a:fillRect/>
          </a:stretch>
        </p:blipFill>
        <p:spPr>
          <a:xfrm>
            <a:off x="2295524" y="4433936"/>
            <a:ext cx="6410325" cy="2382336"/>
          </a:xfrm>
          <a:prstGeom prst="rect">
            <a:avLst/>
          </a:prstGeom>
        </p:spPr>
      </p:pic>
    </p:spTree>
    <p:extLst>
      <p:ext uri="{BB962C8B-B14F-4D97-AF65-F5344CB8AC3E}">
        <p14:creationId xmlns:p14="http://schemas.microsoft.com/office/powerpoint/2010/main" val="11999035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54D3C-3913-B89B-059D-FA86477C2A9F}"/>
              </a:ext>
            </a:extLst>
          </p:cNvPr>
          <p:cNvSpPr>
            <a:spLocks noGrp="1"/>
          </p:cNvSpPr>
          <p:nvPr>
            <p:ph type="title"/>
          </p:nvPr>
        </p:nvSpPr>
        <p:spPr/>
        <p:txBody>
          <a:bodyPr/>
          <a:lstStyle/>
          <a:p>
            <a:r>
              <a:rPr lang="en-IN" dirty="0"/>
              <a:t>Measuring Success in Agile</a:t>
            </a:r>
          </a:p>
        </p:txBody>
      </p:sp>
      <p:sp>
        <p:nvSpPr>
          <p:cNvPr id="3" name="Content Placeholder 2">
            <a:extLst>
              <a:ext uri="{FF2B5EF4-FFF2-40B4-BE49-F238E27FC236}">
                <a16:creationId xmlns:a16="http://schemas.microsoft.com/office/drawing/2014/main" id="{1B6CF4F5-587F-776F-FDEA-6A5102F2DA94}"/>
              </a:ext>
            </a:extLst>
          </p:cNvPr>
          <p:cNvSpPr>
            <a:spLocks noGrp="1"/>
          </p:cNvSpPr>
          <p:nvPr>
            <p:ph idx="1"/>
          </p:nvPr>
        </p:nvSpPr>
        <p:spPr/>
        <p:txBody>
          <a:bodyPr/>
          <a:lstStyle/>
          <a:p>
            <a:r>
              <a:rPr lang="en-US" dirty="0"/>
              <a:t>How do you know if an Agile project is successful? </a:t>
            </a:r>
          </a:p>
          <a:p>
            <a:r>
              <a:rPr lang="en-US" dirty="0"/>
              <a:t>This topic has sparked a great deal of debate, because some Waterfall metrics drive the wrong behavior and thus are inappropriate. </a:t>
            </a:r>
          </a:p>
          <a:p>
            <a:r>
              <a:rPr lang="en-US" dirty="0"/>
              <a:t>Rally Software has developed a nice framework for measuring performance, in which they suggest four categories of measurement.</a:t>
            </a:r>
          </a:p>
          <a:p>
            <a:r>
              <a:rPr lang="en-IN" dirty="0"/>
              <a:t>Do it fast</a:t>
            </a:r>
          </a:p>
          <a:p>
            <a:r>
              <a:rPr lang="en-IN" dirty="0"/>
              <a:t>Do it right</a:t>
            </a:r>
          </a:p>
          <a:p>
            <a:r>
              <a:rPr lang="en-IN" dirty="0"/>
              <a:t>Do it on time</a:t>
            </a:r>
          </a:p>
          <a:p>
            <a:r>
              <a:rPr lang="en-IN" dirty="0"/>
              <a:t>Keep doing it</a:t>
            </a:r>
          </a:p>
        </p:txBody>
      </p:sp>
      <p:sp>
        <p:nvSpPr>
          <p:cNvPr id="4" name="Slide Number Placeholder 3">
            <a:extLst>
              <a:ext uri="{FF2B5EF4-FFF2-40B4-BE49-F238E27FC236}">
                <a16:creationId xmlns:a16="http://schemas.microsoft.com/office/drawing/2014/main" id="{DE70CA7E-0EC7-0B25-640B-8251ECB218DF}"/>
              </a:ext>
            </a:extLst>
          </p:cNvPr>
          <p:cNvSpPr>
            <a:spLocks noGrp="1"/>
          </p:cNvSpPr>
          <p:nvPr>
            <p:ph type="sldNum" sz="quarter" idx="12"/>
          </p:nvPr>
        </p:nvSpPr>
        <p:spPr/>
        <p:txBody>
          <a:bodyPr/>
          <a:lstStyle/>
          <a:p>
            <a:fld id="{C70AC583-F9E3-4A59-98F2-FD7379A90CB7}" type="slidenum">
              <a:rPr lang="en-IN" smtClean="0"/>
              <a:pPr/>
              <a:t>38</a:t>
            </a:fld>
            <a:endParaRPr lang="en-IN" b="0" dirty="0"/>
          </a:p>
        </p:txBody>
      </p:sp>
    </p:spTree>
    <p:extLst>
      <p:ext uri="{BB962C8B-B14F-4D97-AF65-F5344CB8AC3E}">
        <p14:creationId xmlns:p14="http://schemas.microsoft.com/office/powerpoint/2010/main" val="3842545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09DBA-B322-16A0-B96E-707AD146E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4E612-6286-9CAB-2B38-5BA7628F0564}"/>
              </a:ext>
            </a:extLst>
          </p:cNvPr>
          <p:cNvSpPr>
            <a:spLocks noGrp="1"/>
          </p:cNvSpPr>
          <p:nvPr>
            <p:ph type="title"/>
          </p:nvPr>
        </p:nvSpPr>
        <p:spPr/>
        <p:txBody>
          <a:bodyPr/>
          <a:lstStyle/>
          <a:p>
            <a:r>
              <a:rPr lang="en-IN" dirty="0"/>
              <a:t>Measuring Success in Agile</a:t>
            </a:r>
          </a:p>
        </p:txBody>
      </p:sp>
      <p:sp>
        <p:nvSpPr>
          <p:cNvPr id="3" name="Content Placeholder 2">
            <a:extLst>
              <a:ext uri="{FF2B5EF4-FFF2-40B4-BE49-F238E27FC236}">
                <a16:creationId xmlns:a16="http://schemas.microsoft.com/office/drawing/2014/main" id="{6F8DE22A-F712-D421-0FCC-23AC4CA03FA9}"/>
              </a:ext>
            </a:extLst>
          </p:cNvPr>
          <p:cNvSpPr>
            <a:spLocks noGrp="1"/>
          </p:cNvSpPr>
          <p:nvPr>
            <p:ph idx="1"/>
          </p:nvPr>
        </p:nvSpPr>
        <p:spPr/>
        <p:txBody>
          <a:bodyPr>
            <a:normAutofit/>
          </a:bodyPr>
          <a:lstStyle/>
          <a:p>
            <a:r>
              <a:rPr lang="en-US" dirty="0"/>
              <a:t>These parameters align well with the core values and principles of Agile.</a:t>
            </a:r>
          </a:p>
          <a:p>
            <a:r>
              <a:rPr lang="en-US" dirty="0"/>
              <a:t>In the “</a:t>
            </a:r>
            <a:r>
              <a:rPr lang="en-US" b="1" dirty="0"/>
              <a:t>do it fast</a:t>
            </a:r>
            <a:r>
              <a:rPr lang="en-US" dirty="0"/>
              <a:t>” category, we can measure the teams’ productivity and their responsiveness. </a:t>
            </a:r>
          </a:p>
          <a:p>
            <a:r>
              <a:rPr lang="en-US" dirty="0"/>
              <a:t>In the “</a:t>
            </a:r>
            <a:r>
              <a:rPr lang="en-US" b="1" dirty="0"/>
              <a:t>do it right</a:t>
            </a:r>
            <a:r>
              <a:rPr lang="en-US" dirty="0"/>
              <a:t>” category, we are measuring quality and customer satisfaction. </a:t>
            </a:r>
          </a:p>
          <a:p>
            <a:r>
              <a:rPr lang="en-US" dirty="0"/>
              <a:t>When we “</a:t>
            </a:r>
            <a:r>
              <a:rPr lang="en-US" b="1" dirty="0"/>
              <a:t>do it on time</a:t>
            </a:r>
            <a:r>
              <a:rPr lang="en-US" dirty="0"/>
              <a:t>,” we demonstrate a predictable cadence for when working software is delivered. </a:t>
            </a:r>
          </a:p>
          <a:p>
            <a:r>
              <a:rPr lang="en-US" dirty="0"/>
              <a:t>Under “</a:t>
            </a:r>
            <a:r>
              <a:rPr lang="en-US" b="1" dirty="0"/>
              <a:t>keep doing it</a:t>
            </a:r>
            <a:r>
              <a:rPr lang="en-US" dirty="0"/>
              <a:t>,” we want to measure employee satisfaction, which is a critical component of sustainability as referenced in the Agile principles.</a:t>
            </a:r>
            <a:endParaRPr lang="en-IN" dirty="0"/>
          </a:p>
        </p:txBody>
      </p:sp>
      <p:sp>
        <p:nvSpPr>
          <p:cNvPr id="4" name="Slide Number Placeholder 3">
            <a:extLst>
              <a:ext uri="{FF2B5EF4-FFF2-40B4-BE49-F238E27FC236}">
                <a16:creationId xmlns:a16="http://schemas.microsoft.com/office/drawing/2014/main" id="{280A2894-92B9-7F1C-F776-2954A4721FF1}"/>
              </a:ext>
            </a:extLst>
          </p:cNvPr>
          <p:cNvSpPr>
            <a:spLocks noGrp="1"/>
          </p:cNvSpPr>
          <p:nvPr>
            <p:ph type="sldNum" sz="quarter" idx="12"/>
          </p:nvPr>
        </p:nvSpPr>
        <p:spPr/>
        <p:txBody>
          <a:bodyPr/>
          <a:lstStyle/>
          <a:p>
            <a:fld id="{C70AC583-F9E3-4A59-98F2-FD7379A90CB7}" type="slidenum">
              <a:rPr lang="en-IN" smtClean="0"/>
              <a:pPr/>
              <a:t>39</a:t>
            </a:fld>
            <a:endParaRPr lang="en-IN" b="0" dirty="0"/>
          </a:p>
        </p:txBody>
      </p:sp>
    </p:spTree>
    <p:extLst>
      <p:ext uri="{BB962C8B-B14F-4D97-AF65-F5344CB8AC3E}">
        <p14:creationId xmlns:p14="http://schemas.microsoft.com/office/powerpoint/2010/main" val="20318596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AF301-5B3A-5700-9FCD-73CF49292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A46F7-DBFE-7335-7F48-1525451F3796}"/>
              </a:ext>
            </a:extLst>
          </p:cNvPr>
          <p:cNvSpPr>
            <a:spLocks noGrp="1"/>
          </p:cNvSpPr>
          <p:nvPr>
            <p:ph type="title"/>
          </p:nvPr>
        </p:nvSpPr>
        <p:spPr/>
        <p:txBody>
          <a:bodyPr/>
          <a:lstStyle/>
          <a:p>
            <a:r>
              <a:rPr lang="en-IN" dirty="0"/>
              <a:t>Measuring Success in Agile</a:t>
            </a:r>
          </a:p>
        </p:txBody>
      </p:sp>
      <p:sp>
        <p:nvSpPr>
          <p:cNvPr id="3" name="Content Placeholder 2">
            <a:extLst>
              <a:ext uri="{FF2B5EF4-FFF2-40B4-BE49-F238E27FC236}">
                <a16:creationId xmlns:a16="http://schemas.microsoft.com/office/drawing/2014/main" id="{EB555CFE-9B0B-D223-A5D7-6DB5863FDDE6}"/>
              </a:ext>
            </a:extLst>
          </p:cNvPr>
          <p:cNvSpPr>
            <a:spLocks noGrp="1"/>
          </p:cNvSpPr>
          <p:nvPr>
            <p:ph idx="1"/>
          </p:nvPr>
        </p:nvSpPr>
        <p:spPr/>
        <p:txBody>
          <a:bodyPr>
            <a:normAutofit/>
          </a:bodyPr>
          <a:lstStyle/>
          <a:p>
            <a:r>
              <a:rPr lang="en-US" dirty="0"/>
              <a:t>Truly, the absolute best measure of success for Agile teams is customer satisfaction.</a:t>
            </a:r>
          </a:p>
          <a:p>
            <a:r>
              <a:rPr lang="en-US" dirty="0"/>
              <a:t>If your organization is delivering high-quality software that </a:t>
            </a:r>
            <a:r>
              <a:rPr lang="en-US"/>
              <a:t>meets the needs </a:t>
            </a:r>
            <a:r>
              <a:rPr lang="en-US" dirty="0"/>
              <a:t>of the users and is delivered quickly and predictably, then </a:t>
            </a:r>
            <a:r>
              <a:rPr lang="en-US"/>
              <a:t>your customer satisfaction </a:t>
            </a:r>
            <a:r>
              <a:rPr lang="en-US" dirty="0"/>
              <a:t>scores should be steadily (or dramatically) improving.</a:t>
            </a:r>
            <a:endParaRPr lang="en-IN" dirty="0"/>
          </a:p>
        </p:txBody>
      </p:sp>
      <p:sp>
        <p:nvSpPr>
          <p:cNvPr id="4" name="Slide Number Placeholder 3">
            <a:extLst>
              <a:ext uri="{FF2B5EF4-FFF2-40B4-BE49-F238E27FC236}">
                <a16:creationId xmlns:a16="http://schemas.microsoft.com/office/drawing/2014/main" id="{5F421293-2189-F29C-471F-90BE2B9F0EB9}"/>
              </a:ext>
            </a:extLst>
          </p:cNvPr>
          <p:cNvSpPr>
            <a:spLocks noGrp="1"/>
          </p:cNvSpPr>
          <p:nvPr>
            <p:ph type="sldNum" sz="quarter" idx="12"/>
          </p:nvPr>
        </p:nvSpPr>
        <p:spPr/>
        <p:txBody>
          <a:bodyPr/>
          <a:lstStyle/>
          <a:p>
            <a:fld id="{C70AC583-F9E3-4A59-98F2-FD7379A90CB7}" type="slidenum">
              <a:rPr lang="en-IN" smtClean="0"/>
              <a:pPr/>
              <a:t>40</a:t>
            </a:fld>
            <a:endParaRPr lang="en-IN" b="0" dirty="0"/>
          </a:p>
        </p:txBody>
      </p:sp>
    </p:spTree>
    <p:extLst>
      <p:ext uri="{BB962C8B-B14F-4D97-AF65-F5344CB8AC3E}">
        <p14:creationId xmlns:p14="http://schemas.microsoft.com/office/powerpoint/2010/main" val="19710612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1124</TotalTime>
  <Words>3666</Words>
  <Application>Microsoft Office PowerPoint</Application>
  <PresentationFormat>On-screen Show (4:3)</PresentationFormat>
  <Paragraphs>243</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Calibri Light</vt:lpstr>
      <vt:lpstr>Office Theme</vt:lpstr>
      <vt:lpstr>Agile Software Engineering</vt:lpstr>
      <vt:lpstr>Quality</vt:lpstr>
      <vt:lpstr>Kanban</vt:lpstr>
      <vt:lpstr>Kanban</vt:lpstr>
      <vt:lpstr>Kanban</vt:lpstr>
      <vt:lpstr>Kanban</vt:lpstr>
      <vt:lpstr>Kanban</vt:lpstr>
      <vt:lpstr>Kanban Board</vt:lpstr>
      <vt:lpstr>Kanban Board</vt:lpstr>
      <vt:lpstr>Work in Progress (WIP) Limit</vt:lpstr>
      <vt:lpstr>Work in Progress (WIP) Limit</vt:lpstr>
      <vt:lpstr>Work in Progress (WIP) Limit</vt:lpstr>
      <vt:lpstr>Work in Progress (WIP) Limit</vt:lpstr>
      <vt:lpstr>Work in Progress (WIP) Limit</vt:lpstr>
      <vt:lpstr>Work in Progress (WIP) Limit</vt:lpstr>
      <vt:lpstr>Work in Progress (WIP) Limit</vt:lpstr>
      <vt:lpstr>Work in Progress (WIP) Limit</vt:lpstr>
      <vt:lpstr>Tracking</vt:lpstr>
      <vt:lpstr>Tracking - XP</vt:lpstr>
      <vt:lpstr>Tracking – Burn Charts</vt:lpstr>
      <vt:lpstr>Tracking – Burn Charts</vt:lpstr>
      <vt:lpstr>Tracking – Burn Charts</vt:lpstr>
      <vt:lpstr>Information Radiators</vt:lpstr>
      <vt:lpstr>Information Radiators</vt:lpstr>
      <vt:lpstr>Tracking – FDD – Parking Lots</vt:lpstr>
      <vt:lpstr>Tracking – FDD – Parking Lots</vt:lpstr>
      <vt:lpstr>Tracking – FDD – Parking Lots</vt:lpstr>
      <vt:lpstr>Tracking – FDD – Parking Lots</vt:lpstr>
      <vt:lpstr>Meetings or Ceremonies</vt:lpstr>
      <vt:lpstr>Meetings or Ceremonies</vt:lpstr>
      <vt:lpstr>Meetings or Ceremonies</vt:lpstr>
      <vt:lpstr>Meetings or Ceremonies</vt:lpstr>
      <vt:lpstr>Meetings or Ceremonies</vt:lpstr>
      <vt:lpstr>Meetings or Ceremonies</vt:lpstr>
      <vt:lpstr>Meetings or Ceremonies</vt:lpstr>
      <vt:lpstr>Meetings or Ceremonies</vt:lpstr>
      <vt:lpstr>Meetings or Ceremonies</vt:lpstr>
      <vt:lpstr>Measuring Success in Agile</vt:lpstr>
      <vt:lpstr>Measuring Success in Agile</vt:lpstr>
      <vt:lpstr>Measuring Success in Agile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90</cp:revision>
  <dcterms:created xsi:type="dcterms:W3CDTF">2026-01-06T05:40:50Z</dcterms:created>
  <dcterms:modified xsi:type="dcterms:W3CDTF">2026-03-31T11:48:41Z</dcterms:modified>
</cp:coreProperties>
</file>