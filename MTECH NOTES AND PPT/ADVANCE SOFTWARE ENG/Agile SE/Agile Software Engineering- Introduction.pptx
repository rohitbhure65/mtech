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1" d="100"/>
          <a:sy n="101" d="100"/>
        </p:scale>
        <p:origin x="18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DFD94-9AF5-4750-A612-64C774B24713}"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DFD94-9AF5-4750-A612-64C774B24713}"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DFD94-9AF5-4750-A612-64C774B24713}"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DFD94-9AF5-4750-A612-64C774B24713}" type="datetimeFigureOut">
              <a:rPr lang="en-IN" smtClean="0"/>
              <a:t>06-01-2026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DFD94-9AF5-4750-A612-64C774B24713}"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DFD94-9AF5-4750-A612-64C774B24713}" type="datetimeFigureOut">
              <a:rPr lang="en-IN" smtClean="0"/>
              <a:t>06-01-2026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DFD94-9AF5-4750-A612-64C774B24713}" type="datetimeFigureOut">
              <a:rPr lang="en-IN" smtClean="0"/>
              <a:t>06-01-2026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lstStyle/>
          <a:p>
            <a:r>
              <a:rPr lang="en-IN" dirty="0"/>
              <a:t>Agile Software Engineering</a:t>
            </a:r>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IN" sz="4800" b="1" dirty="0">
                <a:solidFill>
                  <a:srgbClr val="FF0000"/>
                </a:solidFill>
              </a:rPr>
              <a:t>Introduction</a:t>
            </a: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AA02C-F3DD-3505-FDFE-5360837C8F83}"/>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5EA2F120-1DCB-2EC9-0001-F78768D6C8D4}"/>
              </a:ext>
            </a:extLst>
          </p:cNvPr>
          <p:cNvSpPr>
            <a:spLocks noGrp="1"/>
          </p:cNvSpPr>
          <p:nvPr>
            <p:ph idx="1"/>
          </p:nvPr>
        </p:nvSpPr>
        <p:spPr/>
        <p:txBody>
          <a:bodyPr>
            <a:normAutofit/>
          </a:bodyPr>
          <a:lstStyle/>
          <a:p>
            <a:r>
              <a:rPr lang="en-US" dirty="0"/>
              <a:t>Software development, also known as software engineering, is defined by the Software Engineering Body of Knowledge (Abran, Moore, et al. 2004) </a:t>
            </a:r>
          </a:p>
          <a:p>
            <a:r>
              <a:rPr lang="en-US" dirty="0"/>
              <a:t>As a “systematic, disciplined, quantifiable approach to the development, operation, and maintenance of software, and the study of these approaches; that is, the application of engineering to software”.</a:t>
            </a:r>
          </a:p>
          <a:p>
            <a:r>
              <a:rPr lang="en-US" dirty="0"/>
              <a:t>Emerged in the 1950s with operating systems and became increasingly popular in the 1960s and 1970s as software became a focus in computing.</a:t>
            </a:r>
            <a:endParaRPr lang="en-IN" dirty="0"/>
          </a:p>
        </p:txBody>
      </p:sp>
    </p:spTree>
    <p:extLst>
      <p:ext uri="{BB962C8B-B14F-4D97-AF65-F5344CB8AC3E}">
        <p14:creationId xmlns:p14="http://schemas.microsoft.com/office/powerpoint/2010/main" val="2844925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7C0F1-19A5-4C58-8907-9C212D39B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4155FD-26DA-EC84-8606-CED31770B13A}"/>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B880BC17-F425-8017-4BE3-477D2EDA30EE}"/>
              </a:ext>
            </a:extLst>
          </p:cNvPr>
          <p:cNvSpPr>
            <a:spLocks noGrp="1"/>
          </p:cNvSpPr>
          <p:nvPr>
            <p:ph idx="1"/>
          </p:nvPr>
        </p:nvSpPr>
        <p:spPr/>
        <p:txBody>
          <a:bodyPr>
            <a:normAutofit/>
          </a:bodyPr>
          <a:lstStyle/>
          <a:p>
            <a:r>
              <a:rPr lang="en-US" dirty="0"/>
              <a:t>The first, and still the most popular, software development process is referred to as the </a:t>
            </a:r>
            <a:r>
              <a:rPr lang="en-US" b="1" dirty="0"/>
              <a:t>Waterfall </a:t>
            </a:r>
            <a:r>
              <a:rPr lang="en-US" dirty="0"/>
              <a:t>model. </a:t>
            </a:r>
          </a:p>
          <a:p>
            <a:r>
              <a:rPr lang="en-US" dirty="0"/>
              <a:t>The Waterfall model advocates sequential phases of development in which each stage is completed before the next begins, with a focus on structure. </a:t>
            </a:r>
          </a:p>
          <a:p>
            <a:r>
              <a:rPr lang="en-US" dirty="0"/>
              <a:t>For example, all software designs are completed before the </a:t>
            </a:r>
            <a:r>
              <a:rPr lang="en-IN" dirty="0"/>
              <a:t>coding phase begins.</a:t>
            </a:r>
          </a:p>
          <a:p>
            <a:r>
              <a:rPr lang="en-US" dirty="0"/>
              <a:t>Despite the popularity of Waterfall development, it has continued to be criticized in the field for being process-heavy and unresponsive to the inevitable changes that  arise during software development projects</a:t>
            </a:r>
            <a:endParaRPr lang="en-IN" dirty="0"/>
          </a:p>
        </p:txBody>
      </p:sp>
    </p:spTree>
    <p:extLst>
      <p:ext uri="{BB962C8B-B14F-4D97-AF65-F5344CB8AC3E}">
        <p14:creationId xmlns:p14="http://schemas.microsoft.com/office/powerpoint/2010/main" val="2596644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DB608-6DB3-54DB-4738-DC005B3A4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D1AE1-3D1D-04D8-95D4-9C55C7E1E2A6}"/>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D2A40B66-736D-D841-6832-068C55AB3393}"/>
              </a:ext>
            </a:extLst>
          </p:cNvPr>
          <p:cNvSpPr>
            <a:spLocks noGrp="1"/>
          </p:cNvSpPr>
          <p:nvPr>
            <p:ph idx="1"/>
          </p:nvPr>
        </p:nvSpPr>
        <p:spPr/>
        <p:txBody>
          <a:bodyPr>
            <a:normAutofit/>
          </a:bodyPr>
          <a:lstStyle/>
          <a:p>
            <a:endParaRPr lang="en-IN" dirty="0"/>
          </a:p>
        </p:txBody>
      </p:sp>
      <p:pic>
        <p:nvPicPr>
          <p:cNvPr id="5" name="Picture 4">
            <a:extLst>
              <a:ext uri="{FF2B5EF4-FFF2-40B4-BE49-F238E27FC236}">
                <a16:creationId xmlns:a16="http://schemas.microsoft.com/office/drawing/2014/main" id="{325C5846-226A-55EF-919C-3280E2B24B6D}"/>
              </a:ext>
            </a:extLst>
          </p:cNvPr>
          <p:cNvPicPr>
            <a:picLocks noChangeAspect="1"/>
          </p:cNvPicPr>
          <p:nvPr/>
        </p:nvPicPr>
        <p:blipFill>
          <a:blip r:embed="rId2"/>
          <a:stretch>
            <a:fillRect/>
          </a:stretch>
        </p:blipFill>
        <p:spPr>
          <a:xfrm>
            <a:off x="762000" y="1524000"/>
            <a:ext cx="7620000" cy="3810000"/>
          </a:xfrm>
          <a:prstGeom prst="rect">
            <a:avLst/>
          </a:prstGeom>
        </p:spPr>
      </p:pic>
    </p:spTree>
    <p:extLst>
      <p:ext uri="{BB962C8B-B14F-4D97-AF65-F5344CB8AC3E}">
        <p14:creationId xmlns:p14="http://schemas.microsoft.com/office/powerpoint/2010/main" val="1416915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53C71-4E7E-CD94-E2CC-958E7073F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DF7B8-3C9D-AC86-DABC-AC675F92E603}"/>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2834383C-ABF5-AB4E-0D1B-7843E12A6E67}"/>
              </a:ext>
            </a:extLst>
          </p:cNvPr>
          <p:cNvSpPr>
            <a:spLocks noGrp="1"/>
          </p:cNvSpPr>
          <p:nvPr>
            <p:ph idx="1"/>
          </p:nvPr>
        </p:nvSpPr>
        <p:spPr/>
        <p:txBody>
          <a:bodyPr>
            <a:normAutofit fontScale="92500" lnSpcReduction="20000"/>
          </a:bodyPr>
          <a:lstStyle/>
          <a:p>
            <a:r>
              <a:rPr lang="en-US" dirty="0"/>
              <a:t>Features of the Waterfall Model</a:t>
            </a:r>
          </a:p>
          <a:p>
            <a:r>
              <a:rPr lang="en-US" b="1" dirty="0"/>
              <a:t>Sequential Approach: </a:t>
            </a:r>
          </a:p>
          <a:p>
            <a:pPr lvl="1"/>
            <a:r>
              <a:rPr lang="en-US" dirty="0"/>
              <a:t>The waterfall model involves a sequential approach to software development, where each phase of the project is completed before moving on to the next one.</a:t>
            </a:r>
          </a:p>
          <a:p>
            <a:r>
              <a:rPr lang="en-US" b="1" dirty="0"/>
              <a:t>Document-Driven: </a:t>
            </a:r>
          </a:p>
          <a:p>
            <a:pPr lvl="1"/>
            <a:r>
              <a:rPr lang="en-US" dirty="0"/>
              <a:t>The waterfall model depended on documentation to ensure that the project is well-defined and the project team is working towards a clear set of goals.</a:t>
            </a:r>
          </a:p>
          <a:p>
            <a:r>
              <a:rPr lang="en-US" b="1" dirty="0"/>
              <a:t>Quality Control: </a:t>
            </a:r>
          </a:p>
          <a:p>
            <a:pPr lvl="1"/>
            <a:r>
              <a:rPr lang="en-US" dirty="0"/>
              <a:t>The waterfall model places a high emphasis on quality control and testing at each phase of the project, to ensure that the final product meets the requirements and expectations of the stakeholders.</a:t>
            </a:r>
          </a:p>
          <a:p>
            <a:r>
              <a:rPr lang="en-US" b="1" dirty="0"/>
              <a:t>Rigorous Planning: </a:t>
            </a:r>
          </a:p>
          <a:p>
            <a:pPr lvl="1"/>
            <a:r>
              <a:rPr lang="en-US" dirty="0"/>
              <a:t>The waterfall model involves a careful planning process, where the project scope, timelines, and deliverables are carefully defined and monitored throughout the project lifecycle.</a:t>
            </a:r>
            <a:endParaRPr lang="en-IN" dirty="0"/>
          </a:p>
        </p:txBody>
      </p:sp>
    </p:spTree>
    <p:extLst>
      <p:ext uri="{BB962C8B-B14F-4D97-AF65-F5344CB8AC3E}">
        <p14:creationId xmlns:p14="http://schemas.microsoft.com/office/powerpoint/2010/main" val="3227140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B564F-7A6D-A293-C882-A3D327C92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CA2365-2AE2-24FB-446A-2E629564A401}"/>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1324A15E-1FE5-B5CA-879E-126D9E00089B}"/>
              </a:ext>
            </a:extLst>
          </p:cNvPr>
          <p:cNvSpPr>
            <a:spLocks noGrp="1"/>
          </p:cNvSpPr>
          <p:nvPr>
            <p:ph idx="1"/>
          </p:nvPr>
        </p:nvSpPr>
        <p:spPr/>
        <p:txBody>
          <a:bodyPr>
            <a:normAutofit fontScale="77500" lnSpcReduction="20000"/>
          </a:bodyPr>
          <a:lstStyle/>
          <a:p>
            <a:pPr fontAlgn="base"/>
            <a:r>
              <a:rPr lang="en-US" b="1" dirty="0"/>
              <a:t>Importance of the Waterfall Model</a:t>
            </a:r>
          </a:p>
          <a:p>
            <a:pPr fontAlgn="base"/>
            <a:r>
              <a:rPr lang="en-US" b="1" dirty="0"/>
              <a:t>Clarity and Simplicity:</a:t>
            </a:r>
            <a:r>
              <a:rPr lang="en-US" dirty="0"/>
              <a:t> </a:t>
            </a:r>
          </a:p>
          <a:p>
            <a:pPr lvl="1" fontAlgn="base"/>
            <a:r>
              <a:rPr lang="en-US" dirty="0"/>
              <a:t>The linear form of the Waterfall Model offers a simple and unambiguous foundation for project development.</a:t>
            </a:r>
          </a:p>
          <a:p>
            <a:pPr fontAlgn="base"/>
            <a:r>
              <a:rPr lang="en-US" b="1" dirty="0"/>
              <a:t>Clearly Defined Phases:</a:t>
            </a:r>
            <a:r>
              <a:rPr lang="en-US" dirty="0"/>
              <a:t> </a:t>
            </a:r>
          </a:p>
          <a:p>
            <a:pPr lvl="1" fontAlgn="base"/>
            <a:r>
              <a:rPr lang="en-US" dirty="0"/>
              <a:t>The Waterfall Model phases each have unique inputs and outputs, guaranteeing a planned development with obvious checkpoints.</a:t>
            </a:r>
          </a:p>
          <a:p>
            <a:pPr fontAlgn="base"/>
            <a:r>
              <a:rPr lang="en-US" b="1" dirty="0"/>
              <a:t>Documentation: </a:t>
            </a:r>
          </a:p>
          <a:p>
            <a:pPr lvl="1" fontAlgn="base"/>
            <a:r>
              <a:rPr lang="en-US" dirty="0"/>
              <a:t>A focus on thorough documentation helps with software comprehension, maintenance, and future growth.</a:t>
            </a:r>
          </a:p>
          <a:p>
            <a:pPr fontAlgn="base"/>
            <a:r>
              <a:rPr lang="en-US" b="1" dirty="0"/>
              <a:t>Stability in Requirements:</a:t>
            </a:r>
            <a:r>
              <a:rPr lang="en-US" dirty="0"/>
              <a:t> </a:t>
            </a:r>
          </a:p>
          <a:p>
            <a:pPr lvl="1" fontAlgn="base"/>
            <a:r>
              <a:rPr lang="en-US" dirty="0"/>
              <a:t>Suitable for projects when the requirements are clear and stable, reducing modifications as the project progresses.</a:t>
            </a:r>
          </a:p>
          <a:p>
            <a:pPr fontAlgn="base"/>
            <a:r>
              <a:rPr lang="en-US" b="1" dirty="0"/>
              <a:t>Resource Optimization: </a:t>
            </a:r>
          </a:p>
          <a:p>
            <a:pPr lvl="1" fontAlgn="base"/>
            <a:r>
              <a:rPr lang="en-US" dirty="0"/>
              <a:t>It encourages effective task-focused work without continuously changing contexts by allocating resources according to project phases.</a:t>
            </a:r>
          </a:p>
          <a:p>
            <a:pPr fontAlgn="base"/>
            <a:r>
              <a:rPr lang="en-US" b="1" dirty="0"/>
              <a:t>Relevance for Small Projects:</a:t>
            </a:r>
            <a:r>
              <a:rPr lang="en-US" dirty="0"/>
              <a:t> </a:t>
            </a:r>
          </a:p>
          <a:p>
            <a:pPr lvl="1" fontAlgn="base"/>
            <a:r>
              <a:rPr lang="en-US" dirty="0"/>
              <a:t>Economical for modest projects with simple specifications and minimal complexity.</a:t>
            </a:r>
          </a:p>
        </p:txBody>
      </p:sp>
    </p:spTree>
    <p:extLst>
      <p:ext uri="{BB962C8B-B14F-4D97-AF65-F5344CB8AC3E}">
        <p14:creationId xmlns:p14="http://schemas.microsoft.com/office/powerpoint/2010/main" val="4089236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4CB1F-6025-DC96-D781-1CFB0CAD0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EA00B-C218-6324-4D0E-E0720E7FE9C8}"/>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664264B8-F7C7-FE46-8131-4A8D292BBD0A}"/>
              </a:ext>
            </a:extLst>
          </p:cNvPr>
          <p:cNvSpPr>
            <a:spLocks noGrp="1"/>
          </p:cNvSpPr>
          <p:nvPr>
            <p:ph idx="1"/>
          </p:nvPr>
        </p:nvSpPr>
        <p:spPr/>
        <p:txBody>
          <a:bodyPr>
            <a:normAutofit fontScale="62500" lnSpcReduction="20000"/>
          </a:bodyPr>
          <a:lstStyle/>
          <a:p>
            <a:pPr fontAlgn="base"/>
            <a:r>
              <a:rPr lang="en-US" b="1" dirty="0"/>
              <a:t>Advantages of the Waterfall Model</a:t>
            </a:r>
          </a:p>
          <a:p>
            <a:pPr fontAlgn="base"/>
            <a:r>
              <a:rPr lang="en-US" dirty="0"/>
              <a:t>The classical waterfall model is an idealistic model for software development. </a:t>
            </a:r>
          </a:p>
          <a:p>
            <a:pPr fontAlgn="base"/>
            <a:r>
              <a:rPr lang="en-US" dirty="0"/>
              <a:t>It is very simple, so it can be considered the basis for other software development life cycle models. </a:t>
            </a:r>
          </a:p>
          <a:p>
            <a:pPr fontAlgn="base"/>
            <a:r>
              <a:rPr lang="en-US" b="1" dirty="0"/>
              <a:t>Easy to Understand:</a:t>
            </a:r>
            <a:r>
              <a:rPr lang="en-US" dirty="0"/>
              <a:t> </a:t>
            </a:r>
          </a:p>
          <a:p>
            <a:pPr lvl="1" fontAlgn="base"/>
            <a:r>
              <a:rPr lang="en-US" dirty="0"/>
              <a:t>The Classical Waterfall Model is very simple and easy to understand.</a:t>
            </a:r>
          </a:p>
          <a:p>
            <a:pPr fontAlgn="base"/>
            <a:r>
              <a:rPr lang="en-US" b="1" dirty="0"/>
              <a:t>Individual Processing:</a:t>
            </a:r>
            <a:r>
              <a:rPr lang="en-US" dirty="0"/>
              <a:t> </a:t>
            </a:r>
          </a:p>
          <a:p>
            <a:pPr lvl="1" fontAlgn="base"/>
            <a:r>
              <a:rPr lang="en-US" dirty="0"/>
              <a:t>Phases in the Classical Waterfall model are processed one at a time.</a:t>
            </a:r>
          </a:p>
          <a:p>
            <a:pPr fontAlgn="base"/>
            <a:r>
              <a:rPr lang="en-US" b="1" dirty="0"/>
              <a:t>Properly Defined:</a:t>
            </a:r>
            <a:r>
              <a:rPr lang="en-US" dirty="0"/>
              <a:t> </a:t>
            </a:r>
          </a:p>
          <a:p>
            <a:pPr lvl="1" fontAlgn="base"/>
            <a:r>
              <a:rPr lang="en-US" dirty="0"/>
              <a:t>In the classical waterfall model, each stage in the model is clearly defined.</a:t>
            </a:r>
          </a:p>
          <a:p>
            <a:pPr fontAlgn="base"/>
            <a:r>
              <a:rPr lang="en-US" b="1" dirty="0"/>
              <a:t>Clear Milestones:</a:t>
            </a:r>
            <a:r>
              <a:rPr lang="en-US" dirty="0"/>
              <a:t> </a:t>
            </a:r>
          </a:p>
          <a:p>
            <a:pPr lvl="1" fontAlgn="base"/>
            <a:r>
              <a:rPr lang="en-US" dirty="0"/>
              <a:t>The classical Waterfall model has very clear and well-understood milestones.</a:t>
            </a:r>
          </a:p>
          <a:p>
            <a:pPr fontAlgn="base"/>
            <a:r>
              <a:rPr lang="en-US" b="1" dirty="0"/>
              <a:t>Properly Documented:</a:t>
            </a:r>
            <a:r>
              <a:rPr lang="en-US" dirty="0"/>
              <a:t> </a:t>
            </a:r>
          </a:p>
          <a:p>
            <a:pPr lvl="1" fontAlgn="base"/>
            <a:r>
              <a:rPr lang="en-US" dirty="0"/>
              <a:t>Processes, actions, and results are very well documented.</a:t>
            </a:r>
          </a:p>
          <a:p>
            <a:pPr fontAlgn="base"/>
            <a:r>
              <a:rPr lang="en-US" b="1" dirty="0"/>
              <a:t>Reinforces Good Habits:</a:t>
            </a:r>
            <a:r>
              <a:rPr lang="en-US" dirty="0"/>
              <a:t> </a:t>
            </a:r>
          </a:p>
          <a:p>
            <a:pPr lvl="1" fontAlgn="base"/>
            <a:r>
              <a:rPr lang="en-US" dirty="0"/>
              <a:t>The Classical Waterfall Model reinforces good habits like define-before-design and design-before-code.</a:t>
            </a:r>
          </a:p>
          <a:p>
            <a:pPr fontAlgn="base"/>
            <a:r>
              <a:rPr lang="en-US" b="1" dirty="0"/>
              <a:t>Working:</a:t>
            </a:r>
            <a:r>
              <a:rPr lang="en-US" dirty="0"/>
              <a:t> </a:t>
            </a:r>
          </a:p>
          <a:p>
            <a:pPr lvl="1" fontAlgn="base"/>
            <a:r>
              <a:rPr lang="en-US" dirty="0"/>
              <a:t>The Classical Waterfall Model works well for smaller projects and projects where requirements are well understood.</a:t>
            </a:r>
          </a:p>
        </p:txBody>
      </p:sp>
    </p:spTree>
    <p:extLst>
      <p:ext uri="{BB962C8B-B14F-4D97-AF65-F5344CB8AC3E}">
        <p14:creationId xmlns:p14="http://schemas.microsoft.com/office/powerpoint/2010/main" val="1642350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48E5A-21C4-52B7-40E6-DF6445A49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A8224-F1E6-0B74-7E1A-F95F1BE3B9C2}"/>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DBAAD617-4590-A58B-0FBF-13CE6CA82473}"/>
              </a:ext>
            </a:extLst>
          </p:cNvPr>
          <p:cNvSpPr>
            <a:spLocks noGrp="1"/>
          </p:cNvSpPr>
          <p:nvPr>
            <p:ph idx="1"/>
          </p:nvPr>
        </p:nvSpPr>
        <p:spPr/>
        <p:txBody>
          <a:bodyPr>
            <a:normAutofit fontScale="77500" lnSpcReduction="20000"/>
          </a:bodyPr>
          <a:lstStyle/>
          <a:p>
            <a:pPr fontAlgn="base"/>
            <a:r>
              <a:rPr lang="en-US" b="1" dirty="0"/>
              <a:t>Disadvantages of Waterfall Model</a:t>
            </a:r>
          </a:p>
          <a:p>
            <a:pPr fontAlgn="base"/>
            <a:r>
              <a:rPr lang="en-US" dirty="0"/>
              <a:t>The Classical Waterfall Model suffers from various shortcomings we can’t use it in real projects, but we use other software development lifecycle models which are based on the classical waterfall model. </a:t>
            </a:r>
          </a:p>
          <a:p>
            <a:pPr fontAlgn="base"/>
            <a:r>
              <a:rPr lang="en-US" b="1" dirty="0"/>
              <a:t>No Feedback Path:</a:t>
            </a:r>
            <a:r>
              <a:rPr lang="en-US" dirty="0"/>
              <a:t> </a:t>
            </a:r>
          </a:p>
          <a:p>
            <a:pPr lvl="1" fontAlgn="base"/>
            <a:r>
              <a:rPr lang="en-US" dirty="0"/>
              <a:t>In the classical waterfall model evolution of software from one phase to another phase is like a waterfall. </a:t>
            </a:r>
          </a:p>
          <a:p>
            <a:pPr lvl="1" fontAlgn="base"/>
            <a:r>
              <a:rPr lang="en-US" dirty="0"/>
              <a:t>It assumes that no error is ever committed by developers during any phase. Therefore, it does not incorporate any mechanism for error correction. </a:t>
            </a:r>
          </a:p>
          <a:p>
            <a:pPr fontAlgn="base"/>
            <a:r>
              <a:rPr lang="en-US" b="1" dirty="0"/>
              <a:t>Difficult to accommodate Change Requests:</a:t>
            </a:r>
            <a:r>
              <a:rPr lang="en-US" dirty="0"/>
              <a:t> </a:t>
            </a:r>
          </a:p>
          <a:p>
            <a:pPr lvl="1" fontAlgn="base"/>
            <a:r>
              <a:rPr lang="en-US" dirty="0"/>
              <a:t>This model assumes that all the customer requirements can be completely and correctly defined at the beginning of the project, but the customer's requirements keep on changing with time. </a:t>
            </a:r>
          </a:p>
          <a:p>
            <a:pPr lvl="1" fontAlgn="base"/>
            <a:r>
              <a:rPr lang="en-US" dirty="0"/>
              <a:t>It is difficult to accommodate any change requests after the requirements specification phase is complete. </a:t>
            </a:r>
          </a:p>
          <a:p>
            <a:pPr fontAlgn="base"/>
            <a:r>
              <a:rPr lang="en-US" b="1" dirty="0"/>
              <a:t>No Overlapping of Phases:</a:t>
            </a:r>
            <a:r>
              <a:rPr lang="en-US" dirty="0"/>
              <a:t> </a:t>
            </a:r>
          </a:p>
          <a:p>
            <a:pPr lvl="1" fontAlgn="base"/>
            <a:r>
              <a:rPr lang="en-US" dirty="0"/>
              <a:t>This model recommends that a new phase can start only after the completion of the previous phase. </a:t>
            </a:r>
          </a:p>
          <a:p>
            <a:pPr lvl="1" fontAlgn="base"/>
            <a:r>
              <a:rPr lang="en-US" dirty="0"/>
              <a:t>But in real projects, this can't be maintained. To increase efficiency and reduce cost, phases may overlap. </a:t>
            </a:r>
          </a:p>
        </p:txBody>
      </p:sp>
    </p:spTree>
    <p:extLst>
      <p:ext uri="{BB962C8B-B14F-4D97-AF65-F5344CB8AC3E}">
        <p14:creationId xmlns:p14="http://schemas.microsoft.com/office/powerpoint/2010/main" val="2442270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E76F4-5A56-94F2-DEA7-9E852A173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58B8E-0438-CE01-927A-26EA78BC5FA9}"/>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01C29F9D-0E51-8607-CE07-B63693F444D1}"/>
              </a:ext>
            </a:extLst>
          </p:cNvPr>
          <p:cNvSpPr>
            <a:spLocks noGrp="1"/>
          </p:cNvSpPr>
          <p:nvPr>
            <p:ph idx="1"/>
          </p:nvPr>
        </p:nvSpPr>
        <p:spPr/>
        <p:txBody>
          <a:bodyPr>
            <a:normAutofit/>
          </a:bodyPr>
          <a:lstStyle/>
          <a:p>
            <a:pPr fontAlgn="base"/>
            <a:r>
              <a:rPr lang="en-US" b="1" dirty="0"/>
              <a:t>Disadvantages of Waterfall Model</a:t>
            </a:r>
          </a:p>
          <a:p>
            <a:pPr fontAlgn="base"/>
            <a:r>
              <a:rPr lang="en-US" b="1" dirty="0"/>
              <a:t>Limited Flexibility:</a:t>
            </a:r>
            <a:r>
              <a:rPr lang="en-US" dirty="0"/>
              <a:t> </a:t>
            </a:r>
          </a:p>
          <a:p>
            <a:pPr lvl="1" fontAlgn="base"/>
            <a:r>
              <a:rPr lang="en-US" dirty="0"/>
              <a:t>The Waterfall Model is a rigid and linear approach to software development, which means that it is not well-suited for projects with changing or uncertain requirements. </a:t>
            </a:r>
          </a:p>
          <a:p>
            <a:pPr lvl="1" fontAlgn="base"/>
            <a:r>
              <a:rPr lang="en-US" dirty="0"/>
              <a:t>Once a phase has been completed, it is difficult to make changes or go back to a previous phase.</a:t>
            </a:r>
          </a:p>
          <a:p>
            <a:pPr fontAlgn="base"/>
            <a:r>
              <a:rPr lang="en-US" b="1" dirty="0"/>
              <a:t>Limited Stakeholder Involvement:</a:t>
            </a:r>
            <a:r>
              <a:rPr lang="en-US" dirty="0"/>
              <a:t> </a:t>
            </a:r>
          </a:p>
          <a:p>
            <a:pPr lvl="1" fontAlgn="base"/>
            <a:r>
              <a:rPr lang="en-US" dirty="0"/>
              <a:t>The Waterfall Model is a structured and sequential approach, which means that stakeholders are typically involved in the early phases of the project (requirements gathering and analysis) but may not be involved in the later phases </a:t>
            </a:r>
            <a:r>
              <a:rPr lang="en-US" u="sng" dirty="0"/>
              <a:t>(implementation, testing, and deployment).</a:t>
            </a:r>
            <a:endParaRPr lang="en-US" dirty="0"/>
          </a:p>
        </p:txBody>
      </p:sp>
    </p:spTree>
    <p:extLst>
      <p:ext uri="{BB962C8B-B14F-4D97-AF65-F5344CB8AC3E}">
        <p14:creationId xmlns:p14="http://schemas.microsoft.com/office/powerpoint/2010/main" val="1884862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5C8F3-22F3-AB2B-5250-AE6D32B32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568EB-A4E2-DE5F-7C47-CC41D8AAA4A1}"/>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E5456964-DDEA-A50A-5CD5-E89D22342F08}"/>
              </a:ext>
            </a:extLst>
          </p:cNvPr>
          <p:cNvSpPr>
            <a:spLocks noGrp="1"/>
          </p:cNvSpPr>
          <p:nvPr>
            <p:ph idx="1"/>
          </p:nvPr>
        </p:nvSpPr>
        <p:spPr/>
        <p:txBody>
          <a:bodyPr>
            <a:normAutofit/>
          </a:bodyPr>
          <a:lstStyle/>
          <a:p>
            <a:pPr fontAlgn="base"/>
            <a:r>
              <a:rPr lang="en-US" b="1" dirty="0"/>
              <a:t>Disadvantages of Waterfall Model</a:t>
            </a:r>
          </a:p>
          <a:p>
            <a:pPr fontAlgn="base"/>
            <a:r>
              <a:rPr lang="en-US" b="1" dirty="0"/>
              <a:t>Late Defect Detection:</a:t>
            </a:r>
            <a:r>
              <a:rPr lang="en-US" dirty="0"/>
              <a:t> </a:t>
            </a:r>
          </a:p>
          <a:p>
            <a:pPr lvl="1" fontAlgn="base"/>
            <a:r>
              <a:rPr lang="en-US" dirty="0"/>
              <a:t>In the Waterfall Model, testing is typically done toward the end of the development process. </a:t>
            </a:r>
          </a:p>
          <a:p>
            <a:pPr lvl="1" fontAlgn="base"/>
            <a:r>
              <a:rPr lang="en-US" dirty="0"/>
              <a:t>This means that defects may not be discovered until late in the development process, which can be expensive and time-consuming to fix.</a:t>
            </a:r>
          </a:p>
          <a:p>
            <a:pPr fontAlgn="base"/>
            <a:r>
              <a:rPr lang="en-US" b="1" dirty="0"/>
              <a:t>Lengthy Development Cycle: </a:t>
            </a:r>
          </a:p>
          <a:p>
            <a:pPr lvl="1" fontAlgn="base"/>
            <a:r>
              <a:rPr lang="en-US" dirty="0"/>
              <a:t>The Waterfall Model can result in a lengthy development cycle, as each phase must be completed before moving on to the next. </a:t>
            </a:r>
          </a:p>
          <a:p>
            <a:pPr lvl="1" fontAlgn="base"/>
            <a:r>
              <a:rPr lang="en-US" dirty="0"/>
              <a:t>This can result in delays and increased costs if requirements change or new issues arise.</a:t>
            </a:r>
          </a:p>
        </p:txBody>
      </p:sp>
    </p:spTree>
    <p:extLst>
      <p:ext uri="{BB962C8B-B14F-4D97-AF65-F5344CB8AC3E}">
        <p14:creationId xmlns:p14="http://schemas.microsoft.com/office/powerpoint/2010/main" val="3842645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D45D4-F18C-63E6-8D22-1D5D65024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892FF-F344-A3C3-89A1-1F779B1AD59F}"/>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7652F1A6-7253-9BBB-32A7-D894CFA5DB7D}"/>
              </a:ext>
            </a:extLst>
          </p:cNvPr>
          <p:cNvSpPr>
            <a:spLocks noGrp="1"/>
          </p:cNvSpPr>
          <p:nvPr>
            <p:ph idx="1"/>
          </p:nvPr>
        </p:nvSpPr>
        <p:spPr/>
        <p:txBody>
          <a:bodyPr>
            <a:normAutofit lnSpcReduction="10000"/>
          </a:bodyPr>
          <a:lstStyle/>
          <a:p>
            <a:pPr fontAlgn="base"/>
            <a:r>
              <a:rPr lang="en-US" b="1" dirty="0"/>
              <a:t>When to Use Waterfall Model?</a:t>
            </a:r>
          </a:p>
          <a:p>
            <a:pPr fontAlgn="base"/>
            <a:r>
              <a:rPr lang="en-US" b="1" dirty="0"/>
              <a:t>Well-understood Requirements:</a:t>
            </a:r>
            <a:r>
              <a:rPr lang="en-US" dirty="0"/>
              <a:t> </a:t>
            </a:r>
          </a:p>
          <a:p>
            <a:pPr lvl="1" fontAlgn="base"/>
            <a:r>
              <a:rPr lang="en-US" dirty="0"/>
              <a:t>Before beginning development, there are precise, reliable, and thoroughly documented requirements available.</a:t>
            </a:r>
          </a:p>
          <a:p>
            <a:pPr fontAlgn="base"/>
            <a:r>
              <a:rPr lang="en-US" b="1" dirty="0"/>
              <a:t>Very Little Changes Expected:</a:t>
            </a:r>
            <a:r>
              <a:rPr lang="en-US" dirty="0"/>
              <a:t> </a:t>
            </a:r>
          </a:p>
          <a:p>
            <a:pPr lvl="1" fontAlgn="base"/>
            <a:r>
              <a:rPr lang="en-US" dirty="0"/>
              <a:t>During development, very little adjustments or expansions to the project's scope are anticipated.</a:t>
            </a:r>
          </a:p>
          <a:p>
            <a:pPr fontAlgn="base"/>
            <a:r>
              <a:rPr lang="en-US" b="1" dirty="0"/>
              <a:t>Small to Medium-Sized Projects</a:t>
            </a:r>
            <a:r>
              <a:rPr lang="en-US" dirty="0"/>
              <a:t>: </a:t>
            </a:r>
          </a:p>
          <a:p>
            <a:pPr lvl="1" fontAlgn="base"/>
            <a:r>
              <a:rPr lang="en-US" dirty="0"/>
              <a:t>Ideal for more manageable projects with a clear development path and little complexity.</a:t>
            </a:r>
          </a:p>
          <a:p>
            <a:pPr fontAlgn="base"/>
            <a:r>
              <a:rPr lang="en-US" b="1" dirty="0"/>
              <a:t>Predictable: </a:t>
            </a:r>
          </a:p>
          <a:p>
            <a:pPr lvl="1" fontAlgn="base"/>
            <a:r>
              <a:rPr lang="en-US" dirty="0"/>
              <a:t>Projects that are predictable, low-risk, and able to be addressed early in the development life cycle are those that have known, controllable risks.</a:t>
            </a:r>
          </a:p>
        </p:txBody>
      </p:sp>
    </p:spTree>
    <p:extLst>
      <p:ext uri="{BB962C8B-B14F-4D97-AF65-F5344CB8AC3E}">
        <p14:creationId xmlns:p14="http://schemas.microsoft.com/office/powerpoint/2010/main" val="3767216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E560-311B-FB02-A1CA-1C6C43A61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F0A20-5D26-1790-356F-41BA58FBDE49}"/>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87215DE7-9139-ABE9-C54B-33A4967E9316}"/>
              </a:ext>
            </a:extLst>
          </p:cNvPr>
          <p:cNvSpPr>
            <a:spLocks noGrp="1"/>
          </p:cNvSpPr>
          <p:nvPr>
            <p:ph idx="1"/>
          </p:nvPr>
        </p:nvSpPr>
        <p:spPr/>
        <p:txBody>
          <a:bodyPr>
            <a:normAutofit lnSpcReduction="10000"/>
          </a:bodyPr>
          <a:lstStyle/>
          <a:p>
            <a:pPr fontAlgn="base"/>
            <a:r>
              <a:rPr lang="en-US" b="1" dirty="0"/>
              <a:t>When to Use Waterfall Model?</a:t>
            </a:r>
          </a:p>
          <a:p>
            <a:pPr fontAlgn="base"/>
            <a:r>
              <a:rPr lang="en-US" b="1" dirty="0"/>
              <a:t>Regulatory Compliance is Critical:</a:t>
            </a:r>
            <a:r>
              <a:rPr lang="en-US" dirty="0"/>
              <a:t> </a:t>
            </a:r>
          </a:p>
          <a:p>
            <a:pPr lvl="1" fontAlgn="base"/>
            <a:r>
              <a:rPr lang="en-US" dirty="0"/>
              <a:t>Circumstances in which paperwork is of utmost importance and stringent regulatory compliance is required.</a:t>
            </a:r>
          </a:p>
          <a:p>
            <a:pPr fontAlgn="base"/>
            <a:r>
              <a:rPr lang="en-US" b="1" dirty="0"/>
              <a:t>Client Prefers a Linear and Sequential Approach</a:t>
            </a:r>
            <a:r>
              <a:rPr lang="en-US" dirty="0"/>
              <a:t>: </a:t>
            </a:r>
          </a:p>
          <a:p>
            <a:pPr lvl="1" fontAlgn="base"/>
            <a:r>
              <a:rPr lang="en-US" dirty="0"/>
              <a:t>This situation describes the client's preference for a linear and sequential approach to project development.</a:t>
            </a:r>
          </a:p>
          <a:p>
            <a:pPr fontAlgn="base"/>
            <a:r>
              <a:rPr lang="en-US" b="1" dirty="0"/>
              <a:t>Limited Resources</a:t>
            </a:r>
            <a:r>
              <a:rPr lang="en-US" dirty="0"/>
              <a:t>: </a:t>
            </a:r>
          </a:p>
          <a:p>
            <a:pPr lvl="1" fontAlgn="base"/>
            <a:r>
              <a:rPr lang="en-US" dirty="0"/>
              <a:t>Projects with limited resources can benefit from a set-up strategy, which enables targeted resource allocation.</a:t>
            </a:r>
          </a:p>
          <a:p>
            <a:pPr fontAlgn="base"/>
            <a:r>
              <a:rPr lang="en-US" dirty="0"/>
              <a:t>The Waterfall approach involves less user interaction in the product development process. </a:t>
            </a:r>
          </a:p>
          <a:p>
            <a:pPr fontAlgn="base"/>
            <a:r>
              <a:rPr lang="en-US" dirty="0"/>
              <a:t>The product can only be shown to end user when it is ready.</a:t>
            </a:r>
          </a:p>
        </p:txBody>
      </p:sp>
    </p:spTree>
    <p:extLst>
      <p:ext uri="{BB962C8B-B14F-4D97-AF65-F5344CB8AC3E}">
        <p14:creationId xmlns:p14="http://schemas.microsoft.com/office/powerpoint/2010/main" val="2279216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6783D-A381-4757-4098-423C0EFE1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57DFC-8373-A844-3345-0E9FC05C938A}"/>
              </a:ext>
            </a:extLst>
          </p:cNvPr>
          <p:cNvSpPr>
            <a:spLocks noGrp="1"/>
          </p:cNvSpPr>
          <p:nvPr>
            <p:ph type="title"/>
          </p:nvPr>
        </p:nvSpPr>
        <p:spPr/>
        <p:txBody>
          <a:bodyPr/>
          <a:lstStyle/>
          <a:p>
            <a:r>
              <a:rPr lang="en-IN" dirty="0"/>
              <a:t>The Beginnings</a:t>
            </a:r>
          </a:p>
        </p:txBody>
      </p:sp>
      <p:sp>
        <p:nvSpPr>
          <p:cNvPr id="3" name="Content Placeholder 2">
            <a:extLst>
              <a:ext uri="{FF2B5EF4-FFF2-40B4-BE49-F238E27FC236}">
                <a16:creationId xmlns:a16="http://schemas.microsoft.com/office/drawing/2014/main" id="{C70C23F9-68D9-3955-BECF-A8D64FFBBDB8}"/>
              </a:ext>
            </a:extLst>
          </p:cNvPr>
          <p:cNvSpPr>
            <a:spLocks noGrp="1"/>
          </p:cNvSpPr>
          <p:nvPr>
            <p:ph idx="1"/>
          </p:nvPr>
        </p:nvSpPr>
        <p:spPr/>
        <p:txBody>
          <a:bodyPr>
            <a:normAutofit fontScale="70000" lnSpcReduction="20000"/>
          </a:bodyPr>
          <a:lstStyle/>
          <a:p>
            <a:pPr fontAlgn="base"/>
            <a:r>
              <a:rPr lang="en-US" b="1" dirty="0"/>
              <a:t>Applications of Waterfall Model</a:t>
            </a:r>
          </a:p>
          <a:p>
            <a:pPr fontAlgn="base"/>
            <a:r>
              <a:rPr lang="en-US" b="1" dirty="0"/>
              <a:t>Large-scale Software Development Projects:</a:t>
            </a:r>
            <a:r>
              <a:rPr lang="en-US" dirty="0"/>
              <a:t> </a:t>
            </a:r>
          </a:p>
          <a:p>
            <a:pPr lvl="1" fontAlgn="base"/>
            <a:r>
              <a:rPr lang="en-US" dirty="0"/>
              <a:t>The Waterfall Model is often used for large-scale software development projects, where a structured and sequential approach is necessary to ensure that the project is completed on time and within budget.</a:t>
            </a:r>
          </a:p>
          <a:p>
            <a:pPr fontAlgn="base"/>
            <a:r>
              <a:rPr lang="en-US" b="1" dirty="0"/>
              <a:t>Safety-Critical Systems:</a:t>
            </a:r>
            <a:r>
              <a:rPr lang="en-US" dirty="0"/>
              <a:t> </a:t>
            </a:r>
          </a:p>
          <a:p>
            <a:pPr lvl="1" fontAlgn="base"/>
            <a:r>
              <a:rPr lang="en-US" dirty="0"/>
              <a:t>The Waterfall Model is often used in the development of safety-critical systems, such as aerospace or medical systems, where the consequences of errors or defects can be severe.</a:t>
            </a:r>
          </a:p>
          <a:p>
            <a:pPr fontAlgn="base"/>
            <a:r>
              <a:rPr lang="en-US" b="1" dirty="0"/>
              <a:t>Government and Defense Projects:</a:t>
            </a:r>
            <a:r>
              <a:rPr lang="en-US" dirty="0"/>
              <a:t> </a:t>
            </a:r>
          </a:p>
          <a:p>
            <a:pPr lvl="1" fontAlgn="base"/>
            <a:r>
              <a:rPr lang="en-US" dirty="0"/>
              <a:t>The Waterfall Model is also commonly used in government and defense projects, where a rigorous and structured approach is necessary to ensure that the project meets all requirements and is delivered on time.</a:t>
            </a:r>
          </a:p>
          <a:p>
            <a:pPr fontAlgn="base"/>
            <a:r>
              <a:rPr lang="en-US" b="1" dirty="0"/>
              <a:t>Projects with well-defined Requirements:</a:t>
            </a:r>
            <a:r>
              <a:rPr lang="en-US" dirty="0"/>
              <a:t> </a:t>
            </a:r>
          </a:p>
          <a:p>
            <a:pPr lvl="1" fontAlgn="base"/>
            <a:r>
              <a:rPr lang="en-US" dirty="0"/>
              <a:t>The Waterfall Model is best suited for projects with well-defined requirements, as the sequential nature of the model requires a clear understanding of the project objectives and scope.</a:t>
            </a:r>
          </a:p>
          <a:p>
            <a:pPr fontAlgn="base"/>
            <a:r>
              <a:rPr lang="en-US" b="1" dirty="0"/>
              <a:t>Projects with Stable Requirements</a:t>
            </a:r>
            <a:r>
              <a:rPr lang="en-US" b="1"/>
              <a:t>:</a:t>
            </a:r>
            <a:r>
              <a:rPr lang="en-US"/>
              <a:t> </a:t>
            </a:r>
          </a:p>
          <a:p>
            <a:pPr lvl="1" fontAlgn="base"/>
            <a:r>
              <a:rPr lang="en-US"/>
              <a:t>The </a:t>
            </a:r>
            <a:r>
              <a:rPr lang="en-US" dirty="0"/>
              <a:t>Waterfall Model is also well-suited for projects with stable requirements, as the linear nature of the model does not allow for changes to be made once a phase has been completed.</a:t>
            </a:r>
          </a:p>
        </p:txBody>
      </p:sp>
    </p:spTree>
    <p:extLst>
      <p:ext uri="{BB962C8B-B14F-4D97-AF65-F5344CB8AC3E}">
        <p14:creationId xmlns:p14="http://schemas.microsoft.com/office/powerpoint/2010/main" val="91451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CBC11-F02A-EA26-1B9E-82433E3691EA}"/>
              </a:ext>
            </a:extLst>
          </p:cNvPr>
          <p:cNvSpPr>
            <a:spLocks noGrp="1"/>
          </p:cNvSpPr>
          <p:nvPr>
            <p:ph type="title"/>
          </p:nvPr>
        </p:nvSpPr>
        <p:spPr/>
        <p:txBody>
          <a:bodyPr>
            <a:normAutofit fontScale="90000"/>
          </a:bodyPr>
          <a:lstStyle/>
          <a:p>
            <a:r>
              <a:rPr lang="en-US" dirty="0"/>
              <a:t>The Rise of Agile Software Development</a:t>
            </a:r>
            <a:endParaRPr lang="en-IN" dirty="0"/>
          </a:p>
        </p:txBody>
      </p:sp>
      <p:sp>
        <p:nvSpPr>
          <p:cNvPr id="3" name="Content Placeholder 2">
            <a:extLst>
              <a:ext uri="{FF2B5EF4-FFF2-40B4-BE49-F238E27FC236}">
                <a16:creationId xmlns:a16="http://schemas.microsoft.com/office/drawing/2014/main" id="{F31B9E4E-E2ED-6D32-BD16-1A2A8704605C}"/>
              </a:ext>
            </a:extLst>
          </p:cNvPr>
          <p:cNvSpPr>
            <a:spLocks noGrp="1"/>
          </p:cNvSpPr>
          <p:nvPr>
            <p:ph idx="1"/>
          </p:nvPr>
        </p:nvSpPr>
        <p:spPr/>
        <p:txBody>
          <a:bodyPr>
            <a:normAutofit lnSpcReduction="10000"/>
          </a:bodyPr>
          <a:lstStyle/>
          <a:p>
            <a:r>
              <a:rPr lang="en-US" dirty="0"/>
              <a:t>At the turn of the century, the world of technology became increasingly inundated with requests for new features. </a:t>
            </a:r>
          </a:p>
          <a:p>
            <a:r>
              <a:rPr lang="en-US" dirty="0"/>
              <a:t>This was particularly true for </a:t>
            </a:r>
            <a:r>
              <a:rPr lang="en-US" b="1" dirty="0"/>
              <a:t>websites</a:t>
            </a:r>
            <a:r>
              <a:rPr lang="en-US" dirty="0"/>
              <a:t> because society was becoming more dependent on Internet conveniences such as electronic mail, e-commerce, and real-time news updates. </a:t>
            </a:r>
          </a:p>
          <a:p>
            <a:r>
              <a:rPr lang="en-US" dirty="0"/>
              <a:t>Product development teams needed a new way to respond quickly to these demands to stay competitive in the changing market. </a:t>
            </a:r>
          </a:p>
          <a:p>
            <a:r>
              <a:rPr lang="en-US" dirty="0"/>
              <a:t>The solution came in the form of Agile development, validating assertions by Whiteside and Bennett that software development needs to become more of an iterative process (Whiteside, Bennett, et al. 1988).</a:t>
            </a:r>
            <a:endParaRPr lang="en-IN" dirty="0"/>
          </a:p>
        </p:txBody>
      </p:sp>
    </p:spTree>
    <p:extLst>
      <p:ext uri="{BB962C8B-B14F-4D97-AF65-F5344CB8AC3E}">
        <p14:creationId xmlns:p14="http://schemas.microsoft.com/office/powerpoint/2010/main" val="1170222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891C9-53DD-801E-5301-68752578DA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C6071-DBA0-4D95-27B3-A9A4E9C802EA}"/>
              </a:ext>
            </a:extLst>
          </p:cNvPr>
          <p:cNvSpPr>
            <a:spLocks noGrp="1"/>
          </p:cNvSpPr>
          <p:nvPr>
            <p:ph type="title"/>
          </p:nvPr>
        </p:nvSpPr>
        <p:spPr/>
        <p:txBody>
          <a:bodyPr>
            <a:normAutofit fontScale="90000"/>
          </a:bodyPr>
          <a:lstStyle/>
          <a:p>
            <a:r>
              <a:rPr lang="en-US" dirty="0"/>
              <a:t>The Rise of Agile Software Development</a:t>
            </a:r>
            <a:endParaRPr lang="en-IN" dirty="0"/>
          </a:p>
        </p:txBody>
      </p:sp>
      <p:sp>
        <p:nvSpPr>
          <p:cNvPr id="3" name="Content Placeholder 2">
            <a:extLst>
              <a:ext uri="{FF2B5EF4-FFF2-40B4-BE49-F238E27FC236}">
                <a16:creationId xmlns:a16="http://schemas.microsoft.com/office/drawing/2014/main" id="{4185799E-BBF4-0B86-C644-D5217AC789CD}"/>
              </a:ext>
            </a:extLst>
          </p:cNvPr>
          <p:cNvSpPr>
            <a:spLocks noGrp="1"/>
          </p:cNvSpPr>
          <p:nvPr>
            <p:ph idx="1"/>
          </p:nvPr>
        </p:nvSpPr>
        <p:spPr/>
        <p:txBody>
          <a:bodyPr>
            <a:normAutofit/>
          </a:bodyPr>
          <a:lstStyle/>
          <a:p>
            <a:r>
              <a:rPr lang="en-US" dirty="0"/>
              <a:t>What is Agile development? </a:t>
            </a:r>
          </a:p>
          <a:p>
            <a:r>
              <a:rPr lang="en-US" dirty="0"/>
              <a:t>What comprises Agile development methodology, and </a:t>
            </a:r>
          </a:p>
          <a:p>
            <a:r>
              <a:rPr lang="en-US" dirty="0"/>
              <a:t>Why is it getting a reputation as the superior approach to the </a:t>
            </a:r>
            <a:r>
              <a:rPr lang="en-IN" dirty="0"/>
              <a:t>Waterfall methodology?</a:t>
            </a:r>
          </a:p>
        </p:txBody>
      </p:sp>
    </p:spTree>
    <p:extLst>
      <p:ext uri="{BB962C8B-B14F-4D97-AF65-F5344CB8AC3E}">
        <p14:creationId xmlns:p14="http://schemas.microsoft.com/office/powerpoint/2010/main" val="3070755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A237B-3A7E-62DF-11B4-1035ADA76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C1465-EE4A-3FE1-B86C-FC44D665B144}"/>
              </a:ext>
            </a:extLst>
          </p:cNvPr>
          <p:cNvSpPr>
            <a:spLocks noGrp="1"/>
          </p:cNvSpPr>
          <p:nvPr>
            <p:ph type="title"/>
          </p:nvPr>
        </p:nvSpPr>
        <p:spPr/>
        <p:txBody>
          <a:bodyPr>
            <a:normAutofit fontScale="90000"/>
          </a:bodyPr>
          <a:lstStyle/>
          <a:p>
            <a:r>
              <a:rPr lang="en-US" dirty="0"/>
              <a:t>The Rise of Agile Software Development</a:t>
            </a:r>
            <a:endParaRPr lang="en-IN" dirty="0"/>
          </a:p>
        </p:txBody>
      </p:sp>
      <p:sp>
        <p:nvSpPr>
          <p:cNvPr id="3" name="Content Placeholder 2">
            <a:extLst>
              <a:ext uri="{FF2B5EF4-FFF2-40B4-BE49-F238E27FC236}">
                <a16:creationId xmlns:a16="http://schemas.microsoft.com/office/drawing/2014/main" id="{6E0E940D-CF62-2C18-CA3D-8726668AEF17}"/>
              </a:ext>
            </a:extLst>
          </p:cNvPr>
          <p:cNvSpPr>
            <a:spLocks noGrp="1"/>
          </p:cNvSpPr>
          <p:nvPr>
            <p:ph idx="1"/>
          </p:nvPr>
        </p:nvSpPr>
        <p:spPr/>
        <p:txBody>
          <a:bodyPr>
            <a:normAutofit/>
          </a:bodyPr>
          <a:lstStyle/>
          <a:p>
            <a:r>
              <a:rPr lang="en-US" b="1" dirty="0"/>
              <a:t>Agile </a:t>
            </a:r>
            <a:r>
              <a:rPr lang="en-US" dirty="0"/>
              <a:t>is an overarching term that includes iterative approaches to software development that embrace the values of the </a:t>
            </a:r>
            <a:r>
              <a:rPr lang="en-US" b="1" dirty="0">
                <a:effectLst>
                  <a:outerShdw blurRad="38100" dist="38100" dir="2700000" algn="tl">
                    <a:srgbClr val="000000">
                      <a:alpha val="43137"/>
                    </a:srgbClr>
                  </a:outerShdw>
                </a:effectLst>
              </a:rPr>
              <a:t>Manifesto</a:t>
            </a:r>
            <a:r>
              <a:rPr lang="en-US" dirty="0"/>
              <a:t> </a:t>
            </a:r>
            <a:r>
              <a:rPr lang="en-IN" dirty="0"/>
              <a:t>for Agile Software Development.</a:t>
            </a:r>
          </a:p>
          <a:p>
            <a:r>
              <a:rPr lang="en-US" dirty="0"/>
              <a:t>Agile development methodologies are designed to stretch and support the needs of the project and organization. </a:t>
            </a:r>
          </a:p>
          <a:p>
            <a:r>
              <a:rPr lang="en-US" b="1" dirty="0">
                <a:effectLst>
                  <a:outerShdw blurRad="38100" dist="38100" dir="2700000" algn="tl">
                    <a:srgbClr val="000000">
                      <a:alpha val="43137"/>
                    </a:srgbClr>
                  </a:outerShdw>
                </a:effectLst>
              </a:rPr>
              <a:t>Agile does not describe a specific approach</a:t>
            </a:r>
            <a:r>
              <a:rPr lang="en-US" dirty="0"/>
              <a:t>, but instead offers a </a:t>
            </a:r>
            <a:r>
              <a:rPr lang="en-US" dirty="0">
                <a:solidFill>
                  <a:srgbClr val="C00000"/>
                </a:solidFill>
                <a:effectLst>
                  <a:outerShdw blurRad="38100" dist="38100" dir="2700000" algn="tl">
                    <a:srgbClr val="000000">
                      <a:alpha val="43137"/>
                    </a:srgbClr>
                  </a:outerShdw>
                </a:effectLst>
              </a:rPr>
              <a:t>collection of tools and best practices </a:t>
            </a:r>
            <a:r>
              <a:rPr lang="en-US" dirty="0"/>
              <a:t>that help development organizations focus on efficiency, collaboration, quality, and the </a:t>
            </a:r>
            <a:r>
              <a:rPr lang="en-IN" dirty="0"/>
              <a:t>creation of customer value.</a:t>
            </a:r>
          </a:p>
        </p:txBody>
      </p:sp>
    </p:spTree>
    <p:extLst>
      <p:ext uri="{BB962C8B-B14F-4D97-AF65-F5344CB8AC3E}">
        <p14:creationId xmlns:p14="http://schemas.microsoft.com/office/powerpoint/2010/main" val="4235706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F71A5-FC99-20AD-F17A-FC6CD8D1F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0271E-3D26-0D73-8629-BE7ECDBEFF17}"/>
              </a:ext>
            </a:extLst>
          </p:cNvPr>
          <p:cNvSpPr>
            <a:spLocks noGrp="1"/>
          </p:cNvSpPr>
          <p:nvPr>
            <p:ph type="title"/>
          </p:nvPr>
        </p:nvSpPr>
        <p:spPr/>
        <p:txBody>
          <a:bodyPr>
            <a:normAutofit fontScale="90000"/>
          </a:bodyPr>
          <a:lstStyle/>
          <a:p>
            <a:r>
              <a:rPr lang="en-US" dirty="0"/>
              <a:t>The Rise of Agile Software Development</a:t>
            </a:r>
            <a:endParaRPr lang="en-IN" dirty="0"/>
          </a:p>
        </p:txBody>
      </p:sp>
      <p:sp>
        <p:nvSpPr>
          <p:cNvPr id="3" name="Content Placeholder 2">
            <a:extLst>
              <a:ext uri="{FF2B5EF4-FFF2-40B4-BE49-F238E27FC236}">
                <a16:creationId xmlns:a16="http://schemas.microsoft.com/office/drawing/2014/main" id="{219B034D-2368-5D37-5A32-C946E6299A45}"/>
              </a:ext>
            </a:extLst>
          </p:cNvPr>
          <p:cNvSpPr>
            <a:spLocks noGrp="1"/>
          </p:cNvSpPr>
          <p:nvPr>
            <p:ph idx="1"/>
          </p:nvPr>
        </p:nvSpPr>
        <p:spPr/>
        <p:txBody>
          <a:bodyPr>
            <a:normAutofit/>
          </a:bodyPr>
          <a:lstStyle/>
          <a:p>
            <a:r>
              <a:rPr lang="en-US" dirty="0"/>
              <a:t>Agile development includes methodologies such as</a:t>
            </a:r>
          </a:p>
          <a:p>
            <a:r>
              <a:rPr lang="en-US" dirty="0"/>
              <a:t>Extreme Programming, Scrum, and the Crystal Family; </a:t>
            </a:r>
          </a:p>
          <a:p>
            <a:r>
              <a:rPr lang="en-US" dirty="0"/>
              <a:t> All of these versions of Agile development have their own nuances, but they share the goal of avoiding “a single pass sequential, document-driven, gated-step approach”.</a:t>
            </a:r>
            <a:endParaRPr lang="en-IN" dirty="0"/>
          </a:p>
        </p:txBody>
      </p:sp>
    </p:spTree>
    <p:extLst>
      <p:ext uri="{BB962C8B-B14F-4D97-AF65-F5344CB8AC3E}">
        <p14:creationId xmlns:p14="http://schemas.microsoft.com/office/powerpoint/2010/main" val="2105341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843A0-E0E3-CB20-762C-04801B5463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F6549-37CA-0E6C-2BCD-1217A402EF7C}"/>
              </a:ext>
            </a:extLst>
          </p:cNvPr>
          <p:cNvSpPr>
            <a:spLocks noGrp="1"/>
          </p:cNvSpPr>
          <p:nvPr>
            <p:ph type="title"/>
          </p:nvPr>
        </p:nvSpPr>
        <p:spPr/>
        <p:txBody>
          <a:bodyPr>
            <a:normAutofit fontScale="90000"/>
          </a:bodyPr>
          <a:lstStyle/>
          <a:p>
            <a:r>
              <a:rPr lang="en-US" dirty="0"/>
              <a:t>The Rise of Agile Software Development</a:t>
            </a:r>
            <a:endParaRPr lang="en-IN" dirty="0"/>
          </a:p>
        </p:txBody>
      </p:sp>
      <p:pic>
        <p:nvPicPr>
          <p:cNvPr id="5" name="Content Placeholder 4">
            <a:extLst>
              <a:ext uri="{FF2B5EF4-FFF2-40B4-BE49-F238E27FC236}">
                <a16:creationId xmlns:a16="http://schemas.microsoft.com/office/drawing/2014/main" id="{6B1B9747-1FF6-D183-E6CC-05E5419D2D17}"/>
              </a:ext>
            </a:extLst>
          </p:cNvPr>
          <p:cNvPicPr>
            <a:picLocks noGrp="1" noChangeAspect="1"/>
          </p:cNvPicPr>
          <p:nvPr>
            <p:ph idx="1"/>
          </p:nvPr>
        </p:nvPicPr>
        <p:blipFill>
          <a:blip r:embed="rId2"/>
          <a:stretch>
            <a:fillRect/>
          </a:stretch>
        </p:blipFill>
        <p:spPr>
          <a:xfrm>
            <a:off x="394751" y="1264994"/>
            <a:ext cx="8381874" cy="3811831"/>
          </a:xfrm>
          <a:prstGeom prst="rect">
            <a:avLst/>
          </a:prstGeom>
        </p:spPr>
      </p:pic>
    </p:spTree>
    <p:extLst>
      <p:ext uri="{BB962C8B-B14F-4D97-AF65-F5344CB8AC3E}">
        <p14:creationId xmlns:p14="http://schemas.microsoft.com/office/powerpoint/2010/main" val="4069074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723E2-8B96-DF96-47FC-B9B13399A88C}"/>
              </a:ext>
            </a:extLst>
          </p:cNvPr>
          <p:cNvSpPr>
            <a:spLocks noGrp="1"/>
          </p:cNvSpPr>
          <p:nvPr>
            <p:ph type="title"/>
          </p:nvPr>
        </p:nvSpPr>
        <p:spPr/>
        <p:txBody>
          <a:bodyPr/>
          <a:lstStyle/>
          <a:p>
            <a:r>
              <a:rPr lang="en-IN" dirty="0"/>
              <a:t>The Agile Manifesto</a:t>
            </a:r>
          </a:p>
        </p:txBody>
      </p:sp>
      <p:sp>
        <p:nvSpPr>
          <p:cNvPr id="3" name="Content Placeholder 2">
            <a:extLst>
              <a:ext uri="{FF2B5EF4-FFF2-40B4-BE49-F238E27FC236}">
                <a16:creationId xmlns:a16="http://schemas.microsoft.com/office/drawing/2014/main" id="{279FB6AA-7FFB-79C8-B5ED-9CA87EF6256B}"/>
              </a:ext>
            </a:extLst>
          </p:cNvPr>
          <p:cNvSpPr>
            <a:spLocks noGrp="1"/>
          </p:cNvSpPr>
          <p:nvPr>
            <p:ph idx="1"/>
          </p:nvPr>
        </p:nvSpPr>
        <p:spPr/>
        <p:txBody>
          <a:bodyPr>
            <a:normAutofit fontScale="92500" lnSpcReduction="10000"/>
          </a:bodyPr>
          <a:lstStyle/>
          <a:p>
            <a:r>
              <a:rPr lang="en-US" dirty="0"/>
              <a:t>The Manifesto for Agile Software Development (see Figure 1.1) was created in 2001 from a meeting of 17 practitioners who were interested in coming together in Snowbird, Utah, to discuss lightweight development methodologies. </a:t>
            </a:r>
          </a:p>
          <a:p>
            <a:r>
              <a:rPr lang="en-US" dirty="0"/>
              <a:t>Most of the participants came to discuss the various approaches they had either developed or used extensively. </a:t>
            </a:r>
          </a:p>
          <a:p>
            <a:r>
              <a:rPr lang="en-US" dirty="0"/>
              <a:t>The group formed the initial </a:t>
            </a:r>
            <a:r>
              <a:rPr lang="en-US" b="1" dirty="0">
                <a:effectLst>
                  <a:outerShdw blurRad="38100" dist="38100" dir="2700000" algn="tl">
                    <a:srgbClr val="000000">
                      <a:alpha val="43137"/>
                    </a:srgbClr>
                  </a:outerShdw>
                </a:effectLst>
              </a:rPr>
              <a:t>Agile Alliance group</a:t>
            </a:r>
            <a:r>
              <a:rPr lang="en-US" dirty="0"/>
              <a:t>, whose mission was to promote a move to lighter development approaches and away from the heavy process of Waterfall development. </a:t>
            </a:r>
          </a:p>
          <a:p>
            <a:r>
              <a:rPr lang="en-US" dirty="0"/>
              <a:t>They were not interested in merging their lighter approaches, but instead worked to find an overarching term that accurately described all of the available lightweight approaches.</a:t>
            </a:r>
            <a:endParaRPr lang="en-IN" dirty="0"/>
          </a:p>
        </p:txBody>
      </p:sp>
    </p:spTree>
    <p:extLst>
      <p:ext uri="{BB962C8B-B14F-4D97-AF65-F5344CB8AC3E}">
        <p14:creationId xmlns:p14="http://schemas.microsoft.com/office/powerpoint/2010/main" val="420052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E3407-F721-EF89-14BE-E6D1DDE31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05DA2-63AB-8543-1080-28CE171319A0}"/>
              </a:ext>
            </a:extLst>
          </p:cNvPr>
          <p:cNvSpPr>
            <a:spLocks noGrp="1"/>
          </p:cNvSpPr>
          <p:nvPr>
            <p:ph type="title"/>
          </p:nvPr>
        </p:nvSpPr>
        <p:spPr/>
        <p:txBody>
          <a:bodyPr/>
          <a:lstStyle/>
          <a:p>
            <a:r>
              <a:rPr lang="en-IN" dirty="0"/>
              <a:t>The Agile Manifesto</a:t>
            </a:r>
          </a:p>
        </p:txBody>
      </p:sp>
      <p:sp>
        <p:nvSpPr>
          <p:cNvPr id="3" name="Content Placeholder 2">
            <a:extLst>
              <a:ext uri="{FF2B5EF4-FFF2-40B4-BE49-F238E27FC236}">
                <a16:creationId xmlns:a16="http://schemas.microsoft.com/office/drawing/2014/main" id="{82E6CB62-492D-5E4A-7FF5-C35D86EC2E3F}"/>
              </a:ext>
            </a:extLst>
          </p:cNvPr>
          <p:cNvSpPr>
            <a:spLocks noGrp="1"/>
          </p:cNvSpPr>
          <p:nvPr>
            <p:ph idx="1"/>
          </p:nvPr>
        </p:nvSpPr>
        <p:spPr/>
        <p:txBody>
          <a:bodyPr>
            <a:normAutofit fontScale="92500" lnSpcReduction="20000"/>
          </a:bodyPr>
          <a:lstStyle/>
          <a:p>
            <a:r>
              <a:rPr lang="en-US" dirty="0"/>
              <a:t>According to Williams and Cockburn (2003) and the practitioners who authored the </a:t>
            </a:r>
            <a:r>
              <a:rPr lang="en-US" i="1" dirty="0"/>
              <a:t>Manifesto for Agile Software Development</a:t>
            </a:r>
            <a:r>
              <a:rPr lang="en-US" dirty="0"/>
              <a:t>, Agile is a process for </a:t>
            </a:r>
            <a:r>
              <a:rPr lang="en-IN" dirty="0"/>
              <a:t>developing software that values</a:t>
            </a:r>
          </a:p>
          <a:p>
            <a:pPr algn="ctr"/>
            <a:r>
              <a:rPr lang="en-US" i="1" dirty="0">
                <a:solidFill>
                  <a:srgbClr val="C00000"/>
                </a:solidFill>
                <a:effectLst>
                  <a:outerShdw blurRad="38100" dist="38100" dir="2700000" algn="tl">
                    <a:srgbClr val="000000">
                      <a:alpha val="43137"/>
                    </a:srgbClr>
                  </a:outerShdw>
                </a:effectLst>
              </a:rPr>
              <a:t>individuals and interactions over processes and tools, working software over </a:t>
            </a:r>
            <a:r>
              <a:rPr lang="en-IN" i="1" dirty="0">
                <a:solidFill>
                  <a:srgbClr val="C00000"/>
                </a:solidFill>
                <a:effectLst>
                  <a:outerShdw blurRad="38100" dist="38100" dir="2700000" algn="tl">
                    <a:srgbClr val="000000">
                      <a:alpha val="43137"/>
                    </a:srgbClr>
                  </a:outerShdw>
                </a:effectLst>
              </a:rPr>
              <a:t>comprehensive documentation, customer collaboration over contract negotiation, </a:t>
            </a:r>
            <a:r>
              <a:rPr lang="en-US" i="1" dirty="0">
                <a:solidFill>
                  <a:srgbClr val="C00000"/>
                </a:solidFill>
                <a:effectLst>
                  <a:outerShdw blurRad="38100" dist="38100" dir="2700000" algn="tl">
                    <a:srgbClr val="000000">
                      <a:alpha val="43137"/>
                    </a:srgbClr>
                  </a:outerShdw>
                </a:effectLst>
              </a:rPr>
              <a:t>responding to change over following a plan.</a:t>
            </a:r>
          </a:p>
          <a:p>
            <a:pPr algn="ctr"/>
            <a:endParaRPr lang="en-US" i="1" dirty="0">
              <a:solidFill>
                <a:srgbClr val="C00000"/>
              </a:solidFill>
              <a:effectLst>
                <a:outerShdw blurRad="38100" dist="38100" dir="2700000" algn="tl">
                  <a:srgbClr val="000000">
                    <a:alpha val="43137"/>
                  </a:srgbClr>
                </a:outerShdw>
              </a:effectLst>
            </a:endParaRPr>
          </a:p>
          <a:p>
            <a:pPr lvl="1"/>
            <a:r>
              <a:rPr lang="en-US" dirty="0"/>
              <a:t>The practitioners were careful to use the term </a:t>
            </a:r>
            <a:r>
              <a:rPr lang="en-US" b="1" dirty="0"/>
              <a:t>“over” </a:t>
            </a:r>
            <a:r>
              <a:rPr lang="en-US" dirty="0"/>
              <a:t>in an effort to be less prescriptive and instead to make the manifesto more of a guide. </a:t>
            </a:r>
            <a:br>
              <a:rPr lang="en-US" dirty="0"/>
            </a:br>
            <a:endParaRPr lang="en-US" dirty="0"/>
          </a:p>
          <a:p>
            <a:pPr lvl="1"/>
            <a:r>
              <a:rPr lang="en-US" dirty="0"/>
              <a:t>They added the phrase </a:t>
            </a:r>
            <a:r>
              <a:rPr lang="en-US" dirty="0">
                <a:solidFill>
                  <a:srgbClr val="C00000"/>
                </a:solidFill>
                <a:effectLst>
                  <a:outerShdw blurRad="38100" dist="38100" dir="2700000" algn="tl">
                    <a:srgbClr val="000000">
                      <a:alpha val="43137"/>
                    </a:srgbClr>
                  </a:outerShdw>
                </a:effectLst>
              </a:rPr>
              <a:t>“That is, while there is value in the items on the right, we value the items on the left more” </a:t>
            </a:r>
            <a:r>
              <a:rPr lang="en-US" dirty="0"/>
              <a:t>to emphasize that there will be times when lighter approaches are not always realistic or possible, but they should always be the goal.</a:t>
            </a:r>
            <a:endParaRPr lang="en-IN"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74986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2009-EC13-C9F7-1D12-001BAADC9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9382D-B1E1-FB28-12B4-CA829AEA02B3}"/>
              </a:ext>
            </a:extLst>
          </p:cNvPr>
          <p:cNvSpPr>
            <a:spLocks noGrp="1"/>
          </p:cNvSpPr>
          <p:nvPr>
            <p:ph type="title"/>
          </p:nvPr>
        </p:nvSpPr>
        <p:spPr/>
        <p:txBody>
          <a:bodyPr/>
          <a:lstStyle/>
          <a:p>
            <a:r>
              <a:rPr lang="en-IN" dirty="0"/>
              <a:t>The Agile Manifesto</a:t>
            </a:r>
          </a:p>
        </p:txBody>
      </p:sp>
      <p:pic>
        <p:nvPicPr>
          <p:cNvPr id="5" name="Content Placeholder 4">
            <a:extLst>
              <a:ext uri="{FF2B5EF4-FFF2-40B4-BE49-F238E27FC236}">
                <a16:creationId xmlns:a16="http://schemas.microsoft.com/office/drawing/2014/main" id="{1E68BE10-B8F0-435F-3C38-4EE4EE41DBAA}"/>
              </a:ext>
            </a:extLst>
          </p:cNvPr>
          <p:cNvPicPr>
            <a:picLocks noGrp="1" noChangeAspect="1"/>
          </p:cNvPicPr>
          <p:nvPr>
            <p:ph idx="1"/>
          </p:nvPr>
        </p:nvPicPr>
        <p:blipFill>
          <a:blip r:embed="rId2"/>
          <a:stretch>
            <a:fillRect/>
          </a:stretch>
        </p:blipFill>
        <p:spPr>
          <a:xfrm>
            <a:off x="602194" y="1121998"/>
            <a:ext cx="7939611" cy="5518383"/>
          </a:xfrm>
          <a:prstGeom prst="rect">
            <a:avLst/>
          </a:prstGeom>
        </p:spPr>
      </p:pic>
    </p:spTree>
    <p:extLst>
      <p:ext uri="{BB962C8B-B14F-4D97-AF65-F5344CB8AC3E}">
        <p14:creationId xmlns:p14="http://schemas.microsoft.com/office/powerpoint/2010/main" val="1618766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9AB90-19A4-2BFE-3DD8-53F651158CB9}"/>
              </a:ext>
            </a:extLst>
          </p:cNvPr>
          <p:cNvSpPr>
            <a:spLocks noGrp="1"/>
          </p:cNvSpPr>
          <p:nvPr>
            <p:ph type="title"/>
          </p:nvPr>
        </p:nvSpPr>
        <p:spPr/>
        <p:txBody>
          <a:bodyPr/>
          <a:lstStyle/>
          <a:p>
            <a:r>
              <a:rPr lang="en-IN" dirty="0"/>
              <a:t>Agile Values Explained</a:t>
            </a:r>
          </a:p>
        </p:txBody>
      </p:sp>
      <p:sp>
        <p:nvSpPr>
          <p:cNvPr id="3" name="Content Placeholder 2">
            <a:extLst>
              <a:ext uri="{FF2B5EF4-FFF2-40B4-BE49-F238E27FC236}">
                <a16:creationId xmlns:a16="http://schemas.microsoft.com/office/drawing/2014/main" id="{D751B03A-A39B-B020-4708-A4EF204C960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F5FF2AE-AFDD-9274-D7EE-AFB643AF3FB5}"/>
              </a:ext>
            </a:extLst>
          </p:cNvPr>
          <p:cNvPicPr>
            <a:picLocks noChangeAspect="1"/>
          </p:cNvPicPr>
          <p:nvPr/>
        </p:nvPicPr>
        <p:blipFill>
          <a:blip r:embed="rId2"/>
          <a:stretch>
            <a:fillRect/>
          </a:stretch>
        </p:blipFill>
        <p:spPr>
          <a:xfrm>
            <a:off x="489968" y="1833340"/>
            <a:ext cx="8164064" cy="3191320"/>
          </a:xfrm>
          <a:prstGeom prst="rect">
            <a:avLst/>
          </a:prstGeom>
        </p:spPr>
      </p:pic>
    </p:spTree>
    <p:extLst>
      <p:ext uri="{BB962C8B-B14F-4D97-AF65-F5344CB8AC3E}">
        <p14:creationId xmlns:p14="http://schemas.microsoft.com/office/powerpoint/2010/main" val="3545844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F63B-5119-E2E9-A7F4-2038050D2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6F6F4-4E0E-4E7E-65D9-D1F85EA715F4}"/>
              </a:ext>
            </a:extLst>
          </p:cNvPr>
          <p:cNvSpPr>
            <a:spLocks noGrp="1"/>
          </p:cNvSpPr>
          <p:nvPr>
            <p:ph type="title"/>
          </p:nvPr>
        </p:nvSpPr>
        <p:spPr/>
        <p:txBody>
          <a:bodyPr/>
          <a:lstStyle/>
          <a:p>
            <a:r>
              <a:rPr lang="en-IN" dirty="0"/>
              <a:t>Agile Values Explained</a:t>
            </a:r>
          </a:p>
        </p:txBody>
      </p:sp>
      <p:sp>
        <p:nvSpPr>
          <p:cNvPr id="3" name="Content Placeholder 2">
            <a:extLst>
              <a:ext uri="{FF2B5EF4-FFF2-40B4-BE49-F238E27FC236}">
                <a16:creationId xmlns:a16="http://schemas.microsoft.com/office/drawing/2014/main" id="{E98D7E46-E3A7-EE60-5EF9-C013CDA56E9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7AFE2A8-4925-60F6-1B70-486664AC1157}"/>
              </a:ext>
            </a:extLst>
          </p:cNvPr>
          <p:cNvPicPr>
            <a:picLocks noChangeAspect="1"/>
          </p:cNvPicPr>
          <p:nvPr/>
        </p:nvPicPr>
        <p:blipFill>
          <a:blip r:embed="rId2"/>
          <a:srcRect b="80742"/>
          <a:stretch>
            <a:fillRect/>
          </a:stretch>
        </p:blipFill>
        <p:spPr>
          <a:xfrm>
            <a:off x="489968" y="1833340"/>
            <a:ext cx="8164064" cy="614585"/>
          </a:xfrm>
          <a:prstGeom prst="rect">
            <a:avLst/>
          </a:prstGeom>
        </p:spPr>
      </p:pic>
      <p:pic>
        <p:nvPicPr>
          <p:cNvPr id="6" name="Picture 5">
            <a:extLst>
              <a:ext uri="{FF2B5EF4-FFF2-40B4-BE49-F238E27FC236}">
                <a16:creationId xmlns:a16="http://schemas.microsoft.com/office/drawing/2014/main" id="{0CFFA55E-2FDB-505E-BCCD-CE6273C945A4}"/>
              </a:ext>
            </a:extLst>
          </p:cNvPr>
          <p:cNvPicPr>
            <a:picLocks noChangeAspect="1"/>
          </p:cNvPicPr>
          <p:nvPr/>
        </p:nvPicPr>
        <p:blipFill>
          <a:blip r:embed="rId3"/>
          <a:stretch>
            <a:fillRect/>
          </a:stretch>
        </p:blipFill>
        <p:spPr>
          <a:xfrm>
            <a:off x="570961" y="2447925"/>
            <a:ext cx="7716327" cy="3238952"/>
          </a:xfrm>
          <a:prstGeom prst="rect">
            <a:avLst/>
          </a:prstGeom>
        </p:spPr>
      </p:pic>
    </p:spTree>
    <p:extLst>
      <p:ext uri="{BB962C8B-B14F-4D97-AF65-F5344CB8AC3E}">
        <p14:creationId xmlns:p14="http://schemas.microsoft.com/office/powerpoint/2010/main" val="4291456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EC86A-AAB2-53D1-F831-D910D0DEF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B32BD1-74D4-6E8E-41BF-AB412E12641A}"/>
              </a:ext>
            </a:extLst>
          </p:cNvPr>
          <p:cNvSpPr>
            <a:spLocks noGrp="1"/>
          </p:cNvSpPr>
          <p:nvPr>
            <p:ph type="title"/>
          </p:nvPr>
        </p:nvSpPr>
        <p:spPr/>
        <p:txBody>
          <a:bodyPr/>
          <a:lstStyle/>
          <a:p>
            <a:r>
              <a:rPr lang="en-IN" dirty="0"/>
              <a:t>Agile Values Explained</a:t>
            </a:r>
          </a:p>
        </p:txBody>
      </p:sp>
      <p:sp>
        <p:nvSpPr>
          <p:cNvPr id="3" name="Content Placeholder 2">
            <a:extLst>
              <a:ext uri="{FF2B5EF4-FFF2-40B4-BE49-F238E27FC236}">
                <a16:creationId xmlns:a16="http://schemas.microsoft.com/office/drawing/2014/main" id="{53341407-2C9B-DFBB-CEFA-A93BA89BE79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7DCE8C0-065A-24F6-1BF1-114E682F177A}"/>
              </a:ext>
            </a:extLst>
          </p:cNvPr>
          <p:cNvPicPr>
            <a:picLocks noChangeAspect="1"/>
          </p:cNvPicPr>
          <p:nvPr/>
        </p:nvPicPr>
        <p:blipFill>
          <a:blip r:embed="rId2"/>
          <a:srcRect b="80742"/>
          <a:stretch>
            <a:fillRect/>
          </a:stretch>
        </p:blipFill>
        <p:spPr>
          <a:xfrm>
            <a:off x="489968" y="1833340"/>
            <a:ext cx="8164064" cy="614585"/>
          </a:xfrm>
          <a:prstGeom prst="rect">
            <a:avLst/>
          </a:prstGeom>
        </p:spPr>
      </p:pic>
      <p:pic>
        <p:nvPicPr>
          <p:cNvPr id="7" name="Picture 6">
            <a:extLst>
              <a:ext uri="{FF2B5EF4-FFF2-40B4-BE49-F238E27FC236}">
                <a16:creationId xmlns:a16="http://schemas.microsoft.com/office/drawing/2014/main" id="{F689CC30-0820-5365-8305-DE6F5C30F856}"/>
              </a:ext>
            </a:extLst>
          </p:cNvPr>
          <p:cNvPicPr>
            <a:picLocks noChangeAspect="1"/>
          </p:cNvPicPr>
          <p:nvPr/>
        </p:nvPicPr>
        <p:blipFill>
          <a:blip r:embed="rId3"/>
          <a:stretch>
            <a:fillRect/>
          </a:stretch>
        </p:blipFill>
        <p:spPr>
          <a:xfrm>
            <a:off x="590021" y="2542720"/>
            <a:ext cx="7582958" cy="2915057"/>
          </a:xfrm>
          <a:prstGeom prst="rect">
            <a:avLst/>
          </a:prstGeom>
        </p:spPr>
      </p:pic>
    </p:spTree>
    <p:extLst>
      <p:ext uri="{BB962C8B-B14F-4D97-AF65-F5344CB8AC3E}">
        <p14:creationId xmlns:p14="http://schemas.microsoft.com/office/powerpoint/2010/main" val="939310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7A023-DB18-B2C4-CC16-8A68AB335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AB9734-AC05-3A4E-818B-815A563024A1}"/>
              </a:ext>
            </a:extLst>
          </p:cNvPr>
          <p:cNvSpPr>
            <a:spLocks noGrp="1"/>
          </p:cNvSpPr>
          <p:nvPr>
            <p:ph type="title"/>
          </p:nvPr>
        </p:nvSpPr>
        <p:spPr/>
        <p:txBody>
          <a:bodyPr/>
          <a:lstStyle/>
          <a:p>
            <a:r>
              <a:rPr lang="en-IN" dirty="0"/>
              <a:t>Agile Values Explained</a:t>
            </a:r>
          </a:p>
        </p:txBody>
      </p:sp>
      <p:sp>
        <p:nvSpPr>
          <p:cNvPr id="3" name="Content Placeholder 2">
            <a:extLst>
              <a:ext uri="{FF2B5EF4-FFF2-40B4-BE49-F238E27FC236}">
                <a16:creationId xmlns:a16="http://schemas.microsoft.com/office/drawing/2014/main" id="{631D061B-E7AE-F4AF-89FD-55C9AA41416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EF8564A-E1F4-71DB-0A65-A0042DE13BB7}"/>
              </a:ext>
            </a:extLst>
          </p:cNvPr>
          <p:cNvPicPr>
            <a:picLocks noChangeAspect="1"/>
          </p:cNvPicPr>
          <p:nvPr/>
        </p:nvPicPr>
        <p:blipFill>
          <a:blip r:embed="rId2"/>
          <a:srcRect b="80742"/>
          <a:stretch>
            <a:fillRect/>
          </a:stretch>
        </p:blipFill>
        <p:spPr>
          <a:xfrm>
            <a:off x="489968" y="1833340"/>
            <a:ext cx="8164064" cy="614585"/>
          </a:xfrm>
          <a:prstGeom prst="rect">
            <a:avLst/>
          </a:prstGeom>
        </p:spPr>
      </p:pic>
      <p:pic>
        <p:nvPicPr>
          <p:cNvPr id="6" name="Picture 5">
            <a:extLst>
              <a:ext uri="{FF2B5EF4-FFF2-40B4-BE49-F238E27FC236}">
                <a16:creationId xmlns:a16="http://schemas.microsoft.com/office/drawing/2014/main" id="{D1B7A2A3-A6E0-BFDA-B5CF-D78EF61BED0D}"/>
              </a:ext>
            </a:extLst>
          </p:cNvPr>
          <p:cNvPicPr>
            <a:picLocks noChangeAspect="1"/>
          </p:cNvPicPr>
          <p:nvPr/>
        </p:nvPicPr>
        <p:blipFill>
          <a:blip r:embed="rId3"/>
          <a:stretch>
            <a:fillRect/>
          </a:stretch>
        </p:blipFill>
        <p:spPr>
          <a:xfrm>
            <a:off x="632884" y="2447925"/>
            <a:ext cx="7573432" cy="2943636"/>
          </a:xfrm>
          <a:prstGeom prst="rect">
            <a:avLst/>
          </a:prstGeom>
        </p:spPr>
      </p:pic>
    </p:spTree>
    <p:extLst>
      <p:ext uri="{BB962C8B-B14F-4D97-AF65-F5344CB8AC3E}">
        <p14:creationId xmlns:p14="http://schemas.microsoft.com/office/powerpoint/2010/main" val="593796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7D4C7-7C78-5E77-B2AD-5721101887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D71E79E-789D-CCC2-997F-2191CDAB3E8E}"/>
              </a:ext>
            </a:extLst>
          </p:cNvPr>
          <p:cNvSpPr>
            <a:spLocks noGrp="1"/>
          </p:cNvSpPr>
          <p:nvPr>
            <p:ph idx="1"/>
          </p:nvPr>
        </p:nvSpPr>
        <p:spPr/>
        <p:txBody>
          <a:bodyPr/>
          <a:lstStyle/>
          <a:p>
            <a:r>
              <a:rPr lang="en-US" dirty="0"/>
              <a:t>After developing the list of initial values for Agile software development, the authors decided to add a list  of principles that would help teams understand the </a:t>
            </a:r>
            <a:r>
              <a:rPr lang="en-IN" dirty="0"/>
              <a:t>priorities for Agile practices</a:t>
            </a:r>
          </a:p>
        </p:txBody>
      </p:sp>
    </p:spTree>
    <p:extLst>
      <p:ext uri="{BB962C8B-B14F-4D97-AF65-F5344CB8AC3E}">
        <p14:creationId xmlns:p14="http://schemas.microsoft.com/office/powerpoint/2010/main" val="3631043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ADF9C-FEDC-79A1-8C0A-C82FA3D19F77}"/>
              </a:ext>
            </a:extLst>
          </p:cNvPr>
          <p:cNvSpPr>
            <a:spLocks noGrp="1"/>
          </p:cNvSpPr>
          <p:nvPr>
            <p:ph type="title"/>
          </p:nvPr>
        </p:nvSpPr>
        <p:spPr/>
        <p:txBody>
          <a:bodyPr/>
          <a:lstStyle/>
          <a:p>
            <a:r>
              <a:rPr lang="en-US" dirty="0"/>
              <a:t>Principles behind the Agile Manifesto</a:t>
            </a:r>
            <a:endParaRPr lang="en-IN" dirty="0"/>
          </a:p>
        </p:txBody>
      </p:sp>
      <p:sp>
        <p:nvSpPr>
          <p:cNvPr id="3" name="Content Placeholder 2">
            <a:extLst>
              <a:ext uri="{FF2B5EF4-FFF2-40B4-BE49-F238E27FC236}">
                <a16:creationId xmlns:a16="http://schemas.microsoft.com/office/drawing/2014/main" id="{3E5708F6-3983-9F36-E036-78FF18185615}"/>
              </a:ext>
            </a:extLst>
          </p:cNvPr>
          <p:cNvSpPr>
            <a:spLocks noGrp="1"/>
          </p:cNvSpPr>
          <p:nvPr>
            <p:ph idx="1"/>
          </p:nvPr>
        </p:nvSpPr>
        <p:spPr/>
        <p:txBody>
          <a:bodyPr/>
          <a:lstStyle/>
          <a:p>
            <a:pPr algn="ctr"/>
            <a:endParaRPr lang="en-IN" dirty="0"/>
          </a:p>
        </p:txBody>
      </p:sp>
      <p:pic>
        <p:nvPicPr>
          <p:cNvPr id="5" name="Picture 4">
            <a:extLst>
              <a:ext uri="{FF2B5EF4-FFF2-40B4-BE49-F238E27FC236}">
                <a16:creationId xmlns:a16="http://schemas.microsoft.com/office/drawing/2014/main" id="{B8E8DAA8-406A-7C82-E1D4-B1D3D1FEB573}"/>
              </a:ext>
            </a:extLst>
          </p:cNvPr>
          <p:cNvPicPr>
            <a:picLocks noChangeAspect="1"/>
          </p:cNvPicPr>
          <p:nvPr/>
        </p:nvPicPr>
        <p:blipFill>
          <a:blip r:embed="rId2"/>
          <a:stretch>
            <a:fillRect/>
          </a:stretch>
        </p:blipFill>
        <p:spPr>
          <a:xfrm>
            <a:off x="1535723" y="1020932"/>
            <a:ext cx="6072553" cy="5176602"/>
          </a:xfrm>
          <a:prstGeom prst="rect">
            <a:avLst/>
          </a:prstGeom>
        </p:spPr>
      </p:pic>
    </p:spTree>
    <p:extLst>
      <p:ext uri="{BB962C8B-B14F-4D97-AF65-F5344CB8AC3E}">
        <p14:creationId xmlns:p14="http://schemas.microsoft.com/office/powerpoint/2010/main" val="3632794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CDB0C-BE91-0758-AA49-9307821A9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B9BEA-069E-BDD7-B596-3A9E31763248}"/>
              </a:ext>
            </a:extLst>
          </p:cNvPr>
          <p:cNvSpPr>
            <a:spLocks noGrp="1"/>
          </p:cNvSpPr>
          <p:nvPr>
            <p:ph type="title"/>
          </p:nvPr>
        </p:nvSpPr>
        <p:spPr/>
        <p:txBody>
          <a:bodyPr/>
          <a:lstStyle/>
          <a:p>
            <a:r>
              <a:rPr lang="en-US" dirty="0"/>
              <a:t>Principles behind the Agile Manifesto</a:t>
            </a:r>
            <a:endParaRPr lang="en-IN" dirty="0"/>
          </a:p>
        </p:txBody>
      </p:sp>
      <p:sp>
        <p:nvSpPr>
          <p:cNvPr id="3" name="Content Placeholder 2">
            <a:extLst>
              <a:ext uri="{FF2B5EF4-FFF2-40B4-BE49-F238E27FC236}">
                <a16:creationId xmlns:a16="http://schemas.microsoft.com/office/drawing/2014/main" id="{F6511C5F-2A42-F4F5-29B9-F56783C358C8}"/>
              </a:ext>
            </a:extLst>
          </p:cNvPr>
          <p:cNvSpPr>
            <a:spLocks noGrp="1"/>
          </p:cNvSpPr>
          <p:nvPr>
            <p:ph idx="1"/>
          </p:nvPr>
        </p:nvSpPr>
        <p:spPr/>
        <p:txBody>
          <a:bodyPr/>
          <a:lstStyle/>
          <a:p>
            <a:pPr algn="ctr"/>
            <a:endParaRPr lang="en-IN" dirty="0"/>
          </a:p>
        </p:txBody>
      </p:sp>
      <p:pic>
        <p:nvPicPr>
          <p:cNvPr id="6" name="Picture 5">
            <a:extLst>
              <a:ext uri="{FF2B5EF4-FFF2-40B4-BE49-F238E27FC236}">
                <a16:creationId xmlns:a16="http://schemas.microsoft.com/office/drawing/2014/main" id="{8E85FC7B-B77D-3E20-5DDC-52E90E7E0914}"/>
              </a:ext>
            </a:extLst>
          </p:cNvPr>
          <p:cNvPicPr>
            <a:picLocks noChangeAspect="1"/>
          </p:cNvPicPr>
          <p:nvPr/>
        </p:nvPicPr>
        <p:blipFill>
          <a:blip r:embed="rId2"/>
          <a:stretch>
            <a:fillRect/>
          </a:stretch>
        </p:blipFill>
        <p:spPr>
          <a:xfrm>
            <a:off x="945805" y="1118907"/>
            <a:ext cx="7252390" cy="4900893"/>
          </a:xfrm>
          <a:prstGeom prst="rect">
            <a:avLst/>
          </a:prstGeom>
        </p:spPr>
      </p:pic>
    </p:spTree>
    <p:extLst>
      <p:ext uri="{BB962C8B-B14F-4D97-AF65-F5344CB8AC3E}">
        <p14:creationId xmlns:p14="http://schemas.microsoft.com/office/powerpoint/2010/main" val="1150351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62BB4-C474-C247-6390-2A6A86C50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80632-7AE8-45AB-FA9D-9C025C4E0CDB}"/>
              </a:ext>
            </a:extLst>
          </p:cNvPr>
          <p:cNvSpPr>
            <a:spLocks noGrp="1"/>
          </p:cNvSpPr>
          <p:nvPr>
            <p:ph type="title"/>
          </p:nvPr>
        </p:nvSpPr>
        <p:spPr/>
        <p:txBody>
          <a:bodyPr/>
          <a:lstStyle/>
          <a:p>
            <a:r>
              <a:rPr lang="en-US" dirty="0"/>
              <a:t>Principles behind the Agile Manifesto</a:t>
            </a:r>
            <a:endParaRPr lang="en-IN" dirty="0"/>
          </a:p>
        </p:txBody>
      </p:sp>
      <p:sp>
        <p:nvSpPr>
          <p:cNvPr id="3" name="Content Placeholder 2">
            <a:extLst>
              <a:ext uri="{FF2B5EF4-FFF2-40B4-BE49-F238E27FC236}">
                <a16:creationId xmlns:a16="http://schemas.microsoft.com/office/drawing/2014/main" id="{C3FC910A-77FF-588B-B853-96A12406449D}"/>
              </a:ext>
            </a:extLst>
          </p:cNvPr>
          <p:cNvSpPr>
            <a:spLocks noGrp="1"/>
          </p:cNvSpPr>
          <p:nvPr>
            <p:ph idx="1"/>
          </p:nvPr>
        </p:nvSpPr>
        <p:spPr/>
        <p:txBody>
          <a:bodyPr>
            <a:normAutofit/>
          </a:bodyPr>
          <a:lstStyle/>
          <a:p>
            <a:endParaRPr lang="en-IN" dirty="0"/>
          </a:p>
          <a:p>
            <a:endParaRPr lang="en-IN" dirty="0"/>
          </a:p>
          <a:p>
            <a:endParaRPr lang="en-IN" dirty="0"/>
          </a:p>
          <a:p>
            <a:endParaRPr lang="en-IN" dirty="0"/>
          </a:p>
          <a:p>
            <a:endParaRPr lang="en-IN" dirty="0"/>
          </a:p>
          <a:p>
            <a:endParaRPr lang="en-IN" dirty="0"/>
          </a:p>
          <a:p>
            <a:endParaRPr lang="en-IN" dirty="0"/>
          </a:p>
          <a:p>
            <a:pPr lvl="1"/>
            <a:r>
              <a:rPr lang="en-US" dirty="0"/>
              <a:t>Each year, the Agile Alliance holds a major conference that covers a wide range of Agile topics. </a:t>
            </a:r>
          </a:p>
          <a:p>
            <a:pPr lvl="1"/>
            <a:r>
              <a:rPr lang="en-US" dirty="0"/>
              <a:t>Attendance and participation in the conference have grown extensively each year as a result of the widespread adoption of Agile.</a:t>
            </a:r>
            <a:endParaRPr lang="en-IN" dirty="0"/>
          </a:p>
        </p:txBody>
      </p:sp>
      <p:pic>
        <p:nvPicPr>
          <p:cNvPr id="5" name="Picture 4">
            <a:extLst>
              <a:ext uri="{FF2B5EF4-FFF2-40B4-BE49-F238E27FC236}">
                <a16:creationId xmlns:a16="http://schemas.microsoft.com/office/drawing/2014/main" id="{E5CB5C26-2D56-B609-BC61-872032BBA32D}"/>
              </a:ext>
            </a:extLst>
          </p:cNvPr>
          <p:cNvPicPr>
            <a:picLocks noChangeAspect="1"/>
          </p:cNvPicPr>
          <p:nvPr/>
        </p:nvPicPr>
        <p:blipFill>
          <a:blip r:embed="rId2"/>
          <a:stretch>
            <a:fillRect/>
          </a:stretch>
        </p:blipFill>
        <p:spPr>
          <a:xfrm>
            <a:off x="1209318" y="1106657"/>
            <a:ext cx="6725363" cy="2942347"/>
          </a:xfrm>
          <a:prstGeom prst="rect">
            <a:avLst/>
          </a:prstGeom>
        </p:spPr>
      </p:pic>
    </p:spTree>
    <p:extLst>
      <p:ext uri="{BB962C8B-B14F-4D97-AF65-F5344CB8AC3E}">
        <p14:creationId xmlns:p14="http://schemas.microsoft.com/office/powerpoint/2010/main" val="159724877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60</TotalTime>
  <Words>2024</Words>
  <Application>Microsoft Office PowerPoint</Application>
  <PresentationFormat>On-screen Show (4:3)</PresentationFormat>
  <Paragraphs>160</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Office Theme</vt:lpstr>
      <vt:lpstr>Agile Software Engineering</vt:lpstr>
      <vt:lpstr>The Beginnings</vt:lpstr>
      <vt:lpstr>The Beginnings</vt:lpstr>
      <vt:lpstr>The Beginnings</vt:lpstr>
      <vt:lpstr>The Beginnings</vt:lpstr>
      <vt:lpstr>The Beginnings</vt:lpstr>
      <vt:lpstr>The Beginnings</vt:lpstr>
      <vt:lpstr>The Beginnings</vt:lpstr>
      <vt:lpstr>The Beginnings</vt:lpstr>
      <vt:lpstr>The Beginnings</vt:lpstr>
      <vt:lpstr>The Beginnings</vt:lpstr>
      <vt:lpstr>The Beginnings</vt:lpstr>
      <vt:lpstr>The Beginnings</vt:lpstr>
      <vt:lpstr>The Rise of Agile Software Development</vt:lpstr>
      <vt:lpstr>The Rise of Agile Software Development</vt:lpstr>
      <vt:lpstr>The Rise of Agile Software Development</vt:lpstr>
      <vt:lpstr>The Rise of Agile Software Development</vt:lpstr>
      <vt:lpstr>The Rise of Agile Software Development</vt:lpstr>
      <vt:lpstr>The Agile Manifesto</vt:lpstr>
      <vt:lpstr>The Agile Manifesto</vt:lpstr>
      <vt:lpstr>The Agile Manifesto</vt:lpstr>
      <vt:lpstr>Agile Values Explained</vt:lpstr>
      <vt:lpstr>Agile Values Explained</vt:lpstr>
      <vt:lpstr>Agile Values Explained</vt:lpstr>
      <vt:lpstr>Agile Values Explained</vt:lpstr>
      <vt:lpstr>PowerPoint Presentation</vt:lpstr>
      <vt:lpstr>Principles behind the Agile Manifesto</vt:lpstr>
      <vt:lpstr>Principles behind the Agile Manifesto</vt:lpstr>
      <vt:lpstr>Principles behind the Agile Manifesto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7</cp:revision>
  <dcterms:created xsi:type="dcterms:W3CDTF">2026-01-06T05:40:50Z</dcterms:created>
  <dcterms:modified xsi:type="dcterms:W3CDTF">2026-01-06T09:52:54Z</dcterms:modified>
</cp:coreProperties>
</file>