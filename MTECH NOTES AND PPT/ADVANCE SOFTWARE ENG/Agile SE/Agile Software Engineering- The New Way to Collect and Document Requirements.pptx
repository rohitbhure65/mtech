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05-03-2026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05-03-2026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05-03-2026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05-03-2026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lstStyle/>
          <a:p>
            <a:r>
              <a:rPr lang="en-IN" dirty="0"/>
              <a:t>Agile Software Engineering</a:t>
            </a:r>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fontScale="92500"/>
          </a:bodyPr>
          <a:lstStyle/>
          <a:p>
            <a:r>
              <a:rPr lang="en-US" sz="4800" b="1" dirty="0">
                <a:solidFill>
                  <a:srgbClr val="FF0000"/>
                </a:solidFill>
              </a:rPr>
              <a:t>The New Way to Collect and</a:t>
            </a:r>
          </a:p>
          <a:p>
            <a:r>
              <a:rPr lang="en-US" sz="4800" b="1" dirty="0">
                <a:solidFill>
                  <a:srgbClr val="FF0000"/>
                </a:solidFill>
              </a:rPr>
              <a:t>Document Requirements</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6CAD-1656-10CC-D360-45D45C5F6B5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F79EFDB-52D5-C0FF-8011-4B150096A9DA}"/>
              </a:ext>
            </a:extLst>
          </p:cNvPr>
          <p:cNvSpPr>
            <a:spLocks noGrp="1"/>
          </p:cNvSpPr>
          <p:nvPr>
            <p:ph idx="1"/>
          </p:nvPr>
        </p:nvSpPr>
        <p:spPr>
          <a:xfrm>
            <a:off x="266330" y="1020932"/>
            <a:ext cx="8611340" cy="5700544"/>
          </a:xfrm>
        </p:spPr>
        <p:txBody>
          <a:bodyPr>
            <a:normAutofit/>
          </a:bodyPr>
          <a:lstStyle/>
          <a:p>
            <a:r>
              <a:rPr lang="en-US" dirty="0"/>
              <a:t>This chapter focuses on the front end of the Agile process, where customer and market feedback are incorporated into meaningful requirements. </a:t>
            </a:r>
          </a:p>
          <a:p>
            <a:r>
              <a:rPr lang="en-US" dirty="0"/>
              <a:t>It addresses terms and ideas such as user stories, epics, acceptance criteria, understanding and measuring business value, prioritization, roadmaps, and Lean software </a:t>
            </a:r>
            <a:r>
              <a:rPr lang="en-IN" dirty="0"/>
              <a:t>development.</a:t>
            </a:r>
          </a:p>
        </p:txBody>
      </p:sp>
    </p:spTree>
    <p:extLst>
      <p:ext uri="{BB962C8B-B14F-4D97-AF65-F5344CB8AC3E}">
        <p14:creationId xmlns:p14="http://schemas.microsoft.com/office/powerpoint/2010/main" val="344093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9927A-CF83-7D6A-6C39-FB16A5905987}"/>
              </a:ext>
            </a:extLst>
          </p:cNvPr>
          <p:cNvSpPr>
            <a:spLocks noGrp="1"/>
          </p:cNvSpPr>
          <p:nvPr>
            <p:ph type="title"/>
          </p:nvPr>
        </p:nvSpPr>
        <p:spPr/>
        <p:txBody>
          <a:bodyPr/>
          <a:lstStyle/>
          <a:p>
            <a:r>
              <a:rPr lang="en-US" dirty="0"/>
              <a:t>Old Form of Requirements Gathering</a:t>
            </a:r>
            <a:endParaRPr lang="en-IN" dirty="0"/>
          </a:p>
        </p:txBody>
      </p:sp>
      <p:sp>
        <p:nvSpPr>
          <p:cNvPr id="3" name="Content Placeholder 2">
            <a:extLst>
              <a:ext uri="{FF2B5EF4-FFF2-40B4-BE49-F238E27FC236}">
                <a16:creationId xmlns:a16="http://schemas.microsoft.com/office/drawing/2014/main" id="{6E171BE3-E8B7-6CA6-A724-58BF1296A14E}"/>
              </a:ext>
            </a:extLst>
          </p:cNvPr>
          <p:cNvSpPr>
            <a:spLocks noGrp="1"/>
          </p:cNvSpPr>
          <p:nvPr>
            <p:ph idx="1"/>
          </p:nvPr>
        </p:nvSpPr>
        <p:spPr/>
        <p:txBody>
          <a:bodyPr/>
          <a:lstStyle/>
          <a:p>
            <a:r>
              <a:rPr lang="en-US" dirty="0"/>
              <a:t>In Waterfall, all requirements need to be collected in their entirety before they are passed to IT for evaluation.</a:t>
            </a:r>
          </a:p>
          <a:p>
            <a:r>
              <a:rPr lang="en-US" dirty="0"/>
              <a:t>Waterfall is a linear process where one stage must end before the next stage can begin; therefore, all requirements must be known and documented up front and completely.</a:t>
            </a:r>
          </a:p>
          <a:p>
            <a:r>
              <a:rPr lang="en-US" dirty="0"/>
              <a:t>As you can imagine, this is nearly impossible because the marketplace is dynamic and things are constantly evolving.</a:t>
            </a:r>
          </a:p>
          <a:p>
            <a:r>
              <a:rPr lang="en-US" dirty="0"/>
              <a:t>The other problem with the old method of exchanging requirements is the lack of dialogue.</a:t>
            </a:r>
            <a:endParaRPr lang="en-IN" dirty="0"/>
          </a:p>
        </p:txBody>
      </p:sp>
    </p:spTree>
    <p:extLst>
      <p:ext uri="{BB962C8B-B14F-4D97-AF65-F5344CB8AC3E}">
        <p14:creationId xmlns:p14="http://schemas.microsoft.com/office/powerpoint/2010/main" val="3966666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6662-D570-1C24-93B6-860E52A59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F504C-2A2C-D334-A715-35D3B96343B1}"/>
              </a:ext>
            </a:extLst>
          </p:cNvPr>
          <p:cNvSpPr>
            <a:spLocks noGrp="1"/>
          </p:cNvSpPr>
          <p:nvPr>
            <p:ph type="title"/>
          </p:nvPr>
        </p:nvSpPr>
        <p:spPr/>
        <p:txBody>
          <a:bodyPr/>
          <a:lstStyle/>
          <a:p>
            <a:r>
              <a:rPr lang="en-US" dirty="0"/>
              <a:t>Old Form of Requirements Gathering</a:t>
            </a:r>
            <a:endParaRPr lang="en-IN" dirty="0"/>
          </a:p>
        </p:txBody>
      </p:sp>
      <p:sp>
        <p:nvSpPr>
          <p:cNvPr id="3" name="Content Placeholder 2">
            <a:extLst>
              <a:ext uri="{FF2B5EF4-FFF2-40B4-BE49-F238E27FC236}">
                <a16:creationId xmlns:a16="http://schemas.microsoft.com/office/drawing/2014/main" id="{DF40FA5E-E3CD-BEC9-2F1C-E03019FFE03E}"/>
              </a:ext>
            </a:extLst>
          </p:cNvPr>
          <p:cNvSpPr>
            <a:spLocks noGrp="1"/>
          </p:cNvSpPr>
          <p:nvPr>
            <p:ph idx="1"/>
          </p:nvPr>
        </p:nvSpPr>
        <p:spPr/>
        <p:txBody>
          <a:bodyPr>
            <a:normAutofit/>
          </a:bodyPr>
          <a:lstStyle/>
          <a:p>
            <a:r>
              <a:rPr lang="en-US" dirty="0"/>
              <a:t>Product people work for months gathering and documenting requirements, which are sent to IT with little communication and no collaboration. </a:t>
            </a:r>
          </a:p>
          <a:p>
            <a:r>
              <a:rPr lang="en-US" dirty="0"/>
              <a:t>IT does not have the opportunity to ask questions or offer suggestions relative to requirements, and so they do not have the chance to improve the quality by overlaying their expertise. </a:t>
            </a:r>
          </a:p>
          <a:p>
            <a:r>
              <a:rPr lang="en-US" dirty="0"/>
              <a:t>Finally, the Waterfall method fails to keep up with the needs of the business because it is difficult to incorporate changes in requirements.</a:t>
            </a:r>
            <a:endParaRPr lang="en-IN" dirty="0"/>
          </a:p>
        </p:txBody>
      </p:sp>
    </p:spTree>
    <p:extLst>
      <p:ext uri="{BB962C8B-B14F-4D97-AF65-F5344CB8AC3E}">
        <p14:creationId xmlns:p14="http://schemas.microsoft.com/office/powerpoint/2010/main" val="1197039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F7EFF-7DAA-CF7E-D63F-8883ABC8F4F7}"/>
              </a:ext>
            </a:extLst>
          </p:cNvPr>
          <p:cNvSpPr>
            <a:spLocks noGrp="1"/>
          </p:cNvSpPr>
          <p:nvPr>
            <p:ph type="title"/>
          </p:nvPr>
        </p:nvSpPr>
        <p:spPr/>
        <p:txBody>
          <a:bodyPr/>
          <a:lstStyle/>
          <a:p>
            <a:r>
              <a:rPr lang="en-IN" dirty="0"/>
              <a:t>Agile Requirements in Scrum</a:t>
            </a:r>
          </a:p>
        </p:txBody>
      </p:sp>
      <p:sp>
        <p:nvSpPr>
          <p:cNvPr id="3" name="Content Placeholder 2">
            <a:extLst>
              <a:ext uri="{FF2B5EF4-FFF2-40B4-BE49-F238E27FC236}">
                <a16:creationId xmlns:a16="http://schemas.microsoft.com/office/drawing/2014/main" id="{B78D3A8F-D687-2D05-5C5A-08BF7392D600}"/>
              </a:ext>
            </a:extLst>
          </p:cNvPr>
          <p:cNvSpPr>
            <a:spLocks noGrp="1"/>
          </p:cNvSpPr>
          <p:nvPr>
            <p:ph idx="1"/>
          </p:nvPr>
        </p:nvSpPr>
        <p:spPr/>
        <p:txBody>
          <a:bodyPr/>
          <a:lstStyle/>
          <a:p>
            <a:r>
              <a:rPr lang="en-US" dirty="0"/>
              <a:t>Agile operates in a completely different and innovative way compared to Waterfall. </a:t>
            </a:r>
          </a:p>
          <a:p>
            <a:r>
              <a:rPr lang="en-US" dirty="0"/>
              <a:t>Instead of documenting all of the ins and outs of a complex system, Agile calls for simple instructions for a simple feature, and details are added as they are discussed.</a:t>
            </a:r>
          </a:p>
          <a:p>
            <a:r>
              <a:rPr lang="en-US" dirty="0"/>
              <a:t>Requirements are focused on meeting the needs of the user/customer, delivering tangible business value, and inviting collaboration.</a:t>
            </a:r>
            <a:endParaRPr lang="en-IN" dirty="0"/>
          </a:p>
        </p:txBody>
      </p:sp>
    </p:spTree>
    <p:extLst>
      <p:ext uri="{BB962C8B-B14F-4D97-AF65-F5344CB8AC3E}">
        <p14:creationId xmlns:p14="http://schemas.microsoft.com/office/powerpoint/2010/main" val="247703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637AE-65E3-4826-67AE-76C37FBBB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18E04D-1AD6-3B1A-C7B8-3C1C7916E0E6}"/>
              </a:ext>
            </a:extLst>
          </p:cNvPr>
          <p:cNvSpPr>
            <a:spLocks noGrp="1"/>
          </p:cNvSpPr>
          <p:nvPr>
            <p:ph type="title"/>
          </p:nvPr>
        </p:nvSpPr>
        <p:spPr/>
        <p:txBody>
          <a:bodyPr/>
          <a:lstStyle/>
          <a:p>
            <a:r>
              <a:rPr lang="en-IN" dirty="0"/>
              <a:t>Agile Requirements in Scrum</a:t>
            </a:r>
          </a:p>
        </p:txBody>
      </p:sp>
      <p:sp>
        <p:nvSpPr>
          <p:cNvPr id="3" name="Content Placeholder 2">
            <a:extLst>
              <a:ext uri="{FF2B5EF4-FFF2-40B4-BE49-F238E27FC236}">
                <a16:creationId xmlns:a16="http://schemas.microsoft.com/office/drawing/2014/main" id="{6A94FECE-E540-34B2-4CF7-5AD984D160D8}"/>
              </a:ext>
            </a:extLst>
          </p:cNvPr>
          <p:cNvSpPr>
            <a:spLocks noGrp="1"/>
          </p:cNvSpPr>
          <p:nvPr>
            <p:ph idx="1"/>
          </p:nvPr>
        </p:nvSpPr>
        <p:spPr/>
        <p:txBody>
          <a:bodyPr>
            <a:normAutofit fontScale="92500" lnSpcReduction="10000"/>
          </a:bodyPr>
          <a:lstStyle/>
          <a:p>
            <a:r>
              <a:rPr lang="en-US" dirty="0"/>
              <a:t>In Scrum, the requirements are called user stories. A user story, by definition, must be small enough that it can be designed, coded, and tested within the sprint or iteration. </a:t>
            </a:r>
          </a:p>
          <a:p>
            <a:r>
              <a:rPr lang="en-US" dirty="0"/>
              <a:t>Since the length of a sprint or iteration is short—two to four weeks—that forces our user stories to be simple and concise.</a:t>
            </a:r>
          </a:p>
          <a:p>
            <a:r>
              <a:rPr lang="en-US" dirty="0"/>
              <a:t>What exactly is a user story?</a:t>
            </a:r>
          </a:p>
          <a:p>
            <a:pPr lvl="1"/>
            <a:r>
              <a:rPr lang="en-US" b="1" dirty="0"/>
              <a:t>What: </a:t>
            </a:r>
            <a:r>
              <a:rPr lang="en-US" dirty="0"/>
              <a:t>A user story is a description of the requested feature (or component of a feature) that is short and simple.</a:t>
            </a:r>
          </a:p>
          <a:p>
            <a:pPr lvl="1"/>
            <a:r>
              <a:rPr lang="en-US" b="1" dirty="0"/>
              <a:t>Who: </a:t>
            </a:r>
            <a:r>
              <a:rPr lang="en-US" dirty="0"/>
              <a:t>A user story incorporates the perspective of the person who will use or benefit from the requested feature.</a:t>
            </a:r>
          </a:p>
          <a:p>
            <a:pPr lvl="1"/>
            <a:r>
              <a:rPr lang="en-US" b="1" dirty="0"/>
              <a:t>Why: </a:t>
            </a:r>
            <a:r>
              <a:rPr lang="en-US" dirty="0"/>
              <a:t>A user story incorporates the “value” of the feature so the team can understand what is driving this particular request.</a:t>
            </a:r>
          </a:p>
          <a:p>
            <a:pPr lvl="1"/>
            <a:r>
              <a:rPr lang="en-US" b="1" dirty="0"/>
              <a:t>When: </a:t>
            </a:r>
            <a:r>
              <a:rPr lang="en-US" dirty="0"/>
              <a:t>The user story will not actually specify a time frame, but there is a concept of time based on the prioritization of the user story: Those that are more time sensitive, or that drive more business value, are prioritized to the top of the list.</a:t>
            </a:r>
            <a:endParaRPr lang="en-IN" dirty="0"/>
          </a:p>
        </p:txBody>
      </p:sp>
    </p:spTree>
    <p:extLst>
      <p:ext uri="{BB962C8B-B14F-4D97-AF65-F5344CB8AC3E}">
        <p14:creationId xmlns:p14="http://schemas.microsoft.com/office/powerpoint/2010/main" val="2991600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A3D5E-2A93-D002-89AF-6A5FA1FEA61D}"/>
              </a:ext>
            </a:extLst>
          </p:cNvPr>
          <p:cNvSpPr>
            <a:spLocks noGrp="1"/>
          </p:cNvSpPr>
          <p:nvPr>
            <p:ph type="title"/>
          </p:nvPr>
        </p:nvSpPr>
        <p:spPr/>
        <p:txBody>
          <a:bodyPr/>
          <a:lstStyle/>
          <a:p>
            <a:r>
              <a:rPr lang="en-IN" dirty="0"/>
              <a:t>User Story Format</a:t>
            </a:r>
          </a:p>
        </p:txBody>
      </p:sp>
      <p:sp>
        <p:nvSpPr>
          <p:cNvPr id="3" name="Content Placeholder 2">
            <a:extLst>
              <a:ext uri="{FF2B5EF4-FFF2-40B4-BE49-F238E27FC236}">
                <a16:creationId xmlns:a16="http://schemas.microsoft.com/office/drawing/2014/main" id="{A3B0EC4E-ED66-CE5B-7398-DD1BD45EFFAE}"/>
              </a:ext>
            </a:extLst>
          </p:cNvPr>
          <p:cNvSpPr>
            <a:spLocks noGrp="1"/>
          </p:cNvSpPr>
          <p:nvPr>
            <p:ph idx="1"/>
          </p:nvPr>
        </p:nvSpPr>
        <p:spPr/>
        <p:txBody>
          <a:bodyPr/>
          <a:lstStyle/>
          <a:p>
            <a:r>
              <a:rPr lang="en-US" dirty="0"/>
              <a:t>The user story format is very precise and allows us to collect valuable information in a user-friendly sentence structure. Here is the basic format:</a:t>
            </a:r>
          </a:p>
          <a:p>
            <a:endParaRPr lang="en-US" dirty="0"/>
          </a:p>
          <a:p>
            <a:r>
              <a:rPr lang="en-US" dirty="0"/>
              <a:t>As a </a:t>
            </a:r>
            <a:r>
              <a:rPr lang="en-US" dirty="0">
                <a:solidFill>
                  <a:srgbClr val="FF0000"/>
                </a:solidFill>
              </a:rPr>
              <a:t>&lt;type of user&gt;</a:t>
            </a:r>
            <a:r>
              <a:rPr lang="en-US" dirty="0"/>
              <a:t>, I want </a:t>
            </a:r>
            <a:r>
              <a:rPr lang="en-US" dirty="0">
                <a:solidFill>
                  <a:srgbClr val="FF0000"/>
                </a:solidFill>
              </a:rPr>
              <a:t>&lt;some goal&gt;</a:t>
            </a:r>
            <a:r>
              <a:rPr lang="en-US" dirty="0"/>
              <a:t>, so that </a:t>
            </a:r>
            <a:r>
              <a:rPr lang="en-US" dirty="0">
                <a:solidFill>
                  <a:srgbClr val="FF0000"/>
                </a:solidFill>
              </a:rPr>
              <a:t>&lt;some reason&gt;</a:t>
            </a:r>
            <a:r>
              <a:rPr lang="en-US" dirty="0"/>
              <a:t>.</a:t>
            </a:r>
          </a:p>
          <a:p>
            <a:endParaRPr lang="en-US" dirty="0"/>
          </a:p>
          <a:p>
            <a:r>
              <a:rPr lang="en-US" dirty="0"/>
              <a:t>These data points are all significant and helpful; each allows the product owner to express an element about the request, and it invites dialogue and collaboration with the developers.</a:t>
            </a:r>
            <a:endParaRPr lang="en-IN" dirty="0"/>
          </a:p>
        </p:txBody>
      </p:sp>
    </p:spTree>
    <p:extLst>
      <p:ext uri="{BB962C8B-B14F-4D97-AF65-F5344CB8AC3E}">
        <p14:creationId xmlns:p14="http://schemas.microsoft.com/office/powerpoint/2010/main" val="3048539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65210-B9B5-AC30-0029-647390F59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AD04E4-C407-D8BC-68BA-CA99EAB13512}"/>
              </a:ext>
            </a:extLst>
          </p:cNvPr>
          <p:cNvSpPr>
            <a:spLocks noGrp="1"/>
          </p:cNvSpPr>
          <p:nvPr>
            <p:ph type="title"/>
          </p:nvPr>
        </p:nvSpPr>
        <p:spPr/>
        <p:txBody>
          <a:bodyPr/>
          <a:lstStyle/>
          <a:p>
            <a:r>
              <a:rPr lang="en-IN" dirty="0"/>
              <a:t>User Story Format</a:t>
            </a:r>
          </a:p>
        </p:txBody>
      </p:sp>
      <p:sp>
        <p:nvSpPr>
          <p:cNvPr id="3" name="Content Placeholder 2">
            <a:extLst>
              <a:ext uri="{FF2B5EF4-FFF2-40B4-BE49-F238E27FC236}">
                <a16:creationId xmlns:a16="http://schemas.microsoft.com/office/drawing/2014/main" id="{2FFB7C06-A7E5-9CF3-D988-63564ED74264}"/>
              </a:ext>
            </a:extLst>
          </p:cNvPr>
          <p:cNvSpPr>
            <a:spLocks noGrp="1"/>
          </p:cNvSpPr>
          <p:nvPr>
            <p:ph idx="1"/>
          </p:nvPr>
        </p:nvSpPr>
        <p:spPr/>
        <p:txBody>
          <a:bodyPr>
            <a:normAutofit lnSpcReduction="10000"/>
          </a:bodyPr>
          <a:lstStyle/>
          <a:p>
            <a:r>
              <a:rPr lang="en-US" b="1" dirty="0"/>
              <a:t>As a &lt;type of user&gt; = </a:t>
            </a:r>
            <a:r>
              <a:rPr lang="en-US" dirty="0"/>
              <a:t>why is this significant? </a:t>
            </a:r>
          </a:p>
          <a:p>
            <a:pPr lvl="1"/>
            <a:r>
              <a:rPr lang="en-US" dirty="0"/>
              <a:t>It is important for developers to understand the perspective of the user who will be taking advantage of the code. </a:t>
            </a:r>
          </a:p>
          <a:p>
            <a:pPr lvl="1"/>
            <a:r>
              <a:rPr lang="en-US" dirty="0"/>
              <a:t>You might design a feature far differently if you know that the end user is highly sophisticated versus one who is technically challenged.</a:t>
            </a:r>
          </a:p>
          <a:p>
            <a:r>
              <a:rPr lang="en-US" b="1" dirty="0"/>
              <a:t>I want &lt;some goal&gt; </a:t>
            </a:r>
            <a:r>
              <a:rPr lang="en-US" dirty="0"/>
              <a:t>= this part of the user story expresses what the user is trying to accomplish: </a:t>
            </a:r>
          </a:p>
          <a:p>
            <a:pPr lvl="1"/>
            <a:r>
              <a:rPr lang="en-US" dirty="0"/>
              <a:t>I want to be able to log in. I want to be able to reset my password. I want to be able to run a report. Understanding the feature request is critical to delivering the right thing.</a:t>
            </a:r>
          </a:p>
          <a:p>
            <a:r>
              <a:rPr lang="en-US" b="1" dirty="0"/>
              <a:t>So that &lt;some reason&gt; </a:t>
            </a:r>
            <a:r>
              <a:rPr lang="en-US" dirty="0"/>
              <a:t>= this is perhaps the most critical part of the user story format. </a:t>
            </a:r>
          </a:p>
          <a:p>
            <a:pPr lvl="1"/>
            <a:r>
              <a:rPr lang="en-US" dirty="0"/>
              <a:t>Understanding why the user wants to accomplish something can be very enlightening to the goal just described.</a:t>
            </a:r>
            <a:endParaRPr lang="en-IN" dirty="0"/>
          </a:p>
        </p:txBody>
      </p:sp>
    </p:spTree>
    <p:extLst>
      <p:ext uri="{BB962C8B-B14F-4D97-AF65-F5344CB8AC3E}">
        <p14:creationId xmlns:p14="http://schemas.microsoft.com/office/powerpoint/2010/main" val="1458875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AD9CF-77AE-B1BF-CBE5-8FE7527D8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E3BB6-46C2-F663-3375-40622432ECCB}"/>
              </a:ext>
            </a:extLst>
          </p:cNvPr>
          <p:cNvSpPr>
            <a:spLocks noGrp="1"/>
          </p:cNvSpPr>
          <p:nvPr>
            <p:ph type="title"/>
          </p:nvPr>
        </p:nvSpPr>
        <p:spPr/>
        <p:txBody>
          <a:bodyPr/>
          <a:lstStyle/>
          <a:p>
            <a:r>
              <a:rPr lang="en-IN" dirty="0"/>
              <a:t>User Story Format</a:t>
            </a:r>
          </a:p>
        </p:txBody>
      </p:sp>
      <p:sp>
        <p:nvSpPr>
          <p:cNvPr id="3" name="Content Placeholder 2">
            <a:extLst>
              <a:ext uri="{FF2B5EF4-FFF2-40B4-BE49-F238E27FC236}">
                <a16:creationId xmlns:a16="http://schemas.microsoft.com/office/drawing/2014/main" id="{638A1D48-C40A-95AC-7126-D952525D26ED}"/>
              </a:ext>
            </a:extLst>
          </p:cNvPr>
          <p:cNvSpPr>
            <a:spLocks noGrp="1"/>
          </p:cNvSpPr>
          <p:nvPr>
            <p:ph idx="1"/>
          </p:nvPr>
        </p:nvSpPr>
        <p:spPr/>
        <p:txBody>
          <a:bodyPr>
            <a:normAutofit fontScale="85000" lnSpcReduction="10000"/>
          </a:bodyPr>
          <a:lstStyle/>
          <a:p>
            <a:r>
              <a:rPr lang="en-US" dirty="0"/>
              <a:t>For example, a request came in to Cayman Design that a web site administrator for our weather application wants to be able to run reports every 15 minutes. </a:t>
            </a:r>
          </a:p>
          <a:p>
            <a:r>
              <a:rPr lang="en-US" dirty="0"/>
              <a:t>The developers would then try to figure out how to load new data and create a script to produce reports with very quick turnaround. </a:t>
            </a:r>
          </a:p>
          <a:p>
            <a:r>
              <a:rPr lang="en-US" dirty="0"/>
              <a:t>But when the reason is added (</a:t>
            </a:r>
            <a:r>
              <a:rPr lang="en-US" b="1" dirty="0"/>
              <a:t>so that</a:t>
            </a:r>
            <a:r>
              <a:rPr lang="en-US" dirty="0"/>
              <a:t>) . . . so the web site administrator would have the chance to see when the application is approaching a threshold that will slow down the system. </a:t>
            </a:r>
          </a:p>
          <a:p>
            <a:r>
              <a:rPr lang="en-US" dirty="0"/>
              <a:t>Now the developers have more information, and they might suggest a different way to solve that need, such as setting a threshold alarm that proactively sends notification if volumes get within a certain level of tolerance.</a:t>
            </a:r>
          </a:p>
          <a:p>
            <a:r>
              <a:rPr lang="en-US" dirty="0"/>
              <a:t>Because what the user wants is a way to be notified of a possible problem, they do not really want reports every 15 minutes; they just did not see another way to solve the problem.</a:t>
            </a:r>
            <a:endParaRPr lang="en-IN" dirty="0"/>
          </a:p>
        </p:txBody>
      </p:sp>
    </p:spTree>
    <p:extLst>
      <p:ext uri="{BB962C8B-B14F-4D97-AF65-F5344CB8AC3E}">
        <p14:creationId xmlns:p14="http://schemas.microsoft.com/office/powerpoint/2010/main" val="3335022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1E83E-A3F7-08A7-6BC0-277B682E7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2807F-1F31-AAF3-F17F-36BF14863FF8}"/>
              </a:ext>
            </a:extLst>
          </p:cNvPr>
          <p:cNvSpPr>
            <a:spLocks noGrp="1"/>
          </p:cNvSpPr>
          <p:nvPr>
            <p:ph type="title"/>
          </p:nvPr>
        </p:nvSpPr>
        <p:spPr/>
        <p:txBody>
          <a:bodyPr/>
          <a:lstStyle/>
          <a:p>
            <a:r>
              <a:rPr lang="en-IN" dirty="0"/>
              <a:t>User Story Format</a:t>
            </a:r>
          </a:p>
        </p:txBody>
      </p:sp>
      <p:sp>
        <p:nvSpPr>
          <p:cNvPr id="3" name="Content Placeholder 2">
            <a:extLst>
              <a:ext uri="{FF2B5EF4-FFF2-40B4-BE49-F238E27FC236}">
                <a16:creationId xmlns:a16="http://schemas.microsoft.com/office/drawing/2014/main" id="{884A2A59-AE70-3100-E082-E348FBF9DFCE}"/>
              </a:ext>
            </a:extLst>
          </p:cNvPr>
          <p:cNvSpPr>
            <a:spLocks noGrp="1"/>
          </p:cNvSpPr>
          <p:nvPr>
            <p:ph idx="1"/>
          </p:nvPr>
        </p:nvSpPr>
        <p:spPr/>
        <p:txBody>
          <a:bodyPr>
            <a:normAutofit lnSpcReduction="10000"/>
          </a:bodyPr>
          <a:lstStyle/>
          <a:p>
            <a:r>
              <a:rPr lang="en-US" dirty="0"/>
              <a:t>Let’s look at another example:</a:t>
            </a:r>
          </a:p>
          <a:p>
            <a:r>
              <a:rPr lang="en-US" b="1" dirty="0">
                <a:solidFill>
                  <a:srgbClr val="FF0000"/>
                </a:solidFill>
              </a:rPr>
              <a:t>As a </a:t>
            </a:r>
            <a:r>
              <a:rPr lang="en-US" dirty="0"/>
              <a:t>concerned and retired grandmother, </a:t>
            </a:r>
            <a:r>
              <a:rPr lang="en-US" b="1" dirty="0">
                <a:solidFill>
                  <a:srgbClr val="FF0000"/>
                </a:solidFill>
              </a:rPr>
              <a:t>I want </a:t>
            </a:r>
            <a:r>
              <a:rPr lang="en-US" dirty="0"/>
              <a:t>to receive weather alerts for areas where my children and grandchildren live </a:t>
            </a:r>
            <a:r>
              <a:rPr lang="en-US" b="1" dirty="0">
                <a:solidFill>
                  <a:srgbClr val="FF0000"/>
                </a:solidFill>
              </a:rPr>
              <a:t>so</a:t>
            </a:r>
            <a:r>
              <a:rPr lang="en-US" dirty="0"/>
              <a:t> I know when I need to worry and call them to make sure they are safe.</a:t>
            </a:r>
          </a:p>
          <a:p>
            <a:endParaRPr lang="en-US" dirty="0"/>
          </a:p>
          <a:p>
            <a:r>
              <a:rPr lang="en-US" dirty="0"/>
              <a:t>Explanation, see chapter </a:t>
            </a:r>
            <a:r>
              <a:rPr lang="en-US" dirty="0" err="1"/>
              <a:t>pg</a:t>
            </a:r>
            <a:r>
              <a:rPr lang="en-US" dirty="0"/>
              <a:t> 116.</a:t>
            </a:r>
          </a:p>
          <a:p>
            <a:r>
              <a:rPr lang="en-US" dirty="0"/>
              <a:t>Roman Pichler, an Agile expert on the role of the product owner, states it this way:</a:t>
            </a:r>
          </a:p>
          <a:p>
            <a:pPr algn="ctr"/>
            <a:r>
              <a:rPr lang="en-US" i="1" dirty="0">
                <a:effectLst>
                  <a:outerShdw blurRad="38100" dist="38100" dir="2700000" algn="tl">
                    <a:srgbClr val="000000">
                      <a:alpha val="43137"/>
                    </a:srgbClr>
                  </a:outerShdw>
                </a:effectLst>
              </a:rPr>
              <a:t>A user story is not a specification, but a communication and collaboration tool. Stories should not be handed off to the development team but be complemented by a conversation.</a:t>
            </a:r>
            <a:endParaRPr lang="en-IN"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63427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63AB-355F-8CCB-6EC4-87C05C844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678E7-38E5-D7B8-01E9-5D60222AE640}"/>
              </a:ext>
            </a:extLst>
          </p:cNvPr>
          <p:cNvSpPr>
            <a:spLocks noGrp="1"/>
          </p:cNvSpPr>
          <p:nvPr>
            <p:ph type="title"/>
          </p:nvPr>
        </p:nvSpPr>
        <p:spPr/>
        <p:txBody>
          <a:bodyPr/>
          <a:lstStyle/>
          <a:p>
            <a:r>
              <a:rPr lang="en-IN" dirty="0"/>
              <a:t>User Story Format</a:t>
            </a:r>
          </a:p>
        </p:txBody>
      </p:sp>
      <p:sp>
        <p:nvSpPr>
          <p:cNvPr id="3" name="Content Placeholder 2">
            <a:extLst>
              <a:ext uri="{FF2B5EF4-FFF2-40B4-BE49-F238E27FC236}">
                <a16:creationId xmlns:a16="http://schemas.microsoft.com/office/drawing/2014/main" id="{E849B184-C4F9-7213-321D-38EF39549A57}"/>
              </a:ext>
            </a:extLst>
          </p:cNvPr>
          <p:cNvSpPr>
            <a:spLocks noGrp="1"/>
          </p:cNvSpPr>
          <p:nvPr>
            <p:ph idx="1"/>
          </p:nvPr>
        </p:nvSpPr>
        <p:spPr/>
        <p:txBody>
          <a:bodyPr>
            <a:normAutofit fontScale="92500" lnSpcReduction="20000"/>
          </a:bodyPr>
          <a:lstStyle/>
          <a:p>
            <a:r>
              <a:rPr lang="en-US" dirty="0"/>
              <a:t>When it comes to writing good user stories, an acronym was first mentioned in 2003 by Bill Wake, and it still is used today when measuring user story effectiveness.</a:t>
            </a:r>
          </a:p>
          <a:p>
            <a:r>
              <a:rPr lang="en-US" dirty="0"/>
              <a:t>Product owners need to INVEST in a good user story.</a:t>
            </a:r>
          </a:p>
          <a:p>
            <a:r>
              <a:rPr lang="en-US" b="1" dirty="0"/>
              <a:t>Independent</a:t>
            </a:r>
            <a:r>
              <a:rPr lang="en-US" dirty="0"/>
              <a:t>—The user story must be able to stand alone. </a:t>
            </a:r>
          </a:p>
          <a:p>
            <a:r>
              <a:rPr lang="en-US" dirty="0"/>
              <a:t>It must be a feature or a component of a feature that can be tested and implemented as a unique element. </a:t>
            </a:r>
          </a:p>
          <a:p>
            <a:r>
              <a:rPr lang="en-US" dirty="0"/>
              <a:t>To the extent possible, user stories should not be dependent on other activities. </a:t>
            </a:r>
          </a:p>
          <a:p>
            <a:r>
              <a:rPr lang="en-US" dirty="0"/>
              <a:t>Ideally, they are written so that they can be delivered in any order.</a:t>
            </a:r>
          </a:p>
          <a:p>
            <a:r>
              <a:rPr lang="en-US" b="1" dirty="0"/>
              <a:t>Negotiable</a:t>
            </a:r>
            <a:r>
              <a:rPr lang="en-US" dirty="0"/>
              <a:t>—As mentioned, a user story should invite collaboration and discussion about the best way to solve the business problem that is presented. </a:t>
            </a:r>
          </a:p>
          <a:p>
            <a:r>
              <a:rPr lang="en-US" dirty="0"/>
              <a:t>The team, the Scrum master, and the product owner must be open to conversation about available options.</a:t>
            </a:r>
            <a:endParaRPr lang="en-IN" dirty="0"/>
          </a:p>
        </p:txBody>
      </p:sp>
    </p:spTree>
    <p:extLst>
      <p:ext uri="{BB962C8B-B14F-4D97-AF65-F5344CB8AC3E}">
        <p14:creationId xmlns:p14="http://schemas.microsoft.com/office/powerpoint/2010/main" val="2510026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5AB66-9160-F078-883E-D82E6DDC4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A6272-B244-7FA7-A5D4-1B962F440CDC}"/>
              </a:ext>
            </a:extLst>
          </p:cNvPr>
          <p:cNvSpPr>
            <a:spLocks noGrp="1"/>
          </p:cNvSpPr>
          <p:nvPr>
            <p:ph type="title"/>
          </p:nvPr>
        </p:nvSpPr>
        <p:spPr/>
        <p:txBody>
          <a:bodyPr/>
          <a:lstStyle/>
          <a:p>
            <a:r>
              <a:rPr lang="en-IN" dirty="0"/>
              <a:t>User Story Format</a:t>
            </a:r>
          </a:p>
        </p:txBody>
      </p:sp>
      <p:sp>
        <p:nvSpPr>
          <p:cNvPr id="3" name="Content Placeholder 2">
            <a:extLst>
              <a:ext uri="{FF2B5EF4-FFF2-40B4-BE49-F238E27FC236}">
                <a16:creationId xmlns:a16="http://schemas.microsoft.com/office/drawing/2014/main" id="{42EAA1CB-9538-4150-9E8D-E62464375A79}"/>
              </a:ext>
            </a:extLst>
          </p:cNvPr>
          <p:cNvSpPr>
            <a:spLocks noGrp="1"/>
          </p:cNvSpPr>
          <p:nvPr>
            <p:ph idx="1"/>
          </p:nvPr>
        </p:nvSpPr>
        <p:spPr/>
        <p:txBody>
          <a:bodyPr>
            <a:normAutofit fontScale="92500"/>
          </a:bodyPr>
          <a:lstStyle/>
          <a:p>
            <a:r>
              <a:rPr lang="en-US" b="1" dirty="0"/>
              <a:t>Valuable</a:t>
            </a:r>
            <a:r>
              <a:rPr lang="en-US" dirty="0"/>
              <a:t>—The reason why we do anything in Agile is to drive business value, and the more business value being delivered, the higher the priority of the story. </a:t>
            </a:r>
          </a:p>
          <a:p>
            <a:r>
              <a:rPr lang="en-US" dirty="0"/>
              <a:t>If the story does not add business value, the team should not work on it.</a:t>
            </a:r>
          </a:p>
          <a:p>
            <a:r>
              <a:rPr lang="en-US" b="1" dirty="0" err="1"/>
              <a:t>Estimatable</a:t>
            </a:r>
            <a:r>
              <a:rPr lang="en-US" dirty="0"/>
              <a:t>—Is story too big or too vague? </a:t>
            </a:r>
          </a:p>
          <a:p>
            <a:r>
              <a:rPr lang="en-US" dirty="0"/>
              <a:t>It must be clear enough that the developers and testers can reasonably estimate the complexity and length of time to deliver.</a:t>
            </a:r>
          </a:p>
          <a:p>
            <a:r>
              <a:rPr lang="en-US" b="1" dirty="0"/>
              <a:t>Small</a:t>
            </a:r>
            <a:r>
              <a:rPr lang="en-US" dirty="0"/>
              <a:t>—The story should be small enough to be completed within a single sprint or iteration.</a:t>
            </a:r>
          </a:p>
          <a:p>
            <a:r>
              <a:rPr lang="en-US" b="1" dirty="0"/>
              <a:t>Testable</a:t>
            </a:r>
            <a:r>
              <a:rPr lang="en-US" dirty="0"/>
              <a:t>—It is enough of a feature, and it is written in such a way that it can be tested to make sure it works as expected.</a:t>
            </a:r>
            <a:endParaRPr lang="en-IN" dirty="0"/>
          </a:p>
        </p:txBody>
      </p:sp>
    </p:spTree>
    <p:extLst>
      <p:ext uri="{BB962C8B-B14F-4D97-AF65-F5344CB8AC3E}">
        <p14:creationId xmlns:p14="http://schemas.microsoft.com/office/powerpoint/2010/main" val="1570016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47E21-1D78-F261-83AC-FA5190672080}"/>
              </a:ext>
            </a:extLst>
          </p:cNvPr>
          <p:cNvSpPr>
            <a:spLocks noGrp="1"/>
          </p:cNvSpPr>
          <p:nvPr>
            <p:ph type="title"/>
          </p:nvPr>
        </p:nvSpPr>
        <p:spPr/>
        <p:txBody>
          <a:bodyPr/>
          <a:lstStyle/>
          <a:p>
            <a:r>
              <a:rPr lang="en-IN" dirty="0"/>
              <a:t>Epics</a:t>
            </a:r>
          </a:p>
        </p:txBody>
      </p:sp>
      <p:sp>
        <p:nvSpPr>
          <p:cNvPr id="3" name="Content Placeholder 2">
            <a:extLst>
              <a:ext uri="{FF2B5EF4-FFF2-40B4-BE49-F238E27FC236}">
                <a16:creationId xmlns:a16="http://schemas.microsoft.com/office/drawing/2014/main" id="{5C228197-AFF0-DD8E-C01C-3BFB916CCF36}"/>
              </a:ext>
            </a:extLst>
          </p:cNvPr>
          <p:cNvSpPr>
            <a:spLocks noGrp="1"/>
          </p:cNvSpPr>
          <p:nvPr>
            <p:ph idx="1"/>
          </p:nvPr>
        </p:nvSpPr>
        <p:spPr/>
        <p:txBody>
          <a:bodyPr/>
          <a:lstStyle/>
          <a:p>
            <a:r>
              <a:rPr lang="en-US" dirty="0"/>
              <a:t>Most user stories do not start as user stories; they start as “epics.” </a:t>
            </a:r>
          </a:p>
          <a:p>
            <a:r>
              <a:rPr lang="en-US" dirty="0"/>
              <a:t>An epic is simply a user story that is too big to be designed, coded, and tested within a single sprint. </a:t>
            </a:r>
          </a:p>
          <a:p>
            <a:r>
              <a:rPr lang="en-US" dirty="0"/>
              <a:t>As we collaborate with the team and users, we realize that the feature has many different facets.</a:t>
            </a:r>
          </a:p>
          <a:p>
            <a:r>
              <a:rPr lang="en-US" dirty="0"/>
              <a:t>As we discuss those details, the epic will break down into numerous child stories.</a:t>
            </a:r>
          </a:p>
          <a:p>
            <a:r>
              <a:rPr lang="en-US" dirty="0"/>
              <a:t>There is typically a parent–child relationship, with a single epic spawning many child stories.</a:t>
            </a:r>
            <a:endParaRPr lang="en-IN" dirty="0"/>
          </a:p>
        </p:txBody>
      </p:sp>
    </p:spTree>
    <p:extLst>
      <p:ext uri="{BB962C8B-B14F-4D97-AF65-F5344CB8AC3E}">
        <p14:creationId xmlns:p14="http://schemas.microsoft.com/office/powerpoint/2010/main" val="377133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D54E-9E77-FA81-E1D8-747A0B3F7E69}"/>
              </a:ext>
            </a:extLst>
          </p:cNvPr>
          <p:cNvSpPr>
            <a:spLocks noGrp="1"/>
          </p:cNvSpPr>
          <p:nvPr>
            <p:ph type="title"/>
          </p:nvPr>
        </p:nvSpPr>
        <p:spPr/>
        <p:txBody>
          <a:bodyPr/>
          <a:lstStyle/>
          <a:p>
            <a:r>
              <a:rPr lang="en-IN" dirty="0"/>
              <a:t>Acceptance Criteria</a:t>
            </a:r>
          </a:p>
        </p:txBody>
      </p:sp>
      <p:sp>
        <p:nvSpPr>
          <p:cNvPr id="3" name="Content Placeholder 2">
            <a:extLst>
              <a:ext uri="{FF2B5EF4-FFF2-40B4-BE49-F238E27FC236}">
                <a16:creationId xmlns:a16="http://schemas.microsoft.com/office/drawing/2014/main" id="{D42CAA06-EB40-B1C2-AB7C-629BF18D91AC}"/>
              </a:ext>
            </a:extLst>
          </p:cNvPr>
          <p:cNvSpPr>
            <a:spLocks noGrp="1"/>
          </p:cNvSpPr>
          <p:nvPr>
            <p:ph idx="1"/>
          </p:nvPr>
        </p:nvSpPr>
        <p:spPr/>
        <p:txBody>
          <a:bodyPr>
            <a:normAutofit/>
          </a:bodyPr>
          <a:lstStyle/>
          <a:p>
            <a:r>
              <a:rPr lang="en-US" dirty="0"/>
              <a:t>Acceptance criteria are the tests that the product owner will use to grade the successful development of the user story. </a:t>
            </a:r>
          </a:p>
          <a:p>
            <a:r>
              <a:rPr lang="en-US" dirty="0"/>
              <a:t>If your professor says, </a:t>
            </a:r>
            <a:r>
              <a:rPr lang="en-US" i="1" dirty="0">
                <a:solidFill>
                  <a:srgbClr val="FF0000"/>
                </a:solidFill>
              </a:rPr>
              <a:t>“You have a paper due next Friday about the impact of prayer in medical healing,” </a:t>
            </a:r>
            <a:r>
              <a:rPr lang="en-US" dirty="0"/>
              <a:t>then you know when the assignment is due and the topic. </a:t>
            </a:r>
          </a:p>
          <a:p>
            <a:r>
              <a:rPr lang="en-US" dirty="0"/>
              <a:t>However, if the professor says, </a:t>
            </a:r>
            <a:r>
              <a:rPr lang="en-US" dirty="0">
                <a:solidFill>
                  <a:srgbClr val="FF0000"/>
                </a:solidFill>
              </a:rPr>
              <a:t>“You have a paper due next Friday about the impact of prayer in medical healing and it needs to be 10 pages, double-spaced, and you need to cite three references, including one from a medical journal,” </a:t>
            </a:r>
            <a:r>
              <a:rPr lang="en-US" dirty="0"/>
              <a:t>then you will probably feel much more comfortable about the assignment because you know at least some of the criteria you will be graded on.</a:t>
            </a:r>
            <a:endParaRPr lang="en-IN" dirty="0"/>
          </a:p>
        </p:txBody>
      </p:sp>
    </p:spTree>
    <p:extLst>
      <p:ext uri="{BB962C8B-B14F-4D97-AF65-F5344CB8AC3E}">
        <p14:creationId xmlns:p14="http://schemas.microsoft.com/office/powerpoint/2010/main" val="1063342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83C68-8987-17C3-FF51-F24E4F0A2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5E1A70-CAD0-A10F-0270-3387814EF2EA}"/>
              </a:ext>
            </a:extLst>
          </p:cNvPr>
          <p:cNvSpPr>
            <a:spLocks noGrp="1"/>
          </p:cNvSpPr>
          <p:nvPr>
            <p:ph type="title"/>
          </p:nvPr>
        </p:nvSpPr>
        <p:spPr/>
        <p:txBody>
          <a:bodyPr/>
          <a:lstStyle/>
          <a:p>
            <a:r>
              <a:rPr lang="en-IN" dirty="0"/>
              <a:t>Acceptance Criteria</a:t>
            </a:r>
          </a:p>
        </p:txBody>
      </p:sp>
      <p:sp>
        <p:nvSpPr>
          <p:cNvPr id="3" name="Content Placeholder 2">
            <a:extLst>
              <a:ext uri="{FF2B5EF4-FFF2-40B4-BE49-F238E27FC236}">
                <a16:creationId xmlns:a16="http://schemas.microsoft.com/office/drawing/2014/main" id="{770F8F6F-57D6-67A5-1092-8F8E80AA24C5}"/>
              </a:ext>
            </a:extLst>
          </p:cNvPr>
          <p:cNvSpPr>
            <a:spLocks noGrp="1"/>
          </p:cNvSpPr>
          <p:nvPr>
            <p:ph idx="1"/>
          </p:nvPr>
        </p:nvSpPr>
        <p:spPr/>
        <p:txBody>
          <a:bodyPr>
            <a:normAutofit/>
          </a:bodyPr>
          <a:lstStyle/>
          <a:p>
            <a:r>
              <a:rPr lang="en-US" dirty="0"/>
              <a:t>Acceptance criteria work in the same way: </a:t>
            </a:r>
          </a:p>
          <a:p>
            <a:r>
              <a:rPr lang="en-US" dirty="0"/>
              <a:t>They give the product owner the opportunity to specify how he or she will “grade” the success of the sprint/user story and, like all things in Agile, it invites collaboration and dialogue.</a:t>
            </a:r>
          </a:p>
          <a:p>
            <a:r>
              <a:rPr lang="en-US" dirty="0"/>
              <a:t>Another example is “</a:t>
            </a:r>
            <a:r>
              <a:rPr lang="en-US" dirty="0">
                <a:solidFill>
                  <a:srgbClr val="FF0000"/>
                </a:solidFill>
              </a:rPr>
              <a:t>As a </a:t>
            </a:r>
            <a:r>
              <a:rPr lang="en-US" dirty="0"/>
              <a:t>host, </a:t>
            </a:r>
            <a:r>
              <a:rPr lang="en-US" dirty="0">
                <a:solidFill>
                  <a:srgbClr val="FF0000"/>
                </a:solidFill>
              </a:rPr>
              <a:t>I want </a:t>
            </a:r>
            <a:r>
              <a:rPr lang="en-US" dirty="0"/>
              <a:t>to set my table, </a:t>
            </a:r>
            <a:r>
              <a:rPr lang="en-US" dirty="0">
                <a:solidFill>
                  <a:srgbClr val="FF0000"/>
                </a:solidFill>
              </a:rPr>
              <a:t>so that</a:t>
            </a:r>
            <a:r>
              <a:rPr lang="en-US" dirty="0"/>
              <a:t> my guests have a place to eat dinner.”</a:t>
            </a:r>
          </a:p>
          <a:p>
            <a:pPr lvl="1"/>
            <a:r>
              <a:rPr lang="en-US" dirty="0"/>
              <a:t>Verify that each place has a dinner plate in the middle.</a:t>
            </a:r>
          </a:p>
          <a:p>
            <a:pPr lvl="1"/>
            <a:r>
              <a:rPr lang="en-US" dirty="0"/>
              <a:t>Verify that each place has a dinner and salad fork to the left.</a:t>
            </a:r>
          </a:p>
          <a:p>
            <a:pPr lvl="1"/>
            <a:r>
              <a:rPr lang="en-US" dirty="0"/>
              <a:t>Verify that each place has a knife and spoon to the right.</a:t>
            </a:r>
          </a:p>
          <a:p>
            <a:pPr lvl="1"/>
            <a:r>
              <a:rPr lang="en-US" dirty="0"/>
              <a:t>Verify that each place as has a water glass above the knife.</a:t>
            </a:r>
          </a:p>
          <a:p>
            <a:pPr lvl="1"/>
            <a:r>
              <a:rPr lang="en-US" dirty="0"/>
              <a:t>Verify that each setting has a napkin folded on top of the plate.</a:t>
            </a:r>
            <a:endParaRPr lang="en-IN" dirty="0"/>
          </a:p>
        </p:txBody>
      </p:sp>
    </p:spTree>
    <p:extLst>
      <p:ext uri="{BB962C8B-B14F-4D97-AF65-F5344CB8AC3E}">
        <p14:creationId xmlns:p14="http://schemas.microsoft.com/office/powerpoint/2010/main" val="205277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F7A60-834D-F51F-69E4-A9BB1525F86A}"/>
              </a:ext>
            </a:extLst>
          </p:cNvPr>
          <p:cNvSpPr>
            <a:spLocks noGrp="1"/>
          </p:cNvSpPr>
          <p:nvPr>
            <p:ph type="title"/>
          </p:nvPr>
        </p:nvSpPr>
        <p:spPr/>
        <p:txBody>
          <a:bodyPr/>
          <a:lstStyle/>
          <a:p>
            <a:r>
              <a:rPr lang="en-US" dirty="0"/>
              <a:t>User Story Writing Best Practices</a:t>
            </a:r>
            <a:endParaRPr lang="en-IN" dirty="0"/>
          </a:p>
        </p:txBody>
      </p:sp>
      <p:sp>
        <p:nvSpPr>
          <p:cNvPr id="3" name="Content Placeholder 2">
            <a:extLst>
              <a:ext uri="{FF2B5EF4-FFF2-40B4-BE49-F238E27FC236}">
                <a16:creationId xmlns:a16="http://schemas.microsoft.com/office/drawing/2014/main" id="{1E89948A-7568-A2E1-DCF1-1F0C6526FF04}"/>
              </a:ext>
            </a:extLst>
          </p:cNvPr>
          <p:cNvSpPr>
            <a:spLocks noGrp="1"/>
          </p:cNvSpPr>
          <p:nvPr>
            <p:ph idx="1"/>
          </p:nvPr>
        </p:nvSpPr>
        <p:spPr/>
        <p:txBody>
          <a:bodyPr/>
          <a:lstStyle/>
          <a:p>
            <a:r>
              <a:rPr lang="en-US" dirty="0"/>
              <a:t>Not every product owner is necessarily going to know how to write good user stories, but this is a skill that will grow with time and experience. </a:t>
            </a:r>
          </a:p>
          <a:p>
            <a:r>
              <a:rPr lang="en-US" dirty="0"/>
              <a:t>The best way to improve the quality of user stories is collaboration. </a:t>
            </a:r>
          </a:p>
          <a:p>
            <a:r>
              <a:rPr lang="en-US" dirty="0"/>
              <a:t>The product owner, working with the Scrum team, can continuously improve the quality of the stories over time.</a:t>
            </a:r>
            <a:endParaRPr lang="en-IN" dirty="0"/>
          </a:p>
        </p:txBody>
      </p:sp>
    </p:spTree>
    <p:extLst>
      <p:ext uri="{BB962C8B-B14F-4D97-AF65-F5344CB8AC3E}">
        <p14:creationId xmlns:p14="http://schemas.microsoft.com/office/powerpoint/2010/main" val="2017477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4FFC8-5A4E-AC3D-5727-A1D125912A7C}"/>
              </a:ext>
            </a:extLst>
          </p:cNvPr>
          <p:cNvSpPr>
            <a:spLocks noGrp="1"/>
          </p:cNvSpPr>
          <p:nvPr>
            <p:ph type="title"/>
          </p:nvPr>
        </p:nvSpPr>
        <p:spPr/>
        <p:txBody>
          <a:bodyPr>
            <a:noAutofit/>
          </a:bodyPr>
          <a:lstStyle/>
          <a:p>
            <a:r>
              <a:rPr lang="en-US" sz="2800" dirty="0"/>
              <a:t>Agree on the Depth of Technical Detail in the User Story</a:t>
            </a:r>
            <a:endParaRPr lang="en-IN" sz="2800" dirty="0"/>
          </a:p>
        </p:txBody>
      </p:sp>
      <p:sp>
        <p:nvSpPr>
          <p:cNvPr id="3" name="Content Placeholder 2">
            <a:extLst>
              <a:ext uri="{FF2B5EF4-FFF2-40B4-BE49-F238E27FC236}">
                <a16:creationId xmlns:a16="http://schemas.microsoft.com/office/drawing/2014/main" id="{E171DB87-DBD2-A5B4-5D49-8F352F2ACB12}"/>
              </a:ext>
            </a:extLst>
          </p:cNvPr>
          <p:cNvSpPr>
            <a:spLocks noGrp="1"/>
          </p:cNvSpPr>
          <p:nvPr>
            <p:ph idx="1"/>
          </p:nvPr>
        </p:nvSpPr>
        <p:spPr/>
        <p:txBody>
          <a:bodyPr/>
          <a:lstStyle/>
          <a:p>
            <a:r>
              <a:rPr lang="en-US" dirty="0"/>
              <a:t>Agile has a firm distinction of the line between what the product owner owns and what the Scrum team owns. </a:t>
            </a:r>
          </a:p>
          <a:p>
            <a:r>
              <a:rPr lang="en-US" dirty="0"/>
              <a:t>The product owner is responsible for ensuring that the company builds the right product (the What); the Scrum team is responsible for ensuring that the product is built correctly, or the right way (the How). </a:t>
            </a:r>
          </a:p>
          <a:p>
            <a:r>
              <a:rPr lang="en-US" dirty="0"/>
              <a:t>The reality is that different teams will adopt different lines of delineation (illustration) depending on what works best for them.</a:t>
            </a:r>
          </a:p>
        </p:txBody>
      </p:sp>
    </p:spTree>
    <p:extLst>
      <p:ext uri="{BB962C8B-B14F-4D97-AF65-F5344CB8AC3E}">
        <p14:creationId xmlns:p14="http://schemas.microsoft.com/office/powerpoint/2010/main" val="3298726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32995-F3A8-14E9-94EC-F7D2489D0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085C0-F010-62AC-58FD-DDC62E2CB20A}"/>
              </a:ext>
            </a:extLst>
          </p:cNvPr>
          <p:cNvSpPr>
            <a:spLocks noGrp="1"/>
          </p:cNvSpPr>
          <p:nvPr>
            <p:ph type="title"/>
          </p:nvPr>
        </p:nvSpPr>
        <p:spPr/>
        <p:txBody>
          <a:bodyPr>
            <a:noAutofit/>
          </a:bodyPr>
          <a:lstStyle/>
          <a:p>
            <a:r>
              <a:rPr lang="en-US" sz="2800" dirty="0"/>
              <a:t>Agree on the Depth of Technical Detail in the User Story</a:t>
            </a:r>
            <a:endParaRPr lang="en-IN" sz="2800" dirty="0"/>
          </a:p>
        </p:txBody>
      </p:sp>
      <p:sp>
        <p:nvSpPr>
          <p:cNvPr id="3" name="Content Placeholder 2">
            <a:extLst>
              <a:ext uri="{FF2B5EF4-FFF2-40B4-BE49-F238E27FC236}">
                <a16:creationId xmlns:a16="http://schemas.microsoft.com/office/drawing/2014/main" id="{E49D80D3-7069-3A92-3029-59B0FE5D8D1C}"/>
              </a:ext>
            </a:extLst>
          </p:cNvPr>
          <p:cNvSpPr>
            <a:spLocks noGrp="1"/>
          </p:cNvSpPr>
          <p:nvPr>
            <p:ph idx="1"/>
          </p:nvPr>
        </p:nvSpPr>
        <p:spPr/>
        <p:txBody>
          <a:bodyPr/>
          <a:lstStyle/>
          <a:p>
            <a:r>
              <a:rPr lang="en-US" dirty="0"/>
              <a:t>For instance, a product owner who is particularly technical may include some design ideas in the user story. </a:t>
            </a:r>
          </a:p>
          <a:p>
            <a:r>
              <a:rPr lang="en-US" dirty="0"/>
              <a:t>The design ideas should be negotiable with the Scrum team, so the product owner should never dictate the design of a solution.</a:t>
            </a:r>
          </a:p>
          <a:p>
            <a:r>
              <a:rPr lang="en-US" i="1" dirty="0"/>
              <a:t>In Scrum, the Product Owner (PO) is responsible for what needs to be built and why, but not how it should be built. </a:t>
            </a:r>
          </a:p>
          <a:p>
            <a:r>
              <a:rPr lang="en-US" i="1" dirty="0"/>
              <a:t>The “how” — including design decisions and technical implementation — is the responsibility of the Scrum Team, especially the Developers.</a:t>
            </a:r>
            <a:endParaRPr lang="en-IN" i="1" dirty="0"/>
          </a:p>
        </p:txBody>
      </p:sp>
    </p:spTree>
    <p:extLst>
      <p:ext uri="{BB962C8B-B14F-4D97-AF65-F5344CB8AC3E}">
        <p14:creationId xmlns:p14="http://schemas.microsoft.com/office/powerpoint/2010/main" val="1623283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2B6F1-7CA3-4B3C-CCAF-3CA689454794}"/>
              </a:ext>
            </a:extLst>
          </p:cNvPr>
          <p:cNvSpPr>
            <a:spLocks noGrp="1"/>
          </p:cNvSpPr>
          <p:nvPr>
            <p:ph type="title"/>
          </p:nvPr>
        </p:nvSpPr>
        <p:spPr/>
        <p:txBody>
          <a:bodyPr>
            <a:noAutofit/>
          </a:bodyPr>
          <a:lstStyle/>
          <a:p>
            <a:r>
              <a:rPr lang="en-US" sz="3200" dirty="0"/>
              <a:t>Ensure That Epics Are Appropriately Broken Down</a:t>
            </a:r>
            <a:endParaRPr lang="en-IN" sz="3200" dirty="0"/>
          </a:p>
        </p:txBody>
      </p:sp>
      <p:sp>
        <p:nvSpPr>
          <p:cNvPr id="3" name="Content Placeholder 2">
            <a:extLst>
              <a:ext uri="{FF2B5EF4-FFF2-40B4-BE49-F238E27FC236}">
                <a16:creationId xmlns:a16="http://schemas.microsoft.com/office/drawing/2014/main" id="{3EE3039D-2B60-F6F3-31DA-91479812C8A3}"/>
              </a:ext>
            </a:extLst>
          </p:cNvPr>
          <p:cNvSpPr>
            <a:spLocks noGrp="1"/>
          </p:cNvSpPr>
          <p:nvPr>
            <p:ph idx="1"/>
          </p:nvPr>
        </p:nvSpPr>
        <p:spPr/>
        <p:txBody>
          <a:bodyPr>
            <a:normAutofit/>
          </a:bodyPr>
          <a:lstStyle/>
          <a:p>
            <a:r>
              <a:rPr lang="en-US" dirty="0"/>
              <a:t>As we have discussed, almost all user stories start out as epics, and must be broken down into smaller user stories that can be implemented in a single sprint.</a:t>
            </a:r>
          </a:p>
          <a:p>
            <a:r>
              <a:rPr lang="en-US" dirty="0"/>
              <a:t>The product owner needs to be detail oriented enough to see the value in breaking down the user story/epic without feeling as if he or she is too far in the weeds.</a:t>
            </a:r>
          </a:p>
          <a:p>
            <a:r>
              <a:rPr lang="en-US" dirty="0"/>
              <a:t>Individual user stories can sometimes make it seem as though things are moving too slowly when the product owner wants to pick up speed. </a:t>
            </a:r>
          </a:p>
          <a:p>
            <a:r>
              <a:rPr lang="en-US" dirty="0"/>
              <a:t>It takes discipline and collaboration to make sure that the appropriate level of detail is being considered and passed on to the Scrum teams.</a:t>
            </a:r>
            <a:endParaRPr lang="en-IN" dirty="0"/>
          </a:p>
        </p:txBody>
      </p:sp>
    </p:spTree>
    <p:extLst>
      <p:ext uri="{BB962C8B-B14F-4D97-AF65-F5344CB8AC3E}">
        <p14:creationId xmlns:p14="http://schemas.microsoft.com/office/powerpoint/2010/main" val="673120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8D016-1FBE-8202-B5EF-D0297B6E2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D1E00-C9B7-1CA4-4470-04C0F487EF9F}"/>
              </a:ext>
            </a:extLst>
          </p:cNvPr>
          <p:cNvSpPr>
            <a:spLocks noGrp="1"/>
          </p:cNvSpPr>
          <p:nvPr>
            <p:ph type="title"/>
          </p:nvPr>
        </p:nvSpPr>
        <p:spPr/>
        <p:txBody>
          <a:bodyPr>
            <a:noAutofit/>
          </a:bodyPr>
          <a:lstStyle/>
          <a:p>
            <a:r>
              <a:rPr lang="en-US" sz="3200" dirty="0"/>
              <a:t>Ensure That Epics Are Appropriately Broken Down</a:t>
            </a:r>
            <a:endParaRPr lang="en-IN" sz="3200" dirty="0"/>
          </a:p>
        </p:txBody>
      </p:sp>
      <p:sp>
        <p:nvSpPr>
          <p:cNvPr id="3" name="Content Placeholder 2">
            <a:extLst>
              <a:ext uri="{FF2B5EF4-FFF2-40B4-BE49-F238E27FC236}">
                <a16:creationId xmlns:a16="http://schemas.microsoft.com/office/drawing/2014/main" id="{53FF3510-8735-604E-D950-AE8025A3CA4B}"/>
              </a:ext>
            </a:extLst>
          </p:cNvPr>
          <p:cNvSpPr>
            <a:spLocks noGrp="1"/>
          </p:cNvSpPr>
          <p:nvPr>
            <p:ph idx="1"/>
          </p:nvPr>
        </p:nvSpPr>
        <p:spPr/>
        <p:txBody>
          <a:bodyPr>
            <a:normAutofit fontScale="92500" lnSpcReduction="10000"/>
          </a:bodyPr>
          <a:lstStyle/>
          <a:p>
            <a:r>
              <a:rPr lang="en-US" dirty="0"/>
              <a:t>EPIC: As a busy executive, I want to be able to save favorites on my mobile weather application so I can choose from a finite drop-down list to easily locate the weather in the destination I am traveling to.</a:t>
            </a:r>
          </a:p>
          <a:p>
            <a:pPr lvl="1"/>
            <a:r>
              <a:rPr lang="en-US" dirty="0"/>
              <a:t>CHILD 1: As a busy executive, I want to be able to save a search location to my list of favorites from my mobile device so I can reuse that search on </a:t>
            </a:r>
            <a:r>
              <a:rPr lang="en-IN" dirty="0"/>
              <a:t>future visits.</a:t>
            </a:r>
          </a:p>
          <a:p>
            <a:pPr lvl="1"/>
            <a:r>
              <a:rPr lang="en-US" dirty="0"/>
              <a:t>CHILD 2: As a busy executive, I want to be able to name my saved searches from my mobile device so I know how to access each saved </a:t>
            </a:r>
            <a:r>
              <a:rPr lang="en-IN" dirty="0"/>
              <a:t>search in the future.</a:t>
            </a:r>
          </a:p>
          <a:p>
            <a:pPr lvl="1"/>
            <a:r>
              <a:rPr lang="en-US" dirty="0"/>
              <a:t>CHILD 3: As a busy executive, I want the name of my saved searches to default to the city name, unless I choose to manually override it, so that I can streamline saving my searches.</a:t>
            </a:r>
          </a:p>
          <a:p>
            <a:pPr lvl="1"/>
            <a:r>
              <a:rPr lang="en-US" dirty="0"/>
              <a:t>CHILD 4: As a busy executive, I want my “saved favorites” option on the user interface to be presented on a mobile device near the “search location” so I have the option of starting a new search or using a saved one, and can minimize my keystrokes within the weather application.</a:t>
            </a:r>
            <a:endParaRPr lang="en-IN" b="1" dirty="0"/>
          </a:p>
        </p:txBody>
      </p:sp>
    </p:spTree>
    <p:extLst>
      <p:ext uri="{BB962C8B-B14F-4D97-AF65-F5344CB8AC3E}">
        <p14:creationId xmlns:p14="http://schemas.microsoft.com/office/powerpoint/2010/main" val="2306856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640CD-EA72-0FA4-19C7-06B0C6B61B37}"/>
              </a:ext>
            </a:extLst>
          </p:cNvPr>
          <p:cNvSpPr>
            <a:spLocks noGrp="1"/>
          </p:cNvSpPr>
          <p:nvPr>
            <p:ph type="title"/>
          </p:nvPr>
        </p:nvSpPr>
        <p:spPr/>
        <p:txBody>
          <a:bodyPr/>
          <a:lstStyle/>
          <a:p>
            <a:r>
              <a:rPr lang="en-IN" dirty="0"/>
              <a:t>Adding Acceptance Criteria</a:t>
            </a:r>
          </a:p>
        </p:txBody>
      </p:sp>
      <p:sp>
        <p:nvSpPr>
          <p:cNvPr id="3" name="Content Placeholder 2">
            <a:extLst>
              <a:ext uri="{FF2B5EF4-FFF2-40B4-BE49-F238E27FC236}">
                <a16:creationId xmlns:a16="http://schemas.microsoft.com/office/drawing/2014/main" id="{DCAC09EA-434B-7CCF-9426-9E2056249C47}"/>
              </a:ext>
            </a:extLst>
          </p:cNvPr>
          <p:cNvSpPr>
            <a:spLocks noGrp="1"/>
          </p:cNvSpPr>
          <p:nvPr>
            <p:ph idx="1"/>
          </p:nvPr>
        </p:nvSpPr>
        <p:spPr/>
        <p:txBody>
          <a:bodyPr/>
          <a:lstStyle/>
          <a:p>
            <a:r>
              <a:rPr lang="en-US" dirty="0"/>
              <a:t>Acceptance criteria are a great way to ensure that a story is understood and to invite negotiation with the team about the business value that we are trying to create. </a:t>
            </a:r>
          </a:p>
          <a:p>
            <a:r>
              <a:rPr lang="en-US" dirty="0"/>
              <a:t>Let’s look again at our child user story and add acceptance criteria.</a:t>
            </a:r>
          </a:p>
          <a:p>
            <a:r>
              <a:rPr lang="en-US" dirty="0"/>
              <a:t>Child User Story: As a busy executive, I want the name of my saved searches to default to the city name, unless I choose to manually override it, so that I can streamline saving my searches.</a:t>
            </a:r>
            <a:endParaRPr lang="en-IN" dirty="0"/>
          </a:p>
        </p:txBody>
      </p:sp>
    </p:spTree>
    <p:extLst>
      <p:ext uri="{BB962C8B-B14F-4D97-AF65-F5344CB8AC3E}">
        <p14:creationId xmlns:p14="http://schemas.microsoft.com/office/powerpoint/2010/main" val="529350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8F21D-6281-4E6D-FF5D-94F61EEC2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D1527-13EA-41BF-FABA-0B67BDEC34DA}"/>
              </a:ext>
            </a:extLst>
          </p:cNvPr>
          <p:cNvSpPr>
            <a:spLocks noGrp="1"/>
          </p:cNvSpPr>
          <p:nvPr>
            <p:ph type="title"/>
          </p:nvPr>
        </p:nvSpPr>
        <p:spPr/>
        <p:txBody>
          <a:bodyPr/>
          <a:lstStyle/>
          <a:p>
            <a:r>
              <a:rPr lang="en-IN" dirty="0"/>
              <a:t>Adding Acceptance Criteria</a:t>
            </a:r>
          </a:p>
        </p:txBody>
      </p:sp>
      <p:sp>
        <p:nvSpPr>
          <p:cNvPr id="3" name="Content Placeholder 2">
            <a:extLst>
              <a:ext uri="{FF2B5EF4-FFF2-40B4-BE49-F238E27FC236}">
                <a16:creationId xmlns:a16="http://schemas.microsoft.com/office/drawing/2014/main" id="{43DB4462-E3E7-6ADF-B4BD-98A962DA25DB}"/>
              </a:ext>
            </a:extLst>
          </p:cNvPr>
          <p:cNvSpPr>
            <a:spLocks noGrp="1"/>
          </p:cNvSpPr>
          <p:nvPr>
            <p:ph idx="1"/>
          </p:nvPr>
        </p:nvSpPr>
        <p:spPr>
          <a:xfrm>
            <a:off x="266330" y="1020932"/>
            <a:ext cx="8611340" cy="5700544"/>
          </a:xfrm>
        </p:spPr>
        <p:txBody>
          <a:bodyPr>
            <a:normAutofit fontScale="92500" lnSpcReduction="10000"/>
          </a:bodyPr>
          <a:lstStyle/>
          <a:p>
            <a:r>
              <a:rPr lang="en-US" i="1" u="sng" dirty="0"/>
              <a:t>Acceptance Criteria: </a:t>
            </a:r>
            <a:r>
              <a:rPr lang="en-US" dirty="0"/>
              <a:t>Verify that the correct city name is auto-populated when the search found the location by City/State and the Save option is chosen from a mobile device.</a:t>
            </a:r>
          </a:p>
          <a:p>
            <a:r>
              <a:rPr lang="en-US" i="1" u="sng" dirty="0"/>
              <a:t>Acceptance Criteria: </a:t>
            </a:r>
            <a:r>
              <a:rPr lang="en-US" dirty="0"/>
              <a:t>Verify that the correct city name is auto-</a:t>
            </a:r>
            <a:r>
              <a:rPr lang="en-US" dirty="0" err="1"/>
              <a:t>populatedwhen</a:t>
            </a:r>
            <a:r>
              <a:rPr lang="en-US" dirty="0"/>
              <a:t> the search found the location by the  ZIP code and the Save option is chosen from a mobile device.</a:t>
            </a:r>
          </a:p>
          <a:p>
            <a:r>
              <a:rPr lang="en-US" i="1" u="sng" dirty="0"/>
              <a:t>Acceptance Criteria: </a:t>
            </a:r>
            <a:r>
              <a:rPr lang="en-US" dirty="0"/>
              <a:t>Verify that the default location name is saved to the database.</a:t>
            </a:r>
          </a:p>
          <a:p>
            <a:r>
              <a:rPr lang="en-US" i="1" u="sng" dirty="0"/>
              <a:t>Acceptance Criteria: </a:t>
            </a:r>
            <a:r>
              <a:rPr lang="en-US" dirty="0"/>
              <a:t>Verify that the default location name is populated as a saved location in future visits.</a:t>
            </a:r>
          </a:p>
          <a:p>
            <a:r>
              <a:rPr lang="en-US" i="1" u="sng" dirty="0"/>
              <a:t>Acceptance Criteria: </a:t>
            </a:r>
            <a:r>
              <a:rPr lang="en-US" dirty="0"/>
              <a:t>Verify that the location name can be manually overwritten if the default location name is not desired.</a:t>
            </a:r>
          </a:p>
          <a:p>
            <a:r>
              <a:rPr lang="en-US" i="1" u="sng" dirty="0"/>
              <a:t>Acceptance Criteria: </a:t>
            </a:r>
            <a:r>
              <a:rPr lang="en-US" dirty="0"/>
              <a:t>Verify that the overwritten location name is at least two characters long, alphanumeric.</a:t>
            </a:r>
            <a:endParaRPr lang="en-IN" dirty="0"/>
          </a:p>
        </p:txBody>
      </p:sp>
    </p:spTree>
    <p:extLst>
      <p:ext uri="{BB962C8B-B14F-4D97-AF65-F5344CB8AC3E}">
        <p14:creationId xmlns:p14="http://schemas.microsoft.com/office/powerpoint/2010/main" val="1272335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5AE3-8C10-6D2F-9517-7126C569802C}"/>
              </a:ext>
            </a:extLst>
          </p:cNvPr>
          <p:cNvSpPr>
            <a:spLocks noGrp="1"/>
          </p:cNvSpPr>
          <p:nvPr>
            <p:ph type="title"/>
          </p:nvPr>
        </p:nvSpPr>
        <p:spPr/>
        <p:txBody>
          <a:bodyPr/>
          <a:lstStyle/>
          <a:p>
            <a:r>
              <a:rPr lang="en-US" dirty="0"/>
              <a:t>From User Stories to Deliverables</a:t>
            </a:r>
            <a:endParaRPr lang="en-IN" dirty="0"/>
          </a:p>
        </p:txBody>
      </p:sp>
      <p:sp>
        <p:nvSpPr>
          <p:cNvPr id="3" name="Content Placeholder 2">
            <a:extLst>
              <a:ext uri="{FF2B5EF4-FFF2-40B4-BE49-F238E27FC236}">
                <a16:creationId xmlns:a16="http://schemas.microsoft.com/office/drawing/2014/main" id="{1B787286-A1AA-6917-7A10-927183929F21}"/>
              </a:ext>
            </a:extLst>
          </p:cNvPr>
          <p:cNvSpPr>
            <a:spLocks noGrp="1"/>
          </p:cNvSpPr>
          <p:nvPr>
            <p:ph idx="1"/>
          </p:nvPr>
        </p:nvSpPr>
        <p:spPr/>
        <p:txBody>
          <a:bodyPr/>
          <a:lstStyle/>
          <a:p>
            <a:r>
              <a:rPr lang="en-US" dirty="0"/>
              <a:t>User stories are a building block to larger development efforts, and a strong Agile team needs to clearly understand how the pieces fit together to deliver maximum value to the marketplace.</a:t>
            </a:r>
            <a:endParaRPr lang="en-IN" dirty="0"/>
          </a:p>
        </p:txBody>
      </p:sp>
    </p:spTree>
    <p:extLst>
      <p:ext uri="{BB962C8B-B14F-4D97-AF65-F5344CB8AC3E}">
        <p14:creationId xmlns:p14="http://schemas.microsoft.com/office/powerpoint/2010/main" val="3819438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C86B2-F341-146F-AAF6-A2B426AF528C}"/>
              </a:ext>
            </a:extLst>
          </p:cNvPr>
          <p:cNvSpPr>
            <a:spLocks noGrp="1"/>
          </p:cNvSpPr>
          <p:nvPr>
            <p:ph type="title"/>
          </p:nvPr>
        </p:nvSpPr>
        <p:spPr/>
        <p:txBody>
          <a:bodyPr/>
          <a:lstStyle/>
          <a:p>
            <a:r>
              <a:rPr lang="en-IN" dirty="0"/>
              <a:t>Release Management</a:t>
            </a:r>
          </a:p>
        </p:txBody>
      </p:sp>
      <p:sp>
        <p:nvSpPr>
          <p:cNvPr id="3" name="Content Placeholder 2">
            <a:extLst>
              <a:ext uri="{FF2B5EF4-FFF2-40B4-BE49-F238E27FC236}">
                <a16:creationId xmlns:a16="http://schemas.microsoft.com/office/drawing/2014/main" id="{F859027D-6AB8-E6F6-2844-BC83C8921A5D}"/>
              </a:ext>
            </a:extLst>
          </p:cNvPr>
          <p:cNvSpPr>
            <a:spLocks noGrp="1"/>
          </p:cNvSpPr>
          <p:nvPr>
            <p:ph idx="1"/>
          </p:nvPr>
        </p:nvSpPr>
        <p:spPr/>
        <p:txBody>
          <a:bodyPr>
            <a:normAutofit fontScale="92500" lnSpcReduction="20000"/>
          </a:bodyPr>
          <a:lstStyle/>
          <a:p>
            <a:r>
              <a:rPr lang="en-US" dirty="0"/>
              <a:t>Release management is another critical aspect of Agile. Because the user stories and the features they support are so small—small enough to be coded, designed, and tested within a single sprint—they are often not enough to release to the marketplace.</a:t>
            </a:r>
          </a:p>
          <a:p>
            <a:r>
              <a:rPr lang="en-US" dirty="0"/>
              <a:t>It is quite common to need several sprints’ worth of code to have a meaningful enough product/feature to release.</a:t>
            </a:r>
          </a:p>
          <a:p>
            <a:r>
              <a:rPr lang="en-IN" dirty="0"/>
              <a:t>An important</a:t>
            </a:r>
          </a:p>
          <a:p>
            <a:r>
              <a:rPr lang="en-US" dirty="0"/>
              <a:t>role for the product owner is to determine the right amount for a release. </a:t>
            </a:r>
          </a:p>
          <a:p>
            <a:r>
              <a:rPr lang="en-US" dirty="0"/>
              <a:t>If you are launching a new product, you may take many months’ worth of sprints before you release the first version; on the other hand, </a:t>
            </a:r>
          </a:p>
          <a:p>
            <a:r>
              <a:rPr lang="en-US" dirty="0"/>
              <a:t>if you have a mature product that is quite reliable, then you might release code at the end of every sprint so the application is continuously being enhanced.</a:t>
            </a:r>
            <a:endParaRPr lang="en-IN" dirty="0"/>
          </a:p>
        </p:txBody>
      </p:sp>
    </p:spTree>
    <p:extLst>
      <p:ext uri="{BB962C8B-B14F-4D97-AF65-F5344CB8AC3E}">
        <p14:creationId xmlns:p14="http://schemas.microsoft.com/office/powerpoint/2010/main" val="2728485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C9BA8-FEE4-5540-87C9-491DDA5C3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A9D1F-7B2F-7176-7A46-7994E9D78EE8}"/>
              </a:ext>
            </a:extLst>
          </p:cNvPr>
          <p:cNvSpPr>
            <a:spLocks noGrp="1"/>
          </p:cNvSpPr>
          <p:nvPr>
            <p:ph type="title"/>
          </p:nvPr>
        </p:nvSpPr>
        <p:spPr/>
        <p:txBody>
          <a:bodyPr/>
          <a:lstStyle/>
          <a:p>
            <a:r>
              <a:rPr lang="en-IN" dirty="0"/>
              <a:t>Release Management</a:t>
            </a:r>
          </a:p>
        </p:txBody>
      </p:sp>
      <p:sp>
        <p:nvSpPr>
          <p:cNvPr id="3" name="Content Placeholder 2">
            <a:extLst>
              <a:ext uri="{FF2B5EF4-FFF2-40B4-BE49-F238E27FC236}">
                <a16:creationId xmlns:a16="http://schemas.microsoft.com/office/drawing/2014/main" id="{45915725-6A9A-073B-6876-A68FF3B17251}"/>
              </a:ext>
            </a:extLst>
          </p:cNvPr>
          <p:cNvSpPr>
            <a:spLocks noGrp="1"/>
          </p:cNvSpPr>
          <p:nvPr>
            <p:ph idx="1"/>
          </p:nvPr>
        </p:nvSpPr>
        <p:spPr/>
        <p:txBody>
          <a:bodyPr>
            <a:normAutofit/>
          </a:bodyPr>
          <a:lstStyle/>
          <a:p>
            <a:r>
              <a:rPr lang="en-US" dirty="0"/>
              <a:t>There are a number of factors to consider when doing release management, such as the following:</a:t>
            </a:r>
          </a:p>
          <a:p>
            <a:r>
              <a:rPr lang="en-US" dirty="0"/>
              <a:t>Is this feature complete enough to meet the needs of the marketplace?</a:t>
            </a:r>
          </a:p>
          <a:p>
            <a:r>
              <a:rPr lang="en-US" dirty="0"/>
              <a:t>Do we need to release less frequently because releases can be disruptive to </a:t>
            </a:r>
            <a:r>
              <a:rPr lang="en-IN" dirty="0"/>
              <a:t>our customers?</a:t>
            </a:r>
          </a:p>
          <a:p>
            <a:r>
              <a:rPr lang="en-US" dirty="0"/>
              <a:t>How long is our build process? If it takes two weeks to run all of the processes necessary to release code, then you certainly do not want to do it after every sprint.</a:t>
            </a:r>
            <a:endParaRPr lang="en-IN" dirty="0"/>
          </a:p>
        </p:txBody>
      </p:sp>
    </p:spTree>
    <p:extLst>
      <p:ext uri="{BB962C8B-B14F-4D97-AF65-F5344CB8AC3E}">
        <p14:creationId xmlns:p14="http://schemas.microsoft.com/office/powerpoint/2010/main" val="12161339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626</TotalTime>
  <Words>2800</Words>
  <Application>Microsoft Office PowerPoint</Application>
  <PresentationFormat>On-screen Show (4:3)</PresentationFormat>
  <Paragraphs>137</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Agile Software Engineering</vt:lpstr>
      <vt:lpstr>PowerPoint Presentation</vt:lpstr>
      <vt:lpstr>Old Form of Requirements Gathering</vt:lpstr>
      <vt:lpstr>Old Form of Requirements Gathering</vt:lpstr>
      <vt:lpstr>Agile Requirements in Scrum</vt:lpstr>
      <vt:lpstr>Agile Requirements in Scrum</vt:lpstr>
      <vt:lpstr>User Story Format</vt:lpstr>
      <vt:lpstr>User Story Format</vt:lpstr>
      <vt:lpstr>User Story Format</vt:lpstr>
      <vt:lpstr>User Story Format</vt:lpstr>
      <vt:lpstr>User Story Format</vt:lpstr>
      <vt:lpstr>User Story Format</vt:lpstr>
      <vt:lpstr>Epics</vt:lpstr>
      <vt:lpstr>Acceptance Criteria</vt:lpstr>
      <vt:lpstr>Acceptance Criteria</vt:lpstr>
      <vt:lpstr>User Story Writing Best Practices</vt:lpstr>
      <vt:lpstr>Agree on the Depth of Technical Detail in the User Story</vt:lpstr>
      <vt:lpstr>Agree on the Depth of Technical Detail in the User Story</vt:lpstr>
      <vt:lpstr>Ensure That Epics Are Appropriately Broken Down</vt:lpstr>
      <vt:lpstr>Ensure That Epics Are Appropriately Broken Down</vt:lpstr>
      <vt:lpstr>Adding Acceptance Criteria</vt:lpstr>
      <vt:lpstr>Adding Acceptance Criteria</vt:lpstr>
      <vt:lpstr>From User Stories to Deliverables</vt:lpstr>
      <vt:lpstr>Release Management</vt:lpstr>
      <vt:lpstr>Release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57</cp:revision>
  <dcterms:created xsi:type="dcterms:W3CDTF">2026-01-06T05:40:50Z</dcterms:created>
  <dcterms:modified xsi:type="dcterms:W3CDTF">2026-03-05T05:45:58Z</dcterms:modified>
</cp:coreProperties>
</file>