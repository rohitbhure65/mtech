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15-04-2026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normAutofit/>
          </a:bodyPr>
          <a:lstStyle/>
          <a:p>
            <a:r>
              <a:rPr lang="en-US" b="1" dirty="0"/>
              <a:t>Professional Ethics and Human Values</a:t>
            </a:r>
            <a:endParaRPr lang="en-IN" b="1" dirty="0"/>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Social Media</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E46D-062E-3689-D835-289B6BCCF3EC}"/>
              </a:ext>
            </a:extLst>
          </p:cNvPr>
          <p:cNvSpPr>
            <a:spLocks noGrp="1"/>
          </p:cNvSpPr>
          <p:nvPr>
            <p:ph type="title"/>
          </p:nvPr>
        </p:nvSpPr>
        <p:spPr/>
        <p:txBody>
          <a:bodyPr>
            <a:noAutofit/>
          </a:bodyPr>
          <a:lstStyle/>
          <a:p>
            <a:r>
              <a:rPr lang="en-IN" dirty="0"/>
              <a:t>What is Social Media</a:t>
            </a:r>
          </a:p>
        </p:txBody>
      </p:sp>
      <p:sp>
        <p:nvSpPr>
          <p:cNvPr id="3" name="Content Placeholder 2">
            <a:extLst>
              <a:ext uri="{FF2B5EF4-FFF2-40B4-BE49-F238E27FC236}">
                <a16:creationId xmlns:a16="http://schemas.microsoft.com/office/drawing/2014/main" id="{70064FB7-B09C-C8C8-C5CD-5E8A110C38A7}"/>
              </a:ext>
            </a:extLst>
          </p:cNvPr>
          <p:cNvSpPr>
            <a:spLocks noGrp="1"/>
          </p:cNvSpPr>
          <p:nvPr>
            <p:ph idx="1"/>
          </p:nvPr>
        </p:nvSpPr>
        <p:spPr>
          <a:xfrm>
            <a:off x="266330" y="1020932"/>
            <a:ext cx="8611340" cy="5700544"/>
          </a:xfrm>
        </p:spPr>
        <p:txBody>
          <a:bodyPr>
            <a:normAutofit/>
          </a:bodyPr>
          <a:lstStyle/>
          <a:p>
            <a:r>
              <a:rPr lang="en-US" dirty="0"/>
              <a:t>Social media are web-based communication channels and tools that enable people to interact with each other by creating online communities where they can share information, ideas, messages, and other content, including images, audio, and video. </a:t>
            </a:r>
          </a:p>
          <a:p>
            <a:r>
              <a:rPr lang="en-US" dirty="0"/>
              <a:t>Common features of social media are user accounts, profile pages (for individuals, groups, and businesses), friends or followers, event pages, news feeds, media-sharing features, like buttons, comments sections, and reviews—among others.</a:t>
            </a:r>
            <a:endParaRPr lang="en-IN" dirty="0"/>
          </a:p>
        </p:txBody>
      </p:sp>
    </p:spTree>
    <p:extLst>
      <p:ext uri="{BB962C8B-B14F-4D97-AF65-F5344CB8AC3E}">
        <p14:creationId xmlns:p14="http://schemas.microsoft.com/office/powerpoint/2010/main" val="28352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0F1E2-62B9-400F-F697-63DC71949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F1D63-A85D-EF7C-E9CC-FA225AE81BC9}"/>
              </a:ext>
            </a:extLst>
          </p:cNvPr>
          <p:cNvSpPr>
            <a:spLocks noGrp="1"/>
          </p:cNvSpPr>
          <p:nvPr>
            <p:ph type="title"/>
          </p:nvPr>
        </p:nvSpPr>
        <p:spPr/>
        <p:txBody>
          <a:bodyPr>
            <a:noAutofit/>
          </a:bodyPr>
          <a:lstStyle/>
          <a:p>
            <a:r>
              <a:rPr lang="en-IN" dirty="0"/>
              <a:t>What is Social Media</a:t>
            </a:r>
          </a:p>
        </p:txBody>
      </p:sp>
      <p:sp>
        <p:nvSpPr>
          <p:cNvPr id="3" name="Content Placeholder 2">
            <a:extLst>
              <a:ext uri="{FF2B5EF4-FFF2-40B4-BE49-F238E27FC236}">
                <a16:creationId xmlns:a16="http://schemas.microsoft.com/office/drawing/2014/main" id="{EF9DE021-81BE-F098-B588-CE9C83954B93}"/>
              </a:ext>
            </a:extLst>
          </p:cNvPr>
          <p:cNvSpPr>
            <a:spLocks noGrp="1"/>
          </p:cNvSpPr>
          <p:nvPr>
            <p:ph idx="1"/>
          </p:nvPr>
        </p:nvSpPr>
        <p:spPr>
          <a:xfrm>
            <a:off x="266330" y="1020932"/>
            <a:ext cx="8611340" cy="5700544"/>
          </a:xfrm>
        </p:spPr>
        <p:txBody>
          <a:bodyPr>
            <a:normAutofit/>
          </a:bodyPr>
          <a:lstStyle/>
          <a:p>
            <a:r>
              <a:rPr lang="en-US" dirty="0"/>
              <a:t>Different types of social media are blogs (with comments sections), discussion forums, media-sharing networks, wikis, social bookmarking tools, social messaging apps, and social networking, news, and shopping platforms.</a:t>
            </a:r>
          </a:p>
          <a:p>
            <a:r>
              <a:rPr lang="en-US" dirty="0"/>
              <a:t>Often (including throughout this chapter), the term social networking is used interchangeably with the term social media to describe the apps, websites, and other tools that allows users to interact online.</a:t>
            </a:r>
            <a:endParaRPr lang="en-IN" dirty="0"/>
          </a:p>
        </p:txBody>
      </p:sp>
    </p:spTree>
    <p:extLst>
      <p:ext uri="{BB962C8B-B14F-4D97-AF65-F5344CB8AC3E}">
        <p14:creationId xmlns:p14="http://schemas.microsoft.com/office/powerpoint/2010/main" val="3263427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D2E1-0B63-BFBC-45F8-53221597D2C4}"/>
              </a:ext>
            </a:extLst>
          </p:cNvPr>
          <p:cNvSpPr>
            <a:spLocks noGrp="1"/>
          </p:cNvSpPr>
          <p:nvPr>
            <p:ph type="title"/>
          </p:nvPr>
        </p:nvSpPr>
        <p:spPr/>
        <p:txBody>
          <a:bodyPr/>
          <a:lstStyle/>
          <a:p>
            <a:r>
              <a:rPr lang="en-IN" dirty="0"/>
              <a:t>Social Networking Platforms</a:t>
            </a:r>
          </a:p>
        </p:txBody>
      </p:sp>
      <p:sp>
        <p:nvSpPr>
          <p:cNvPr id="3" name="Content Placeholder 2">
            <a:extLst>
              <a:ext uri="{FF2B5EF4-FFF2-40B4-BE49-F238E27FC236}">
                <a16:creationId xmlns:a16="http://schemas.microsoft.com/office/drawing/2014/main" id="{31A87380-F7A1-F62E-7CCA-A3A9EB89CF90}"/>
              </a:ext>
            </a:extLst>
          </p:cNvPr>
          <p:cNvSpPr>
            <a:spLocks noGrp="1"/>
          </p:cNvSpPr>
          <p:nvPr>
            <p:ph idx="1"/>
          </p:nvPr>
        </p:nvSpPr>
        <p:spPr>
          <a:xfrm>
            <a:off x="266330" y="1020932"/>
            <a:ext cx="8611340" cy="5700544"/>
          </a:xfrm>
        </p:spPr>
        <p:txBody>
          <a:bodyPr>
            <a:normAutofit fontScale="92500"/>
          </a:bodyPr>
          <a:lstStyle/>
          <a:p>
            <a:r>
              <a:rPr lang="en-US" dirty="0"/>
              <a:t>A social networking platform creates an online community of Internet users that enables</a:t>
            </a:r>
            <a:r>
              <a:rPr lang="hi-IN" dirty="0"/>
              <a:t> </a:t>
            </a:r>
            <a:r>
              <a:rPr lang="en-US" dirty="0"/>
              <a:t>members to break down barriers created by time, distance, and cultural differences. </a:t>
            </a:r>
            <a:endParaRPr lang="hi-IN" dirty="0"/>
          </a:p>
          <a:p>
            <a:r>
              <a:rPr lang="en-US" dirty="0"/>
              <a:t>Social</a:t>
            </a:r>
            <a:r>
              <a:rPr lang="hi-IN" dirty="0"/>
              <a:t> </a:t>
            </a:r>
            <a:r>
              <a:rPr lang="en-US" dirty="0"/>
              <a:t>networking platforms allow people to interact with others online by sharing opinions, insights,</a:t>
            </a:r>
            <a:r>
              <a:rPr lang="hi-IN" dirty="0"/>
              <a:t> </a:t>
            </a:r>
            <a:r>
              <a:rPr lang="en-US" dirty="0"/>
              <a:t>information, interests, and experiences. </a:t>
            </a:r>
            <a:endParaRPr lang="hi-IN" dirty="0"/>
          </a:p>
          <a:p>
            <a:r>
              <a:rPr lang="en-US" dirty="0"/>
              <a:t>Some platforms, such as LinkedIn, are more text</a:t>
            </a:r>
            <a:r>
              <a:rPr lang="hi-IN" dirty="0"/>
              <a:t> </a:t>
            </a:r>
            <a:r>
              <a:rPr lang="en-US" dirty="0"/>
              <a:t>focused. Others, such as Instagram, Snapchat, Tumblr, and YouTube, are primarily focused</a:t>
            </a:r>
            <a:r>
              <a:rPr lang="hi-IN" dirty="0"/>
              <a:t> </a:t>
            </a:r>
            <a:r>
              <a:rPr lang="en-US" dirty="0"/>
              <a:t>on audio and visual content. </a:t>
            </a:r>
            <a:endParaRPr lang="hi-IN" dirty="0"/>
          </a:p>
          <a:p>
            <a:r>
              <a:rPr lang="en-US" dirty="0"/>
              <a:t>Members of an online social network may use the platform to</a:t>
            </a:r>
            <a:r>
              <a:rPr lang="hi-IN" dirty="0"/>
              <a:t> </a:t>
            </a:r>
            <a:r>
              <a:rPr lang="en-US" dirty="0"/>
              <a:t>interact with friends, family members, and colleagues—people they already know—but they</a:t>
            </a:r>
            <a:r>
              <a:rPr lang="hi-IN" dirty="0"/>
              <a:t> </a:t>
            </a:r>
            <a:r>
              <a:rPr lang="en-US" dirty="0"/>
              <a:t>may also make use of the platform to develop new personal and professional relationships.</a:t>
            </a:r>
            <a:endParaRPr lang="en-IN" dirty="0"/>
          </a:p>
        </p:txBody>
      </p:sp>
    </p:spTree>
    <p:extLst>
      <p:ext uri="{BB962C8B-B14F-4D97-AF65-F5344CB8AC3E}">
        <p14:creationId xmlns:p14="http://schemas.microsoft.com/office/powerpoint/2010/main" val="285613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C44CE-AA7B-E078-E0AF-1A7DB9484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18721-A26B-2110-35F5-60615F781DCF}"/>
              </a:ext>
            </a:extLst>
          </p:cNvPr>
          <p:cNvSpPr>
            <a:spLocks noGrp="1"/>
          </p:cNvSpPr>
          <p:nvPr>
            <p:ph type="title"/>
          </p:nvPr>
        </p:nvSpPr>
        <p:spPr/>
        <p:txBody>
          <a:bodyPr/>
          <a:lstStyle/>
          <a:p>
            <a:r>
              <a:rPr lang="en-US" dirty="0"/>
              <a:t>Business Applications of SM</a:t>
            </a:r>
            <a:endParaRPr lang="en-IN" dirty="0"/>
          </a:p>
        </p:txBody>
      </p:sp>
      <p:sp>
        <p:nvSpPr>
          <p:cNvPr id="3" name="Content Placeholder 2">
            <a:extLst>
              <a:ext uri="{FF2B5EF4-FFF2-40B4-BE49-F238E27FC236}">
                <a16:creationId xmlns:a16="http://schemas.microsoft.com/office/drawing/2014/main" id="{085DEE26-E2CD-CC81-8109-081D22BF9931}"/>
              </a:ext>
            </a:extLst>
          </p:cNvPr>
          <p:cNvSpPr>
            <a:spLocks noGrp="1"/>
          </p:cNvSpPr>
          <p:nvPr>
            <p:ph idx="1"/>
          </p:nvPr>
        </p:nvSpPr>
        <p:spPr>
          <a:xfrm>
            <a:off x="266330" y="1020932"/>
            <a:ext cx="8611340" cy="5700544"/>
          </a:xfrm>
        </p:spPr>
        <p:txBody>
          <a:bodyPr>
            <a:normAutofit/>
          </a:bodyPr>
          <a:lstStyle/>
          <a:p>
            <a:r>
              <a:rPr lang="en-US" dirty="0"/>
              <a:t>Although many social networking platforms were originally targeted at nonbusiness users, many organizations now use social media tools to advertise, assess job candidates, and sell products and services. </a:t>
            </a:r>
          </a:p>
          <a:p>
            <a:r>
              <a:rPr lang="en-US" dirty="0"/>
              <a:t>An increasing number of business-oriented social networking platforms including Facebook, LinkedIn, Instagram, Twitter, Google/ YouTube, and Yelp can be used to encourage and support relationships with consumers, clients, potential employees, suppliers, and business partners around the world.</a:t>
            </a:r>
            <a:endParaRPr lang="en-IN" dirty="0"/>
          </a:p>
        </p:txBody>
      </p:sp>
    </p:spTree>
    <p:extLst>
      <p:ext uri="{BB962C8B-B14F-4D97-AF65-F5344CB8AC3E}">
        <p14:creationId xmlns:p14="http://schemas.microsoft.com/office/powerpoint/2010/main" val="1122853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37D7A-16FE-8BA5-CEED-6BFA7D588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06C15-867A-31F7-0E57-68A5F69044A2}"/>
              </a:ext>
            </a:extLst>
          </p:cNvPr>
          <p:cNvSpPr>
            <a:spLocks noGrp="1"/>
          </p:cNvSpPr>
          <p:nvPr>
            <p:ph type="title"/>
          </p:nvPr>
        </p:nvSpPr>
        <p:spPr/>
        <p:txBody>
          <a:bodyPr/>
          <a:lstStyle/>
          <a:p>
            <a:r>
              <a:rPr lang="en-US" dirty="0"/>
              <a:t>Business Applications of SM</a:t>
            </a:r>
            <a:endParaRPr lang="en-IN" dirty="0"/>
          </a:p>
        </p:txBody>
      </p:sp>
      <p:sp>
        <p:nvSpPr>
          <p:cNvPr id="3" name="Content Placeholder 2">
            <a:extLst>
              <a:ext uri="{FF2B5EF4-FFF2-40B4-BE49-F238E27FC236}">
                <a16:creationId xmlns:a16="http://schemas.microsoft.com/office/drawing/2014/main" id="{64887245-0A84-52E9-8514-C6AF9955111A}"/>
              </a:ext>
            </a:extLst>
          </p:cNvPr>
          <p:cNvSpPr>
            <a:spLocks noGrp="1"/>
          </p:cNvSpPr>
          <p:nvPr>
            <p:ph idx="1"/>
          </p:nvPr>
        </p:nvSpPr>
        <p:spPr>
          <a:xfrm>
            <a:off x="266330" y="1020932"/>
            <a:ext cx="8611340" cy="5700544"/>
          </a:xfrm>
        </p:spPr>
        <p:txBody>
          <a:bodyPr>
            <a:normAutofit/>
          </a:bodyPr>
          <a:lstStyle/>
          <a:p>
            <a:r>
              <a:rPr lang="en-US" dirty="0"/>
              <a:t>With over 1.1 billion unique visitors each month, Facebook includes the largest blend of demographics of all the social networks to develop marketing campaigns and reach their target audience.</a:t>
            </a:r>
          </a:p>
          <a:p>
            <a:r>
              <a:rPr lang="en-US" dirty="0"/>
              <a:t>LinkedIn, the world’s largest professional network, to develop contacts with clients, promote themselves, and connect with individuals and organizations within their industry.</a:t>
            </a:r>
          </a:p>
          <a:p>
            <a:r>
              <a:rPr lang="en-US" dirty="0"/>
              <a:t>Attendees of organization events and tradeshows can be encouraged to post photos to the popular photo-sharing platform Instagram to create more buzz about their company or event.</a:t>
            </a:r>
            <a:endParaRPr lang="en-IN" dirty="0"/>
          </a:p>
        </p:txBody>
      </p:sp>
    </p:spTree>
    <p:extLst>
      <p:ext uri="{BB962C8B-B14F-4D97-AF65-F5344CB8AC3E}">
        <p14:creationId xmlns:p14="http://schemas.microsoft.com/office/powerpoint/2010/main" val="383555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6D580-FA82-A8DF-23F3-BAE0ED85A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17285-46B1-E358-8F91-FBE774D765CD}"/>
              </a:ext>
            </a:extLst>
          </p:cNvPr>
          <p:cNvSpPr>
            <a:spLocks noGrp="1"/>
          </p:cNvSpPr>
          <p:nvPr>
            <p:ph type="title"/>
          </p:nvPr>
        </p:nvSpPr>
        <p:spPr/>
        <p:txBody>
          <a:bodyPr/>
          <a:lstStyle/>
          <a:p>
            <a:r>
              <a:rPr lang="en-US" dirty="0"/>
              <a:t>Business Applications of SM</a:t>
            </a:r>
            <a:endParaRPr lang="en-IN" dirty="0"/>
          </a:p>
        </p:txBody>
      </p:sp>
      <p:sp>
        <p:nvSpPr>
          <p:cNvPr id="3" name="Content Placeholder 2">
            <a:extLst>
              <a:ext uri="{FF2B5EF4-FFF2-40B4-BE49-F238E27FC236}">
                <a16:creationId xmlns:a16="http://schemas.microsoft.com/office/drawing/2014/main" id="{2DBB377F-3A71-1420-6868-D786A3B5A981}"/>
              </a:ext>
            </a:extLst>
          </p:cNvPr>
          <p:cNvSpPr>
            <a:spLocks noGrp="1"/>
          </p:cNvSpPr>
          <p:nvPr>
            <p:ph idx="1"/>
          </p:nvPr>
        </p:nvSpPr>
        <p:spPr>
          <a:xfrm>
            <a:off x="266330" y="1020932"/>
            <a:ext cx="8611340" cy="5700544"/>
          </a:xfrm>
        </p:spPr>
        <p:txBody>
          <a:bodyPr>
            <a:normAutofit fontScale="92500"/>
          </a:bodyPr>
          <a:lstStyle/>
          <a:p>
            <a:r>
              <a:rPr lang="en-US" dirty="0"/>
              <a:t>Twitter now X, enables an organization to share short text updates, images, links, polls, and videos. </a:t>
            </a:r>
          </a:p>
          <a:p>
            <a:r>
              <a:rPr lang="en-US" dirty="0"/>
              <a:t>Hashtags, which can be used to quickly spread a company’s message, allow a company’s tweets to be seen not only by its followers but also by those who are interested in the topic being tweeted about. </a:t>
            </a:r>
          </a:p>
          <a:p>
            <a:r>
              <a:rPr lang="en-US" dirty="0"/>
              <a:t>For instance, a hashtag with a product name allows anyone interested in the product to see the tweet regardless of whether they are following the company.</a:t>
            </a:r>
          </a:p>
          <a:p>
            <a:r>
              <a:rPr lang="en-US" dirty="0"/>
              <a:t>Organizations can use Google Hangouts On Air to capture interviews with customers, managers, and industry leaders. </a:t>
            </a:r>
          </a:p>
          <a:p>
            <a:r>
              <a:rPr lang="en-US" dirty="0"/>
              <a:t>The interviews are then posted automatically to YouTube under the company’s account to provide greater visibility.</a:t>
            </a:r>
            <a:endParaRPr lang="en-IN" dirty="0"/>
          </a:p>
        </p:txBody>
      </p:sp>
    </p:spTree>
    <p:extLst>
      <p:ext uri="{BB962C8B-B14F-4D97-AF65-F5344CB8AC3E}">
        <p14:creationId xmlns:p14="http://schemas.microsoft.com/office/powerpoint/2010/main" val="465376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FB96C-14F9-9435-604A-3C8E5E9C8D6E}"/>
              </a:ext>
            </a:extLst>
          </p:cNvPr>
          <p:cNvSpPr>
            <a:spLocks noGrp="1"/>
          </p:cNvSpPr>
          <p:nvPr>
            <p:ph type="title"/>
          </p:nvPr>
        </p:nvSpPr>
        <p:spPr/>
        <p:txBody>
          <a:bodyPr/>
          <a:lstStyle/>
          <a:p>
            <a:r>
              <a:rPr lang="en-US" dirty="0"/>
              <a:t>More Use of Social Media</a:t>
            </a:r>
            <a:endParaRPr lang="en-IN" dirty="0"/>
          </a:p>
        </p:txBody>
      </p:sp>
      <p:sp>
        <p:nvSpPr>
          <p:cNvPr id="3" name="Content Placeholder 2">
            <a:extLst>
              <a:ext uri="{FF2B5EF4-FFF2-40B4-BE49-F238E27FC236}">
                <a16:creationId xmlns:a16="http://schemas.microsoft.com/office/drawing/2014/main" id="{7222C3A9-5642-A3D5-2C42-9ED5AD049DE9}"/>
              </a:ext>
            </a:extLst>
          </p:cNvPr>
          <p:cNvSpPr>
            <a:spLocks noGrp="1"/>
          </p:cNvSpPr>
          <p:nvPr>
            <p:ph idx="1"/>
          </p:nvPr>
        </p:nvSpPr>
        <p:spPr>
          <a:xfrm>
            <a:off x="266330" y="1020932"/>
            <a:ext cx="8611340" cy="5700544"/>
          </a:xfrm>
        </p:spPr>
        <p:txBody>
          <a:bodyPr>
            <a:normAutofit fontScale="92500" lnSpcReduction="10000"/>
          </a:bodyPr>
          <a:lstStyle/>
          <a:p>
            <a:r>
              <a:rPr lang="en-US" b="1" dirty="0"/>
              <a:t>Social Media Marketing</a:t>
            </a:r>
          </a:p>
          <a:p>
            <a:r>
              <a:rPr lang="en-US" dirty="0"/>
              <a:t>Social media marketing involves the use of social networks to communicate and promote the benefits of products and services.</a:t>
            </a:r>
          </a:p>
          <a:p>
            <a:r>
              <a:rPr lang="en-US" dirty="0"/>
              <a:t>The two primary objectives of social media marketers are raising brand awareness and driving traffic to a website to increase product sales. </a:t>
            </a:r>
          </a:p>
          <a:p>
            <a:r>
              <a:rPr lang="en-US" dirty="0"/>
              <a:t>Other important benefits of social media marketing are developing loyal fans, providing market insight, and generating leads.</a:t>
            </a:r>
          </a:p>
          <a:p>
            <a:r>
              <a:rPr lang="en-US" dirty="0"/>
              <a:t>Two significant advantages of social networking marketing over more traditional media—such as radio, TV, and newspapers—are that marketers can create an opportunity to generate a conversation with viewers of the message, and those messages can be targeted to reach people with the desired demographic characteristics.</a:t>
            </a:r>
            <a:endParaRPr lang="en-IN" dirty="0"/>
          </a:p>
        </p:txBody>
      </p:sp>
    </p:spTree>
    <p:extLst>
      <p:ext uri="{BB962C8B-B14F-4D97-AF65-F5344CB8AC3E}">
        <p14:creationId xmlns:p14="http://schemas.microsoft.com/office/powerpoint/2010/main" val="105680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878E-83E1-B6C9-FEB6-C1848C9CE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3A4CF-62F4-4A30-EDEC-61CDBE829C7E}"/>
              </a:ext>
            </a:extLst>
          </p:cNvPr>
          <p:cNvSpPr>
            <a:spLocks noGrp="1"/>
          </p:cNvSpPr>
          <p:nvPr>
            <p:ph type="title"/>
          </p:nvPr>
        </p:nvSpPr>
        <p:spPr/>
        <p:txBody>
          <a:bodyPr/>
          <a:lstStyle/>
          <a:p>
            <a:r>
              <a:rPr lang="en-US" dirty="0"/>
              <a:t>More Use of Social Media</a:t>
            </a:r>
            <a:endParaRPr lang="en-IN" dirty="0"/>
          </a:p>
        </p:txBody>
      </p:sp>
      <p:sp>
        <p:nvSpPr>
          <p:cNvPr id="3" name="Content Placeholder 2">
            <a:extLst>
              <a:ext uri="{FF2B5EF4-FFF2-40B4-BE49-F238E27FC236}">
                <a16:creationId xmlns:a16="http://schemas.microsoft.com/office/drawing/2014/main" id="{6CAC9DAB-3A4C-30AB-4C04-294E63A09C11}"/>
              </a:ext>
            </a:extLst>
          </p:cNvPr>
          <p:cNvSpPr>
            <a:spLocks noGrp="1"/>
          </p:cNvSpPr>
          <p:nvPr>
            <p:ph idx="1"/>
          </p:nvPr>
        </p:nvSpPr>
        <p:spPr>
          <a:xfrm>
            <a:off x="266330" y="1020932"/>
            <a:ext cx="8611340" cy="5700544"/>
          </a:xfrm>
        </p:spPr>
        <p:txBody>
          <a:bodyPr>
            <a:normAutofit fontScale="92500" lnSpcReduction="10000"/>
          </a:bodyPr>
          <a:lstStyle/>
          <a:p>
            <a:r>
              <a:rPr lang="en-US" b="1" dirty="0"/>
              <a:t>Social Media in the Hiring Process</a:t>
            </a:r>
          </a:p>
          <a:p>
            <a:r>
              <a:rPr lang="en-US" dirty="0"/>
              <a:t>According to CareerBuilder, 60 percent of employers used social media to research job candidates in 2016. </a:t>
            </a:r>
          </a:p>
          <a:p>
            <a:r>
              <a:rPr lang="en-US" dirty="0"/>
              <a:t>Nearly half of those companies found information on social media that gave a negative impression of the candidate. </a:t>
            </a:r>
          </a:p>
          <a:p>
            <a:r>
              <a:rPr lang="en-US" dirty="0"/>
              <a:t>The offending content included inappropriate photographs and videos, information about the candidate drinking or using drugs, and discriminatory comments related to gender, race, and religion.</a:t>
            </a:r>
          </a:p>
          <a:p>
            <a:r>
              <a:rPr lang="en-US" dirty="0"/>
              <a:t>Job seeking candidates should review their presence on social media and remove photos and postings that portray them in a potentially negative light. </a:t>
            </a:r>
          </a:p>
          <a:p>
            <a:r>
              <a:rPr lang="en-US" dirty="0"/>
              <a:t>Many jobseekers delete their social media accounts altogether because they know employers check such sites.</a:t>
            </a:r>
            <a:endParaRPr lang="en-IN" dirty="0"/>
          </a:p>
        </p:txBody>
      </p:sp>
    </p:spTree>
    <p:extLst>
      <p:ext uri="{BB962C8B-B14F-4D97-AF65-F5344CB8AC3E}">
        <p14:creationId xmlns:p14="http://schemas.microsoft.com/office/powerpoint/2010/main" val="123036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3FFDF-94D7-CD3A-866D-DD93B6FB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0D44F-A987-EAB9-6A58-260E6FC32BC5}"/>
              </a:ext>
            </a:extLst>
          </p:cNvPr>
          <p:cNvSpPr>
            <a:spLocks noGrp="1"/>
          </p:cNvSpPr>
          <p:nvPr>
            <p:ph type="title"/>
          </p:nvPr>
        </p:nvSpPr>
        <p:spPr/>
        <p:txBody>
          <a:bodyPr/>
          <a:lstStyle/>
          <a:p>
            <a:r>
              <a:rPr lang="en-US" dirty="0"/>
              <a:t>More Use of Social Media</a:t>
            </a:r>
            <a:endParaRPr lang="en-IN" dirty="0"/>
          </a:p>
        </p:txBody>
      </p:sp>
      <p:sp>
        <p:nvSpPr>
          <p:cNvPr id="3" name="Content Placeholder 2">
            <a:extLst>
              <a:ext uri="{FF2B5EF4-FFF2-40B4-BE49-F238E27FC236}">
                <a16:creationId xmlns:a16="http://schemas.microsoft.com/office/drawing/2014/main" id="{3A5A07AF-77DE-90D6-381B-6001D3740C26}"/>
              </a:ext>
            </a:extLst>
          </p:cNvPr>
          <p:cNvSpPr>
            <a:spLocks noGrp="1"/>
          </p:cNvSpPr>
          <p:nvPr>
            <p:ph idx="1"/>
          </p:nvPr>
        </p:nvSpPr>
        <p:spPr>
          <a:xfrm>
            <a:off x="266330" y="1020932"/>
            <a:ext cx="8611340" cy="5700544"/>
          </a:xfrm>
        </p:spPr>
        <p:txBody>
          <a:bodyPr>
            <a:normAutofit fontScale="92500"/>
          </a:bodyPr>
          <a:lstStyle/>
          <a:p>
            <a:r>
              <a:rPr lang="en-US" b="1" dirty="0"/>
              <a:t>Improving Customer Service Using Social Media</a:t>
            </a:r>
          </a:p>
          <a:p>
            <a:r>
              <a:rPr lang="en-US" dirty="0"/>
              <a:t>In the past, companies relied heavily on their market research and customer service organizations to provide them with insights into what customers think about their products and services. </a:t>
            </a:r>
          </a:p>
          <a:p>
            <a:r>
              <a:rPr lang="en-US" dirty="0"/>
              <a:t>For example, many consumer goods companies put toll-free 800 numbers on their products so that consumers could call in and speak with trained customer service reps to share their comments and complaints. </a:t>
            </a:r>
          </a:p>
          <a:p>
            <a:r>
              <a:rPr lang="en-US" dirty="0"/>
              <a:t>Increasingly, however, consumers are using social networks to share their experiences, both good and bad, with others. </a:t>
            </a:r>
          </a:p>
          <a:p>
            <a:r>
              <a:rPr lang="en-US" dirty="0"/>
              <a:t>And the old adage “A happy customer tells a few people, an unhappy customer tells everyone” has never been more true.</a:t>
            </a:r>
            <a:endParaRPr lang="en-IN" dirty="0"/>
          </a:p>
        </p:txBody>
      </p:sp>
    </p:spTree>
    <p:extLst>
      <p:ext uri="{BB962C8B-B14F-4D97-AF65-F5344CB8AC3E}">
        <p14:creationId xmlns:p14="http://schemas.microsoft.com/office/powerpoint/2010/main" val="1045245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5D1B-6BDA-B6FB-4324-C0726A0AD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06385-9DE6-0011-D94F-753C3CCE22DC}"/>
              </a:ext>
            </a:extLst>
          </p:cNvPr>
          <p:cNvSpPr>
            <a:spLocks noGrp="1"/>
          </p:cNvSpPr>
          <p:nvPr>
            <p:ph type="title"/>
          </p:nvPr>
        </p:nvSpPr>
        <p:spPr/>
        <p:txBody>
          <a:bodyPr/>
          <a:lstStyle/>
          <a:p>
            <a:r>
              <a:rPr lang="en-US" dirty="0"/>
              <a:t>More Use of Social Media</a:t>
            </a:r>
            <a:endParaRPr lang="en-IN" dirty="0"/>
          </a:p>
        </p:txBody>
      </p:sp>
      <p:sp>
        <p:nvSpPr>
          <p:cNvPr id="3" name="Content Placeholder 2">
            <a:extLst>
              <a:ext uri="{FF2B5EF4-FFF2-40B4-BE49-F238E27FC236}">
                <a16:creationId xmlns:a16="http://schemas.microsoft.com/office/drawing/2014/main" id="{0EFF235C-80F0-59A8-A714-7829CB872334}"/>
              </a:ext>
            </a:extLst>
          </p:cNvPr>
          <p:cNvSpPr>
            <a:spLocks noGrp="1"/>
          </p:cNvSpPr>
          <p:nvPr>
            <p:ph idx="1"/>
          </p:nvPr>
        </p:nvSpPr>
        <p:spPr>
          <a:xfrm>
            <a:off x="266330" y="1020932"/>
            <a:ext cx="8611340" cy="5700544"/>
          </a:xfrm>
        </p:spPr>
        <p:txBody>
          <a:bodyPr>
            <a:normAutofit/>
          </a:bodyPr>
          <a:lstStyle/>
          <a:p>
            <a:r>
              <a:rPr lang="en-US" b="1" dirty="0"/>
              <a:t>Social Shopping Platforms</a:t>
            </a:r>
          </a:p>
          <a:p>
            <a:r>
              <a:rPr lang="en-US" dirty="0"/>
              <a:t>Social shopping platforms combine two highly popular online activities—shopping and social networking. </a:t>
            </a:r>
          </a:p>
          <a:p>
            <a:r>
              <a:rPr lang="en-US" dirty="0"/>
              <a:t>Their growth in popularity can be attributed to two things: choice overload and users eager for expert advice to decide what to purchase. </a:t>
            </a:r>
          </a:p>
          <a:p>
            <a:r>
              <a:rPr lang="en-US" dirty="0"/>
              <a:t>Members of social shopping sites can typically build their own pages to collect information and photos about items in which they are interested. </a:t>
            </a:r>
          </a:p>
          <a:p>
            <a:r>
              <a:rPr lang="en-US" dirty="0"/>
              <a:t>Some social shopping platforms have implemented a reward system for members, in which they are paid a commission each time another shopper acts on their recommendation to purchase a specific item.</a:t>
            </a:r>
            <a:endParaRPr lang="en-IN" dirty="0"/>
          </a:p>
        </p:txBody>
      </p:sp>
    </p:spTree>
    <p:extLst>
      <p:ext uri="{BB962C8B-B14F-4D97-AF65-F5344CB8AC3E}">
        <p14:creationId xmlns:p14="http://schemas.microsoft.com/office/powerpoint/2010/main" val="141999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FFFD2-582B-0012-50A0-A93225B9E1CD}"/>
              </a:ext>
            </a:extLst>
          </p:cNvPr>
          <p:cNvSpPr>
            <a:spLocks noGrp="1"/>
          </p:cNvSpPr>
          <p:nvPr>
            <p:ph type="title"/>
          </p:nvPr>
        </p:nvSpPr>
        <p:spPr/>
        <p:txBody>
          <a:bodyPr/>
          <a:lstStyle/>
          <a:p>
            <a:r>
              <a:rPr lang="en-US" dirty="0"/>
              <a:t>Social Media Ethical Issues</a:t>
            </a:r>
            <a:endParaRPr lang="en-IN" dirty="0"/>
          </a:p>
        </p:txBody>
      </p:sp>
      <p:sp>
        <p:nvSpPr>
          <p:cNvPr id="3" name="Content Placeholder 2">
            <a:extLst>
              <a:ext uri="{FF2B5EF4-FFF2-40B4-BE49-F238E27FC236}">
                <a16:creationId xmlns:a16="http://schemas.microsoft.com/office/drawing/2014/main" id="{F25E3EC0-9E6B-5910-6BCB-7F8E49AB02DE}"/>
              </a:ext>
            </a:extLst>
          </p:cNvPr>
          <p:cNvSpPr>
            <a:spLocks noGrp="1"/>
          </p:cNvSpPr>
          <p:nvPr>
            <p:ph idx="1"/>
          </p:nvPr>
        </p:nvSpPr>
        <p:spPr/>
        <p:txBody>
          <a:bodyPr/>
          <a:lstStyle/>
          <a:p>
            <a:r>
              <a:rPr lang="en-US" dirty="0"/>
              <a:t>When you have an Internet community of nearly 4 billion people online, not everyone is going to be a good “neighbor” and abide by the rules of the community. </a:t>
            </a:r>
          </a:p>
          <a:p>
            <a:r>
              <a:rPr lang="en-US" dirty="0"/>
              <a:t>Many will stretch or exceed the bounds of generally accepted behavior. </a:t>
            </a:r>
          </a:p>
          <a:p>
            <a:r>
              <a:rPr lang="en-US" dirty="0"/>
              <a:t>Some common ethical issues that arise for members of social networking platforms are online abuse, harassment, stalking, cyberbullying, encounters with sexual predators, the uploading of inappropriate material, and the participation of employees in social networking.</a:t>
            </a:r>
            <a:endParaRPr lang="en-IN" dirty="0"/>
          </a:p>
        </p:txBody>
      </p:sp>
    </p:spTree>
    <p:extLst>
      <p:ext uri="{BB962C8B-B14F-4D97-AF65-F5344CB8AC3E}">
        <p14:creationId xmlns:p14="http://schemas.microsoft.com/office/powerpoint/2010/main" val="211720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AD7A-487C-DCFD-4C53-8F37965B88D9}"/>
              </a:ext>
            </a:extLst>
          </p:cNvPr>
          <p:cNvSpPr>
            <a:spLocks noGrp="1"/>
          </p:cNvSpPr>
          <p:nvPr>
            <p:ph type="title"/>
          </p:nvPr>
        </p:nvSpPr>
        <p:spPr/>
        <p:txBody>
          <a:bodyPr/>
          <a:lstStyle/>
          <a:p>
            <a:r>
              <a:rPr lang="en-US" dirty="0" err="1"/>
              <a:t>Cyberabuse</a:t>
            </a:r>
            <a:endParaRPr lang="en-IN" dirty="0"/>
          </a:p>
        </p:txBody>
      </p:sp>
      <p:sp>
        <p:nvSpPr>
          <p:cNvPr id="3" name="Content Placeholder 2">
            <a:extLst>
              <a:ext uri="{FF2B5EF4-FFF2-40B4-BE49-F238E27FC236}">
                <a16:creationId xmlns:a16="http://schemas.microsoft.com/office/drawing/2014/main" id="{8C2DB609-AC2B-F6EB-C97E-815EE309C207}"/>
              </a:ext>
            </a:extLst>
          </p:cNvPr>
          <p:cNvSpPr>
            <a:spLocks noGrp="1"/>
          </p:cNvSpPr>
          <p:nvPr>
            <p:ph idx="1"/>
          </p:nvPr>
        </p:nvSpPr>
        <p:spPr/>
        <p:txBody>
          <a:bodyPr/>
          <a:lstStyle/>
          <a:p>
            <a:r>
              <a:rPr lang="en-US" dirty="0" err="1"/>
              <a:t>Cyberabuse</a:t>
            </a:r>
            <a:r>
              <a:rPr lang="en-US" dirty="0"/>
              <a:t> is any form of mistreatment or lack of care, both physical and mental, based on the use of an electronic communications device that causes harm and distress to others. </a:t>
            </a:r>
          </a:p>
          <a:p>
            <a:r>
              <a:rPr lang="en-US" dirty="0" err="1"/>
              <a:t>Cyberabuse</a:t>
            </a:r>
            <a:r>
              <a:rPr lang="en-US" dirty="0"/>
              <a:t> encompasses both </a:t>
            </a:r>
            <a:r>
              <a:rPr lang="en-US" dirty="0" err="1"/>
              <a:t>cyberharassment</a:t>
            </a:r>
            <a:r>
              <a:rPr lang="en-US" dirty="0"/>
              <a:t> and cyberstalking, a broad spectrum of behaviors wherein someone acts in a way that causes harm and distress to others.</a:t>
            </a:r>
          </a:p>
          <a:p>
            <a:r>
              <a:rPr lang="en-US" dirty="0"/>
              <a:t>Instances of </a:t>
            </a:r>
            <a:r>
              <a:rPr lang="en-US" dirty="0" err="1"/>
              <a:t>cyberabuse</a:t>
            </a:r>
            <a:r>
              <a:rPr lang="en-US" dirty="0"/>
              <a:t> are not always clear.</a:t>
            </a:r>
            <a:endParaRPr lang="en-IN" dirty="0"/>
          </a:p>
        </p:txBody>
      </p:sp>
    </p:spTree>
    <p:extLst>
      <p:ext uri="{BB962C8B-B14F-4D97-AF65-F5344CB8AC3E}">
        <p14:creationId xmlns:p14="http://schemas.microsoft.com/office/powerpoint/2010/main" val="49461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E327-D357-F6AA-4539-9B3EB9E6BE71}"/>
              </a:ext>
            </a:extLst>
          </p:cNvPr>
          <p:cNvSpPr>
            <a:spLocks noGrp="1"/>
          </p:cNvSpPr>
          <p:nvPr>
            <p:ph type="title"/>
          </p:nvPr>
        </p:nvSpPr>
        <p:spPr/>
        <p:txBody>
          <a:bodyPr/>
          <a:lstStyle/>
          <a:p>
            <a:r>
              <a:rPr lang="en-US" dirty="0" err="1"/>
              <a:t>Cyberharassment</a:t>
            </a:r>
            <a:endParaRPr lang="en-IN" dirty="0"/>
          </a:p>
        </p:txBody>
      </p:sp>
      <p:sp>
        <p:nvSpPr>
          <p:cNvPr id="3" name="Content Placeholder 2">
            <a:extLst>
              <a:ext uri="{FF2B5EF4-FFF2-40B4-BE49-F238E27FC236}">
                <a16:creationId xmlns:a16="http://schemas.microsoft.com/office/drawing/2014/main" id="{DA43BACE-5B48-2FA9-FF7B-C27585073739}"/>
              </a:ext>
            </a:extLst>
          </p:cNvPr>
          <p:cNvSpPr>
            <a:spLocks noGrp="1"/>
          </p:cNvSpPr>
          <p:nvPr>
            <p:ph idx="1"/>
          </p:nvPr>
        </p:nvSpPr>
        <p:spPr/>
        <p:txBody>
          <a:bodyPr/>
          <a:lstStyle/>
          <a:p>
            <a:r>
              <a:rPr lang="en-US" dirty="0" err="1"/>
              <a:t>Cyberharassment</a:t>
            </a:r>
            <a:r>
              <a:rPr lang="en-US" dirty="0"/>
              <a:t> is a form of </a:t>
            </a:r>
            <a:r>
              <a:rPr lang="en-US" dirty="0" err="1"/>
              <a:t>cyberabuse</a:t>
            </a:r>
            <a:r>
              <a:rPr lang="en-US" dirty="0"/>
              <a:t> in which the abusive behavior, which involves the use of an electronic communications device, is degrading, humiliating, hurtful, insulting, intimidating, malicious, or otherwise offensive to an individual or group of individuals causing substantial emotional distress.</a:t>
            </a:r>
            <a:endParaRPr lang="en-IN" dirty="0"/>
          </a:p>
        </p:txBody>
      </p:sp>
    </p:spTree>
    <p:extLst>
      <p:ext uri="{BB962C8B-B14F-4D97-AF65-F5344CB8AC3E}">
        <p14:creationId xmlns:p14="http://schemas.microsoft.com/office/powerpoint/2010/main" val="3291209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CCDC9-4856-6F9A-EA50-693708489CF1}"/>
              </a:ext>
            </a:extLst>
          </p:cNvPr>
          <p:cNvSpPr>
            <a:spLocks noGrp="1"/>
          </p:cNvSpPr>
          <p:nvPr>
            <p:ph type="title"/>
          </p:nvPr>
        </p:nvSpPr>
        <p:spPr/>
        <p:txBody>
          <a:bodyPr/>
          <a:lstStyle/>
          <a:p>
            <a:r>
              <a:rPr lang="en-IN" dirty="0"/>
              <a:t>Cyberstalking</a:t>
            </a:r>
          </a:p>
        </p:txBody>
      </p:sp>
      <p:sp>
        <p:nvSpPr>
          <p:cNvPr id="3" name="Content Placeholder 2">
            <a:extLst>
              <a:ext uri="{FF2B5EF4-FFF2-40B4-BE49-F238E27FC236}">
                <a16:creationId xmlns:a16="http://schemas.microsoft.com/office/drawing/2014/main" id="{7019C154-1C7B-7C1A-A309-329EC3384F21}"/>
              </a:ext>
            </a:extLst>
          </p:cNvPr>
          <p:cNvSpPr>
            <a:spLocks noGrp="1"/>
          </p:cNvSpPr>
          <p:nvPr>
            <p:ph idx="1"/>
          </p:nvPr>
        </p:nvSpPr>
        <p:spPr/>
        <p:txBody>
          <a:bodyPr>
            <a:normAutofit lnSpcReduction="10000"/>
          </a:bodyPr>
          <a:lstStyle/>
          <a:p>
            <a:r>
              <a:rPr lang="en-US" dirty="0"/>
              <a:t>Cyberstalking is a subcategory of </a:t>
            </a:r>
            <a:r>
              <a:rPr lang="en-US" dirty="0" err="1"/>
              <a:t>cyberabuse</a:t>
            </a:r>
            <a:r>
              <a:rPr lang="en-US" dirty="0"/>
              <a:t> that consists of a long-term pattern of unwanted, persistent pursuit and intrusive behavior (involving the use of an electronic communications device) that is directed by one person against another and that causes fear and distress in the victim. </a:t>
            </a:r>
          </a:p>
          <a:p>
            <a:r>
              <a:rPr lang="en-US" dirty="0"/>
              <a:t>Occasionally, </a:t>
            </a:r>
            <a:r>
              <a:rPr lang="en-US" dirty="0" err="1"/>
              <a:t>cyberstalkers</a:t>
            </a:r>
            <a:r>
              <a:rPr lang="en-US" dirty="0"/>
              <a:t> are complete strangers, but it is more common for victims to know the stalker. </a:t>
            </a:r>
          </a:p>
          <a:p>
            <a:r>
              <a:rPr lang="en-US" dirty="0"/>
              <a:t>Cyberstalking can be a serious problem for victims, terrifying them and causing mental anguish. </a:t>
            </a:r>
          </a:p>
          <a:p>
            <a:r>
              <a:rPr lang="en-US" dirty="0"/>
              <a:t>It is not unusual for cyberstalking to escalate into abusive or excessive phone calls, threatening or obscene mail, trespassing, vandalism, physical stalking, and even physical assault.</a:t>
            </a:r>
            <a:endParaRPr lang="en-IN" dirty="0"/>
          </a:p>
        </p:txBody>
      </p:sp>
    </p:spTree>
    <p:extLst>
      <p:ext uri="{BB962C8B-B14F-4D97-AF65-F5344CB8AC3E}">
        <p14:creationId xmlns:p14="http://schemas.microsoft.com/office/powerpoint/2010/main" val="287471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0358-47F1-0F72-0BFD-ED5B9606322A}"/>
              </a:ext>
            </a:extLst>
          </p:cNvPr>
          <p:cNvSpPr>
            <a:spLocks noGrp="1"/>
          </p:cNvSpPr>
          <p:nvPr>
            <p:ph type="title"/>
          </p:nvPr>
        </p:nvSpPr>
        <p:spPr/>
        <p:txBody>
          <a:bodyPr/>
          <a:lstStyle/>
          <a:p>
            <a:r>
              <a:rPr lang="en-US" dirty="0"/>
              <a:t>POV</a:t>
            </a:r>
            <a:endParaRPr lang="en-IN" dirty="0"/>
          </a:p>
        </p:txBody>
      </p:sp>
      <p:sp>
        <p:nvSpPr>
          <p:cNvPr id="3" name="Content Placeholder 2">
            <a:extLst>
              <a:ext uri="{FF2B5EF4-FFF2-40B4-BE49-F238E27FC236}">
                <a16:creationId xmlns:a16="http://schemas.microsoft.com/office/drawing/2014/main" id="{ACB0C155-9DAC-E16A-D56A-3F463232491F}"/>
              </a:ext>
            </a:extLst>
          </p:cNvPr>
          <p:cNvSpPr>
            <a:spLocks noGrp="1"/>
          </p:cNvSpPr>
          <p:nvPr>
            <p:ph idx="1"/>
          </p:nvPr>
        </p:nvSpPr>
        <p:spPr/>
        <p:txBody>
          <a:bodyPr/>
          <a:lstStyle/>
          <a:p>
            <a:r>
              <a:rPr lang="en-US" dirty="0"/>
              <a:t>Note that </a:t>
            </a:r>
            <a:r>
              <a:rPr lang="en-US" dirty="0" err="1"/>
              <a:t>cyberharassment</a:t>
            </a:r>
            <a:r>
              <a:rPr lang="en-US" dirty="0"/>
              <a:t> differs from cyberstalking in that it is aimed at tormenting an individual but does not involve a credible threat of physical harm.</a:t>
            </a:r>
            <a:endParaRPr lang="en-IN" dirty="0"/>
          </a:p>
        </p:txBody>
      </p:sp>
      <p:pic>
        <p:nvPicPr>
          <p:cNvPr id="7" name="Picture 6">
            <a:extLst>
              <a:ext uri="{FF2B5EF4-FFF2-40B4-BE49-F238E27FC236}">
                <a16:creationId xmlns:a16="http://schemas.microsoft.com/office/drawing/2014/main" id="{54F69A3F-87DF-7B2C-49D5-FECD48F175F3}"/>
              </a:ext>
            </a:extLst>
          </p:cNvPr>
          <p:cNvPicPr>
            <a:picLocks noChangeAspect="1"/>
          </p:cNvPicPr>
          <p:nvPr/>
        </p:nvPicPr>
        <p:blipFill>
          <a:blip r:embed="rId2"/>
          <a:stretch>
            <a:fillRect/>
          </a:stretch>
        </p:blipFill>
        <p:spPr>
          <a:xfrm>
            <a:off x="266330" y="2567723"/>
            <a:ext cx="8618614" cy="3833077"/>
          </a:xfrm>
          <a:prstGeom prst="rect">
            <a:avLst/>
          </a:prstGeom>
        </p:spPr>
      </p:pic>
    </p:spTree>
    <p:extLst>
      <p:ext uri="{BB962C8B-B14F-4D97-AF65-F5344CB8AC3E}">
        <p14:creationId xmlns:p14="http://schemas.microsoft.com/office/powerpoint/2010/main" val="3168493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91E99-BD98-F10B-B86E-BCE3F2174484}"/>
              </a:ext>
            </a:extLst>
          </p:cNvPr>
          <p:cNvSpPr>
            <a:spLocks noGrp="1"/>
          </p:cNvSpPr>
          <p:nvPr>
            <p:ph type="title"/>
          </p:nvPr>
        </p:nvSpPr>
        <p:spPr/>
        <p:txBody>
          <a:bodyPr/>
          <a:lstStyle/>
          <a:p>
            <a:r>
              <a:rPr lang="en-IN" dirty="0"/>
              <a:t>Avoid becoming a victim</a:t>
            </a:r>
          </a:p>
        </p:txBody>
      </p:sp>
      <p:sp>
        <p:nvSpPr>
          <p:cNvPr id="3" name="Content Placeholder 2">
            <a:extLst>
              <a:ext uri="{FF2B5EF4-FFF2-40B4-BE49-F238E27FC236}">
                <a16:creationId xmlns:a16="http://schemas.microsoft.com/office/drawing/2014/main" id="{61D79840-F8F3-5D05-0FE6-502BE845BBD7}"/>
              </a:ext>
            </a:extLst>
          </p:cNvPr>
          <p:cNvSpPr>
            <a:spLocks noGrp="1"/>
          </p:cNvSpPr>
          <p:nvPr>
            <p:ph idx="1"/>
          </p:nvPr>
        </p:nvSpPr>
        <p:spPr/>
        <p:txBody>
          <a:bodyPr>
            <a:normAutofit fontScale="70000" lnSpcReduction="20000"/>
          </a:bodyPr>
          <a:lstStyle/>
          <a:p>
            <a:r>
              <a:rPr lang="en-US" dirty="0"/>
              <a:t>Always use a strong, unique password (12-plus characters, including a mix of numbers, capital letters, and special characters) for each social networking site.</a:t>
            </a:r>
          </a:p>
          <a:p>
            <a:r>
              <a:rPr lang="en-US" dirty="0"/>
              <a:t>If you broke up with an intimate partner, reset the passwords on all of your accounts, including email, financial, and social networking accounts.</a:t>
            </a:r>
          </a:p>
          <a:p>
            <a:r>
              <a:rPr lang="en-US" dirty="0"/>
              <a:t>Check your privacy settings to ensure that you are sharing only the information you want to share with only people you trust and not the general Internet public.</a:t>
            </a:r>
          </a:p>
          <a:p>
            <a:r>
              <a:rPr lang="en-US" dirty="0"/>
              <a:t>Some sites have options for you to test how your profile is being viewed by others—use this feature to make sure you only reveal what is absolutely necessary.</a:t>
            </a:r>
          </a:p>
          <a:p>
            <a:r>
              <a:rPr lang="en-US" dirty="0"/>
              <a:t>Warn your friends and acquaintances not to post personal information about you, especially your contact information and location.</a:t>
            </a:r>
          </a:p>
          <a:p>
            <a:r>
              <a:rPr lang="en-US" dirty="0"/>
              <a:t>Don’t post photographs of your home that might indicate its location by showing the street address or a nearby identifying landmark.</a:t>
            </a:r>
          </a:p>
          <a:p>
            <a:r>
              <a:rPr lang="en-US" dirty="0"/>
              <a:t>If you connect your smartphone to your online account, do not provide live updates on your location or activities.</a:t>
            </a:r>
          </a:p>
          <a:p>
            <a:r>
              <a:rPr lang="en-US" dirty="0"/>
              <a:t>Avoid posting information about your current or future locations.</a:t>
            </a:r>
          </a:p>
          <a:p>
            <a:r>
              <a:rPr lang="en-US" dirty="0"/>
              <a:t>Do not accept “friend requests” from strangers.</a:t>
            </a:r>
          </a:p>
          <a:p>
            <a:r>
              <a:rPr lang="en-US" dirty="0"/>
              <a:t>Avoid online polls, quizzes, or surveys that ask for personal information.</a:t>
            </a:r>
            <a:endParaRPr lang="en-IN" dirty="0"/>
          </a:p>
        </p:txBody>
      </p:sp>
    </p:spTree>
    <p:extLst>
      <p:ext uri="{BB962C8B-B14F-4D97-AF65-F5344CB8AC3E}">
        <p14:creationId xmlns:p14="http://schemas.microsoft.com/office/powerpoint/2010/main" val="2377945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3FC9-8D9E-0444-1B19-7CC9FE1A2688}"/>
              </a:ext>
            </a:extLst>
          </p:cNvPr>
          <p:cNvSpPr>
            <a:spLocks noGrp="1"/>
          </p:cNvSpPr>
          <p:nvPr>
            <p:ph type="title"/>
          </p:nvPr>
        </p:nvSpPr>
        <p:spPr/>
        <p:txBody>
          <a:bodyPr/>
          <a:lstStyle/>
          <a:p>
            <a:r>
              <a:rPr lang="en-IN" dirty="0"/>
              <a:t>Miscellaneous Social Media Issues</a:t>
            </a:r>
          </a:p>
        </p:txBody>
      </p:sp>
      <p:sp>
        <p:nvSpPr>
          <p:cNvPr id="3" name="Content Placeholder 2">
            <a:extLst>
              <a:ext uri="{FF2B5EF4-FFF2-40B4-BE49-F238E27FC236}">
                <a16:creationId xmlns:a16="http://schemas.microsoft.com/office/drawing/2014/main" id="{B7DE49C6-14AE-C368-843C-91D54258C4C3}"/>
              </a:ext>
            </a:extLst>
          </p:cNvPr>
          <p:cNvSpPr>
            <a:spLocks noGrp="1"/>
          </p:cNvSpPr>
          <p:nvPr>
            <p:ph idx="1"/>
          </p:nvPr>
        </p:nvSpPr>
        <p:spPr/>
        <p:txBody>
          <a:bodyPr/>
          <a:lstStyle/>
          <a:p>
            <a:r>
              <a:rPr lang="en-US" dirty="0"/>
              <a:t>Although many drivers believe that talking on a phone does not affect their driving, studies found that this activity quadruples your risk of an accident to about the same level as if you were driving drunk! That risk doubles again, to eight times normal, if you are texting.</a:t>
            </a:r>
          </a:p>
          <a:p>
            <a:r>
              <a:rPr lang="en-US" dirty="0"/>
              <a:t>Social media brings out the narcissist tendencies of users driving them to go on and on about how great their life is and all the wonderful things they are doing. Such postings paint an unrealistic picture of the individual and become tedious to many while others may become discouraged that their lives are not as interesting.</a:t>
            </a:r>
            <a:endParaRPr lang="en-IN" dirty="0"/>
          </a:p>
        </p:txBody>
      </p:sp>
    </p:spTree>
    <p:extLst>
      <p:ext uri="{BB962C8B-B14F-4D97-AF65-F5344CB8AC3E}">
        <p14:creationId xmlns:p14="http://schemas.microsoft.com/office/powerpoint/2010/main" val="1717598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A73E-CA82-E175-F3CE-B771E82EE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EE3E-D292-7909-7B9D-6A70827E0D0F}"/>
              </a:ext>
            </a:extLst>
          </p:cNvPr>
          <p:cNvSpPr>
            <a:spLocks noGrp="1"/>
          </p:cNvSpPr>
          <p:nvPr>
            <p:ph type="title"/>
          </p:nvPr>
        </p:nvSpPr>
        <p:spPr/>
        <p:txBody>
          <a:bodyPr/>
          <a:lstStyle/>
          <a:p>
            <a:r>
              <a:rPr lang="en-IN" dirty="0"/>
              <a:t>Miscellaneous Social Media Issues</a:t>
            </a:r>
          </a:p>
        </p:txBody>
      </p:sp>
      <p:sp>
        <p:nvSpPr>
          <p:cNvPr id="3" name="Content Placeholder 2">
            <a:extLst>
              <a:ext uri="{FF2B5EF4-FFF2-40B4-BE49-F238E27FC236}">
                <a16:creationId xmlns:a16="http://schemas.microsoft.com/office/drawing/2014/main" id="{60020965-D658-3C1A-35CA-34A7E261074D}"/>
              </a:ext>
            </a:extLst>
          </p:cNvPr>
          <p:cNvSpPr>
            <a:spLocks noGrp="1"/>
          </p:cNvSpPr>
          <p:nvPr>
            <p:ph idx="1"/>
          </p:nvPr>
        </p:nvSpPr>
        <p:spPr/>
        <p:txBody>
          <a:bodyPr/>
          <a:lstStyle/>
          <a:p>
            <a:r>
              <a:rPr lang="en-US" dirty="0"/>
              <a:t>Social media platforms also enable a degree of self-image manipulation. </a:t>
            </a:r>
          </a:p>
          <a:p>
            <a:r>
              <a:rPr lang="en-US"/>
              <a:t>For </a:t>
            </a:r>
            <a:r>
              <a:rPr lang="en-US" dirty="0"/>
              <a:t>example, Snapchat provides filters that alter the user’s face by smoothing and whitening skin, changing eye shape, nose size, and jaw profile</a:t>
            </a:r>
            <a:r>
              <a:rPr lang="en-US"/>
              <a:t>. </a:t>
            </a:r>
          </a:p>
          <a:p>
            <a:r>
              <a:rPr lang="en-US"/>
              <a:t>Some </a:t>
            </a:r>
            <a:r>
              <a:rPr lang="en-US" dirty="0"/>
              <a:t>users favor the filters because they enable users to feel more confident posting their photo while others feel that the filters promote an unrealistic and Westernized standard of beauty.</a:t>
            </a:r>
            <a:endParaRPr lang="en-IN" dirty="0"/>
          </a:p>
        </p:txBody>
      </p:sp>
    </p:spTree>
    <p:extLst>
      <p:ext uri="{BB962C8B-B14F-4D97-AF65-F5344CB8AC3E}">
        <p14:creationId xmlns:p14="http://schemas.microsoft.com/office/powerpoint/2010/main" val="8688290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779</TotalTime>
  <Words>1840</Words>
  <Application>Microsoft Office PowerPoint</Application>
  <PresentationFormat>On-screen Show (4:3)</PresentationFormat>
  <Paragraphs>86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Professional Ethics and Human Values</vt:lpstr>
      <vt:lpstr>What is Social Media</vt:lpstr>
      <vt:lpstr>What is Social Media</vt:lpstr>
      <vt:lpstr>Social Networking Platforms</vt:lpstr>
      <vt:lpstr>Business Applications of SM</vt:lpstr>
      <vt:lpstr>Business Applications of SM</vt:lpstr>
      <vt:lpstr>Business Applications of SM</vt:lpstr>
      <vt:lpstr>More Use of Social Media</vt:lpstr>
      <vt:lpstr>More Use of Social Media</vt:lpstr>
      <vt:lpstr>More Use of Social Media</vt:lpstr>
      <vt:lpstr>More Use of Social Media</vt:lpstr>
      <vt:lpstr>Social Media Ethical Issues</vt:lpstr>
      <vt:lpstr>Cyberabuse</vt:lpstr>
      <vt:lpstr>Cyberharassment</vt:lpstr>
      <vt:lpstr>Cyberstalking</vt:lpstr>
      <vt:lpstr>POV</vt:lpstr>
      <vt:lpstr>Avoid becoming a victim</vt:lpstr>
      <vt:lpstr>Miscellaneous Social Media Issues</vt:lpstr>
      <vt:lpstr>Miscellaneous Social Media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59</cp:revision>
  <dcterms:created xsi:type="dcterms:W3CDTF">2026-01-06T05:40:50Z</dcterms:created>
  <dcterms:modified xsi:type="dcterms:W3CDTF">2026-04-15T01:39:02Z</dcterms:modified>
</cp:coreProperties>
</file>