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781" r:id="rId2"/>
  </p:sldMasterIdLst>
  <p:notesMasterIdLst>
    <p:notesMasterId r:id="rId12"/>
  </p:notesMasterIdLst>
  <p:handoutMasterIdLst>
    <p:handoutMasterId r:id="rId13"/>
  </p:handoutMasterIdLst>
  <p:sldIdLst>
    <p:sldId id="256" r:id="rId3"/>
    <p:sldId id="260" r:id="rId4"/>
    <p:sldId id="258" r:id="rId5"/>
    <p:sldId id="261" r:id="rId6"/>
    <p:sldId id="262" r:id="rId7"/>
    <p:sldId id="263" r:id="rId8"/>
    <p:sldId id="264" r:id="rId9"/>
    <p:sldId id="257" r:id="rId10"/>
    <p:sldId id="259" r:id="rId1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54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9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DDA1B3D-22C2-4C9A-BA5A-2A80EBE58192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0F2B8E6-380B-484F-837F-DDF24A3971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991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E437BB9-8ED1-44ED-90EB-FAF5790DA148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5CE46A3-FEAB-4758-BE24-1E5F69DAA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94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E46A3-FEAB-4758-BE24-1E5F69DAA72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5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2968-0AE3-4881-88B4-E210829544A4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D5E6A-9796-42C8-BC6C-DE717FD5BAA6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DCE95-A771-477D-BA9E-58309BDE6BD6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4AAE-A5B7-4D30-BC1E-6A4553C3FAD0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D084F-B8C1-43A5-8C01-20F3CEDECF7A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4FF1-CB28-4BA8-8A5F-0E778B0EC74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BA9-301B-44B7-A139-B2F11D6D2324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C16B-44E6-422B-BF2A-8AE7FCA219C6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8DE31-14AC-492D-85C2-36528BE645A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653B1-934C-4B74-9A9C-397CAD228A0C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8618-B08F-4297-BDEE-2DA8CB0F87B0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315D677-BA79-47C6-B165-E3B0515D5CC8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pic>
        <p:nvPicPr>
          <p:cNvPr id="11" name="Picture 10" descr="CoverOverlay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latin typeface="Times New Roman" pitchFamily="18" charset="0"/>
                <a:cs typeface="Times New Roman" pitchFamily="18" charset="0"/>
              </a:defRPr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00000"/>
              </a:buClr>
              <a:defRPr sz="2400" b="1">
                <a:latin typeface="Times New Roman" pitchFamily="18" charset="0"/>
                <a:cs typeface="Times New Roman" pitchFamily="18" charset="0"/>
              </a:defRPr>
            </a:lvl1pPr>
            <a:lvl2pPr>
              <a:defRPr sz="2000">
                <a:latin typeface="Times New Roman" pitchFamily="18" charset="0"/>
                <a:cs typeface="Times New Roman" pitchFamily="18" charset="0"/>
              </a:defRPr>
            </a:lvl2pPr>
            <a:lvl3pPr>
              <a:defRPr sz="2000">
                <a:latin typeface="Times New Roman" pitchFamily="18" charset="0"/>
                <a:cs typeface="Times New Roman" pitchFamily="18" charset="0"/>
              </a:defRPr>
            </a:lvl3pPr>
            <a:lvl4pPr>
              <a:defRPr sz="2000">
                <a:latin typeface="Times New Roman" pitchFamily="18" charset="0"/>
                <a:cs typeface="Times New Roman" pitchFamily="18" charset="0"/>
              </a:defRPr>
            </a:lvl4pPr>
            <a:lvl5pPr>
              <a:defRPr sz="2000">
                <a:latin typeface="Times New Roman" pitchFamily="18" charset="0"/>
                <a:cs typeface="Times New Roman" pitchFamily="18" charset="0"/>
              </a:defRPr>
            </a:lvl5pPr>
            <a:extLst/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9ABE3F-CAD5-401C-966C-39A2BC4BB542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B5D18E-E5AB-4101-8F9F-182D00C3CB42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6F3FE9-6055-4E66-91B4-53288AB1A63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5454428-C3E7-43AF-AE5F-B6A6F6CE8B0F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B3D692-C883-459F-A880-567F220D0B2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A2656E2-3037-4B1C-85DB-3A6E339CA7DC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CE12D8-C8BD-432E-9CC6-AAF58EF92F9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63402B-A926-46AC-A430-EA249D4DFB48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804062-9A08-4F6B-8CDD-2D3DCC3C9C35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0C0EA65-AA56-40AA-87F9-208021B38ABF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B77E-B29A-45D4-A962-4CF033D79991}" type="datetime1">
              <a:rPr lang="en-US" smtClean="0"/>
              <a:pPr/>
              <a:t>8/2/2025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Software Reuse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D9F1A-D692-4973-8C83-3D92032FEA1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59D9F1A-D692-4973-8C83-3D92032FEA1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684" r:id="rId1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84990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Advance Software Engineering</a:t>
            </a:r>
            <a:br>
              <a:rPr lang="en-US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CS-6315</a:t>
            </a:r>
            <a:endParaRPr lang="en-US" sz="36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67200"/>
            <a:ext cx="7406640" cy="2188536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Ugrasen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Suman</a:t>
            </a: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000" b="1" dirty="0" smtClean="0"/>
              <a:t>Professor</a:t>
            </a:r>
          </a:p>
          <a:p>
            <a:pPr algn="ctr"/>
            <a:r>
              <a:rPr lang="en-US" sz="2000" b="1" dirty="0" smtClean="0"/>
              <a:t>School of Computer Science &amp; Information Technology,</a:t>
            </a:r>
          </a:p>
          <a:p>
            <a:pPr algn="ctr"/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Devi </a:t>
            </a:r>
            <a:r>
              <a:rPr lang="en-US" sz="2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Ahilya</a:t>
            </a: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University, Indore</a:t>
            </a:r>
          </a:p>
          <a:p>
            <a:pPr algn="ctr"/>
            <a:r>
              <a:rPr lang="en-US" sz="2000" b="1" dirty="0" smtClean="0"/>
              <a:t>E-mail</a:t>
            </a:r>
            <a:r>
              <a:rPr lang="en-US" sz="2000" b="1" dirty="0" smtClean="0">
                <a:solidFill>
                  <a:srgbClr val="000099"/>
                </a:solidFill>
              </a:rPr>
              <a:t>: ugrasen123@yahoo.com, usuman.scs@dauniv.ac.in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000099"/>
                </a:solidFill>
              </a:rPr>
              <a:t>Course Objectives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Implement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reusability mechanisms for producing and integrating reusable components. 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Explore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maintenance and reengineering approaches for legacy systems. 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Understand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the properties and methods of designing reliable and safe system. 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Analyze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and apply CASE in SDLC phases.</a:t>
            </a: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Study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of advance concepts in various domains to produce an effective software system. </a:t>
            </a:r>
            <a:endParaRPr lang="en-IN" b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6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Course Contents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dirty="0" smtClean="0"/>
              <a:t>UNIT I: </a:t>
            </a:r>
            <a:r>
              <a:rPr lang="en-US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Introduction 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to Software </a:t>
            </a:r>
            <a:r>
              <a:rPr lang="en-US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Reuse </a:t>
            </a:r>
            <a:endParaRPr lang="en-US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What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is Software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Reuse?</a:t>
            </a: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Reuse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types, Reuse Approaches, Reuse Technology, </a:t>
            </a:r>
            <a:endParaRPr lang="en-US" b="0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Reuse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benefits &amp; barriers, Reuse success &amp; failure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Factors</a:t>
            </a: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CBSE Process</a:t>
            </a: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Reuse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Driven Software Engineering is a business. </a:t>
            </a:r>
            <a:endParaRPr lang="en-IN" b="0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Course Contents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dirty="0" smtClean="0"/>
              <a:t>UNIT II: </a:t>
            </a:r>
            <a:r>
              <a:rPr lang="en-US" dirty="0"/>
              <a:t>Architectural Concepts in Reuse</a:t>
            </a:r>
            <a:endParaRPr lang="en-US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Application and component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systems</a:t>
            </a: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Application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families allow significant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reuse</a:t>
            </a: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Developing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Application Systems from Reusable Components: Reuse Variability, Facades for Component System Internals and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Externals</a:t>
            </a: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Organizing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a system in Layered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Architecture</a:t>
            </a:r>
            <a:endParaRPr lang="en-IN" b="0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882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Course Contents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dirty="0" smtClean="0"/>
              <a:t>UNIT III: </a:t>
            </a:r>
            <a:r>
              <a:rPr lang="en-US" dirty="0"/>
              <a:t>Software change, </a:t>
            </a:r>
            <a:r>
              <a:rPr lang="en-US" dirty="0" smtClean="0"/>
              <a:t>Evolution</a:t>
            </a:r>
            <a:r>
              <a:rPr lang="en-US" dirty="0"/>
              <a:t>, </a:t>
            </a:r>
            <a:r>
              <a:rPr lang="en-US" dirty="0" smtClean="0"/>
              <a:t>&amp; maintenance</a:t>
            </a:r>
            <a:endParaRPr lang="en-US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Models and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Metrics for Software change </a:t>
            </a: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Reengineering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Process and Activities: </a:t>
            </a:r>
            <a:endParaRPr lang="en-US" b="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809625" lvl="2" indent="-446088" algn="just">
              <a:spcBef>
                <a:spcPts val="6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Program </a:t>
            </a: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Comprehension, </a:t>
            </a:r>
            <a:endParaRPr lang="en-US" sz="24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809625" lvl="2" indent="-446088" algn="just">
              <a:spcBef>
                <a:spcPts val="6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Reverse </a:t>
            </a: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Engineering, </a:t>
            </a:r>
            <a:endParaRPr lang="en-US" sz="24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809625" lvl="2" indent="-446088" algn="just">
              <a:spcBef>
                <a:spcPts val="6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Restructuring</a:t>
            </a: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, </a:t>
            </a:r>
            <a:endParaRPr lang="en-US" sz="24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809625" lvl="2" indent="-446088" algn="just">
              <a:spcBef>
                <a:spcPts val="6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Forward </a:t>
            </a: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Engineering, </a:t>
            </a:r>
            <a:endParaRPr lang="en-US" sz="24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809625" lvl="2" indent="-446088" algn="just">
              <a:spcBef>
                <a:spcPts val="6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Re-documentation</a:t>
            </a:r>
            <a:r>
              <a:rPr lang="en-US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. </a:t>
            </a:r>
            <a:endParaRPr lang="en-US" sz="24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Software Maintenance</a:t>
            </a:r>
            <a:endParaRPr lang="en-US" b="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Software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Aging. </a:t>
            </a:r>
            <a:endParaRPr lang="en-IN" b="0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5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42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Course Contents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dirty="0" smtClean="0"/>
              <a:t>UNIT IV: </a:t>
            </a:r>
            <a:r>
              <a:rPr lang="en-US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Software </a:t>
            </a:r>
            <a:r>
              <a:rPr lang="en-US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Quality </a:t>
            </a:r>
            <a:r>
              <a:rPr lang="en-US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and </a:t>
            </a:r>
            <a:r>
              <a:rPr lang="en-US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CASE </a:t>
            </a:r>
            <a:endParaRPr lang="en-US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Software Dependability, </a:t>
            </a:r>
            <a:endParaRPr lang="en-US" b="0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Software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Safety, </a:t>
            </a:r>
            <a:endParaRPr lang="en-US" b="0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Software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Availability, </a:t>
            </a:r>
            <a:endParaRPr lang="en-US" b="0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Software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Reliability: Metrics, Approaches and Models. </a:t>
            </a:r>
            <a:endParaRPr lang="en-US" b="0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Software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Quality: Quality Factors, Verification &amp; Validation (V&amp;V), SQA.   </a:t>
            </a:r>
            <a:endParaRPr lang="en-IN" b="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indent="-342900" algn="just">
              <a:buFont typeface="Symbol" panose="05050102010706020507" pitchFamily="18" charset="2"/>
              <a:buChar char=""/>
            </a:pP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Computer-Aided Software Engineering (CASE): </a:t>
            </a:r>
            <a:endParaRPr lang="en-US" b="0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617220" lvl="1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Scope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and Technology, </a:t>
            </a:r>
            <a:endParaRPr lang="en-US" b="0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617220" lvl="1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CASE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support in SDLC, </a:t>
            </a:r>
            <a:endParaRPr lang="en-US" b="0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617220" lvl="1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Second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Generation CASE Tools, </a:t>
            </a:r>
            <a:endParaRPr lang="en-US" b="0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617220" lvl="1" indent="-342900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Architecture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of a CASE Environment.      </a:t>
            </a:r>
            <a:endParaRPr lang="en-IN" b="0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6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853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Course Contents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48577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dirty="0" smtClean="0"/>
              <a:t>UNIT V: </a:t>
            </a:r>
            <a:r>
              <a:rPr lang="en-IN" dirty="0" smtClean="0"/>
              <a:t>HCI, AOSD, Cleanroom and Crowdsourcing</a:t>
            </a:r>
            <a:endParaRPr lang="en-US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539750" indent="-363538" algn="just">
              <a:buFont typeface="Symbol" panose="05050102010706020507" pitchFamily="18" charset="2"/>
              <a:buChar char=""/>
            </a:pP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Usability Engineering: HCI, Types of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UI</a:t>
            </a:r>
          </a:p>
          <a:p>
            <a:pPr marL="539750" indent="-363538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Component-Based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GUI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Development</a:t>
            </a:r>
          </a:p>
          <a:p>
            <a:pPr marL="539750" indent="-363538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Usability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Engineering Process and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Methods </a:t>
            </a:r>
          </a:p>
          <a:p>
            <a:pPr marL="539750" indent="-363538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Aspect-Oriented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Software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Engineering</a:t>
            </a:r>
          </a:p>
          <a:p>
            <a:pPr marL="539750" indent="-363538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Cleanroom </a:t>
            </a:r>
            <a:r>
              <a:rPr lang="en-US" b="0" dirty="0">
                <a:solidFill>
                  <a:srgbClr val="000000"/>
                </a:solidFill>
                <a:ea typeface="Times New Roman" panose="02020603050405020304" pitchFamily="18" charset="0"/>
              </a:rPr>
              <a:t>Software </a:t>
            </a: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Engineering</a:t>
            </a:r>
          </a:p>
          <a:p>
            <a:pPr marL="539750" indent="-363538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Crowdsourcing</a:t>
            </a:r>
          </a:p>
          <a:p>
            <a:pPr marL="539750" indent="-363538" algn="just">
              <a:buFont typeface="Symbol" panose="05050102010706020507" pitchFamily="18" charset="2"/>
              <a:buChar char=""/>
            </a:pPr>
            <a:r>
              <a:rPr lang="en-US" b="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Program Analysis</a:t>
            </a:r>
            <a:r>
              <a:rPr lang="en-US" sz="2000" dirty="0"/>
              <a:t> </a:t>
            </a:r>
            <a:endParaRPr lang="en-IN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7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620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Course Evaluation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143000"/>
            <a:ext cx="7714488" cy="54864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dirty="0" smtClean="0"/>
              <a:t>Internal Assessment: </a:t>
            </a:r>
            <a:r>
              <a:rPr lang="en-US" b="0" dirty="0"/>
              <a:t>3</a:t>
            </a:r>
            <a:r>
              <a:rPr lang="en-US" b="0" dirty="0" smtClean="0"/>
              <a:t>0 </a:t>
            </a:r>
            <a:r>
              <a:rPr lang="en-US" b="0" dirty="0" smtClean="0"/>
              <a:t>Marks</a:t>
            </a:r>
          </a:p>
          <a:p>
            <a:pPr marL="365760" lvl="1" indent="-283464">
              <a:spcBef>
                <a:spcPts val="600"/>
              </a:spcBef>
              <a:buClr>
                <a:schemeClr val="tx1"/>
              </a:buClr>
              <a:buSzPct val="80000"/>
              <a:buFont typeface="Wingdings 2"/>
              <a:buChar char=""/>
            </a:pPr>
            <a:r>
              <a:rPr lang="en-US" sz="2400" b="1" dirty="0" smtClean="0"/>
              <a:t>Practical Assessment</a:t>
            </a:r>
            <a:r>
              <a:rPr lang="en-US" sz="2400" b="1" dirty="0"/>
              <a:t>: </a:t>
            </a:r>
            <a:r>
              <a:rPr lang="en-US" sz="2400" dirty="0" smtClean="0"/>
              <a:t>20 </a:t>
            </a:r>
            <a:r>
              <a:rPr lang="en-US" sz="2400" dirty="0"/>
              <a:t>Marks</a:t>
            </a:r>
            <a:endParaRPr lang="en-IN" sz="2400" dirty="0"/>
          </a:p>
          <a:p>
            <a:pPr>
              <a:buClr>
                <a:schemeClr val="tx1"/>
              </a:buClr>
            </a:pPr>
            <a:r>
              <a:rPr lang="en-US" dirty="0" smtClean="0"/>
              <a:t>External </a:t>
            </a:r>
            <a:r>
              <a:rPr lang="en-US" dirty="0"/>
              <a:t>Assessment: </a:t>
            </a:r>
            <a:r>
              <a:rPr lang="en-US" b="0" dirty="0" smtClean="0"/>
              <a:t>50 </a:t>
            </a:r>
            <a:r>
              <a:rPr lang="en-US" b="0" dirty="0"/>
              <a:t>Marks</a:t>
            </a:r>
            <a:endParaRPr lang="en-IN" b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rgbClr val="000099"/>
                </a:solidFill>
              </a:rPr>
              <a:t>References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82296" indent="0" algn="just">
              <a:spcAft>
                <a:spcPts val="0"/>
              </a:spcAft>
              <a:buNone/>
            </a:pPr>
            <a:r>
              <a:rPr lang="en-US" dirty="0">
                <a:ea typeface="Times New Roman" panose="02020603050405020304" pitchFamily="18" charset="0"/>
              </a:rPr>
              <a:t>Text Books:</a:t>
            </a:r>
            <a:endParaRPr lang="en-IN" dirty="0">
              <a:ea typeface="Times New Roman" panose="02020603050405020304" pitchFamily="18" charset="0"/>
            </a:endParaRPr>
          </a:p>
          <a:p>
            <a:pPr marL="542925" indent="-357188" algn="just">
              <a:buFont typeface="+mj-lt"/>
              <a:buAutoNum type="arabicPeriod"/>
              <a:tabLst>
                <a:tab pos="442913" algn="l"/>
              </a:tabLst>
            </a:pPr>
            <a:r>
              <a:rPr lang="en-US" b="0" dirty="0" smtClean="0">
                <a:ea typeface="Times New Roman" panose="02020603050405020304" pitchFamily="18" charset="0"/>
              </a:rPr>
              <a:t>Software </a:t>
            </a:r>
            <a:r>
              <a:rPr lang="en-US" b="0" dirty="0">
                <a:ea typeface="Times New Roman" panose="02020603050405020304" pitchFamily="18" charset="0"/>
              </a:rPr>
              <a:t>Engineering: Concepts &amp; Practices- </a:t>
            </a:r>
            <a:r>
              <a:rPr lang="en-US" dirty="0" err="1">
                <a:ea typeface="Times New Roman" panose="02020603050405020304" pitchFamily="18" charset="0"/>
              </a:rPr>
              <a:t>Ugrasen</a:t>
            </a:r>
            <a:r>
              <a:rPr lang="en-US" dirty="0">
                <a:ea typeface="Times New Roman" panose="02020603050405020304" pitchFamily="18" charset="0"/>
              </a:rPr>
              <a:t> Suman</a:t>
            </a:r>
            <a:r>
              <a:rPr lang="en-US" b="0" dirty="0">
                <a:ea typeface="Times New Roman" panose="02020603050405020304" pitchFamily="18" charset="0"/>
              </a:rPr>
              <a:t>, </a:t>
            </a:r>
            <a:r>
              <a:rPr lang="en-US" b="0" dirty="0" err="1">
                <a:ea typeface="Times New Roman" panose="02020603050405020304" pitchFamily="18" charset="0"/>
              </a:rPr>
              <a:t>Cengage</a:t>
            </a:r>
            <a:r>
              <a:rPr lang="en-US" b="0" dirty="0">
                <a:ea typeface="Times New Roman" panose="02020603050405020304" pitchFamily="18" charset="0"/>
              </a:rPr>
              <a:t> Learning, 2</a:t>
            </a:r>
            <a:r>
              <a:rPr lang="en-US" b="0" baseline="30000" dirty="0">
                <a:ea typeface="Times New Roman" panose="02020603050405020304" pitchFamily="18" charset="0"/>
              </a:rPr>
              <a:t>nd</a:t>
            </a:r>
            <a:r>
              <a:rPr lang="en-US" b="0" dirty="0">
                <a:ea typeface="Times New Roman" panose="02020603050405020304" pitchFamily="18" charset="0"/>
              </a:rPr>
              <a:t> Edition, 2022.</a:t>
            </a:r>
            <a:endParaRPr lang="en-IN" b="0" dirty="0">
              <a:ea typeface="Times New Roman" panose="02020603050405020304" pitchFamily="18" charset="0"/>
            </a:endParaRPr>
          </a:p>
          <a:p>
            <a:pPr marL="542925" lvl="0" indent="-357188" algn="just">
              <a:spcAft>
                <a:spcPts val="0"/>
              </a:spcAft>
              <a:buFont typeface="+mj-lt"/>
              <a:buAutoNum type="arabicPeriod"/>
              <a:tabLst>
                <a:tab pos="442913" algn="l"/>
              </a:tabLst>
            </a:pPr>
            <a:r>
              <a:rPr lang="en-US" b="0" dirty="0" smtClean="0">
                <a:ea typeface="Times New Roman" panose="02020603050405020304" pitchFamily="18" charset="0"/>
              </a:rPr>
              <a:t>Object </a:t>
            </a:r>
            <a:r>
              <a:rPr lang="en-US" b="0" dirty="0">
                <a:ea typeface="Times New Roman" panose="02020603050405020304" pitchFamily="18" charset="0"/>
              </a:rPr>
              <a:t>Oriented Analysis and Design Using UML, </a:t>
            </a:r>
            <a:r>
              <a:rPr lang="en-US" dirty="0" err="1">
                <a:ea typeface="Times New Roman" panose="02020603050405020304" pitchFamily="18" charset="0"/>
              </a:rPr>
              <a:t>Ugrasen</a:t>
            </a:r>
            <a:r>
              <a:rPr lang="en-US" dirty="0">
                <a:ea typeface="Times New Roman" panose="02020603050405020304" pitchFamily="18" charset="0"/>
              </a:rPr>
              <a:t> Suman </a:t>
            </a:r>
            <a:r>
              <a:rPr lang="en-US" b="0" dirty="0">
                <a:ea typeface="Times New Roman" panose="02020603050405020304" pitchFamily="18" charset="0"/>
              </a:rPr>
              <a:t>et al, </a:t>
            </a:r>
            <a:r>
              <a:rPr lang="en-US" b="0" dirty="0" err="1">
                <a:ea typeface="Times New Roman" panose="02020603050405020304" pitchFamily="18" charset="0"/>
              </a:rPr>
              <a:t>Cengage</a:t>
            </a:r>
            <a:r>
              <a:rPr lang="en-US" b="0" dirty="0">
                <a:ea typeface="Times New Roman" panose="02020603050405020304" pitchFamily="18" charset="0"/>
              </a:rPr>
              <a:t> Learning, First Edition, 2018. </a:t>
            </a:r>
            <a:endParaRPr lang="en-IN" b="0" dirty="0"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None/>
              <a:tabLst>
                <a:tab pos="457200" algn="l"/>
              </a:tabLst>
            </a:pPr>
            <a:endParaRPr lang="en-IN" b="0" dirty="0" smtClean="0"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None/>
              <a:tabLst>
                <a:tab pos="457200" algn="l"/>
              </a:tabLst>
            </a:pPr>
            <a:r>
              <a:rPr lang="en-US" dirty="0" smtClean="0">
                <a:ea typeface="Times New Roman" panose="02020603050405020304" pitchFamily="18" charset="0"/>
              </a:rPr>
              <a:t>Reference </a:t>
            </a:r>
            <a:r>
              <a:rPr lang="en-US" dirty="0">
                <a:ea typeface="Times New Roman" panose="02020603050405020304" pitchFamily="18" charset="0"/>
              </a:rPr>
              <a:t>Books: </a:t>
            </a:r>
            <a:endParaRPr lang="en-IN" dirty="0">
              <a:ea typeface="Times New Roman" panose="02020603050405020304" pitchFamily="18" charset="0"/>
            </a:endParaRPr>
          </a:p>
          <a:p>
            <a:pPr marL="542925" indent="-357188" algn="just">
              <a:buFont typeface="+mj-lt"/>
              <a:buAutoNum type="arabicPeriod"/>
              <a:tabLst>
                <a:tab pos="442913" algn="l"/>
              </a:tabLst>
            </a:pPr>
            <a:r>
              <a:rPr lang="en-US" sz="2500" b="0" dirty="0">
                <a:ea typeface="Times New Roman" panose="02020603050405020304" pitchFamily="18" charset="0"/>
              </a:rPr>
              <a:t>An Integrated Approach to Software Engineering- </a:t>
            </a:r>
            <a:r>
              <a:rPr lang="en-US" sz="2500" dirty="0" err="1">
                <a:ea typeface="Times New Roman" panose="02020603050405020304" pitchFamily="18" charset="0"/>
              </a:rPr>
              <a:t>Pankaj</a:t>
            </a:r>
            <a:r>
              <a:rPr lang="en-US" sz="2500" dirty="0">
                <a:ea typeface="Times New Roman" panose="02020603050405020304" pitchFamily="18" charset="0"/>
              </a:rPr>
              <a:t> </a:t>
            </a:r>
            <a:r>
              <a:rPr lang="en-US" sz="2500" dirty="0" err="1">
                <a:ea typeface="Times New Roman" panose="02020603050405020304" pitchFamily="18" charset="0"/>
              </a:rPr>
              <a:t>Jalote</a:t>
            </a:r>
            <a:r>
              <a:rPr lang="en-US" sz="2500" b="0" dirty="0">
                <a:ea typeface="Times New Roman" panose="02020603050405020304" pitchFamily="18" charset="0"/>
              </a:rPr>
              <a:t>, </a:t>
            </a:r>
            <a:r>
              <a:rPr lang="en-US" sz="2500" b="0" dirty="0" err="1">
                <a:ea typeface="Times New Roman" panose="02020603050405020304" pitchFamily="18" charset="0"/>
              </a:rPr>
              <a:t>Narosa</a:t>
            </a:r>
            <a:r>
              <a:rPr lang="en-US" sz="2500" b="0" dirty="0">
                <a:ea typeface="Times New Roman" panose="02020603050405020304" pitchFamily="18" charset="0"/>
              </a:rPr>
              <a:t> Publishing House.</a:t>
            </a:r>
            <a:endParaRPr lang="en-IN" sz="2500" b="0" dirty="0">
              <a:ea typeface="Times New Roman" panose="02020603050405020304" pitchFamily="18" charset="0"/>
            </a:endParaRPr>
          </a:p>
          <a:p>
            <a:pPr marL="542925" indent="-357188" algn="just">
              <a:buFont typeface="+mj-lt"/>
              <a:buAutoNum type="arabicPeriod"/>
              <a:tabLst>
                <a:tab pos="442913" algn="l"/>
              </a:tabLst>
            </a:pPr>
            <a:r>
              <a:rPr lang="en-US" sz="2500" b="0" dirty="0">
                <a:ea typeface="Times New Roman" panose="02020603050405020304" pitchFamily="18" charset="0"/>
              </a:rPr>
              <a:t>Software Engineering-A practitioner’s approach- </a:t>
            </a:r>
            <a:r>
              <a:rPr lang="en-US" sz="2500" dirty="0">
                <a:ea typeface="Times New Roman" panose="02020603050405020304" pitchFamily="18" charset="0"/>
              </a:rPr>
              <a:t>R. S. Pressman</a:t>
            </a:r>
            <a:r>
              <a:rPr lang="en-US" sz="2500" b="0" dirty="0">
                <a:ea typeface="Times New Roman" panose="02020603050405020304" pitchFamily="18" charset="0"/>
              </a:rPr>
              <a:t>, Tata McGraw-Hill International Editions, New York. </a:t>
            </a:r>
            <a:endParaRPr lang="en-IN" sz="2500" b="0" dirty="0">
              <a:ea typeface="Times New Roman" panose="02020603050405020304" pitchFamily="18" charset="0"/>
            </a:endParaRPr>
          </a:p>
          <a:p>
            <a:pPr marL="542925" indent="-357188" algn="just">
              <a:buFont typeface="+mj-lt"/>
              <a:buAutoNum type="arabicPeriod"/>
              <a:tabLst>
                <a:tab pos="442913" algn="l"/>
              </a:tabLst>
            </a:pPr>
            <a:r>
              <a:rPr lang="en-US" sz="2500" b="0" dirty="0">
                <a:ea typeface="Times New Roman" panose="02020603050405020304" pitchFamily="18" charset="0"/>
              </a:rPr>
              <a:t>Object Oriented Analysis and Design with </a:t>
            </a:r>
            <a:r>
              <a:rPr lang="en-US" sz="2500" b="0" dirty="0" smtClean="0">
                <a:ea typeface="Times New Roman" panose="02020603050405020304" pitchFamily="18" charset="0"/>
              </a:rPr>
              <a:t>Applications- </a:t>
            </a:r>
            <a:r>
              <a:rPr lang="en-US" sz="2500" dirty="0" smtClean="0">
                <a:ea typeface="Times New Roman" panose="02020603050405020304" pitchFamily="18" charset="0"/>
              </a:rPr>
              <a:t>Grady </a:t>
            </a:r>
            <a:r>
              <a:rPr lang="en-US" sz="2500" dirty="0" err="1">
                <a:ea typeface="Times New Roman" panose="02020603050405020304" pitchFamily="18" charset="0"/>
              </a:rPr>
              <a:t>Booch</a:t>
            </a:r>
            <a:r>
              <a:rPr lang="en-US" sz="2500" b="0" dirty="0">
                <a:ea typeface="Times New Roman" panose="02020603050405020304" pitchFamily="18" charset="0"/>
              </a:rPr>
              <a:t>, </a:t>
            </a:r>
            <a:r>
              <a:rPr lang="en-US" sz="2500" b="0" dirty="0" err="1">
                <a:ea typeface="Times New Roman" panose="02020603050405020304" pitchFamily="18" charset="0"/>
              </a:rPr>
              <a:t>Addision</a:t>
            </a:r>
            <a:r>
              <a:rPr lang="en-US" sz="2500" b="0" dirty="0">
                <a:ea typeface="Times New Roman" panose="02020603050405020304" pitchFamily="18" charset="0"/>
              </a:rPr>
              <a:t> Wesley.</a:t>
            </a:r>
            <a:endParaRPr lang="en-IN" sz="2500" b="0" dirty="0">
              <a:ea typeface="Times New Roman" panose="02020603050405020304" pitchFamily="18" charset="0"/>
            </a:endParaRPr>
          </a:p>
          <a:p>
            <a:pPr marL="542925" indent="-357188" algn="just">
              <a:buFont typeface="+mj-lt"/>
              <a:buAutoNum type="arabicPeriod"/>
              <a:tabLst>
                <a:tab pos="442913" algn="l"/>
              </a:tabLst>
            </a:pPr>
            <a:r>
              <a:rPr lang="en-US" sz="2500" b="0" dirty="0">
                <a:ea typeface="Times New Roman" panose="02020603050405020304" pitchFamily="18" charset="0"/>
              </a:rPr>
              <a:t>Fundamentals of Software </a:t>
            </a:r>
            <a:r>
              <a:rPr lang="en-US" sz="2500" b="0" dirty="0" smtClean="0">
                <a:ea typeface="Times New Roman" panose="02020603050405020304" pitchFamily="18" charset="0"/>
              </a:rPr>
              <a:t>Engineering- </a:t>
            </a:r>
            <a:r>
              <a:rPr lang="en-US" sz="2500" dirty="0" err="1" smtClean="0">
                <a:ea typeface="Times New Roman" panose="02020603050405020304" pitchFamily="18" charset="0"/>
              </a:rPr>
              <a:t>Rajib</a:t>
            </a:r>
            <a:r>
              <a:rPr lang="en-US" sz="2500" dirty="0" smtClean="0">
                <a:ea typeface="Times New Roman" panose="02020603050405020304" pitchFamily="18" charset="0"/>
              </a:rPr>
              <a:t> </a:t>
            </a:r>
            <a:r>
              <a:rPr lang="en-US" sz="2500" dirty="0">
                <a:ea typeface="Times New Roman" panose="02020603050405020304" pitchFamily="18" charset="0"/>
              </a:rPr>
              <a:t>Mall</a:t>
            </a:r>
            <a:r>
              <a:rPr lang="en-US" sz="2500" b="0" dirty="0">
                <a:ea typeface="Times New Roman" panose="02020603050405020304" pitchFamily="18" charset="0"/>
              </a:rPr>
              <a:t>, PHI, New Delhi.</a:t>
            </a:r>
            <a:endParaRPr lang="en-IN" sz="2500" b="0" dirty="0">
              <a:ea typeface="Times New Roman" panose="02020603050405020304" pitchFamily="18" charset="0"/>
            </a:endParaRPr>
          </a:p>
          <a:p>
            <a:pPr marL="542925" indent="-357188" algn="just">
              <a:buFont typeface="+mj-lt"/>
              <a:buAutoNum type="arabicPeriod"/>
              <a:tabLst>
                <a:tab pos="442913" algn="l"/>
              </a:tabLst>
            </a:pPr>
            <a:r>
              <a:rPr lang="en-US" sz="2500" b="0" dirty="0">
                <a:ea typeface="Times New Roman" panose="02020603050405020304" pitchFamily="18" charset="0"/>
              </a:rPr>
              <a:t>Object Oriented Modeling and Design Using </a:t>
            </a:r>
            <a:r>
              <a:rPr lang="en-US" sz="2500" b="0" dirty="0" smtClean="0">
                <a:ea typeface="Times New Roman" panose="02020603050405020304" pitchFamily="18" charset="0"/>
              </a:rPr>
              <a:t>UML- </a:t>
            </a:r>
            <a:r>
              <a:rPr lang="en-US" sz="2500" dirty="0" smtClean="0">
                <a:ea typeface="Times New Roman" panose="02020603050405020304" pitchFamily="18" charset="0"/>
              </a:rPr>
              <a:t>James </a:t>
            </a:r>
            <a:r>
              <a:rPr lang="en-US" sz="2500" dirty="0" err="1">
                <a:ea typeface="Times New Roman" panose="02020603050405020304" pitchFamily="18" charset="0"/>
              </a:rPr>
              <a:t>Rambaugh</a:t>
            </a:r>
            <a:r>
              <a:rPr lang="en-US" sz="2500" b="0" dirty="0">
                <a:ea typeface="Times New Roman" panose="02020603050405020304" pitchFamily="18" charset="0"/>
              </a:rPr>
              <a:t>, Pearson Education.</a:t>
            </a:r>
            <a:endParaRPr lang="en-IN" sz="2500" b="0" dirty="0">
              <a:ea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Software Ontology</Template>
  <TotalTime>985</TotalTime>
  <Words>450</Words>
  <Application>Microsoft Office PowerPoint</Application>
  <PresentationFormat>On-screen Show (4:3)</PresentationFormat>
  <Paragraphs>81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Calibri</vt:lpstr>
      <vt:lpstr>Gill Sans MT</vt:lpstr>
      <vt:lpstr>Symbol</vt:lpstr>
      <vt:lpstr>Times New Roman</vt:lpstr>
      <vt:lpstr>Verdana</vt:lpstr>
      <vt:lpstr>Wingdings</vt:lpstr>
      <vt:lpstr>Wingdings 2</vt:lpstr>
      <vt:lpstr>Custom Design</vt:lpstr>
      <vt:lpstr>Solstice</vt:lpstr>
      <vt:lpstr>Advance Software Engineering CS-6315</vt:lpstr>
      <vt:lpstr>Course Objectives</vt:lpstr>
      <vt:lpstr>Course Contents</vt:lpstr>
      <vt:lpstr>Course Contents</vt:lpstr>
      <vt:lpstr>Course Contents</vt:lpstr>
      <vt:lpstr>Course Contents</vt:lpstr>
      <vt:lpstr>Course Contents</vt:lpstr>
      <vt:lpstr>Course Evaluation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Suman</cp:lastModifiedBy>
  <cp:revision>289</cp:revision>
  <dcterms:created xsi:type="dcterms:W3CDTF">2006-08-16T00:00:00Z</dcterms:created>
  <dcterms:modified xsi:type="dcterms:W3CDTF">2025-08-02T09:54:47Z</dcterms:modified>
</cp:coreProperties>
</file>