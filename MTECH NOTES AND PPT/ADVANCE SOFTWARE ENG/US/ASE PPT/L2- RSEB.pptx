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1" r:id="rId6"/>
    <p:sldId id="259" r:id="rId7"/>
    <p:sldId id="268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66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1C4AA-4BB9-4BC5-918F-94005F4E709E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31D57-A83F-46F0-BC35-7529E86422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Reuse Driven Software Engineering Business (RSEB) </a:t>
            </a:r>
            <a:endParaRPr lang="en-US" sz="3200" dirty="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RSEB</a:t>
            </a:r>
            <a:endParaRPr lang="en-US" dirty="0">
              <a:solidFill>
                <a:srgbClr val="00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RSEB is a systematic approach to running a software development organization.</a:t>
            </a:r>
          </a:p>
          <a:p>
            <a:r>
              <a:rPr lang="en-US" dirty="0" smtClean="0"/>
              <a:t>The main goal of RSEB is to develop a family of related application system that meet customer needs as effectively as possible.</a:t>
            </a:r>
          </a:p>
          <a:p>
            <a:r>
              <a:rPr lang="en-US" dirty="0" smtClean="0"/>
              <a:t>RSEB is becoming important for competitive reasons with following issues:</a:t>
            </a:r>
          </a:p>
          <a:p>
            <a:pPr lvl="1"/>
            <a:r>
              <a:rPr lang="en-US" dirty="0" smtClean="0"/>
              <a:t>To reduce time to market</a:t>
            </a:r>
          </a:p>
          <a:p>
            <a:pPr lvl="1"/>
            <a:r>
              <a:rPr lang="en-US" dirty="0" smtClean="0"/>
              <a:t>To reduce the cost of the product</a:t>
            </a:r>
          </a:p>
          <a:p>
            <a:pPr lvl="1"/>
            <a:r>
              <a:rPr lang="en-US" dirty="0" smtClean="0"/>
              <a:t>To improve the productivity of the organization</a:t>
            </a:r>
          </a:p>
          <a:p>
            <a:pPr lvl="1"/>
            <a:r>
              <a:rPr lang="en-US" dirty="0" smtClean="0"/>
              <a:t>To improve the predictability of the process</a:t>
            </a:r>
          </a:p>
          <a:p>
            <a:pPr lvl="1"/>
            <a:r>
              <a:rPr lang="en-US" dirty="0" smtClean="0"/>
              <a:t>To increase the reliability of the product</a:t>
            </a:r>
          </a:p>
          <a:p>
            <a:pPr lvl="1"/>
            <a:r>
              <a:rPr lang="en-US" dirty="0" smtClean="0"/>
              <a:t>To increase the quality of the product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Making reuse cost effective</a:t>
            </a:r>
            <a:endParaRPr lang="en-US" sz="3200" dirty="0">
              <a:solidFill>
                <a:srgbClr val="00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RSEB is a concept of four interlocking dimensions: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 smtClean="0">
                <a:solidFill>
                  <a:srgbClr val="003300"/>
                </a:solidFill>
              </a:rPr>
              <a:t>Business orientation </a:t>
            </a:r>
            <a:r>
              <a:rPr lang="en-US" sz="1800" dirty="0" smtClean="0"/>
              <a:t>– For economical benefits, management implements the reuse business in the organization.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 smtClean="0">
                <a:solidFill>
                  <a:srgbClr val="003300"/>
                </a:solidFill>
              </a:rPr>
              <a:t>Engineering orientation </a:t>
            </a:r>
            <a:r>
              <a:rPr lang="en-US" sz="1800" dirty="0" smtClean="0"/>
              <a:t>– Using OOSE, creators develop reusable components that can be used by Reusers.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 smtClean="0">
                <a:solidFill>
                  <a:srgbClr val="003300"/>
                </a:solidFill>
              </a:rPr>
              <a:t>Technical sequence</a:t>
            </a:r>
          </a:p>
          <a:p>
            <a:pPr lvl="2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RSEB involves a series of OOSE models, i.e. Architecture, Analysis,  Design, Test, and Code. </a:t>
            </a:r>
          </a:p>
          <a:p>
            <a:pPr lvl="2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 structure is traceable through these models, both forward and backward, so that a change can be reflected throughout the whole series.</a:t>
            </a:r>
          </a:p>
          <a:p>
            <a:pPr lvl="2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Effective reuse includes much more than just code.   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 smtClean="0">
                <a:solidFill>
                  <a:srgbClr val="003300"/>
                </a:solidFill>
              </a:rPr>
              <a:t>Business process reengineering </a:t>
            </a:r>
            <a:r>
              <a:rPr lang="en-US" sz="1800" dirty="0" smtClean="0"/>
              <a:t>– The business and technical activities of RSEB work with the dynamically changing processes of a company being reengineering.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Reuse business model characteristics </a:t>
            </a:r>
            <a:endParaRPr lang="en-US" sz="3200" dirty="0">
              <a:solidFill>
                <a:srgbClr val="00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As a reuse business, it should have well defined customer and financial objectives.</a:t>
            </a:r>
          </a:p>
          <a:p>
            <a:r>
              <a:rPr lang="en-US" dirty="0" smtClean="0"/>
              <a:t>At the same time, such business focus on effectively achieving its profit and expense objectives. </a:t>
            </a:r>
          </a:p>
          <a:p>
            <a:r>
              <a:rPr lang="en-US" dirty="0" smtClean="0"/>
              <a:t>A reuse driven software organization is engaged in producing multiple, related applications, centered and optimized on the production and reuse of components.</a:t>
            </a:r>
          </a:p>
          <a:p>
            <a:r>
              <a:rPr lang="en-US" dirty="0" smtClean="0"/>
              <a:t>RSEB establishes a reuse-oriented organization, separating application and component engineering into distinct organizations and concurrent processes.</a:t>
            </a:r>
          </a:p>
          <a:p>
            <a:r>
              <a:rPr lang="en-US" dirty="0" smtClean="0"/>
              <a:t>It uses systematic techniques to establish the right architecture to help managers and engineers control the complexity of the system.</a:t>
            </a:r>
          </a:p>
          <a:p>
            <a:r>
              <a:rPr lang="en-US" dirty="0" smtClean="0"/>
              <a:t>It leads to the product line or product family.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Reuse business model characteristics </a:t>
            </a:r>
            <a:endParaRPr lang="en-US" sz="3200" dirty="0">
              <a:solidFill>
                <a:srgbClr val="0033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905000" y="2590800"/>
            <a:ext cx="6172200" cy="2563981"/>
            <a:chOff x="473926" y="457200"/>
            <a:chExt cx="7527074" cy="5430794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524000" y="914400"/>
              <a:ext cx="0" cy="487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1524000" y="4724400"/>
              <a:ext cx="632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524000" y="4038600"/>
              <a:ext cx="632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524000" y="2438400"/>
              <a:ext cx="632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524000" y="1828800"/>
              <a:ext cx="632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524000" y="3200400"/>
              <a:ext cx="6477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1828800" y="3200400"/>
              <a:ext cx="304800" cy="2590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52073" y="3200400"/>
              <a:ext cx="304800" cy="25908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19400" y="2447636"/>
              <a:ext cx="304800" cy="75276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54582" y="2438400"/>
              <a:ext cx="304800" cy="75276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69673" y="3200400"/>
              <a:ext cx="304800" cy="1524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44109" y="3184236"/>
              <a:ext cx="304800" cy="9305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39409" y="2362200"/>
              <a:ext cx="304800" cy="838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38800" y="2750127"/>
              <a:ext cx="304800" cy="4502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43600" y="2750127"/>
              <a:ext cx="304800" cy="4502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81800" y="2975263"/>
              <a:ext cx="304800" cy="23899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86600" y="2071200"/>
              <a:ext cx="263912" cy="11292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V="1">
              <a:off x="2590800" y="2975263"/>
              <a:ext cx="0" cy="238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3657600" y="2975263"/>
              <a:ext cx="0" cy="238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648200" y="2961408"/>
              <a:ext cx="0" cy="238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5486400" y="2952172"/>
              <a:ext cx="0" cy="238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53200" y="2961408"/>
              <a:ext cx="0" cy="238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73926" y="1748400"/>
              <a:ext cx="990599" cy="4139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400</a:t>
              </a:r>
            </a:p>
            <a:p>
              <a:pPr algn="ctr"/>
              <a:endParaRPr lang="en-US" sz="11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200</a:t>
              </a:r>
            </a:p>
            <a:p>
              <a:pPr algn="ctr"/>
              <a:endParaRPr lang="en-US" sz="11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$K</a:t>
              </a:r>
            </a:p>
            <a:p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     -200</a:t>
              </a: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  </a:t>
              </a: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 -400</a:t>
              </a: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  </a:t>
              </a:r>
            </a:p>
            <a:p>
              <a:pPr algn="ctr"/>
              <a:r>
                <a:rPr lang="en-US" sz="1100" dirty="0" smtClean="0">
                  <a:latin typeface="Times New Roman" pitchFamily="18" charset="0"/>
                  <a:cs typeface="Times New Roman" pitchFamily="18" charset="0"/>
                </a:rPr>
                <a:t> -600</a:t>
              </a:r>
              <a:endParaRPr lang="en-US" sz="11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171700" y="457200"/>
              <a:ext cx="647700" cy="2286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171700" y="898236"/>
              <a:ext cx="6477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endParaRPr>
            </a:p>
          </p:txBody>
        </p:sp>
      </p:grpSp>
      <p:cxnSp>
        <p:nvCxnSpPr>
          <p:cNvPr id="31" name="Straight Connector 30"/>
          <p:cNvCxnSpPr/>
          <p:nvPr/>
        </p:nvCxnSpPr>
        <p:spPr>
          <a:xfrm>
            <a:off x="2743200" y="5105400"/>
            <a:ext cx="5181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86200" y="2438400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Annual</a:t>
            </a:r>
          </a:p>
          <a:p>
            <a:r>
              <a:rPr lang="en-US" sz="1600" dirty="0" smtClean="0"/>
              <a:t>Accumulated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4191000" y="5181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year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676400" y="1676400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Investment vs. cost and befits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Architecting components and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200"/>
            <a:ext cx="75438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Deciding the architecture of the components and applications for the engineering of systems.</a:t>
            </a:r>
          </a:p>
          <a:p>
            <a:r>
              <a:rPr lang="en-US" dirty="0" smtClean="0"/>
              <a:t>Reusers develop an application system by selecting component systems and integrating them together into an application system.</a:t>
            </a:r>
          </a:p>
          <a:p>
            <a:r>
              <a:rPr lang="en-US" dirty="0" smtClean="0"/>
              <a:t>A component system is a set of customizable and configurable software elements.</a:t>
            </a:r>
          </a:p>
          <a:p>
            <a:r>
              <a:rPr lang="en-US" dirty="0" smtClean="0"/>
              <a:t>Application system includes configuration scripts, customization capabilities, and installation and maintenance documents.</a:t>
            </a:r>
          </a:p>
          <a:p>
            <a:r>
              <a:rPr lang="en-US" dirty="0" smtClean="0"/>
              <a:t>For e.g., MS-Office is an application consisted of MS-Word, MS-Excel, Power point, MS-Access etc. component systems.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Architecting components and applications</a:t>
            </a:r>
            <a:endParaRPr lang="en-US" sz="3200" dirty="0">
              <a:solidFill>
                <a:srgbClr val="0033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05000" y="1828800"/>
            <a:ext cx="6281464" cy="3814936"/>
            <a:chOff x="899592" y="620688"/>
            <a:chExt cx="7591672" cy="4946848"/>
          </a:xfrm>
        </p:grpSpPr>
        <p:sp>
          <p:nvSpPr>
            <p:cNvPr id="7" name="Oval 6"/>
            <p:cNvSpPr/>
            <p:nvPr/>
          </p:nvSpPr>
          <p:spPr>
            <a:xfrm>
              <a:off x="2946648" y="2579472"/>
              <a:ext cx="3528392" cy="115212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System Engineering</a:t>
              </a:r>
              <a:endParaRPr lang="en-IN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99592" y="620688"/>
              <a:ext cx="2016224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</a:t>
              </a:r>
            </a:p>
            <a:p>
              <a:pPr algn="ctr"/>
              <a:r>
                <a:rPr lang="en-US" dirty="0" smtClean="0"/>
                <a:t>System 1</a:t>
              </a:r>
              <a:endParaRPr lang="en-IN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635896" y="620688"/>
              <a:ext cx="2016224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</a:t>
              </a:r>
            </a:p>
            <a:p>
              <a:pPr algn="ctr"/>
              <a:r>
                <a:rPr lang="en-US" dirty="0" smtClean="0"/>
                <a:t>System 2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75040" y="620688"/>
              <a:ext cx="2016224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</a:t>
              </a:r>
            </a:p>
            <a:p>
              <a:pPr algn="ctr"/>
              <a:r>
                <a:rPr lang="en-US" dirty="0" smtClean="0"/>
                <a:t>System 3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92080" y="4653136"/>
              <a:ext cx="2016224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Component </a:t>
              </a:r>
            </a:p>
            <a:p>
              <a:pPr algn="ctr"/>
              <a:r>
                <a:rPr lang="en-US" dirty="0" smtClean="0"/>
                <a:t>System 2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09014" y="4653136"/>
              <a:ext cx="2016224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Component </a:t>
              </a:r>
            </a:p>
            <a:p>
              <a:pPr algn="ctr"/>
              <a:r>
                <a:rPr lang="en-US" dirty="0" smtClean="0"/>
                <a:t>System 1</a:t>
              </a:r>
              <a:endParaRPr lang="en-IN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3099048" y="2731872"/>
              <a:ext cx="3528392" cy="115212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System Engineering</a:t>
              </a:r>
              <a:endParaRPr lang="en-IN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251448" y="2884272"/>
              <a:ext cx="3528392" cy="115212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Application System Engineering</a:t>
              </a:r>
              <a:endParaRPr lang="en-IN" dirty="0"/>
            </a:p>
          </p:txBody>
        </p:sp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 flipV="1">
              <a:off x="2051720" y="1535088"/>
              <a:ext cx="1716449" cy="15179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3" idx="0"/>
            </p:cNvCxnSpPr>
            <p:nvPr/>
          </p:nvCxnSpPr>
          <p:spPr>
            <a:xfrm flipV="1">
              <a:off x="4863245" y="1535090"/>
              <a:ext cx="152400" cy="119678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7" idx="7"/>
              <a:endCxn id="10" idx="2"/>
            </p:cNvCxnSpPr>
            <p:nvPr/>
          </p:nvCxnSpPr>
          <p:spPr>
            <a:xfrm flipV="1">
              <a:off x="5958319" y="1535088"/>
              <a:ext cx="1524833" cy="12131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2" idx="0"/>
              <a:endCxn id="14" idx="4"/>
            </p:cNvCxnSpPr>
            <p:nvPr/>
          </p:nvCxnSpPr>
          <p:spPr>
            <a:xfrm flipV="1">
              <a:off x="2517126" y="4036400"/>
              <a:ext cx="2498518" cy="6167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0"/>
              <a:endCxn id="14" idx="4"/>
            </p:cNvCxnSpPr>
            <p:nvPr/>
          </p:nvCxnSpPr>
          <p:spPr>
            <a:xfrm flipH="1" flipV="1">
              <a:off x="5015644" y="4036400"/>
              <a:ext cx="1284548" cy="6167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3300"/>
                </a:solidFill>
              </a:rPr>
              <a:t>Architecting components and applications: A Layered Approach</a:t>
            </a:r>
            <a:endParaRPr lang="en-US" dirty="0">
              <a:solidFill>
                <a:srgbClr val="00330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209800" y="1676400"/>
            <a:ext cx="4876800" cy="4495801"/>
            <a:chOff x="1905000" y="914399"/>
            <a:chExt cx="4876800" cy="4495801"/>
          </a:xfrm>
        </p:grpSpPr>
        <p:sp>
          <p:nvSpPr>
            <p:cNvPr id="4" name="Rectangle 3"/>
            <p:cNvSpPr/>
            <p:nvPr/>
          </p:nvSpPr>
          <p:spPr>
            <a:xfrm>
              <a:off x="4345709" y="914400"/>
              <a:ext cx="457200" cy="4618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107873" y="1039091"/>
              <a:ext cx="457200" cy="4618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286000" y="1062182"/>
              <a:ext cx="457200" cy="4618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48400" y="914399"/>
              <a:ext cx="457200" cy="3833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56036" y="988291"/>
              <a:ext cx="457200" cy="4618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019800" y="1066800"/>
              <a:ext cx="457200" cy="4618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1219200"/>
              <a:ext cx="4876800" cy="419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Business- Specific Components</a:t>
              </a:r>
              <a:endParaRPr lang="en-US" dirty="0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905000" y="3048000"/>
              <a:ext cx="4876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05000" y="3733800"/>
              <a:ext cx="4876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905000" y="4495800"/>
              <a:ext cx="4876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819400" y="3886200"/>
              <a:ext cx="32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Middleware Components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43200" y="4860636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System Software Components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52800" y="1752600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Application Systems</a:t>
              </a:r>
              <a:endParaRPr lang="en-US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2667000" y="1219200"/>
              <a:ext cx="0" cy="182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943600" y="1219200"/>
              <a:ext cx="0" cy="182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124200" y="1219200"/>
              <a:ext cx="0" cy="182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486400" y="1219200"/>
              <a:ext cx="0" cy="182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86200" y="1219200"/>
              <a:ext cx="0" cy="609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886200" y="2362200"/>
              <a:ext cx="0" cy="685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336473" y="1219200"/>
              <a:ext cx="0" cy="609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345709" y="2362200"/>
              <a:ext cx="0" cy="685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Architecting components and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525963"/>
          </a:xfrm>
        </p:spPr>
        <p:txBody>
          <a:bodyPr>
            <a:normAutofit/>
          </a:bodyPr>
          <a:lstStyle/>
          <a:p>
            <a:r>
              <a:rPr lang="en-US" sz="1800" i="1" dirty="0" smtClean="0"/>
              <a:t>Component </a:t>
            </a:r>
            <a:r>
              <a:rPr lang="en-US" sz="1800" dirty="0" smtClean="0"/>
              <a:t>refers to an element of a development model that meets two criteria: </a:t>
            </a:r>
          </a:p>
          <a:p>
            <a:pPr lvl="1"/>
            <a:r>
              <a:rPr lang="en-US" sz="1800" dirty="0" smtClean="0"/>
              <a:t>It is loosely coupled to other elements.</a:t>
            </a:r>
          </a:p>
          <a:p>
            <a:pPr lvl="1"/>
            <a:r>
              <a:rPr lang="en-US" sz="1800" dirty="0" smtClean="0"/>
              <a:t>It promises to be reusable.</a:t>
            </a:r>
          </a:p>
          <a:p>
            <a:r>
              <a:rPr lang="en-US" sz="1800" i="1" dirty="0" smtClean="0"/>
              <a:t>Component systems </a:t>
            </a:r>
            <a:r>
              <a:rPr lang="en-US" sz="1800" dirty="0" smtClean="0"/>
              <a:t>refer to a set of related components that accomplishes some function larger than accomplished by a single component.  </a:t>
            </a:r>
          </a:p>
          <a:p>
            <a:r>
              <a:rPr lang="en-US" sz="1800" dirty="0" smtClean="0"/>
              <a:t>Larger applications are built a layered system with modular, layered architecture.</a:t>
            </a:r>
          </a:p>
          <a:p>
            <a:r>
              <a:rPr lang="en-US" sz="1800" dirty="0" smtClean="0"/>
              <a:t>Each layer in the system is constructed from an appropriate set of components drawn from several components systems in lower layers.</a:t>
            </a:r>
          </a:p>
          <a:p>
            <a:r>
              <a:rPr lang="en-US" sz="1800" dirty="0" smtClean="0"/>
              <a:t>An application explicitly imports components from the component system </a:t>
            </a:r>
            <a:r>
              <a:rPr lang="en-US" sz="1800" i="1" dirty="0" smtClean="0"/>
              <a:t>facades. </a:t>
            </a:r>
          </a:p>
          <a:p>
            <a:r>
              <a:rPr lang="en-US" sz="1800" dirty="0" smtClean="0"/>
              <a:t>Exports, imports and facades work together to support both layering and modular </a:t>
            </a:r>
            <a:r>
              <a:rPr lang="en-US" sz="1800" dirty="0" err="1" smtClean="0"/>
              <a:t>pluggability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Each application is represented as a separate system in which each is constructed from components organized as components system in a </a:t>
            </a:r>
            <a:r>
              <a:rPr lang="en-US" sz="1800" i="1" dirty="0" smtClean="0"/>
              <a:t>hierarchical manner.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Reuse based Software engineering processes</a:t>
            </a:r>
            <a:endParaRPr lang="en-US" sz="3200" dirty="0">
              <a:solidFill>
                <a:srgbClr val="00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key processes involved in RSEB are:</a:t>
            </a:r>
          </a:p>
          <a:p>
            <a:pPr lvl="1">
              <a:buFont typeface="Wingdings" pitchFamily="2" charset="2"/>
              <a:buChar char="v"/>
            </a:pPr>
            <a:r>
              <a:rPr lang="en-US" i="1" dirty="0" smtClean="0">
                <a:solidFill>
                  <a:srgbClr val="003300"/>
                </a:solidFill>
              </a:rPr>
              <a:t>Component system engineering</a:t>
            </a:r>
          </a:p>
          <a:p>
            <a:pPr lvl="1">
              <a:buFont typeface="Wingdings" pitchFamily="2" charset="2"/>
              <a:buChar char="v"/>
            </a:pPr>
            <a:r>
              <a:rPr lang="en-US" i="1" dirty="0" smtClean="0">
                <a:solidFill>
                  <a:srgbClr val="003300"/>
                </a:solidFill>
              </a:rPr>
              <a:t>Application system engineering</a:t>
            </a:r>
          </a:p>
          <a:p>
            <a:pPr lvl="1">
              <a:buFont typeface="Wingdings" pitchFamily="2" charset="2"/>
              <a:buChar char="v"/>
            </a:pPr>
            <a:r>
              <a:rPr lang="en-US" i="1" dirty="0" smtClean="0">
                <a:solidFill>
                  <a:srgbClr val="003300"/>
                </a:solidFill>
              </a:rPr>
              <a:t>Application family engineering</a:t>
            </a:r>
          </a:p>
          <a:p>
            <a:r>
              <a:rPr lang="en-US" dirty="0" smtClean="0"/>
              <a:t>The component systems and application systems are constructed in the traditional manner.</a:t>
            </a:r>
          </a:p>
          <a:p>
            <a:r>
              <a:rPr lang="en-US" dirty="0" smtClean="0"/>
              <a:t>The overall system architecture is created by application family engineering, which focuses on identifying the architecture and a set of component systems that will support the suit of applications to be built.  </a:t>
            </a:r>
          </a:p>
          <a:p>
            <a:r>
              <a:rPr lang="en-US" dirty="0" smtClean="0"/>
              <a:t>The BPR and change management is used to systematically restructure a software development organization into a reuse business.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Managing the reuse business</a:t>
            </a:r>
            <a:endParaRPr lang="en-US" sz="3200" dirty="0">
              <a:solidFill>
                <a:srgbClr val="0033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95400" y="1524000"/>
            <a:ext cx="7391400" cy="4953000"/>
            <a:chOff x="792979" y="304800"/>
            <a:chExt cx="7766243" cy="6477000"/>
          </a:xfrm>
        </p:grpSpPr>
        <p:sp>
          <p:nvSpPr>
            <p:cNvPr id="5" name="Rectangle 4"/>
            <p:cNvSpPr/>
            <p:nvPr/>
          </p:nvSpPr>
          <p:spPr>
            <a:xfrm>
              <a:off x="6096288" y="910014"/>
              <a:ext cx="152400" cy="3782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132945" y="891314"/>
              <a:ext cx="115743" cy="4421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16545" y="304800"/>
              <a:ext cx="4800600" cy="360080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4038600"/>
              <a:ext cx="4800600" cy="2743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438400" y="852961"/>
              <a:ext cx="1447800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Application Family</a:t>
              </a:r>
            </a:p>
            <a:p>
              <a:pPr algn="ctr"/>
              <a:r>
                <a:rPr lang="en-US" sz="1100" dirty="0" smtClean="0"/>
                <a:t>Engineering</a:t>
              </a:r>
              <a:endParaRPr lang="en-US" sz="11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2971801" y="6019800"/>
              <a:ext cx="2228268" cy="6096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Managing the Reuse</a:t>
              </a:r>
            </a:p>
            <a:p>
              <a:pPr algn="ctr"/>
              <a:r>
                <a:rPr lang="en-US" sz="1100" dirty="0" smtClean="0"/>
                <a:t>Business</a:t>
              </a:r>
              <a:endParaRPr lang="en-US" sz="1100" dirty="0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905000" y="5791200"/>
              <a:ext cx="4800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3523094" y="2159002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375890" y="2207492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261590" y="2283692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Application System</a:t>
              </a:r>
            </a:p>
            <a:p>
              <a:pPr algn="ctr"/>
              <a:r>
                <a:rPr lang="en-US" sz="1100" dirty="0" smtClean="0"/>
                <a:t>Engineering</a:t>
              </a:r>
              <a:endParaRPr lang="en-US" sz="110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3538104" y="4599710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390900" y="4648200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276600" y="4724400"/>
              <a:ext cx="1527464" cy="914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Component</a:t>
              </a:r>
            </a:p>
            <a:p>
              <a:pPr algn="ctr"/>
              <a:r>
                <a:rPr lang="en-US" sz="1100" dirty="0" smtClean="0"/>
                <a:t>System</a:t>
              </a:r>
            </a:p>
            <a:p>
              <a:pPr algn="ctr"/>
              <a:r>
                <a:rPr lang="en-US" sz="1100" dirty="0" smtClean="0"/>
                <a:t>Engineering</a:t>
              </a:r>
              <a:endParaRPr lang="en-US" sz="11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05044" y="3433395"/>
              <a:ext cx="1701222" cy="685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334326" y="3554849"/>
              <a:ext cx="1701222" cy="685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02132" y="3701250"/>
              <a:ext cx="1701222" cy="685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Component</a:t>
              </a:r>
            </a:p>
            <a:p>
              <a:pPr algn="ctr"/>
              <a:r>
                <a:rPr lang="en-US" sz="1100" dirty="0" smtClean="0"/>
                <a:t>System</a:t>
              </a:r>
              <a:endParaRPr lang="en-US" sz="11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030351" y="574390"/>
              <a:ext cx="1558637" cy="1600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253015" y="928611"/>
              <a:ext cx="174625" cy="4687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76815" y="970652"/>
              <a:ext cx="152400" cy="3782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02924" y="1019143"/>
              <a:ext cx="152400" cy="3782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72987" y="1023760"/>
              <a:ext cx="152400" cy="3782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3869" y="1023760"/>
              <a:ext cx="152400" cy="3782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123869" y="1075467"/>
              <a:ext cx="1371600" cy="8626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5123869" y="1767361"/>
              <a:ext cx="137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123869" y="1600200"/>
              <a:ext cx="137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106266" y="1401998"/>
              <a:ext cx="137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276269" y="1075467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428669" y="1088752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592611" y="1092691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749629" y="1069147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867400" y="1080084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019800" y="1080084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176815" y="1088752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329215" y="1088752"/>
              <a:ext cx="0" cy="321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2" descr="C:\Users\MTech 2010\Desktop\acto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108" y="1699846"/>
              <a:ext cx="561975" cy="7429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C:\Users\MTech 2010\Desktop\acto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044" y="3991708"/>
              <a:ext cx="561975" cy="7429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/>
            <p:cNvSpPr txBox="1"/>
            <p:nvPr/>
          </p:nvSpPr>
          <p:spPr>
            <a:xfrm>
              <a:off x="792979" y="2497015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Customer</a:t>
              </a:r>
              <a:endParaRPr lang="en-US" sz="12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73044" y="4888523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End User</a:t>
              </a:r>
              <a:endParaRPr lang="en-US" sz="1200" dirty="0"/>
            </a:p>
          </p:txBody>
        </p:sp>
        <p:pic>
          <p:nvPicPr>
            <p:cNvPr id="43" name="Picture 2" descr="C:\Users\MTech 2010\Desktop\acto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3800" y="4819650"/>
              <a:ext cx="561975" cy="7429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/>
            <p:cNvSpPr txBox="1"/>
            <p:nvPr/>
          </p:nvSpPr>
          <p:spPr>
            <a:xfrm>
              <a:off x="7322343" y="5606565"/>
              <a:ext cx="1135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Manufacturer</a:t>
              </a:r>
              <a:endParaRPr lang="en-US" sz="12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060912" y="3492149"/>
              <a:ext cx="1498310" cy="5643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90194" y="3613603"/>
              <a:ext cx="1498310" cy="5643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58000" y="3760004"/>
              <a:ext cx="1498310" cy="5643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Application</a:t>
              </a:r>
            </a:p>
            <a:p>
              <a:pPr algn="ctr"/>
              <a:r>
                <a:rPr lang="en-US" sz="1100" dirty="0" smtClean="0"/>
                <a:t>System</a:t>
              </a:r>
              <a:endParaRPr lang="en-US" sz="11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116455" y="2297723"/>
              <a:ext cx="1482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Layered Architecture</a:t>
              </a:r>
              <a:endParaRPr lang="en-US" sz="1100" dirty="0"/>
            </a:p>
          </p:txBody>
        </p:sp>
        <p:cxnSp>
          <p:nvCxnSpPr>
            <p:cNvPr id="49" name="Straight Arrow Connector 48"/>
            <p:cNvCxnSpPr>
              <a:stCxn id="39" idx="3"/>
              <a:endCxn id="9" idx="2"/>
            </p:cNvCxnSpPr>
            <p:nvPr/>
          </p:nvCxnSpPr>
          <p:spPr>
            <a:xfrm flipV="1">
              <a:off x="1515083" y="1310162"/>
              <a:ext cx="923318" cy="76115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0" idx="3"/>
              <a:endCxn id="14" idx="2"/>
            </p:cNvCxnSpPr>
            <p:nvPr/>
          </p:nvCxnSpPr>
          <p:spPr>
            <a:xfrm flipV="1">
              <a:off x="1435019" y="2740892"/>
              <a:ext cx="1826572" cy="16222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9" idx="6"/>
              <a:endCxn id="21" idx="1"/>
            </p:cNvCxnSpPr>
            <p:nvPr/>
          </p:nvCxnSpPr>
          <p:spPr>
            <a:xfrm>
              <a:off x="3886200" y="1310161"/>
              <a:ext cx="1144151" cy="643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0" idx="3"/>
              <a:endCxn id="17" idx="2"/>
            </p:cNvCxnSpPr>
            <p:nvPr/>
          </p:nvCxnSpPr>
          <p:spPr>
            <a:xfrm>
              <a:off x="1435019" y="4363183"/>
              <a:ext cx="1841581" cy="8184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9" idx="3"/>
              <a:endCxn id="14" idx="2"/>
            </p:cNvCxnSpPr>
            <p:nvPr/>
          </p:nvCxnSpPr>
          <p:spPr>
            <a:xfrm>
              <a:off x="1515083" y="2071321"/>
              <a:ext cx="1746507" cy="66957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7" idx="2"/>
              <a:endCxn id="43" idx="0"/>
            </p:cNvCxnSpPr>
            <p:nvPr/>
          </p:nvCxnSpPr>
          <p:spPr>
            <a:xfrm>
              <a:off x="7607155" y="4324350"/>
              <a:ext cx="217633" cy="4953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7" idx="0"/>
              <a:endCxn id="20" idx="2"/>
            </p:cNvCxnSpPr>
            <p:nvPr/>
          </p:nvCxnSpPr>
          <p:spPr>
            <a:xfrm rot="5400000" flipH="1" flipV="1">
              <a:off x="3877862" y="4549519"/>
              <a:ext cx="337351" cy="124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20" idx="0"/>
              <a:endCxn id="14" idx="4"/>
            </p:cNvCxnSpPr>
            <p:nvPr/>
          </p:nvCxnSpPr>
          <p:spPr>
            <a:xfrm rot="16200000" flipV="1">
              <a:off x="3787454" y="3435960"/>
              <a:ext cx="503158" cy="274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5081881" y="2616202"/>
              <a:ext cx="2657468" cy="87594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Managing the reuse business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3300"/>
                </a:solidFill>
              </a:rPr>
              <a:t>People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The role of people is twofold: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Worker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within software engineering organization as manager to perform software engineering processes or support those who do it, i.e., software engineers, librarians etc.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People outside the organization, either as an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end-user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of RSEB, who will be benefitted from the reuse business.   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Business actor a class of people who interact with a process: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Customer: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Who order, specify and pay for an application.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End-user: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Who will use an application system when it is installed.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Manufacturer: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 manufacturer receives a new version of an application system when it has been developed then produces and delivers complete applications to customers and end-users.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Managing the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3300"/>
                </a:solidFill>
              </a:rPr>
              <a:t>Application family engineering</a:t>
            </a:r>
          </a:p>
          <a:p>
            <a:pPr>
              <a:buNone/>
            </a:pPr>
            <a:endParaRPr lang="en-US" b="1" dirty="0" smtClean="0">
              <a:solidFill>
                <a:srgbClr val="003300"/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It determines how to decompose the overall set of applications into a suite of application systems and supporting component systems.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The process architects the layers, facades, and interfaces of the subsystems and component systems that support the complete family of related systems.</a:t>
            </a:r>
          </a:p>
          <a:p>
            <a:pPr lvl="1">
              <a:buFont typeface="Arial" pitchFamily="34" charset="0"/>
              <a:buChar char="•"/>
            </a:pPr>
            <a:endParaRPr lang="en-US" sz="1800" dirty="0" smtClean="0"/>
          </a:p>
          <a:p>
            <a:pPr lvl="1">
              <a:buNone/>
            </a:pP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Managing the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3300"/>
                </a:solidFill>
              </a:rPr>
              <a:t>Application system engineering</a:t>
            </a:r>
          </a:p>
          <a:p>
            <a:pPr>
              <a:buNone/>
            </a:pPr>
            <a:endParaRPr lang="en-US" sz="2200" b="1" dirty="0" smtClean="0">
              <a:solidFill>
                <a:srgbClr val="003300"/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It selects, specializes and assembles components from one or more component systems into complete application system with the help of tools, methods, processes and instructions.</a:t>
            </a:r>
          </a:p>
          <a:p>
            <a:r>
              <a:rPr lang="en-US" b="1" dirty="0" smtClean="0">
                <a:solidFill>
                  <a:srgbClr val="003300"/>
                </a:solidFill>
              </a:rPr>
              <a:t>Process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On customer requests, developers elicit and capture requirements and express them in terms of available architectures and models. 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Developers </a:t>
            </a:r>
            <a:r>
              <a:rPr lang="en-US" dirty="0" smtClean="0"/>
              <a:t>may use reusable components or develop new components.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Then, design and implements an increment of the eventual application system.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Change and improvement due to complaints from users.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Managing the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 smtClean="0">
                <a:solidFill>
                  <a:srgbClr val="003300"/>
                </a:solidFill>
              </a:rPr>
              <a:t>Component system engineering</a:t>
            </a:r>
          </a:p>
          <a:p>
            <a:pPr lvl="1" algn="just"/>
            <a:r>
              <a:rPr lang="en-US" dirty="0" smtClean="0"/>
              <a:t>This process designs, constructs and packages component systems using appropriate code, templates, models, dictionary, documents and custom tools.</a:t>
            </a:r>
          </a:p>
          <a:p>
            <a:pPr algn="just"/>
            <a:r>
              <a:rPr lang="en-US" b="1" dirty="0" smtClean="0">
                <a:solidFill>
                  <a:srgbClr val="003300"/>
                </a:solidFill>
              </a:rPr>
              <a:t>Process</a:t>
            </a:r>
            <a:r>
              <a:rPr lang="en-US" dirty="0" smtClean="0"/>
              <a:t> </a:t>
            </a:r>
          </a:p>
          <a:p>
            <a:pPr lvl="1" algn="just"/>
            <a:r>
              <a:rPr lang="en-US" dirty="0" smtClean="0"/>
              <a:t>Collect and analyze requirements to build component systems with the help of business models, architects, domain experts and application users.</a:t>
            </a:r>
          </a:p>
          <a:p>
            <a:pPr lvl="1" algn="just"/>
            <a:r>
              <a:rPr lang="en-US" dirty="0" smtClean="0"/>
              <a:t> component engineers architect and develop and test the component system and follows certification and packaging.</a:t>
            </a:r>
          </a:p>
          <a:p>
            <a:pPr lvl="1" algn="just"/>
            <a:r>
              <a:rPr lang="en-US" dirty="0" smtClean="0"/>
              <a:t> rework and maintenance due to complaints from </a:t>
            </a:r>
            <a:r>
              <a:rPr lang="en-US" dirty="0" err="1" smtClean="0"/>
              <a:t>reusers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Establishing and managing reuse business</a:t>
            </a:r>
            <a:endParaRPr lang="en-US" dirty="0">
              <a:solidFill>
                <a:srgbClr val="00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003300"/>
                </a:solidFill>
              </a:rPr>
              <a:t>Systematic transition to reuse business involves</a:t>
            </a:r>
          </a:p>
          <a:p>
            <a:pPr lvl="1"/>
            <a:r>
              <a:rPr lang="en-US" dirty="0" smtClean="0"/>
              <a:t>Business Process Reengineering</a:t>
            </a:r>
          </a:p>
          <a:p>
            <a:pPr lvl="1"/>
            <a:r>
              <a:rPr lang="en-US" dirty="0" smtClean="0"/>
              <a:t>Change management</a:t>
            </a:r>
          </a:p>
          <a:p>
            <a:pPr lvl="1"/>
            <a:r>
              <a:rPr lang="en-US" dirty="0" smtClean="0"/>
              <a:t>Incremental adoption of reuse using BPR and OOSE approaches.</a:t>
            </a:r>
          </a:p>
          <a:p>
            <a:r>
              <a:rPr lang="en-US" b="1" dirty="0" smtClean="0">
                <a:solidFill>
                  <a:srgbClr val="003300"/>
                </a:solidFill>
              </a:rPr>
              <a:t>RSEB management functions:</a:t>
            </a:r>
          </a:p>
          <a:p>
            <a:pPr lvl="1"/>
            <a:r>
              <a:rPr lang="en-US" dirty="0" smtClean="0"/>
              <a:t>Determining who shall own and maintain a particular component system.</a:t>
            </a:r>
          </a:p>
          <a:p>
            <a:pPr lvl="1"/>
            <a:r>
              <a:rPr lang="en-US" dirty="0" smtClean="0"/>
              <a:t>Collecting metrics data to manage and optimize the reuse business.</a:t>
            </a:r>
          </a:p>
          <a:p>
            <a:pPr lvl="1"/>
            <a:r>
              <a:rPr lang="en-US" dirty="0" smtClean="0"/>
              <a:t>Determining how many workers are needed over the future period in the light of the work planned, and arranging hiring, training, and salary.</a:t>
            </a:r>
          </a:p>
          <a:p>
            <a:pPr lvl="1"/>
            <a:r>
              <a:rPr lang="en-US" dirty="0" smtClean="0"/>
              <a:t>Trading off the management variables such as time to market, cost, functionality and quality, and resolving conflicts over resources and schedule.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Establishing and managing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447800"/>
            <a:ext cx="8229600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Types of organization for installing reuse business: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i="1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1. Improving Internal Process: </a:t>
            </a:r>
          </a:p>
          <a:p>
            <a:pPr marL="914400" lvl="1" indent="-4572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Those where the RSEB improves the internal business process of the organization, such as customer interaction, management information system, or manufacturing process.</a:t>
            </a:r>
          </a:p>
          <a:p>
            <a:pPr marL="914400" lvl="1" indent="-4572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Proposed reuse business exists entirely within one organization such as a bank or insurance company.</a:t>
            </a:r>
          </a:p>
          <a:p>
            <a:pPr marL="914400" lvl="1" indent="-4572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Focus is to understand the company’s present processes better in order to implement them in software more effectively.</a:t>
            </a:r>
          </a:p>
          <a:p>
            <a:pPr marL="914400" lvl="1" indent="-4572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HP produces a variety of HR, manufacturing and financial application software systems for all divisions serving the corporation’s 90000 worldwide employees.</a:t>
            </a:r>
          </a:p>
          <a:p>
            <a:pPr marL="914400" lvl="1" indent="-457200" algn="just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dirty="0" smtClean="0">
              <a:solidFill>
                <a:srgbClr val="0033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Establishing and managing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None/>
              <a:defRPr/>
            </a:pPr>
            <a:r>
              <a:rPr lang="en-US" b="1" dirty="0" smtClean="0">
                <a:solidFill>
                  <a:srgbClr val="003300"/>
                </a:solidFill>
              </a:rPr>
              <a:t>Types of organization for installing reuse business:</a:t>
            </a:r>
          </a:p>
          <a:p>
            <a:pPr marL="457200" lvl="0" indent="-457200" algn="just">
              <a:buNone/>
              <a:defRPr/>
            </a:pPr>
            <a:r>
              <a:rPr lang="en-US" i="1" dirty="0" smtClean="0">
                <a:solidFill>
                  <a:srgbClr val="003300"/>
                </a:solidFill>
              </a:rPr>
              <a:t>2. Embedded Software: 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Those in which the RSEB is to engineer software into a hardware product, such as a telecommunications switch, a defense product, a printer, or an instrument.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Proposed reuse business again exists wholly within one business.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The business produces products for external users such as HP produces laser printers and instruments.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The product is based on special purpose hardware, operated and specialized by software.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endParaRPr lang="en-US" dirty="0" smtClean="0">
              <a:solidFill>
                <a:srgbClr val="0033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Establishing and managing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None/>
              <a:defRPr/>
            </a:pPr>
            <a:r>
              <a:rPr lang="en-US" b="1" dirty="0" smtClean="0">
                <a:solidFill>
                  <a:srgbClr val="003300"/>
                </a:solidFill>
              </a:rPr>
              <a:t>Types of organization for installing reuse business:</a:t>
            </a:r>
          </a:p>
          <a:p>
            <a:pPr marL="457200" indent="-457200" algn="just">
              <a:buNone/>
              <a:defRPr/>
            </a:pPr>
            <a:r>
              <a:rPr lang="en-US" b="1" i="1" dirty="0" smtClean="0">
                <a:solidFill>
                  <a:srgbClr val="003300"/>
                </a:solidFill>
              </a:rPr>
              <a:t>3. </a:t>
            </a:r>
            <a:r>
              <a:rPr lang="en-US" i="1" dirty="0" smtClean="0">
                <a:solidFill>
                  <a:srgbClr val="003300"/>
                </a:solidFill>
              </a:rPr>
              <a:t>Software House: 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Those in which the RSEB develops application system for outsourcing customers.</a:t>
            </a:r>
          </a:p>
          <a:p>
            <a:pPr marL="857250" lvl="1" indent="-457200"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003300"/>
                </a:solidFill>
              </a:rPr>
              <a:t>The reuse business exists as an organization separate from the user of the software, which has two patterns:</a:t>
            </a:r>
          </a:p>
          <a:p>
            <a:pPr marL="1257300" lvl="2" indent="-457200" algn="just"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One is an outsourcing vendor that contracts to develop and operate the information services of a client such as Anderson consulting.</a:t>
            </a:r>
          </a:p>
          <a:p>
            <a:pPr marL="1257300" lvl="2" indent="-457200" algn="just">
              <a:defRPr/>
            </a:pPr>
            <a:r>
              <a:rPr lang="en-US" sz="2000" dirty="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Take  full responsibility for building systems under contract to a client in one industry segment such as power utilities, financial services etc., but the client will operate the system. </a:t>
            </a:r>
          </a:p>
          <a:p>
            <a:pPr marL="857250" lvl="1" indent="-457200" algn="just">
              <a:buAutoNum type="arabicPeriod"/>
              <a:defRPr/>
            </a:pPr>
            <a:endParaRPr lang="en-US" dirty="0" smtClean="0">
              <a:solidFill>
                <a:srgbClr val="0033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00"/>
                </a:solidFill>
              </a:rPr>
              <a:t>Establishing and managing reuse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3300"/>
                </a:solidFill>
              </a:rPr>
              <a:t>Types of organization for installing reuse business:</a:t>
            </a:r>
          </a:p>
          <a:p>
            <a:pPr lvl="0">
              <a:buNone/>
            </a:pPr>
            <a:r>
              <a:rPr lang="en-US" i="1" dirty="0" smtClean="0">
                <a:solidFill>
                  <a:srgbClr val="003300"/>
                </a:solidFill>
              </a:rPr>
              <a:t>4. Software Product Vendor: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rgbClr val="003300"/>
                </a:solidFill>
              </a:rPr>
              <a:t>Those in which the RSEB develops software products.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rgbClr val="003300"/>
                </a:solidFill>
              </a:rPr>
              <a:t>Software products are sold to customers either off the shelf in retail establishments or though direct sale channels.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rgbClr val="003300"/>
                </a:solidFill>
              </a:rPr>
              <a:t>For example, MS-Office, utility software, multimedia software etc.</a:t>
            </a:r>
          </a:p>
          <a:p>
            <a:pPr lvl="1">
              <a:buFont typeface="Arial" pitchFamily="34" charset="0"/>
              <a:buChar char="•"/>
            </a:pPr>
            <a:endParaRPr lang="en-US" dirty="0" smtClean="0">
              <a:solidFill>
                <a:srgbClr val="003300"/>
              </a:solidFill>
            </a:endParaRPr>
          </a:p>
          <a:p>
            <a:endParaRPr lang="en-US" dirty="0" smtClean="0">
              <a:solidFill>
                <a:srgbClr val="0033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Design a layered architecture of admission process, which is done at SCS&amp;IT. The admission links are available at SCS&amp;IT site, which is linked to MPONLINE web portal. Identify layers, systems, subsystems and the lower level system configurations.     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1602</Words>
  <Application>Microsoft Office PowerPoint</Application>
  <PresentationFormat>On-screen Show (4:3)</PresentationFormat>
  <Paragraphs>176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Custom Design</vt:lpstr>
      <vt:lpstr>Reuse Driven Software Engineering Business (RSEB) </vt:lpstr>
      <vt:lpstr>RSEB</vt:lpstr>
      <vt:lpstr>Making reuse cost effective</vt:lpstr>
      <vt:lpstr>Reuse business model characteristics </vt:lpstr>
      <vt:lpstr>Reuse business model characteristics </vt:lpstr>
      <vt:lpstr>Architecting components and applications</vt:lpstr>
      <vt:lpstr>Architecting components and applications</vt:lpstr>
      <vt:lpstr>Architecting components and applications: A Layered Approach</vt:lpstr>
      <vt:lpstr>Architecting components and applications</vt:lpstr>
      <vt:lpstr>Reuse based Software engineering processes</vt:lpstr>
      <vt:lpstr>Managing the reuse business</vt:lpstr>
      <vt:lpstr>Managing the reuse business</vt:lpstr>
      <vt:lpstr>Managing the reuse business</vt:lpstr>
      <vt:lpstr>Managing the reuse business</vt:lpstr>
      <vt:lpstr>Managing the reuse business</vt:lpstr>
      <vt:lpstr>Establishing and managing reuse business</vt:lpstr>
      <vt:lpstr>Establishing and managing reuse business</vt:lpstr>
      <vt:lpstr>Establishing and managing reuse business</vt:lpstr>
      <vt:lpstr>Establishing and managing reuse business</vt:lpstr>
      <vt:lpstr>Establishing and managing reuse business</vt:lpstr>
      <vt:lpstr>Exercise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Reuse Driven Software Engineering (RSEB) </dc:title>
  <dc:creator/>
  <cp:lastModifiedBy>admin</cp:lastModifiedBy>
  <cp:revision>96</cp:revision>
  <dcterms:created xsi:type="dcterms:W3CDTF">2006-08-16T00:00:00Z</dcterms:created>
  <dcterms:modified xsi:type="dcterms:W3CDTF">2019-01-23T07:08:35Z</dcterms:modified>
</cp:coreProperties>
</file>