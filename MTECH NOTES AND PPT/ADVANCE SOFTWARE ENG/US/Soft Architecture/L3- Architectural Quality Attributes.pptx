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5" r:id="rId2"/>
    <p:sldId id="267" r:id="rId3"/>
    <p:sldId id="266" r:id="rId4"/>
    <p:sldId id="268" r:id="rId5"/>
    <p:sldId id="269" r:id="rId6"/>
    <p:sldId id="271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0AB6"/>
    <a:srgbClr val="A50021"/>
    <a:srgbClr val="0000FF"/>
    <a:srgbClr val="000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22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E5BDD-D9E0-4029-BEE3-D71C9D0FE685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F1181-0740-451E-8463-18B0B82439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078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B7778-3C8A-438C-9D83-C711A509E1DD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69B11-87FB-47D7-9E93-FAE142DAF1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205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51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A4DB-C97B-4B54-B6C3-67EBFA6F073D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123EC-683A-446E-93D8-17EE58FBE7AD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8C0B-7E76-4DA1-9BED-D2307808EF54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97AF0-F126-4517-987F-756E61752FB5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BB22-A458-476F-A661-D1D9E13B4919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AF46-EE3F-420A-A9D0-75B9B9FDB88C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49879-3A1A-4973-8187-3321682A1C3D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A42E3-9E3A-42BC-85C6-8FC6662EC70A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99EFC-17C9-4287-A262-3CEF26D8D3F5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B8E9-13C7-478B-BF1F-4650ADB58CE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24B76-FD85-44EF-9D72-6CCBFE7EB75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87C40-B27D-4B7C-BF89-53A880DFCD28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@Dr. Ugrasen Suman, Professor, SCSIT, DAVV Indore (MP),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3459163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400" b="1" dirty="0">
                <a:solidFill>
                  <a:srgbClr val="A50021"/>
                </a:solidFill>
                <a:latin typeface="+mj-lt"/>
              </a:rPr>
              <a:t>Architectural Quality Attributes</a:t>
            </a:r>
            <a:endParaRPr lang="en-US" sz="4400" b="1" dirty="0">
              <a:solidFill>
                <a:srgbClr val="A50021"/>
              </a:solidFill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What is </a:t>
            </a:r>
            <a:r>
              <a:rPr lang="en-IN" sz="3200" b="1" dirty="0" smtClean="0">
                <a:solidFill>
                  <a:srgbClr val="A50021"/>
                </a:solidFill>
              </a:rPr>
              <a:t>Quality?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dirty="0" smtClean="0"/>
              <a:t>Quality is a degree </a:t>
            </a:r>
            <a:r>
              <a:rPr lang="en-US" sz="2400" dirty="0"/>
              <a:t>to which a system satisfies the stated and implied needs of its stakeholders, providing </a:t>
            </a:r>
            <a:r>
              <a:rPr lang="en-US" sz="2400" dirty="0" smtClean="0"/>
              <a:t>value.</a:t>
            </a:r>
          </a:p>
          <a:p>
            <a:r>
              <a:rPr lang="en-IN" sz="2400" dirty="0" smtClean="0"/>
              <a:t>Quality Attributes (QAs) </a:t>
            </a:r>
            <a:r>
              <a:rPr lang="en-IN" sz="2400" dirty="0"/>
              <a:t>are all </a:t>
            </a:r>
            <a:r>
              <a:rPr lang="en-IN" sz="2400" dirty="0" smtClean="0"/>
              <a:t>good </a:t>
            </a:r>
            <a:r>
              <a:rPr lang="en-US" sz="2400" dirty="0" smtClean="0"/>
              <a:t>...</a:t>
            </a:r>
            <a:r>
              <a:rPr lang="en-US" sz="2400" i="1" dirty="0"/>
              <a:t>but value depends on the project &amp; </a:t>
            </a:r>
            <a:r>
              <a:rPr lang="en-US" sz="2400" i="1" dirty="0" smtClean="0"/>
              <a:t>stakeholder</a:t>
            </a:r>
          </a:p>
          <a:p>
            <a:r>
              <a:rPr lang="en-IN" sz="2400" dirty="0"/>
              <a:t>QAs are not </a:t>
            </a:r>
            <a:r>
              <a:rPr lang="en-IN" sz="2400" dirty="0" smtClean="0"/>
              <a:t>independent: Some </a:t>
            </a:r>
            <a:r>
              <a:rPr lang="en-IN" sz="2400" dirty="0"/>
              <a:t>qualities can conflict</a:t>
            </a:r>
          </a:p>
          <a:p>
            <a:pPr lvl="1"/>
            <a:r>
              <a:rPr lang="en-US" sz="2400" dirty="0" smtClean="0"/>
              <a:t>Example</a:t>
            </a:r>
            <a:r>
              <a:rPr lang="en-US" sz="2400" dirty="0"/>
              <a:t>: A very secure system can be less </a:t>
            </a:r>
            <a:r>
              <a:rPr lang="en-US" sz="2400" dirty="0" smtClean="0"/>
              <a:t>usable</a:t>
            </a:r>
          </a:p>
          <a:p>
            <a:r>
              <a:rPr lang="en-US" sz="2400" dirty="0"/>
              <a:t>There is always a </a:t>
            </a:r>
            <a:r>
              <a:rPr lang="en-US" sz="2400" dirty="0" smtClean="0"/>
              <a:t>price</a:t>
            </a:r>
          </a:p>
          <a:p>
            <a:pPr lvl="1"/>
            <a:r>
              <a:rPr lang="en-IN" sz="2400" dirty="0" smtClean="0"/>
              <a:t>What </a:t>
            </a:r>
            <a:r>
              <a:rPr lang="en-IN" sz="2400" dirty="0"/>
              <a:t>is your budget?</a:t>
            </a:r>
            <a:endParaRPr lang="en-US" sz="2400" i="1" dirty="0" smtClean="0"/>
          </a:p>
          <a:p>
            <a:r>
              <a:rPr lang="en-US" sz="2400" dirty="0">
                <a:solidFill>
                  <a:srgbClr val="2B0AB6"/>
                </a:solidFill>
              </a:rPr>
              <a:t>There is no single </a:t>
            </a:r>
            <a:r>
              <a:rPr lang="en-US" sz="2400" dirty="0" smtClean="0">
                <a:solidFill>
                  <a:srgbClr val="2B0AB6"/>
                </a:solidFill>
              </a:rPr>
              <a:t>perfect system </a:t>
            </a:r>
            <a:r>
              <a:rPr lang="en-US" sz="2400" dirty="0">
                <a:solidFill>
                  <a:srgbClr val="2B0AB6"/>
                </a:solidFill>
              </a:rPr>
              <a:t>or architecture!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76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dirty="0" smtClean="0"/>
              <a:t>Also known as </a:t>
            </a:r>
            <a:r>
              <a:rPr lang="en-IN" sz="2400" dirty="0" smtClean="0"/>
              <a:t>Architecture characteristics or Non-functional requirements</a:t>
            </a:r>
          </a:p>
          <a:p>
            <a:r>
              <a:rPr lang="en-IN" sz="2400" dirty="0" smtClean="0">
                <a:solidFill>
                  <a:srgbClr val="A50021"/>
                </a:solidFill>
              </a:rPr>
              <a:t>Requirements: </a:t>
            </a:r>
          </a:p>
          <a:p>
            <a:pPr lvl="1"/>
            <a:r>
              <a:rPr lang="en-IN" sz="2400" i="1" dirty="0" smtClean="0">
                <a:solidFill>
                  <a:srgbClr val="2B0AB6"/>
                </a:solidFill>
              </a:rPr>
              <a:t>Functional </a:t>
            </a:r>
          </a:p>
          <a:p>
            <a:pPr lvl="1"/>
            <a:r>
              <a:rPr lang="en-IN" sz="2400" i="1" dirty="0" smtClean="0">
                <a:solidFill>
                  <a:srgbClr val="2B0AB6"/>
                </a:solidFill>
              </a:rPr>
              <a:t>Non-functional requirements (Quality attributes)</a:t>
            </a:r>
          </a:p>
          <a:p>
            <a:pPr lvl="1"/>
            <a:r>
              <a:rPr lang="en-US" sz="2400" i="1" dirty="0" smtClean="0">
                <a:solidFill>
                  <a:srgbClr val="2B0AB6"/>
                </a:solidFill>
              </a:rPr>
              <a:t>Constraints</a:t>
            </a:r>
            <a:r>
              <a:rPr lang="en-US" sz="2400" i="1" dirty="0">
                <a:solidFill>
                  <a:srgbClr val="2B0AB6"/>
                </a:solidFill>
              </a:rPr>
              <a:t>:</a:t>
            </a:r>
            <a:r>
              <a:rPr lang="en-US" sz="2400" i="1" dirty="0" smtClean="0">
                <a:solidFill>
                  <a:srgbClr val="2B0AB6"/>
                </a:solidFill>
              </a:rPr>
              <a:t> </a:t>
            </a:r>
            <a:r>
              <a:rPr lang="en-US" sz="2400" i="1" dirty="0">
                <a:solidFill>
                  <a:srgbClr val="2B0AB6"/>
                </a:solidFill>
              </a:rPr>
              <a:t>A design decision that has already been made</a:t>
            </a:r>
            <a:endParaRPr lang="en-IN" sz="2400" i="1" dirty="0">
              <a:solidFill>
                <a:srgbClr val="2B0AB6"/>
              </a:solidFill>
            </a:endParaRPr>
          </a:p>
          <a:p>
            <a:r>
              <a:rPr lang="en-US" sz="2400" dirty="0"/>
              <a:t>Functionality has a strange relationship to architecture:</a:t>
            </a:r>
          </a:p>
          <a:p>
            <a:pPr lvl="1"/>
            <a:r>
              <a:rPr lang="en-US" sz="2000" dirty="0"/>
              <a:t>It does not determine architecture; </a:t>
            </a:r>
          </a:p>
          <a:p>
            <a:pPr lvl="1"/>
            <a:r>
              <a:rPr lang="en-US" sz="2000" dirty="0"/>
              <a:t>If functionality were the only requirement, the system could exist as a single monolithic module with no internal structure at all</a:t>
            </a:r>
          </a:p>
          <a:p>
            <a:pPr lvl="1"/>
            <a:r>
              <a:rPr lang="en-US" sz="2000" dirty="0">
                <a:solidFill>
                  <a:srgbClr val="2B0AB6"/>
                </a:solidFill>
              </a:rPr>
              <a:t>Functionality and quality attributes are orthogonal</a:t>
            </a:r>
            <a:endParaRPr lang="en-US" sz="2000" dirty="0" smtClean="0">
              <a:solidFill>
                <a:srgbClr val="2B0AB6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Quality </a:t>
            </a:r>
            <a:r>
              <a:rPr lang="en-US" sz="2400" dirty="0"/>
              <a:t>attributes annotate (qualify) the </a:t>
            </a:r>
            <a:r>
              <a:rPr lang="en-US" sz="2400" dirty="0" smtClean="0"/>
              <a:t>functionality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Quality attributes influence the architecture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399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Quality attribute scenario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dirty="0"/>
              <a:t>QAs by themselves are not </a:t>
            </a:r>
            <a:r>
              <a:rPr lang="en-US" sz="2400" dirty="0" smtClean="0"/>
              <a:t>enough and these vary </a:t>
            </a:r>
            <a:r>
              <a:rPr lang="en-US" sz="2400" dirty="0"/>
              <a:t>widely</a:t>
            </a:r>
          </a:p>
          <a:p>
            <a:r>
              <a:rPr lang="en-IN" sz="2400" dirty="0" smtClean="0"/>
              <a:t>They </a:t>
            </a:r>
            <a:r>
              <a:rPr lang="en-IN" sz="2400" dirty="0"/>
              <a:t>are non-operational</a:t>
            </a:r>
          </a:p>
          <a:p>
            <a:r>
              <a:rPr lang="en-US" sz="2400" dirty="0" smtClean="0"/>
              <a:t>QA scenario: </a:t>
            </a:r>
            <a:r>
              <a:rPr lang="en-US" sz="2400" dirty="0"/>
              <a:t>A common form to specify QA </a:t>
            </a:r>
            <a:r>
              <a:rPr lang="en-US" sz="2400" dirty="0" smtClean="0"/>
              <a:t>requirements</a:t>
            </a:r>
          </a:p>
          <a:p>
            <a:r>
              <a:rPr lang="en-US" sz="2400" dirty="0"/>
              <a:t>Quality attribute </a:t>
            </a:r>
            <a:r>
              <a:rPr lang="en-US" sz="2400" dirty="0" smtClean="0"/>
              <a:t>scenarios describe </a:t>
            </a:r>
            <a:r>
              <a:rPr lang="en-US" sz="2400" dirty="0"/>
              <a:t>a stimulus of the system and a measurable response to the stimulus </a:t>
            </a:r>
          </a:p>
          <a:p>
            <a:pPr lvl="1"/>
            <a:r>
              <a:rPr lang="en-US" sz="2400" dirty="0">
                <a:solidFill>
                  <a:srgbClr val="2B0AB6"/>
                </a:solidFill>
              </a:rPr>
              <a:t>Stimulus = event triggered by a person or system </a:t>
            </a:r>
          </a:p>
          <a:p>
            <a:pPr lvl="1"/>
            <a:r>
              <a:rPr lang="en-US" sz="2400" dirty="0">
                <a:solidFill>
                  <a:srgbClr val="2B0AB6"/>
                </a:solidFill>
              </a:rPr>
              <a:t>The stimulus generates a response </a:t>
            </a:r>
          </a:p>
          <a:p>
            <a:r>
              <a:rPr lang="en-IN" sz="2400" dirty="0"/>
              <a:t>Must be testable </a:t>
            </a:r>
          </a:p>
          <a:p>
            <a:pPr lvl="1"/>
            <a:r>
              <a:rPr lang="en-US" sz="2400" dirty="0">
                <a:solidFill>
                  <a:srgbClr val="2B0AB6"/>
                </a:solidFill>
              </a:rPr>
              <a:t>Response must be externally visible and measurable 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5671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Components of QA scenario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b="1" dirty="0"/>
              <a:t>Source</a:t>
            </a:r>
            <a:r>
              <a:rPr lang="en-US" sz="2400" dirty="0"/>
              <a:t>: Person or system that initiates the stimulus </a:t>
            </a:r>
          </a:p>
          <a:p>
            <a:r>
              <a:rPr lang="en-US" sz="2400" b="1" dirty="0"/>
              <a:t>Stimulus</a:t>
            </a:r>
            <a:r>
              <a:rPr lang="en-US" sz="2400" dirty="0"/>
              <a:t>: Events that requires the system to respond </a:t>
            </a:r>
          </a:p>
          <a:p>
            <a:r>
              <a:rPr lang="en-US" sz="2400" b="1" dirty="0"/>
              <a:t>Artifact</a:t>
            </a:r>
            <a:r>
              <a:rPr lang="en-US" sz="2400" dirty="0"/>
              <a:t>: Part of the system or the whole system </a:t>
            </a:r>
          </a:p>
          <a:p>
            <a:r>
              <a:rPr lang="en-IN" sz="2400" b="1" dirty="0"/>
              <a:t>Response</a:t>
            </a:r>
            <a:r>
              <a:rPr lang="en-IN" sz="2400" dirty="0"/>
              <a:t>: Externally visible action </a:t>
            </a:r>
          </a:p>
          <a:p>
            <a:r>
              <a:rPr lang="en-US" sz="2400" b="1" dirty="0"/>
              <a:t>Response measure</a:t>
            </a:r>
            <a:r>
              <a:rPr lang="en-US" sz="2400" dirty="0"/>
              <a:t>: Success criteria for the scenario </a:t>
            </a:r>
            <a:r>
              <a:rPr lang="en-US" sz="2400" dirty="0" smtClean="0"/>
              <a:t>should </a:t>
            </a:r>
            <a:r>
              <a:rPr lang="en-US" sz="2400" dirty="0"/>
              <a:t>be specific and measurable </a:t>
            </a:r>
          </a:p>
          <a:p>
            <a:r>
              <a:rPr lang="en-IN" sz="2400" b="1" dirty="0"/>
              <a:t>Environment</a:t>
            </a:r>
            <a:r>
              <a:rPr lang="en-IN" sz="2400" dirty="0"/>
              <a:t>: Operational </a:t>
            </a:r>
            <a:r>
              <a:rPr lang="en-IN" sz="2400" dirty="0" smtClean="0"/>
              <a:t>circumstances s</a:t>
            </a:r>
            <a:r>
              <a:rPr lang="en-US" sz="2400" dirty="0" err="1" smtClean="0"/>
              <a:t>hould</a:t>
            </a:r>
            <a:r>
              <a:rPr lang="en-US" sz="2400" dirty="0" smtClean="0"/>
              <a:t> </a:t>
            </a:r>
            <a:r>
              <a:rPr lang="en-US" sz="2400" dirty="0"/>
              <a:t>be always defined (even if it is "normal") </a:t>
            </a:r>
            <a:endParaRPr lang="en-US" sz="2400" dirty="0">
              <a:solidFill>
                <a:srgbClr val="2B0AB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724400"/>
            <a:ext cx="6781800" cy="1555750"/>
          </a:xfrm>
          <a:prstGeom prst="rect">
            <a:avLst/>
          </a:prstGeom>
        </p:spPr>
      </p:pic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761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QA scenario, </a:t>
            </a:r>
            <a:r>
              <a:rPr lang="en-IN" sz="3200" b="1" dirty="0">
                <a:solidFill>
                  <a:srgbClr val="2B0AB6"/>
                </a:solidFill>
              </a:rPr>
              <a:t>example 1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b="1" dirty="0"/>
              <a:t>Performance: </a:t>
            </a:r>
            <a:r>
              <a:rPr lang="en-US" sz="2400" dirty="0"/>
              <a:t>If there are 20 concurrent clients, the response time should be less than 1 sec</a:t>
            </a:r>
            <a:r>
              <a:rPr lang="en-US" sz="2400" dirty="0" smtClean="0"/>
              <a:t>. under </a:t>
            </a:r>
            <a:r>
              <a:rPr lang="en-US" sz="2400" dirty="0"/>
              <a:t>normal operation</a:t>
            </a:r>
            <a:endParaRPr lang="en-US" sz="2400" dirty="0">
              <a:solidFill>
                <a:srgbClr val="2B0AB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658100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67" y="4572000"/>
            <a:ext cx="7543800" cy="1487024"/>
          </a:xfrm>
          <a:prstGeom prst="rect">
            <a:avLst/>
          </a:prstGeom>
        </p:spPr>
      </p:pic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6506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QA Scenario structure for </a:t>
            </a:r>
            <a:r>
              <a:rPr lang="en-IN" sz="3200" b="1" dirty="0">
                <a:solidFill>
                  <a:srgbClr val="2B0AB6"/>
                </a:solidFill>
              </a:rPr>
              <a:t>availability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8229601" cy="4038600"/>
          </a:xfrm>
          <a:prstGeom prst="rect">
            <a:avLst/>
          </a:prstGeom>
        </p:spPr>
      </p:pic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366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Types of QA scenarios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2B0AB6"/>
                </a:solidFill>
              </a:rPr>
              <a:t>Usage scenarios</a:t>
            </a:r>
          </a:p>
          <a:p>
            <a:pPr lvl="1"/>
            <a:r>
              <a:rPr lang="en-US" sz="2400" dirty="0"/>
              <a:t>The system is used (any use case or system function is executed)</a:t>
            </a:r>
          </a:p>
          <a:p>
            <a:pPr lvl="1"/>
            <a:r>
              <a:rPr lang="en-US" sz="2400" dirty="0"/>
              <a:t>Describe how the system behaves in these cases </a:t>
            </a:r>
          </a:p>
          <a:p>
            <a:pPr lvl="1"/>
            <a:r>
              <a:rPr lang="en-US" sz="2400" dirty="0"/>
              <a:t>Runtime, performance, memory consumption, throughput,...</a:t>
            </a:r>
          </a:p>
          <a:p>
            <a:r>
              <a:rPr lang="en-IN" sz="2400" dirty="0">
                <a:solidFill>
                  <a:srgbClr val="2B0AB6"/>
                </a:solidFill>
              </a:rPr>
              <a:t>Change (or modification) scenarios</a:t>
            </a:r>
          </a:p>
          <a:p>
            <a:pPr lvl="1"/>
            <a:r>
              <a:rPr lang="en-US" sz="2400" dirty="0"/>
              <a:t>Any component within the system, its environment or its operational infrastructure changes</a:t>
            </a:r>
          </a:p>
          <a:p>
            <a:r>
              <a:rPr lang="en-IN" sz="2400" dirty="0">
                <a:solidFill>
                  <a:srgbClr val="2B0AB6"/>
                </a:solidFill>
              </a:rPr>
              <a:t>Failure scenarios: </a:t>
            </a:r>
          </a:p>
          <a:p>
            <a:pPr lvl="1"/>
            <a:r>
              <a:rPr lang="en-US" sz="2400" dirty="0"/>
              <a:t>Some part of the system, infrastructure or </a:t>
            </a:r>
            <a:r>
              <a:rPr lang="en-US" sz="2400" dirty="0" err="1"/>
              <a:t>neighbours</a:t>
            </a:r>
            <a:r>
              <a:rPr lang="en-US" sz="2400" dirty="0"/>
              <a:t> </a:t>
            </a:r>
            <a:r>
              <a:rPr lang="en-US" sz="2400" dirty="0" smtClean="0"/>
              <a:t>fail</a:t>
            </a:r>
          </a:p>
          <a:p>
            <a:r>
              <a:rPr lang="en-IN" sz="2400" dirty="0" smtClean="0"/>
              <a:t>QA Scenarios </a:t>
            </a:r>
            <a:r>
              <a:rPr lang="en-IN" sz="2400" dirty="0"/>
              <a:t>should be </a:t>
            </a:r>
            <a:r>
              <a:rPr lang="en-IN" sz="2400" dirty="0" smtClean="0"/>
              <a:t>prioritized (</a:t>
            </a:r>
            <a:r>
              <a:rPr lang="en-IN" sz="2400" dirty="0"/>
              <a:t>Low</a:t>
            </a:r>
            <a:r>
              <a:rPr lang="en-IN" sz="2400" dirty="0" smtClean="0"/>
              <a:t>/ Medium/ High).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2030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 smtClean="0">
                <a:solidFill>
                  <a:srgbClr val="A50021"/>
                </a:solidFill>
              </a:rPr>
              <a:t>Quality attributes/ Characteristics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IN" sz="2200" dirty="0">
                <a:solidFill>
                  <a:srgbClr val="2B0AB6"/>
                </a:solidFill>
              </a:rPr>
              <a:t>Operational Architecture </a:t>
            </a:r>
            <a:r>
              <a:rPr lang="en-IN" sz="2200" dirty="0" smtClean="0">
                <a:solidFill>
                  <a:srgbClr val="2B0AB6"/>
                </a:solidFill>
              </a:rPr>
              <a:t>Characteristics</a:t>
            </a:r>
          </a:p>
          <a:p>
            <a:pPr lvl="1"/>
            <a:r>
              <a:rPr lang="en-US" sz="2200" dirty="0"/>
              <a:t>Operational architecture characteristics heavily overlap with operations and </a:t>
            </a:r>
            <a:r>
              <a:rPr lang="en-US" sz="2200" dirty="0" err="1" smtClean="0"/>
              <a:t>DevOps</a:t>
            </a:r>
            <a:r>
              <a:rPr lang="en-US" sz="2200" dirty="0" smtClean="0"/>
              <a:t> concerns</a:t>
            </a:r>
            <a:r>
              <a:rPr lang="en-US" sz="2200" dirty="0"/>
              <a:t>, forming the intersection of those concerns in many software projects.</a:t>
            </a:r>
            <a:endParaRPr lang="en-IN" sz="2200" dirty="0" smtClean="0"/>
          </a:p>
          <a:p>
            <a:r>
              <a:rPr lang="en-IN" sz="2200" dirty="0">
                <a:solidFill>
                  <a:srgbClr val="2B0AB6"/>
                </a:solidFill>
              </a:rPr>
              <a:t>Structural Architecture </a:t>
            </a:r>
            <a:r>
              <a:rPr lang="en-IN" sz="2200" dirty="0" smtClean="0">
                <a:solidFill>
                  <a:srgbClr val="2B0AB6"/>
                </a:solidFill>
              </a:rPr>
              <a:t>Characteristics</a:t>
            </a:r>
          </a:p>
          <a:p>
            <a:pPr lvl="1"/>
            <a:r>
              <a:rPr lang="en-US" sz="2200" dirty="0"/>
              <a:t>Architects must concern themselves with code structure. </a:t>
            </a:r>
            <a:r>
              <a:rPr lang="en-US" sz="2200" dirty="0" smtClean="0"/>
              <a:t>Such cases may be code quality concerns like good modularity, controlled coupling between components, readable code, and a host of other internal </a:t>
            </a:r>
            <a:r>
              <a:rPr lang="en-IN" sz="2200" dirty="0" smtClean="0"/>
              <a:t>quality assessments.</a:t>
            </a:r>
          </a:p>
          <a:p>
            <a:r>
              <a:rPr lang="en-IN" sz="2200" dirty="0" smtClean="0">
                <a:solidFill>
                  <a:srgbClr val="2B0AB6"/>
                </a:solidFill>
              </a:rPr>
              <a:t>Cross-Cutting Architecture Characteristics</a:t>
            </a:r>
          </a:p>
          <a:p>
            <a:pPr lvl="1"/>
            <a:r>
              <a:rPr lang="en-US" sz="2200" dirty="0"/>
              <a:t>While many architecture characteristics fall into easily recognizable categories, </a:t>
            </a:r>
            <a:r>
              <a:rPr lang="en-US" sz="2200" dirty="0" smtClean="0"/>
              <a:t>many fall </a:t>
            </a:r>
            <a:r>
              <a:rPr lang="en-US" sz="2200" dirty="0"/>
              <a:t>outside or </a:t>
            </a:r>
            <a:r>
              <a:rPr lang="en-US" sz="2200" dirty="0" smtClean="0"/>
              <a:t>defy categorization </a:t>
            </a:r>
            <a:r>
              <a:rPr lang="en-US" sz="2200" dirty="0"/>
              <a:t>yet form important design constraints and considerations.</a:t>
            </a:r>
            <a:endParaRPr lang="en-US" sz="2200" dirty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110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778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Quality attributes/ Characteristics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289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Operational </a:t>
            </a:r>
            <a:r>
              <a:rPr lang="en-IN" sz="2400" b="1" dirty="0">
                <a:solidFill>
                  <a:srgbClr val="2B0AB6"/>
                </a:solidFill>
              </a:rPr>
              <a:t>Architecture </a:t>
            </a:r>
            <a:r>
              <a:rPr lang="en-IN" sz="2400" b="1" dirty="0" smtClean="0">
                <a:solidFill>
                  <a:srgbClr val="2B0AB6"/>
                </a:solidFill>
              </a:rPr>
              <a:t>Characteristics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Availability:</a:t>
            </a:r>
            <a:r>
              <a:rPr lang="en-US" sz="1800" dirty="0" smtClean="0"/>
              <a:t> </a:t>
            </a:r>
            <a:r>
              <a:rPr lang="en-US" sz="1800" dirty="0"/>
              <a:t>How long the system will need to be available (if 24/7, steps need to be in place to allow the system to </a:t>
            </a:r>
            <a:r>
              <a:rPr lang="en-US" sz="1800" dirty="0" smtClean="0"/>
              <a:t>be up </a:t>
            </a:r>
            <a:r>
              <a:rPr lang="en-US" sz="1800" dirty="0"/>
              <a:t>and running quickly in case of any failure).</a:t>
            </a:r>
          </a:p>
          <a:p>
            <a:r>
              <a:rPr lang="en-IN" sz="1800" dirty="0" smtClean="0">
                <a:solidFill>
                  <a:srgbClr val="2B0AB6"/>
                </a:solidFill>
              </a:rPr>
              <a:t>Continuity:</a:t>
            </a:r>
            <a:r>
              <a:rPr lang="en-IN" sz="1800" dirty="0" smtClean="0"/>
              <a:t> Disaster </a:t>
            </a:r>
            <a:r>
              <a:rPr lang="en-IN" sz="1800" dirty="0"/>
              <a:t>recovery capability.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Performance: </a:t>
            </a:r>
            <a:r>
              <a:rPr lang="en-US" sz="1800" dirty="0" smtClean="0"/>
              <a:t>Includes </a:t>
            </a:r>
            <a:r>
              <a:rPr lang="en-US" sz="1800" dirty="0"/>
              <a:t>stress testing, peak analysis, analysis of the frequency of functions used, capacity required, </a:t>
            </a:r>
            <a:r>
              <a:rPr lang="en-US" sz="1800" dirty="0" smtClean="0"/>
              <a:t>and response </a:t>
            </a:r>
            <a:r>
              <a:rPr lang="en-US" sz="1800" dirty="0"/>
              <a:t>times. Performance acceptance sometimes requires an exercise of its own, taking months </a:t>
            </a:r>
            <a:r>
              <a:rPr lang="en-US" sz="1800" dirty="0" smtClean="0"/>
              <a:t>to </a:t>
            </a:r>
            <a:r>
              <a:rPr lang="en-IN" sz="1800" dirty="0" smtClean="0"/>
              <a:t>complete</a:t>
            </a:r>
            <a:r>
              <a:rPr lang="en-IN" sz="1800" dirty="0"/>
              <a:t>.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Recoverability:</a:t>
            </a:r>
            <a:r>
              <a:rPr lang="en-US" sz="1800" dirty="0" smtClean="0"/>
              <a:t> </a:t>
            </a:r>
            <a:r>
              <a:rPr lang="en-US" sz="1800" dirty="0"/>
              <a:t>Business continuity requirements (e.g., in case of a disaster, how quickly is the system required to be </a:t>
            </a:r>
            <a:r>
              <a:rPr lang="en-US" sz="1800" dirty="0" smtClean="0"/>
              <a:t>online again</a:t>
            </a:r>
            <a:r>
              <a:rPr lang="en-US" sz="1800" dirty="0"/>
              <a:t>?). This will affect the backup strategy and requirements for duplicated hardware.</a:t>
            </a:r>
          </a:p>
          <a:p>
            <a:r>
              <a:rPr lang="en-IN" sz="1800" dirty="0">
                <a:solidFill>
                  <a:srgbClr val="2B0AB6"/>
                </a:solidFill>
              </a:rPr>
              <a:t>Reliability</a:t>
            </a:r>
            <a:r>
              <a:rPr lang="en-IN" sz="1800" dirty="0" smtClean="0">
                <a:solidFill>
                  <a:srgbClr val="2B0AB6"/>
                </a:solidFill>
              </a:rPr>
              <a:t>/ safety: </a:t>
            </a:r>
            <a:r>
              <a:rPr lang="en-US" sz="1800" dirty="0" smtClean="0"/>
              <a:t>Assess </a:t>
            </a:r>
            <a:r>
              <a:rPr lang="en-US" sz="1800" dirty="0"/>
              <a:t>if the system needs to be fail-safe, or if it is mission critical in a way that affects lives. If it fails, </a:t>
            </a:r>
            <a:r>
              <a:rPr lang="en-US" sz="1800" dirty="0" smtClean="0"/>
              <a:t>will it </a:t>
            </a:r>
            <a:r>
              <a:rPr lang="en-US" sz="1800" dirty="0"/>
              <a:t>cost the company large sums of money?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Robustness:</a:t>
            </a:r>
            <a:r>
              <a:rPr lang="en-US" sz="1800" dirty="0" smtClean="0"/>
              <a:t> Ability </a:t>
            </a:r>
            <a:r>
              <a:rPr lang="en-US" sz="1800" dirty="0"/>
              <a:t>to handle error and boundary conditions while running if the internet connection goes down or </a:t>
            </a:r>
            <a:r>
              <a:rPr lang="en-US" sz="1800" dirty="0" smtClean="0"/>
              <a:t>if there’s </a:t>
            </a:r>
            <a:r>
              <a:rPr lang="en-US" sz="1800" dirty="0"/>
              <a:t>a power outage or hardware failure.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Scalability:</a:t>
            </a:r>
            <a:r>
              <a:rPr lang="en-US" sz="1800" dirty="0" smtClean="0"/>
              <a:t> </a:t>
            </a:r>
            <a:r>
              <a:rPr lang="en-US" sz="1800" dirty="0"/>
              <a:t>Ability for the system to perform and operate as the number of users or requests increases.</a:t>
            </a:r>
            <a:endParaRPr lang="en-IN" sz="1800" dirty="0" smtClean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26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Quality attributes/ Characteristics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0762"/>
            <a:ext cx="8382000" cy="5335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Structural </a:t>
            </a:r>
            <a:r>
              <a:rPr lang="en-IN" sz="2400" b="1" dirty="0">
                <a:solidFill>
                  <a:srgbClr val="2B0AB6"/>
                </a:solidFill>
              </a:rPr>
              <a:t>Architecture </a:t>
            </a:r>
            <a:r>
              <a:rPr lang="en-IN" sz="2400" b="1" dirty="0" smtClean="0">
                <a:solidFill>
                  <a:srgbClr val="2B0AB6"/>
                </a:solidFill>
              </a:rPr>
              <a:t>Characteristics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Configurability:</a:t>
            </a:r>
            <a:r>
              <a:rPr lang="en-US" sz="1800" dirty="0" smtClean="0"/>
              <a:t> </a:t>
            </a:r>
            <a:r>
              <a:rPr lang="en-US" sz="1800" dirty="0"/>
              <a:t>Ability for the end users to easily change aspects of the software’s configuration (through </a:t>
            </a:r>
            <a:r>
              <a:rPr lang="en-US" sz="1800" dirty="0" smtClean="0"/>
              <a:t>usable </a:t>
            </a:r>
            <a:r>
              <a:rPr lang="en-IN" sz="1800" dirty="0" smtClean="0"/>
              <a:t>interfaces</a:t>
            </a:r>
            <a:r>
              <a:rPr lang="en-IN" sz="1800" dirty="0"/>
              <a:t>).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Extensibility:</a:t>
            </a:r>
            <a:r>
              <a:rPr lang="en-US" sz="1800" dirty="0" smtClean="0"/>
              <a:t> </a:t>
            </a:r>
            <a:r>
              <a:rPr lang="en-US" sz="1800" dirty="0"/>
              <a:t>How important it is to plug new pieces of functionality in.</a:t>
            </a:r>
          </a:p>
          <a:p>
            <a:r>
              <a:rPr lang="en-US" sz="1800" dirty="0" err="1" smtClean="0">
                <a:solidFill>
                  <a:srgbClr val="2B0AB6"/>
                </a:solidFill>
              </a:rPr>
              <a:t>Installability</a:t>
            </a:r>
            <a:r>
              <a:rPr lang="en-US" sz="1800" dirty="0" smtClean="0">
                <a:solidFill>
                  <a:srgbClr val="2B0AB6"/>
                </a:solidFill>
              </a:rPr>
              <a:t>:</a:t>
            </a:r>
            <a:r>
              <a:rPr lang="en-US" sz="1800" dirty="0" smtClean="0"/>
              <a:t> </a:t>
            </a:r>
            <a:r>
              <a:rPr lang="en-US" sz="1800" dirty="0"/>
              <a:t>Ease of system installation on all necessary platforms.</a:t>
            </a:r>
          </a:p>
          <a:p>
            <a:r>
              <a:rPr lang="en-IN" sz="1800" dirty="0" err="1">
                <a:solidFill>
                  <a:srgbClr val="2B0AB6"/>
                </a:solidFill>
              </a:rPr>
              <a:t>Leverageability</a:t>
            </a:r>
            <a:r>
              <a:rPr lang="en-IN" sz="1800" dirty="0" smtClean="0">
                <a:solidFill>
                  <a:srgbClr val="2B0AB6"/>
                </a:solidFill>
              </a:rPr>
              <a:t>/ reuse: </a:t>
            </a:r>
            <a:r>
              <a:rPr lang="en-US" sz="1800" dirty="0" smtClean="0"/>
              <a:t>Ability </a:t>
            </a:r>
            <a:r>
              <a:rPr lang="en-US" sz="1800" dirty="0"/>
              <a:t>to leverage common components across multiple products.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Localization:</a:t>
            </a:r>
            <a:r>
              <a:rPr lang="en-US" sz="1800" dirty="0" smtClean="0"/>
              <a:t> Support </a:t>
            </a:r>
            <a:r>
              <a:rPr lang="en-US" sz="1800" dirty="0"/>
              <a:t>for multiple languages on entry/query screens in data fields; on reports, </a:t>
            </a:r>
            <a:r>
              <a:rPr lang="en-US" sz="1800" dirty="0" err="1"/>
              <a:t>multibyte</a:t>
            </a:r>
            <a:r>
              <a:rPr lang="en-US" sz="1800" dirty="0"/>
              <a:t> </a:t>
            </a:r>
            <a:r>
              <a:rPr lang="en-US" sz="1800" dirty="0" smtClean="0"/>
              <a:t>character requirements </a:t>
            </a:r>
            <a:r>
              <a:rPr lang="en-US" sz="1800" dirty="0"/>
              <a:t>and units of measure or currencies.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Maintainability:</a:t>
            </a:r>
            <a:r>
              <a:rPr lang="en-US" sz="1800" dirty="0" smtClean="0"/>
              <a:t> </a:t>
            </a:r>
            <a:r>
              <a:rPr lang="en-US" sz="1800" dirty="0"/>
              <a:t>How easy it is to apply changes and enhance the system?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Portability:</a:t>
            </a:r>
            <a:r>
              <a:rPr lang="en-US" sz="1800" dirty="0" smtClean="0"/>
              <a:t> </a:t>
            </a:r>
            <a:r>
              <a:rPr lang="en-US" sz="1800" dirty="0"/>
              <a:t>Does the system need to run on more than one platform? (For example, does the frontend need to </a:t>
            </a:r>
            <a:r>
              <a:rPr lang="en-US" sz="1800" dirty="0" smtClean="0"/>
              <a:t>run against </a:t>
            </a:r>
            <a:r>
              <a:rPr lang="en-US" sz="1800" dirty="0"/>
              <a:t>Oracle as well as SAP DB?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Supportability:</a:t>
            </a:r>
            <a:r>
              <a:rPr lang="en-US" sz="1800" dirty="0" smtClean="0"/>
              <a:t> </a:t>
            </a:r>
            <a:r>
              <a:rPr lang="en-US" sz="1800" dirty="0"/>
              <a:t>What level of technical support is needed by the application? What level of logging and other </a:t>
            </a:r>
            <a:r>
              <a:rPr lang="en-US" sz="1800" dirty="0" smtClean="0"/>
              <a:t>facilities are </a:t>
            </a:r>
            <a:r>
              <a:rPr lang="en-US" sz="1800" dirty="0"/>
              <a:t>required to debug errors in the system?</a:t>
            </a:r>
          </a:p>
          <a:p>
            <a:r>
              <a:rPr lang="en-US" sz="1800" dirty="0" smtClean="0">
                <a:solidFill>
                  <a:srgbClr val="2B0AB6"/>
                </a:solidFill>
              </a:rPr>
              <a:t>Upgradeability:</a:t>
            </a:r>
            <a:r>
              <a:rPr lang="en-US" sz="1800" dirty="0" smtClean="0"/>
              <a:t> </a:t>
            </a:r>
            <a:r>
              <a:rPr lang="en-US" sz="1800" dirty="0"/>
              <a:t>Ability to easily/quickly upgrade from a previous version of this application/solution to a newer </a:t>
            </a:r>
            <a:r>
              <a:rPr lang="en-US" sz="1800" dirty="0" smtClean="0"/>
              <a:t>version </a:t>
            </a:r>
            <a:r>
              <a:rPr lang="en-IN" sz="1800" dirty="0" smtClean="0"/>
              <a:t>on </a:t>
            </a:r>
            <a:r>
              <a:rPr lang="en-IN" sz="1800" dirty="0"/>
              <a:t>servers and clients.</a:t>
            </a:r>
            <a:endParaRPr lang="en-IN" sz="1800" dirty="0" smtClean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977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18" y="160338"/>
            <a:ext cx="8229600" cy="7159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Identifying 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Cross-Cutting Architecture Characteristics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Accessibility:</a:t>
            </a:r>
            <a:r>
              <a:rPr lang="en-US" sz="1800" dirty="0" smtClean="0"/>
              <a:t> </a:t>
            </a:r>
            <a:r>
              <a:rPr lang="en-US" sz="1800" dirty="0"/>
              <a:t>Access to all your users, including </a:t>
            </a:r>
            <a:r>
              <a:rPr lang="en-US" sz="1800" dirty="0" smtClean="0"/>
              <a:t>disable people.</a:t>
            </a:r>
            <a:endParaRPr lang="en-US" sz="1800" dirty="0"/>
          </a:p>
          <a:p>
            <a:pPr marL="176213" indent="-176213"/>
            <a:r>
              <a:rPr lang="en-US" sz="1800" dirty="0" err="1" smtClean="0">
                <a:solidFill>
                  <a:srgbClr val="2B0AB6"/>
                </a:solidFill>
              </a:rPr>
              <a:t>Archivability</a:t>
            </a:r>
            <a:r>
              <a:rPr lang="en-US" sz="1800" dirty="0" smtClean="0">
                <a:solidFill>
                  <a:srgbClr val="2B0AB6"/>
                </a:solidFill>
              </a:rPr>
              <a:t>:</a:t>
            </a:r>
            <a:r>
              <a:rPr lang="en-US" sz="1800" dirty="0" smtClean="0"/>
              <a:t> </a:t>
            </a:r>
            <a:r>
              <a:rPr lang="en-US" sz="1800" dirty="0"/>
              <a:t>Will the data need to be archived or deleted after a period of </a:t>
            </a:r>
            <a:r>
              <a:rPr lang="en-US" sz="1800" dirty="0" smtClean="0"/>
              <a:t>time?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Authentication:</a:t>
            </a:r>
            <a:r>
              <a:rPr lang="en-US" sz="1800" dirty="0" smtClean="0"/>
              <a:t> </a:t>
            </a:r>
            <a:r>
              <a:rPr lang="en-US" sz="1800" dirty="0"/>
              <a:t>Security requirements to ensure users are who they say they are.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Authorization:</a:t>
            </a:r>
            <a:r>
              <a:rPr lang="en-US" sz="1800" dirty="0" smtClean="0"/>
              <a:t> </a:t>
            </a:r>
            <a:r>
              <a:rPr lang="en-US" sz="1800" dirty="0"/>
              <a:t>Security requirements to ensure users can access only certain functions within the application (by use case</a:t>
            </a:r>
            <a:r>
              <a:rPr lang="en-US" sz="1800" dirty="0" smtClean="0"/>
              <a:t>, subsystem</a:t>
            </a:r>
            <a:r>
              <a:rPr lang="en-US" sz="1800" dirty="0"/>
              <a:t>, webpage, </a:t>
            </a:r>
            <a:r>
              <a:rPr lang="en-US" sz="1800" dirty="0" smtClean="0"/>
              <a:t>rule</a:t>
            </a:r>
            <a:r>
              <a:rPr lang="en-US" sz="1800" dirty="0"/>
              <a:t>, </a:t>
            </a:r>
            <a:r>
              <a:rPr lang="en-US" sz="1800" dirty="0" smtClean="0"/>
              <a:t>etc</a:t>
            </a:r>
            <a:r>
              <a:rPr lang="en-US" sz="1800" dirty="0"/>
              <a:t>.).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Legal: </a:t>
            </a:r>
            <a:r>
              <a:rPr lang="en-US" sz="1800" dirty="0"/>
              <a:t>What legislative constraints is the system operating in (data protection, </a:t>
            </a:r>
            <a:r>
              <a:rPr lang="en-US" sz="1800" dirty="0" smtClean="0"/>
              <a:t>etc</a:t>
            </a:r>
            <a:r>
              <a:rPr lang="en-US" sz="1800" dirty="0"/>
              <a:t>.)? </a:t>
            </a:r>
            <a:r>
              <a:rPr lang="en-US" sz="1800" dirty="0" smtClean="0"/>
              <a:t>What reservation </a:t>
            </a:r>
            <a:r>
              <a:rPr lang="en-US" sz="1800" dirty="0"/>
              <a:t>rights does the company require? Any regulations regarding the way the application is to </a:t>
            </a:r>
            <a:r>
              <a:rPr lang="en-US" sz="1800" dirty="0" smtClean="0"/>
              <a:t>be </a:t>
            </a:r>
            <a:r>
              <a:rPr lang="en-IN" sz="1800" dirty="0" smtClean="0"/>
              <a:t>built </a:t>
            </a:r>
            <a:r>
              <a:rPr lang="en-IN" sz="1800" dirty="0"/>
              <a:t>or deployed</a:t>
            </a:r>
            <a:r>
              <a:rPr lang="en-IN" sz="1800" dirty="0" smtClean="0"/>
              <a:t>?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Privacy:</a:t>
            </a:r>
            <a:r>
              <a:rPr lang="en-US" sz="1800" dirty="0" smtClean="0"/>
              <a:t> </a:t>
            </a:r>
            <a:r>
              <a:rPr lang="en-US" sz="1800" dirty="0"/>
              <a:t>Ability to hide transactions from internal company employees (encrypted transactions so even DBAs </a:t>
            </a:r>
            <a:r>
              <a:rPr lang="en-US" sz="1800" dirty="0" smtClean="0"/>
              <a:t>and network </a:t>
            </a:r>
            <a:r>
              <a:rPr lang="en-US" sz="1800" dirty="0"/>
              <a:t>architects cannot see them).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Security:</a:t>
            </a:r>
            <a:r>
              <a:rPr lang="en-US" sz="1800" dirty="0" smtClean="0"/>
              <a:t> Encrypted </a:t>
            </a:r>
            <a:r>
              <a:rPr lang="en-US" sz="1800" dirty="0"/>
              <a:t>for network communication </a:t>
            </a:r>
            <a:r>
              <a:rPr lang="en-US" sz="1800" dirty="0" smtClean="0"/>
              <a:t>between internal systems and/ or database? </a:t>
            </a:r>
            <a:r>
              <a:rPr lang="en-US" sz="1800" dirty="0"/>
              <a:t>What type of authentication needs to be in place for remote user access?</a:t>
            </a:r>
          </a:p>
          <a:p>
            <a:pPr marL="176213" indent="-176213"/>
            <a:r>
              <a:rPr lang="en-US" sz="1800" dirty="0" smtClean="0">
                <a:solidFill>
                  <a:srgbClr val="2B0AB6"/>
                </a:solidFill>
              </a:rPr>
              <a:t>Supportability:</a:t>
            </a:r>
            <a:r>
              <a:rPr lang="en-US" sz="1800" dirty="0" smtClean="0"/>
              <a:t> </a:t>
            </a:r>
            <a:r>
              <a:rPr lang="en-US" sz="1800" dirty="0"/>
              <a:t>What level of technical support is needed by the application? What level of logging and other facilities </a:t>
            </a:r>
            <a:r>
              <a:rPr lang="en-US" sz="1800" dirty="0" smtClean="0"/>
              <a:t>are required </a:t>
            </a:r>
            <a:r>
              <a:rPr lang="en-US" sz="1800" dirty="0"/>
              <a:t>to debug errors in the system?</a:t>
            </a:r>
          </a:p>
          <a:p>
            <a:pPr marL="176213" indent="-176213"/>
            <a:r>
              <a:rPr lang="en-IN" sz="1800" dirty="0">
                <a:solidFill>
                  <a:srgbClr val="2B0AB6"/>
                </a:solidFill>
              </a:rPr>
              <a:t>Usability</a:t>
            </a:r>
            <a:r>
              <a:rPr lang="en-IN" sz="1800" dirty="0" smtClean="0">
                <a:solidFill>
                  <a:srgbClr val="2B0AB6"/>
                </a:solidFill>
              </a:rPr>
              <a:t>/ achievability: </a:t>
            </a:r>
            <a:r>
              <a:rPr lang="en-US" sz="1800" dirty="0" smtClean="0"/>
              <a:t>Level </a:t>
            </a:r>
            <a:r>
              <a:rPr lang="en-US" sz="1800" dirty="0"/>
              <a:t>of training required for users to achieve their goals with the application/solution. </a:t>
            </a:r>
            <a:r>
              <a:rPr lang="en-US" sz="1800" dirty="0" smtClean="0"/>
              <a:t>Usability requirements </a:t>
            </a:r>
            <a:r>
              <a:rPr lang="en-US" sz="1800" dirty="0"/>
              <a:t>need to be treated as seriously as any other architectural issue.</a:t>
            </a:r>
            <a:endParaRPr lang="en-IN" sz="1800" b="1" dirty="0" smtClean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994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Identifying 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dirty="0"/>
              <a:t>Identifying the driving architectural characteristics is one of the first steps in </a:t>
            </a:r>
            <a:r>
              <a:rPr lang="en-US" sz="2400" dirty="0" smtClean="0"/>
              <a:t>creating an </a:t>
            </a:r>
            <a:r>
              <a:rPr lang="en-US" sz="2400" dirty="0"/>
              <a:t>architecture or determining the validity of an existing architecture. </a:t>
            </a:r>
            <a:endParaRPr lang="en-US" sz="2400" dirty="0" smtClean="0"/>
          </a:p>
          <a:p>
            <a:r>
              <a:rPr lang="en-US" sz="2400" dirty="0" smtClean="0"/>
              <a:t>Identifying the correct </a:t>
            </a:r>
            <a:r>
              <a:rPr lang="en-US" sz="2400" dirty="0"/>
              <a:t>architectural characteristics (“-</a:t>
            </a:r>
            <a:r>
              <a:rPr lang="en-US" sz="2400" dirty="0" err="1"/>
              <a:t>ilities</a:t>
            </a:r>
            <a:r>
              <a:rPr lang="en-US" sz="2400" dirty="0"/>
              <a:t>”) for a given problem or </a:t>
            </a:r>
            <a:r>
              <a:rPr lang="en-US" sz="2400" dirty="0" smtClean="0"/>
              <a:t>application requires </a:t>
            </a:r>
            <a:r>
              <a:rPr lang="en-US" sz="2400" dirty="0"/>
              <a:t>an architect to </a:t>
            </a:r>
            <a:r>
              <a:rPr lang="en-US" sz="2400" dirty="0" smtClean="0"/>
              <a:t>understand </a:t>
            </a:r>
            <a:r>
              <a:rPr lang="en-US" sz="2400" dirty="0"/>
              <a:t>the domain </a:t>
            </a:r>
            <a:r>
              <a:rPr lang="en-US" sz="2400" dirty="0" smtClean="0"/>
              <a:t>problem and collaborate with </a:t>
            </a:r>
            <a:r>
              <a:rPr lang="en-US" sz="2400" dirty="0"/>
              <a:t>the problem domain stakeholders to determine what is truly </a:t>
            </a:r>
            <a:r>
              <a:rPr lang="en-US" sz="2400" dirty="0" smtClean="0"/>
              <a:t>important </a:t>
            </a:r>
            <a:r>
              <a:rPr lang="en-IN" sz="2400" dirty="0" smtClean="0"/>
              <a:t>from </a:t>
            </a:r>
            <a:r>
              <a:rPr lang="en-IN" sz="2400" dirty="0"/>
              <a:t>a domain perspective.</a:t>
            </a:r>
          </a:p>
          <a:p>
            <a:r>
              <a:rPr lang="en-US" sz="2400" dirty="0"/>
              <a:t>An architect uncovers architecture characteristics in at least three </a:t>
            </a:r>
            <a:r>
              <a:rPr lang="en-US" sz="2400" dirty="0" smtClean="0"/>
              <a:t>ways:</a:t>
            </a:r>
          </a:p>
          <a:p>
            <a:pPr lvl="1"/>
            <a:r>
              <a:rPr lang="en-US" sz="2400" dirty="0" smtClean="0">
                <a:solidFill>
                  <a:srgbClr val="2B0AB6"/>
                </a:solidFill>
              </a:rPr>
              <a:t>Extracting from </a:t>
            </a:r>
            <a:r>
              <a:rPr lang="en-US" sz="2400" dirty="0">
                <a:solidFill>
                  <a:srgbClr val="2B0AB6"/>
                </a:solidFill>
              </a:rPr>
              <a:t>domain </a:t>
            </a:r>
            <a:r>
              <a:rPr lang="en-US" sz="2400" dirty="0" smtClean="0">
                <a:solidFill>
                  <a:srgbClr val="2B0AB6"/>
                </a:solidFill>
              </a:rPr>
              <a:t>concerns</a:t>
            </a:r>
          </a:p>
          <a:p>
            <a:pPr lvl="1"/>
            <a:r>
              <a:rPr lang="en-US" sz="2400" dirty="0" smtClean="0">
                <a:solidFill>
                  <a:srgbClr val="2B0AB6"/>
                </a:solidFill>
              </a:rPr>
              <a:t>Requirements </a:t>
            </a:r>
          </a:p>
          <a:p>
            <a:pPr lvl="1"/>
            <a:r>
              <a:rPr lang="en-US" sz="2400" dirty="0" smtClean="0">
                <a:solidFill>
                  <a:srgbClr val="2B0AB6"/>
                </a:solidFill>
              </a:rPr>
              <a:t>Implicit domain knowledge</a:t>
            </a:r>
            <a:endParaRPr lang="en-US" sz="2400" dirty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953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349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Identifying 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B0AB6"/>
                </a:solidFill>
              </a:rPr>
              <a:t>Extracting Architecture Characteristics </a:t>
            </a:r>
            <a:r>
              <a:rPr lang="en-US" sz="2400" dirty="0" smtClean="0">
                <a:solidFill>
                  <a:srgbClr val="2B0AB6"/>
                </a:solidFill>
              </a:rPr>
              <a:t>from Domain </a:t>
            </a:r>
            <a:r>
              <a:rPr lang="en-IN" sz="2400" dirty="0" smtClean="0">
                <a:solidFill>
                  <a:srgbClr val="2B0AB6"/>
                </a:solidFill>
              </a:rPr>
              <a:t>Concerns</a:t>
            </a:r>
          </a:p>
          <a:p>
            <a:r>
              <a:rPr lang="en-US" sz="2400" dirty="0"/>
              <a:t>An architect must be able to translate domain concerns to identify the right </a:t>
            </a:r>
            <a:r>
              <a:rPr lang="en-US" sz="2400" dirty="0" smtClean="0"/>
              <a:t>architectural characteristics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example, is scalability the most important concern, or is </a:t>
            </a:r>
            <a:r>
              <a:rPr lang="en-US" sz="2400" dirty="0" smtClean="0"/>
              <a:t>it fault </a:t>
            </a:r>
            <a:r>
              <a:rPr lang="en-US" sz="2400" dirty="0"/>
              <a:t>tolerance, security, or performance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List of characteristics must be </a:t>
            </a:r>
            <a:r>
              <a:rPr lang="en-US" sz="2400" dirty="0"/>
              <a:t>as short as possible. </a:t>
            </a:r>
            <a:endParaRPr lang="en-US" sz="2400" dirty="0" smtClean="0"/>
          </a:p>
          <a:p>
            <a:r>
              <a:rPr lang="en-US" sz="2400" dirty="0" smtClean="0"/>
              <a:t>A common anti-pattern </a:t>
            </a:r>
            <a:r>
              <a:rPr lang="en-US" sz="2400" dirty="0"/>
              <a:t>in architecture entails trying to design a </a:t>
            </a:r>
            <a:r>
              <a:rPr lang="en-US" sz="2400" i="1" dirty="0">
                <a:solidFill>
                  <a:srgbClr val="2B0AB6"/>
                </a:solidFill>
              </a:rPr>
              <a:t>generic architecture</a:t>
            </a:r>
            <a:r>
              <a:rPr lang="en-US" sz="2400" dirty="0"/>
              <a:t>, </a:t>
            </a:r>
            <a:r>
              <a:rPr lang="en-US" sz="2400" dirty="0" smtClean="0"/>
              <a:t>one that </a:t>
            </a:r>
            <a:r>
              <a:rPr lang="en-US" sz="2400" dirty="0"/>
              <a:t>supports all</a:t>
            </a:r>
            <a:r>
              <a:rPr lang="en-US" sz="2400" i="1" dirty="0"/>
              <a:t> </a:t>
            </a:r>
            <a:r>
              <a:rPr lang="en-US" sz="2400" dirty="0"/>
              <a:t>the architecture characteristics</a:t>
            </a:r>
            <a:r>
              <a:rPr lang="en-US" sz="2400" dirty="0" smtClean="0"/>
              <a:t>.</a:t>
            </a:r>
          </a:p>
          <a:p>
            <a:endParaRPr lang="en-US" sz="2400" dirty="0" smtClean="0">
              <a:solidFill>
                <a:srgbClr val="2B0AB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572000"/>
            <a:ext cx="7391400" cy="1890450"/>
          </a:xfrm>
          <a:prstGeom prst="rect">
            <a:avLst/>
          </a:prstGeom>
        </p:spPr>
      </p:pic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861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Identifying 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2B0AB6"/>
                </a:solidFill>
              </a:rPr>
              <a:t>Extracting Architecture Characteristics </a:t>
            </a:r>
            <a:r>
              <a:rPr lang="en-IN" sz="2400" dirty="0" smtClean="0">
                <a:solidFill>
                  <a:srgbClr val="2B0AB6"/>
                </a:solidFill>
              </a:rPr>
              <a:t>from Requirements</a:t>
            </a:r>
          </a:p>
          <a:p>
            <a:r>
              <a:rPr lang="en-US" sz="2400" dirty="0"/>
              <a:t>Some architecture characteristics come from explicit statements in </a:t>
            </a:r>
            <a:r>
              <a:rPr lang="en-US" sz="2400" dirty="0" smtClean="0"/>
              <a:t>requirements documents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example, explicit expected numbers of users and scale </a:t>
            </a:r>
            <a:r>
              <a:rPr lang="en-US" sz="2400" dirty="0" smtClean="0"/>
              <a:t>commonly appear </a:t>
            </a:r>
            <a:r>
              <a:rPr lang="en-US" sz="2400" dirty="0"/>
              <a:t>in domain or domain concerns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Others come from inherent domain </a:t>
            </a:r>
            <a:r>
              <a:rPr lang="en-US" sz="2400" dirty="0" smtClean="0"/>
              <a:t>knowledge by </a:t>
            </a:r>
            <a:r>
              <a:rPr lang="en-US" sz="2400" dirty="0"/>
              <a:t>architects, one of the many reasons that domain knowledge is always </a:t>
            </a:r>
            <a:r>
              <a:rPr lang="en-US" sz="2400" dirty="0" smtClean="0"/>
              <a:t>beneficial </a:t>
            </a:r>
            <a:r>
              <a:rPr lang="en-IN" sz="2400" dirty="0" smtClean="0"/>
              <a:t>for </a:t>
            </a:r>
            <a:r>
              <a:rPr lang="en-IN" sz="2400" dirty="0"/>
              <a:t>architects</a:t>
            </a:r>
            <a:r>
              <a:rPr lang="en-IN" sz="2400" dirty="0" smtClean="0"/>
              <a:t>.</a:t>
            </a:r>
          </a:p>
          <a:p>
            <a:r>
              <a:rPr lang="en-US" sz="2400" i="1" dirty="0" smtClean="0"/>
              <a:t>For example, </a:t>
            </a:r>
            <a:r>
              <a:rPr lang="en-US" sz="2400" i="1" dirty="0" smtClean="0">
                <a:solidFill>
                  <a:srgbClr val="2B0AB6"/>
                </a:solidFill>
              </a:rPr>
              <a:t>scalability</a:t>
            </a:r>
            <a:r>
              <a:rPr lang="en-US" sz="2400" i="1" dirty="0" smtClean="0"/>
              <a:t>- </a:t>
            </a:r>
            <a:r>
              <a:rPr lang="en-US" sz="2400" dirty="0" smtClean="0"/>
              <a:t>the </a:t>
            </a:r>
            <a:r>
              <a:rPr lang="en-US" sz="2400" dirty="0"/>
              <a:t>ability to handle a large number of concurrent users </a:t>
            </a:r>
            <a:r>
              <a:rPr lang="en-US" sz="2400" dirty="0" smtClean="0"/>
              <a:t>without serious </a:t>
            </a:r>
            <a:r>
              <a:rPr lang="en-US" sz="2400" dirty="0"/>
              <a:t>performance </a:t>
            </a:r>
            <a:r>
              <a:rPr lang="en-US" sz="2400" dirty="0" smtClean="0"/>
              <a:t>degradation.</a:t>
            </a:r>
            <a:endParaRPr lang="en-US" sz="2400" dirty="0"/>
          </a:p>
          <a:p>
            <a:pPr lvl="1"/>
            <a:r>
              <a:rPr lang="en-US" sz="2000" dirty="0"/>
              <a:t>Notice that the problem statement didn’t explicitly ask for scalability, but </a:t>
            </a:r>
            <a:r>
              <a:rPr lang="en-US" sz="2000" dirty="0" smtClean="0"/>
              <a:t>rather expressed </a:t>
            </a:r>
            <a:r>
              <a:rPr lang="en-US" sz="2000" dirty="0"/>
              <a:t>that requirement as an expected number of users. </a:t>
            </a:r>
            <a:endParaRPr lang="en-US" sz="2400" dirty="0" smtClean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1588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A50021"/>
                </a:solidFill>
              </a:rPr>
              <a:t>Identifying 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US" sz="2400" dirty="0">
                <a:solidFill>
                  <a:srgbClr val="2B0AB6"/>
                </a:solidFill>
              </a:rPr>
              <a:t>Extracting </a:t>
            </a:r>
            <a:r>
              <a:rPr lang="en-US" sz="2400" dirty="0" smtClean="0">
                <a:solidFill>
                  <a:srgbClr val="2B0AB6"/>
                </a:solidFill>
              </a:rPr>
              <a:t>Characteristics </a:t>
            </a:r>
            <a:r>
              <a:rPr lang="en-US" sz="2400" dirty="0">
                <a:solidFill>
                  <a:srgbClr val="2B0AB6"/>
                </a:solidFill>
              </a:rPr>
              <a:t>from </a:t>
            </a:r>
            <a:r>
              <a:rPr lang="en-US" sz="2400" dirty="0" smtClean="0">
                <a:solidFill>
                  <a:srgbClr val="2B0AB6"/>
                </a:solidFill>
              </a:rPr>
              <a:t>Implicit </a:t>
            </a:r>
            <a:r>
              <a:rPr lang="en-US" sz="2400" dirty="0">
                <a:solidFill>
                  <a:srgbClr val="2B0AB6"/>
                </a:solidFill>
              </a:rPr>
              <a:t>domain knowledge</a:t>
            </a:r>
          </a:p>
          <a:p>
            <a:r>
              <a:rPr lang="en-US" sz="2200" dirty="0"/>
              <a:t>Many architecture characteristics aren’t specified in requirements documents, </a:t>
            </a:r>
            <a:r>
              <a:rPr lang="en-US" sz="2200" dirty="0" smtClean="0"/>
              <a:t>yet they </a:t>
            </a:r>
            <a:r>
              <a:rPr lang="en-US" sz="2200" dirty="0"/>
              <a:t>make up an important aspect of the design. </a:t>
            </a:r>
            <a:endParaRPr lang="en-US" sz="2200" dirty="0" smtClean="0"/>
          </a:p>
          <a:p>
            <a:r>
              <a:rPr lang="en-US" sz="2200" dirty="0" smtClean="0"/>
              <a:t>For example; </a:t>
            </a:r>
          </a:p>
          <a:p>
            <a:pPr lvl="1"/>
            <a:r>
              <a:rPr lang="en-US" sz="2200" i="1" dirty="0" smtClean="0"/>
              <a:t>availability</a:t>
            </a:r>
            <a:r>
              <a:rPr lang="en-US" sz="2200" dirty="0"/>
              <a:t>: making sure users can access </a:t>
            </a:r>
            <a:r>
              <a:rPr lang="en-US" sz="2200" dirty="0" smtClean="0"/>
              <a:t>the sandwich </a:t>
            </a:r>
            <a:r>
              <a:rPr lang="en-US" sz="2200" dirty="0"/>
              <a:t>site. </a:t>
            </a:r>
            <a:endParaRPr lang="en-US" sz="2200" dirty="0" smtClean="0"/>
          </a:p>
          <a:p>
            <a:pPr lvl="1"/>
            <a:r>
              <a:rPr lang="en-US" sz="2200" i="1" dirty="0" smtClean="0"/>
              <a:t>reliability</a:t>
            </a:r>
            <a:r>
              <a:rPr lang="en-US" sz="2200" dirty="0"/>
              <a:t>: making sure the site stays </a:t>
            </a:r>
            <a:r>
              <a:rPr lang="en-US" sz="2200" dirty="0" smtClean="0"/>
              <a:t>up during interactions- no </a:t>
            </a:r>
            <a:r>
              <a:rPr lang="en-US" sz="2200" dirty="0"/>
              <a:t>one wants to purchase from a site that continues </a:t>
            </a:r>
            <a:r>
              <a:rPr lang="en-US" sz="2200" dirty="0" smtClean="0"/>
              <a:t>dropping connections</a:t>
            </a:r>
            <a:r>
              <a:rPr lang="en-US" sz="2200" dirty="0"/>
              <a:t>, forcing them to log in again.</a:t>
            </a:r>
          </a:p>
          <a:p>
            <a:pPr lvl="1"/>
            <a:r>
              <a:rPr lang="en-US" sz="2200" i="1" dirty="0" smtClean="0"/>
              <a:t>Security: </a:t>
            </a:r>
            <a:r>
              <a:rPr lang="en-US" sz="2200" dirty="0"/>
              <a:t>appears as an implicit characteristic in every system: no one wants to </a:t>
            </a:r>
            <a:r>
              <a:rPr lang="en-US" sz="2200" dirty="0" smtClean="0"/>
              <a:t>create insecure </a:t>
            </a:r>
            <a:r>
              <a:rPr lang="en-US" sz="2200" dirty="0"/>
              <a:t>software. </a:t>
            </a:r>
            <a:endParaRPr lang="en-US" sz="2200" dirty="0" smtClean="0"/>
          </a:p>
          <a:p>
            <a:pPr lvl="1"/>
            <a:r>
              <a:rPr lang="en-US" sz="2200" i="1" dirty="0" smtClean="0"/>
              <a:t>Customizability:</a:t>
            </a:r>
            <a:r>
              <a:rPr lang="en-US" sz="2200" dirty="0" smtClean="0"/>
              <a:t> </a:t>
            </a:r>
            <a:r>
              <a:rPr lang="en-US" sz="2200" dirty="0"/>
              <a:t>Notice that </a:t>
            </a:r>
            <a:r>
              <a:rPr lang="en-US" sz="2200" dirty="0" smtClean="0"/>
              <a:t>several parts </a:t>
            </a:r>
            <a:r>
              <a:rPr lang="en-US" sz="2200" dirty="0"/>
              <a:t>of the problem domain offer custom behavior: recipes, local sales, </a:t>
            </a:r>
            <a:r>
              <a:rPr lang="en-US" sz="2200" dirty="0" smtClean="0"/>
              <a:t>and directions </a:t>
            </a:r>
            <a:r>
              <a:rPr lang="en-US" sz="2200" dirty="0"/>
              <a:t>that may be locally overridden.</a:t>
            </a:r>
            <a:endParaRPr lang="en-US" sz="2200" dirty="0">
              <a:solidFill>
                <a:srgbClr val="2B0AB6"/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916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 smtClean="0">
                <a:solidFill>
                  <a:srgbClr val="A50021"/>
                </a:solidFill>
              </a:rPr>
              <a:t>Measuring </a:t>
            </a:r>
            <a:r>
              <a:rPr lang="en-IN" sz="3200" b="1" dirty="0">
                <a:solidFill>
                  <a:srgbClr val="A50021"/>
                </a:solidFill>
              </a:rPr>
              <a:t>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IN" sz="2400" dirty="0"/>
              <a:t>QA scenarios require response </a:t>
            </a:r>
            <a:r>
              <a:rPr lang="en-IN" sz="2400" dirty="0" smtClean="0"/>
              <a:t>measures.</a:t>
            </a:r>
          </a:p>
          <a:p>
            <a:r>
              <a:rPr lang="en-US" sz="2400" dirty="0"/>
              <a:t>Several common problems exist around the definition of architecture </a:t>
            </a:r>
            <a:r>
              <a:rPr lang="en-US" sz="2400" dirty="0" smtClean="0"/>
              <a:t>characteristics </a:t>
            </a:r>
            <a:r>
              <a:rPr lang="en-IN" sz="2400" dirty="0" smtClean="0"/>
              <a:t>in </a:t>
            </a:r>
            <a:r>
              <a:rPr lang="en-IN" sz="2400" dirty="0"/>
              <a:t>organizations</a:t>
            </a:r>
            <a:r>
              <a:rPr lang="en-IN" sz="2400" dirty="0" smtClean="0"/>
              <a:t>: </a:t>
            </a:r>
          </a:p>
          <a:p>
            <a:pPr lvl="1"/>
            <a:r>
              <a:rPr lang="en-US" sz="2400" dirty="0">
                <a:solidFill>
                  <a:srgbClr val="2B0AB6"/>
                </a:solidFill>
              </a:rPr>
              <a:t>Many QA have vague </a:t>
            </a:r>
            <a:r>
              <a:rPr lang="en-US" sz="2400" dirty="0" smtClean="0">
                <a:solidFill>
                  <a:srgbClr val="2B0AB6"/>
                </a:solidFill>
              </a:rPr>
              <a:t>meanings</a:t>
            </a:r>
            <a:r>
              <a:rPr lang="en-US" sz="2400" dirty="0" smtClean="0"/>
              <a:t>: e.g.</a:t>
            </a:r>
            <a:r>
              <a:rPr lang="en-IN" sz="2400" dirty="0" smtClean="0"/>
              <a:t>, </a:t>
            </a:r>
            <a:r>
              <a:rPr lang="en-IN" sz="2400" dirty="0" err="1"/>
              <a:t>deployability</a:t>
            </a:r>
            <a:r>
              <a:rPr lang="en-IN" sz="2400" dirty="0"/>
              <a:t>, scalability</a:t>
            </a:r>
            <a:endParaRPr lang="en-US" sz="2400" dirty="0" smtClean="0"/>
          </a:p>
          <a:p>
            <a:pPr lvl="1"/>
            <a:r>
              <a:rPr lang="en-IN" sz="2400" dirty="0">
                <a:solidFill>
                  <a:srgbClr val="2B0AB6"/>
                </a:solidFill>
              </a:rPr>
              <a:t>Wildly varying </a:t>
            </a:r>
            <a:r>
              <a:rPr lang="en-IN" sz="2400" dirty="0" smtClean="0">
                <a:solidFill>
                  <a:srgbClr val="2B0AB6"/>
                </a:solidFill>
              </a:rPr>
              <a:t>definitions</a:t>
            </a:r>
            <a:r>
              <a:rPr lang="en-IN" sz="2400" dirty="0" smtClean="0"/>
              <a:t>: </a:t>
            </a:r>
            <a:r>
              <a:rPr lang="en-IN" sz="2400" dirty="0"/>
              <a:t>No universal definitions</a:t>
            </a:r>
            <a:endParaRPr lang="en-IN" sz="2400" dirty="0" smtClean="0"/>
          </a:p>
          <a:p>
            <a:pPr lvl="1"/>
            <a:r>
              <a:rPr lang="en-IN" sz="2400" dirty="0">
                <a:solidFill>
                  <a:srgbClr val="2B0AB6"/>
                </a:solidFill>
              </a:rPr>
              <a:t>Too </a:t>
            </a:r>
            <a:r>
              <a:rPr lang="en-IN" sz="2400" dirty="0" smtClean="0">
                <a:solidFill>
                  <a:srgbClr val="2B0AB6"/>
                </a:solidFill>
              </a:rPr>
              <a:t>composite</a:t>
            </a:r>
            <a:r>
              <a:rPr lang="en-IN" sz="2400" dirty="0" smtClean="0"/>
              <a:t>: </a:t>
            </a:r>
            <a:r>
              <a:rPr lang="en-US" sz="2400" dirty="0" smtClean="0"/>
              <a:t>QA </a:t>
            </a:r>
            <a:r>
              <a:rPr lang="en-US" sz="2400" dirty="0"/>
              <a:t>is composed of several </a:t>
            </a:r>
            <a:r>
              <a:rPr lang="en-US" sz="2400" dirty="0" smtClean="0"/>
              <a:t>features</a:t>
            </a:r>
          </a:p>
          <a:p>
            <a:r>
              <a:rPr lang="en-IN" sz="2400" dirty="0" smtClean="0"/>
              <a:t>Software metrics are the </a:t>
            </a:r>
            <a:r>
              <a:rPr lang="en-US" sz="2400" dirty="0" smtClean="0"/>
              <a:t>measures which can be automatically computed, such as,  </a:t>
            </a:r>
          </a:p>
          <a:p>
            <a:pPr lvl="1"/>
            <a:r>
              <a:rPr lang="en-IN" sz="2400" dirty="0" smtClean="0">
                <a:solidFill>
                  <a:srgbClr val="2B0AB6"/>
                </a:solidFill>
              </a:rPr>
              <a:t>Operational measures </a:t>
            </a:r>
          </a:p>
          <a:p>
            <a:pPr lvl="1"/>
            <a:r>
              <a:rPr lang="en-IN" sz="2400" dirty="0" smtClean="0">
                <a:solidFill>
                  <a:srgbClr val="2B0AB6"/>
                </a:solidFill>
              </a:rPr>
              <a:t>Structural Measures</a:t>
            </a:r>
          </a:p>
          <a:p>
            <a:pPr lvl="1"/>
            <a:r>
              <a:rPr lang="en-IN" sz="2400" dirty="0" smtClean="0">
                <a:solidFill>
                  <a:srgbClr val="2B0AB6"/>
                </a:solidFill>
              </a:rPr>
              <a:t>Process measures</a:t>
            </a:r>
          </a:p>
          <a:p>
            <a:pPr lvl="1"/>
            <a:endParaRPr lang="en-IN" sz="2400" dirty="0" smtClean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989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 smtClean="0">
                <a:solidFill>
                  <a:srgbClr val="A50021"/>
                </a:solidFill>
              </a:rPr>
              <a:t>Measuring </a:t>
            </a:r>
            <a:r>
              <a:rPr lang="en-IN" sz="3200" b="1" dirty="0">
                <a:solidFill>
                  <a:srgbClr val="A50021"/>
                </a:solidFill>
              </a:rPr>
              <a:t>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457200" lvl="1" indent="-457200">
              <a:buNone/>
            </a:pPr>
            <a:r>
              <a:rPr lang="en-IN" sz="2400" b="1" dirty="0">
                <a:solidFill>
                  <a:srgbClr val="2B0AB6"/>
                </a:solidFill>
              </a:rPr>
              <a:t>Operational measures </a:t>
            </a:r>
            <a:endParaRPr lang="en-IN" sz="2400" b="1" dirty="0" smtClean="0">
              <a:solidFill>
                <a:srgbClr val="2B0AB6"/>
              </a:solidFill>
            </a:endParaRPr>
          </a:p>
          <a:p>
            <a:r>
              <a:rPr lang="en-US" sz="2400" dirty="0"/>
              <a:t>Many architecture characteristics have obvious direct measurements, such as </a:t>
            </a:r>
            <a:r>
              <a:rPr lang="en-US" sz="2400" dirty="0" smtClean="0"/>
              <a:t>performance </a:t>
            </a:r>
            <a:r>
              <a:rPr lang="en-IN" sz="2400" dirty="0" smtClean="0"/>
              <a:t>or </a:t>
            </a:r>
            <a:r>
              <a:rPr lang="en-IN" sz="2400" dirty="0"/>
              <a:t>scalability</a:t>
            </a:r>
            <a:r>
              <a:rPr lang="en-IN" sz="2400" dirty="0" smtClean="0"/>
              <a:t>.</a:t>
            </a:r>
          </a:p>
          <a:p>
            <a:r>
              <a:rPr lang="en-IN" sz="2400" dirty="0">
                <a:solidFill>
                  <a:srgbClr val="2B0AB6"/>
                </a:solidFill>
              </a:rPr>
              <a:t>Lots of metrics </a:t>
            </a:r>
            <a:endParaRPr lang="en-IN" sz="2400" dirty="0" smtClean="0">
              <a:solidFill>
                <a:srgbClr val="2B0AB6"/>
              </a:solidFill>
            </a:endParaRPr>
          </a:p>
          <a:p>
            <a:pPr lvl="1"/>
            <a:r>
              <a:rPr lang="en-IN" sz="2000" dirty="0" smtClean="0">
                <a:solidFill>
                  <a:srgbClr val="C00000"/>
                </a:solidFill>
              </a:rPr>
              <a:t>Absolute </a:t>
            </a:r>
            <a:r>
              <a:rPr lang="en-IN" sz="2000" dirty="0">
                <a:solidFill>
                  <a:srgbClr val="C00000"/>
                </a:solidFill>
              </a:rPr>
              <a:t>values </a:t>
            </a:r>
            <a:endParaRPr lang="en-IN" sz="2000" dirty="0" smtClean="0">
              <a:solidFill>
                <a:srgbClr val="C00000"/>
              </a:solidFill>
            </a:endParaRPr>
          </a:p>
          <a:p>
            <a:pPr lvl="2"/>
            <a:r>
              <a:rPr lang="en-IN" sz="1600" dirty="0" err="1" smtClean="0"/>
              <a:t>e.g</a:t>
            </a:r>
            <a:r>
              <a:rPr lang="en-IN" sz="1600" dirty="0" smtClean="0"/>
              <a:t>, Number </a:t>
            </a:r>
            <a:r>
              <a:rPr lang="en-IN" sz="1600" dirty="0"/>
              <a:t>of users, number of errors </a:t>
            </a:r>
            <a:endParaRPr lang="en-IN" sz="1600" dirty="0" smtClean="0"/>
          </a:p>
          <a:p>
            <a:pPr lvl="1"/>
            <a:r>
              <a:rPr lang="en-IN" sz="2000" dirty="0" smtClean="0">
                <a:solidFill>
                  <a:srgbClr val="C00000"/>
                </a:solidFill>
              </a:rPr>
              <a:t>Statistical </a:t>
            </a:r>
            <a:r>
              <a:rPr lang="en-IN" sz="2000" dirty="0">
                <a:solidFill>
                  <a:srgbClr val="C00000"/>
                </a:solidFill>
              </a:rPr>
              <a:t>values and models </a:t>
            </a:r>
            <a:endParaRPr lang="en-IN" sz="2000" dirty="0" smtClean="0">
              <a:solidFill>
                <a:srgbClr val="C00000"/>
              </a:solidFill>
            </a:endParaRPr>
          </a:p>
          <a:p>
            <a:pPr lvl="2"/>
            <a:r>
              <a:rPr lang="en-IN" sz="1600" dirty="0" smtClean="0"/>
              <a:t>e.g., 𝑎𝑣𝑎𝑖𝑙𝑎𝑏𝑖𝑙𝑖𝑡𝑦 </a:t>
            </a:r>
            <a:r>
              <a:rPr lang="en-IN" sz="1600" dirty="0"/>
              <a:t>= 𝑀𝑇𝐵𝐹 </a:t>
            </a:r>
            <a:r>
              <a:rPr lang="en-IN" sz="1600" dirty="0" smtClean="0"/>
              <a:t>/ (𝑀𝑇𝐵𝐹 </a:t>
            </a:r>
            <a:r>
              <a:rPr lang="en-IN" sz="1600" dirty="0"/>
              <a:t>+ </a:t>
            </a:r>
            <a:r>
              <a:rPr lang="en-IN" sz="1600" dirty="0" smtClean="0"/>
              <a:t>𝑀𝑇𝑇𝑅), </a:t>
            </a:r>
            <a:r>
              <a:rPr lang="en-IN" sz="1600" dirty="0"/>
              <a:t>where 𝑀𝑇𝐵𝐹 = 𝑚𝑒𝑎𝑛 𝑡𝑖𝑚𝑒 𝑏𝑒𝑡𝑤𝑒𝑒𝑛 </a:t>
            </a:r>
            <a:r>
              <a:rPr lang="en-IN" sz="1600" dirty="0" smtClean="0"/>
              <a:t>𝑓𝑎𝑖𝑙𝑢𝑟𝑒𝑠 </a:t>
            </a:r>
            <a:r>
              <a:rPr lang="en-IN" sz="1600" dirty="0"/>
              <a:t>(𝑢𝑝𝑡𝑖𝑚𝑒</a:t>
            </a:r>
            <a:r>
              <a:rPr lang="en-IN" sz="1600" dirty="0" smtClean="0"/>
              <a:t>), </a:t>
            </a:r>
            <a:r>
              <a:rPr lang="en-IN" sz="1600" dirty="0"/>
              <a:t>𝑀𝑇𝑇𝑅 = 𝑚𝑒𝑎𝑛 𝑡𝑖𝑚𝑒 𝑡𝑜 𝑟𝑒𝑐𝑜𝑣𝑒𝑟 (𝑑𝑜𝑤𝑛𝑡𝑖𝑚𝑒) </a:t>
            </a:r>
            <a:endParaRPr lang="en-IN" sz="1600" dirty="0" smtClean="0"/>
          </a:p>
          <a:p>
            <a:pPr marL="914400" lvl="2" indent="0">
              <a:buNone/>
            </a:pPr>
            <a:endParaRPr lang="en-US" sz="1600" dirty="0">
              <a:solidFill>
                <a:srgbClr val="2B0AB6"/>
              </a:solidFill>
            </a:endParaRPr>
          </a:p>
          <a:p>
            <a:pPr marL="914400" lvl="2" indent="0">
              <a:buNone/>
            </a:pPr>
            <a:endParaRPr lang="en-IN" sz="1600" dirty="0">
              <a:solidFill>
                <a:srgbClr val="2B0AB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648200"/>
            <a:ext cx="6934200" cy="1708150"/>
          </a:xfrm>
          <a:prstGeom prst="rect">
            <a:avLst/>
          </a:prstGeom>
        </p:spPr>
      </p:pic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0855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9437"/>
          </a:xfrm>
        </p:spPr>
        <p:txBody>
          <a:bodyPr>
            <a:noAutofit/>
          </a:bodyPr>
          <a:lstStyle/>
          <a:p>
            <a:r>
              <a:rPr lang="en-IN" sz="3200" b="1" dirty="0" smtClean="0">
                <a:solidFill>
                  <a:srgbClr val="A50021"/>
                </a:solidFill>
              </a:rPr>
              <a:t>Measuring </a:t>
            </a:r>
            <a:r>
              <a:rPr lang="en-IN" sz="3200" b="1" dirty="0">
                <a:solidFill>
                  <a:srgbClr val="A50021"/>
                </a:solidFill>
              </a:rPr>
              <a:t>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3118"/>
            <a:ext cx="5334000" cy="3596482"/>
          </a:xfrm>
        </p:spPr>
        <p:txBody>
          <a:bodyPr>
            <a:noAutofit/>
          </a:bodyPr>
          <a:lstStyle/>
          <a:p>
            <a:pPr marL="457200" lvl="1" indent="-45720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Structural Measure</a:t>
            </a:r>
          </a:p>
          <a:p>
            <a:pPr marL="177800" indent="-177800"/>
            <a:r>
              <a:rPr lang="en-US" sz="2400" dirty="0" smtClean="0"/>
              <a:t>Measure </a:t>
            </a:r>
            <a:r>
              <a:rPr lang="en-US" sz="2400" dirty="0"/>
              <a:t>the structure of the </a:t>
            </a:r>
            <a:r>
              <a:rPr lang="en-US" sz="2400" dirty="0" smtClean="0"/>
              <a:t>modules. </a:t>
            </a:r>
          </a:p>
          <a:p>
            <a:pPr marL="177800" indent="-177800"/>
            <a:r>
              <a:rPr lang="en-IN" sz="2400" dirty="0" smtClean="0"/>
              <a:t>Examples</a:t>
            </a:r>
            <a:r>
              <a:rPr lang="en-IN" sz="2400" dirty="0"/>
              <a:t>: </a:t>
            </a:r>
            <a:r>
              <a:rPr lang="en-IN" sz="2400" dirty="0" err="1">
                <a:solidFill>
                  <a:srgbClr val="2B0AB6"/>
                </a:solidFill>
              </a:rPr>
              <a:t>Cyclomatic</a:t>
            </a:r>
            <a:r>
              <a:rPr lang="en-IN" sz="2400" dirty="0">
                <a:solidFill>
                  <a:srgbClr val="2B0AB6"/>
                </a:solidFill>
              </a:rPr>
              <a:t> complexity (CC)</a:t>
            </a:r>
            <a:r>
              <a:rPr lang="en-IN" sz="2400" dirty="0"/>
              <a:t> from </a:t>
            </a:r>
            <a:r>
              <a:rPr lang="en-IN" sz="2400" dirty="0" smtClean="0"/>
              <a:t>McCabe (1976) that measures the complexity </a:t>
            </a:r>
            <a:r>
              <a:rPr lang="en-IN" sz="2400" dirty="0"/>
              <a:t>of </a:t>
            </a:r>
            <a:r>
              <a:rPr lang="en-IN" sz="2400" dirty="0" smtClean="0"/>
              <a:t>code. </a:t>
            </a:r>
          </a:p>
          <a:p>
            <a:pPr marL="177800" indent="-177800"/>
            <a:r>
              <a:rPr lang="en-IN" sz="2400" dirty="0" smtClean="0"/>
              <a:t>It </a:t>
            </a:r>
            <a:r>
              <a:rPr lang="en-IN" sz="2400" dirty="0"/>
              <a:t>is obtained from </a:t>
            </a:r>
            <a:r>
              <a:rPr lang="en-IN" sz="2400" dirty="0" smtClean="0"/>
              <a:t>program </a:t>
            </a:r>
            <a:r>
              <a:rPr lang="en-IN" sz="2400" dirty="0"/>
              <a:t>control flow graph </a:t>
            </a:r>
            <a:r>
              <a:rPr lang="en-IN" sz="2400" dirty="0">
                <a:solidFill>
                  <a:srgbClr val="A50021"/>
                </a:solidFill>
              </a:rPr>
              <a:t>𝐶𝐶 = 𝐸 − 𝑁 + </a:t>
            </a:r>
            <a:r>
              <a:rPr lang="en-IN" sz="2400" dirty="0" smtClean="0">
                <a:solidFill>
                  <a:srgbClr val="A50021"/>
                </a:solidFill>
              </a:rPr>
              <a:t>2, </a:t>
            </a:r>
            <a:r>
              <a:rPr lang="en-IN" sz="2400" dirty="0"/>
              <a:t>where 𝐸 = </a:t>
            </a:r>
            <a:r>
              <a:rPr lang="en-IN" sz="2400" dirty="0"/>
              <a:t> </a:t>
            </a:r>
            <a:r>
              <a:rPr lang="en-IN" sz="2400" dirty="0" smtClean="0"/>
              <a:t>  n𝑢𝑚𝑏𝑒𝑟 </a:t>
            </a:r>
            <a:r>
              <a:rPr lang="en-IN" sz="2400" dirty="0"/>
              <a:t>𝑜𝑓 </a:t>
            </a:r>
            <a:r>
              <a:rPr lang="en-IN" sz="2400" dirty="0" smtClean="0"/>
              <a:t>𝑒𝑑𝑔𝑒𝑠, </a:t>
            </a:r>
            <a:r>
              <a:rPr lang="en-IN" sz="2400" dirty="0"/>
              <a:t>𝑁 = 𝑛𝑢𝑚𝑏𝑒𝑟 𝑜𝑓 </a:t>
            </a:r>
            <a:r>
              <a:rPr lang="en-IN" sz="2400" dirty="0" smtClean="0"/>
              <a:t>𝑛𝑜𝑑𝑒𝑠.</a:t>
            </a:r>
          </a:p>
          <a:p>
            <a:pPr marL="177800" indent="-177800"/>
            <a:r>
              <a:rPr lang="en-IN" sz="2400" dirty="0" smtClean="0"/>
              <a:t>Example, </a:t>
            </a:r>
            <a:endParaRPr lang="en-IN" sz="2400" b="1" dirty="0">
              <a:solidFill>
                <a:srgbClr val="2B0AB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72001"/>
            <a:ext cx="4724400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267" y="2362201"/>
            <a:ext cx="3200400" cy="4038600"/>
          </a:xfrm>
          <a:prstGeom prst="rect">
            <a:avLst/>
          </a:prstGeom>
        </p:spPr>
      </p:pic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970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IN" sz="3200" b="1" dirty="0" smtClean="0">
                <a:solidFill>
                  <a:srgbClr val="A50021"/>
                </a:solidFill>
              </a:rPr>
              <a:t>Measuring </a:t>
            </a:r>
            <a:r>
              <a:rPr lang="en-IN" sz="3200" b="1" dirty="0">
                <a:solidFill>
                  <a:srgbClr val="A50021"/>
                </a:solidFill>
              </a:rPr>
              <a:t>quality attributes</a:t>
            </a:r>
            <a:endParaRPr lang="en-US" sz="3200" b="1" dirty="0">
              <a:solidFill>
                <a:srgbClr val="A50021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457200" lvl="1" indent="-457200">
              <a:buNone/>
            </a:pPr>
            <a:r>
              <a:rPr lang="en-IN" sz="2400" b="1" dirty="0">
                <a:solidFill>
                  <a:srgbClr val="2B0AB6"/>
                </a:solidFill>
              </a:rPr>
              <a:t>Process measures</a:t>
            </a:r>
          </a:p>
          <a:p>
            <a:pPr marL="271463" lvl="1" indent="-271463">
              <a:buFont typeface="Arial" panose="020B0604020202020204" pitchFamily="34" charset="0"/>
              <a:buChar char="•"/>
            </a:pPr>
            <a:r>
              <a:rPr lang="en-US" sz="2400" dirty="0"/>
              <a:t>Measure process aspects like agility, testability, maintainability, </a:t>
            </a:r>
            <a:r>
              <a:rPr lang="en-US" sz="2400" dirty="0" err="1" smtClean="0"/>
              <a:t>deployability</a:t>
            </a:r>
            <a:r>
              <a:rPr lang="en-US" sz="2400" dirty="0" smtClean="0"/>
              <a:t> etc</a:t>
            </a:r>
            <a:r>
              <a:rPr lang="en-US" sz="2400" dirty="0"/>
              <a:t>.</a:t>
            </a:r>
          </a:p>
          <a:p>
            <a:pPr marL="271463" lvl="1" indent="-271463">
              <a:buFont typeface="Arial" panose="020B0604020202020204" pitchFamily="34" charset="0"/>
              <a:buChar char="•"/>
            </a:pPr>
            <a:r>
              <a:rPr lang="en-US" sz="2400" dirty="0"/>
              <a:t>Examples:</a:t>
            </a:r>
          </a:p>
          <a:p>
            <a:pPr marL="671513" lvl="2" indent="-271463"/>
            <a:r>
              <a:rPr lang="en-US" dirty="0">
                <a:solidFill>
                  <a:srgbClr val="2B0AB6"/>
                </a:solidFill>
              </a:rPr>
              <a:t>Testability:</a:t>
            </a:r>
            <a:r>
              <a:rPr lang="en-US" dirty="0"/>
              <a:t> </a:t>
            </a:r>
            <a:r>
              <a:rPr lang="en-US" dirty="0">
                <a:solidFill>
                  <a:srgbClr val="2B0AB6"/>
                </a:solidFill>
              </a:rPr>
              <a:t>Code-coverage during testing</a:t>
            </a:r>
          </a:p>
          <a:p>
            <a:pPr marL="1128713" lvl="3" indent="-271463"/>
            <a:r>
              <a:rPr lang="en-US" sz="2400" dirty="0"/>
              <a:t>Percentage of lines of code that have been run during the test phase</a:t>
            </a:r>
          </a:p>
          <a:p>
            <a:pPr marL="671513" lvl="2" indent="-271463"/>
            <a:r>
              <a:rPr lang="en-US" dirty="0" err="1">
                <a:solidFill>
                  <a:srgbClr val="2B0AB6"/>
                </a:solidFill>
              </a:rPr>
              <a:t>Deployability</a:t>
            </a:r>
            <a:r>
              <a:rPr lang="en-US" dirty="0">
                <a:solidFill>
                  <a:srgbClr val="2B0AB6"/>
                </a:solidFill>
              </a:rPr>
              <a:t>:</a:t>
            </a:r>
          </a:p>
          <a:p>
            <a:pPr marL="1128713" lvl="3" indent="-271463"/>
            <a:r>
              <a:rPr lang="en-US" sz="2400" dirty="0"/>
              <a:t>% of successful to failed deploys</a:t>
            </a:r>
          </a:p>
          <a:p>
            <a:pPr marL="1128713" lvl="3" indent="-271463"/>
            <a:r>
              <a:rPr lang="en-US" sz="2400" dirty="0"/>
              <a:t>How long deployment takes</a:t>
            </a:r>
          </a:p>
          <a:p>
            <a:pPr marL="1128713" lvl="3" indent="-271463"/>
            <a:r>
              <a:rPr lang="en-US" sz="2400" dirty="0"/>
              <a:t>Issues/bugs in deployment</a:t>
            </a:r>
            <a:endParaRPr lang="en-IN" sz="2400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r>
              <a:rPr lang="en-US" dirty="0" smtClean="0"/>
              <a:t>@Dr. </a:t>
            </a:r>
            <a:r>
              <a:rPr lang="en-US" dirty="0" err="1" smtClean="0"/>
              <a:t>Ugrasen</a:t>
            </a:r>
            <a:r>
              <a:rPr lang="en-US" dirty="0" smtClean="0"/>
              <a:t> Suman, Professor, SCSIT, DAVV Indore (MP), India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270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4187</TotalTime>
  <Words>2076</Words>
  <Application>Microsoft Office PowerPoint</Application>
  <PresentationFormat>On-screen Show (4:3)</PresentationFormat>
  <Paragraphs>169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What is Quality?</vt:lpstr>
      <vt:lpstr>Quality attributes</vt:lpstr>
      <vt:lpstr>Quality attribute scenario</vt:lpstr>
      <vt:lpstr>Components of QA scenario</vt:lpstr>
      <vt:lpstr>QA scenario, example 1</vt:lpstr>
      <vt:lpstr>QA Scenario structure for availability</vt:lpstr>
      <vt:lpstr>Types of QA scenarios</vt:lpstr>
      <vt:lpstr>Quality attributes/ Characteristics</vt:lpstr>
      <vt:lpstr>Quality attributes/ Characteristics</vt:lpstr>
      <vt:lpstr>Quality attributes/ Characteristics</vt:lpstr>
      <vt:lpstr>Identifying quality attributes</vt:lpstr>
      <vt:lpstr>Identifying quality attributes</vt:lpstr>
      <vt:lpstr>Identifying quality attributes</vt:lpstr>
      <vt:lpstr>Identifying quality attributes</vt:lpstr>
      <vt:lpstr>Identifying quality attributes</vt:lpstr>
      <vt:lpstr>Measuring quality attributes</vt:lpstr>
      <vt:lpstr>Measuring quality attributes</vt:lpstr>
      <vt:lpstr>Measuring quality attributes</vt:lpstr>
      <vt:lpstr>Measuring quality attributes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MITM</dc:creator>
  <cp:lastModifiedBy>Suman</cp:lastModifiedBy>
  <cp:revision>389</cp:revision>
  <dcterms:created xsi:type="dcterms:W3CDTF">2013-08-03T07:26:24Z</dcterms:created>
  <dcterms:modified xsi:type="dcterms:W3CDTF">2026-01-14T09:47:22Z</dcterms:modified>
</cp:coreProperties>
</file>