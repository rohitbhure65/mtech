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1656" y="96"/>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9ABE418-337B-4933-B86B-1F6EFCC97095}" type="datetimeFigureOut">
              <a:rPr lang="en-IN" smtClean="0"/>
              <a:pPr/>
              <a:t>03-01-2026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8ABC1DF-EE50-4D88-9503-331CD839A608}" type="slidenum">
              <a:rPr lang="en-IN" smtClean="0"/>
              <a:pPr/>
              <a:t>‹#›</a:t>
            </a:fld>
            <a:endParaRPr lang="en-IN"/>
          </a:p>
        </p:txBody>
      </p:sp>
    </p:spTree>
    <p:extLst>
      <p:ext uri="{BB962C8B-B14F-4D97-AF65-F5344CB8AC3E}">
        <p14:creationId xmlns:p14="http://schemas.microsoft.com/office/powerpoint/2010/main" val="2532286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1"/>
          <p:cNvSpPr>
            <a:spLocks noGrp="1" noRot="1" noChangeAspect="1" noChangeArrowheads="1" noTextEdit="1"/>
          </p:cNvSpPr>
          <p:nvPr>
            <p:ph type="sldImg"/>
          </p:nvPr>
        </p:nvSpPr>
        <p:spPr>
          <a:ln/>
        </p:spPr>
      </p:sp>
      <p:sp>
        <p:nvSpPr>
          <p:cNvPr id="28675"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863744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1"/>
          <p:cNvSpPr>
            <a:spLocks noGrp="1" noRot="1" noChangeAspect="1" noChangeArrowheads="1" noTextEdit="1"/>
          </p:cNvSpPr>
          <p:nvPr>
            <p:ph type="sldImg"/>
          </p:nvPr>
        </p:nvSpPr>
        <p:spPr>
          <a:ln/>
        </p:spPr>
      </p:sp>
      <p:sp>
        <p:nvSpPr>
          <p:cNvPr id="34819"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1852143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1"/>
          <p:cNvSpPr>
            <a:spLocks noGrp="1" noRot="1" noChangeAspect="1" noChangeArrowheads="1" noTextEdit="1"/>
          </p:cNvSpPr>
          <p:nvPr>
            <p:ph type="sldImg"/>
          </p:nvPr>
        </p:nvSpPr>
        <p:spPr>
          <a:ln/>
        </p:spPr>
      </p:sp>
      <p:sp>
        <p:nvSpPr>
          <p:cNvPr id="36867"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222685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1"/>
          <p:cNvSpPr>
            <a:spLocks noGrp="1" noRot="1" noChangeAspect="1" noChangeArrowheads="1" noTextEdit="1"/>
          </p:cNvSpPr>
          <p:nvPr>
            <p:ph type="sldImg"/>
          </p:nvPr>
        </p:nvSpPr>
        <p:spPr>
          <a:ln/>
        </p:spPr>
      </p:sp>
      <p:sp>
        <p:nvSpPr>
          <p:cNvPr id="43011"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090186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ln/>
        </p:spPr>
      </p:sp>
      <p:sp>
        <p:nvSpPr>
          <p:cNvPr id="45059"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830984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1"/>
          <p:cNvSpPr>
            <a:spLocks noGrp="1" noRot="1" noChangeAspect="1" noChangeArrowheads="1" noTextEdit="1"/>
          </p:cNvSpPr>
          <p:nvPr>
            <p:ph type="sldImg"/>
          </p:nvPr>
        </p:nvSpPr>
        <p:spPr>
          <a:ln/>
        </p:spPr>
      </p:sp>
      <p:sp>
        <p:nvSpPr>
          <p:cNvPr id="47107"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941004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1"/>
          <p:cNvSpPr>
            <a:spLocks noGrp="1" noRot="1" noChangeAspect="1" noChangeArrowheads="1" noTextEdit="1"/>
          </p:cNvSpPr>
          <p:nvPr>
            <p:ph type="sldImg"/>
          </p:nvPr>
        </p:nvSpPr>
        <p:spPr>
          <a:ln/>
        </p:spPr>
      </p:sp>
      <p:sp>
        <p:nvSpPr>
          <p:cNvPr id="49155"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913273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1"/>
          <p:cNvSpPr>
            <a:spLocks noGrp="1" noRot="1" noChangeAspect="1" noChangeArrowheads="1" noTextEdit="1"/>
          </p:cNvSpPr>
          <p:nvPr>
            <p:ph type="sldImg"/>
          </p:nvPr>
        </p:nvSpPr>
        <p:spPr>
          <a:ln/>
        </p:spPr>
      </p:sp>
      <p:sp>
        <p:nvSpPr>
          <p:cNvPr id="51203"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960565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1"/>
          <p:cNvSpPr>
            <a:spLocks noGrp="1" noRot="1" noChangeAspect="1" noChangeArrowheads="1" noTextEdit="1"/>
          </p:cNvSpPr>
          <p:nvPr>
            <p:ph type="sldImg"/>
          </p:nvPr>
        </p:nvSpPr>
        <p:spPr>
          <a:ln/>
        </p:spPr>
      </p:sp>
      <p:sp>
        <p:nvSpPr>
          <p:cNvPr id="53251"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284823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1"/>
          <p:cNvSpPr>
            <a:spLocks noGrp="1" noRot="1" noChangeAspect="1" noChangeArrowheads="1" noTextEdit="1"/>
          </p:cNvSpPr>
          <p:nvPr>
            <p:ph type="sldImg"/>
          </p:nvPr>
        </p:nvSpPr>
        <p:spPr>
          <a:ln/>
        </p:spPr>
      </p:sp>
      <p:sp>
        <p:nvSpPr>
          <p:cNvPr id="55299"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7466959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
          <p:cNvSpPr>
            <a:spLocks noGrp="1" noRot="1" noChangeAspect="1" noChangeArrowheads="1" noTextEdit="1"/>
          </p:cNvSpPr>
          <p:nvPr>
            <p:ph type="sldImg"/>
          </p:nvPr>
        </p:nvSpPr>
        <p:spPr>
          <a:ln/>
        </p:spPr>
      </p:sp>
      <p:sp>
        <p:nvSpPr>
          <p:cNvPr id="57347"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721359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1"/>
          <p:cNvSpPr>
            <a:spLocks noGrp="1" noRot="1" noChangeAspect="1" noChangeArrowheads="1" noTextEdit="1"/>
          </p:cNvSpPr>
          <p:nvPr>
            <p:ph type="sldImg"/>
          </p:nvPr>
        </p:nvSpPr>
        <p:spPr>
          <a:ln/>
        </p:spPr>
      </p:sp>
      <p:sp>
        <p:nvSpPr>
          <p:cNvPr id="59395"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266800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1"/>
          <p:cNvSpPr>
            <a:spLocks noGrp="1" noRot="1" noChangeAspect="1" noChangeArrowheads="1" noTextEdit="1"/>
          </p:cNvSpPr>
          <p:nvPr>
            <p:ph type="sldImg"/>
          </p:nvPr>
        </p:nvSpPr>
        <p:spPr>
          <a:ln/>
        </p:spPr>
      </p:sp>
      <p:sp>
        <p:nvSpPr>
          <p:cNvPr id="64515"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4281989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1"/>
          <p:cNvSpPr>
            <a:spLocks noGrp="1" noRot="1" noChangeAspect="1" noChangeArrowheads="1" noTextEdit="1"/>
          </p:cNvSpPr>
          <p:nvPr>
            <p:ph type="sldImg"/>
          </p:nvPr>
        </p:nvSpPr>
        <p:spPr>
          <a:ln/>
        </p:spPr>
      </p:sp>
      <p:sp>
        <p:nvSpPr>
          <p:cNvPr id="66563"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4454416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1"/>
          <p:cNvSpPr>
            <a:spLocks noGrp="1" noRot="1" noChangeAspect="1" noChangeArrowheads="1" noTextEdit="1"/>
          </p:cNvSpPr>
          <p:nvPr>
            <p:ph type="sldImg"/>
          </p:nvPr>
        </p:nvSpPr>
        <p:spPr>
          <a:ln/>
        </p:spPr>
      </p:sp>
      <p:sp>
        <p:nvSpPr>
          <p:cNvPr id="71683"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524424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1"/>
          <p:cNvSpPr>
            <a:spLocks noGrp="1" noRot="1" noChangeAspect="1" noChangeArrowheads="1" noTextEdit="1"/>
          </p:cNvSpPr>
          <p:nvPr>
            <p:ph type="sldImg"/>
          </p:nvPr>
        </p:nvSpPr>
        <p:spPr>
          <a:ln/>
        </p:spPr>
      </p:sp>
      <p:sp>
        <p:nvSpPr>
          <p:cNvPr id="77827"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3436570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1"/>
          <p:cNvSpPr>
            <a:spLocks noGrp="1" noRot="1" noChangeAspect="1" noChangeArrowheads="1" noTextEdit="1"/>
          </p:cNvSpPr>
          <p:nvPr>
            <p:ph type="sldImg"/>
          </p:nvPr>
        </p:nvSpPr>
        <p:spPr>
          <a:ln/>
        </p:spPr>
      </p:sp>
      <p:sp>
        <p:nvSpPr>
          <p:cNvPr id="79875"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4737635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1"/>
          <p:cNvSpPr>
            <a:spLocks noGrp="1" noRot="1" noChangeAspect="1" noChangeArrowheads="1" noTextEdit="1"/>
          </p:cNvSpPr>
          <p:nvPr>
            <p:ph type="sldImg"/>
          </p:nvPr>
        </p:nvSpPr>
        <p:spPr>
          <a:ln/>
        </p:spPr>
      </p:sp>
      <p:sp>
        <p:nvSpPr>
          <p:cNvPr id="81923"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10119956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1"/>
          <p:cNvSpPr>
            <a:spLocks noGrp="1" noRot="1" noChangeAspect="1" noChangeArrowheads="1" noTextEdit="1"/>
          </p:cNvSpPr>
          <p:nvPr>
            <p:ph type="sldImg"/>
          </p:nvPr>
        </p:nvSpPr>
        <p:spPr>
          <a:ln/>
        </p:spPr>
      </p:sp>
      <p:sp>
        <p:nvSpPr>
          <p:cNvPr id="83971"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33193714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1"/>
          <p:cNvSpPr>
            <a:spLocks noGrp="1" noRot="1" noChangeAspect="1" noChangeArrowheads="1" noTextEdit="1"/>
          </p:cNvSpPr>
          <p:nvPr>
            <p:ph type="sldImg"/>
          </p:nvPr>
        </p:nvSpPr>
        <p:spPr>
          <a:ln/>
        </p:spPr>
      </p:sp>
      <p:sp>
        <p:nvSpPr>
          <p:cNvPr id="86019" name="Rectangle 2"/>
          <p:cNvSpPr txBox="1">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mtClean="0">
              <a:latin typeface="Times New Roman" panose="02020603050405020304" pitchFamily="18" charset="0"/>
            </a:endParaRPr>
          </a:p>
        </p:txBody>
      </p:sp>
    </p:spTree>
    <p:extLst>
      <p:ext uri="{BB962C8B-B14F-4D97-AF65-F5344CB8AC3E}">
        <p14:creationId xmlns:p14="http://schemas.microsoft.com/office/powerpoint/2010/main" val="225128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9CEBED-AEEC-4F39-9463-B85153B936AF}" type="datetime1">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9A309-BFA0-4D3C-AD28-64B19BD0C898}" type="datetime1">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13C863-47CB-4298-8993-9842BD329DD2}" type="datetime1">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FD52A84-651A-49C7-A419-5E5F1F1E2095}" type="datetime1">
              <a:rPr lang="en-US" smtClean="0"/>
              <a:pPr/>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110A483-1466-46CC-A8D0-04DA713DD156}" type="datetime1">
              <a:rPr lang="en-US" smtClean="0"/>
              <a:pPr/>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D5DE77D-46FD-42F3-BD77-AE9BF9970C6A}" type="datetime1">
              <a:rPr lang="en-US" smtClean="0"/>
              <a:pPr/>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346D6C-1483-4A7D-AD5B-F250E3104A3F}" type="datetime1">
              <a:rPr lang="en-US" smtClean="0"/>
              <a:pPr/>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025B2FE-5802-462D-B4E7-E91804D68340}" type="datetime1">
              <a:rPr lang="en-US" smtClean="0"/>
              <a:pPr/>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582CA8-A2BE-420D-98DE-F3ECC242B3A2}" type="datetime1">
              <a:rPr lang="en-US" smtClean="0"/>
              <a:pPr/>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1D487B-CC0D-49DA-A824-06599DD797C2}" type="datetime1">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E3E7C2D-3109-4F93-B152-407C414AFB23}" type="datetime1">
              <a:rPr lang="en-US" smtClean="0"/>
              <a:pPr/>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pPr>
              <a:defRPr/>
            </a:pPr>
            <a:fld id="{345F6789-C72A-4D18-BE3A-A70E38FC86E9}" type="datetime1">
              <a:rPr lang="en-US"/>
              <a:pPr>
                <a:defRPr/>
              </a:pPr>
              <a:t>1/3/2026</a:t>
            </a:fld>
            <a:endParaRPr lang="en-US" dirty="0"/>
          </a:p>
        </p:txBody>
      </p:sp>
      <p:sp>
        <p:nvSpPr>
          <p:cNvPr id="4" name="Slide Number Placeholder 3"/>
          <p:cNvSpPr>
            <a:spLocks noGrp="1"/>
          </p:cNvSpPr>
          <p:nvPr>
            <p:ph type="sldNum" sz="quarter" idx="11"/>
          </p:nvPr>
        </p:nvSpPr>
        <p:spPr/>
        <p:txBody>
          <a:bodyPr/>
          <a:lstStyle>
            <a:lvl1pPr>
              <a:defRPr>
                <a:solidFill>
                  <a:schemeClr val="accent3">
                    <a:shade val="75000"/>
                  </a:schemeClr>
                </a:solidFill>
              </a:defRPr>
            </a:lvl1pPr>
          </a:lstStyle>
          <a:p>
            <a:pPr>
              <a:defRPr/>
            </a:pPr>
            <a:r>
              <a:rPr lang="en-US"/>
              <a:t>Software Reuse</a:t>
            </a:r>
            <a:endParaRPr lang="en-US" dirty="0"/>
          </a:p>
        </p:txBody>
      </p:sp>
    </p:spTree>
    <p:extLst>
      <p:ext uri="{BB962C8B-B14F-4D97-AF65-F5344CB8AC3E}">
        <p14:creationId xmlns:p14="http://schemas.microsoft.com/office/powerpoint/2010/main" val="114736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480E83-DADA-401A-BBC2-6E8C95C403CF}" type="datetime1">
              <a:rPr lang="en-US" smtClean="0"/>
              <a:pPr/>
              <a:t>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5.wmf"/><Relationship Id="rId4" Type="http://schemas.openxmlformats.org/officeDocument/2006/relationships/oleObject" Target="../embeddings/oleObject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
          <p:cNvSpPr>
            <a:spLocks noGrp="1" noChangeArrowheads="1"/>
          </p:cNvSpPr>
          <p:nvPr>
            <p:ph type="title"/>
          </p:nvPr>
        </p:nvSpPr>
        <p:spPr>
          <a:xfrm>
            <a:off x="762000" y="2286000"/>
            <a:ext cx="7772400" cy="1600200"/>
          </a:xfrm>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smtClean="0">
                <a:solidFill>
                  <a:srgbClr val="0000CC"/>
                </a:solidFill>
              </a:rPr>
              <a:t>Concepts of Design Patterns</a:t>
            </a:r>
          </a:p>
        </p:txBody>
      </p:sp>
    </p:spTree>
    <p:extLst>
      <p:ext uri="{BB962C8B-B14F-4D97-AF65-F5344CB8AC3E}">
        <p14:creationId xmlns:p14="http://schemas.microsoft.com/office/powerpoint/2010/main" val="3956530766"/>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ubtitle 3"/>
          <p:cNvSpPr>
            <a:spLocks noGrp="1"/>
          </p:cNvSpPr>
          <p:nvPr>
            <p:ph type="subTitle" idx="1"/>
          </p:nvPr>
        </p:nvSpPr>
        <p:spPr>
          <a:xfrm>
            <a:off x="533400" y="1371600"/>
            <a:ext cx="8305800" cy="4876800"/>
          </a:xfrm>
        </p:spPr>
        <p:txBody>
          <a:bodyPr>
            <a:normAutofit/>
          </a:bodyPr>
          <a:lstStyle/>
          <a:p>
            <a:pPr marL="342900" indent="-342900" algn="l" eaLnBrk="1" fontAlgn="auto" hangingPunct="1">
              <a:spcAft>
                <a:spcPts val="0"/>
              </a:spcAft>
              <a:buFont typeface="Wingdings" panose="05000000000000000000" pitchFamily="2" charset="2"/>
              <a:buChar char="Ø"/>
              <a:defRPr/>
            </a:pPr>
            <a:r>
              <a:rPr lang="en-US" sz="2400" b="0" cap="none" dirty="0" smtClean="0">
                <a:solidFill>
                  <a:schemeClr val="tx1"/>
                </a:solidFill>
                <a:latin typeface="Times New Roman" pitchFamily="18" charset="0"/>
                <a:cs typeface="Times New Roman" pitchFamily="18" charset="0"/>
              </a:rPr>
              <a:t>D</a:t>
            </a:r>
            <a:r>
              <a:rPr lang="en-IN" sz="2400" b="0" cap="none" dirty="0" err="1" smtClean="0">
                <a:solidFill>
                  <a:schemeClr val="tx1"/>
                </a:solidFill>
                <a:latin typeface="Times New Roman" pitchFamily="18" charset="0"/>
                <a:cs typeface="Times New Roman" pitchFamily="18" charset="0"/>
              </a:rPr>
              <a:t>esign</a:t>
            </a:r>
            <a:r>
              <a:rPr lang="en-IN" sz="2400" b="0" cap="none" dirty="0" smtClean="0">
                <a:solidFill>
                  <a:schemeClr val="tx1"/>
                </a:solidFill>
                <a:latin typeface="Times New Roman" pitchFamily="18" charset="0"/>
                <a:cs typeface="Times New Roman" pitchFamily="18" charset="0"/>
              </a:rPr>
              <a:t> patterns are optimized, reusable solutions to </a:t>
            </a:r>
            <a:r>
              <a:rPr lang="en-IN" sz="2400" b="0" cap="none" dirty="0" smtClean="0">
                <a:solidFill>
                  <a:schemeClr val="tx1"/>
                </a:solidFill>
                <a:latin typeface="Times New Roman" pitchFamily="18" charset="0"/>
                <a:cs typeface="Times New Roman" pitchFamily="18" charset="0"/>
              </a:rPr>
              <a:t>the programming </a:t>
            </a:r>
            <a:r>
              <a:rPr lang="en-IN" sz="2400" b="0" cap="none" dirty="0" smtClean="0">
                <a:solidFill>
                  <a:schemeClr val="tx1"/>
                </a:solidFill>
                <a:latin typeface="Times New Roman" pitchFamily="18" charset="0"/>
                <a:cs typeface="Times New Roman" pitchFamily="18" charset="0"/>
              </a:rPr>
              <a:t>problems that we encounter every day. </a:t>
            </a:r>
          </a:p>
          <a:p>
            <a:pPr marL="342900" indent="-342900" algn="l" eaLnBrk="1" fontAlgn="auto" hangingPunct="1">
              <a:spcAft>
                <a:spcPts val="0"/>
              </a:spcAft>
              <a:buFont typeface="Wingdings" panose="05000000000000000000" pitchFamily="2" charset="2"/>
              <a:buChar char="Ø"/>
              <a:defRPr/>
            </a:pPr>
            <a:r>
              <a:rPr lang="en-IN" sz="2400" b="0" cap="none" dirty="0" smtClean="0">
                <a:solidFill>
                  <a:schemeClr val="tx1"/>
                </a:solidFill>
                <a:latin typeface="Times New Roman" pitchFamily="18" charset="0"/>
                <a:cs typeface="Times New Roman" pitchFamily="18" charset="0"/>
              </a:rPr>
              <a:t>A design pattern is not a class or a library that we can simply plug into our system; it’s much more than that. </a:t>
            </a:r>
          </a:p>
          <a:p>
            <a:pPr marL="342900" indent="-342900" algn="l" eaLnBrk="1" fontAlgn="auto" hangingPunct="1">
              <a:spcAft>
                <a:spcPts val="0"/>
              </a:spcAft>
              <a:buFont typeface="Wingdings" panose="05000000000000000000" pitchFamily="2" charset="2"/>
              <a:buChar char="Ø"/>
              <a:defRPr/>
            </a:pPr>
            <a:r>
              <a:rPr lang="en-IN" sz="2400" b="0" cap="none" dirty="0" smtClean="0">
                <a:solidFill>
                  <a:schemeClr val="tx1"/>
                </a:solidFill>
                <a:latin typeface="Times New Roman" pitchFamily="18" charset="0"/>
                <a:cs typeface="Times New Roman" pitchFamily="18" charset="0"/>
              </a:rPr>
              <a:t>It is a template that has to be implemented in the correct situation.</a:t>
            </a:r>
            <a:endParaRPr lang="en-US" sz="2400" b="0" cap="none" dirty="0" smtClean="0">
              <a:solidFill>
                <a:schemeClr val="tx1"/>
              </a:solidFill>
              <a:latin typeface="Times New Roman" pitchFamily="18" charset="0"/>
              <a:cs typeface="Times New Roman" pitchFamily="18" charset="0"/>
            </a:endParaRPr>
          </a:p>
        </p:txBody>
      </p:sp>
      <p:sp>
        <p:nvSpPr>
          <p:cNvPr id="29699" name="Title 5"/>
          <p:cNvSpPr>
            <a:spLocks noGrp="1"/>
          </p:cNvSpPr>
          <p:nvPr>
            <p:ph type="ctrTitle"/>
          </p:nvPr>
        </p:nvSpPr>
        <p:spPr>
          <a:xfrm>
            <a:off x="685800" y="457200"/>
            <a:ext cx="7772400" cy="381000"/>
          </a:xfrm>
        </p:spPr>
        <p:txBody>
          <a:bodyPr>
            <a:noAutofit/>
          </a:bodyPr>
          <a:lstStyle/>
          <a:p>
            <a:pPr eaLnBrk="1" hangingPunct="1"/>
            <a:r>
              <a:rPr lang="en-US" sz="3200" b="1" dirty="0" smtClean="0">
                <a:solidFill>
                  <a:srgbClr val="0000CC"/>
                </a:solidFill>
              </a:rPr>
              <a:t>Background</a:t>
            </a:r>
          </a:p>
        </p:txBody>
      </p:sp>
    </p:spTree>
    <p:extLst>
      <p:ext uri="{BB962C8B-B14F-4D97-AF65-F5344CB8AC3E}">
        <p14:creationId xmlns:p14="http://schemas.microsoft.com/office/powerpoint/2010/main" val="10083022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685800" y="228600"/>
            <a:ext cx="7772400" cy="685800"/>
          </a:xfrm>
        </p:spPr>
        <p:txBody>
          <a:bodyPr/>
          <a:lstStyle/>
          <a:p>
            <a:pPr eaLnBrk="1" hangingPunct="1"/>
            <a:r>
              <a:rPr lang="en-US" sz="3200" b="1" dirty="0" smtClean="0">
                <a:solidFill>
                  <a:srgbClr val="0000CC"/>
                </a:solidFill>
              </a:rPr>
              <a:t>Finding Objects</a:t>
            </a:r>
          </a:p>
        </p:txBody>
      </p:sp>
      <p:sp>
        <p:nvSpPr>
          <p:cNvPr id="30723" name="Content Placeholder 2"/>
          <p:cNvSpPr>
            <a:spLocks noGrp="1"/>
          </p:cNvSpPr>
          <p:nvPr>
            <p:ph sz="quarter" idx="1"/>
          </p:nvPr>
        </p:nvSpPr>
        <p:spPr>
          <a:xfrm>
            <a:off x="690282" y="1295400"/>
            <a:ext cx="7772400" cy="4114800"/>
          </a:xfrm>
        </p:spPr>
        <p:txBody>
          <a:bodyPr>
            <a:noAutofit/>
          </a:bodyPr>
          <a:lstStyle/>
          <a:p>
            <a:pPr eaLnBrk="1" hangingPunct="1"/>
            <a:r>
              <a:rPr lang="en-US" sz="2400" b="1" dirty="0" smtClean="0"/>
              <a:t>The hardest problems in object-oriented system development are: </a:t>
            </a:r>
          </a:p>
          <a:p>
            <a:pPr lvl="1" eaLnBrk="1" hangingPunct="1"/>
            <a:r>
              <a:rPr lang="en-US" sz="2400" dirty="0" smtClean="0">
                <a:ea typeface="ＭＳ Ｐゴシック" panose="020B0600070205080204" pitchFamily="34" charset="-128"/>
              </a:rPr>
              <a:t>Identifying objects</a:t>
            </a:r>
          </a:p>
          <a:p>
            <a:pPr lvl="1" eaLnBrk="1" hangingPunct="1"/>
            <a:r>
              <a:rPr lang="en-US" sz="2400" dirty="0" smtClean="0">
                <a:ea typeface="ＭＳ Ｐゴシック" panose="020B0600070205080204" pitchFamily="34" charset="-128"/>
              </a:rPr>
              <a:t>Decomposing the system into objects</a:t>
            </a:r>
          </a:p>
          <a:p>
            <a:pPr eaLnBrk="1" hangingPunct="1"/>
            <a:r>
              <a:rPr lang="en-US" sz="2400" b="1" dirty="0" smtClean="0"/>
              <a:t>Requirements Analysis focuses on application domain:</a:t>
            </a:r>
          </a:p>
          <a:p>
            <a:pPr lvl="1" eaLnBrk="1" hangingPunct="1"/>
            <a:r>
              <a:rPr lang="en-US" sz="2400" dirty="0" smtClean="0">
                <a:ea typeface="ＭＳ Ｐゴシック" panose="020B0600070205080204" pitchFamily="34" charset="-128"/>
              </a:rPr>
              <a:t> Object identification</a:t>
            </a:r>
          </a:p>
          <a:p>
            <a:pPr eaLnBrk="1" hangingPunct="1"/>
            <a:r>
              <a:rPr lang="en-US" sz="2400" b="1" dirty="0" smtClean="0"/>
              <a:t>System Design addresses both,  application and implementation domain:</a:t>
            </a:r>
          </a:p>
          <a:p>
            <a:pPr lvl="1" eaLnBrk="1" hangingPunct="1"/>
            <a:r>
              <a:rPr lang="en-US" sz="2400" dirty="0" smtClean="0">
                <a:ea typeface="ＭＳ Ｐゴシック" panose="020B0600070205080204" pitchFamily="34" charset="-128"/>
              </a:rPr>
              <a:t>Subsystem Identification</a:t>
            </a:r>
          </a:p>
          <a:p>
            <a:pPr eaLnBrk="1" hangingPunct="1"/>
            <a:r>
              <a:rPr lang="en-US" sz="2400" b="1" dirty="0" smtClean="0"/>
              <a:t>Object Design focuses on implementation domain:</a:t>
            </a:r>
          </a:p>
          <a:p>
            <a:pPr lvl="1" eaLnBrk="1" hangingPunct="1"/>
            <a:r>
              <a:rPr lang="en-US" sz="2400" dirty="0" smtClean="0">
                <a:ea typeface="ＭＳ Ｐゴシック" panose="020B0600070205080204" pitchFamily="34" charset="-128"/>
              </a:rPr>
              <a:t>Additional solution objects</a:t>
            </a:r>
            <a:endParaRPr lang="en-US" sz="2400" dirty="0" smtClean="0"/>
          </a:p>
        </p:txBody>
      </p:sp>
    </p:spTree>
    <p:extLst>
      <p:ext uri="{BB962C8B-B14F-4D97-AF65-F5344CB8AC3E}">
        <p14:creationId xmlns:p14="http://schemas.microsoft.com/office/powerpoint/2010/main" val="1826644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685800" y="228600"/>
            <a:ext cx="7772400" cy="762000"/>
          </a:xfrm>
        </p:spPr>
        <p:txBody>
          <a:bodyPr/>
          <a:lstStyle/>
          <a:p>
            <a:pPr eaLnBrk="1" hangingPunct="1"/>
            <a:r>
              <a:rPr lang="en-US" sz="3200" b="1" dirty="0" smtClean="0">
                <a:solidFill>
                  <a:srgbClr val="0000CC"/>
                </a:solidFill>
              </a:rPr>
              <a:t>Techniques for Finding Objects</a:t>
            </a:r>
          </a:p>
        </p:txBody>
      </p:sp>
      <p:sp>
        <p:nvSpPr>
          <p:cNvPr id="18435" name="Content Placeholder 2"/>
          <p:cNvSpPr>
            <a:spLocks noGrp="1"/>
          </p:cNvSpPr>
          <p:nvPr>
            <p:ph sz="quarter" idx="1"/>
          </p:nvPr>
        </p:nvSpPr>
        <p:spPr>
          <a:xfrm>
            <a:off x="457200" y="1143000"/>
            <a:ext cx="8458200" cy="5410200"/>
          </a:xfrm>
        </p:spPr>
        <p:txBody>
          <a:bodyPr>
            <a:noAutofit/>
          </a:bodyPr>
          <a:lstStyle/>
          <a:p>
            <a:pPr marL="274320" indent="-274320" eaLnBrk="1" fontAlgn="auto" hangingPunct="1">
              <a:spcAft>
                <a:spcPts val="0"/>
              </a:spcAft>
              <a:buFont typeface="Wingdings 2"/>
              <a:buChar char=""/>
              <a:defRPr/>
            </a:pPr>
            <a:r>
              <a:rPr lang="en-US" sz="2400" b="1" dirty="0" smtClean="0"/>
              <a:t>Requirements Analysis</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Start with Use Cases. Identify participating objects</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Textual analysis of flow of events (find nouns, verbs, ...)</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Extract  application domain objects by interviewing client (application domain knowledge)</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Find objects by using general knowledge</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Extract objects from Use Case scenarios (dynamic model)</a:t>
            </a:r>
          </a:p>
          <a:p>
            <a:pPr marL="274320" indent="-274320" eaLnBrk="1" fontAlgn="auto" hangingPunct="1">
              <a:spcAft>
                <a:spcPts val="0"/>
              </a:spcAft>
              <a:buFont typeface="Wingdings 2"/>
              <a:buChar char=""/>
              <a:defRPr/>
            </a:pPr>
            <a:r>
              <a:rPr lang="en-US" sz="2400" b="1" dirty="0" smtClean="0"/>
              <a:t>System Design </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Subsystem decomposition </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Try to identify layers and partitions</a:t>
            </a:r>
          </a:p>
          <a:p>
            <a:pPr marL="274320" indent="-274320" eaLnBrk="1" fontAlgn="auto" hangingPunct="1">
              <a:spcAft>
                <a:spcPts val="0"/>
              </a:spcAft>
              <a:buFont typeface="Wingdings 2"/>
              <a:buChar char=""/>
              <a:defRPr/>
            </a:pPr>
            <a:r>
              <a:rPr lang="en-US" sz="2400" b="1" dirty="0" smtClean="0"/>
              <a:t>Object Design</a:t>
            </a:r>
          </a:p>
          <a:p>
            <a:pPr marL="617220" lvl="1" indent="-342900" eaLnBrk="1" fontAlgn="auto" hangingPunct="1">
              <a:spcAft>
                <a:spcPts val="0"/>
              </a:spcAft>
              <a:buFont typeface="Wingdings" panose="05000000000000000000" pitchFamily="2" charset="2"/>
              <a:buChar char="Ø"/>
              <a:defRPr/>
            </a:pPr>
            <a:r>
              <a:rPr lang="en-US" sz="2200" dirty="0" smtClean="0">
                <a:ea typeface="ＭＳ Ｐゴシック" pitchFamily="34" charset="-128"/>
              </a:rPr>
              <a:t>Find additional objects by applying implementation domain knowledge</a:t>
            </a:r>
          </a:p>
          <a:p>
            <a:pPr marL="274320" indent="-274320" eaLnBrk="1" fontAlgn="auto" hangingPunct="1">
              <a:spcAft>
                <a:spcPts val="0"/>
              </a:spcAft>
              <a:buFont typeface="Wingdings 2"/>
              <a:buChar char=""/>
              <a:defRPr/>
            </a:pPr>
            <a:endParaRPr lang="en-US" sz="2400" dirty="0" smtClean="0"/>
          </a:p>
        </p:txBody>
      </p:sp>
    </p:spTree>
    <p:extLst>
      <p:ext uri="{BB962C8B-B14F-4D97-AF65-F5344CB8AC3E}">
        <p14:creationId xmlns:p14="http://schemas.microsoft.com/office/powerpoint/2010/main" val="41633781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301625" y="304800"/>
            <a:ext cx="8534400" cy="758825"/>
          </a:xfrm>
        </p:spPr>
        <p:txBody>
          <a:bodyPr>
            <a:normAutofit fontScale="90000"/>
          </a:bodyPr>
          <a:lstStyle/>
          <a:p>
            <a:pPr eaLnBrk="1" fontAlgn="auto" hangingPunct="1">
              <a:spcAft>
                <a:spcPts val="0"/>
              </a:spcAft>
              <a:defRPr/>
            </a:pPr>
            <a:r>
              <a:rPr lang="en-US" sz="3200" b="1" dirty="0" smtClean="0">
                <a:solidFill>
                  <a:srgbClr val="0000CC"/>
                </a:solidFill>
              </a:rPr>
              <a:t>Another Source for Finding Objects : Design Patterns</a:t>
            </a:r>
          </a:p>
        </p:txBody>
      </p:sp>
      <p:sp>
        <p:nvSpPr>
          <p:cNvPr id="32771" name="Content Placeholder 2"/>
          <p:cNvSpPr>
            <a:spLocks noGrp="1"/>
          </p:cNvSpPr>
          <p:nvPr>
            <p:ph sz="quarter" idx="1"/>
          </p:nvPr>
        </p:nvSpPr>
        <p:spPr>
          <a:xfrm>
            <a:off x="301625" y="1527175"/>
            <a:ext cx="8504238" cy="4572000"/>
          </a:xfrm>
        </p:spPr>
        <p:txBody>
          <a:bodyPr/>
          <a:lstStyle/>
          <a:p>
            <a:pPr eaLnBrk="1" hangingPunct="1"/>
            <a:r>
              <a:rPr lang="en-US" sz="2400" dirty="0" smtClean="0"/>
              <a:t>Design Patterns are:</a:t>
            </a:r>
            <a:endParaRPr lang="en-US" altLang="en-US" sz="2400" dirty="0" smtClean="0"/>
          </a:p>
          <a:p>
            <a:pPr lvl="1" algn="just" eaLnBrk="1" hangingPunct="1"/>
            <a:r>
              <a:rPr lang="en-US" altLang="en-US" sz="2400" dirty="0" smtClean="0">
                <a:ea typeface="ＭＳ Ｐゴシック" panose="020B0600070205080204" pitchFamily="34" charset="-128"/>
                <a:cs typeface="Times" panose="02020603050405020304" pitchFamily="18" charset="0"/>
              </a:rPr>
              <a:t>The recurring aspects of designs are called </a:t>
            </a:r>
            <a:r>
              <a:rPr lang="en-US" altLang="en-US" sz="2400" i="1" dirty="0" smtClean="0">
                <a:ea typeface="ＭＳ Ｐゴシック" panose="020B0600070205080204" pitchFamily="34" charset="-128"/>
                <a:cs typeface="Times" panose="02020603050405020304" pitchFamily="18" charset="0"/>
              </a:rPr>
              <a:t>design patterns</a:t>
            </a:r>
            <a:r>
              <a:rPr lang="en-US" sz="2400" dirty="0" smtClean="0">
                <a:ea typeface="ＭＳ Ｐゴシック" panose="020B0600070205080204" pitchFamily="34" charset="-128"/>
              </a:rPr>
              <a:t> [Gamma et al 1995].</a:t>
            </a:r>
            <a:endParaRPr lang="en-US" altLang="en-US" sz="2400" dirty="0" smtClean="0">
              <a:ea typeface="ＭＳ Ｐゴシック" panose="020B0600070205080204" pitchFamily="34" charset="-128"/>
            </a:endParaRPr>
          </a:p>
          <a:p>
            <a:pPr lvl="1" algn="just" eaLnBrk="1" hangingPunct="1"/>
            <a:r>
              <a:rPr lang="en-US" altLang="en-US" sz="2400" dirty="0" smtClean="0">
                <a:ea typeface="ＭＳ Ｐゴシック" panose="020B0600070205080204" pitchFamily="34" charset="-128"/>
              </a:rPr>
              <a:t>A </a:t>
            </a:r>
            <a:r>
              <a:rPr lang="en-US" altLang="en-US" sz="2400" i="1" dirty="0" smtClean="0">
                <a:ea typeface="ＭＳ Ｐゴシック" panose="020B0600070205080204" pitchFamily="34" charset="-128"/>
              </a:rPr>
              <a:t>pattern</a:t>
            </a:r>
            <a:r>
              <a:rPr lang="en-US" altLang="en-US" sz="2400" dirty="0" smtClean="0">
                <a:ea typeface="ＭＳ Ｐゴシック" panose="020B0600070205080204" pitchFamily="34" charset="-128"/>
              </a:rPr>
              <a:t> is the outline of a reusable solution to a general problem encountered in a particular context.</a:t>
            </a:r>
          </a:p>
          <a:p>
            <a:pPr lvl="1" algn="just" eaLnBrk="1" hangingPunct="1"/>
            <a:r>
              <a:rPr lang="en-US" sz="2400" dirty="0" smtClean="0">
                <a:ea typeface="ＭＳ Ｐゴシック" panose="020B0600070205080204" pitchFamily="34" charset="-128"/>
              </a:rPr>
              <a:t>It describes the core of the solution to that problem, in such a way that you can use this solution a million times over, without ever doing it the same twice. </a:t>
            </a:r>
            <a:r>
              <a:rPr lang="en-US" altLang="en-US" sz="2400" dirty="0" smtClean="0">
                <a:ea typeface="ＭＳ Ｐゴシック" panose="020B0600070205080204" pitchFamily="34" charset="-128"/>
              </a:rPr>
              <a:t>Many of them have been systematically documented for all software developers to use.</a:t>
            </a:r>
          </a:p>
          <a:p>
            <a:pPr eaLnBrk="1" hangingPunct="1"/>
            <a:endParaRPr lang="en-US" sz="2400" dirty="0" smtClean="0"/>
          </a:p>
        </p:txBody>
      </p:sp>
    </p:spTree>
    <p:extLst>
      <p:ext uri="{BB962C8B-B14F-4D97-AF65-F5344CB8AC3E}">
        <p14:creationId xmlns:p14="http://schemas.microsoft.com/office/powerpoint/2010/main" val="7557178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
          <p:cNvSpPr>
            <a:spLocks noGrp="1" noChangeArrowheads="1"/>
          </p:cNvSpPr>
          <p:nvPr>
            <p:ph type="title"/>
          </p:nvPr>
        </p:nvSpPr>
        <p:spPr>
          <a:xfrm>
            <a:off x="457200" y="274638"/>
            <a:ext cx="8229600" cy="715962"/>
          </a:xfrm>
        </p:spPr>
        <p:txBody>
          <a:bodyPr/>
          <a:lstStyle/>
          <a:p>
            <a:pPr eaLnBrk="1" hangingPunct="1">
              <a:lnSpc>
                <a:spcPts val="2163"/>
              </a:lnSpc>
            </a:pPr>
            <a:r>
              <a:rPr lang="en-US" sz="3200" b="1" dirty="0" smtClean="0">
                <a:solidFill>
                  <a:srgbClr val="0000CC"/>
                </a:solidFill>
              </a:rPr>
              <a:t>What is a Pattern?</a:t>
            </a:r>
          </a:p>
        </p:txBody>
      </p:sp>
      <p:sp>
        <p:nvSpPr>
          <p:cNvPr id="33795" name="Rectangle 2"/>
          <p:cNvSpPr>
            <a:spLocks noGrp="1" noChangeArrowheads="1"/>
          </p:cNvSpPr>
          <p:nvPr>
            <p:ph sz="quarter" idx="1"/>
          </p:nvPr>
        </p:nvSpPr>
        <p:spPr>
          <a:xfrm>
            <a:off x="434788" y="1143000"/>
            <a:ext cx="8328212" cy="5029200"/>
          </a:xfrm>
        </p:spPr>
        <p:txBody>
          <a:bodyPr>
            <a:noAutofit/>
          </a:bodyPr>
          <a:lstStyle/>
          <a:p>
            <a:pPr eaLnBrk="1" hangingPunct="1">
              <a:lnSpc>
                <a:spcPts val="2163"/>
              </a:lnSpc>
            </a:pPr>
            <a:r>
              <a:rPr lang="en-US" sz="2200" dirty="0" smtClean="0">
                <a:solidFill>
                  <a:srgbClr val="000000"/>
                </a:solidFill>
              </a:rPr>
              <a:t>Current use comes from the work of the architect Christopher Alexander.</a:t>
            </a:r>
          </a:p>
          <a:p>
            <a:pPr eaLnBrk="1" hangingPunct="1">
              <a:lnSpc>
                <a:spcPts val="2450"/>
              </a:lnSpc>
            </a:pPr>
            <a:r>
              <a:rPr lang="en-US" sz="2200" dirty="0" smtClean="0">
                <a:solidFill>
                  <a:srgbClr val="000000"/>
                </a:solidFill>
              </a:rPr>
              <a:t>Alexander studied ways to improve the process of designing buildings and urban areas.</a:t>
            </a:r>
          </a:p>
          <a:p>
            <a:pPr eaLnBrk="1" hangingPunct="1">
              <a:lnSpc>
                <a:spcPts val="2438"/>
              </a:lnSpc>
            </a:pPr>
            <a:r>
              <a:rPr lang="en-US" sz="2200" dirty="0" smtClean="0">
                <a:solidFill>
                  <a:srgbClr val="000000"/>
                </a:solidFill>
              </a:rPr>
              <a:t>“Each pattern is a three-part rule, which expresses a relation between a certain context, a problem and a solution.”</a:t>
            </a:r>
          </a:p>
          <a:p>
            <a:pPr eaLnBrk="1" hangingPunct="1">
              <a:lnSpc>
                <a:spcPts val="2450"/>
              </a:lnSpc>
            </a:pPr>
            <a:r>
              <a:rPr lang="en-US" sz="2200" dirty="0" smtClean="0">
                <a:solidFill>
                  <a:srgbClr val="000000"/>
                </a:solidFill>
              </a:rPr>
              <a:t>Hence, the common definition of a pattern: “A solution to a problem in a context.”</a:t>
            </a:r>
          </a:p>
          <a:p>
            <a:pPr eaLnBrk="1" hangingPunct="1"/>
            <a:r>
              <a:rPr lang="en-GB" sz="2200" dirty="0" smtClean="0"/>
              <a:t>Patterns facilitate reuse of successful software architectures and designs.</a:t>
            </a:r>
          </a:p>
          <a:p>
            <a:pPr eaLnBrk="1" hangingPunct="1"/>
            <a:r>
              <a:rPr lang="en-IN" sz="2200" i="1" dirty="0" smtClean="0"/>
              <a:t>Each pattern describes a problem which occurs over and over again in our environment, and then describes the core of the solution to that problem, in such a way that you can use this solution a million times over, without ever doing it the same way twice.</a:t>
            </a:r>
            <a:endParaRPr lang="en-GB" sz="2200" dirty="0" smtClean="0"/>
          </a:p>
          <a:p>
            <a:pPr eaLnBrk="1" hangingPunct="1">
              <a:lnSpc>
                <a:spcPts val="2450"/>
              </a:lnSpc>
              <a:buFontTx/>
              <a:buNone/>
            </a:pPr>
            <a:endParaRPr lang="en-US" sz="2200" dirty="0" smtClean="0">
              <a:solidFill>
                <a:srgbClr val="000000"/>
              </a:solidFill>
            </a:endParaRPr>
          </a:p>
        </p:txBody>
      </p:sp>
    </p:spTree>
    <p:extLst>
      <p:ext uri="{BB962C8B-B14F-4D97-AF65-F5344CB8AC3E}">
        <p14:creationId xmlns:p14="http://schemas.microsoft.com/office/powerpoint/2010/main" val="2439834249"/>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Grp="1" noChangeArrowheads="1"/>
          </p:cNvSpPr>
          <p:nvPr>
            <p:ph type="title"/>
          </p:nvPr>
        </p:nvSpPr>
        <p:spPr/>
        <p:txBody>
          <a:bodyPr/>
          <a:lstStyle/>
          <a:p>
            <a:pPr eaLnBrk="1" hangingPunct="1">
              <a:lnSpc>
                <a:spcPts val="2163"/>
              </a:lnSpc>
            </a:pPr>
            <a:r>
              <a:rPr lang="en-US" sz="3200" b="1" smtClean="0">
                <a:solidFill>
                  <a:srgbClr val="0000CC"/>
                </a:solidFill>
              </a:rPr>
              <a:t>Why Patterns?</a:t>
            </a:r>
          </a:p>
        </p:txBody>
      </p:sp>
      <p:sp>
        <p:nvSpPr>
          <p:cNvPr id="35843" name="Rectangle 2"/>
          <p:cNvSpPr>
            <a:spLocks noGrp="1" noChangeArrowheads="1"/>
          </p:cNvSpPr>
          <p:nvPr>
            <p:ph sz="quarter" idx="1"/>
          </p:nvPr>
        </p:nvSpPr>
        <p:spPr>
          <a:xfrm>
            <a:off x="301625" y="1527175"/>
            <a:ext cx="8504238" cy="4572000"/>
          </a:xfrm>
        </p:spPr>
        <p:txBody>
          <a:bodyPr/>
          <a:lstStyle/>
          <a:p>
            <a:pPr eaLnBrk="1" hangingPunct="1">
              <a:lnSpc>
                <a:spcPts val="2163"/>
              </a:lnSpc>
            </a:pPr>
            <a:r>
              <a:rPr lang="en-US" sz="2400" dirty="0" smtClean="0">
                <a:solidFill>
                  <a:srgbClr val="000000"/>
                </a:solidFill>
              </a:rPr>
              <a:t>"Designing object-oriented software is hard and designing reusable object-oriented software is even harder." - Erich Gamma.</a:t>
            </a:r>
          </a:p>
          <a:p>
            <a:pPr eaLnBrk="1" hangingPunct="1">
              <a:lnSpc>
                <a:spcPts val="2450"/>
              </a:lnSpc>
            </a:pPr>
            <a:r>
              <a:rPr lang="en-US" sz="2400" dirty="0" smtClean="0">
                <a:solidFill>
                  <a:srgbClr val="000000"/>
                </a:solidFill>
              </a:rPr>
              <a:t>Experienced designers reuse solutions that have worked in the past.</a:t>
            </a:r>
          </a:p>
          <a:p>
            <a:pPr eaLnBrk="1" hangingPunct="1">
              <a:lnSpc>
                <a:spcPts val="2438"/>
              </a:lnSpc>
            </a:pPr>
            <a:r>
              <a:rPr lang="en-US" sz="2400" dirty="0" smtClean="0">
                <a:solidFill>
                  <a:srgbClr val="000000"/>
                </a:solidFill>
              </a:rPr>
              <a:t>Well-structured object-oriented systems have recurring patterns of classes and objects.</a:t>
            </a:r>
          </a:p>
          <a:p>
            <a:pPr eaLnBrk="1" hangingPunct="1">
              <a:lnSpc>
                <a:spcPts val="2450"/>
              </a:lnSpc>
            </a:pPr>
            <a:r>
              <a:rPr lang="en-US" sz="2400" dirty="0" smtClean="0">
                <a:solidFill>
                  <a:srgbClr val="000000"/>
                </a:solidFill>
              </a:rPr>
              <a:t>Knowledge of the patterns that have worked in the past allows a designer to be more productive and the resulting designs to be more flexible and reusable.</a:t>
            </a:r>
          </a:p>
        </p:txBody>
      </p:sp>
    </p:spTree>
    <p:extLst>
      <p:ext uri="{BB962C8B-B14F-4D97-AF65-F5344CB8AC3E}">
        <p14:creationId xmlns:p14="http://schemas.microsoft.com/office/powerpoint/2010/main" val="2699526944"/>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04800" y="457200"/>
            <a:ext cx="8534400" cy="758825"/>
          </a:xfrm>
        </p:spPr>
        <p:txBody>
          <a:bodyPr>
            <a:normAutofit fontScale="90000"/>
          </a:bodyPr>
          <a:lstStyle/>
          <a:p>
            <a:pPr eaLnBrk="1" fontAlgn="auto" hangingPunct="1">
              <a:spcAft>
                <a:spcPts val="0"/>
              </a:spcAft>
              <a:defRPr/>
            </a:pPr>
            <a:r>
              <a:rPr lang="en-US" sz="3200" b="1" dirty="0" smtClean="0">
                <a:solidFill>
                  <a:srgbClr val="0000CC"/>
                </a:solidFill>
              </a:rPr>
              <a:t>Software Patterns History</a:t>
            </a:r>
            <a:br>
              <a:rPr lang="en-US" sz="3200" b="1" dirty="0" smtClean="0">
                <a:solidFill>
                  <a:srgbClr val="0000CC"/>
                </a:solidFill>
              </a:rPr>
            </a:br>
            <a:endParaRPr lang="en-US" sz="3200" dirty="0" smtClean="0">
              <a:solidFill>
                <a:srgbClr val="0000CC"/>
              </a:solidFill>
            </a:endParaRPr>
          </a:p>
        </p:txBody>
      </p:sp>
      <p:sp>
        <p:nvSpPr>
          <p:cNvPr id="37891" name="Content Placeholder 2"/>
          <p:cNvSpPr>
            <a:spLocks noGrp="1"/>
          </p:cNvSpPr>
          <p:nvPr>
            <p:ph sz="quarter" idx="1"/>
          </p:nvPr>
        </p:nvSpPr>
        <p:spPr>
          <a:xfrm>
            <a:off x="685800" y="1066800"/>
            <a:ext cx="7772400" cy="4495800"/>
          </a:xfrm>
        </p:spPr>
        <p:txBody>
          <a:bodyPr>
            <a:normAutofit/>
          </a:bodyPr>
          <a:lstStyle/>
          <a:p>
            <a:pPr eaLnBrk="1" hangingPunct="1">
              <a:lnSpc>
                <a:spcPts val="2163"/>
              </a:lnSpc>
            </a:pPr>
            <a:r>
              <a:rPr lang="en-US" sz="2400" dirty="0" smtClean="0">
                <a:solidFill>
                  <a:srgbClr val="000000"/>
                </a:solidFill>
              </a:rPr>
              <a:t>1987 - Cunningham and Beck used Alexander’s ideas to develop a small pattern language for Smalltalk</a:t>
            </a:r>
          </a:p>
          <a:p>
            <a:pPr eaLnBrk="1" hangingPunct="1">
              <a:lnSpc>
                <a:spcPts val="2450"/>
              </a:lnSpc>
            </a:pPr>
            <a:r>
              <a:rPr lang="en-US" sz="2400" dirty="0" smtClean="0">
                <a:solidFill>
                  <a:srgbClr val="000000"/>
                </a:solidFill>
              </a:rPr>
              <a:t>1990 </a:t>
            </a:r>
            <a:r>
              <a:rPr lang="en-US" sz="2400" dirty="0" smtClean="0">
                <a:solidFill>
                  <a:srgbClr val="000000"/>
                </a:solidFill>
              </a:rPr>
              <a:t>- The </a:t>
            </a:r>
            <a:r>
              <a:rPr lang="en-US" sz="2400" dirty="0" smtClean="0">
                <a:solidFill>
                  <a:srgbClr val="FF0000"/>
                </a:solidFill>
              </a:rPr>
              <a:t>Gang of Four (Gamma, Helm, Johnson and </a:t>
            </a:r>
            <a:r>
              <a:rPr lang="en-US" sz="2400" dirty="0" err="1" smtClean="0">
                <a:solidFill>
                  <a:srgbClr val="FF0000"/>
                </a:solidFill>
              </a:rPr>
              <a:t>Vlissides</a:t>
            </a:r>
            <a:r>
              <a:rPr lang="en-US" sz="2400" dirty="0" smtClean="0">
                <a:solidFill>
                  <a:srgbClr val="FF0000"/>
                </a:solidFill>
              </a:rPr>
              <a:t>) </a:t>
            </a:r>
            <a:r>
              <a:rPr lang="en-US" sz="2400" dirty="0" smtClean="0">
                <a:solidFill>
                  <a:srgbClr val="000000"/>
                </a:solidFill>
              </a:rPr>
              <a:t>begin work compiling a catalog of design patterns</a:t>
            </a:r>
          </a:p>
          <a:p>
            <a:pPr eaLnBrk="1" hangingPunct="1">
              <a:lnSpc>
                <a:spcPts val="2438"/>
              </a:lnSpc>
            </a:pPr>
            <a:r>
              <a:rPr lang="en-US" sz="2400" dirty="0" smtClean="0">
                <a:solidFill>
                  <a:srgbClr val="000000"/>
                </a:solidFill>
              </a:rPr>
              <a:t>1991 </a:t>
            </a:r>
            <a:r>
              <a:rPr lang="en-US" sz="2400" dirty="0" smtClean="0">
                <a:solidFill>
                  <a:srgbClr val="000000"/>
                </a:solidFill>
              </a:rPr>
              <a:t>- Bruce Anderson gives first Patterns Workshop at OOPSLA</a:t>
            </a:r>
          </a:p>
          <a:p>
            <a:pPr eaLnBrk="1" hangingPunct="1">
              <a:lnSpc>
                <a:spcPts val="2450"/>
              </a:lnSpc>
            </a:pPr>
            <a:r>
              <a:rPr lang="en-US" sz="2400" dirty="0" smtClean="0">
                <a:solidFill>
                  <a:srgbClr val="000000"/>
                </a:solidFill>
              </a:rPr>
              <a:t>1993 </a:t>
            </a:r>
            <a:r>
              <a:rPr lang="en-US" sz="2400" dirty="0" smtClean="0">
                <a:solidFill>
                  <a:srgbClr val="000000"/>
                </a:solidFill>
              </a:rPr>
              <a:t>- Kent Beck and Grady </a:t>
            </a:r>
            <a:r>
              <a:rPr lang="en-US" sz="2400" dirty="0" err="1" smtClean="0">
                <a:solidFill>
                  <a:srgbClr val="000000"/>
                </a:solidFill>
              </a:rPr>
              <a:t>Booch</a:t>
            </a:r>
            <a:r>
              <a:rPr lang="en-US" sz="2400" dirty="0" smtClean="0">
                <a:solidFill>
                  <a:srgbClr val="000000"/>
                </a:solidFill>
              </a:rPr>
              <a:t> sponsor the first meeting of what is now known as the Hillside Group</a:t>
            </a:r>
          </a:p>
          <a:p>
            <a:pPr eaLnBrk="1" hangingPunct="1">
              <a:lnSpc>
                <a:spcPts val="2450"/>
              </a:lnSpc>
            </a:pPr>
            <a:r>
              <a:rPr lang="en-US" sz="2400" dirty="0" smtClean="0">
                <a:solidFill>
                  <a:srgbClr val="000000"/>
                </a:solidFill>
              </a:rPr>
              <a:t>1994 </a:t>
            </a:r>
            <a:r>
              <a:rPr lang="en-US" sz="2400" dirty="0" smtClean="0">
                <a:solidFill>
                  <a:srgbClr val="000000"/>
                </a:solidFill>
              </a:rPr>
              <a:t>- First Pattern Languages of Programs (</a:t>
            </a:r>
            <a:r>
              <a:rPr lang="en-US" sz="2400" dirty="0" err="1" smtClean="0">
                <a:solidFill>
                  <a:srgbClr val="000000"/>
                </a:solidFill>
              </a:rPr>
              <a:t>PLoP</a:t>
            </a:r>
            <a:r>
              <a:rPr lang="en-US" sz="2400" dirty="0" smtClean="0">
                <a:solidFill>
                  <a:srgbClr val="000000"/>
                </a:solidFill>
              </a:rPr>
              <a:t>) conference</a:t>
            </a:r>
          </a:p>
          <a:p>
            <a:pPr eaLnBrk="1" hangingPunct="1">
              <a:lnSpc>
                <a:spcPts val="2438"/>
              </a:lnSpc>
            </a:pPr>
            <a:r>
              <a:rPr lang="en-US" sz="2400" dirty="0" smtClean="0">
                <a:solidFill>
                  <a:srgbClr val="000000"/>
                </a:solidFill>
              </a:rPr>
              <a:t>1995 </a:t>
            </a:r>
            <a:r>
              <a:rPr lang="en-US" sz="2400" dirty="0" smtClean="0">
                <a:solidFill>
                  <a:srgbClr val="000000"/>
                </a:solidFill>
              </a:rPr>
              <a:t>- The Gang of Four (</a:t>
            </a:r>
            <a:r>
              <a:rPr lang="en-US" sz="2400" dirty="0" err="1" smtClean="0">
                <a:solidFill>
                  <a:srgbClr val="000000"/>
                </a:solidFill>
              </a:rPr>
              <a:t>GoF</a:t>
            </a:r>
            <a:r>
              <a:rPr lang="en-US" sz="2400" dirty="0" smtClean="0">
                <a:solidFill>
                  <a:srgbClr val="000000"/>
                </a:solidFill>
              </a:rPr>
              <a:t>) publish the </a:t>
            </a:r>
            <a:r>
              <a:rPr lang="en-US" sz="2400" i="1" dirty="0" smtClean="0">
                <a:solidFill>
                  <a:srgbClr val="000000"/>
                </a:solidFill>
              </a:rPr>
              <a:t>Design Patterns </a:t>
            </a:r>
            <a:r>
              <a:rPr lang="en-US" sz="2400" dirty="0" smtClean="0">
                <a:solidFill>
                  <a:srgbClr val="000000"/>
                </a:solidFill>
              </a:rPr>
              <a:t>boo</a:t>
            </a:r>
            <a:endParaRPr lang="en-US" sz="2400" dirty="0" smtClean="0"/>
          </a:p>
        </p:txBody>
      </p:sp>
    </p:spTree>
    <p:extLst>
      <p:ext uri="{BB962C8B-B14F-4D97-AF65-F5344CB8AC3E}">
        <p14:creationId xmlns:p14="http://schemas.microsoft.com/office/powerpoint/2010/main" val="8937821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328613" y="533400"/>
            <a:ext cx="8534400" cy="758825"/>
          </a:xfrm>
        </p:spPr>
        <p:txBody>
          <a:bodyPr>
            <a:normAutofit fontScale="90000"/>
          </a:bodyPr>
          <a:lstStyle/>
          <a:p>
            <a:pPr eaLnBrk="1" fontAlgn="auto" hangingPunct="1">
              <a:spcAft>
                <a:spcPts val="0"/>
              </a:spcAft>
              <a:defRPr/>
            </a:pPr>
            <a:r>
              <a:rPr lang="en-US" sz="3200" b="1" dirty="0" smtClean="0">
                <a:solidFill>
                  <a:srgbClr val="0000CC"/>
                </a:solidFill>
              </a:rPr>
              <a:t>Types </a:t>
            </a:r>
            <a:r>
              <a:rPr lang="en-US" sz="3200" b="1" dirty="0" smtClean="0">
                <a:solidFill>
                  <a:srgbClr val="0000CC"/>
                </a:solidFill>
              </a:rPr>
              <a:t>of </a:t>
            </a:r>
            <a:r>
              <a:rPr lang="en-US" sz="3200" b="1" dirty="0" smtClean="0">
                <a:solidFill>
                  <a:srgbClr val="0000CC"/>
                </a:solidFill>
              </a:rPr>
              <a:t>Software Patterns</a:t>
            </a:r>
            <a:br>
              <a:rPr lang="en-US" sz="3200" b="1" dirty="0" smtClean="0">
                <a:solidFill>
                  <a:srgbClr val="0000CC"/>
                </a:solidFill>
              </a:rPr>
            </a:br>
            <a:endParaRPr lang="en-US" sz="3200" dirty="0" smtClean="0">
              <a:solidFill>
                <a:srgbClr val="0000CC"/>
              </a:solidFill>
            </a:endParaRPr>
          </a:p>
        </p:txBody>
      </p:sp>
      <p:sp>
        <p:nvSpPr>
          <p:cNvPr id="38915" name="Content Placeholder 2"/>
          <p:cNvSpPr>
            <a:spLocks noGrp="1"/>
          </p:cNvSpPr>
          <p:nvPr>
            <p:ph sz="quarter" idx="1"/>
          </p:nvPr>
        </p:nvSpPr>
        <p:spPr>
          <a:xfrm>
            <a:off x="685799" y="1527175"/>
            <a:ext cx="8120063" cy="4572000"/>
          </a:xfrm>
        </p:spPr>
        <p:txBody>
          <a:bodyPr/>
          <a:lstStyle/>
          <a:p>
            <a:pPr eaLnBrk="1" hangingPunct="1">
              <a:lnSpc>
                <a:spcPts val="2163"/>
              </a:lnSpc>
              <a:spcBef>
                <a:spcPct val="0"/>
              </a:spcBef>
              <a:buFont typeface="Arial" panose="020B0604020202020204" pitchFamily="34" charset="0"/>
              <a:buChar char="•"/>
            </a:pPr>
            <a:r>
              <a:rPr lang="en-US" sz="2400" dirty="0" smtClean="0">
                <a:solidFill>
                  <a:srgbClr val="000000"/>
                </a:solidFill>
              </a:rPr>
              <a:t>Analysis</a:t>
            </a:r>
          </a:p>
          <a:p>
            <a:pPr eaLnBrk="1" hangingPunct="1">
              <a:lnSpc>
                <a:spcPts val="1000"/>
              </a:lnSpc>
              <a:spcBef>
                <a:spcPct val="0"/>
              </a:spcBef>
              <a:buFont typeface="Arial" panose="020B0604020202020204" pitchFamily="34" charset="0"/>
              <a:buChar char="•"/>
            </a:pPr>
            <a:endParaRPr lang="en-US" sz="2400" dirty="0" smtClean="0">
              <a:solidFill>
                <a:srgbClr val="000000"/>
              </a:solidFill>
            </a:endParaRPr>
          </a:p>
          <a:p>
            <a:pPr eaLnBrk="1" hangingPunct="1">
              <a:lnSpc>
                <a:spcPts val="2450"/>
              </a:lnSpc>
              <a:spcBef>
                <a:spcPct val="0"/>
              </a:spcBef>
              <a:buFont typeface="Arial" panose="020B0604020202020204" pitchFamily="34" charset="0"/>
              <a:buChar char="•"/>
            </a:pPr>
            <a:r>
              <a:rPr lang="en-US" sz="2400" dirty="0" smtClean="0">
                <a:solidFill>
                  <a:srgbClr val="000000"/>
                </a:solidFill>
              </a:rPr>
              <a:t>Design</a:t>
            </a:r>
          </a:p>
          <a:p>
            <a:pPr eaLnBrk="1" hangingPunct="1">
              <a:lnSpc>
                <a:spcPts val="1000"/>
              </a:lnSpc>
              <a:spcBef>
                <a:spcPct val="0"/>
              </a:spcBef>
              <a:buFont typeface="Arial" panose="020B0604020202020204" pitchFamily="34" charset="0"/>
              <a:buChar char="•"/>
            </a:pPr>
            <a:endParaRPr lang="en-US" sz="2400" dirty="0" smtClean="0">
              <a:solidFill>
                <a:srgbClr val="000000"/>
              </a:solidFill>
            </a:endParaRPr>
          </a:p>
          <a:p>
            <a:pPr eaLnBrk="1" hangingPunct="1">
              <a:lnSpc>
                <a:spcPts val="2450"/>
              </a:lnSpc>
              <a:spcBef>
                <a:spcPct val="0"/>
              </a:spcBef>
              <a:buFont typeface="Arial" panose="020B0604020202020204" pitchFamily="34" charset="0"/>
              <a:buChar char="•"/>
            </a:pPr>
            <a:r>
              <a:rPr lang="en-US" sz="2400" dirty="0" smtClean="0">
                <a:solidFill>
                  <a:srgbClr val="000000"/>
                </a:solidFill>
              </a:rPr>
              <a:t>Organizational</a:t>
            </a:r>
          </a:p>
          <a:p>
            <a:pPr eaLnBrk="1" hangingPunct="1">
              <a:lnSpc>
                <a:spcPts val="1000"/>
              </a:lnSpc>
              <a:spcBef>
                <a:spcPct val="0"/>
              </a:spcBef>
              <a:buFont typeface="Arial" panose="020B0604020202020204" pitchFamily="34" charset="0"/>
              <a:buChar char="•"/>
            </a:pPr>
            <a:endParaRPr lang="en-US" sz="2400" dirty="0" smtClean="0">
              <a:solidFill>
                <a:srgbClr val="000000"/>
              </a:solidFill>
            </a:endParaRPr>
          </a:p>
          <a:p>
            <a:pPr eaLnBrk="1" hangingPunct="1">
              <a:lnSpc>
                <a:spcPts val="2450"/>
              </a:lnSpc>
              <a:spcBef>
                <a:spcPct val="0"/>
              </a:spcBef>
              <a:buFont typeface="Arial" panose="020B0604020202020204" pitchFamily="34" charset="0"/>
              <a:buChar char="•"/>
            </a:pPr>
            <a:r>
              <a:rPr lang="en-US" sz="2400" dirty="0" smtClean="0">
                <a:solidFill>
                  <a:srgbClr val="000000"/>
                </a:solidFill>
              </a:rPr>
              <a:t>Process</a:t>
            </a:r>
          </a:p>
          <a:p>
            <a:pPr eaLnBrk="1" hangingPunct="1">
              <a:lnSpc>
                <a:spcPts val="1000"/>
              </a:lnSpc>
              <a:spcBef>
                <a:spcPct val="0"/>
              </a:spcBef>
              <a:buFont typeface="Arial" panose="020B0604020202020204" pitchFamily="34" charset="0"/>
              <a:buChar char="•"/>
            </a:pPr>
            <a:endParaRPr lang="en-US" sz="2400" dirty="0" smtClean="0">
              <a:solidFill>
                <a:srgbClr val="000000"/>
              </a:solidFill>
            </a:endParaRPr>
          </a:p>
          <a:p>
            <a:pPr eaLnBrk="1" hangingPunct="1">
              <a:lnSpc>
                <a:spcPts val="2438"/>
              </a:lnSpc>
              <a:spcBef>
                <a:spcPct val="0"/>
              </a:spcBef>
              <a:buFont typeface="Arial" panose="020B0604020202020204" pitchFamily="34" charset="0"/>
              <a:buChar char="•"/>
            </a:pPr>
            <a:r>
              <a:rPr lang="en-US" sz="2400" dirty="0" smtClean="0">
                <a:solidFill>
                  <a:srgbClr val="000000"/>
                </a:solidFill>
              </a:rPr>
              <a:t>Project Planning</a:t>
            </a:r>
          </a:p>
          <a:p>
            <a:pPr eaLnBrk="1" hangingPunct="1">
              <a:lnSpc>
                <a:spcPts val="1000"/>
              </a:lnSpc>
              <a:spcBef>
                <a:spcPct val="0"/>
              </a:spcBef>
              <a:buFont typeface="Arial" panose="020B0604020202020204" pitchFamily="34" charset="0"/>
              <a:buChar char="•"/>
            </a:pPr>
            <a:endParaRPr lang="en-US" sz="2400" dirty="0" smtClean="0">
              <a:solidFill>
                <a:srgbClr val="000000"/>
              </a:solidFill>
            </a:endParaRPr>
          </a:p>
          <a:p>
            <a:pPr eaLnBrk="1" hangingPunct="1">
              <a:lnSpc>
                <a:spcPts val="2450"/>
              </a:lnSpc>
              <a:spcBef>
                <a:spcPct val="0"/>
              </a:spcBef>
              <a:buFont typeface="Arial" panose="020B0604020202020204" pitchFamily="34" charset="0"/>
              <a:buChar char="•"/>
            </a:pPr>
            <a:r>
              <a:rPr lang="en-US" sz="2400" dirty="0" smtClean="0">
                <a:solidFill>
                  <a:srgbClr val="000000"/>
                </a:solidFill>
              </a:rPr>
              <a:t>Configuration Management</a:t>
            </a:r>
          </a:p>
          <a:p>
            <a:pPr eaLnBrk="1" hangingPunct="1">
              <a:buFontTx/>
              <a:buNone/>
            </a:pPr>
            <a:endParaRPr lang="en-US" dirty="0" smtClean="0"/>
          </a:p>
        </p:txBody>
      </p:sp>
    </p:spTree>
    <p:extLst>
      <p:ext uri="{BB962C8B-B14F-4D97-AF65-F5344CB8AC3E}">
        <p14:creationId xmlns:p14="http://schemas.microsoft.com/office/powerpoint/2010/main" val="421790854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381000" y="533400"/>
            <a:ext cx="8534400" cy="758825"/>
          </a:xfrm>
        </p:spPr>
        <p:txBody>
          <a:bodyPr>
            <a:normAutofit fontScale="90000"/>
          </a:bodyPr>
          <a:lstStyle/>
          <a:p>
            <a:pPr eaLnBrk="1" fontAlgn="auto" hangingPunct="1">
              <a:spcAft>
                <a:spcPts val="0"/>
              </a:spcAft>
              <a:defRPr/>
            </a:pPr>
            <a:r>
              <a:rPr lang="en-US" sz="3200" b="1" dirty="0" smtClean="0">
                <a:solidFill>
                  <a:srgbClr val="0000CC"/>
                </a:solidFill>
              </a:rPr>
              <a:t>Design Pattern Levels of Abstraction</a:t>
            </a:r>
            <a:br>
              <a:rPr lang="en-US" sz="3200" b="1" dirty="0" smtClean="0">
                <a:solidFill>
                  <a:srgbClr val="0000CC"/>
                </a:solidFill>
              </a:rPr>
            </a:br>
            <a:endParaRPr lang="en-US" sz="3200" dirty="0" smtClean="0">
              <a:solidFill>
                <a:srgbClr val="0000CC"/>
              </a:solidFill>
            </a:endParaRPr>
          </a:p>
        </p:txBody>
      </p:sp>
      <p:sp>
        <p:nvSpPr>
          <p:cNvPr id="3" name="Content Placeholder 2"/>
          <p:cNvSpPr>
            <a:spLocks noGrp="1"/>
          </p:cNvSpPr>
          <p:nvPr>
            <p:ph sz="quarter" idx="1"/>
          </p:nvPr>
        </p:nvSpPr>
        <p:spPr>
          <a:xfrm>
            <a:off x="762000" y="1676400"/>
            <a:ext cx="4876800" cy="4114800"/>
          </a:xfrm>
        </p:spPr>
        <p:txBody>
          <a:bodyPr>
            <a:normAutofit/>
          </a:bodyPr>
          <a:lstStyle/>
          <a:p>
            <a:pPr marL="285750" indent="-285750" eaLnBrk="1" fontAlgn="auto" hangingPunct="1">
              <a:spcAft>
                <a:spcPts val="0"/>
              </a:spcAft>
              <a:buFont typeface="Arial" pitchFamily="34" charset="0"/>
              <a:buChar char="•"/>
              <a:defRPr/>
            </a:pPr>
            <a:r>
              <a:rPr lang="en-US" sz="2400" dirty="0" smtClean="0"/>
              <a:t>Complex design for an entire application or subsystem</a:t>
            </a:r>
          </a:p>
          <a:p>
            <a:pPr marL="274320" indent="-274320" eaLnBrk="1" fontAlgn="auto" hangingPunct="1">
              <a:spcAft>
                <a:spcPts val="0"/>
              </a:spcAft>
              <a:buFont typeface="Wingdings 2"/>
              <a:buChar char=""/>
              <a:defRPr/>
            </a:pPr>
            <a:endParaRPr lang="en-US" sz="2400" dirty="0" smtClean="0"/>
          </a:p>
          <a:p>
            <a:pPr marL="285750" indent="-285750" eaLnBrk="1" fontAlgn="auto" hangingPunct="1">
              <a:spcAft>
                <a:spcPts val="0"/>
              </a:spcAft>
              <a:buFont typeface="Arial" pitchFamily="34" charset="0"/>
              <a:buChar char="•"/>
              <a:defRPr/>
            </a:pPr>
            <a:r>
              <a:rPr lang="en-US" sz="2400" dirty="0" smtClean="0"/>
              <a:t>Solution to a general design problem in a particular context</a:t>
            </a:r>
          </a:p>
          <a:p>
            <a:pPr marL="285750" indent="-285750" eaLnBrk="1" fontAlgn="auto" hangingPunct="1">
              <a:spcAft>
                <a:spcPts val="0"/>
              </a:spcAft>
              <a:buFont typeface="Arial" pitchFamily="34" charset="0"/>
              <a:buChar char="•"/>
              <a:defRPr/>
            </a:pPr>
            <a:endParaRPr lang="en-US" sz="2400" dirty="0" smtClean="0"/>
          </a:p>
          <a:p>
            <a:pPr marL="285750" indent="-285750" eaLnBrk="1" fontAlgn="auto" hangingPunct="1">
              <a:spcAft>
                <a:spcPts val="0"/>
              </a:spcAft>
              <a:buFont typeface="Arial" pitchFamily="34" charset="0"/>
              <a:buChar char="•"/>
              <a:defRPr/>
            </a:pPr>
            <a:r>
              <a:rPr lang="en-US" sz="2400" dirty="0" smtClean="0"/>
              <a:t>Simple reusable design class such as a linked list, hash table, etc.</a:t>
            </a:r>
          </a:p>
          <a:p>
            <a:pPr marL="274320" indent="-274320" eaLnBrk="1" fontAlgn="auto" hangingPunct="1">
              <a:spcAft>
                <a:spcPts val="0"/>
              </a:spcAft>
              <a:buFont typeface="Wingdings 2"/>
              <a:buChar char=""/>
              <a:defRPr/>
            </a:pPr>
            <a:endParaRPr lang="en-US" sz="2400" dirty="0"/>
          </a:p>
        </p:txBody>
      </p:sp>
      <p:pic>
        <p:nvPicPr>
          <p:cNvPr id="399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2057400"/>
            <a:ext cx="18288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42733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271463" y="152400"/>
            <a:ext cx="8534400" cy="758825"/>
          </a:xfrm>
        </p:spPr>
        <p:txBody>
          <a:bodyPr>
            <a:normAutofit fontScale="90000"/>
          </a:bodyPr>
          <a:lstStyle/>
          <a:p>
            <a:pPr eaLnBrk="1" fontAlgn="auto" hangingPunct="1">
              <a:spcAft>
                <a:spcPts val="0"/>
              </a:spcAft>
              <a:defRPr/>
            </a:pPr>
            <a:r>
              <a:rPr lang="en-US" sz="3200" b="1" dirty="0" smtClean="0">
                <a:solidFill>
                  <a:srgbClr val="0000CC"/>
                </a:solidFill>
              </a:rPr>
              <a:t/>
            </a:r>
            <a:br>
              <a:rPr lang="en-US" sz="3200" b="1" dirty="0" smtClean="0">
                <a:solidFill>
                  <a:srgbClr val="0000CC"/>
                </a:solidFill>
              </a:rPr>
            </a:br>
            <a:r>
              <a:rPr lang="en-US" sz="3200" b="1" dirty="0" smtClean="0">
                <a:solidFill>
                  <a:srgbClr val="0000CC"/>
                </a:solidFill>
              </a:rPr>
              <a:t/>
            </a:r>
            <a:br>
              <a:rPr lang="en-US" sz="3200" b="1" dirty="0" smtClean="0">
                <a:solidFill>
                  <a:srgbClr val="0000CC"/>
                </a:solidFill>
              </a:rPr>
            </a:br>
            <a:r>
              <a:rPr lang="en-US" sz="3200" b="1" dirty="0" err="1" smtClean="0">
                <a:solidFill>
                  <a:srgbClr val="0000CC"/>
                </a:solidFill>
              </a:rPr>
              <a:t>GoF</a:t>
            </a:r>
            <a:r>
              <a:rPr lang="en-US" sz="3200" b="1" dirty="0" smtClean="0">
                <a:solidFill>
                  <a:srgbClr val="0000CC"/>
                </a:solidFill>
              </a:rPr>
              <a:t> Design Patterns</a:t>
            </a:r>
            <a:br>
              <a:rPr lang="en-US" sz="3200" b="1" dirty="0" smtClean="0">
                <a:solidFill>
                  <a:srgbClr val="0000CC"/>
                </a:solidFill>
              </a:rPr>
            </a:br>
            <a:endParaRPr lang="en-US" sz="3200" dirty="0" smtClean="0">
              <a:solidFill>
                <a:srgbClr val="0000CC"/>
              </a:solidFill>
            </a:endParaRPr>
          </a:p>
        </p:txBody>
      </p:sp>
      <p:sp>
        <p:nvSpPr>
          <p:cNvPr id="40963" name="Content Placeholder 2"/>
          <p:cNvSpPr>
            <a:spLocks noGrp="1"/>
          </p:cNvSpPr>
          <p:nvPr>
            <p:ph sz="quarter" idx="1"/>
          </p:nvPr>
        </p:nvSpPr>
        <p:spPr>
          <a:xfrm>
            <a:off x="301625" y="1527175"/>
            <a:ext cx="8504238" cy="4572000"/>
          </a:xfrm>
        </p:spPr>
        <p:txBody>
          <a:bodyPr>
            <a:normAutofit/>
          </a:bodyPr>
          <a:lstStyle/>
          <a:p>
            <a:pPr eaLnBrk="1" hangingPunct="1">
              <a:lnSpc>
                <a:spcPts val="2163"/>
              </a:lnSpc>
            </a:pPr>
            <a:r>
              <a:rPr lang="en-US" sz="2400" dirty="0" smtClean="0">
                <a:solidFill>
                  <a:srgbClr val="000000"/>
                </a:solidFill>
              </a:rPr>
              <a:t>The </a:t>
            </a:r>
            <a:r>
              <a:rPr lang="en-US" sz="2400" dirty="0" err="1" smtClean="0">
                <a:solidFill>
                  <a:srgbClr val="000000"/>
                </a:solidFill>
              </a:rPr>
              <a:t>GoF</a:t>
            </a:r>
            <a:r>
              <a:rPr lang="en-US" sz="2400" dirty="0" smtClean="0">
                <a:solidFill>
                  <a:srgbClr val="000000"/>
                </a:solidFill>
              </a:rPr>
              <a:t> design patterns are in the middle of these levels of abstraction</a:t>
            </a:r>
          </a:p>
          <a:p>
            <a:pPr eaLnBrk="1" hangingPunct="1">
              <a:lnSpc>
                <a:spcPts val="1000"/>
              </a:lnSpc>
            </a:pPr>
            <a:endParaRPr lang="en-US" sz="2400" dirty="0" smtClean="0">
              <a:solidFill>
                <a:srgbClr val="000000"/>
              </a:solidFill>
            </a:endParaRPr>
          </a:p>
          <a:p>
            <a:pPr eaLnBrk="1" hangingPunct="1">
              <a:lnSpc>
                <a:spcPts val="2450"/>
              </a:lnSpc>
            </a:pPr>
            <a:r>
              <a:rPr lang="en-US" sz="2400" dirty="0" smtClean="0">
                <a:solidFill>
                  <a:srgbClr val="000000"/>
                </a:solidFill>
              </a:rPr>
              <a:t>“A design pattern names, abstracts, and identifies key aspects of a common design structure that makes it useful for creating a reusable object-oriented design.”</a:t>
            </a:r>
          </a:p>
          <a:p>
            <a:pPr eaLnBrk="1" hangingPunct="1">
              <a:lnSpc>
                <a:spcPts val="1000"/>
              </a:lnSpc>
            </a:pPr>
            <a:endParaRPr lang="en-US" sz="2400" dirty="0" smtClean="0">
              <a:solidFill>
                <a:srgbClr val="000000"/>
              </a:solidFill>
            </a:endParaRPr>
          </a:p>
          <a:p>
            <a:pPr eaLnBrk="1" hangingPunct="1">
              <a:lnSpc>
                <a:spcPts val="2438"/>
              </a:lnSpc>
            </a:pPr>
            <a:r>
              <a:rPr lang="en-US" sz="2400" dirty="0" smtClean="0">
                <a:solidFill>
                  <a:srgbClr val="000000"/>
                </a:solidFill>
              </a:rPr>
              <a:t>The </a:t>
            </a:r>
            <a:r>
              <a:rPr lang="en-US" sz="2400" dirty="0" err="1" smtClean="0">
                <a:solidFill>
                  <a:srgbClr val="000000"/>
                </a:solidFill>
              </a:rPr>
              <a:t>GoF</a:t>
            </a:r>
            <a:r>
              <a:rPr lang="en-US" sz="2400" dirty="0" smtClean="0">
                <a:solidFill>
                  <a:srgbClr val="000000"/>
                </a:solidFill>
              </a:rPr>
              <a:t> design patterns are “descriptions of communicating objects and classes that are customized to solve a general design problem in a particular context.”</a:t>
            </a:r>
          </a:p>
          <a:p>
            <a:pPr eaLnBrk="1" hangingPunct="1"/>
            <a:endParaRPr lang="en-US" sz="2400" dirty="0" smtClean="0"/>
          </a:p>
        </p:txBody>
      </p:sp>
    </p:spTree>
    <p:extLst>
      <p:ext uri="{BB962C8B-B14F-4D97-AF65-F5344CB8AC3E}">
        <p14:creationId xmlns:p14="http://schemas.microsoft.com/office/powerpoint/2010/main" val="4129422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Elements of Design Patterns</a:t>
            </a:r>
          </a:p>
        </p:txBody>
      </p:sp>
      <p:sp>
        <p:nvSpPr>
          <p:cNvPr id="41987" name="Rectangle 2"/>
          <p:cNvSpPr>
            <a:spLocks noGrp="1" noChangeArrowheads="1"/>
          </p:cNvSpPr>
          <p:nvPr>
            <p:ph sz="quarter" idx="1"/>
          </p:nvPr>
        </p:nvSpPr>
        <p:spPr>
          <a:xfrm>
            <a:off x="301625" y="1527175"/>
            <a:ext cx="8504238" cy="4572000"/>
          </a:xfrm>
        </p:spPr>
        <p:txBody>
          <a:bodyPr/>
          <a:lstStyle/>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Design patterns have four essential elements:</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Pattern name</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Problem</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Solution</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Consequences</a:t>
            </a:r>
          </a:p>
        </p:txBody>
      </p:sp>
    </p:spTree>
    <p:extLst>
      <p:ext uri="{BB962C8B-B14F-4D97-AF65-F5344CB8AC3E}">
        <p14:creationId xmlns:p14="http://schemas.microsoft.com/office/powerpoint/2010/main" val="961061197"/>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Pattern Name</a:t>
            </a:r>
          </a:p>
        </p:txBody>
      </p:sp>
      <p:sp>
        <p:nvSpPr>
          <p:cNvPr id="44035" name="Rectangle 2"/>
          <p:cNvSpPr>
            <a:spLocks noGrp="1" noChangeArrowheads="1"/>
          </p:cNvSpPr>
          <p:nvPr>
            <p:ph sz="quarter" idx="1"/>
          </p:nvPr>
        </p:nvSpPr>
        <p:spPr>
          <a:xfrm>
            <a:off x="301625" y="1527175"/>
            <a:ext cx="8504238" cy="4572000"/>
          </a:xfrm>
        </p:spPr>
        <p:txBody>
          <a:bodyPr/>
          <a:lstStyle/>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A handle used to describe:</a:t>
            </a:r>
          </a:p>
          <a:p>
            <a:pPr lvl="1"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smtClean="0"/>
              <a:t>a design problem</a:t>
            </a:r>
          </a:p>
          <a:p>
            <a:pPr lvl="1"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smtClean="0"/>
              <a:t>its solutions</a:t>
            </a:r>
          </a:p>
          <a:p>
            <a:pPr lvl="1"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smtClean="0"/>
              <a:t>its consequences</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Increases design vocabulary</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Makes it possible to design at a higher level of abstraction</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Enhances communication</a:t>
            </a:r>
          </a:p>
          <a:p>
            <a:pPr eaLnBrk="1" hangingPunct="1">
              <a:lnSpc>
                <a:spcPct val="90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i="1" smtClean="0"/>
              <a:t>“The Hardest part of programming is coming up with good variable [function, and type] names.”</a:t>
            </a:r>
          </a:p>
        </p:txBody>
      </p:sp>
    </p:spTree>
    <p:extLst>
      <p:ext uri="{BB962C8B-B14F-4D97-AF65-F5344CB8AC3E}">
        <p14:creationId xmlns:p14="http://schemas.microsoft.com/office/powerpoint/2010/main" val="1454509836"/>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Problem</a:t>
            </a:r>
          </a:p>
        </p:txBody>
      </p:sp>
      <p:sp>
        <p:nvSpPr>
          <p:cNvPr id="46083" name="Rectangle 2"/>
          <p:cNvSpPr>
            <a:spLocks noGrp="1" noChangeArrowheads="1"/>
          </p:cNvSpPr>
          <p:nvPr>
            <p:ph sz="quarter" idx="1"/>
          </p:nvPr>
        </p:nvSpPr>
        <p:spPr>
          <a:xfrm>
            <a:off x="990599" y="1527175"/>
            <a:ext cx="7815263" cy="4572000"/>
          </a:xfrm>
        </p:spPr>
        <p:txBody>
          <a:bodyPr>
            <a:normAutofit/>
          </a:bodyPr>
          <a:lstStyle/>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Describes when to apply the pattern</a:t>
            </a:r>
          </a:p>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Explains the problem and its context</a:t>
            </a:r>
          </a:p>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May describe specific design problems and/or object structures</a:t>
            </a:r>
          </a:p>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May contain a list of preconditions that must be met before it makes sense to apply the pattern</a:t>
            </a:r>
          </a:p>
        </p:txBody>
      </p:sp>
    </p:spTree>
    <p:extLst>
      <p:ext uri="{BB962C8B-B14F-4D97-AF65-F5344CB8AC3E}">
        <p14:creationId xmlns:p14="http://schemas.microsoft.com/office/powerpoint/2010/main" val="1524414572"/>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Solution</a:t>
            </a:r>
          </a:p>
        </p:txBody>
      </p:sp>
      <p:sp>
        <p:nvSpPr>
          <p:cNvPr id="48131" name="Rectangle 2"/>
          <p:cNvSpPr>
            <a:spLocks noGrp="1" noChangeArrowheads="1"/>
          </p:cNvSpPr>
          <p:nvPr>
            <p:ph sz="quarter" idx="1"/>
          </p:nvPr>
        </p:nvSpPr>
        <p:spPr>
          <a:xfrm>
            <a:off x="761999" y="1527175"/>
            <a:ext cx="8043863" cy="4572000"/>
          </a:xfrm>
        </p:spPr>
        <p:txBody>
          <a:bodyPr>
            <a:normAutofit/>
          </a:bodyPr>
          <a:lstStyle/>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Describes the elements that make up the</a:t>
            </a:r>
          </a:p>
          <a:p>
            <a:pPr lvl="1"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design</a:t>
            </a:r>
          </a:p>
          <a:p>
            <a:pPr lvl="1"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relationships</a:t>
            </a:r>
          </a:p>
          <a:p>
            <a:pPr lvl="1"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responsibilities</a:t>
            </a:r>
          </a:p>
          <a:p>
            <a:pPr lvl="1"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collaborations</a:t>
            </a:r>
          </a:p>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Does not describe specific concrete implementation</a:t>
            </a:r>
          </a:p>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Abstract description of design problems and how the pattern solves it</a:t>
            </a:r>
          </a:p>
        </p:txBody>
      </p:sp>
    </p:spTree>
    <p:extLst>
      <p:ext uri="{BB962C8B-B14F-4D97-AF65-F5344CB8AC3E}">
        <p14:creationId xmlns:p14="http://schemas.microsoft.com/office/powerpoint/2010/main" val="2491644626"/>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Consequences</a:t>
            </a:r>
          </a:p>
        </p:txBody>
      </p:sp>
      <p:sp>
        <p:nvSpPr>
          <p:cNvPr id="50179" name="Rectangle 2"/>
          <p:cNvSpPr>
            <a:spLocks noGrp="1" noChangeArrowheads="1"/>
          </p:cNvSpPr>
          <p:nvPr>
            <p:ph sz="quarter" idx="1"/>
          </p:nvPr>
        </p:nvSpPr>
        <p:spPr>
          <a:xfrm>
            <a:off x="761999" y="1527175"/>
            <a:ext cx="8043863" cy="4572000"/>
          </a:xfrm>
        </p:spPr>
        <p:txBody>
          <a:bodyPr>
            <a:normAutofit/>
          </a:bodyPr>
          <a:lstStyle/>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Results and trade-offs of applying the pattern</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Critical for:</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evaluating design alternatives</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understanding costs</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understanding benefits of applying the pattern</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Includes the impacts of a pattern on a system’s:</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flexibility</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extensibility</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portability</a:t>
            </a:r>
          </a:p>
        </p:txBody>
      </p:sp>
    </p:spTree>
    <p:extLst>
      <p:ext uri="{BB962C8B-B14F-4D97-AF65-F5344CB8AC3E}">
        <p14:creationId xmlns:p14="http://schemas.microsoft.com/office/powerpoint/2010/main" val="2315497327"/>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Design Patterns are NOT</a:t>
            </a:r>
          </a:p>
        </p:txBody>
      </p:sp>
      <p:sp>
        <p:nvSpPr>
          <p:cNvPr id="52227" name="Rectangle 2"/>
          <p:cNvSpPr>
            <a:spLocks noGrp="1" noChangeArrowheads="1"/>
          </p:cNvSpPr>
          <p:nvPr>
            <p:ph sz="quarter" idx="1"/>
          </p:nvPr>
        </p:nvSpPr>
        <p:spPr>
          <a:xfrm>
            <a:off x="685799" y="1527175"/>
            <a:ext cx="8120063" cy="4572000"/>
          </a:xfrm>
        </p:spPr>
        <p:txBody>
          <a:bodyPr/>
          <a:lstStyle/>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Designs that can be encoded in classes and reused as is (i.e., linked lists, hash tables)</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 Complex domain-specific designs (for an entire application or subsystem)</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They are:</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“Descriptions of communicating objects and classes that are customized to solve a general design problem in a particular context.”</a:t>
            </a:r>
          </a:p>
        </p:txBody>
      </p:sp>
    </p:spTree>
    <p:extLst>
      <p:ext uri="{BB962C8B-B14F-4D97-AF65-F5344CB8AC3E}">
        <p14:creationId xmlns:p14="http://schemas.microsoft.com/office/powerpoint/2010/main" val="303988692"/>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Where They are Used</a:t>
            </a:r>
          </a:p>
        </p:txBody>
      </p:sp>
      <p:sp>
        <p:nvSpPr>
          <p:cNvPr id="54275" name="Rectangle 2"/>
          <p:cNvSpPr>
            <a:spLocks noGrp="1" noChangeArrowheads="1"/>
          </p:cNvSpPr>
          <p:nvPr>
            <p:ph sz="quarter" idx="1"/>
          </p:nvPr>
        </p:nvSpPr>
        <p:spPr>
          <a:xfrm>
            <a:off x="838199" y="1527175"/>
            <a:ext cx="7967663" cy="4572000"/>
          </a:xfrm>
        </p:spPr>
        <p:txBody>
          <a:bodyPr>
            <a:normAutofit/>
          </a:bodyPr>
          <a:lstStyle/>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Object-Oriented programming languages [and paradigm] are more amenable to implementing design patterns</a:t>
            </a:r>
          </a:p>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Procedural languages: need to define</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i="1" dirty="0" smtClean="0"/>
              <a:t>Inheritance</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i="1" dirty="0" smtClean="0"/>
              <a:t>Polymorphism</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i="1" dirty="0" smtClean="0"/>
              <a:t>Encapsulation</a:t>
            </a:r>
          </a:p>
        </p:txBody>
      </p:sp>
    </p:spTree>
    <p:extLst>
      <p:ext uri="{BB962C8B-B14F-4D97-AF65-F5344CB8AC3E}">
        <p14:creationId xmlns:p14="http://schemas.microsoft.com/office/powerpoint/2010/main" val="182119114"/>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Design Patterns</a:t>
            </a:r>
          </a:p>
        </p:txBody>
      </p:sp>
      <p:sp>
        <p:nvSpPr>
          <p:cNvPr id="56323" name="Rectangle 2"/>
          <p:cNvSpPr>
            <a:spLocks noGrp="1" noChangeArrowheads="1"/>
          </p:cNvSpPr>
          <p:nvPr>
            <p:ph sz="quarter" idx="1"/>
          </p:nvPr>
        </p:nvSpPr>
        <p:spPr>
          <a:xfrm>
            <a:off x="761999" y="1527175"/>
            <a:ext cx="8043863" cy="4572000"/>
          </a:xfrm>
        </p:spPr>
        <p:txBody>
          <a:bodyPr>
            <a:normAutofit/>
          </a:bodyPr>
          <a:lstStyle/>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Describe a recurring design structure</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Defines a common vocabulary </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Abstracts from concrete designs</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Identifies classes, collaborations, and responsibilities</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smtClean="0"/>
              <a:t>Describes applicability, trade-offs, and consequences</a:t>
            </a:r>
          </a:p>
          <a:p>
            <a:pPr eaLnBrk="1" hangingPunct="1">
              <a:buFontTx/>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smtClean="0"/>
          </a:p>
        </p:txBody>
      </p:sp>
    </p:spTree>
    <p:extLst>
      <p:ext uri="{BB962C8B-B14F-4D97-AF65-F5344CB8AC3E}">
        <p14:creationId xmlns:p14="http://schemas.microsoft.com/office/powerpoint/2010/main" val="2444167977"/>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
          <p:cNvSpPr>
            <a:spLocks noGrp="1" noChangeArrowheads="1"/>
          </p:cNvSpPr>
          <p:nvPr>
            <p:ph type="title"/>
          </p:nvPr>
        </p:nvSpPr>
        <p:spPr>
          <a:xfrm>
            <a:off x="457200" y="274638"/>
            <a:ext cx="8229600" cy="792162"/>
          </a:xfrm>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dirty="0" smtClean="0">
                <a:solidFill>
                  <a:srgbClr val="0000CC"/>
                </a:solidFill>
              </a:rPr>
              <a:t>Design Pattern Descriptions (Template)</a:t>
            </a:r>
          </a:p>
        </p:txBody>
      </p:sp>
      <p:sp>
        <p:nvSpPr>
          <p:cNvPr id="58371" name="Rectangle 2"/>
          <p:cNvSpPr>
            <a:spLocks noGrp="1" noChangeArrowheads="1"/>
          </p:cNvSpPr>
          <p:nvPr>
            <p:ph sz="quarter" idx="1"/>
          </p:nvPr>
        </p:nvSpPr>
        <p:spPr>
          <a:xfrm>
            <a:off x="457200" y="1219200"/>
            <a:ext cx="8229600" cy="5180013"/>
          </a:xfrm>
        </p:spPr>
        <p:txBody>
          <a:bodyPr>
            <a:normAutofit/>
          </a:bodyPr>
          <a:lstStyle/>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Name and Classification</a:t>
            </a:r>
            <a:r>
              <a:rPr lang="en-GB" sz="2400" dirty="0" smtClean="0"/>
              <a:t>: Essence of pattern</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Intent</a:t>
            </a:r>
            <a:r>
              <a:rPr lang="en-GB" sz="2400" dirty="0" smtClean="0"/>
              <a:t>: What it does, its rationale, its context</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AKA</a:t>
            </a:r>
            <a:r>
              <a:rPr lang="en-GB" sz="2400" dirty="0" smtClean="0"/>
              <a:t>: Other well-known names</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Motivation</a:t>
            </a:r>
            <a:r>
              <a:rPr lang="en-GB" sz="2400" dirty="0" smtClean="0"/>
              <a:t>: Scenario illustrates a design problem</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Applicability</a:t>
            </a:r>
            <a:r>
              <a:rPr lang="en-GB" sz="2400" dirty="0" smtClean="0"/>
              <a:t>: Situations where pattern can be applied</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Structure</a:t>
            </a:r>
            <a:r>
              <a:rPr lang="en-GB" sz="2400" dirty="0" smtClean="0"/>
              <a:t>: Class and interaction diagrams</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Participants</a:t>
            </a:r>
            <a:r>
              <a:rPr lang="en-GB" sz="2400" dirty="0" smtClean="0"/>
              <a:t>: Objects/classes and their responsibilities</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Collaborations</a:t>
            </a:r>
            <a:r>
              <a:rPr lang="en-GB" sz="2400" dirty="0" smtClean="0"/>
              <a:t>: How participants collaborate</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Consequences</a:t>
            </a:r>
            <a:r>
              <a:rPr lang="en-GB" sz="2400" dirty="0" smtClean="0"/>
              <a:t>: Trade-offs and results</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Implementation</a:t>
            </a:r>
            <a:r>
              <a:rPr lang="en-GB" sz="2400" dirty="0" smtClean="0"/>
              <a:t>: Pitfalls, hints, techniques, etc.</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Sample Code</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Known Uses</a:t>
            </a:r>
            <a:r>
              <a:rPr lang="en-GB" sz="2400" dirty="0" smtClean="0"/>
              <a:t>: Examples of pattern in real systems</a:t>
            </a:r>
          </a:p>
          <a:p>
            <a:pPr eaLnBrk="1" hangingPunct="1">
              <a:lnSpc>
                <a:spcPct val="8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b="1" dirty="0" smtClean="0"/>
              <a:t>Related Patterns</a:t>
            </a:r>
            <a:r>
              <a:rPr lang="en-GB" sz="2400" dirty="0" smtClean="0"/>
              <a:t>: Closely related patterns</a:t>
            </a:r>
          </a:p>
        </p:txBody>
      </p:sp>
    </p:spTree>
    <p:extLst>
      <p:ext uri="{BB962C8B-B14F-4D97-AF65-F5344CB8AC3E}">
        <p14:creationId xmlns:p14="http://schemas.microsoft.com/office/powerpoint/2010/main" val="2121602174"/>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304800" y="304800"/>
            <a:ext cx="8534400" cy="682625"/>
          </a:xfrm>
        </p:spPr>
        <p:txBody>
          <a:bodyPr>
            <a:normAutofit fontScale="90000"/>
          </a:bodyPr>
          <a:lstStyle/>
          <a:p>
            <a:pPr eaLnBrk="1" fontAlgn="auto" hangingPunct="1">
              <a:spcAft>
                <a:spcPts val="0"/>
              </a:spcAft>
              <a:defRPr/>
            </a:pPr>
            <a:r>
              <a:rPr lang="en-IN" sz="3200" b="1" dirty="0" smtClean="0">
                <a:solidFill>
                  <a:srgbClr val="0000FF"/>
                </a:solidFill>
              </a:rPr>
              <a:t>Example</a:t>
            </a:r>
            <a:r>
              <a:rPr lang="en-IN" sz="3200" b="1" dirty="0" smtClean="0">
                <a:solidFill>
                  <a:srgbClr val="0000FF"/>
                </a:solidFill>
              </a:rPr>
              <a:t>: Observer Pattern</a:t>
            </a:r>
            <a:br>
              <a:rPr lang="en-IN" sz="3200" b="1" dirty="0" smtClean="0">
                <a:solidFill>
                  <a:srgbClr val="0000FF"/>
                </a:solidFill>
              </a:rPr>
            </a:br>
            <a:endParaRPr lang="en-US" sz="3200" dirty="0" smtClean="0"/>
          </a:p>
        </p:txBody>
      </p:sp>
      <p:sp>
        <p:nvSpPr>
          <p:cNvPr id="60419" name="Content Placeholder 2"/>
          <p:cNvSpPr>
            <a:spLocks noGrp="1"/>
          </p:cNvSpPr>
          <p:nvPr>
            <p:ph sz="quarter" idx="1"/>
          </p:nvPr>
        </p:nvSpPr>
        <p:spPr>
          <a:xfrm>
            <a:off x="609600" y="1143000"/>
            <a:ext cx="7772400" cy="4114800"/>
          </a:xfrm>
        </p:spPr>
        <p:txBody>
          <a:bodyPr>
            <a:normAutofit/>
          </a:bodyPr>
          <a:lstStyle/>
          <a:p>
            <a:pPr eaLnBrk="1" hangingPunct="1"/>
            <a:r>
              <a:rPr lang="en-IN" sz="2400" b="1" dirty="0" smtClean="0"/>
              <a:t>Intent</a:t>
            </a:r>
          </a:p>
          <a:p>
            <a:pPr lvl="1" eaLnBrk="1" hangingPunct="1">
              <a:buFont typeface="Arial" panose="020B0604020202020204" pitchFamily="34" charset="0"/>
              <a:buChar char="•"/>
            </a:pPr>
            <a:r>
              <a:rPr lang="en-IN" sz="2400" dirty="0" smtClean="0"/>
              <a:t>Define a one-to-many dependency between objects so that when one object changes state, all its dependents are notified and updated automatically</a:t>
            </a:r>
          </a:p>
          <a:p>
            <a:pPr lvl="1" eaLnBrk="1" hangingPunct="1">
              <a:buFontTx/>
              <a:buNone/>
            </a:pPr>
            <a:endParaRPr lang="en-IN" sz="2400" dirty="0" smtClean="0"/>
          </a:p>
          <a:p>
            <a:pPr eaLnBrk="1" hangingPunct="1"/>
            <a:r>
              <a:rPr lang="en-IN" sz="2400" b="1" dirty="0" smtClean="0"/>
              <a:t>Also Known As</a:t>
            </a:r>
          </a:p>
          <a:p>
            <a:pPr lvl="1" eaLnBrk="1" hangingPunct="1">
              <a:buFont typeface="Arial" panose="020B0604020202020204" pitchFamily="34" charset="0"/>
              <a:buChar char="•"/>
            </a:pPr>
            <a:r>
              <a:rPr lang="en-IN" sz="2400" dirty="0" smtClean="0"/>
              <a:t>Dependents, Publish-Subscribe, Model-View</a:t>
            </a:r>
          </a:p>
        </p:txBody>
      </p:sp>
    </p:spTree>
    <p:extLst>
      <p:ext uri="{BB962C8B-B14F-4D97-AF65-F5344CB8AC3E}">
        <p14:creationId xmlns:p14="http://schemas.microsoft.com/office/powerpoint/2010/main" val="38920455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IN" sz="2900" b="1" smtClean="0">
                <a:solidFill>
                  <a:srgbClr val="0000FF"/>
                </a:solidFill>
              </a:rPr>
              <a:t>Design Patterns in Smalltalk MVC </a:t>
            </a:r>
          </a:p>
        </p:txBody>
      </p:sp>
      <p:sp>
        <p:nvSpPr>
          <p:cNvPr id="61443" name="Content Placeholder 2"/>
          <p:cNvSpPr>
            <a:spLocks noGrp="1"/>
          </p:cNvSpPr>
          <p:nvPr>
            <p:ph sz="quarter" idx="1"/>
          </p:nvPr>
        </p:nvSpPr>
        <p:spPr>
          <a:xfrm>
            <a:off x="685799" y="1527175"/>
            <a:ext cx="8120063" cy="4572000"/>
          </a:xfrm>
        </p:spPr>
        <p:txBody>
          <a:bodyPr/>
          <a:lstStyle/>
          <a:p>
            <a:r>
              <a:rPr lang="en-US" sz="2400" dirty="0" smtClean="0">
                <a:solidFill>
                  <a:srgbClr val="000000"/>
                </a:solidFill>
                <a:latin typeface="Calibri" panose="020F0502020204030204" pitchFamily="34" charset="0"/>
              </a:rPr>
              <a:t>The Model/View/Controller (MVC) triad of classes is used to build user interfaces in Smalltalk-80. MVC consists of three kinds of objects: </a:t>
            </a:r>
            <a:endParaRPr lang="en-IN" sz="2400" dirty="0" smtClean="0"/>
          </a:p>
          <a:p>
            <a:r>
              <a:rPr lang="en-IN" sz="2400" b="1" dirty="0" smtClean="0">
                <a:solidFill>
                  <a:srgbClr val="FF0000"/>
                </a:solidFill>
              </a:rPr>
              <a:t>Model</a:t>
            </a:r>
            <a:r>
              <a:rPr lang="en-IN" sz="2400" b="1" dirty="0" smtClean="0"/>
              <a:t> </a:t>
            </a:r>
            <a:r>
              <a:rPr lang="en-IN" sz="2400" dirty="0" smtClean="0"/>
              <a:t>is the application object, </a:t>
            </a:r>
          </a:p>
          <a:p>
            <a:r>
              <a:rPr lang="en-IN" sz="2400" b="1" dirty="0" smtClean="0">
                <a:solidFill>
                  <a:srgbClr val="FF0000"/>
                </a:solidFill>
              </a:rPr>
              <a:t>View </a:t>
            </a:r>
            <a:r>
              <a:rPr lang="en-IN" sz="2400" dirty="0" smtClean="0"/>
              <a:t>is its screen presentation, </a:t>
            </a:r>
          </a:p>
          <a:p>
            <a:r>
              <a:rPr lang="en-US" sz="2400" b="1" dirty="0" smtClean="0">
                <a:solidFill>
                  <a:srgbClr val="FF0000"/>
                </a:solidFill>
              </a:rPr>
              <a:t>Controller</a:t>
            </a:r>
            <a:r>
              <a:rPr lang="en-US" sz="2400" b="1" dirty="0" smtClean="0"/>
              <a:t> </a:t>
            </a:r>
            <a:r>
              <a:rPr lang="en-US" sz="2400" dirty="0" smtClean="0"/>
              <a:t>defines the way the user interface reacts to user input. </a:t>
            </a:r>
          </a:p>
          <a:p>
            <a:endParaRPr lang="en-IN" sz="2400" b="1" dirty="0" smtClean="0"/>
          </a:p>
        </p:txBody>
      </p:sp>
    </p:spTree>
    <p:extLst>
      <p:ext uri="{BB962C8B-B14F-4D97-AF65-F5344CB8AC3E}">
        <p14:creationId xmlns:p14="http://schemas.microsoft.com/office/powerpoint/2010/main" val="10938849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Content Placeholder 3" descr="ws_760C.tmp"/>
          <p:cNvPicPr>
            <a:picLocks noGrp="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990600" y="3200400"/>
            <a:ext cx="6696075" cy="3086100"/>
          </a:xfrm>
        </p:spPr>
      </p:pic>
      <p:sp>
        <p:nvSpPr>
          <p:cNvPr id="62467" name="Rectangle 4"/>
          <p:cNvSpPr>
            <a:spLocks noChangeArrowheads="1"/>
          </p:cNvSpPr>
          <p:nvPr/>
        </p:nvSpPr>
        <p:spPr bwMode="auto">
          <a:xfrm>
            <a:off x="228600" y="152400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bg1"/>
                </a:solidFill>
                <a:latin typeface="Times New Roman" panose="02020603050405020304" pitchFamily="18" charset="0"/>
              </a:defRPr>
            </a:lvl1pPr>
            <a:lvl2pPr marL="742950" indent="-285750">
              <a:defRPr>
                <a:solidFill>
                  <a:schemeClr val="bg1"/>
                </a:solidFill>
                <a:latin typeface="Times New Roman" panose="02020603050405020304" pitchFamily="18" charset="0"/>
              </a:defRPr>
            </a:lvl2pPr>
            <a:lvl3pPr marL="447675" indent="-268288">
              <a:defRPr>
                <a:solidFill>
                  <a:schemeClr val="bg1"/>
                </a:solidFill>
                <a:latin typeface="Times New Roman" panose="02020603050405020304" pitchFamily="18" charset="0"/>
              </a:defRPr>
            </a:lvl3pPr>
            <a:lvl4pPr marL="1600200" indent="-228600">
              <a:defRPr>
                <a:solidFill>
                  <a:schemeClr val="bg1"/>
                </a:solidFill>
                <a:latin typeface="Times New Roman" panose="02020603050405020304" pitchFamily="18" charset="0"/>
              </a:defRPr>
            </a:lvl4pPr>
            <a:lvl5pPr marL="2057400" indent="-228600">
              <a:defRPr>
                <a:solidFill>
                  <a:schemeClr val="bg1"/>
                </a:solidFill>
                <a:latin typeface="Times New Roman" panose="02020603050405020304" pitchFamily="18" charset="0"/>
              </a:defRPr>
            </a:lvl5pPr>
            <a:lvl6pPr marL="2514600" indent="-228600" eaLnBrk="0" fontAlgn="base" hangingPunct="0">
              <a:spcBef>
                <a:spcPct val="0"/>
              </a:spcBef>
              <a:spcAft>
                <a:spcPct val="0"/>
              </a:spcAft>
              <a:defRPr>
                <a:solidFill>
                  <a:schemeClr val="bg1"/>
                </a:solidFill>
                <a:latin typeface="Times New Roman" panose="02020603050405020304" pitchFamily="18" charset="0"/>
              </a:defRPr>
            </a:lvl6pPr>
            <a:lvl7pPr marL="2971800" indent="-228600" eaLnBrk="0" fontAlgn="base" hangingPunct="0">
              <a:spcBef>
                <a:spcPct val="0"/>
              </a:spcBef>
              <a:spcAft>
                <a:spcPct val="0"/>
              </a:spcAft>
              <a:defRPr>
                <a:solidFill>
                  <a:schemeClr val="bg1"/>
                </a:solidFill>
                <a:latin typeface="Times New Roman" panose="02020603050405020304" pitchFamily="18" charset="0"/>
              </a:defRPr>
            </a:lvl7pPr>
            <a:lvl8pPr marL="3429000" indent="-228600" eaLnBrk="0" fontAlgn="base" hangingPunct="0">
              <a:spcBef>
                <a:spcPct val="0"/>
              </a:spcBef>
              <a:spcAft>
                <a:spcPct val="0"/>
              </a:spcAft>
              <a:defRPr>
                <a:solidFill>
                  <a:schemeClr val="bg1"/>
                </a:solidFill>
                <a:latin typeface="Times New Roman" panose="02020603050405020304" pitchFamily="18" charset="0"/>
              </a:defRPr>
            </a:lvl8pPr>
            <a:lvl9pPr marL="3886200" indent="-228600" eaLnBrk="0" fontAlgn="base" hangingPunct="0">
              <a:spcBef>
                <a:spcPct val="0"/>
              </a:spcBef>
              <a:spcAft>
                <a:spcPct val="0"/>
              </a:spcAft>
              <a:defRPr>
                <a:solidFill>
                  <a:schemeClr val="bg1"/>
                </a:solidFill>
                <a:latin typeface="Times New Roman" panose="02020603050405020304" pitchFamily="18" charset="0"/>
              </a:defRPr>
            </a:lvl9pPr>
          </a:lstStyle>
          <a:p>
            <a:pPr lvl="2">
              <a:buFont typeface="Arial" panose="020B0604020202020204" pitchFamily="34" charset="0"/>
              <a:buChar char="•"/>
            </a:pPr>
            <a:r>
              <a:rPr lang="en-IN" sz="2400" dirty="0">
                <a:solidFill>
                  <a:schemeClr val="tx1"/>
                </a:solidFill>
              </a:rPr>
              <a:t>The need to maintain consistency between related objects without making classes tightly coupled.</a:t>
            </a:r>
          </a:p>
          <a:p>
            <a:pPr lvl="2">
              <a:buFont typeface="Arial" panose="020B0604020202020204" pitchFamily="34" charset="0"/>
              <a:buChar char="•"/>
            </a:pPr>
            <a:r>
              <a:rPr lang="en-US" sz="2400" dirty="0">
                <a:solidFill>
                  <a:schemeClr val="tx1"/>
                </a:solidFill>
              </a:rPr>
              <a:t>MVC decouples them to increase flexibility and reuse. </a:t>
            </a:r>
            <a:endParaRPr lang="en-IN" sz="2400" dirty="0">
              <a:solidFill>
                <a:schemeClr val="tx1"/>
              </a:solidFill>
            </a:endParaRPr>
          </a:p>
        </p:txBody>
      </p:sp>
      <p:sp>
        <p:nvSpPr>
          <p:cNvPr id="61444" name="TextBox 4"/>
          <p:cNvSpPr txBox="1">
            <a:spLocks noChangeArrowheads="1"/>
          </p:cNvSpPr>
          <p:nvPr/>
        </p:nvSpPr>
        <p:spPr bwMode="auto">
          <a:xfrm>
            <a:off x="2832893" y="304800"/>
            <a:ext cx="30114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bg1"/>
                </a:solidFill>
                <a:latin typeface="Times New Roman" panose="02020603050405020304" pitchFamily="18" charset="0"/>
              </a:defRPr>
            </a:lvl1pPr>
            <a:lvl2pPr>
              <a:defRPr>
                <a:solidFill>
                  <a:schemeClr val="bg1"/>
                </a:solidFill>
                <a:latin typeface="Times New Roman" panose="02020603050405020304" pitchFamily="18" charset="0"/>
              </a:defRPr>
            </a:lvl2pPr>
            <a:lvl3pPr marL="1143000" indent="-228600">
              <a:defRPr>
                <a:solidFill>
                  <a:schemeClr val="bg1"/>
                </a:solidFill>
                <a:latin typeface="Times New Roman" panose="02020603050405020304" pitchFamily="18" charset="0"/>
              </a:defRPr>
            </a:lvl3pPr>
            <a:lvl4pPr marL="1600200" indent="-228600">
              <a:defRPr>
                <a:solidFill>
                  <a:schemeClr val="bg1"/>
                </a:solidFill>
                <a:latin typeface="Times New Roman" panose="02020603050405020304" pitchFamily="18" charset="0"/>
              </a:defRPr>
            </a:lvl4pPr>
            <a:lvl5pPr marL="2057400" indent="-228600">
              <a:defRPr>
                <a:solidFill>
                  <a:schemeClr val="bg1"/>
                </a:solidFill>
                <a:latin typeface="Times New Roman" panose="02020603050405020304" pitchFamily="18" charset="0"/>
              </a:defRPr>
            </a:lvl5pPr>
            <a:lvl6pPr marL="2514600" indent="-228600" eaLnBrk="0" fontAlgn="base" hangingPunct="0">
              <a:spcBef>
                <a:spcPct val="0"/>
              </a:spcBef>
              <a:spcAft>
                <a:spcPct val="0"/>
              </a:spcAft>
              <a:defRPr>
                <a:solidFill>
                  <a:schemeClr val="bg1"/>
                </a:solidFill>
                <a:latin typeface="Times New Roman" panose="02020603050405020304" pitchFamily="18" charset="0"/>
              </a:defRPr>
            </a:lvl6pPr>
            <a:lvl7pPr marL="2971800" indent="-228600" eaLnBrk="0" fontAlgn="base" hangingPunct="0">
              <a:spcBef>
                <a:spcPct val="0"/>
              </a:spcBef>
              <a:spcAft>
                <a:spcPct val="0"/>
              </a:spcAft>
              <a:defRPr>
                <a:solidFill>
                  <a:schemeClr val="bg1"/>
                </a:solidFill>
                <a:latin typeface="Times New Roman" panose="02020603050405020304" pitchFamily="18" charset="0"/>
              </a:defRPr>
            </a:lvl7pPr>
            <a:lvl8pPr marL="3429000" indent="-228600" eaLnBrk="0" fontAlgn="base" hangingPunct="0">
              <a:spcBef>
                <a:spcPct val="0"/>
              </a:spcBef>
              <a:spcAft>
                <a:spcPct val="0"/>
              </a:spcAft>
              <a:defRPr>
                <a:solidFill>
                  <a:schemeClr val="bg1"/>
                </a:solidFill>
                <a:latin typeface="Times New Roman" panose="02020603050405020304" pitchFamily="18" charset="0"/>
              </a:defRPr>
            </a:lvl8pPr>
            <a:lvl9pPr marL="3886200" indent="-228600" eaLnBrk="0" fontAlgn="base" hangingPunct="0">
              <a:spcBef>
                <a:spcPct val="0"/>
              </a:spcBef>
              <a:spcAft>
                <a:spcPct val="0"/>
              </a:spcAft>
              <a:defRPr>
                <a:solidFill>
                  <a:schemeClr val="bg1"/>
                </a:solidFill>
                <a:latin typeface="Times New Roman" panose="02020603050405020304" pitchFamily="18" charset="0"/>
              </a:defRPr>
            </a:lvl9pPr>
          </a:lstStyle>
          <a:p>
            <a:pPr lvl="1" algn="ct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IN" sz="3200" b="1" dirty="0">
                <a:solidFill>
                  <a:srgbClr val="0000CC"/>
                </a:solidFill>
                <a:latin typeface="+mj-lt"/>
                <a:ea typeface="+mj-ea"/>
                <a:cs typeface="+mj-cs"/>
              </a:rPr>
              <a:t>Motivation</a:t>
            </a:r>
          </a:p>
        </p:txBody>
      </p:sp>
    </p:spTree>
    <p:extLst>
      <p:ext uri="{BB962C8B-B14F-4D97-AF65-F5344CB8AC3E}">
        <p14:creationId xmlns:p14="http://schemas.microsoft.com/office/powerpoint/2010/main" val="242712533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ubtitle 7"/>
          <p:cNvSpPr>
            <a:spLocks noGrp="1"/>
          </p:cNvSpPr>
          <p:nvPr>
            <p:ph type="subTitle" idx="1"/>
          </p:nvPr>
        </p:nvSpPr>
        <p:spPr>
          <a:xfrm>
            <a:off x="685800" y="1066800"/>
            <a:ext cx="7924800" cy="3886200"/>
          </a:xfrm>
        </p:spPr>
        <p:txBody>
          <a:bodyPr>
            <a:noAutofit/>
          </a:bodyPr>
          <a:lstStyle/>
          <a:p>
            <a:pPr algn="l" eaLnBrk="1" fontAlgn="auto" hangingPunct="1">
              <a:lnSpc>
                <a:spcPts val="1000"/>
              </a:lnSpc>
              <a:spcAft>
                <a:spcPts val="0"/>
              </a:spcAft>
              <a:buFontTx/>
              <a:buChar char="•"/>
              <a:tabLst>
                <a:tab pos="114300" algn="l"/>
                <a:tab pos="393700" algn="l"/>
              </a:tabLst>
              <a:defRPr/>
            </a:pPr>
            <a:endParaRPr lang="en-IN" sz="2400" cap="none" dirty="0" smtClean="0">
              <a:solidFill>
                <a:srgbClr val="000000"/>
              </a:solidFill>
              <a:latin typeface="Times New Roman" pitchFamily="18" charset="0"/>
              <a:cs typeface="Times New Roman" pitchFamily="18" charset="0"/>
            </a:endParaRPr>
          </a:p>
          <a:p>
            <a:pPr marL="342900" indent="-342900" algn="l" eaLnBrk="1" fontAlgn="auto" hangingPunct="1">
              <a:lnSpc>
                <a:spcPts val="1888"/>
              </a:lnSpc>
              <a:spcAft>
                <a:spcPts val="0"/>
              </a:spcAft>
              <a:buFont typeface="Wingdings" panose="05000000000000000000" pitchFamily="2" charset="2"/>
              <a:buChar char="Ø"/>
              <a:tabLst>
                <a:tab pos="114300" algn="l"/>
                <a:tab pos="393700" algn="l"/>
              </a:tabLst>
              <a:defRPr/>
            </a:pPr>
            <a:r>
              <a:rPr lang="en-IN" sz="2400" b="0" cap="none" dirty="0" smtClean="0">
                <a:solidFill>
                  <a:srgbClr val="000000"/>
                </a:solidFill>
                <a:latin typeface="Times New Roman" pitchFamily="18" charset="0"/>
                <a:cs typeface="Times New Roman" pitchFamily="18" charset="0"/>
              </a:rPr>
              <a:t>U</a:t>
            </a:r>
            <a:r>
              <a:rPr lang="en-IN" sz="2400" b="0" kern="0" cap="none" spc="0" dirty="0" smtClean="0">
                <a:solidFill>
                  <a:srgbClr val="000000"/>
                </a:solidFill>
                <a:latin typeface="Times New Roman" pitchFamily="18" charset="0"/>
                <a:cs typeface="Times New Roman" pitchFamily="18" charset="0"/>
              </a:rPr>
              <a:t>se </a:t>
            </a:r>
            <a:r>
              <a:rPr lang="en-IN" sz="2400" b="0" kern="0" cap="none" spc="0" dirty="0" smtClean="0">
                <a:solidFill>
                  <a:srgbClr val="000000"/>
                </a:solidFill>
                <a:latin typeface="Times New Roman" pitchFamily="18" charset="0"/>
                <a:cs typeface="Times New Roman" pitchFamily="18" charset="0"/>
              </a:rPr>
              <a:t>the observer pattern in any of the following situations:</a:t>
            </a:r>
          </a:p>
          <a:p>
            <a:pPr marL="342900" indent="-342900" algn="l" eaLnBrk="1" fontAlgn="auto" hangingPunct="1">
              <a:lnSpc>
                <a:spcPts val="1000"/>
              </a:lnSpc>
              <a:spcAft>
                <a:spcPts val="0"/>
              </a:spcAft>
              <a:buFont typeface="Wingdings" panose="05000000000000000000" pitchFamily="2" charset="2"/>
              <a:buChar char="Ø"/>
              <a:tabLst>
                <a:tab pos="114300" algn="l"/>
                <a:tab pos="393700" algn="l"/>
              </a:tabLst>
              <a:defRPr/>
            </a:pPr>
            <a:endParaRPr lang="en-IN" sz="2400" b="0" kern="0" cap="none" spc="0" dirty="0" smtClean="0">
              <a:solidFill>
                <a:srgbClr val="000000"/>
              </a:solidFill>
              <a:latin typeface="Times New Roman" pitchFamily="18" charset="0"/>
              <a:cs typeface="Times New Roman" pitchFamily="18" charset="0"/>
            </a:endParaRPr>
          </a:p>
          <a:p>
            <a:pPr marL="342900" indent="-342900" algn="l" eaLnBrk="1" fontAlgn="auto" hangingPunct="1">
              <a:lnSpc>
                <a:spcPts val="1875"/>
              </a:lnSpc>
              <a:spcAft>
                <a:spcPts val="0"/>
              </a:spcAft>
              <a:buFont typeface="Wingdings" panose="05000000000000000000" pitchFamily="2" charset="2"/>
              <a:buChar char="Ø"/>
              <a:tabLst>
                <a:tab pos="114300" algn="l"/>
                <a:tab pos="393700" algn="l"/>
              </a:tabLst>
              <a:defRPr/>
            </a:pPr>
            <a:r>
              <a:rPr lang="en-IN" sz="2400" b="0" kern="0" cap="none" spc="0" dirty="0" smtClean="0">
                <a:solidFill>
                  <a:srgbClr val="000000"/>
                </a:solidFill>
                <a:latin typeface="Times New Roman" pitchFamily="18" charset="0"/>
                <a:cs typeface="Times New Roman" pitchFamily="18" charset="0"/>
              </a:rPr>
              <a:t>When </a:t>
            </a:r>
            <a:r>
              <a:rPr lang="en-IN" sz="2400" b="0" kern="0" cap="none" spc="0" dirty="0" smtClean="0">
                <a:solidFill>
                  <a:srgbClr val="000000"/>
                </a:solidFill>
                <a:latin typeface="Times New Roman" pitchFamily="18" charset="0"/>
                <a:cs typeface="Times New Roman" pitchFamily="18" charset="0"/>
              </a:rPr>
              <a:t>an abstraction has two aspects, one dependent on the other. encapsulating these aspects in separate objects lets you vary and reuse them independently.</a:t>
            </a:r>
          </a:p>
          <a:p>
            <a:pPr marL="342900" indent="-342900" algn="l" eaLnBrk="1" fontAlgn="auto" hangingPunct="1">
              <a:lnSpc>
                <a:spcPts val="1000"/>
              </a:lnSpc>
              <a:spcAft>
                <a:spcPts val="0"/>
              </a:spcAft>
              <a:buFont typeface="Wingdings" panose="05000000000000000000" pitchFamily="2" charset="2"/>
              <a:buChar char="Ø"/>
              <a:tabLst>
                <a:tab pos="114300" algn="l"/>
                <a:tab pos="393700" algn="l"/>
              </a:tabLst>
              <a:defRPr/>
            </a:pPr>
            <a:endParaRPr lang="en-IN" sz="2400" b="0" kern="0" cap="none" spc="0" dirty="0" smtClean="0">
              <a:solidFill>
                <a:srgbClr val="000000"/>
              </a:solidFill>
              <a:latin typeface="Times New Roman" pitchFamily="18" charset="0"/>
              <a:cs typeface="Times New Roman" pitchFamily="18" charset="0"/>
            </a:endParaRPr>
          </a:p>
          <a:p>
            <a:pPr marL="342900" indent="-342900" algn="l" eaLnBrk="1" fontAlgn="auto" hangingPunct="1">
              <a:lnSpc>
                <a:spcPts val="1850"/>
              </a:lnSpc>
              <a:spcAft>
                <a:spcPts val="0"/>
              </a:spcAft>
              <a:buFont typeface="Wingdings" panose="05000000000000000000" pitchFamily="2" charset="2"/>
              <a:buChar char="Ø"/>
              <a:tabLst>
                <a:tab pos="114300" algn="l"/>
                <a:tab pos="393700" algn="l"/>
              </a:tabLst>
              <a:defRPr/>
            </a:pPr>
            <a:r>
              <a:rPr lang="en-IN" sz="2400" b="0" kern="0" cap="none" spc="0" dirty="0" smtClean="0">
                <a:solidFill>
                  <a:srgbClr val="000000"/>
                </a:solidFill>
                <a:latin typeface="Times New Roman" pitchFamily="18" charset="0"/>
                <a:cs typeface="Times New Roman" pitchFamily="18" charset="0"/>
              </a:rPr>
              <a:t>When a change to one object requires changing others</a:t>
            </a:r>
          </a:p>
          <a:p>
            <a:pPr marL="342900" indent="-342900" algn="l" eaLnBrk="1" fontAlgn="auto" hangingPunct="1">
              <a:lnSpc>
                <a:spcPts val="1000"/>
              </a:lnSpc>
              <a:spcAft>
                <a:spcPts val="0"/>
              </a:spcAft>
              <a:buFont typeface="Wingdings" panose="05000000000000000000" pitchFamily="2" charset="2"/>
              <a:buChar char="Ø"/>
              <a:tabLst>
                <a:tab pos="114300" algn="l"/>
                <a:tab pos="393700" algn="l"/>
              </a:tabLst>
              <a:defRPr/>
            </a:pPr>
            <a:endParaRPr lang="en-IN" sz="2400" b="0" kern="0" cap="none" spc="0" dirty="0" smtClean="0">
              <a:solidFill>
                <a:srgbClr val="000000"/>
              </a:solidFill>
              <a:latin typeface="Times New Roman" pitchFamily="18" charset="0"/>
              <a:cs typeface="Times New Roman" pitchFamily="18" charset="0"/>
            </a:endParaRPr>
          </a:p>
          <a:p>
            <a:pPr marL="342900" indent="-342900" algn="l" eaLnBrk="1" fontAlgn="auto" hangingPunct="1">
              <a:lnSpc>
                <a:spcPts val="1875"/>
              </a:lnSpc>
              <a:spcAft>
                <a:spcPts val="0"/>
              </a:spcAft>
              <a:buFont typeface="Wingdings" panose="05000000000000000000" pitchFamily="2" charset="2"/>
              <a:buChar char="Ø"/>
              <a:tabLst>
                <a:tab pos="114300" algn="l"/>
                <a:tab pos="393700" algn="l"/>
              </a:tabLst>
              <a:defRPr/>
            </a:pPr>
            <a:r>
              <a:rPr lang="en-IN" sz="2400" b="0" kern="0" cap="none" spc="0" dirty="0" smtClean="0">
                <a:solidFill>
                  <a:srgbClr val="000000"/>
                </a:solidFill>
                <a:latin typeface="Times New Roman" pitchFamily="18" charset="0"/>
                <a:cs typeface="Times New Roman" pitchFamily="18" charset="0"/>
              </a:rPr>
              <a:t>When an object should be able to notify other objects without making assumptions about those objects</a:t>
            </a:r>
          </a:p>
          <a:p>
            <a:pPr algn="l" eaLnBrk="1" fontAlgn="auto" hangingPunct="1">
              <a:spcAft>
                <a:spcPts val="0"/>
              </a:spcAft>
              <a:buFont typeface="Wingdings 2"/>
              <a:buNone/>
              <a:tabLst>
                <a:tab pos="114300" algn="l"/>
                <a:tab pos="393700" algn="l"/>
              </a:tabLst>
              <a:defRPr/>
            </a:pPr>
            <a:endParaRPr lang="en-US" sz="2400" cap="none" dirty="0" smtClean="0">
              <a:latin typeface="Times New Roman" pitchFamily="18" charset="0"/>
              <a:cs typeface="Times New Roman" pitchFamily="18" charset="0"/>
            </a:endParaRPr>
          </a:p>
        </p:txBody>
      </p:sp>
      <p:sp>
        <p:nvSpPr>
          <p:cNvPr id="63491" name="TextBox 2"/>
          <p:cNvSpPr txBox="1">
            <a:spLocks noChangeArrowheads="1"/>
          </p:cNvSpPr>
          <p:nvPr/>
        </p:nvSpPr>
        <p:spPr bwMode="auto">
          <a:xfrm>
            <a:off x="3276600" y="304800"/>
            <a:ext cx="4267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tabLst>
                <a:tab pos="114300" algn="l"/>
                <a:tab pos="393700" algn="l"/>
              </a:tabLst>
              <a:defRPr>
                <a:solidFill>
                  <a:schemeClr val="bg1"/>
                </a:solidFill>
                <a:latin typeface="Times New Roman" panose="02020603050405020304" pitchFamily="18" charset="0"/>
              </a:defRPr>
            </a:lvl1pPr>
            <a:lvl2pPr marL="742950" indent="-285750">
              <a:tabLst>
                <a:tab pos="114300" algn="l"/>
                <a:tab pos="393700" algn="l"/>
              </a:tabLst>
              <a:defRPr>
                <a:solidFill>
                  <a:schemeClr val="bg1"/>
                </a:solidFill>
                <a:latin typeface="Times New Roman" panose="02020603050405020304" pitchFamily="18" charset="0"/>
              </a:defRPr>
            </a:lvl2pPr>
            <a:lvl3pPr marL="1143000" indent="-228600">
              <a:tabLst>
                <a:tab pos="114300" algn="l"/>
                <a:tab pos="393700" algn="l"/>
              </a:tabLst>
              <a:defRPr>
                <a:solidFill>
                  <a:schemeClr val="bg1"/>
                </a:solidFill>
                <a:latin typeface="Times New Roman" panose="02020603050405020304" pitchFamily="18" charset="0"/>
              </a:defRPr>
            </a:lvl3pPr>
            <a:lvl4pPr marL="1600200" indent="-228600">
              <a:tabLst>
                <a:tab pos="114300" algn="l"/>
                <a:tab pos="393700" algn="l"/>
              </a:tabLst>
              <a:defRPr>
                <a:solidFill>
                  <a:schemeClr val="bg1"/>
                </a:solidFill>
                <a:latin typeface="Times New Roman" panose="02020603050405020304" pitchFamily="18" charset="0"/>
              </a:defRPr>
            </a:lvl4pPr>
            <a:lvl5pPr marL="2057400" indent="-228600">
              <a:tabLst>
                <a:tab pos="114300" algn="l"/>
                <a:tab pos="393700" algn="l"/>
              </a:tabLst>
              <a:defRPr>
                <a:solidFill>
                  <a:schemeClr val="bg1"/>
                </a:solidFill>
                <a:latin typeface="Times New Roman" panose="02020603050405020304" pitchFamily="18" charset="0"/>
              </a:defRPr>
            </a:lvl5pPr>
            <a:lvl6pPr marL="2514600" indent="-228600" eaLnBrk="0" fontAlgn="base" hangingPunct="0">
              <a:spcBef>
                <a:spcPct val="0"/>
              </a:spcBef>
              <a:spcAft>
                <a:spcPct val="0"/>
              </a:spcAft>
              <a:tabLst>
                <a:tab pos="114300" algn="l"/>
                <a:tab pos="393700" algn="l"/>
              </a:tabLst>
              <a:defRPr>
                <a:solidFill>
                  <a:schemeClr val="bg1"/>
                </a:solidFill>
                <a:latin typeface="Times New Roman" panose="02020603050405020304" pitchFamily="18" charset="0"/>
              </a:defRPr>
            </a:lvl6pPr>
            <a:lvl7pPr marL="2971800" indent="-228600" eaLnBrk="0" fontAlgn="base" hangingPunct="0">
              <a:spcBef>
                <a:spcPct val="0"/>
              </a:spcBef>
              <a:spcAft>
                <a:spcPct val="0"/>
              </a:spcAft>
              <a:tabLst>
                <a:tab pos="114300" algn="l"/>
                <a:tab pos="393700" algn="l"/>
              </a:tabLst>
              <a:defRPr>
                <a:solidFill>
                  <a:schemeClr val="bg1"/>
                </a:solidFill>
                <a:latin typeface="Times New Roman" panose="02020603050405020304" pitchFamily="18" charset="0"/>
              </a:defRPr>
            </a:lvl7pPr>
            <a:lvl8pPr marL="3429000" indent="-228600" eaLnBrk="0" fontAlgn="base" hangingPunct="0">
              <a:spcBef>
                <a:spcPct val="0"/>
              </a:spcBef>
              <a:spcAft>
                <a:spcPct val="0"/>
              </a:spcAft>
              <a:tabLst>
                <a:tab pos="114300" algn="l"/>
                <a:tab pos="393700" algn="l"/>
              </a:tabLst>
              <a:defRPr>
                <a:solidFill>
                  <a:schemeClr val="bg1"/>
                </a:solidFill>
                <a:latin typeface="Times New Roman" panose="02020603050405020304" pitchFamily="18" charset="0"/>
              </a:defRPr>
            </a:lvl8pPr>
            <a:lvl9pPr marL="3886200" indent="-228600" eaLnBrk="0" fontAlgn="base" hangingPunct="0">
              <a:spcBef>
                <a:spcPct val="0"/>
              </a:spcBef>
              <a:spcAft>
                <a:spcPct val="0"/>
              </a:spcAft>
              <a:tabLst>
                <a:tab pos="114300" algn="l"/>
                <a:tab pos="393700" algn="l"/>
              </a:tabLst>
              <a:defRPr>
                <a:solidFill>
                  <a:schemeClr val="bg1"/>
                </a:solidFill>
                <a:latin typeface="Times New Roman" panose="02020603050405020304" pitchFamily="18" charset="0"/>
              </a:defRPr>
            </a:lvl9pPr>
          </a:lstStyle>
          <a:p>
            <a:pPr eaLnBrk="1" hangingPunct="1">
              <a:lnSpc>
                <a:spcPts val="2163"/>
              </a:lnSpc>
            </a:pPr>
            <a:r>
              <a:rPr lang="en-IN" sz="3200" b="1" dirty="0">
                <a:solidFill>
                  <a:srgbClr val="0000FF"/>
                </a:solidFill>
              </a:rPr>
              <a:t>Applicability</a:t>
            </a:r>
          </a:p>
        </p:txBody>
      </p:sp>
    </p:spTree>
    <p:extLst>
      <p:ext uri="{BB962C8B-B14F-4D97-AF65-F5344CB8AC3E}">
        <p14:creationId xmlns:p14="http://schemas.microsoft.com/office/powerpoint/2010/main" val="215149046"/>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
          <p:cNvSpPr>
            <a:spLocks noGrp="1" noChangeArrowheads="1"/>
          </p:cNvSpPr>
          <p:nvPr>
            <p:ph type="title"/>
          </p:nvPr>
        </p:nvSpPr>
        <p:spPr>
          <a:xfrm>
            <a:off x="457200" y="274638"/>
            <a:ext cx="8229600" cy="487362"/>
          </a:xfrm>
        </p:spPr>
        <p:txBody>
          <a:bodyPr>
            <a:normAutofit/>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b="1" dirty="0" smtClean="0">
                <a:solidFill>
                  <a:srgbClr val="0000FF"/>
                </a:solidFill>
              </a:rPr>
              <a:t>Structure</a:t>
            </a:r>
          </a:p>
        </p:txBody>
      </p:sp>
      <p:pic>
        <p:nvPicPr>
          <p:cNvPr id="65539" name="Picture 3" descr="ws_7BF6.tmp"/>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33400" y="1295400"/>
            <a:ext cx="8382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86838679"/>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304800" y="152400"/>
            <a:ext cx="8229600" cy="639762"/>
          </a:xfrm>
        </p:spPr>
        <p:txBody>
          <a:bodyPr>
            <a:normAutofit/>
          </a:bodyPr>
          <a:lstStyle/>
          <a:p>
            <a:r>
              <a:rPr lang="en-IN" sz="3200" b="1" dirty="0" smtClean="0">
                <a:solidFill>
                  <a:srgbClr val="0000FF"/>
                </a:solidFill>
              </a:rPr>
              <a:t>Example - News Agency</a:t>
            </a:r>
          </a:p>
        </p:txBody>
      </p:sp>
      <p:pic>
        <p:nvPicPr>
          <p:cNvPr id="67587" name="Picture 2" descr="Observer Design Pattern Newspublisher Example - UML Class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24000"/>
            <a:ext cx="91440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82936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944" y="152400"/>
            <a:ext cx="8229600" cy="487362"/>
          </a:xfrm>
        </p:spPr>
        <p:txBody>
          <a:bodyPr/>
          <a:lstStyle/>
          <a:p>
            <a:pPr>
              <a:defRPr/>
            </a:pPr>
            <a:r>
              <a:rPr lang="en-IN" sz="2400" b="1" dirty="0" smtClean="0">
                <a:solidFill>
                  <a:srgbClr val="0000FF"/>
                </a:solidFill>
              </a:rPr>
              <a:t>Example - News Agency</a:t>
            </a:r>
            <a:endParaRPr lang="en-IN" sz="2400" dirty="0">
              <a:solidFill>
                <a:srgbClr val="0000FF"/>
              </a:solidFill>
            </a:endParaRPr>
          </a:p>
        </p:txBody>
      </p:sp>
      <p:sp>
        <p:nvSpPr>
          <p:cNvPr id="68611" name="Content Placeholder 2"/>
          <p:cNvSpPr>
            <a:spLocks noGrp="1"/>
          </p:cNvSpPr>
          <p:nvPr>
            <p:ph sz="quarter" idx="1"/>
          </p:nvPr>
        </p:nvSpPr>
        <p:spPr>
          <a:xfrm>
            <a:off x="301625" y="914400"/>
            <a:ext cx="8504238" cy="5638800"/>
          </a:xfrm>
        </p:spPr>
        <p:txBody>
          <a:bodyPr>
            <a:normAutofit/>
          </a:bodyPr>
          <a:lstStyle/>
          <a:p>
            <a:r>
              <a:rPr lang="en-IN" sz="2000" dirty="0" smtClean="0"/>
              <a:t>A news agency gather news </a:t>
            </a:r>
            <a:r>
              <a:rPr lang="en-IN" sz="2000" dirty="0" err="1" smtClean="0"/>
              <a:t>news</a:t>
            </a:r>
            <a:r>
              <a:rPr lang="en-IN" sz="2000" dirty="0" smtClean="0"/>
              <a:t> and publish them to different subscribers. We need to create a framework for and agency to be able to inform immediately, when event occurs, its subscribers about the event. The subscribers can receive the news in different ways: Emails, SMS, ... </a:t>
            </a:r>
          </a:p>
          <a:p>
            <a:r>
              <a:rPr lang="en-IN" sz="2000" dirty="0" smtClean="0"/>
              <a:t>Obviously, the agency is represented by an Observable(Subject) class named </a:t>
            </a:r>
            <a:r>
              <a:rPr lang="en-IN" sz="2000" b="1" dirty="0" err="1" smtClean="0"/>
              <a:t>NewsPublisher</a:t>
            </a:r>
            <a:r>
              <a:rPr lang="en-IN" sz="2000" dirty="0" smtClean="0"/>
              <a:t>. The concrete class is </a:t>
            </a:r>
            <a:r>
              <a:rPr lang="en-IN" sz="2000" b="1" dirty="0" err="1" smtClean="0"/>
              <a:t>BusinessNewsPublisher</a:t>
            </a:r>
            <a:r>
              <a:rPr lang="en-IN" sz="2000" dirty="0" smtClean="0"/>
              <a:t>.</a:t>
            </a:r>
          </a:p>
          <a:p>
            <a:r>
              <a:rPr lang="en-IN" sz="2000" dirty="0" smtClean="0"/>
              <a:t>The observer logic is implemented in </a:t>
            </a:r>
            <a:r>
              <a:rPr lang="en-IN" sz="2000" b="1" dirty="0" err="1" smtClean="0"/>
              <a:t>NewsPublisher</a:t>
            </a:r>
            <a:r>
              <a:rPr lang="en-IN" sz="2000" dirty="0" smtClean="0"/>
              <a:t>. It keeps a list of all it subscribers and it informs them about the latest news. The subscribers are represented by some observers (</a:t>
            </a:r>
            <a:r>
              <a:rPr lang="en-IN" sz="2000" dirty="0" err="1" smtClean="0"/>
              <a:t>SMSSubscriber</a:t>
            </a:r>
            <a:r>
              <a:rPr lang="en-IN" sz="2000" dirty="0" smtClean="0"/>
              <a:t>, </a:t>
            </a:r>
            <a:r>
              <a:rPr lang="en-IN" sz="2000" dirty="0" err="1" smtClean="0"/>
              <a:t>EmailSubscriber</a:t>
            </a:r>
            <a:r>
              <a:rPr lang="en-IN" sz="2000" dirty="0" smtClean="0"/>
              <a:t>). Both the observers mentioned above are inherited from the Subscriber. The subscriber is the abstract class which is known to the publisher. </a:t>
            </a:r>
          </a:p>
          <a:p>
            <a:r>
              <a:rPr lang="en-IN" sz="2000" dirty="0" smtClean="0"/>
              <a:t>In the main class a publisher(Observable) is built and a few subscribers(Observers). The subscribers are subscribed to the publisher and they can be unsubscribed. In this architecture new types of subscribers can be easily added(instant messaging, ...) and new types of publishers(Weather News, Sport News, ...).</a:t>
            </a:r>
          </a:p>
          <a:p>
            <a:endParaRPr lang="en-IN" sz="2000" dirty="0" smtClean="0"/>
          </a:p>
        </p:txBody>
      </p:sp>
    </p:spTree>
    <p:extLst>
      <p:ext uri="{BB962C8B-B14F-4D97-AF65-F5344CB8AC3E}">
        <p14:creationId xmlns:p14="http://schemas.microsoft.com/office/powerpoint/2010/main" val="1665113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2"/>
          <p:cNvSpPr>
            <a:spLocks noGrp="1"/>
          </p:cNvSpPr>
          <p:nvPr>
            <p:ph sz="quarter" idx="1"/>
          </p:nvPr>
        </p:nvSpPr>
        <p:spPr>
          <a:xfrm>
            <a:off x="533400" y="685800"/>
            <a:ext cx="8001000" cy="5486400"/>
          </a:xfrm>
        </p:spPr>
        <p:txBody>
          <a:bodyPr>
            <a:normAutofit/>
          </a:bodyPr>
          <a:lstStyle/>
          <a:p>
            <a:pPr marL="274320" indent="-274320" eaLnBrk="1" fontAlgn="auto" hangingPunct="1">
              <a:spcAft>
                <a:spcPts val="0"/>
              </a:spcAft>
              <a:buFont typeface="Wingdings 2"/>
              <a:buChar char=""/>
              <a:defRPr/>
            </a:pPr>
            <a:r>
              <a:rPr lang="en-IN" sz="1800" b="1" dirty="0" smtClean="0"/>
              <a:t>Participants</a:t>
            </a:r>
          </a:p>
          <a:p>
            <a:pPr marL="274320" indent="-274320" eaLnBrk="1" fontAlgn="auto" hangingPunct="1">
              <a:spcAft>
                <a:spcPts val="0"/>
              </a:spcAft>
              <a:buFont typeface="Wingdings 2"/>
              <a:buChar char=""/>
              <a:defRPr/>
            </a:pPr>
            <a:endParaRPr lang="en-IN" sz="1800" b="1" dirty="0" smtClean="0"/>
          </a:p>
          <a:p>
            <a:pPr marL="548640" lvl="1" indent="-274320" eaLnBrk="1" fontAlgn="auto" hangingPunct="1">
              <a:spcAft>
                <a:spcPts val="0"/>
              </a:spcAft>
              <a:buFont typeface="Arial" pitchFamily="34" charset="0"/>
              <a:buChar char="•"/>
              <a:defRPr/>
            </a:pPr>
            <a:r>
              <a:rPr lang="en-IN" sz="1800" dirty="0" smtClean="0"/>
              <a:t>Subject</a:t>
            </a:r>
            <a:endParaRPr lang="en-IN" sz="1800" dirty="0" smtClean="0"/>
          </a:p>
          <a:p>
            <a:pPr marL="822960" lvl="2" eaLnBrk="1" fontAlgn="auto" hangingPunct="1">
              <a:spcAft>
                <a:spcPts val="0"/>
              </a:spcAft>
              <a:buClr>
                <a:schemeClr val="accent3"/>
              </a:buClr>
              <a:buFont typeface="Wingdings 2"/>
              <a:buChar char=""/>
              <a:defRPr/>
            </a:pPr>
            <a:r>
              <a:rPr lang="en-IN" sz="1800" dirty="0" smtClean="0"/>
              <a:t>Keeps track of its observers</a:t>
            </a:r>
          </a:p>
          <a:p>
            <a:pPr marL="822960" lvl="2" eaLnBrk="1" fontAlgn="auto" hangingPunct="1">
              <a:spcAft>
                <a:spcPts val="0"/>
              </a:spcAft>
              <a:buClr>
                <a:schemeClr val="accent3"/>
              </a:buClr>
              <a:buFont typeface="Wingdings 2"/>
              <a:buChar char=""/>
              <a:defRPr/>
            </a:pPr>
            <a:r>
              <a:rPr lang="en-IN" sz="1800" dirty="0" smtClean="0"/>
              <a:t>Provides an interface for attaching and detaching Observer objects</a:t>
            </a:r>
          </a:p>
          <a:p>
            <a:pPr marL="548640" lvl="1" indent="-274320" eaLnBrk="1" fontAlgn="auto" hangingPunct="1">
              <a:spcAft>
                <a:spcPts val="0"/>
              </a:spcAft>
              <a:buFont typeface="Arial" pitchFamily="34" charset="0"/>
              <a:buChar char="•"/>
              <a:defRPr/>
            </a:pPr>
            <a:r>
              <a:rPr lang="en-IN" sz="1800" dirty="0" smtClean="0"/>
              <a:t>Observer</a:t>
            </a:r>
          </a:p>
          <a:p>
            <a:pPr marL="822960" lvl="2" eaLnBrk="1" fontAlgn="auto" hangingPunct="1">
              <a:spcAft>
                <a:spcPts val="0"/>
              </a:spcAft>
              <a:buClr>
                <a:schemeClr val="accent3"/>
              </a:buClr>
              <a:buFont typeface="Wingdings 2"/>
              <a:buChar char=""/>
              <a:defRPr/>
            </a:pPr>
            <a:r>
              <a:rPr lang="en-IN" sz="1800" dirty="0" smtClean="0"/>
              <a:t>Defines an interface for update notification</a:t>
            </a:r>
          </a:p>
          <a:p>
            <a:pPr marL="548640" lvl="1" indent="-274320" eaLnBrk="1" fontAlgn="auto" hangingPunct="1">
              <a:spcAft>
                <a:spcPts val="0"/>
              </a:spcAft>
              <a:buFont typeface="Arial" pitchFamily="34" charset="0"/>
              <a:buChar char="•"/>
              <a:defRPr/>
            </a:pPr>
            <a:r>
              <a:rPr lang="en-IN" sz="1800" dirty="0" err="1" smtClean="0"/>
              <a:t>ConcreteSubject</a:t>
            </a:r>
            <a:endParaRPr lang="en-IN" sz="1800" dirty="0" smtClean="0"/>
          </a:p>
          <a:p>
            <a:pPr marL="822960" lvl="2" eaLnBrk="1" fontAlgn="auto" hangingPunct="1">
              <a:spcAft>
                <a:spcPts val="0"/>
              </a:spcAft>
              <a:buClr>
                <a:schemeClr val="accent3"/>
              </a:buClr>
              <a:buFont typeface="Wingdings 2"/>
              <a:buChar char=""/>
              <a:defRPr/>
            </a:pPr>
            <a:r>
              <a:rPr lang="en-IN" sz="1800" dirty="0" smtClean="0"/>
              <a:t>The object being observed</a:t>
            </a:r>
          </a:p>
          <a:p>
            <a:pPr marL="822960" lvl="2" eaLnBrk="1" fontAlgn="auto" hangingPunct="1">
              <a:spcAft>
                <a:spcPts val="0"/>
              </a:spcAft>
              <a:buClr>
                <a:schemeClr val="accent3"/>
              </a:buClr>
              <a:buFont typeface="Wingdings 2"/>
              <a:buChar char=""/>
              <a:defRPr/>
            </a:pPr>
            <a:r>
              <a:rPr lang="en-IN" sz="1800" dirty="0" smtClean="0"/>
              <a:t>Stores state of interest to </a:t>
            </a:r>
            <a:r>
              <a:rPr lang="en-IN" sz="1800" dirty="0" err="1" smtClean="0"/>
              <a:t>ConcreteObserver</a:t>
            </a:r>
            <a:r>
              <a:rPr lang="en-IN" sz="1800" dirty="0" smtClean="0"/>
              <a:t> objects</a:t>
            </a:r>
          </a:p>
          <a:p>
            <a:pPr marL="822960" lvl="2" eaLnBrk="1" fontAlgn="auto" hangingPunct="1">
              <a:spcAft>
                <a:spcPts val="0"/>
              </a:spcAft>
              <a:buClr>
                <a:schemeClr val="accent3"/>
              </a:buClr>
              <a:buFont typeface="Wingdings 2"/>
              <a:buChar char=""/>
              <a:defRPr/>
            </a:pPr>
            <a:r>
              <a:rPr lang="en-IN" sz="1800" dirty="0" smtClean="0"/>
              <a:t>Sends a notification to its observers when its state changes</a:t>
            </a:r>
          </a:p>
          <a:p>
            <a:pPr marL="548640" lvl="1" indent="-274320" eaLnBrk="1" fontAlgn="auto" hangingPunct="1">
              <a:spcAft>
                <a:spcPts val="0"/>
              </a:spcAft>
              <a:buFont typeface="Arial" pitchFamily="34" charset="0"/>
              <a:buChar char="•"/>
              <a:defRPr/>
            </a:pPr>
            <a:r>
              <a:rPr lang="en-IN" sz="1800" dirty="0" err="1" smtClean="0"/>
              <a:t>ConcreteObserver</a:t>
            </a:r>
            <a:endParaRPr lang="en-IN" sz="1800" dirty="0" smtClean="0"/>
          </a:p>
          <a:p>
            <a:pPr marL="822960" lvl="2" eaLnBrk="1" fontAlgn="auto" hangingPunct="1">
              <a:spcAft>
                <a:spcPts val="0"/>
              </a:spcAft>
              <a:buClr>
                <a:schemeClr val="accent3"/>
              </a:buClr>
              <a:buFont typeface="Wingdings 2"/>
              <a:buChar char=""/>
              <a:defRPr/>
            </a:pPr>
            <a:r>
              <a:rPr lang="en-IN" sz="1800" dirty="0" smtClean="0"/>
              <a:t>The observing object</a:t>
            </a:r>
          </a:p>
          <a:p>
            <a:pPr marL="822960" lvl="2" eaLnBrk="1" fontAlgn="auto" hangingPunct="1">
              <a:spcAft>
                <a:spcPts val="0"/>
              </a:spcAft>
              <a:buClr>
                <a:schemeClr val="accent3"/>
              </a:buClr>
              <a:buFont typeface="Wingdings 2"/>
              <a:buChar char=""/>
              <a:defRPr/>
            </a:pPr>
            <a:r>
              <a:rPr lang="en-IN" sz="1800" dirty="0" smtClean="0"/>
              <a:t>Stores state that should stay consistent with the subject's</a:t>
            </a:r>
          </a:p>
          <a:p>
            <a:pPr marL="822960" lvl="2" eaLnBrk="1" fontAlgn="auto" hangingPunct="1">
              <a:spcAft>
                <a:spcPts val="0"/>
              </a:spcAft>
              <a:buClr>
                <a:schemeClr val="accent3"/>
              </a:buClr>
              <a:buFont typeface="Wingdings 2"/>
              <a:buChar char=""/>
              <a:defRPr/>
            </a:pPr>
            <a:r>
              <a:rPr lang="en-IN" sz="1800" dirty="0" smtClean="0"/>
              <a:t>Implements the Observer update interface to keep its state consistent with the subject's</a:t>
            </a:r>
          </a:p>
          <a:p>
            <a:pPr marL="274320" indent="-274320" eaLnBrk="1" fontAlgn="auto" hangingPunct="1">
              <a:spcAft>
                <a:spcPts val="0"/>
              </a:spcAft>
              <a:buFont typeface="Wingdings 2"/>
              <a:buChar char=""/>
              <a:defRPr/>
            </a:pPr>
            <a:endParaRPr lang="en-US" sz="1800" dirty="0" smtClean="0"/>
          </a:p>
        </p:txBody>
      </p:sp>
    </p:spTree>
    <p:extLst>
      <p:ext uri="{BB962C8B-B14F-4D97-AF65-F5344CB8AC3E}">
        <p14:creationId xmlns:p14="http://schemas.microsoft.com/office/powerpoint/2010/main" val="21918516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
          <p:cNvSpPr>
            <a:spLocks noGrp="1" noChangeArrowheads="1"/>
          </p:cNvSpPr>
          <p:nvPr>
            <p:ph type="title"/>
          </p:nvPr>
        </p:nvSpPr>
        <p:spPr/>
        <p:txBody>
          <a:bodyPr/>
          <a:lstStyle/>
          <a:p>
            <a:pPr algn="l"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b="1" smtClean="0">
                <a:solidFill>
                  <a:schemeClr val="tx1"/>
                </a:solidFill>
              </a:rPr>
              <a:t>Collaborations</a:t>
            </a:r>
          </a:p>
        </p:txBody>
      </p:sp>
      <p:graphicFrame>
        <p:nvGraphicFramePr>
          <p:cNvPr id="70659" name="Object 2"/>
          <p:cNvGraphicFramePr>
            <a:graphicFrameLocks noChangeAspect="1"/>
          </p:cNvGraphicFramePr>
          <p:nvPr/>
        </p:nvGraphicFramePr>
        <p:xfrm>
          <a:off x="838200" y="1752600"/>
          <a:ext cx="7467600" cy="4284663"/>
        </p:xfrm>
        <a:graphic>
          <a:graphicData uri="http://schemas.openxmlformats.org/presentationml/2006/ole">
            <mc:AlternateContent xmlns:mc="http://schemas.openxmlformats.org/markup-compatibility/2006">
              <mc:Choice xmlns:v="urn:schemas-microsoft-com:vml" Requires="v">
                <p:oleObj spid="_x0000_s1033" r:id="rId4" imgW="5438880" imgH="3343320" progId="">
                  <p:embed/>
                </p:oleObj>
              </mc:Choice>
              <mc:Fallback>
                <p:oleObj r:id="rId4" imgW="5438880" imgH="334332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752600"/>
                        <a:ext cx="7467600" cy="4284663"/>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48416543"/>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2"/>
          <p:cNvSpPr>
            <a:spLocks noGrp="1"/>
          </p:cNvSpPr>
          <p:nvPr>
            <p:ph sz="quarter" idx="1"/>
          </p:nvPr>
        </p:nvSpPr>
        <p:spPr>
          <a:xfrm>
            <a:off x="533400" y="609600"/>
            <a:ext cx="7772400" cy="5638800"/>
          </a:xfrm>
        </p:spPr>
        <p:txBody>
          <a:bodyPr>
            <a:normAutofit fontScale="92500" lnSpcReduction="10000"/>
          </a:bodyPr>
          <a:lstStyle/>
          <a:p>
            <a:pPr marL="274320" indent="-274320" eaLnBrk="1" fontAlgn="auto" hangingPunct="1">
              <a:spcAft>
                <a:spcPts val="0"/>
              </a:spcAft>
              <a:buFont typeface="Wingdings 2"/>
              <a:buChar char=""/>
              <a:defRPr/>
            </a:pPr>
            <a:r>
              <a:rPr lang="en-IN" sz="2000" b="1" dirty="0" smtClean="0"/>
              <a:t>Consequences</a:t>
            </a:r>
          </a:p>
          <a:p>
            <a:pPr marL="274320" indent="-274320" eaLnBrk="1" fontAlgn="auto" hangingPunct="1">
              <a:spcAft>
                <a:spcPts val="0"/>
              </a:spcAft>
              <a:buFont typeface="Wingdings 2"/>
              <a:buChar char=""/>
              <a:defRPr/>
            </a:pPr>
            <a:endParaRPr lang="en-IN" sz="2000" b="1" dirty="0" smtClean="0"/>
          </a:p>
          <a:p>
            <a:pPr marL="274320" indent="-274320" eaLnBrk="1" fontAlgn="auto" hangingPunct="1">
              <a:spcAft>
                <a:spcPts val="0"/>
              </a:spcAft>
              <a:buFont typeface="Wingdings 2"/>
              <a:buChar char=""/>
              <a:defRPr/>
            </a:pPr>
            <a:endParaRPr lang="en-IN" sz="2000" b="1" dirty="0" smtClean="0"/>
          </a:p>
          <a:p>
            <a:pPr marL="548640" lvl="1" indent="-274320" eaLnBrk="1" fontAlgn="auto" hangingPunct="1">
              <a:spcAft>
                <a:spcPts val="0"/>
              </a:spcAft>
              <a:buFont typeface="Arial" pitchFamily="34" charset="0"/>
              <a:buChar char="•"/>
              <a:defRPr/>
            </a:pPr>
            <a:r>
              <a:rPr lang="en-IN" sz="1800" b="1" dirty="0" smtClean="0"/>
              <a:t>Benefits</a:t>
            </a:r>
          </a:p>
          <a:p>
            <a:pPr marL="822960" lvl="2" eaLnBrk="1" fontAlgn="auto" hangingPunct="1">
              <a:spcAft>
                <a:spcPts val="0"/>
              </a:spcAft>
              <a:buClr>
                <a:schemeClr val="accent3"/>
              </a:buClr>
              <a:buFont typeface="Wingdings 2"/>
              <a:buChar char=""/>
              <a:defRPr/>
            </a:pPr>
            <a:r>
              <a:rPr lang="en-IN" sz="1800" dirty="0" smtClean="0"/>
              <a:t>Minimal coupling between the Subject and the Observer</a:t>
            </a:r>
          </a:p>
          <a:p>
            <a:pPr marL="1097280" lvl="3" eaLnBrk="1" fontAlgn="auto" hangingPunct="1">
              <a:spcAft>
                <a:spcPts val="0"/>
              </a:spcAft>
              <a:buClr>
                <a:schemeClr val="accent4"/>
              </a:buClr>
              <a:buFont typeface="Arial" pitchFamily="34" charset="0"/>
              <a:buChar char="•"/>
              <a:defRPr/>
            </a:pPr>
            <a:r>
              <a:rPr lang="en-IN" sz="1800" dirty="0" smtClean="0"/>
              <a:t>Can reuse subjects without reusing their observers and vice versa</a:t>
            </a:r>
          </a:p>
          <a:p>
            <a:pPr marL="1097280" lvl="3" eaLnBrk="1" fontAlgn="auto" hangingPunct="1">
              <a:spcAft>
                <a:spcPts val="0"/>
              </a:spcAft>
              <a:buClr>
                <a:schemeClr val="accent4"/>
              </a:buClr>
              <a:buFont typeface="Arial" pitchFamily="34" charset="0"/>
              <a:buChar char="•"/>
              <a:defRPr/>
            </a:pPr>
            <a:r>
              <a:rPr lang="en-IN" sz="1800" dirty="0" smtClean="0"/>
              <a:t>Observers can be added without modifying the subject</a:t>
            </a:r>
          </a:p>
          <a:p>
            <a:pPr marL="1097280" lvl="3" eaLnBrk="1" fontAlgn="auto" hangingPunct="1">
              <a:spcAft>
                <a:spcPts val="0"/>
              </a:spcAft>
              <a:buClr>
                <a:schemeClr val="accent4"/>
              </a:buClr>
              <a:buFont typeface="Arial" pitchFamily="34" charset="0"/>
              <a:buChar char="•"/>
              <a:defRPr/>
            </a:pPr>
            <a:r>
              <a:rPr lang="en-IN" sz="1800" dirty="0" smtClean="0"/>
              <a:t>All subject knows is its list of observers</a:t>
            </a:r>
          </a:p>
          <a:p>
            <a:pPr marL="1097280" lvl="3" eaLnBrk="1" fontAlgn="auto" hangingPunct="1">
              <a:spcAft>
                <a:spcPts val="0"/>
              </a:spcAft>
              <a:buClr>
                <a:schemeClr val="accent4"/>
              </a:buClr>
              <a:buFont typeface="Arial" pitchFamily="34" charset="0"/>
              <a:buChar char="•"/>
              <a:defRPr/>
            </a:pPr>
            <a:r>
              <a:rPr lang="en-IN" sz="1800" dirty="0" smtClean="0"/>
              <a:t>Subject does not need to know the concrete class of an observer, just that each observer implements the update interface</a:t>
            </a:r>
          </a:p>
          <a:p>
            <a:pPr marL="1097280" lvl="3" eaLnBrk="1" fontAlgn="auto" hangingPunct="1">
              <a:spcAft>
                <a:spcPts val="0"/>
              </a:spcAft>
              <a:buClr>
                <a:schemeClr val="accent4"/>
              </a:buClr>
              <a:buFont typeface="Arial" pitchFamily="34" charset="0"/>
              <a:buChar char="•"/>
              <a:defRPr/>
            </a:pPr>
            <a:r>
              <a:rPr lang="en-IN" sz="1800" dirty="0" smtClean="0"/>
              <a:t>Subject and observer can belong to different abstraction layers</a:t>
            </a:r>
          </a:p>
          <a:p>
            <a:pPr marL="822960" lvl="2" eaLnBrk="1" fontAlgn="auto" hangingPunct="1">
              <a:spcAft>
                <a:spcPts val="0"/>
              </a:spcAft>
              <a:buClr>
                <a:schemeClr val="accent3"/>
              </a:buClr>
              <a:buFont typeface="Wingdings 2"/>
              <a:buChar char=""/>
              <a:defRPr/>
            </a:pPr>
            <a:r>
              <a:rPr lang="en-IN" sz="1800" dirty="0" smtClean="0"/>
              <a:t>Support for event broadcasting</a:t>
            </a:r>
          </a:p>
          <a:p>
            <a:pPr marL="1097280" lvl="3" eaLnBrk="1" fontAlgn="auto" hangingPunct="1">
              <a:spcAft>
                <a:spcPts val="0"/>
              </a:spcAft>
              <a:buClr>
                <a:schemeClr val="accent4"/>
              </a:buClr>
              <a:buFont typeface="Arial" pitchFamily="34" charset="0"/>
              <a:buChar char="•"/>
              <a:defRPr/>
            </a:pPr>
            <a:r>
              <a:rPr lang="en-IN" sz="1800" dirty="0" smtClean="0"/>
              <a:t>Subject sends notification to all subscribed observers</a:t>
            </a:r>
          </a:p>
          <a:p>
            <a:pPr marL="1097280" lvl="3" eaLnBrk="1" fontAlgn="auto" hangingPunct="1">
              <a:spcAft>
                <a:spcPts val="0"/>
              </a:spcAft>
              <a:buClr>
                <a:schemeClr val="accent4"/>
              </a:buClr>
              <a:buFont typeface="Arial" pitchFamily="34" charset="0"/>
              <a:buChar char="•"/>
              <a:defRPr/>
            </a:pPr>
            <a:r>
              <a:rPr lang="en-IN" sz="1800" dirty="0" smtClean="0"/>
              <a:t>Observers can be added/removed at any time</a:t>
            </a:r>
          </a:p>
          <a:p>
            <a:pPr marL="548640" lvl="1" indent="-274320" eaLnBrk="1" fontAlgn="auto" hangingPunct="1">
              <a:spcAft>
                <a:spcPts val="0"/>
              </a:spcAft>
              <a:buFont typeface="Arial" pitchFamily="34" charset="0"/>
              <a:buChar char="•"/>
              <a:defRPr/>
            </a:pPr>
            <a:r>
              <a:rPr lang="en-IN" sz="1800" b="1" dirty="0" smtClean="0"/>
              <a:t>Liabilities</a:t>
            </a:r>
          </a:p>
          <a:p>
            <a:pPr marL="822960" lvl="2" eaLnBrk="1" fontAlgn="auto" hangingPunct="1">
              <a:spcAft>
                <a:spcPts val="0"/>
              </a:spcAft>
              <a:buClr>
                <a:schemeClr val="accent3"/>
              </a:buClr>
              <a:buFont typeface="Wingdings 2"/>
              <a:buChar char=""/>
              <a:defRPr/>
            </a:pPr>
            <a:r>
              <a:rPr lang="en-IN" sz="1800" dirty="0" smtClean="0"/>
              <a:t>Possible cascading of notifications</a:t>
            </a:r>
          </a:p>
          <a:p>
            <a:pPr marL="1097280" lvl="3" eaLnBrk="1" fontAlgn="auto" hangingPunct="1">
              <a:spcAft>
                <a:spcPts val="0"/>
              </a:spcAft>
              <a:buClr>
                <a:schemeClr val="accent4"/>
              </a:buClr>
              <a:buFont typeface="Arial" pitchFamily="34" charset="0"/>
              <a:buChar char="•"/>
              <a:defRPr/>
            </a:pPr>
            <a:r>
              <a:rPr lang="en-IN" sz="1800" dirty="0" smtClean="0"/>
              <a:t>Observers are not necessarily aware of each other and must be careful about triggering updates</a:t>
            </a:r>
          </a:p>
          <a:p>
            <a:pPr marL="822960" lvl="2" eaLnBrk="1" fontAlgn="auto" hangingPunct="1">
              <a:spcAft>
                <a:spcPts val="0"/>
              </a:spcAft>
              <a:buClr>
                <a:schemeClr val="accent3"/>
              </a:buClr>
              <a:buFont typeface="Wingdings 2"/>
              <a:buChar char=""/>
              <a:defRPr/>
            </a:pPr>
            <a:r>
              <a:rPr lang="en-IN" sz="1800" dirty="0" smtClean="0"/>
              <a:t>Simple update interface requires observers to deduce changed item</a:t>
            </a:r>
          </a:p>
          <a:p>
            <a:pPr marL="274320" indent="-274320" eaLnBrk="1" fontAlgn="auto" hangingPunct="1">
              <a:spcAft>
                <a:spcPts val="0"/>
              </a:spcAft>
              <a:buFont typeface="Wingdings 2"/>
              <a:buChar char=""/>
              <a:defRPr/>
            </a:pPr>
            <a:endParaRPr lang="en-US" sz="1600" dirty="0" smtClean="0"/>
          </a:p>
        </p:txBody>
      </p:sp>
    </p:spTree>
    <p:extLst>
      <p:ext uri="{BB962C8B-B14F-4D97-AF65-F5344CB8AC3E}">
        <p14:creationId xmlns:p14="http://schemas.microsoft.com/office/powerpoint/2010/main" val="164776424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2"/>
          <p:cNvSpPr>
            <a:spLocks noGrp="1"/>
          </p:cNvSpPr>
          <p:nvPr>
            <p:ph sz="quarter" idx="1"/>
          </p:nvPr>
        </p:nvSpPr>
        <p:spPr>
          <a:xfrm>
            <a:off x="609600" y="609600"/>
            <a:ext cx="7772400" cy="5181600"/>
          </a:xfrm>
        </p:spPr>
        <p:txBody>
          <a:bodyPr>
            <a:normAutofit fontScale="55000" lnSpcReduction="20000"/>
          </a:bodyPr>
          <a:lstStyle/>
          <a:p>
            <a:pPr marL="274320" indent="-274320" eaLnBrk="1" fontAlgn="auto" hangingPunct="1">
              <a:spcAft>
                <a:spcPts val="0"/>
              </a:spcAft>
              <a:buFont typeface="Wingdings 2"/>
              <a:buChar char=""/>
              <a:defRPr/>
            </a:pPr>
            <a:r>
              <a:rPr lang="en-IN" sz="4400" b="1" dirty="0" smtClean="0"/>
              <a:t>Implementation Issues</a:t>
            </a:r>
          </a:p>
          <a:p>
            <a:pPr marL="274320" indent="-274320" eaLnBrk="1" fontAlgn="auto" hangingPunct="1">
              <a:spcAft>
                <a:spcPts val="0"/>
              </a:spcAft>
              <a:buFont typeface="Wingdings 2"/>
              <a:buChar char=""/>
              <a:defRPr/>
            </a:pPr>
            <a:endParaRPr lang="en-IN" sz="2000" b="1" dirty="0" smtClean="0"/>
          </a:p>
          <a:p>
            <a:pPr marL="274320" indent="-274320" eaLnBrk="1" fontAlgn="auto" hangingPunct="1">
              <a:spcAft>
                <a:spcPts val="0"/>
              </a:spcAft>
              <a:buFont typeface="Wingdings 2"/>
              <a:buChar char=""/>
              <a:defRPr/>
            </a:pPr>
            <a:endParaRPr lang="en-IN" sz="2000" b="1" dirty="0" smtClean="0"/>
          </a:p>
          <a:p>
            <a:pPr marL="274320" indent="-274320" eaLnBrk="1" fontAlgn="auto" hangingPunct="1">
              <a:spcAft>
                <a:spcPts val="0"/>
              </a:spcAft>
              <a:buFont typeface="Wingdings 2"/>
              <a:buChar char=""/>
              <a:defRPr/>
            </a:pPr>
            <a:endParaRPr lang="en-IN" sz="2000" b="1" dirty="0" smtClean="0"/>
          </a:p>
          <a:p>
            <a:pPr marL="548640" lvl="1" indent="-274320" eaLnBrk="1" fontAlgn="auto" hangingPunct="1">
              <a:spcAft>
                <a:spcPts val="0"/>
              </a:spcAft>
              <a:buFont typeface="Arial" pitchFamily="34" charset="0"/>
              <a:buChar char="•"/>
              <a:defRPr/>
            </a:pPr>
            <a:r>
              <a:rPr lang="en-IN" sz="3200" dirty="0" smtClean="0"/>
              <a:t>How does the subject keep track of its observers?</a:t>
            </a:r>
          </a:p>
          <a:p>
            <a:pPr marL="822960" lvl="2" eaLnBrk="1" fontAlgn="auto" hangingPunct="1">
              <a:spcAft>
                <a:spcPts val="0"/>
              </a:spcAft>
              <a:buClr>
                <a:schemeClr val="accent3"/>
              </a:buClr>
              <a:buFont typeface="Wingdings 2"/>
              <a:buChar char=""/>
              <a:defRPr/>
            </a:pPr>
            <a:r>
              <a:rPr lang="en-IN" sz="3200" dirty="0" smtClean="0"/>
              <a:t>Array, linked list</a:t>
            </a:r>
          </a:p>
          <a:p>
            <a:pPr marL="548640" lvl="1" indent="-274320" eaLnBrk="1" fontAlgn="auto" hangingPunct="1">
              <a:spcAft>
                <a:spcPts val="0"/>
              </a:spcAft>
              <a:buFont typeface="Arial" pitchFamily="34" charset="0"/>
              <a:buChar char="•"/>
              <a:defRPr/>
            </a:pPr>
            <a:r>
              <a:rPr lang="en-IN" sz="3200" dirty="0" smtClean="0"/>
              <a:t>What if an observer wants to observe more than one subject?</a:t>
            </a:r>
          </a:p>
          <a:p>
            <a:pPr marL="822960" lvl="2" eaLnBrk="1" fontAlgn="auto" hangingPunct="1">
              <a:spcAft>
                <a:spcPts val="0"/>
              </a:spcAft>
              <a:buClr>
                <a:schemeClr val="accent3"/>
              </a:buClr>
              <a:buFont typeface="Wingdings 2"/>
              <a:buChar char=""/>
              <a:defRPr/>
            </a:pPr>
            <a:r>
              <a:rPr lang="en-IN" sz="3200" dirty="0" smtClean="0"/>
              <a:t>Have the subject tell the observer who it is via the update interface</a:t>
            </a:r>
          </a:p>
          <a:p>
            <a:pPr marL="548640" lvl="1" indent="-274320" eaLnBrk="1" fontAlgn="auto" hangingPunct="1">
              <a:spcAft>
                <a:spcPts val="0"/>
              </a:spcAft>
              <a:buFont typeface="Arial" pitchFamily="34" charset="0"/>
              <a:buChar char="•"/>
              <a:defRPr/>
            </a:pPr>
            <a:r>
              <a:rPr lang="en-IN" sz="3200" dirty="0" smtClean="0"/>
              <a:t>Who triggers the update?</a:t>
            </a:r>
          </a:p>
          <a:p>
            <a:pPr marL="822960" lvl="2" eaLnBrk="1" fontAlgn="auto" hangingPunct="1">
              <a:spcAft>
                <a:spcPts val="0"/>
              </a:spcAft>
              <a:buClr>
                <a:schemeClr val="accent3"/>
              </a:buClr>
              <a:buFont typeface="Wingdings 2"/>
              <a:buChar char=""/>
              <a:defRPr/>
            </a:pPr>
            <a:r>
              <a:rPr lang="en-IN" sz="3200" dirty="0" smtClean="0"/>
              <a:t>The subject whenever its state changes</a:t>
            </a:r>
          </a:p>
          <a:p>
            <a:pPr marL="822960" lvl="2" eaLnBrk="1" fontAlgn="auto" hangingPunct="1">
              <a:spcAft>
                <a:spcPts val="0"/>
              </a:spcAft>
              <a:buClr>
                <a:schemeClr val="accent3"/>
              </a:buClr>
              <a:buFont typeface="Wingdings 2"/>
              <a:buChar char=""/>
              <a:defRPr/>
            </a:pPr>
            <a:r>
              <a:rPr lang="en-IN" sz="3200" dirty="0" smtClean="0"/>
              <a:t>The observers after they cause one or more state changes</a:t>
            </a:r>
          </a:p>
          <a:p>
            <a:pPr marL="822960" lvl="2" eaLnBrk="1" fontAlgn="auto" hangingPunct="1">
              <a:spcAft>
                <a:spcPts val="0"/>
              </a:spcAft>
              <a:buClr>
                <a:schemeClr val="accent3"/>
              </a:buClr>
              <a:buFont typeface="Wingdings 2"/>
              <a:buChar char=""/>
              <a:defRPr/>
            </a:pPr>
            <a:r>
              <a:rPr lang="en-IN" sz="3200" dirty="0" smtClean="0"/>
              <a:t>Some third party object(s)</a:t>
            </a:r>
          </a:p>
          <a:p>
            <a:pPr marL="548640" lvl="1" indent="-274320" eaLnBrk="1" fontAlgn="auto" hangingPunct="1">
              <a:spcAft>
                <a:spcPts val="0"/>
              </a:spcAft>
              <a:buFont typeface="Arial" pitchFamily="34" charset="0"/>
              <a:buChar char="•"/>
              <a:defRPr/>
            </a:pPr>
            <a:r>
              <a:rPr lang="en-IN" sz="3200" dirty="0" smtClean="0"/>
              <a:t>Make sure the subject updates its state before sending out notifications</a:t>
            </a:r>
          </a:p>
          <a:p>
            <a:pPr marL="548640" lvl="1" indent="-274320" eaLnBrk="1" fontAlgn="auto" hangingPunct="1">
              <a:spcAft>
                <a:spcPts val="0"/>
              </a:spcAft>
              <a:buFont typeface="Arial" pitchFamily="34" charset="0"/>
              <a:buChar char="•"/>
              <a:defRPr/>
            </a:pPr>
            <a:r>
              <a:rPr lang="en-IN" sz="3200" dirty="0" smtClean="0"/>
              <a:t>How much info about the change should the subject send to the observers?</a:t>
            </a:r>
          </a:p>
          <a:p>
            <a:pPr marL="822960" lvl="2" eaLnBrk="1" fontAlgn="auto" hangingPunct="1">
              <a:spcAft>
                <a:spcPts val="0"/>
              </a:spcAft>
              <a:buClr>
                <a:schemeClr val="accent3"/>
              </a:buClr>
              <a:buFont typeface="Wingdings 2"/>
              <a:buChar char=""/>
              <a:defRPr/>
            </a:pPr>
            <a:r>
              <a:rPr lang="en-IN" sz="3200" dirty="0" smtClean="0"/>
              <a:t>Push Model - Lots</a:t>
            </a:r>
          </a:p>
          <a:p>
            <a:pPr marL="822960" lvl="2" eaLnBrk="1" fontAlgn="auto" hangingPunct="1">
              <a:spcAft>
                <a:spcPts val="0"/>
              </a:spcAft>
              <a:buClr>
                <a:schemeClr val="accent3"/>
              </a:buClr>
              <a:buFont typeface="Wingdings 2"/>
              <a:buChar char=""/>
              <a:defRPr/>
            </a:pPr>
            <a:r>
              <a:rPr lang="en-IN" sz="3200" dirty="0" smtClean="0"/>
              <a:t>Pull Model - Very Little</a:t>
            </a:r>
          </a:p>
          <a:p>
            <a:pPr marL="274320" indent="-274320" eaLnBrk="1" fontAlgn="auto" hangingPunct="1">
              <a:spcAft>
                <a:spcPts val="0"/>
              </a:spcAft>
              <a:buFont typeface="Wingdings 2"/>
              <a:buChar char=""/>
              <a:defRPr/>
            </a:pPr>
            <a:endParaRPr lang="en-US" sz="2000" dirty="0" smtClean="0"/>
          </a:p>
        </p:txBody>
      </p:sp>
    </p:spTree>
    <p:extLst>
      <p:ext uri="{BB962C8B-B14F-4D97-AF65-F5344CB8AC3E}">
        <p14:creationId xmlns:p14="http://schemas.microsoft.com/office/powerpoint/2010/main" val="33643039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2"/>
          <p:cNvSpPr>
            <a:spLocks noGrp="1"/>
          </p:cNvSpPr>
          <p:nvPr>
            <p:ph sz="quarter" idx="1"/>
          </p:nvPr>
        </p:nvSpPr>
        <p:spPr>
          <a:xfrm>
            <a:off x="609600" y="457200"/>
            <a:ext cx="7772400" cy="5638800"/>
          </a:xfrm>
        </p:spPr>
        <p:txBody>
          <a:bodyPr>
            <a:normAutofit fontScale="92500"/>
          </a:bodyPr>
          <a:lstStyle/>
          <a:p>
            <a:pPr marL="274320" indent="-274320" eaLnBrk="1" fontAlgn="auto" hangingPunct="1">
              <a:spcAft>
                <a:spcPts val="0"/>
              </a:spcAft>
              <a:buFont typeface="Wingdings 2"/>
              <a:buChar char=""/>
              <a:defRPr/>
            </a:pPr>
            <a:r>
              <a:rPr lang="en-IN" sz="2400" b="1" dirty="0" smtClean="0"/>
              <a:t>Implementation Issues</a:t>
            </a:r>
          </a:p>
          <a:p>
            <a:pPr marL="274320" indent="-274320" eaLnBrk="1" fontAlgn="auto" hangingPunct="1">
              <a:spcAft>
                <a:spcPts val="0"/>
              </a:spcAft>
              <a:buFont typeface="Wingdings 2"/>
              <a:buChar char=""/>
              <a:defRPr/>
            </a:pPr>
            <a:endParaRPr lang="en-IN" sz="2400" b="1" dirty="0" smtClean="0"/>
          </a:p>
          <a:p>
            <a:pPr marL="274320" indent="-274320" eaLnBrk="1" fontAlgn="auto" hangingPunct="1">
              <a:spcAft>
                <a:spcPts val="0"/>
              </a:spcAft>
              <a:buFont typeface="Wingdings 2"/>
              <a:buChar char=""/>
              <a:defRPr/>
            </a:pPr>
            <a:endParaRPr lang="en-IN" sz="2400" b="1" dirty="0" smtClean="0"/>
          </a:p>
          <a:p>
            <a:pPr marL="274320" indent="-274320" eaLnBrk="1" fontAlgn="auto" hangingPunct="1">
              <a:spcAft>
                <a:spcPts val="0"/>
              </a:spcAft>
              <a:buFont typeface="Wingdings 2"/>
              <a:buChar char=""/>
              <a:defRPr/>
            </a:pPr>
            <a:endParaRPr lang="en-IN" sz="2400" b="1" dirty="0" smtClean="0"/>
          </a:p>
          <a:p>
            <a:pPr marL="548640" lvl="1" indent="-274320" eaLnBrk="1" fontAlgn="auto" hangingPunct="1">
              <a:spcAft>
                <a:spcPts val="0"/>
              </a:spcAft>
              <a:buFont typeface="Arial" pitchFamily="34" charset="0"/>
              <a:buChar char="•"/>
              <a:defRPr/>
            </a:pPr>
            <a:r>
              <a:rPr lang="en-IN" sz="2400" dirty="0" smtClean="0"/>
              <a:t>Can the observers subscribe to specific events of interest?</a:t>
            </a:r>
          </a:p>
          <a:p>
            <a:pPr marL="822960" lvl="2" eaLnBrk="1" fontAlgn="auto" hangingPunct="1">
              <a:spcAft>
                <a:spcPts val="0"/>
              </a:spcAft>
              <a:buClr>
                <a:schemeClr val="accent3"/>
              </a:buClr>
              <a:buFont typeface="Wingdings 2"/>
              <a:buChar char=""/>
              <a:defRPr/>
            </a:pPr>
            <a:r>
              <a:rPr lang="en-IN" dirty="0" smtClean="0"/>
              <a:t>If so, it's publish-subscribe</a:t>
            </a:r>
          </a:p>
          <a:p>
            <a:pPr marL="548640" lvl="1" indent="-274320" eaLnBrk="1" fontAlgn="auto" hangingPunct="1">
              <a:spcAft>
                <a:spcPts val="0"/>
              </a:spcAft>
              <a:buFont typeface="Arial" pitchFamily="34" charset="0"/>
              <a:buChar char="•"/>
              <a:defRPr/>
            </a:pPr>
            <a:r>
              <a:rPr lang="en-IN" sz="2400" dirty="0" smtClean="0"/>
              <a:t>Can an observer also be a subject?</a:t>
            </a:r>
          </a:p>
          <a:p>
            <a:pPr marL="822960" lvl="2" eaLnBrk="1" fontAlgn="auto" hangingPunct="1">
              <a:spcAft>
                <a:spcPts val="0"/>
              </a:spcAft>
              <a:buClr>
                <a:schemeClr val="accent3"/>
              </a:buClr>
              <a:buFont typeface="Wingdings 2"/>
              <a:buChar char=""/>
              <a:defRPr/>
            </a:pPr>
            <a:r>
              <a:rPr lang="en-IN" dirty="0" smtClean="0"/>
              <a:t>Yes!</a:t>
            </a:r>
          </a:p>
          <a:p>
            <a:pPr marL="548640" lvl="1" indent="-274320" eaLnBrk="1" fontAlgn="auto" hangingPunct="1">
              <a:spcAft>
                <a:spcPts val="0"/>
              </a:spcAft>
              <a:buFont typeface="Arial" pitchFamily="34" charset="0"/>
              <a:buChar char="•"/>
              <a:defRPr/>
            </a:pPr>
            <a:r>
              <a:rPr lang="en-IN" sz="2400" dirty="0" smtClean="0"/>
              <a:t>What if an observer wants to be notified only after several subjects have changed state?</a:t>
            </a:r>
          </a:p>
          <a:p>
            <a:pPr marL="548640" lvl="1" indent="-274320" eaLnBrk="1" fontAlgn="auto" hangingPunct="1">
              <a:spcAft>
                <a:spcPts val="0"/>
              </a:spcAft>
              <a:buFont typeface="Arial" pitchFamily="34" charset="0"/>
              <a:buChar char="•"/>
              <a:defRPr/>
            </a:pPr>
            <a:r>
              <a:rPr lang="en-IN" sz="2400" dirty="0" smtClean="0"/>
              <a:t>Use an intermediary object which acts as a mediator</a:t>
            </a:r>
          </a:p>
          <a:p>
            <a:pPr marL="548640" lvl="1" indent="-274320" eaLnBrk="1" fontAlgn="auto" hangingPunct="1">
              <a:spcAft>
                <a:spcPts val="0"/>
              </a:spcAft>
              <a:buFont typeface="Arial" pitchFamily="34" charset="0"/>
              <a:buChar char="•"/>
              <a:defRPr/>
            </a:pPr>
            <a:r>
              <a:rPr lang="en-IN" sz="2400" dirty="0" smtClean="0"/>
              <a:t>Subjects send notifications to the mediator object which performs any necessary processing before notifying the observers</a:t>
            </a:r>
          </a:p>
          <a:p>
            <a:pPr marL="274320" indent="-274320" eaLnBrk="1" fontAlgn="auto" hangingPunct="1">
              <a:spcAft>
                <a:spcPts val="0"/>
              </a:spcAft>
              <a:buFont typeface="Wingdings 2"/>
              <a:buChar char=""/>
              <a:defRPr/>
            </a:pPr>
            <a:endParaRPr lang="en-US" sz="2400" dirty="0" smtClean="0"/>
          </a:p>
        </p:txBody>
      </p:sp>
    </p:spTree>
    <p:extLst>
      <p:ext uri="{BB962C8B-B14F-4D97-AF65-F5344CB8AC3E}">
        <p14:creationId xmlns:p14="http://schemas.microsoft.com/office/powerpoint/2010/main" val="26582679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2"/>
          <p:cNvSpPr>
            <a:spLocks noGrp="1"/>
          </p:cNvSpPr>
          <p:nvPr>
            <p:ph sz="quarter" idx="1"/>
          </p:nvPr>
        </p:nvSpPr>
        <p:spPr>
          <a:xfrm>
            <a:off x="685800" y="685800"/>
            <a:ext cx="7772400" cy="5410200"/>
          </a:xfrm>
        </p:spPr>
        <p:txBody>
          <a:bodyPr>
            <a:normAutofit fontScale="92500"/>
          </a:bodyPr>
          <a:lstStyle/>
          <a:p>
            <a:pPr marL="274320" indent="-274320" eaLnBrk="1" fontAlgn="auto" hangingPunct="1">
              <a:spcAft>
                <a:spcPts val="0"/>
              </a:spcAft>
              <a:buFont typeface="Wingdings 2"/>
              <a:buChar char=""/>
              <a:defRPr/>
            </a:pPr>
            <a:endParaRPr lang="en-IN" sz="2400" b="1" dirty="0" smtClean="0"/>
          </a:p>
          <a:p>
            <a:pPr marL="274320" indent="-274320" eaLnBrk="1" fontAlgn="auto" hangingPunct="1">
              <a:spcAft>
                <a:spcPts val="0"/>
              </a:spcAft>
              <a:buFont typeface="Wingdings 2"/>
              <a:buChar char=""/>
              <a:defRPr/>
            </a:pPr>
            <a:endParaRPr lang="en-IN" sz="2400" b="1" dirty="0" smtClean="0"/>
          </a:p>
          <a:p>
            <a:pPr marL="274320" indent="-274320" eaLnBrk="1" fontAlgn="auto" hangingPunct="1">
              <a:spcAft>
                <a:spcPts val="0"/>
              </a:spcAft>
              <a:buFont typeface="Wingdings 2"/>
              <a:buChar char=""/>
              <a:defRPr/>
            </a:pPr>
            <a:r>
              <a:rPr lang="en-IN" sz="2400" b="1" dirty="0" smtClean="0"/>
              <a:t>Sample Code: </a:t>
            </a:r>
            <a:r>
              <a:rPr lang="en-IN" sz="2400" dirty="0" smtClean="0"/>
              <a:t>Java source code</a:t>
            </a:r>
          </a:p>
          <a:p>
            <a:pPr marL="274320" indent="-274320" eaLnBrk="1" fontAlgn="auto" hangingPunct="1">
              <a:spcAft>
                <a:spcPts val="0"/>
              </a:spcAft>
              <a:buFont typeface="Wingdings 2"/>
              <a:buChar char=""/>
              <a:defRPr/>
            </a:pPr>
            <a:r>
              <a:rPr lang="en-IN" sz="2400" b="1" dirty="0" smtClean="0"/>
              <a:t>Known Uses</a:t>
            </a:r>
          </a:p>
          <a:p>
            <a:pPr marL="548640" lvl="1" indent="-274320" eaLnBrk="1" fontAlgn="auto" hangingPunct="1">
              <a:spcAft>
                <a:spcPts val="0"/>
              </a:spcAft>
              <a:buFont typeface="Arial" pitchFamily="34" charset="0"/>
              <a:buChar char="•"/>
              <a:defRPr/>
            </a:pPr>
            <a:r>
              <a:rPr lang="en-IN" sz="2400" dirty="0" smtClean="0"/>
              <a:t>Smalltalk Model/View/Controller user interface framework</a:t>
            </a:r>
          </a:p>
          <a:p>
            <a:pPr marL="822960" lvl="2" eaLnBrk="1" fontAlgn="auto" hangingPunct="1">
              <a:spcAft>
                <a:spcPts val="0"/>
              </a:spcAft>
              <a:buClr>
                <a:schemeClr val="accent3"/>
              </a:buClr>
              <a:buFont typeface="Wingdings 2"/>
              <a:buChar char=""/>
              <a:defRPr/>
            </a:pPr>
            <a:r>
              <a:rPr lang="en-IN" dirty="0" smtClean="0"/>
              <a:t>Model = Subject</a:t>
            </a:r>
          </a:p>
          <a:p>
            <a:pPr marL="822960" lvl="2" eaLnBrk="1" fontAlgn="auto" hangingPunct="1">
              <a:spcAft>
                <a:spcPts val="0"/>
              </a:spcAft>
              <a:buClr>
                <a:schemeClr val="accent3"/>
              </a:buClr>
              <a:buFont typeface="Wingdings 2"/>
              <a:buChar char=""/>
              <a:defRPr/>
            </a:pPr>
            <a:r>
              <a:rPr lang="en-IN" dirty="0" smtClean="0"/>
              <a:t>View = Observer</a:t>
            </a:r>
          </a:p>
          <a:p>
            <a:pPr marL="822960" lvl="2" eaLnBrk="1" fontAlgn="auto" hangingPunct="1">
              <a:spcAft>
                <a:spcPts val="0"/>
              </a:spcAft>
              <a:buClr>
                <a:schemeClr val="accent3"/>
              </a:buClr>
              <a:buFont typeface="Wingdings 2"/>
              <a:buChar char=""/>
              <a:defRPr/>
            </a:pPr>
            <a:r>
              <a:rPr lang="en-IN" dirty="0" smtClean="0"/>
              <a:t>Controller is whatever object changes the state of the subject</a:t>
            </a:r>
          </a:p>
          <a:p>
            <a:pPr marL="548640" lvl="1" indent="-274320" eaLnBrk="1" fontAlgn="auto" hangingPunct="1">
              <a:spcAft>
                <a:spcPts val="0"/>
              </a:spcAft>
              <a:buFont typeface="Arial" pitchFamily="34" charset="0"/>
              <a:buChar char="•"/>
              <a:defRPr/>
            </a:pPr>
            <a:r>
              <a:rPr lang="en-IN" sz="2400" dirty="0" smtClean="0"/>
              <a:t>Java 1.1 AWT/Swing Event Model</a:t>
            </a:r>
          </a:p>
          <a:p>
            <a:pPr marL="274320" indent="-274320" eaLnBrk="1" fontAlgn="auto" hangingPunct="1">
              <a:spcAft>
                <a:spcPts val="0"/>
              </a:spcAft>
              <a:buFont typeface="Wingdings 2"/>
              <a:buChar char=""/>
              <a:defRPr/>
            </a:pPr>
            <a:r>
              <a:rPr lang="en-IN" sz="2400" b="1" dirty="0" smtClean="0"/>
              <a:t>Related Patterns</a:t>
            </a:r>
          </a:p>
          <a:p>
            <a:pPr marL="548640" lvl="1" indent="-274320" eaLnBrk="1" fontAlgn="auto" hangingPunct="1">
              <a:spcAft>
                <a:spcPts val="0"/>
              </a:spcAft>
              <a:buFont typeface="Arial" pitchFamily="34" charset="0"/>
              <a:buChar char="•"/>
              <a:defRPr/>
            </a:pPr>
            <a:r>
              <a:rPr lang="en-IN" sz="2400" dirty="0" smtClean="0"/>
              <a:t>Mediator</a:t>
            </a:r>
          </a:p>
          <a:p>
            <a:pPr marL="822960" lvl="2" eaLnBrk="1" fontAlgn="auto" hangingPunct="1">
              <a:spcAft>
                <a:spcPts val="0"/>
              </a:spcAft>
              <a:buClr>
                <a:schemeClr val="accent3"/>
              </a:buClr>
              <a:buFont typeface="Wingdings 2"/>
              <a:buChar char=""/>
              <a:defRPr/>
            </a:pPr>
            <a:r>
              <a:rPr lang="en-IN" dirty="0" smtClean="0"/>
              <a:t>To encapsulate complex update semantics</a:t>
            </a:r>
          </a:p>
          <a:p>
            <a:pPr marL="274320" indent="-274320" eaLnBrk="1" fontAlgn="auto" hangingPunct="1">
              <a:spcAft>
                <a:spcPts val="0"/>
              </a:spcAft>
              <a:buFont typeface="Wingdings 2"/>
              <a:buChar char=""/>
              <a:defRPr/>
            </a:pPr>
            <a:endParaRPr lang="en-US" sz="2400" dirty="0" smtClean="0"/>
          </a:p>
        </p:txBody>
      </p:sp>
    </p:spTree>
    <p:extLst>
      <p:ext uri="{BB962C8B-B14F-4D97-AF65-F5344CB8AC3E}">
        <p14:creationId xmlns:p14="http://schemas.microsoft.com/office/powerpoint/2010/main" val="12131167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When to Use Patterns</a:t>
            </a:r>
          </a:p>
        </p:txBody>
      </p:sp>
      <p:sp>
        <p:nvSpPr>
          <p:cNvPr id="76803" name="Rectangle 2"/>
          <p:cNvSpPr>
            <a:spLocks noGrp="1" noChangeArrowheads="1"/>
          </p:cNvSpPr>
          <p:nvPr>
            <p:ph sz="quarter" idx="1"/>
          </p:nvPr>
        </p:nvSpPr>
        <p:spPr>
          <a:xfrm>
            <a:off x="301625" y="1527175"/>
            <a:ext cx="8504238" cy="4572000"/>
          </a:xfrm>
        </p:spPr>
        <p:txBody>
          <a:bodyPr/>
          <a:lstStyle/>
          <a:p>
            <a:pPr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smtClean="0"/>
              <a:t>Solutions to problems that recur with variations</a:t>
            </a:r>
          </a:p>
          <a:p>
            <a:pPr lvl="1" eaLnBrk="1" hangingPunct="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smtClean="0"/>
              <a:t>No need for reuse if problem only arises in one context</a:t>
            </a:r>
          </a:p>
          <a:p>
            <a:pPr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smtClean="0"/>
              <a:t>Solutions that require several steps:</a:t>
            </a:r>
          </a:p>
          <a:p>
            <a:pPr lvl="1" eaLnBrk="1" hangingPunct="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smtClean="0"/>
              <a:t>Not all problems need all steps</a:t>
            </a:r>
          </a:p>
          <a:p>
            <a:pPr lvl="1" eaLnBrk="1" hangingPunct="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smtClean="0"/>
              <a:t>Patterns can be overkill if solution is a simple linear set of instructions</a:t>
            </a:r>
          </a:p>
          <a:p>
            <a:pPr eaLnBrk="1" hangingPunct="1">
              <a:lnSpc>
                <a:spcPct val="90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smtClean="0"/>
              <a:t>Solutions where the solver is more interested in the existence of the solution than its complete derivation</a:t>
            </a:r>
          </a:p>
          <a:p>
            <a:pPr lvl="1" eaLnBrk="1" hangingPunct="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smtClean="0"/>
              <a:t>Patterns leave out too much to be useful to someone who really wants to understand</a:t>
            </a:r>
          </a:p>
          <a:p>
            <a:pPr lvl="1" eaLnBrk="1" hangingPunct="1">
              <a:lnSpc>
                <a:spcPct val="90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smtClean="0"/>
              <a:t>They can be a temporary bridge</a:t>
            </a:r>
          </a:p>
        </p:txBody>
      </p:sp>
    </p:spTree>
    <p:extLst>
      <p:ext uri="{BB962C8B-B14F-4D97-AF65-F5344CB8AC3E}">
        <p14:creationId xmlns:p14="http://schemas.microsoft.com/office/powerpoint/2010/main" val="2981808509"/>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What Makes it a Pattern?</a:t>
            </a:r>
          </a:p>
        </p:txBody>
      </p:sp>
      <p:sp>
        <p:nvSpPr>
          <p:cNvPr id="78851" name="Rectangle 2"/>
          <p:cNvSpPr>
            <a:spLocks noGrp="1" noChangeArrowheads="1"/>
          </p:cNvSpPr>
          <p:nvPr>
            <p:ph sz="quarter" idx="1"/>
          </p:nvPr>
        </p:nvSpPr>
        <p:spPr>
          <a:xfrm>
            <a:off x="301625" y="1527175"/>
            <a:ext cx="8504238" cy="4572000"/>
          </a:xfrm>
        </p:spPr>
        <p:txBody>
          <a:bodyPr/>
          <a:lstStyle/>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A Pattern must:</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Solve a problem and be useful</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Have a context and can describe where the solution can be used</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Recur in relevant situations</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Provide sufficient understanding to tailor the solution</a:t>
            </a:r>
          </a:p>
          <a:p>
            <a:pPr lvl="1"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Have a name and be referenced consistently</a:t>
            </a:r>
          </a:p>
        </p:txBody>
      </p:sp>
    </p:spTree>
    <p:extLst>
      <p:ext uri="{BB962C8B-B14F-4D97-AF65-F5344CB8AC3E}">
        <p14:creationId xmlns:p14="http://schemas.microsoft.com/office/powerpoint/2010/main" val="1610831382"/>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Benefits of Design Patterns</a:t>
            </a:r>
          </a:p>
        </p:txBody>
      </p:sp>
      <p:sp>
        <p:nvSpPr>
          <p:cNvPr id="80899" name="Rectangle 2"/>
          <p:cNvSpPr>
            <a:spLocks noGrp="1" noChangeArrowheads="1"/>
          </p:cNvSpPr>
          <p:nvPr>
            <p:ph sz="quarter" idx="1"/>
          </p:nvPr>
        </p:nvSpPr>
        <p:spPr>
          <a:xfrm>
            <a:off x="301625" y="1527175"/>
            <a:ext cx="8504238" cy="4572000"/>
          </a:xfrm>
        </p:spPr>
        <p:txBody>
          <a:bodyPr/>
          <a:lstStyle/>
          <a:p>
            <a:pPr eaLnBrk="1" hangingPunct="1">
              <a:lnSpc>
                <a:spcPts val="2163"/>
              </a:lnSpc>
            </a:pPr>
            <a:r>
              <a:rPr lang="en-US" sz="2000" smtClean="0">
                <a:solidFill>
                  <a:srgbClr val="000000"/>
                </a:solidFill>
              </a:rPr>
              <a:t>Capture expertise and make it accessible to non-experts in a  standard form</a:t>
            </a:r>
          </a:p>
          <a:p>
            <a:pPr eaLnBrk="1" hangingPunct="1">
              <a:lnSpc>
                <a:spcPts val="2450"/>
              </a:lnSpc>
            </a:pPr>
            <a:r>
              <a:rPr lang="en-US" sz="2000" smtClean="0">
                <a:solidFill>
                  <a:srgbClr val="000000"/>
                </a:solidFill>
              </a:rPr>
              <a:t>Facilitate communication among developers by providing a common language</a:t>
            </a:r>
          </a:p>
          <a:p>
            <a:pPr eaLnBrk="1" hangingPunct="1">
              <a:lnSpc>
                <a:spcPts val="2438"/>
              </a:lnSpc>
            </a:pPr>
            <a:r>
              <a:rPr lang="en-US" sz="2000" smtClean="0">
                <a:solidFill>
                  <a:srgbClr val="000000"/>
                </a:solidFill>
              </a:rPr>
              <a:t>Make it easier to reuse successful designs and avoid alternatives that diminish reusability</a:t>
            </a:r>
          </a:p>
          <a:p>
            <a:pPr lvl="1" eaLnBrk="1" hangingPunct="1">
              <a:lnSpc>
                <a:spcPts val="2438"/>
              </a:lnSpc>
              <a:buFont typeface="Arial" panose="020B0604020202020204" pitchFamily="34" charset="0"/>
              <a:buChar char="•"/>
            </a:pPr>
            <a:r>
              <a:rPr lang="en-US" sz="2000" smtClean="0">
                <a:solidFill>
                  <a:srgbClr val="000000"/>
                </a:solidFill>
              </a:rPr>
              <a:t>Facilitate design modifications</a:t>
            </a:r>
          </a:p>
          <a:p>
            <a:pPr lvl="1" eaLnBrk="1" hangingPunct="1">
              <a:lnSpc>
                <a:spcPts val="2438"/>
              </a:lnSpc>
              <a:buFont typeface="Arial" panose="020B0604020202020204" pitchFamily="34" charset="0"/>
              <a:buChar char="•"/>
            </a:pPr>
            <a:r>
              <a:rPr lang="en-US" sz="2000" smtClean="0">
                <a:solidFill>
                  <a:srgbClr val="000000"/>
                </a:solidFill>
              </a:rPr>
              <a:t>Improve design documentation</a:t>
            </a:r>
          </a:p>
          <a:p>
            <a:pPr lvl="1" eaLnBrk="1" hangingPunct="1">
              <a:lnSpc>
                <a:spcPts val="2438"/>
              </a:lnSpc>
              <a:buFont typeface="Arial" panose="020B0604020202020204" pitchFamily="34" charset="0"/>
              <a:buChar char="•"/>
            </a:pPr>
            <a:r>
              <a:rPr lang="en-US" sz="2000" smtClean="0">
                <a:solidFill>
                  <a:srgbClr val="000000"/>
                </a:solidFill>
              </a:rPr>
              <a:t>Improve design understandability </a:t>
            </a:r>
          </a:p>
          <a:p>
            <a:pPr eaLnBrk="1" hangingPunct="1">
              <a:lnSpc>
                <a:spcPct val="90000"/>
              </a:lnSpc>
              <a:spcBef>
                <a:spcPts val="700"/>
              </a:spcBef>
            </a:pPr>
            <a:r>
              <a:rPr lang="en-GB" sz="2000" smtClean="0"/>
              <a:t>Patterns explicitly capture expert knowledge and design tradeoffs and make it more widely available</a:t>
            </a:r>
          </a:p>
          <a:p>
            <a:pPr eaLnBrk="1" hangingPunct="1">
              <a:lnSpc>
                <a:spcPct val="90000"/>
              </a:lnSpc>
              <a:spcBef>
                <a:spcPts val="700"/>
              </a:spcBef>
            </a:pPr>
            <a:r>
              <a:rPr lang="en-GB" sz="2000" smtClean="0"/>
              <a:t>Patterns help ease the transition to OO technology</a:t>
            </a:r>
          </a:p>
        </p:txBody>
      </p:sp>
    </p:spTree>
    <p:extLst>
      <p:ext uri="{BB962C8B-B14F-4D97-AF65-F5344CB8AC3E}">
        <p14:creationId xmlns:p14="http://schemas.microsoft.com/office/powerpoint/2010/main" val="1512489428"/>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Drawbacks to Design Patterns</a:t>
            </a:r>
          </a:p>
        </p:txBody>
      </p:sp>
      <p:sp>
        <p:nvSpPr>
          <p:cNvPr id="82947" name="Rectangle 2"/>
          <p:cNvSpPr>
            <a:spLocks noGrp="1" noChangeArrowheads="1"/>
          </p:cNvSpPr>
          <p:nvPr>
            <p:ph sz="quarter" idx="1"/>
          </p:nvPr>
        </p:nvSpPr>
        <p:spPr>
          <a:xfrm>
            <a:off x="301625" y="1527175"/>
            <a:ext cx="8504238" cy="4572000"/>
          </a:xfrm>
        </p:spPr>
        <p:txBody>
          <a:bodyPr/>
          <a:lstStyle/>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Patterns do not lead to direct code reuse</a:t>
            </a:r>
          </a:p>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Patterns are deceptively simple</a:t>
            </a:r>
          </a:p>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Teams may suffer from pattern overload</a:t>
            </a:r>
          </a:p>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Patterns are validated by experience and discussion rather than by automated testing</a:t>
            </a:r>
          </a:p>
          <a:p>
            <a:pPr eaLnBrk="1" hangingPunct="1">
              <a:lnSpc>
                <a:spcPct val="90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mtClean="0"/>
              <a:t>Integrating patterns into a software development process is a human-intensive activity.</a:t>
            </a:r>
          </a:p>
        </p:txBody>
      </p:sp>
    </p:spTree>
    <p:extLst>
      <p:ext uri="{BB962C8B-B14F-4D97-AF65-F5344CB8AC3E}">
        <p14:creationId xmlns:p14="http://schemas.microsoft.com/office/powerpoint/2010/main" val="2739618687"/>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
          <p:cNvSpPr>
            <a:spLocks noGrp="1" noChangeArrowheads="1"/>
          </p:cNvSpPr>
          <p:nvPr>
            <p:ph type="title"/>
          </p:nvPr>
        </p:nvSpPr>
        <p:spPr/>
        <p:txBody>
          <a:bodyPr/>
          <a:lstStyle/>
          <a:p>
            <a:pP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smtClean="0">
                <a:solidFill>
                  <a:srgbClr val="0000CC"/>
                </a:solidFill>
              </a:rPr>
              <a:t>Suggestions for Effective Use</a:t>
            </a:r>
          </a:p>
        </p:txBody>
      </p:sp>
      <p:sp>
        <p:nvSpPr>
          <p:cNvPr id="84995" name="Rectangle 2"/>
          <p:cNvSpPr>
            <a:spLocks noGrp="1" noChangeArrowheads="1"/>
          </p:cNvSpPr>
          <p:nvPr>
            <p:ph sz="quarter" idx="1"/>
          </p:nvPr>
        </p:nvSpPr>
        <p:spPr>
          <a:xfrm>
            <a:off x="301625" y="1527175"/>
            <a:ext cx="8504238" cy="4572000"/>
          </a:xfrm>
        </p:spPr>
        <p:txBody>
          <a:bodyPr/>
          <a:lstStyle/>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Do not recast everything as a pattern</a:t>
            </a:r>
          </a:p>
          <a:p>
            <a:pPr lvl="1"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smtClean="0"/>
              <a:t>Instead, develop strategic domain patterns and reuse existing tactical patterns</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Institutionalize rewards for developing patterns</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Directly involve pattern authors with application developers and domain experts</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Clearly document when patterns apply and do not apply</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smtClean="0"/>
              <a:t>Manage expectations carefully.</a:t>
            </a:r>
          </a:p>
        </p:txBody>
      </p:sp>
    </p:spTree>
    <p:extLst>
      <p:ext uri="{BB962C8B-B14F-4D97-AF65-F5344CB8AC3E}">
        <p14:creationId xmlns:p14="http://schemas.microsoft.com/office/powerpoint/2010/main" val="726272300"/>
      </p:ext>
    </p:extLst>
  </p:cSld>
  <p:clrMapOvr>
    <a:masterClrMapping/>
  </p:clrMapOvr>
  <p:transition spd="me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527</TotalTime>
  <Words>2145</Words>
  <Application>Microsoft Office PowerPoint</Application>
  <PresentationFormat>On-screen Show (4:3)</PresentationFormat>
  <Paragraphs>284</Paragraphs>
  <Slides>38</Slides>
  <Notes>20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0</vt:i4>
      </vt:variant>
      <vt:variant>
        <vt:lpstr>Slide Titles</vt:lpstr>
      </vt:variant>
      <vt:variant>
        <vt:i4>38</vt:i4>
      </vt:variant>
    </vt:vector>
  </HeadingPairs>
  <TitlesOfParts>
    <vt:vector size="46" baseType="lpstr">
      <vt:lpstr>ＭＳ Ｐゴシック</vt:lpstr>
      <vt:lpstr>Arial</vt:lpstr>
      <vt:lpstr>Calibri</vt:lpstr>
      <vt:lpstr>Times</vt:lpstr>
      <vt:lpstr>Times New Roman</vt:lpstr>
      <vt:lpstr>Wingdings</vt:lpstr>
      <vt:lpstr>Wingdings 2</vt:lpstr>
      <vt:lpstr>Office Theme</vt:lpstr>
      <vt:lpstr>Concepts of Design Patterns</vt:lpstr>
      <vt:lpstr>Background</vt:lpstr>
      <vt:lpstr>Finding Objects</vt:lpstr>
      <vt:lpstr>Techniques for Finding Objects</vt:lpstr>
      <vt:lpstr>Another Source for Finding Objects : Design Patterns</vt:lpstr>
      <vt:lpstr>What is a Pattern?</vt:lpstr>
      <vt:lpstr>Why Patterns?</vt:lpstr>
      <vt:lpstr>Software Patterns History </vt:lpstr>
      <vt:lpstr>Types of Software Patterns </vt:lpstr>
      <vt:lpstr>Design Pattern Levels of Abstraction </vt:lpstr>
      <vt:lpstr>  GoF Design Patterns </vt:lpstr>
      <vt:lpstr>Elements of Design Patterns</vt:lpstr>
      <vt:lpstr>Pattern Name</vt:lpstr>
      <vt:lpstr>Problem</vt:lpstr>
      <vt:lpstr>Solution</vt:lpstr>
      <vt:lpstr>Consequences</vt:lpstr>
      <vt:lpstr>Design Patterns are NOT</vt:lpstr>
      <vt:lpstr>Where They are Used</vt:lpstr>
      <vt:lpstr>Design Patterns</vt:lpstr>
      <vt:lpstr>Design Pattern Descriptions (Template)</vt:lpstr>
      <vt:lpstr>Example: Observer Pattern </vt:lpstr>
      <vt:lpstr>Design Patterns in Smalltalk MVC </vt:lpstr>
      <vt:lpstr>PowerPoint Presentation</vt:lpstr>
      <vt:lpstr>PowerPoint Presentation</vt:lpstr>
      <vt:lpstr>Structure</vt:lpstr>
      <vt:lpstr>Example - News Agency</vt:lpstr>
      <vt:lpstr>Example - News Agency</vt:lpstr>
      <vt:lpstr>PowerPoint Presentation</vt:lpstr>
      <vt:lpstr>Collaborations</vt:lpstr>
      <vt:lpstr>PowerPoint Presentation</vt:lpstr>
      <vt:lpstr>PowerPoint Presentation</vt:lpstr>
      <vt:lpstr>PowerPoint Presentation</vt:lpstr>
      <vt:lpstr>PowerPoint Presentation</vt:lpstr>
      <vt:lpstr>When to Use Patterns</vt:lpstr>
      <vt:lpstr>What Makes it a Pattern?</vt:lpstr>
      <vt:lpstr>Benefits of Design Patterns</vt:lpstr>
      <vt:lpstr>Drawbacks to Design Patterns</vt:lpstr>
      <vt:lpstr>Suggestions for Effective Use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Suman</cp:lastModifiedBy>
  <cp:revision>168</cp:revision>
  <dcterms:created xsi:type="dcterms:W3CDTF">2006-08-16T00:00:00Z</dcterms:created>
  <dcterms:modified xsi:type="dcterms:W3CDTF">2026-01-03T12:04:53Z</dcterms:modified>
</cp:coreProperties>
</file>