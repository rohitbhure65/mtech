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40"/>
  </p:notesMasterIdLst>
  <p:handoutMasterIdLst>
    <p:handoutMasterId r:id="rId41"/>
  </p:handoutMasterIdLst>
  <p:sldIdLst>
    <p:sldId id="265" r:id="rId2"/>
    <p:sldId id="261" r:id="rId3"/>
    <p:sldId id="260" r:id="rId4"/>
    <p:sldId id="320" r:id="rId5"/>
    <p:sldId id="372" r:id="rId6"/>
    <p:sldId id="373" r:id="rId7"/>
    <p:sldId id="375" r:id="rId8"/>
    <p:sldId id="376" r:id="rId9"/>
    <p:sldId id="380" r:id="rId10"/>
    <p:sldId id="276" r:id="rId11"/>
    <p:sldId id="384" r:id="rId12"/>
    <p:sldId id="383" r:id="rId13"/>
    <p:sldId id="385" r:id="rId14"/>
    <p:sldId id="386" r:id="rId15"/>
    <p:sldId id="387" r:id="rId16"/>
    <p:sldId id="369" r:id="rId17"/>
    <p:sldId id="277" r:id="rId18"/>
    <p:sldId id="377" r:id="rId19"/>
    <p:sldId id="381" r:id="rId20"/>
    <p:sldId id="388" r:id="rId21"/>
    <p:sldId id="389" r:id="rId22"/>
    <p:sldId id="390" r:id="rId23"/>
    <p:sldId id="391" r:id="rId24"/>
    <p:sldId id="394" r:id="rId25"/>
    <p:sldId id="392" r:id="rId26"/>
    <p:sldId id="393" r:id="rId27"/>
    <p:sldId id="395" r:id="rId28"/>
    <p:sldId id="396" r:id="rId29"/>
    <p:sldId id="397" r:id="rId30"/>
    <p:sldId id="370" r:id="rId31"/>
    <p:sldId id="371" r:id="rId32"/>
    <p:sldId id="365" r:id="rId33"/>
    <p:sldId id="378" r:id="rId34"/>
    <p:sldId id="366" r:id="rId35"/>
    <p:sldId id="379" r:id="rId36"/>
    <p:sldId id="367" r:id="rId37"/>
    <p:sldId id="368" r:id="rId38"/>
    <p:sldId id="382" r:id="rId3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B0AB6"/>
    <a:srgbClr val="0000FF"/>
    <a:srgbClr val="0000E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5620"/>
    <p:restoredTop sz="94660"/>
  </p:normalViewPr>
  <p:slideViewPr>
    <p:cSldViewPr>
      <p:cViewPr varScale="1">
        <p:scale>
          <a:sx n="113" d="100"/>
          <a:sy n="113" d="100"/>
        </p:scale>
        <p:origin x="2256" y="96"/>
      </p:cViewPr>
      <p:guideLst>
        <p:guide orient="horz" pos="2160"/>
        <p:guide pos="2880"/>
      </p:guideLst>
    </p:cSldViewPr>
  </p:slideViewPr>
  <p:notesTextViewPr>
    <p:cViewPr>
      <p:scale>
        <a:sx n="100" d="100"/>
        <a:sy n="100" d="100"/>
      </p:scale>
      <p:origin x="0" y="0"/>
    </p:cViewPr>
  </p:notesTextViewPr>
  <p:sorterViewPr>
    <p:cViewPr varScale="1">
      <p:scale>
        <a:sx n="1" d="1"/>
        <a:sy n="1" d="1"/>
      </p:scale>
      <p:origin x="0" y="-330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79E5BDD-D9E0-4029-BEE3-D71C9D0FE685}" type="datetimeFigureOut">
              <a:rPr lang="en-US" smtClean="0"/>
              <a:pPr/>
              <a:t>1/17/2026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0FF1181-0740-451E-8463-18B0B8243980}" type="slidenum">
              <a:rPr lang="en-US" smtClean="0"/>
              <a:pPr/>
              <a:t>‹#›</a:t>
            </a:fld>
            <a:endParaRPr lang="en-US"/>
          </a:p>
        </p:txBody>
      </p:sp>
    </p:spTree>
    <p:extLst>
      <p:ext uri="{BB962C8B-B14F-4D97-AF65-F5344CB8AC3E}">
        <p14:creationId xmlns:p14="http://schemas.microsoft.com/office/powerpoint/2010/main" val="3314007829"/>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40B7778-3C8A-438C-9D83-C711A509E1DD}" type="datetimeFigureOut">
              <a:rPr lang="en-US" smtClean="0"/>
              <a:pPr/>
              <a:t>1/17/2026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CD69B11-87FB-47D7-9E93-FAE142DAF1A6}" type="slidenum">
              <a:rPr lang="en-US" smtClean="0"/>
              <a:pPr/>
              <a:t>‹#›</a:t>
            </a:fld>
            <a:endParaRPr lang="en-US"/>
          </a:p>
        </p:txBody>
      </p:sp>
    </p:spTree>
    <p:extLst>
      <p:ext uri="{BB962C8B-B14F-4D97-AF65-F5344CB8AC3E}">
        <p14:creationId xmlns:p14="http://schemas.microsoft.com/office/powerpoint/2010/main" val="3031920592"/>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8105194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CFB8517A-38B3-440F-8FB8-1B6485227C92}" type="datetime1">
              <a:rPr lang="en-US" smtClean="0"/>
              <a:pPr/>
              <a:t>1/17/2026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6011043-848E-4CA3-808D-B3CFD8CB8118}" type="slidenum">
              <a:rPr lang="en-US" smtClean="0"/>
              <a:pPr/>
              <a:t>‹#›</a:t>
            </a:fld>
            <a:endParaRPr lang="en-US"/>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526E19F-C88E-4A48-9271-FDEB165D29F3}" type="datetime1">
              <a:rPr lang="en-US" smtClean="0"/>
              <a:pPr/>
              <a:t>1/17/2026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6011043-848E-4CA3-808D-B3CFD8CB8118}" type="slidenum">
              <a:rPr lang="en-US" smtClean="0"/>
              <a:pPr/>
              <a:t>‹#›</a:t>
            </a:fld>
            <a:endParaRPr lang="en-US"/>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CEFC565-FBCB-42E0-8C84-AAC533F4DA03}" type="datetime1">
              <a:rPr lang="en-US" smtClean="0"/>
              <a:pPr/>
              <a:t>1/17/2026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6011043-848E-4CA3-808D-B3CFD8CB8118}" type="slidenum">
              <a:rPr lang="en-US" smtClean="0"/>
              <a:pPr/>
              <a:t>‹#›</a:t>
            </a:fld>
            <a:endParaRPr lang="en-US"/>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6198A81-E1D8-40C7-97D6-FEFB0C9ED1C5}" type="datetime1">
              <a:rPr lang="en-US" smtClean="0"/>
              <a:pPr/>
              <a:t>1/17/2026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6011043-848E-4CA3-808D-B3CFD8CB8118}" type="slidenum">
              <a:rPr lang="en-US" smtClean="0"/>
              <a:pPr/>
              <a:t>‹#›</a:t>
            </a:fld>
            <a:endParaRPr 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6BCBA3B-D249-4720-98B3-8EAA5465385A}" type="datetime1">
              <a:rPr lang="en-US" smtClean="0"/>
              <a:pPr/>
              <a:t>1/17/2026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6011043-848E-4CA3-808D-B3CFD8CB8118}" type="slidenum">
              <a:rPr lang="en-US" smtClean="0"/>
              <a:pPr/>
              <a:t>‹#›</a:t>
            </a:fld>
            <a:endParaRPr 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D54160C1-C3BC-4A1B-8CBF-0EC2A2A69D9A}" type="datetime1">
              <a:rPr lang="en-US" smtClean="0"/>
              <a:pPr/>
              <a:t>1/17/2026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6011043-848E-4CA3-808D-B3CFD8CB8118}" type="slidenum">
              <a:rPr lang="en-US" smtClean="0"/>
              <a:pPr/>
              <a:t>‹#›</a:t>
            </a:fld>
            <a:endParaRPr 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D2C6E27-1F3A-423C-B3DF-D0BA1A59539F}" type="datetime1">
              <a:rPr lang="en-US" smtClean="0"/>
              <a:pPr/>
              <a:t>1/17/2026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6011043-848E-4CA3-808D-B3CFD8CB8118}" type="slidenum">
              <a:rPr lang="en-US" smtClean="0"/>
              <a:pPr/>
              <a:t>‹#›</a:t>
            </a:fld>
            <a:endParaRPr lang="en-US"/>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2463AC5-2C1A-44B5-8875-0D026100815D}" type="datetime1">
              <a:rPr lang="en-US" smtClean="0"/>
              <a:pPr/>
              <a:t>1/17/2026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6011043-848E-4CA3-808D-B3CFD8CB8118}" type="slidenum">
              <a:rPr lang="en-US" smtClean="0"/>
              <a:pPr/>
              <a:t>‹#›</a:t>
            </a:fld>
            <a:endParaRPr lang="en-US"/>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E9B0C3C-1F2D-4219-9C09-38A3D152AA90}" type="datetime1">
              <a:rPr lang="en-US" smtClean="0"/>
              <a:pPr/>
              <a:t>1/17/2026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6011043-848E-4CA3-808D-B3CFD8CB8118}" type="slidenum">
              <a:rPr lang="en-US" smtClean="0"/>
              <a:pPr/>
              <a:t>‹#›</a:t>
            </a:fld>
            <a:endParaRPr lang="en-US"/>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28E5CF9-8CE5-4D3C-9DDC-FE57D6D06DDC}" type="datetime1">
              <a:rPr lang="en-US" smtClean="0"/>
              <a:pPr/>
              <a:t>1/17/2026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6011043-848E-4CA3-808D-B3CFD8CB8118}" type="slidenum">
              <a:rPr lang="en-US" smtClean="0"/>
              <a:pPr/>
              <a:t>‹#›</a:t>
            </a:fld>
            <a:endParaRPr lang="en-US"/>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E593E64-E888-4212-8F26-4839BB87EB26}" type="datetime1">
              <a:rPr lang="en-US" smtClean="0"/>
              <a:pPr/>
              <a:t>1/17/2026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6011043-848E-4CA3-808D-B3CFD8CB8118}" type="slidenum">
              <a:rPr lang="en-US" smtClean="0"/>
              <a:pPr/>
              <a:t>‹#›</a:t>
            </a:fld>
            <a:endParaRPr lang="en-US"/>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3B1A983-22E6-489C-9C09-9492FF0721F9}" type="datetime1">
              <a:rPr lang="en-US" smtClean="0"/>
              <a:pPr/>
              <a:t>1/17/2026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6011043-848E-4CA3-808D-B3CFD8CB8118}"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emf"/><Relationship Id="rId1" Type="http://schemas.openxmlformats.org/officeDocument/2006/relationships/slideLayout" Target="../slideLayouts/slideLayout4.xml"/><Relationship Id="rId4" Type="http://schemas.openxmlformats.org/officeDocument/2006/relationships/image" Target="../media/image7.em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828800"/>
            <a:ext cx="8229600" cy="3459163"/>
          </a:xfrm>
        </p:spPr>
        <p:txBody>
          <a:bodyPr>
            <a:normAutofit/>
          </a:bodyPr>
          <a:lstStyle/>
          <a:p>
            <a:pPr algn="ctr">
              <a:spcBef>
                <a:spcPts val="0"/>
              </a:spcBef>
              <a:buNone/>
            </a:pPr>
            <a:r>
              <a:rPr lang="en-US" sz="4400" b="1" dirty="0">
                <a:solidFill>
                  <a:srgbClr val="C00000"/>
                </a:solidFill>
                <a:latin typeface="+mj-lt"/>
              </a:rPr>
              <a:t>Understanding </a:t>
            </a:r>
            <a:endParaRPr lang="en-US" sz="4400" b="1" dirty="0" smtClean="0">
              <a:solidFill>
                <a:srgbClr val="C00000"/>
              </a:solidFill>
              <a:latin typeface="+mj-lt"/>
            </a:endParaRPr>
          </a:p>
          <a:p>
            <a:pPr algn="ctr">
              <a:spcBef>
                <a:spcPts val="0"/>
              </a:spcBef>
              <a:buNone/>
            </a:pPr>
            <a:r>
              <a:rPr lang="en-US" sz="4400" b="1" dirty="0" smtClean="0">
                <a:solidFill>
                  <a:srgbClr val="C00000"/>
                </a:solidFill>
                <a:latin typeface="+mj-lt"/>
              </a:rPr>
              <a:t>Software </a:t>
            </a:r>
            <a:r>
              <a:rPr lang="en-US" sz="4400" b="1" dirty="0">
                <a:solidFill>
                  <a:srgbClr val="C00000"/>
                </a:solidFill>
                <a:latin typeface="+mj-lt"/>
              </a:rPr>
              <a:t>Architecture</a:t>
            </a:r>
            <a:endParaRPr lang="en-US" sz="4400" b="1" dirty="0">
              <a:solidFill>
                <a:srgbClr val="C00000"/>
              </a:solidFill>
              <a:latin typeface="+mj-lt"/>
              <a:cs typeface="Times New Roman" pitchFamily="18" charset="0"/>
            </a:endParaRP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00050" y="435843"/>
            <a:ext cx="8229600" cy="715962"/>
          </a:xfrm>
        </p:spPr>
        <p:txBody>
          <a:bodyPr>
            <a:noAutofit/>
          </a:bodyPr>
          <a:lstStyle/>
          <a:p>
            <a:r>
              <a:rPr lang="en-US" sz="3200" b="1" dirty="0" smtClean="0">
                <a:solidFill>
                  <a:srgbClr val="C00000"/>
                </a:solidFill>
                <a:cs typeface="Times New Roman" pitchFamily="18" charset="0"/>
              </a:rPr>
              <a:t/>
            </a:r>
            <a:br>
              <a:rPr lang="en-US" sz="3200" b="1" dirty="0" smtClean="0">
                <a:solidFill>
                  <a:srgbClr val="C00000"/>
                </a:solidFill>
                <a:cs typeface="Times New Roman" pitchFamily="18" charset="0"/>
              </a:rPr>
            </a:br>
            <a:r>
              <a:rPr lang="en-US" sz="3200" b="1" dirty="0" smtClean="0">
                <a:solidFill>
                  <a:srgbClr val="C00000"/>
                </a:solidFill>
                <a:cs typeface="Times New Roman" pitchFamily="18" charset="0"/>
              </a:rPr>
              <a:t>Software Design Process</a:t>
            </a:r>
            <a:br>
              <a:rPr lang="en-US" sz="3200" b="1" dirty="0" smtClean="0">
                <a:solidFill>
                  <a:srgbClr val="C00000"/>
                </a:solidFill>
                <a:cs typeface="Times New Roman" pitchFamily="18" charset="0"/>
              </a:rPr>
            </a:br>
            <a:r>
              <a:rPr lang="en-US" sz="3200" b="1" dirty="0" smtClean="0">
                <a:solidFill>
                  <a:srgbClr val="C00000"/>
                </a:solidFill>
                <a:cs typeface="Times New Roman" pitchFamily="18" charset="0"/>
              </a:rPr>
              <a:t> </a:t>
            </a:r>
            <a:r>
              <a:rPr lang="en-US" sz="3200" b="1" dirty="0">
                <a:solidFill>
                  <a:srgbClr val="C00000"/>
                </a:solidFill>
                <a:cs typeface="Times New Roman" pitchFamily="18" charset="0"/>
              </a:rPr>
              <a:t/>
            </a:r>
            <a:br>
              <a:rPr lang="en-US" sz="3200" b="1" dirty="0">
                <a:solidFill>
                  <a:srgbClr val="C00000"/>
                </a:solidFill>
                <a:cs typeface="Times New Roman" pitchFamily="18" charset="0"/>
              </a:rPr>
            </a:br>
            <a:endParaRPr lang="en-US" sz="3200" b="1" dirty="0">
              <a:solidFill>
                <a:srgbClr val="C00000"/>
              </a:solidFill>
              <a:cs typeface="Times New Roman" pitchFamily="18" charset="0"/>
            </a:endParaRPr>
          </a:p>
        </p:txBody>
      </p:sp>
      <p:sp>
        <p:nvSpPr>
          <p:cNvPr id="2073" name="Rectangle 2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1" name="Slide Number Placeholder 30"/>
          <p:cNvSpPr>
            <a:spLocks noGrp="1"/>
          </p:cNvSpPr>
          <p:nvPr>
            <p:ph type="sldNum" sz="quarter" idx="12"/>
          </p:nvPr>
        </p:nvSpPr>
        <p:spPr/>
        <p:txBody>
          <a:bodyPr/>
          <a:lstStyle/>
          <a:p>
            <a:fld id="{26011043-848E-4CA3-808D-B3CFD8CB8118}" type="slidenum">
              <a:rPr lang="en-US" smtClean="0"/>
              <a:pPr/>
              <a:t>2</a:t>
            </a:fld>
            <a:endParaRPr lang="en-US"/>
          </a:p>
        </p:txBody>
      </p:sp>
      <p:sp>
        <p:nvSpPr>
          <p:cNvPr id="59415" name="Rectangle 2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IN"/>
          </a:p>
        </p:txBody>
      </p:sp>
      <p:grpSp>
        <p:nvGrpSpPr>
          <p:cNvPr id="59393" name="Group 1"/>
          <p:cNvGrpSpPr>
            <a:grpSpLocks noChangeAspect="1"/>
          </p:cNvGrpSpPr>
          <p:nvPr/>
        </p:nvGrpSpPr>
        <p:grpSpPr bwMode="auto">
          <a:xfrm>
            <a:off x="457200" y="1371600"/>
            <a:ext cx="8115300" cy="4968875"/>
            <a:chOff x="2527" y="3120"/>
            <a:chExt cx="6599" cy="3526"/>
          </a:xfrm>
        </p:grpSpPr>
        <p:sp>
          <p:nvSpPr>
            <p:cNvPr id="59414" name="AutoShape 22"/>
            <p:cNvSpPr>
              <a:spLocks noChangeAspect="1" noChangeArrowheads="1" noTextEdit="1"/>
            </p:cNvSpPr>
            <p:nvPr/>
          </p:nvSpPr>
          <p:spPr bwMode="auto">
            <a:xfrm>
              <a:off x="2527" y="3120"/>
              <a:ext cx="6599" cy="3526"/>
            </a:xfrm>
            <a:prstGeom prst="rect">
              <a:avLst/>
            </a:prstGeom>
            <a:no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IN" b="1">
                <a:latin typeface="Times New Roman" pitchFamily="18" charset="0"/>
                <a:cs typeface="Times New Roman" pitchFamily="18" charset="0"/>
              </a:endParaRPr>
            </a:p>
          </p:txBody>
        </p:sp>
        <p:sp>
          <p:nvSpPr>
            <p:cNvPr id="59413" name="AutoShape 21"/>
            <p:cNvSpPr>
              <a:spLocks noChangeArrowheads="1"/>
            </p:cNvSpPr>
            <p:nvPr/>
          </p:nvSpPr>
          <p:spPr bwMode="auto">
            <a:xfrm>
              <a:off x="3439" y="3822"/>
              <a:ext cx="1603" cy="473"/>
            </a:xfrm>
            <a:prstGeom prst="flowChartProcess">
              <a:avLst/>
            </a:prstGeom>
            <a:gradFill rotWithShape="1">
              <a:gsLst>
                <a:gs pos="0">
                  <a:srgbClr val="D8D8D8"/>
                </a:gs>
                <a:gs pos="100000">
                  <a:srgbClr val="D8D8D8">
                    <a:gamma/>
                    <a:tint val="0"/>
                    <a:invGamma/>
                  </a:srgbClr>
                </a:gs>
              </a:gsLst>
              <a:lin ang="5400000" scaled="1"/>
            </a:gradFill>
            <a:ln w="38100">
              <a:solidFill>
                <a:srgbClr val="BFBFBF"/>
              </a:solidFill>
              <a:miter lim="800000"/>
              <a:headEnd/>
              <a:tailEnd/>
            </a:ln>
            <a:effectLst>
              <a:outerShdw dist="28398" dir="3806097" algn="ctr" rotWithShape="0">
                <a:srgbClr val="7F7F7F">
                  <a:alpha val="50000"/>
                </a:srgbClr>
              </a:outerShdw>
            </a:effectLst>
          </p:spPr>
          <p:txBody>
            <a:bodyPr vert="horz" wrap="square" lIns="0" tIns="9144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Architectural design</a:t>
              </a:r>
              <a:endParaRPr kumimoji="0" lang="en-US"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59412" name="AutoShape 20"/>
            <p:cNvSpPr>
              <a:spLocks noChangeArrowheads="1"/>
            </p:cNvSpPr>
            <p:nvPr/>
          </p:nvSpPr>
          <p:spPr bwMode="auto">
            <a:xfrm>
              <a:off x="5065" y="4769"/>
              <a:ext cx="1453" cy="473"/>
            </a:xfrm>
            <a:prstGeom prst="flowChartProcess">
              <a:avLst/>
            </a:prstGeom>
            <a:gradFill rotWithShape="1">
              <a:gsLst>
                <a:gs pos="0">
                  <a:srgbClr val="D8D8D8"/>
                </a:gs>
                <a:gs pos="100000">
                  <a:srgbClr val="D8D8D8">
                    <a:gamma/>
                    <a:tint val="0"/>
                    <a:invGamma/>
                  </a:srgbClr>
                </a:gs>
              </a:gsLst>
              <a:lin ang="5400000" scaled="1"/>
            </a:gradFill>
            <a:ln w="38100">
              <a:solidFill>
                <a:srgbClr val="BFBFBF"/>
              </a:solidFill>
              <a:miter lim="800000"/>
              <a:headEnd/>
              <a:tailEnd/>
            </a:ln>
            <a:effectLst>
              <a:outerShdw dist="28398" dir="3806097" algn="ctr" rotWithShape="0">
                <a:srgbClr val="7F7F7F">
                  <a:alpha val="50000"/>
                </a:srgbClr>
              </a:outerShdw>
            </a:effectLst>
          </p:spPr>
          <p:txBody>
            <a:bodyPr vert="horz" wrap="square" lIns="0" tIns="9144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Physical design</a:t>
              </a:r>
              <a:endParaRPr kumimoji="0" lang="en-US"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59411" name="AutoShape 19"/>
            <p:cNvSpPr>
              <a:spLocks noChangeArrowheads="1"/>
            </p:cNvSpPr>
            <p:nvPr/>
          </p:nvSpPr>
          <p:spPr bwMode="auto">
            <a:xfrm>
              <a:off x="6738" y="5761"/>
              <a:ext cx="1453" cy="472"/>
            </a:xfrm>
            <a:prstGeom prst="flowChartProcess">
              <a:avLst/>
            </a:prstGeom>
            <a:gradFill rotWithShape="1">
              <a:gsLst>
                <a:gs pos="0">
                  <a:srgbClr val="D8D8D8"/>
                </a:gs>
                <a:gs pos="100000">
                  <a:srgbClr val="D8D8D8">
                    <a:gamma/>
                    <a:tint val="0"/>
                    <a:invGamma/>
                  </a:srgbClr>
                </a:gs>
              </a:gsLst>
              <a:lin ang="5400000" scaled="1"/>
            </a:gradFill>
            <a:ln w="38100">
              <a:solidFill>
                <a:srgbClr val="BFBFBF"/>
              </a:solidFill>
              <a:miter lim="800000"/>
              <a:headEnd/>
              <a:tailEnd/>
            </a:ln>
            <a:effectLst>
              <a:outerShdw dist="28398" dir="3806097" algn="ctr" rotWithShape="0">
                <a:srgbClr val="7F7F7F">
                  <a:alpha val="50000"/>
                </a:srgbClr>
              </a:outerShdw>
            </a:effectLst>
          </p:spPr>
          <p:txBody>
            <a:bodyPr vert="horz" wrap="square" lIns="0" tIns="9144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Detailed design</a:t>
              </a:r>
              <a:endParaRPr kumimoji="0" lang="en-US"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59410" name="AutoShape 18"/>
            <p:cNvSpPr>
              <a:spLocks noChangeShapeType="1"/>
            </p:cNvSpPr>
            <p:nvPr/>
          </p:nvSpPr>
          <p:spPr bwMode="auto">
            <a:xfrm flipV="1">
              <a:off x="2792" y="4059"/>
              <a:ext cx="624" cy="1"/>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b="1">
                <a:latin typeface="Times New Roman" pitchFamily="18" charset="0"/>
                <a:cs typeface="Times New Roman" pitchFamily="18" charset="0"/>
              </a:endParaRPr>
            </a:p>
          </p:txBody>
        </p:sp>
        <p:sp>
          <p:nvSpPr>
            <p:cNvPr id="59409" name="AutoShape 17"/>
            <p:cNvSpPr>
              <a:spLocks noChangeShapeType="1"/>
            </p:cNvSpPr>
            <p:nvPr/>
          </p:nvSpPr>
          <p:spPr bwMode="auto">
            <a:xfrm>
              <a:off x="4239" y="3452"/>
              <a:ext cx="2" cy="347"/>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b="1">
                <a:latin typeface="Times New Roman" pitchFamily="18" charset="0"/>
                <a:cs typeface="Times New Roman" pitchFamily="18" charset="0"/>
              </a:endParaRPr>
            </a:p>
          </p:txBody>
        </p:sp>
        <p:sp>
          <p:nvSpPr>
            <p:cNvPr id="59408" name="AutoShape 16"/>
            <p:cNvSpPr>
              <a:spLocks noChangeShapeType="1"/>
            </p:cNvSpPr>
            <p:nvPr/>
          </p:nvSpPr>
          <p:spPr bwMode="auto">
            <a:xfrm flipV="1">
              <a:off x="4239" y="5006"/>
              <a:ext cx="803" cy="5"/>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b="1">
                <a:latin typeface="Times New Roman" pitchFamily="18" charset="0"/>
                <a:cs typeface="Times New Roman" pitchFamily="18" charset="0"/>
              </a:endParaRPr>
            </a:p>
          </p:txBody>
        </p:sp>
        <p:sp>
          <p:nvSpPr>
            <p:cNvPr id="59407" name="AutoShape 15"/>
            <p:cNvSpPr>
              <a:spLocks noChangeShapeType="1"/>
            </p:cNvSpPr>
            <p:nvPr/>
          </p:nvSpPr>
          <p:spPr bwMode="auto">
            <a:xfrm flipH="1">
              <a:off x="4239" y="4318"/>
              <a:ext cx="2" cy="693"/>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b="1">
                <a:latin typeface="Times New Roman" pitchFamily="18" charset="0"/>
                <a:cs typeface="Times New Roman" pitchFamily="18" charset="0"/>
              </a:endParaRPr>
            </a:p>
          </p:txBody>
        </p:sp>
        <p:sp>
          <p:nvSpPr>
            <p:cNvPr id="59406" name="AutoShape 14"/>
            <p:cNvSpPr>
              <a:spLocks noChangeShapeType="1"/>
            </p:cNvSpPr>
            <p:nvPr/>
          </p:nvSpPr>
          <p:spPr bwMode="auto">
            <a:xfrm>
              <a:off x="5812" y="5242"/>
              <a:ext cx="1" cy="755"/>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b="1">
                <a:latin typeface="Times New Roman" pitchFamily="18" charset="0"/>
                <a:cs typeface="Times New Roman" pitchFamily="18" charset="0"/>
              </a:endParaRPr>
            </a:p>
          </p:txBody>
        </p:sp>
        <p:sp>
          <p:nvSpPr>
            <p:cNvPr id="59405" name="AutoShape 13"/>
            <p:cNvSpPr>
              <a:spLocks noChangeShapeType="1"/>
            </p:cNvSpPr>
            <p:nvPr/>
          </p:nvSpPr>
          <p:spPr bwMode="auto">
            <a:xfrm>
              <a:off x="5812" y="5999"/>
              <a:ext cx="925" cy="1"/>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b="1">
                <a:latin typeface="Times New Roman" pitchFamily="18" charset="0"/>
                <a:cs typeface="Times New Roman" pitchFamily="18" charset="0"/>
              </a:endParaRPr>
            </a:p>
          </p:txBody>
        </p:sp>
        <p:sp>
          <p:nvSpPr>
            <p:cNvPr id="59404" name="AutoShape 12"/>
            <p:cNvSpPr>
              <a:spLocks noChangeShapeType="1"/>
            </p:cNvSpPr>
            <p:nvPr/>
          </p:nvSpPr>
          <p:spPr bwMode="auto">
            <a:xfrm>
              <a:off x="6208" y="4059"/>
              <a:ext cx="1" cy="687"/>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b="1">
                <a:latin typeface="Times New Roman" pitchFamily="18" charset="0"/>
                <a:cs typeface="Times New Roman" pitchFamily="18" charset="0"/>
              </a:endParaRPr>
            </a:p>
          </p:txBody>
        </p:sp>
        <p:sp>
          <p:nvSpPr>
            <p:cNvPr id="59403" name="AutoShape 11"/>
            <p:cNvSpPr>
              <a:spLocks noChangeShapeType="1"/>
            </p:cNvSpPr>
            <p:nvPr/>
          </p:nvSpPr>
          <p:spPr bwMode="auto">
            <a:xfrm>
              <a:off x="7823" y="4982"/>
              <a:ext cx="2" cy="756"/>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b="1">
                <a:latin typeface="Times New Roman" pitchFamily="18" charset="0"/>
                <a:cs typeface="Times New Roman" pitchFamily="18" charset="0"/>
              </a:endParaRPr>
            </a:p>
          </p:txBody>
        </p:sp>
        <p:sp>
          <p:nvSpPr>
            <p:cNvPr id="59402" name="AutoShape 10"/>
            <p:cNvSpPr>
              <a:spLocks noChangeShapeType="1"/>
            </p:cNvSpPr>
            <p:nvPr/>
          </p:nvSpPr>
          <p:spPr bwMode="auto">
            <a:xfrm>
              <a:off x="8214" y="5997"/>
              <a:ext cx="590" cy="1"/>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b="1">
                <a:latin typeface="Times New Roman" pitchFamily="18" charset="0"/>
                <a:cs typeface="Times New Roman" pitchFamily="18" charset="0"/>
              </a:endParaRPr>
            </a:p>
          </p:txBody>
        </p:sp>
        <p:sp>
          <p:nvSpPr>
            <p:cNvPr id="59401" name="Text Box 9"/>
            <p:cNvSpPr txBox="1">
              <a:spLocks noChangeArrowheads="1"/>
            </p:cNvSpPr>
            <p:nvPr/>
          </p:nvSpPr>
          <p:spPr bwMode="auto">
            <a:xfrm>
              <a:off x="8296" y="5659"/>
              <a:ext cx="588" cy="233"/>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Coding </a:t>
              </a:r>
              <a:endParaRPr kumimoji="0" lang="en-US"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59400" name="Text Box 8"/>
            <p:cNvSpPr txBox="1">
              <a:spLocks noChangeArrowheads="1"/>
            </p:cNvSpPr>
            <p:nvPr/>
          </p:nvSpPr>
          <p:spPr bwMode="auto">
            <a:xfrm>
              <a:off x="2851" y="3709"/>
              <a:ext cx="402" cy="233"/>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SRS </a:t>
              </a:r>
              <a:endParaRPr kumimoji="0" lang="en-US"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59399" name="Text Box 7"/>
            <p:cNvSpPr txBox="1">
              <a:spLocks noChangeArrowheads="1"/>
            </p:cNvSpPr>
            <p:nvPr/>
          </p:nvSpPr>
          <p:spPr bwMode="auto">
            <a:xfrm>
              <a:off x="7298" y="4435"/>
              <a:ext cx="1148" cy="450"/>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Algorithmic specification</a:t>
              </a:r>
              <a:endParaRPr kumimoji="0" lang="en-US" b="1" i="0" u="none" strike="noStrike" cap="none" normalizeH="0" baseline="0" dirty="0" smtClean="0">
                <a:ln>
                  <a:noFill/>
                </a:ln>
                <a:solidFill>
                  <a:schemeClr val="tx1"/>
                </a:solidFill>
                <a:effectLst/>
                <a:latin typeface="Times New Roman" pitchFamily="18" charset="0"/>
                <a:cs typeface="Times New Roman" pitchFamily="18" charset="0"/>
              </a:endParaRPr>
            </a:p>
          </p:txBody>
        </p:sp>
        <p:sp>
          <p:nvSpPr>
            <p:cNvPr id="59398" name="Text Box 6"/>
            <p:cNvSpPr txBox="1">
              <a:spLocks noChangeArrowheads="1"/>
            </p:cNvSpPr>
            <p:nvPr/>
          </p:nvSpPr>
          <p:spPr bwMode="auto">
            <a:xfrm>
              <a:off x="5504" y="3709"/>
              <a:ext cx="1685" cy="233"/>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Design methodologies </a:t>
              </a:r>
              <a:endParaRPr kumimoji="0" lang="en-US" b="1" i="0" u="none" strike="noStrike" cap="none" normalizeH="0" baseline="0" dirty="0" smtClean="0">
                <a:ln>
                  <a:noFill/>
                </a:ln>
                <a:solidFill>
                  <a:schemeClr val="tx1"/>
                </a:solidFill>
                <a:effectLst/>
                <a:latin typeface="Times New Roman" pitchFamily="18" charset="0"/>
                <a:cs typeface="Times New Roman" pitchFamily="18" charset="0"/>
              </a:endParaRPr>
            </a:p>
          </p:txBody>
        </p:sp>
        <p:sp>
          <p:nvSpPr>
            <p:cNvPr id="59397" name="Text Box 5"/>
            <p:cNvSpPr txBox="1">
              <a:spLocks noChangeArrowheads="1"/>
            </p:cNvSpPr>
            <p:nvPr/>
          </p:nvSpPr>
          <p:spPr bwMode="auto">
            <a:xfrm>
              <a:off x="3580" y="3174"/>
              <a:ext cx="1983" cy="270"/>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Architectural styles</a:t>
              </a:r>
              <a:endParaRPr kumimoji="0" lang="en-US" b="1" i="0" u="none" strike="noStrike" cap="none" normalizeH="0" baseline="0" dirty="0" smtClean="0">
                <a:ln>
                  <a:noFill/>
                </a:ln>
                <a:solidFill>
                  <a:schemeClr val="tx1"/>
                </a:solidFill>
                <a:effectLst/>
                <a:latin typeface="Times New Roman" pitchFamily="18" charset="0"/>
                <a:cs typeface="Times New Roman" pitchFamily="18" charset="0"/>
              </a:endParaRPr>
            </a:p>
          </p:txBody>
        </p:sp>
        <p:sp>
          <p:nvSpPr>
            <p:cNvPr id="59396" name="Text Box 4"/>
            <p:cNvSpPr txBox="1">
              <a:spLocks noChangeArrowheads="1"/>
            </p:cNvSpPr>
            <p:nvPr/>
          </p:nvSpPr>
          <p:spPr bwMode="auto">
            <a:xfrm>
              <a:off x="2961" y="4435"/>
              <a:ext cx="1087" cy="199"/>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Architecture</a:t>
              </a:r>
              <a:endParaRPr kumimoji="0" lang="en-US" b="1" i="0" u="none" strike="noStrike" cap="none" normalizeH="0" baseline="0" dirty="0" smtClean="0">
                <a:ln>
                  <a:noFill/>
                </a:ln>
                <a:solidFill>
                  <a:schemeClr val="tx1"/>
                </a:solidFill>
                <a:effectLst/>
                <a:latin typeface="Times New Roman" pitchFamily="18" charset="0"/>
                <a:cs typeface="Times New Roman" pitchFamily="18" charset="0"/>
              </a:endParaRPr>
            </a:p>
          </p:txBody>
        </p:sp>
        <p:sp>
          <p:nvSpPr>
            <p:cNvPr id="59395" name="Text Box 3"/>
            <p:cNvSpPr txBox="1">
              <a:spLocks noChangeArrowheads="1"/>
            </p:cNvSpPr>
            <p:nvPr/>
          </p:nvSpPr>
          <p:spPr bwMode="auto">
            <a:xfrm>
              <a:off x="4634" y="5426"/>
              <a:ext cx="1021" cy="289"/>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Structure </a:t>
              </a:r>
              <a:endParaRPr kumimoji="0" lang="en-US" b="1" i="0" u="none" strike="noStrike" cap="none" normalizeH="0" baseline="0" dirty="0" smtClean="0">
                <a:ln>
                  <a:noFill/>
                </a:ln>
                <a:solidFill>
                  <a:schemeClr val="tx1"/>
                </a:solidFill>
                <a:effectLst/>
                <a:latin typeface="Times New Roman" pitchFamily="18" charset="0"/>
                <a:cs typeface="Times New Roman" pitchFamily="18" charset="0"/>
              </a:endParaRPr>
            </a:p>
          </p:txBody>
        </p:sp>
        <p:sp>
          <p:nvSpPr>
            <p:cNvPr id="59394" name="Text Box 2"/>
            <p:cNvSpPr txBox="1">
              <a:spLocks noChangeArrowheads="1"/>
            </p:cNvSpPr>
            <p:nvPr/>
          </p:nvSpPr>
          <p:spPr bwMode="auto">
            <a:xfrm>
              <a:off x="7980" y="6351"/>
              <a:ext cx="1065" cy="230"/>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Algorithms</a:t>
              </a:r>
              <a:endParaRPr kumimoji="0" lang="en-US" b="1" i="0" u="none" strike="noStrike" cap="none" normalizeH="0" baseline="0" dirty="0" smtClean="0">
                <a:ln>
                  <a:noFill/>
                </a:ln>
                <a:solidFill>
                  <a:schemeClr val="tx1"/>
                </a:solidFill>
                <a:effectLst/>
                <a:latin typeface="Times New Roman" pitchFamily="18" charset="0"/>
                <a:cs typeface="Times New Roman" pitchFamily="18" charset="0"/>
              </a:endParaRPr>
            </a:p>
          </p:txBody>
        </p:sp>
      </p:grpSp>
      <p:sp>
        <p:nvSpPr>
          <p:cNvPr id="28" name="Footer Placeholder 5"/>
          <p:cNvSpPr>
            <a:spLocks noGrp="1"/>
          </p:cNvSpPr>
          <p:nvPr/>
        </p:nvSpPr>
        <p:spPr>
          <a:xfrm>
            <a:off x="400050" y="6507326"/>
            <a:ext cx="6092276" cy="365125"/>
          </a:xfrm>
          <a:prstGeom prst="rect">
            <a:avLst/>
          </a:prstGeom>
        </p:spPr>
        <p:txBody>
          <a:bodyPr vert="horz" lIns="91440" tIns="45720" rIns="91440" bIns="4572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i="1" dirty="0" smtClean="0"/>
              <a:t>@Dr. </a:t>
            </a:r>
            <a:r>
              <a:rPr lang="en-US" sz="1100" i="1" dirty="0" err="1" smtClean="0"/>
              <a:t>Ugrasen</a:t>
            </a:r>
            <a:r>
              <a:rPr lang="en-US" sz="1100" i="1" dirty="0" smtClean="0"/>
              <a:t> Suman, Professor, SCSIT, DAVV Indore (MP), India</a:t>
            </a:r>
            <a:endParaRPr lang="en-US" sz="1100" i="1" dirty="0"/>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noAutofit/>
          </a:bodyPr>
          <a:lstStyle/>
          <a:p>
            <a:r>
              <a:rPr lang="en-US" sz="3200" b="1" dirty="0" smtClean="0">
                <a:solidFill>
                  <a:srgbClr val="C00000"/>
                </a:solidFill>
                <a:cs typeface="Times New Roman" pitchFamily="18" charset="0"/>
              </a:rPr>
              <a:t/>
            </a:r>
            <a:br>
              <a:rPr lang="en-US" sz="3200" b="1" dirty="0" smtClean="0">
                <a:solidFill>
                  <a:srgbClr val="C00000"/>
                </a:solidFill>
                <a:cs typeface="Times New Roman" pitchFamily="18" charset="0"/>
              </a:rPr>
            </a:br>
            <a:r>
              <a:rPr lang="en-US" sz="3200" b="1" dirty="0" smtClean="0">
                <a:solidFill>
                  <a:srgbClr val="C00000"/>
                </a:solidFill>
                <a:cs typeface="Times New Roman" pitchFamily="18" charset="0"/>
              </a:rPr>
              <a:t>Software </a:t>
            </a:r>
            <a:r>
              <a:rPr lang="en-US" sz="3200" b="1" dirty="0">
                <a:solidFill>
                  <a:srgbClr val="C00000"/>
                </a:solidFill>
                <a:cs typeface="Times New Roman" pitchFamily="18" charset="0"/>
              </a:rPr>
              <a:t>Design Process </a:t>
            </a:r>
            <a:br>
              <a:rPr lang="en-US" sz="3200" b="1" dirty="0">
                <a:solidFill>
                  <a:srgbClr val="C00000"/>
                </a:solidFill>
                <a:cs typeface="Times New Roman" pitchFamily="18" charset="0"/>
              </a:rPr>
            </a:br>
            <a:endParaRPr lang="en-US" sz="3200" b="1" dirty="0">
              <a:solidFill>
                <a:srgbClr val="C00000"/>
              </a:solidFill>
              <a:cs typeface="Times New Roman" pitchFamily="18" charset="0"/>
            </a:endParaRPr>
          </a:p>
        </p:txBody>
      </p:sp>
      <p:sp>
        <p:nvSpPr>
          <p:cNvPr id="3" name="Content Placeholder 2"/>
          <p:cNvSpPr>
            <a:spLocks noGrp="1"/>
          </p:cNvSpPr>
          <p:nvPr>
            <p:ph idx="1"/>
          </p:nvPr>
        </p:nvSpPr>
        <p:spPr>
          <a:xfrm>
            <a:off x="457200" y="1219200"/>
            <a:ext cx="8382000" cy="5137150"/>
          </a:xfrm>
        </p:spPr>
        <p:txBody>
          <a:bodyPr>
            <a:noAutofit/>
          </a:bodyPr>
          <a:lstStyle/>
          <a:p>
            <a:r>
              <a:rPr lang="en-US" sz="2400" dirty="0" smtClean="0">
                <a:cs typeface="Times New Roman" pitchFamily="18" charset="0"/>
              </a:rPr>
              <a:t>Software design process is a set of design activities carried out to produce a design model from the SRS. </a:t>
            </a:r>
          </a:p>
          <a:p>
            <a:r>
              <a:rPr lang="en-US" sz="2400" dirty="0" smtClean="0">
                <a:cs typeface="Times New Roman" pitchFamily="18" charset="0"/>
              </a:rPr>
              <a:t>It consists of three design levels: </a:t>
            </a:r>
          </a:p>
          <a:p>
            <a:pPr lvl="1"/>
            <a:r>
              <a:rPr lang="en-US" sz="2400" i="1" dirty="0" smtClean="0">
                <a:cs typeface="Times New Roman" pitchFamily="18" charset="0"/>
              </a:rPr>
              <a:t>architectural design, </a:t>
            </a:r>
          </a:p>
          <a:p>
            <a:pPr lvl="1"/>
            <a:r>
              <a:rPr lang="en-US" sz="2400" i="1" dirty="0" smtClean="0">
                <a:cs typeface="Times New Roman" pitchFamily="18" charset="0"/>
              </a:rPr>
              <a:t>physical design,</a:t>
            </a:r>
            <a:r>
              <a:rPr lang="en-US" sz="2400" dirty="0" smtClean="0">
                <a:cs typeface="Times New Roman" pitchFamily="18" charset="0"/>
              </a:rPr>
              <a:t> </a:t>
            </a:r>
          </a:p>
          <a:p>
            <a:pPr lvl="1"/>
            <a:r>
              <a:rPr lang="en-US" sz="2400" dirty="0" smtClean="0">
                <a:cs typeface="Times New Roman" pitchFamily="18" charset="0"/>
              </a:rPr>
              <a:t>and </a:t>
            </a:r>
            <a:r>
              <a:rPr lang="en-US" sz="2400" i="1" dirty="0" smtClean="0">
                <a:cs typeface="Times New Roman" pitchFamily="18" charset="0"/>
              </a:rPr>
              <a:t>detailed design</a:t>
            </a:r>
            <a:r>
              <a:rPr lang="en-US" sz="2400" dirty="0" smtClean="0">
                <a:cs typeface="Times New Roman" pitchFamily="18" charset="0"/>
              </a:rPr>
              <a:t>. </a:t>
            </a:r>
            <a:endParaRPr lang="en-IN" sz="2400" dirty="0" smtClean="0">
              <a:cs typeface="Times New Roman" pitchFamily="18" charset="0"/>
            </a:endParaRPr>
          </a:p>
          <a:p>
            <a:r>
              <a:rPr lang="en-US" sz="2400" i="1" dirty="0" smtClean="0">
                <a:solidFill>
                  <a:srgbClr val="C00000"/>
                </a:solidFill>
                <a:cs typeface="Times New Roman" pitchFamily="18" charset="0"/>
              </a:rPr>
              <a:t>Architectural design</a:t>
            </a:r>
            <a:r>
              <a:rPr lang="en-US" sz="2400" dirty="0" smtClean="0">
                <a:solidFill>
                  <a:srgbClr val="C00000"/>
                </a:solidFill>
                <a:cs typeface="Times New Roman" pitchFamily="18" charset="0"/>
              </a:rPr>
              <a:t> </a:t>
            </a:r>
            <a:r>
              <a:rPr lang="en-US" sz="2400" dirty="0" smtClean="0">
                <a:cs typeface="Times New Roman" pitchFamily="18" charset="0"/>
              </a:rPr>
              <a:t>is an external design which considers the external behavior of a software product. </a:t>
            </a:r>
          </a:p>
          <a:p>
            <a:r>
              <a:rPr lang="en-US" sz="2400" dirty="0" smtClean="0">
                <a:cs typeface="Times New Roman" pitchFamily="18" charset="0"/>
              </a:rPr>
              <a:t>The external design considers the architectural aspects related to business, technology, major data stores, structure of data and modules, reports, performance criteria, and high-level process structure of the product. </a:t>
            </a:r>
          </a:p>
        </p:txBody>
      </p:sp>
      <p:sp>
        <p:nvSpPr>
          <p:cNvPr id="5" name="Slide Number Placeholder 4"/>
          <p:cNvSpPr>
            <a:spLocks noGrp="1"/>
          </p:cNvSpPr>
          <p:nvPr>
            <p:ph type="sldNum" sz="quarter" idx="12"/>
          </p:nvPr>
        </p:nvSpPr>
        <p:spPr/>
        <p:txBody>
          <a:bodyPr/>
          <a:lstStyle/>
          <a:p>
            <a:fld id="{26011043-848E-4CA3-808D-B3CFD8CB8118}" type="slidenum">
              <a:rPr lang="en-US" smtClean="0"/>
              <a:pPr/>
              <a:t>3</a:t>
            </a:fld>
            <a:endParaRPr lang="en-US"/>
          </a:p>
        </p:txBody>
      </p:sp>
      <p:sp>
        <p:nvSpPr>
          <p:cNvPr id="6" name="Footer Placeholder 5"/>
          <p:cNvSpPr>
            <a:spLocks noGrp="1"/>
          </p:cNvSpPr>
          <p:nvPr/>
        </p:nvSpPr>
        <p:spPr>
          <a:xfrm>
            <a:off x="400050" y="6507326"/>
            <a:ext cx="6092276" cy="365125"/>
          </a:xfrm>
          <a:prstGeom prst="rect">
            <a:avLst/>
          </a:prstGeom>
        </p:spPr>
        <p:txBody>
          <a:bodyPr vert="horz" lIns="91440" tIns="45720" rIns="91440" bIns="4572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i="1" dirty="0" smtClean="0"/>
              <a:t>@Dr. </a:t>
            </a:r>
            <a:r>
              <a:rPr lang="en-US" sz="1100" i="1" dirty="0" err="1" smtClean="0"/>
              <a:t>Ugrasen</a:t>
            </a:r>
            <a:r>
              <a:rPr lang="en-US" sz="1100" i="1" dirty="0" smtClean="0"/>
              <a:t> Suman, Professor, SCSIT, DAVV Indore (MP), India</a:t>
            </a:r>
            <a:endParaRPr lang="en-US" sz="1100" i="1" dirty="0"/>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a:bodyPr>
          <a:lstStyle/>
          <a:p>
            <a:r>
              <a:rPr lang="en-US" sz="3200" b="1" dirty="0" smtClean="0">
                <a:solidFill>
                  <a:srgbClr val="C00000"/>
                </a:solidFill>
                <a:cs typeface="Times New Roman" pitchFamily="18" charset="0"/>
              </a:rPr>
              <a:t>Software Design Process </a:t>
            </a:r>
            <a:endParaRPr lang="en-IN" dirty="0">
              <a:solidFill>
                <a:srgbClr val="C00000"/>
              </a:solidFill>
            </a:endParaRPr>
          </a:p>
        </p:txBody>
      </p:sp>
      <p:sp>
        <p:nvSpPr>
          <p:cNvPr id="3" name="Content Placeholder 2"/>
          <p:cNvSpPr>
            <a:spLocks noGrp="1"/>
          </p:cNvSpPr>
          <p:nvPr>
            <p:ph idx="1"/>
          </p:nvPr>
        </p:nvSpPr>
        <p:spPr>
          <a:xfrm>
            <a:off x="457200" y="1143000"/>
            <a:ext cx="8229600" cy="5334000"/>
          </a:xfrm>
        </p:spPr>
        <p:txBody>
          <a:bodyPr>
            <a:normAutofit/>
          </a:bodyPr>
          <a:lstStyle/>
          <a:p>
            <a:r>
              <a:rPr lang="en-US" sz="2400" i="1" dirty="0" smtClean="0">
                <a:solidFill>
                  <a:srgbClr val="C00000"/>
                </a:solidFill>
                <a:cs typeface="Times New Roman" pitchFamily="18" charset="0"/>
              </a:rPr>
              <a:t>Physical design </a:t>
            </a:r>
            <a:r>
              <a:rPr lang="en-US" sz="2400" dirty="0" smtClean="0">
                <a:cs typeface="Times New Roman" pitchFamily="18" charset="0"/>
              </a:rPr>
              <a:t>is a high-level design or structural design, which is concerned with refining the conceptual view of the system; identifying the major modules; decomposing the modules into sub-modules, interconnections among modules, data structure, and data store in the system. </a:t>
            </a:r>
          </a:p>
          <a:p>
            <a:pPr lvl="1"/>
            <a:r>
              <a:rPr lang="en-US" sz="2000" dirty="0" smtClean="0">
                <a:solidFill>
                  <a:srgbClr val="000000"/>
                </a:solidFill>
                <a:ea typeface="Times New Roman"/>
              </a:rPr>
              <a:t>Design methodologies (e.g., structured design, object oriented, Jackson structured design, W-Orr, etc.). </a:t>
            </a:r>
            <a:endParaRPr lang="en-IN" sz="2000" dirty="0" smtClean="0">
              <a:cs typeface="Times New Roman" pitchFamily="18" charset="0"/>
            </a:endParaRPr>
          </a:p>
          <a:p>
            <a:r>
              <a:rPr lang="en-US" sz="2400" i="1" dirty="0" smtClean="0">
                <a:solidFill>
                  <a:srgbClr val="C00000"/>
                </a:solidFill>
                <a:cs typeface="Times New Roman" pitchFamily="18" charset="0"/>
              </a:rPr>
              <a:t>Detailed design </a:t>
            </a:r>
            <a:r>
              <a:rPr lang="en-US" sz="2400" dirty="0" smtClean="0">
                <a:cs typeface="Times New Roman" pitchFamily="18" charset="0"/>
              </a:rPr>
              <a:t>is the</a:t>
            </a:r>
            <a:r>
              <a:rPr lang="en-US" sz="2400" i="1" dirty="0" smtClean="0">
                <a:cs typeface="Times New Roman" pitchFamily="18" charset="0"/>
              </a:rPr>
              <a:t> </a:t>
            </a:r>
            <a:r>
              <a:rPr lang="en-US" sz="2400" dirty="0" smtClean="0">
                <a:cs typeface="Times New Roman" pitchFamily="18" charset="0"/>
              </a:rPr>
              <a:t>algorithmic design of each module in the software. It is also called logical design. </a:t>
            </a:r>
          </a:p>
          <a:p>
            <a:r>
              <a:rPr lang="en-US" sz="2400" dirty="0" smtClean="0">
                <a:cs typeface="Times New Roman" pitchFamily="18" charset="0"/>
              </a:rPr>
              <a:t>The detailed design concentrates on the specification of algorithms and data structures of each module, the actual interface descriptions and data stores of the modules, and package specifications of the system. </a:t>
            </a:r>
            <a:endParaRPr lang="en-IN" sz="2400" dirty="0"/>
          </a:p>
        </p:txBody>
      </p:sp>
      <p:sp>
        <p:nvSpPr>
          <p:cNvPr id="4" name="Slide Number Placeholder 3"/>
          <p:cNvSpPr>
            <a:spLocks noGrp="1"/>
          </p:cNvSpPr>
          <p:nvPr>
            <p:ph type="sldNum" sz="quarter" idx="12"/>
          </p:nvPr>
        </p:nvSpPr>
        <p:spPr/>
        <p:txBody>
          <a:bodyPr/>
          <a:lstStyle/>
          <a:p>
            <a:fld id="{26011043-848E-4CA3-808D-B3CFD8CB8118}" type="slidenum">
              <a:rPr lang="en-US" smtClean="0"/>
              <a:pPr/>
              <a:t>4</a:t>
            </a:fld>
            <a:endParaRPr lang="en-US"/>
          </a:p>
        </p:txBody>
      </p:sp>
      <p:sp>
        <p:nvSpPr>
          <p:cNvPr id="5" name="Footer Placeholder 5"/>
          <p:cNvSpPr>
            <a:spLocks noGrp="1"/>
          </p:cNvSpPr>
          <p:nvPr/>
        </p:nvSpPr>
        <p:spPr>
          <a:xfrm>
            <a:off x="400050" y="6507326"/>
            <a:ext cx="6092276" cy="365125"/>
          </a:xfrm>
          <a:prstGeom prst="rect">
            <a:avLst/>
          </a:prstGeom>
        </p:spPr>
        <p:txBody>
          <a:bodyPr vert="horz" lIns="91440" tIns="45720" rIns="91440" bIns="4572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i="1" dirty="0" smtClean="0"/>
              <a:t>@Dr. </a:t>
            </a:r>
            <a:r>
              <a:rPr lang="en-US" sz="1100" i="1" dirty="0" err="1" smtClean="0"/>
              <a:t>Ugrasen</a:t>
            </a:r>
            <a:r>
              <a:rPr lang="en-US" sz="1100" i="1" dirty="0" smtClean="0"/>
              <a:t> Suman, Professor, SCSIT, DAVV Indore (MP), India</a:t>
            </a:r>
            <a:endParaRPr lang="en-US" sz="1100" i="1" dirty="0"/>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31763"/>
            <a:ext cx="8229600" cy="715962"/>
          </a:xfrm>
        </p:spPr>
        <p:txBody>
          <a:bodyPr>
            <a:normAutofit/>
          </a:bodyPr>
          <a:lstStyle/>
          <a:p>
            <a:r>
              <a:rPr lang="en-US" sz="3200" b="1" dirty="0" smtClean="0">
                <a:solidFill>
                  <a:srgbClr val="C00000"/>
                </a:solidFill>
                <a:cs typeface="Times New Roman" pitchFamily="18" charset="0"/>
              </a:rPr>
              <a:t>What is Architecture?</a:t>
            </a:r>
            <a:endParaRPr lang="en-US" sz="3200" b="1" dirty="0">
              <a:solidFill>
                <a:srgbClr val="C00000"/>
              </a:solidFill>
              <a:cs typeface="Times New Roman" pitchFamily="18" charset="0"/>
            </a:endParaRPr>
          </a:p>
        </p:txBody>
      </p:sp>
      <p:sp>
        <p:nvSpPr>
          <p:cNvPr id="3" name="Content Placeholder 2"/>
          <p:cNvSpPr>
            <a:spLocks noGrp="1"/>
          </p:cNvSpPr>
          <p:nvPr>
            <p:ph idx="1"/>
          </p:nvPr>
        </p:nvSpPr>
        <p:spPr>
          <a:xfrm>
            <a:off x="431800" y="973137"/>
            <a:ext cx="8458200" cy="5257800"/>
          </a:xfrm>
        </p:spPr>
        <p:txBody>
          <a:bodyPr>
            <a:noAutofit/>
          </a:bodyPr>
          <a:lstStyle/>
          <a:p>
            <a:r>
              <a:rPr lang="en-US" sz="2400" dirty="0" smtClean="0"/>
              <a:t>Architecture is the process </a:t>
            </a:r>
            <a:r>
              <a:rPr lang="en-US" sz="2400" dirty="0"/>
              <a:t>and the product of planning, designing, and constructing buildings or </a:t>
            </a:r>
            <a:r>
              <a:rPr lang="en-US" sz="2400" b="1" dirty="0"/>
              <a:t>other </a:t>
            </a:r>
            <a:r>
              <a:rPr lang="en-US" sz="2400" b="1" dirty="0" smtClean="0"/>
              <a:t>structures.</a:t>
            </a:r>
          </a:p>
          <a:p>
            <a:pPr marL="0" indent="0">
              <a:buNone/>
            </a:pPr>
            <a:endParaRPr lang="en-US" sz="2400" b="1" dirty="0" smtClean="0"/>
          </a:p>
          <a:p>
            <a:r>
              <a:rPr lang="en-US" sz="2400" dirty="0">
                <a:solidFill>
                  <a:srgbClr val="C00000"/>
                </a:solidFill>
              </a:rPr>
              <a:t>3 pillars of good </a:t>
            </a:r>
            <a:r>
              <a:rPr lang="en-US" sz="2400" dirty="0" smtClean="0">
                <a:solidFill>
                  <a:srgbClr val="C00000"/>
                </a:solidFill>
              </a:rPr>
              <a:t>buildings:  </a:t>
            </a:r>
          </a:p>
          <a:p>
            <a:pPr lvl="1"/>
            <a:r>
              <a:rPr lang="en-IN" sz="2000" dirty="0" smtClean="0"/>
              <a:t>Utility </a:t>
            </a:r>
            <a:r>
              <a:rPr lang="en-IN" sz="2000" dirty="0"/>
              <a:t>(usefulness</a:t>
            </a:r>
            <a:r>
              <a:rPr lang="en-IN" sz="2000" dirty="0" smtClean="0"/>
              <a:t>), </a:t>
            </a:r>
          </a:p>
          <a:p>
            <a:pPr lvl="1"/>
            <a:r>
              <a:rPr lang="en-IN" sz="2000" dirty="0" smtClean="0"/>
              <a:t>Durability </a:t>
            </a:r>
          </a:p>
          <a:p>
            <a:pPr lvl="1"/>
            <a:r>
              <a:rPr lang="en-IN" sz="2000" dirty="0" smtClean="0"/>
              <a:t>and the Elegance</a:t>
            </a:r>
            <a:r>
              <a:rPr lang="en-IN" sz="2000" dirty="0"/>
              <a:t>/ </a:t>
            </a:r>
            <a:r>
              <a:rPr lang="en-IN" sz="2000" dirty="0" smtClean="0"/>
              <a:t>beauty. </a:t>
            </a:r>
            <a:endParaRPr lang="en-US" sz="2000" dirty="0"/>
          </a:p>
        </p:txBody>
      </p:sp>
      <p:sp>
        <p:nvSpPr>
          <p:cNvPr id="5" name="Slide Number Placeholder 4"/>
          <p:cNvSpPr>
            <a:spLocks noGrp="1"/>
          </p:cNvSpPr>
          <p:nvPr>
            <p:ph type="sldNum" sz="quarter" idx="12"/>
          </p:nvPr>
        </p:nvSpPr>
        <p:spPr/>
        <p:txBody>
          <a:bodyPr/>
          <a:lstStyle/>
          <a:p>
            <a:fld id="{26011043-848E-4CA3-808D-B3CFD8CB8118}" type="slidenum">
              <a:rPr lang="en-US" smtClean="0">
                <a:solidFill>
                  <a:prstClr val="black">
                    <a:tint val="75000"/>
                  </a:prstClr>
                </a:solidFill>
              </a:rPr>
              <a:pPr/>
              <a:t>5</a:t>
            </a:fld>
            <a:endParaRPr lang="en-US">
              <a:solidFill>
                <a:prstClr val="black">
                  <a:tint val="75000"/>
                </a:prstClr>
              </a:solidFill>
            </a:endParaRPr>
          </a:p>
        </p:txBody>
      </p:sp>
      <p:pic>
        <p:nvPicPr>
          <p:cNvPr id="4" name="Picture 3"/>
          <p:cNvPicPr>
            <a:picLocks noChangeAspect="1"/>
          </p:cNvPicPr>
          <p:nvPr/>
        </p:nvPicPr>
        <p:blipFill rotWithShape="1">
          <a:blip r:embed="rId2"/>
          <a:srcRect t="14677"/>
          <a:stretch/>
        </p:blipFill>
        <p:spPr>
          <a:xfrm>
            <a:off x="4234275" y="2209800"/>
            <a:ext cx="4637850" cy="3902075"/>
          </a:xfrm>
          <a:prstGeom prst="rect">
            <a:avLst/>
          </a:prstGeom>
        </p:spPr>
      </p:pic>
      <p:sp>
        <p:nvSpPr>
          <p:cNvPr id="6" name="Footer Placeholder 5"/>
          <p:cNvSpPr>
            <a:spLocks noGrp="1"/>
          </p:cNvSpPr>
          <p:nvPr/>
        </p:nvSpPr>
        <p:spPr>
          <a:xfrm>
            <a:off x="400050" y="6507326"/>
            <a:ext cx="6092276" cy="365125"/>
          </a:xfrm>
          <a:prstGeom prst="rect">
            <a:avLst/>
          </a:prstGeom>
        </p:spPr>
        <p:txBody>
          <a:bodyPr vert="horz" lIns="91440" tIns="45720" rIns="91440" bIns="4572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i="1" dirty="0" smtClean="0"/>
              <a:t>@Dr. </a:t>
            </a:r>
            <a:r>
              <a:rPr lang="en-US" sz="1100" i="1" dirty="0" err="1" smtClean="0"/>
              <a:t>Ugrasen</a:t>
            </a:r>
            <a:r>
              <a:rPr lang="en-US" sz="1100" i="1" dirty="0" smtClean="0"/>
              <a:t> Suman, Professor, SCSIT, DAVV Indore (MP), India</a:t>
            </a:r>
            <a:endParaRPr lang="en-US" sz="1100" i="1" dirty="0"/>
          </a:p>
        </p:txBody>
      </p:sp>
    </p:spTree>
    <p:extLst>
      <p:ext uri="{BB962C8B-B14F-4D97-AF65-F5344CB8AC3E}">
        <p14:creationId xmlns:p14="http://schemas.microsoft.com/office/powerpoint/2010/main" val="3080593837"/>
      </p:ext>
    </p:extLst>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31763"/>
            <a:ext cx="8229600" cy="715962"/>
          </a:xfrm>
        </p:spPr>
        <p:txBody>
          <a:bodyPr>
            <a:normAutofit/>
          </a:bodyPr>
          <a:lstStyle/>
          <a:p>
            <a:r>
              <a:rPr lang="en-US" sz="3200" b="1" dirty="0" smtClean="0">
                <a:solidFill>
                  <a:srgbClr val="C00000"/>
                </a:solidFill>
                <a:cs typeface="Times New Roman" pitchFamily="18" charset="0"/>
              </a:rPr>
              <a:t>Building Architecture Vs. Software Architecture</a:t>
            </a:r>
            <a:endParaRPr lang="en-US" sz="3200" b="1" dirty="0">
              <a:solidFill>
                <a:srgbClr val="C00000"/>
              </a:solidFill>
              <a:cs typeface="Times New Roman" pitchFamily="18" charset="0"/>
            </a:endParaRPr>
          </a:p>
        </p:txBody>
      </p:sp>
      <p:sp>
        <p:nvSpPr>
          <p:cNvPr id="3" name="Content Placeholder 2"/>
          <p:cNvSpPr>
            <a:spLocks noGrp="1"/>
          </p:cNvSpPr>
          <p:nvPr>
            <p:ph idx="1"/>
          </p:nvPr>
        </p:nvSpPr>
        <p:spPr>
          <a:xfrm>
            <a:off x="431800" y="973137"/>
            <a:ext cx="8458200" cy="5257800"/>
          </a:xfrm>
        </p:spPr>
        <p:txBody>
          <a:bodyPr>
            <a:noAutofit/>
          </a:bodyPr>
          <a:lstStyle/>
          <a:p>
            <a:r>
              <a:rPr lang="en-IN" sz="2400" b="1" dirty="0"/>
              <a:t>Some </a:t>
            </a:r>
            <a:r>
              <a:rPr lang="en-IN" sz="2400" b="1" dirty="0" smtClean="0"/>
              <a:t>similarities</a:t>
            </a:r>
          </a:p>
          <a:p>
            <a:pPr lvl="1"/>
            <a:r>
              <a:rPr lang="en-IN" sz="2400" dirty="0" smtClean="0"/>
              <a:t>Complex </a:t>
            </a:r>
            <a:r>
              <a:rPr lang="en-IN" sz="2400" dirty="0"/>
              <a:t>systems</a:t>
            </a:r>
          </a:p>
          <a:p>
            <a:pPr lvl="1"/>
            <a:r>
              <a:rPr lang="en-IN" sz="2400" dirty="0"/>
              <a:t>Developed by teams/organizations</a:t>
            </a:r>
          </a:p>
          <a:p>
            <a:pPr lvl="1"/>
            <a:r>
              <a:rPr lang="en-IN" sz="2400" dirty="0"/>
              <a:t>Used by people</a:t>
            </a:r>
          </a:p>
          <a:p>
            <a:pPr lvl="1"/>
            <a:r>
              <a:rPr lang="en-US" sz="2400" dirty="0"/>
              <a:t>Both employ styles, patterns, tactics...</a:t>
            </a:r>
          </a:p>
          <a:p>
            <a:pPr lvl="1"/>
            <a:r>
              <a:rPr lang="en-US" sz="2400" dirty="0"/>
              <a:t>And are affected by trends</a:t>
            </a:r>
            <a:endParaRPr lang="en-US" sz="2400" dirty="0" smtClean="0">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26011043-848E-4CA3-808D-B3CFD8CB8118}" type="slidenum">
              <a:rPr lang="en-US" smtClean="0">
                <a:solidFill>
                  <a:prstClr val="black">
                    <a:tint val="75000"/>
                  </a:prstClr>
                </a:solidFill>
              </a:rPr>
              <a:pPr/>
              <a:t>6</a:t>
            </a:fld>
            <a:endParaRPr lang="en-US">
              <a:solidFill>
                <a:prstClr val="black">
                  <a:tint val="75000"/>
                </a:prstClr>
              </a:solidFill>
            </a:endParaRPr>
          </a:p>
        </p:txBody>
      </p:sp>
      <p:pic>
        <p:nvPicPr>
          <p:cNvPr id="10" name="Picture 9"/>
          <p:cNvPicPr>
            <a:picLocks noChangeAspect="1"/>
          </p:cNvPicPr>
          <p:nvPr/>
        </p:nvPicPr>
        <p:blipFill>
          <a:blip r:embed="rId2"/>
          <a:stretch>
            <a:fillRect/>
          </a:stretch>
        </p:blipFill>
        <p:spPr>
          <a:xfrm>
            <a:off x="609600" y="3777979"/>
            <a:ext cx="3886200" cy="2744000"/>
          </a:xfrm>
          <a:prstGeom prst="rect">
            <a:avLst/>
          </a:prstGeom>
        </p:spPr>
      </p:pic>
      <p:pic>
        <p:nvPicPr>
          <p:cNvPr id="9" name="Picture 8"/>
          <p:cNvPicPr>
            <a:picLocks noChangeAspect="1"/>
          </p:cNvPicPr>
          <p:nvPr/>
        </p:nvPicPr>
        <p:blipFill>
          <a:blip r:embed="rId3"/>
          <a:stretch>
            <a:fillRect/>
          </a:stretch>
        </p:blipFill>
        <p:spPr>
          <a:xfrm>
            <a:off x="4876800" y="3777979"/>
            <a:ext cx="3581400" cy="2744000"/>
          </a:xfrm>
          <a:prstGeom prst="rect">
            <a:avLst/>
          </a:prstGeom>
          <a:ln>
            <a:noFill/>
          </a:ln>
          <a:effectLst>
            <a:outerShdw blurRad="190500" algn="tl" rotWithShape="0">
              <a:srgbClr val="000000">
                <a:alpha val="70000"/>
              </a:srgbClr>
            </a:outerShdw>
          </a:effectLst>
        </p:spPr>
      </p:pic>
      <p:sp>
        <p:nvSpPr>
          <p:cNvPr id="7" name="Footer Placeholder 5"/>
          <p:cNvSpPr>
            <a:spLocks noGrp="1"/>
          </p:cNvSpPr>
          <p:nvPr/>
        </p:nvSpPr>
        <p:spPr>
          <a:xfrm>
            <a:off x="400050" y="6507326"/>
            <a:ext cx="6092276" cy="365125"/>
          </a:xfrm>
          <a:prstGeom prst="rect">
            <a:avLst/>
          </a:prstGeom>
        </p:spPr>
        <p:txBody>
          <a:bodyPr vert="horz" lIns="91440" tIns="45720" rIns="91440" bIns="4572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i="1" dirty="0" smtClean="0"/>
              <a:t>@Dr. </a:t>
            </a:r>
            <a:r>
              <a:rPr lang="en-US" sz="1100" i="1" dirty="0" err="1" smtClean="0"/>
              <a:t>Ugrasen</a:t>
            </a:r>
            <a:r>
              <a:rPr lang="en-US" sz="1100" i="1" dirty="0" smtClean="0"/>
              <a:t> Suman, Professor, SCSIT, DAVV Indore (MP), India</a:t>
            </a:r>
            <a:endParaRPr lang="en-US" sz="1100" i="1" dirty="0"/>
          </a:p>
        </p:txBody>
      </p:sp>
    </p:spTree>
    <p:extLst>
      <p:ext uri="{BB962C8B-B14F-4D97-AF65-F5344CB8AC3E}">
        <p14:creationId xmlns:p14="http://schemas.microsoft.com/office/powerpoint/2010/main" val="2171149895"/>
      </p:ext>
    </p:extLst>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33426"/>
          </a:xfrm>
        </p:spPr>
        <p:txBody>
          <a:bodyPr>
            <a:normAutofit/>
          </a:bodyPr>
          <a:lstStyle/>
          <a:p>
            <a:r>
              <a:rPr lang="en-US" sz="3200" b="1" dirty="0">
                <a:solidFill>
                  <a:srgbClr val="C00000"/>
                </a:solidFill>
                <a:cs typeface="Times New Roman" pitchFamily="18" charset="0"/>
              </a:rPr>
              <a:t>Building Architecture Vs. Software Architecture</a:t>
            </a:r>
            <a:endParaRPr lang="en-IN" sz="3200" dirty="0"/>
          </a:p>
        </p:txBody>
      </p:sp>
      <p:sp>
        <p:nvSpPr>
          <p:cNvPr id="3" name="Content Placeholder 2"/>
          <p:cNvSpPr>
            <a:spLocks noGrp="1"/>
          </p:cNvSpPr>
          <p:nvPr>
            <p:ph sz="half" idx="1"/>
          </p:nvPr>
        </p:nvSpPr>
        <p:spPr>
          <a:xfrm>
            <a:off x="304800" y="1855848"/>
            <a:ext cx="4038600" cy="4068763"/>
          </a:xfrm>
        </p:spPr>
        <p:txBody>
          <a:bodyPr>
            <a:normAutofit/>
          </a:bodyPr>
          <a:lstStyle/>
          <a:p>
            <a:r>
              <a:rPr lang="en-US" sz="2400" b="1" dirty="0">
                <a:solidFill>
                  <a:srgbClr val="C00000"/>
                </a:solidFill>
                <a:cs typeface="Times New Roman" pitchFamily="18" charset="0"/>
              </a:rPr>
              <a:t>Building Architecture</a:t>
            </a:r>
            <a:endParaRPr lang="en-IN" sz="2400" dirty="0" smtClean="0"/>
          </a:p>
          <a:p>
            <a:r>
              <a:rPr lang="en-IN" sz="2400" dirty="0" smtClean="0"/>
              <a:t>More </a:t>
            </a:r>
            <a:r>
              <a:rPr lang="en-IN" sz="2400" dirty="0"/>
              <a:t>stable environment</a:t>
            </a:r>
          </a:p>
          <a:p>
            <a:endParaRPr lang="en-IN" sz="2400" dirty="0" smtClean="0"/>
          </a:p>
          <a:p>
            <a:r>
              <a:rPr lang="en-IN" sz="2400" dirty="0" smtClean="0"/>
              <a:t>Physical </a:t>
            </a:r>
            <a:r>
              <a:rPr lang="en-IN" sz="2400" dirty="0"/>
              <a:t>product/service</a:t>
            </a:r>
          </a:p>
          <a:p>
            <a:r>
              <a:rPr lang="en-US" sz="2400" dirty="0"/>
              <a:t>Physical limits, difficult to change</a:t>
            </a:r>
          </a:p>
          <a:p>
            <a:r>
              <a:rPr lang="en-IN" sz="2400" dirty="0"/>
              <a:t>Long tradition and history</a:t>
            </a:r>
          </a:p>
        </p:txBody>
      </p:sp>
      <p:sp>
        <p:nvSpPr>
          <p:cNvPr id="4" name="Content Placeholder 3"/>
          <p:cNvSpPr>
            <a:spLocks noGrp="1"/>
          </p:cNvSpPr>
          <p:nvPr>
            <p:ph sz="half" idx="2"/>
          </p:nvPr>
        </p:nvSpPr>
        <p:spPr>
          <a:xfrm>
            <a:off x="4639733" y="1864315"/>
            <a:ext cx="4038600" cy="4068763"/>
          </a:xfrm>
        </p:spPr>
        <p:txBody>
          <a:bodyPr>
            <a:normAutofit/>
          </a:bodyPr>
          <a:lstStyle/>
          <a:p>
            <a:r>
              <a:rPr lang="en-US" sz="2400" b="1" dirty="0">
                <a:solidFill>
                  <a:srgbClr val="C00000"/>
                </a:solidFill>
                <a:cs typeface="Times New Roman" pitchFamily="18" charset="0"/>
              </a:rPr>
              <a:t>Software Architecture</a:t>
            </a:r>
            <a:endParaRPr lang="en-IN" sz="2400" dirty="0" smtClean="0"/>
          </a:p>
          <a:p>
            <a:r>
              <a:rPr lang="en-IN" sz="2400" dirty="0" smtClean="0"/>
              <a:t>Environment </a:t>
            </a:r>
            <a:r>
              <a:rPr lang="en-IN" sz="2400" dirty="0"/>
              <a:t>changes very fast</a:t>
            </a:r>
          </a:p>
          <a:p>
            <a:r>
              <a:rPr lang="en-IN" sz="2400" dirty="0"/>
              <a:t>Virtual product/service</a:t>
            </a:r>
          </a:p>
          <a:p>
            <a:r>
              <a:rPr lang="en-US" sz="2400" dirty="0"/>
              <a:t>No physical limits, easier to change</a:t>
            </a:r>
          </a:p>
          <a:p>
            <a:r>
              <a:rPr lang="en-IN" sz="2400" dirty="0"/>
              <a:t>Relatively new discipline</a:t>
            </a:r>
          </a:p>
        </p:txBody>
      </p:sp>
      <p:sp>
        <p:nvSpPr>
          <p:cNvPr id="5" name="Slide Number Placeholder 4"/>
          <p:cNvSpPr>
            <a:spLocks noGrp="1"/>
          </p:cNvSpPr>
          <p:nvPr>
            <p:ph type="sldNum" sz="quarter" idx="12"/>
          </p:nvPr>
        </p:nvSpPr>
        <p:spPr/>
        <p:txBody>
          <a:bodyPr/>
          <a:lstStyle/>
          <a:p>
            <a:fld id="{26011043-848E-4CA3-808D-B3CFD8CB8118}" type="slidenum">
              <a:rPr lang="en-US" smtClean="0"/>
              <a:pPr/>
              <a:t>7</a:t>
            </a:fld>
            <a:endParaRPr lang="en-US"/>
          </a:p>
        </p:txBody>
      </p:sp>
      <p:pic>
        <p:nvPicPr>
          <p:cNvPr id="6" name="Picture 5"/>
          <p:cNvPicPr>
            <a:picLocks noChangeAspect="1"/>
          </p:cNvPicPr>
          <p:nvPr/>
        </p:nvPicPr>
        <p:blipFill>
          <a:blip r:embed="rId2"/>
          <a:stretch>
            <a:fillRect/>
          </a:stretch>
        </p:blipFill>
        <p:spPr>
          <a:xfrm>
            <a:off x="270933" y="1146940"/>
            <a:ext cx="7467600" cy="646232"/>
          </a:xfrm>
          <a:prstGeom prst="rect">
            <a:avLst/>
          </a:prstGeom>
        </p:spPr>
      </p:pic>
      <p:sp>
        <p:nvSpPr>
          <p:cNvPr id="7" name="Footer Placeholder 5"/>
          <p:cNvSpPr>
            <a:spLocks noGrp="1"/>
          </p:cNvSpPr>
          <p:nvPr/>
        </p:nvSpPr>
        <p:spPr>
          <a:xfrm>
            <a:off x="400050" y="6507326"/>
            <a:ext cx="6092276" cy="365125"/>
          </a:xfrm>
          <a:prstGeom prst="rect">
            <a:avLst/>
          </a:prstGeom>
        </p:spPr>
        <p:txBody>
          <a:bodyPr vert="horz" lIns="91440" tIns="45720" rIns="91440" bIns="4572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i="1" dirty="0" smtClean="0"/>
              <a:t>@Dr. </a:t>
            </a:r>
            <a:r>
              <a:rPr lang="en-US" sz="1100" i="1" dirty="0" err="1" smtClean="0"/>
              <a:t>Ugrasen</a:t>
            </a:r>
            <a:r>
              <a:rPr lang="en-US" sz="1100" i="1" dirty="0" smtClean="0"/>
              <a:t> Suman, Professor, SCSIT, DAVV Indore (MP), India</a:t>
            </a:r>
            <a:endParaRPr lang="en-US" sz="1100" i="1" dirty="0"/>
          </a:p>
        </p:txBody>
      </p:sp>
    </p:spTree>
    <p:extLst>
      <p:ext uri="{BB962C8B-B14F-4D97-AF65-F5344CB8AC3E}">
        <p14:creationId xmlns:p14="http://schemas.microsoft.com/office/powerpoint/2010/main" val="2830869294"/>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33426"/>
          </a:xfrm>
        </p:spPr>
        <p:txBody>
          <a:bodyPr>
            <a:normAutofit/>
          </a:bodyPr>
          <a:lstStyle/>
          <a:p>
            <a:r>
              <a:rPr lang="en-US" sz="3200" b="1" dirty="0" smtClean="0">
                <a:solidFill>
                  <a:srgbClr val="C00000"/>
                </a:solidFill>
              </a:rPr>
              <a:t>Other Similar Disciplines</a:t>
            </a:r>
            <a:endParaRPr lang="en-IN" sz="3200" b="1" dirty="0">
              <a:solidFill>
                <a:srgbClr val="C00000"/>
              </a:solidFill>
            </a:endParaRPr>
          </a:p>
        </p:txBody>
      </p:sp>
      <p:sp>
        <p:nvSpPr>
          <p:cNvPr id="5" name="Slide Number Placeholder 4"/>
          <p:cNvSpPr>
            <a:spLocks noGrp="1"/>
          </p:cNvSpPr>
          <p:nvPr>
            <p:ph type="sldNum" sz="quarter" idx="12"/>
          </p:nvPr>
        </p:nvSpPr>
        <p:spPr/>
        <p:txBody>
          <a:bodyPr/>
          <a:lstStyle/>
          <a:p>
            <a:fld id="{26011043-848E-4CA3-808D-B3CFD8CB8118}" type="slidenum">
              <a:rPr lang="en-US" smtClean="0">
                <a:solidFill>
                  <a:prstClr val="black">
                    <a:tint val="75000"/>
                  </a:prstClr>
                </a:solidFill>
              </a:rPr>
              <a:pPr/>
              <a:t>8</a:t>
            </a:fld>
            <a:endParaRPr lang="en-US">
              <a:solidFill>
                <a:prstClr val="black">
                  <a:tint val="75000"/>
                </a:prstClr>
              </a:solidFill>
            </a:endParaRPr>
          </a:p>
        </p:txBody>
      </p:sp>
      <p:pic>
        <p:nvPicPr>
          <p:cNvPr id="9" name="Picture 8"/>
          <p:cNvPicPr>
            <a:picLocks noChangeAspect="1"/>
          </p:cNvPicPr>
          <p:nvPr/>
        </p:nvPicPr>
        <p:blipFill>
          <a:blip r:embed="rId2"/>
          <a:stretch>
            <a:fillRect/>
          </a:stretch>
        </p:blipFill>
        <p:spPr>
          <a:xfrm>
            <a:off x="228600" y="4156072"/>
            <a:ext cx="4419600" cy="2286000"/>
          </a:xfrm>
          <a:prstGeom prst="rect">
            <a:avLst/>
          </a:prstGeom>
        </p:spPr>
      </p:pic>
      <p:pic>
        <p:nvPicPr>
          <p:cNvPr id="10" name="Picture 9"/>
          <p:cNvPicPr>
            <a:picLocks noChangeAspect="1"/>
          </p:cNvPicPr>
          <p:nvPr/>
        </p:nvPicPr>
        <p:blipFill>
          <a:blip r:embed="rId3"/>
          <a:stretch>
            <a:fillRect/>
          </a:stretch>
        </p:blipFill>
        <p:spPr>
          <a:xfrm>
            <a:off x="4690533" y="1582736"/>
            <a:ext cx="4263001" cy="2286000"/>
          </a:xfrm>
          <a:prstGeom prst="rect">
            <a:avLst/>
          </a:prstGeom>
        </p:spPr>
      </p:pic>
      <p:pic>
        <p:nvPicPr>
          <p:cNvPr id="11" name="Picture 10"/>
          <p:cNvPicPr>
            <a:picLocks noChangeAspect="1"/>
          </p:cNvPicPr>
          <p:nvPr/>
        </p:nvPicPr>
        <p:blipFill>
          <a:blip r:embed="rId4"/>
          <a:stretch>
            <a:fillRect/>
          </a:stretch>
        </p:blipFill>
        <p:spPr>
          <a:xfrm>
            <a:off x="4648200" y="3868736"/>
            <a:ext cx="4305334" cy="2959000"/>
          </a:xfrm>
          <a:prstGeom prst="rect">
            <a:avLst/>
          </a:prstGeom>
        </p:spPr>
      </p:pic>
      <p:sp>
        <p:nvSpPr>
          <p:cNvPr id="12" name="Rectangle 11"/>
          <p:cNvSpPr/>
          <p:nvPr/>
        </p:nvSpPr>
        <p:spPr>
          <a:xfrm>
            <a:off x="762000" y="1582736"/>
            <a:ext cx="4572000" cy="1200329"/>
          </a:xfrm>
          <a:prstGeom prst="rect">
            <a:avLst/>
          </a:prstGeom>
        </p:spPr>
        <p:txBody>
          <a:bodyPr>
            <a:spAutoFit/>
          </a:bodyPr>
          <a:lstStyle/>
          <a:p>
            <a:r>
              <a:rPr lang="en-US" sz="2400" b="1" dirty="0"/>
              <a:t>Civil engineering</a:t>
            </a:r>
          </a:p>
          <a:p>
            <a:r>
              <a:rPr lang="en-US" sz="2400" b="1" dirty="0"/>
              <a:t>Mechanical engineering</a:t>
            </a:r>
          </a:p>
          <a:p>
            <a:r>
              <a:rPr lang="en-US" sz="2400" b="1" dirty="0"/>
              <a:t>Aeronautics</a:t>
            </a:r>
            <a:endParaRPr lang="en-IN" sz="2400" b="1" dirty="0"/>
          </a:p>
        </p:txBody>
      </p:sp>
      <p:sp>
        <p:nvSpPr>
          <p:cNvPr id="8" name="Footer Placeholder 5"/>
          <p:cNvSpPr>
            <a:spLocks noGrp="1"/>
          </p:cNvSpPr>
          <p:nvPr/>
        </p:nvSpPr>
        <p:spPr>
          <a:xfrm>
            <a:off x="400050" y="6507326"/>
            <a:ext cx="6092276" cy="365125"/>
          </a:xfrm>
          <a:prstGeom prst="rect">
            <a:avLst/>
          </a:prstGeom>
        </p:spPr>
        <p:txBody>
          <a:bodyPr vert="horz" lIns="91440" tIns="45720" rIns="91440" bIns="4572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i="1" dirty="0" smtClean="0"/>
              <a:t>@Dr. </a:t>
            </a:r>
            <a:r>
              <a:rPr lang="en-US" sz="1100" i="1" dirty="0" err="1" smtClean="0"/>
              <a:t>Ugrasen</a:t>
            </a:r>
            <a:r>
              <a:rPr lang="en-US" sz="1100" i="1" dirty="0" smtClean="0"/>
              <a:t> Suman, Professor, SCSIT, DAVV Indore (MP), India</a:t>
            </a:r>
            <a:endParaRPr lang="en-US" sz="1100" i="1" dirty="0"/>
          </a:p>
        </p:txBody>
      </p:sp>
    </p:spTree>
    <p:extLst>
      <p:ext uri="{BB962C8B-B14F-4D97-AF65-F5344CB8AC3E}">
        <p14:creationId xmlns:p14="http://schemas.microsoft.com/office/powerpoint/2010/main" val="2655420664"/>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a:bodyPr>
          <a:lstStyle/>
          <a:p>
            <a:r>
              <a:rPr lang="en-US" sz="3200" b="1" dirty="0" smtClean="0">
                <a:solidFill>
                  <a:srgbClr val="C00000"/>
                </a:solidFill>
                <a:latin typeface="Times New Roman" pitchFamily="18" charset="0"/>
                <a:cs typeface="Times New Roman" pitchFamily="18" charset="0"/>
              </a:rPr>
              <a:t>Other Architectures</a:t>
            </a:r>
            <a:endParaRPr lang="en-US" sz="3200" b="1" dirty="0">
              <a:solidFill>
                <a:srgbClr val="C00000"/>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1143000"/>
            <a:ext cx="8458200" cy="5257800"/>
          </a:xfrm>
        </p:spPr>
        <p:txBody>
          <a:bodyPr>
            <a:noAutofit/>
          </a:bodyPr>
          <a:lstStyle/>
          <a:p>
            <a:pPr>
              <a:buFont typeface="Wingdings" panose="05000000000000000000" pitchFamily="2" charset="2"/>
              <a:buChar char="ü"/>
            </a:pPr>
            <a:r>
              <a:rPr lang="en-IN" sz="2400" dirty="0"/>
              <a:t>Business architecture</a:t>
            </a:r>
          </a:p>
          <a:p>
            <a:pPr>
              <a:buFont typeface="Wingdings" panose="05000000000000000000" pitchFamily="2" charset="2"/>
              <a:buChar char="ü"/>
            </a:pPr>
            <a:r>
              <a:rPr lang="en-IN" sz="2400" dirty="0"/>
              <a:t>Enterprise architecture</a:t>
            </a:r>
          </a:p>
          <a:p>
            <a:pPr>
              <a:buFont typeface="Wingdings" panose="05000000000000000000" pitchFamily="2" charset="2"/>
              <a:buChar char="ü"/>
            </a:pPr>
            <a:r>
              <a:rPr lang="en-IN" sz="2400" dirty="0"/>
              <a:t>Systems architecture</a:t>
            </a:r>
          </a:p>
          <a:p>
            <a:pPr>
              <a:buFont typeface="Wingdings" panose="05000000000000000000" pitchFamily="2" charset="2"/>
              <a:buChar char="ü"/>
            </a:pPr>
            <a:r>
              <a:rPr lang="en-IN" sz="2400" dirty="0"/>
              <a:t>Information architecture</a:t>
            </a:r>
          </a:p>
          <a:p>
            <a:pPr>
              <a:buFont typeface="Wingdings" panose="05000000000000000000" pitchFamily="2" charset="2"/>
              <a:buChar char="ü"/>
            </a:pPr>
            <a:r>
              <a:rPr lang="en-IN" sz="2400" dirty="0"/>
              <a:t>Data architecture</a:t>
            </a:r>
          </a:p>
          <a:p>
            <a:r>
              <a:rPr lang="en-IN" sz="2400" dirty="0"/>
              <a:t>. . .</a:t>
            </a:r>
          </a:p>
          <a:p>
            <a:r>
              <a:rPr lang="en-US" sz="2400" dirty="0"/>
              <a:t>Common things about all: </a:t>
            </a:r>
            <a:r>
              <a:rPr lang="en-US" sz="2400" b="1" dirty="0">
                <a:solidFill>
                  <a:srgbClr val="0000EA"/>
                </a:solidFill>
              </a:rPr>
              <a:t>Structure and vision</a:t>
            </a:r>
            <a:endParaRPr lang="en-US" sz="2400" b="1" dirty="0">
              <a:solidFill>
                <a:srgbClr val="0000EA"/>
              </a:solidFill>
              <a:cs typeface="Times New Roman" pitchFamily="18" charset="0"/>
            </a:endParaRPr>
          </a:p>
        </p:txBody>
      </p:sp>
      <p:sp>
        <p:nvSpPr>
          <p:cNvPr id="5" name="Slide Number Placeholder 4"/>
          <p:cNvSpPr>
            <a:spLocks noGrp="1"/>
          </p:cNvSpPr>
          <p:nvPr>
            <p:ph type="sldNum" sz="quarter" idx="12"/>
          </p:nvPr>
        </p:nvSpPr>
        <p:spPr/>
        <p:txBody>
          <a:bodyPr/>
          <a:lstStyle/>
          <a:p>
            <a:fld id="{26011043-848E-4CA3-808D-B3CFD8CB8118}" type="slidenum">
              <a:rPr lang="en-US" smtClean="0">
                <a:solidFill>
                  <a:prstClr val="black">
                    <a:tint val="75000"/>
                  </a:prstClr>
                </a:solidFill>
              </a:rPr>
              <a:pPr/>
              <a:t>9</a:t>
            </a:fld>
            <a:endParaRPr lang="en-US">
              <a:solidFill>
                <a:prstClr val="black">
                  <a:tint val="75000"/>
                </a:prstClr>
              </a:solidFill>
            </a:endParaRPr>
          </a:p>
        </p:txBody>
      </p:sp>
      <p:sp>
        <p:nvSpPr>
          <p:cNvPr id="6" name="Footer Placeholder 5"/>
          <p:cNvSpPr>
            <a:spLocks noGrp="1"/>
          </p:cNvSpPr>
          <p:nvPr/>
        </p:nvSpPr>
        <p:spPr>
          <a:xfrm>
            <a:off x="400050" y="6507326"/>
            <a:ext cx="6092276" cy="365125"/>
          </a:xfrm>
          <a:prstGeom prst="rect">
            <a:avLst/>
          </a:prstGeom>
        </p:spPr>
        <p:txBody>
          <a:bodyPr vert="horz" lIns="91440" tIns="45720" rIns="91440" bIns="4572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i="1" dirty="0" smtClean="0"/>
              <a:t>@Dr. </a:t>
            </a:r>
            <a:r>
              <a:rPr lang="en-US" sz="1100" i="1" dirty="0" err="1" smtClean="0"/>
              <a:t>Ugrasen</a:t>
            </a:r>
            <a:r>
              <a:rPr lang="en-US" sz="1100" i="1" dirty="0" smtClean="0"/>
              <a:t> Suman, Professor, SCSIT, DAVV Indore (MP), India</a:t>
            </a:r>
            <a:endParaRPr lang="en-US" sz="1100" i="1" dirty="0"/>
          </a:p>
        </p:txBody>
      </p:sp>
    </p:spTree>
    <p:extLst>
      <p:ext uri="{BB962C8B-B14F-4D97-AF65-F5344CB8AC3E}">
        <p14:creationId xmlns:p14="http://schemas.microsoft.com/office/powerpoint/2010/main" val="304820438"/>
      </p:ext>
    </p:extLst>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31763"/>
            <a:ext cx="8229600" cy="715962"/>
          </a:xfrm>
        </p:spPr>
        <p:txBody>
          <a:bodyPr>
            <a:normAutofit/>
          </a:bodyPr>
          <a:lstStyle/>
          <a:p>
            <a:r>
              <a:rPr lang="en-US" sz="3200" b="1" dirty="0" smtClean="0">
                <a:solidFill>
                  <a:srgbClr val="C00000"/>
                </a:solidFill>
                <a:cs typeface="Times New Roman" pitchFamily="18" charset="0"/>
              </a:rPr>
              <a:t>What is Software Architecture?</a:t>
            </a:r>
            <a:endParaRPr lang="en-US" sz="3200" b="1" dirty="0">
              <a:solidFill>
                <a:srgbClr val="C00000"/>
              </a:solidFill>
              <a:cs typeface="Times New Roman" pitchFamily="18" charset="0"/>
            </a:endParaRPr>
          </a:p>
        </p:txBody>
      </p:sp>
      <p:sp>
        <p:nvSpPr>
          <p:cNvPr id="3" name="Content Placeholder 2"/>
          <p:cNvSpPr>
            <a:spLocks noGrp="1"/>
          </p:cNvSpPr>
          <p:nvPr>
            <p:ph idx="1"/>
          </p:nvPr>
        </p:nvSpPr>
        <p:spPr>
          <a:xfrm>
            <a:off x="431800" y="973137"/>
            <a:ext cx="8458200" cy="5257800"/>
          </a:xfrm>
        </p:spPr>
        <p:txBody>
          <a:bodyPr>
            <a:noAutofit/>
          </a:bodyPr>
          <a:lstStyle/>
          <a:p>
            <a:r>
              <a:rPr lang="en-US" sz="2400" dirty="0" smtClean="0">
                <a:cs typeface="Times New Roman" pitchFamily="18" charset="0"/>
              </a:rPr>
              <a:t>The basic principle of Software architecture is every software system is constructed to satisfy an organization’s business goals. </a:t>
            </a:r>
          </a:p>
          <a:p>
            <a:r>
              <a:rPr lang="en-US" sz="2400" dirty="0" smtClean="0">
                <a:cs typeface="Times New Roman" pitchFamily="18" charset="0"/>
              </a:rPr>
              <a:t>Architecture of a system is a bridge between</a:t>
            </a:r>
            <a:r>
              <a:rPr lang="en-US" sz="2400" dirty="0">
                <a:cs typeface="Times New Roman" pitchFamily="18" charset="0"/>
              </a:rPr>
              <a:t>(often abstract) </a:t>
            </a:r>
            <a:r>
              <a:rPr lang="en-US" sz="2400" dirty="0" smtClean="0">
                <a:cs typeface="Times New Roman" pitchFamily="18" charset="0"/>
              </a:rPr>
              <a:t> business goals and the </a:t>
            </a:r>
            <a:r>
              <a:rPr lang="en-US" sz="2400" dirty="0">
                <a:cs typeface="Times New Roman" pitchFamily="18" charset="0"/>
              </a:rPr>
              <a:t>final (concrete)resulting system. </a:t>
            </a:r>
            <a:endParaRPr lang="en-US" sz="2400" dirty="0" smtClean="0">
              <a:cs typeface="Times New Roman" pitchFamily="18" charset="0"/>
            </a:endParaRPr>
          </a:p>
          <a:p>
            <a:r>
              <a:rPr lang="en-US" sz="2400" i="1" dirty="0" smtClean="0">
                <a:solidFill>
                  <a:srgbClr val="C00000"/>
                </a:solidFill>
                <a:cs typeface="Times New Roman" pitchFamily="18" charset="0"/>
              </a:rPr>
              <a:t>Software architecture</a:t>
            </a:r>
            <a:r>
              <a:rPr lang="en-US" sz="2400" i="1" dirty="0" smtClean="0">
                <a:cs typeface="Times New Roman" pitchFamily="18" charset="0"/>
              </a:rPr>
              <a:t> of a system is the structure or structures of the system which comprise software elements, the externally visible properties of those elements, and the relationships among them. </a:t>
            </a:r>
            <a:endParaRPr lang="en-IN" sz="2400" i="1" dirty="0" smtClean="0">
              <a:cs typeface="Times New Roman" pitchFamily="18" charset="0"/>
            </a:endParaRPr>
          </a:p>
          <a:p>
            <a:r>
              <a:rPr lang="en-US" sz="2400" dirty="0" smtClean="0">
                <a:cs typeface="Times New Roman" pitchFamily="18" charset="0"/>
              </a:rPr>
              <a:t>Software architecture is the high level structure of the system and hides the implementation details. </a:t>
            </a:r>
          </a:p>
          <a:p>
            <a:r>
              <a:rPr lang="en-IN" sz="2400" dirty="0">
                <a:solidFill>
                  <a:srgbClr val="C00000"/>
                </a:solidFill>
                <a:cs typeface="Times New Roman" pitchFamily="18" charset="0"/>
              </a:rPr>
              <a:t>Architecture description</a:t>
            </a:r>
            <a:r>
              <a:rPr lang="en-IN" sz="2400" dirty="0">
                <a:cs typeface="Times New Roman" pitchFamily="18" charset="0"/>
              </a:rPr>
              <a:t> is the e</a:t>
            </a:r>
            <a:r>
              <a:rPr lang="en-US" sz="2400" dirty="0" err="1">
                <a:cs typeface="Times New Roman" pitchFamily="18" charset="0"/>
              </a:rPr>
              <a:t>xplicit</a:t>
            </a:r>
            <a:r>
              <a:rPr lang="en-US" sz="2400" dirty="0">
                <a:cs typeface="Times New Roman" pitchFamily="18" charset="0"/>
              </a:rPr>
              <a:t> work product expressing an architecture of a system, usually via models, text and graphics.</a:t>
            </a:r>
            <a:endParaRPr lang="en-IN" sz="2400" dirty="0">
              <a:cs typeface="Times New Roman" pitchFamily="18" charset="0"/>
            </a:endParaRPr>
          </a:p>
          <a:p>
            <a:r>
              <a:rPr lang="en-IN" sz="2400" dirty="0" smtClean="0">
                <a:solidFill>
                  <a:srgbClr val="C00000"/>
                </a:solidFill>
              </a:rPr>
              <a:t>Architecting</a:t>
            </a:r>
            <a:r>
              <a:rPr lang="en-IN" sz="2400" dirty="0" smtClean="0"/>
              <a:t> is the p</a:t>
            </a:r>
            <a:r>
              <a:rPr lang="en-US" sz="2400" dirty="0" err="1" smtClean="0"/>
              <a:t>rocess</a:t>
            </a:r>
            <a:r>
              <a:rPr lang="en-US" sz="2400" dirty="0" smtClean="0"/>
              <a:t> </a:t>
            </a:r>
            <a:r>
              <a:rPr lang="en-US" sz="2400" dirty="0"/>
              <a:t>of creating an </a:t>
            </a:r>
            <a:r>
              <a:rPr lang="en-US" sz="2400" dirty="0" smtClean="0"/>
              <a:t>architecture.</a:t>
            </a:r>
            <a:endParaRPr lang="en-US" sz="2400" dirty="0" smtClean="0">
              <a:cs typeface="Times New Roman" pitchFamily="18" charset="0"/>
            </a:endParaRPr>
          </a:p>
        </p:txBody>
      </p:sp>
      <p:sp>
        <p:nvSpPr>
          <p:cNvPr id="5" name="Slide Number Placeholder 4"/>
          <p:cNvSpPr>
            <a:spLocks noGrp="1"/>
          </p:cNvSpPr>
          <p:nvPr>
            <p:ph type="sldNum" sz="quarter" idx="12"/>
          </p:nvPr>
        </p:nvSpPr>
        <p:spPr/>
        <p:txBody>
          <a:bodyPr/>
          <a:lstStyle/>
          <a:p>
            <a:fld id="{26011043-848E-4CA3-808D-B3CFD8CB8118}" type="slidenum">
              <a:rPr lang="en-US" smtClean="0"/>
              <a:pPr/>
              <a:t>10</a:t>
            </a:fld>
            <a:endParaRPr lang="en-US"/>
          </a:p>
        </p:txBody>
      </p:sp>
      <p:sp>
        <p:nvSpPr>
          <p:cNvPr id="6" name="Footer Placeholder 5"/>
          <p:cNvSpPr>
            <a:spLocks noGrp="1"/>
          </p:cNvSpPr>
          <p:nvPr/>
        </p:nvSpPr>
        <p:spPr>
          <a:xfrm>
            <a:off x="400050" y="6507326"/>
            <a:ext cx="6092276" cy="365125"/>
          </a:xfrm>
          <a:prstGeom prst="rect">
            <a:avLst/>
          </a:prstGeom>
        </p:spPr>
        <p:txBody>
          <a:bodyPr vert="horz" lIns="91440" tIns="45720" rIns="91440" bIns="4572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i="1" dirty="0" smtClean="0"/>
              <a:t>@Dr. </a:t>
            </a:r>
            <a:r>
              <a:rPr lang="en-US" sz="1100" i="1" dirty="0" err="1" smtClean="0"/>
              <a:t>Ugrasen</a:t>
            </a:r>
            <a:r>
              <a:rPr lang="en-US" sz="1100" i="1" dirty="0" smtClean="0"/>
              <a:t> Suman, Professor, SCSIT, DAVV Indore (MP), India</a:t>
            </a:r>
            <a:endParaRPr lang="en-US" sz="1100" i="1" dirty="0"/>
          </a:p>
        </p:txBody>
      </p:sp>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Autofit/>
          </a:bodyPr>
          <a:lstStyle/>
          <a:p>
            <a:r>
              <a:rPr lang="en-US" sz="3200" b="1" dirty="0">
                <a:solidFill>
                  <a:srgbClr val="C00000"/>
                </a:solidFill>
                <a:cs typeface="Times New Roman" pitchFamily="18" charset="0"/>
              </a:rPr>
              <a:t>What is Software Architecture?</a:t>
            </a:r>
            <a:endParaRPr lang="en-IN" sz="3200" dirty="0"/>
          </a:p>
        </p:txBody>
      </p:sp>
      <p:sp>
        <p:nvSpPr>
          <p:cNvPr id="3" name="Content Placeholder 2"/>
          <p:cNvSpPr>
            <a:spLocks noGrp="1"/>
          </p:cNvSpPr>
          <p:nvPr>
            <p:ph idx="1"/>
          </p:nvPr>
        </p:nvSpPr>
        <p:spPr>
          <a:xfrm>
            <a:off x="457200" y="1143000"/>
            <a:ext cx="8229600" cy="4525963"/>
          </a:xfrm>
        </p:spPr>
        <p:txBody>
          <a:bodyPr/>
          <a:lstStyle/>
          <a:p>
            <a:r>
              <a:rPr lang="en-US" dirty="0" smtClean="0"/>
              <a:t>Software architecture </a:t>
            </a:r>
            <a:r>
              <a:rPr lang="en-US" dirty="0"/>
              <a:t>consists of the </a:t>
            </a:r>
            <a:endParaRPr lang="en-US" dirty="0" smtClean="0"/>
          </a:p>
          <a:p>
            <a:pPr lvl="1"/>
            <a:r>
              <a:rPr lang="en-US" dirty="0" smtClean="0"/>
              <a:t>Structure of </a:t>
            </a:r>
            <a:r>
              <a:rPr lang="en-US" dirty="0"/>
              <a:t>the system </a:t>
            </a:r>
            <a:endParaRPr lang="en-US" dirty="0" smtClean="0"/>
          </a:p>
          <a:p>
            <a:pPr lvl="1"/>
            <a:r>
              <a:rPr lang="en-US" dirty="0" smtClean="0"/>
              <a:t>Architecture characteristics</a:t>
            </a:r>
            <a:endParaRPr lang="en-US" dirty="0"/>
          </a:p>
          <a:p>
            <a:pPr lvl="1"/>
            <a:r>
              <a:rPr lang="en-US" dirty="0" smtClean="0"/>
              <a:t>Architecture decisions </a:t>
            </a:r>
          </a:p>
          <a:p>
            <a:pPr lvl="1"/>
            <a:r>
              <a:rPr lang="en-US" dirty="0" smtClean="0"/>
              <a:t>Design principles</a:t>
            </a:r>
            <a:r>
              <a:rPr lang="en-US" dirty="0"/>
              <a:t>.</a:t>
            </a:r>
            <a:endParaRPr lang="en-IN" dirty="0"/>
          </a:p>
        </p:txBody>
      </p:sp>
      <p:sp>
        <p:nvSpPr>
          <p:cNvPr id="4" name="Slide Number Placeholder 3"/>
          <p:cNvSpPr>
            <a:spLocks noGrp="1"/>
          </p:cNvSpPr>
          <p:nvPr>
            <p:ph type="sldNum" sz="quarter" idx="12"/>
          </p:nvPr>
        </p:nvSpPr>
        <p:spPr/>
        <p:txBody>
          <a:bodyPr/>
          <a:lstStyle/>
          <a:p>
            <a:fld id="{26011043-848E-4CA3-808D-B3CFD8CB8118}" type="slidenum">
              <a:rPr lang="en-US" smtClean="0"/>
              <a:pPr/>
              <a:t>11</a:t>
            </a:fld>
            <a:endParaRPr lang="en-US"/>
          </a:p>
        </p:txBody>
      </p:sp>
      <p:sp>
        <p:nvSpPr>
          <p:cNvPr id="5" name="Footer Placeholder 5"/>
          <p:cNvSpPr>
            <a:spLocks noGrp="1"/>
          </p:cNvSpPr>
          <p:nvPr/>
        </p:nvSpPr>
        <p:spPr>
          <a:xfrm>
            <a:off x="400050" y="6507326"/>
            <a:ext cx="6092276" cy="365125"/>
          </a:xfrm>
          <a:prstGeom prst="rect">
            <a:avLst/>
          </a:prstGeom>
        </p:spPr>
        <p:txBody>
          <a:bodyPr vert="horz" lIns="91440" tIns="45720" rIns="91440" bIns="4572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i="1" dirty="0" smtClean="0"/>
              <a:t>@Dr. </a:t>
            </a:r>
            <a:r>
              <a:rPr lang="en-US" sz="1100" i="1" dirty="0" err="1" smtClean="0"/>
              <a:t>Ugrasen</a:t>
            </a:r>
            <a:r>
              <a:rPr lang="en-US" sz="1100" i="1" dirty="0" smtClean="0"/>
              <a:t> Suman, Professor, SCSIT, DAVV Indore (MP), India</a:t>
            </a:r>
            <a:endParaRPr lang="en-US" sz="1100" i="1" dirty="0"/>
          </a:p>
        </p:txBody>
      </p:sp>
    </p:spTree>
    <p:extLst>
      <p:ext uri="{BB962C8B-B14F-4D97-AF65-F5344CB8AC3E}">
        <p14:creationId xmlns:p14="http://schemas.microsoft.com/office/powerpoint/2010/main" val="2078123315"/>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563562"/>
          </a:xfrm>
        </p:spPr>
        <p:txBody>
          <a:bodyPr>
            <a:noAutofit/>
          </a:bodyPr>
          <a:lstStyle/>
          <a:p>
            <a:r>
              <a:rPr lang="en-IN" sz="3200" b="1" dirty="0">
                <a:solidFill>
                  <a:srgbClr val="C00000"/>
                </a:solidFill>
                <a:cs typeface="Times New Roman" pitchFamily="18" charset="0"/>
              </a:rPr>
              <a:t>What is Software Architecture?</a:t>
            </a:r>
          </a:p>
        </p:txBody>
      </p:sp>
      <p:sp>
        <p:nvSpPr>
          <p:cNvPr id="3" name="Content Placeholder 2"/>
          <p:cNvSpPr>
            <a:spLocks noGrp="1"/>
          </p:cNvSpPr>
          <p:nvPr>
            <p:ph idx="1"/>
          </p:nvPr>
        </p:nvSpPr>
        <p:spPr>
          <a:xfrm>
            <a:off x="457200" y="990601"/>
            <a:ext cx="8229600" cy="1143000"/>
          </a:xfrm>
        </p:spPr>
        <p:txBody>
          <a:bodyPr>
            <a:normAutofit lnSpcReduction="10000"/>
          </a:bodyPr>
          <a:lstStyle/>
          <a:p>
            <a:r>
              <a:rPr lang="en-US" sz="2400" dirty="0">
                <a:cs typeface="Times New Roman" pitchFamily="18" charset="0"/>
              </a:rPr>
              <a:t>The </a:t>
            </a:r>
            <a:r>
              <a:rPr lang="en-US" sz="2400" dirty="0">
                <a:solidFill>
                  <a:srgbClr val="FF0000"/>
                </a:solidFill>
                <a:cs typeface="Times New Roman" pitchFamily="18" charset="0"/>
              </a:rPr>
              <a:t>structure </a:t>
            </a:r>
            <a:r>
              <a:rPr lang="en-US" sz="2400" dirty="0">
                <a:cs typeface="Times New Roman" pitchFamily="18" charset="0"/>
              </a:rPr>
              <a:t>of </a:t>
            </a:r>
            <a:r>
              <a:rPr lang="en-US" sz="2400" dirty="0" smtClean="0">
                <a:cs typeface="Times New Roman" pitchFamily="18" charset="0"/>
              </a:rPr>
              <a:t>a system refers </a:t>
            </a:r>
            <a:r>
              <a:rPr lang="en-US" sz="2400" dirty="0">
                <a:cs typeface="Times New Roman" pitchFamily="18" charset="0"/>
              </a:rPr>
              <a:t>to the type of </a:t>
            </a:r>
            <a:r>
              <a:rPr lang="en-US" sz="2400" dirty="0" smtClean="0">
                <a:cs typeface="Times New Roman" pitchFamily="18" charset="0"/>
              </a:rPr>
              <a:t>architecture style </a:t>
            </a:r>
            <a:r>
              <a:rPr lang="en-US" sz="2400" dirty="0">
                <a:cs typeface="Times New Roman" pitchFamily="18" charset="0"/>
              </a:rPr>
              <a:t>(or styles) the system </a:t>
            </a:r>
            <a:r>
              <a:rPr lang="en-US" sz="2400" dirty="0" smtClean="0">
                <a:cs typeface="Times New Roman" pitchFamily="18" charset="0"/>
              </a:rPr>
              <a:t>is implemented </a:t>
            </a:r>
            <a:r>
              <a:rPr lang="en-US" sz="2400" dirty="0">
                <a:cs typeface="Times New Roman" pitchFamily="18" charset="0"/>
              </a:rPr>
              <a:t>in (such as </a:t>
            </a:r>
            <a:r>
              <a:rPr lang="en-US" sz="2400" dirty="0" smtClean="0">
                <a:cs typeface="Times New Roman" pitchFamily="18" charset="0"/>
              </a:rPr>
              <a:t>layered</a:t>
            </a:r>
            <a:r>
              <a:rPr lang="en-US" sz="2400" dirty="0">
                <a:cs typeface="Times New Roman" pitchFamily="18" charset="0"/>
              </a:rPr>
              <a:t>, </a:t>
            </a:r>
            <a:r>
              <a:rPr lang="en-US" sz="2400" dirty="0" smtClean="0">
                <a:cs typeface="Times New Roman" pitchFamily="18" charset="0"/>
              </a:rPr>
              <a:t>or microkernel</a:t>
            </a:r>
            <a:r>
              <a:rPr lang="en-US" sz="2400" dirty="0">
                <a:cs typeface="Times New Roman" pitchFamily="18" charset="0"/>
              </a:rPr>
              <a:t>).</a:t>
            </a:r>
            <a:endParaRPr lang="en-IN" sz="2400" dirty="0">
              <a:cs typeface="Times New Roman" pitchFamily="18" charset="0"/>
            </a:endParaRPr>
          </a:p>
        </p:txBody>
      </p:sp>
      <p:sp>
        <p:nvSpPr>
          <p:cNvPr id="4" name="Slide Number Placeholder 3"/>
          <p:cNvSpPr>
            <a:spLocks noGrp="1"/>
          </p:cNvSpPr>
          <p:nvPr>
            <p:ph type="sldNum" sz="quarter" idx="12"/>
          </p:nvPr>
        </p:nvSpPr>
        <p:spPr/>
        <p:txBody>
          <a:bodyPr/>
          <a:lstStyle/>
          <a:p>
            <a:fld id="{26011043-848E-4CA3-808D-B3CFD8CB8118}" type="slidenum">
              <a:rPr lang="en-US" smtClean="0"/>
              <a:pPr/>
              <a:t>12</a:t>
            </a:fld>
            <a:endParaRPr lang="en-US"/>
          </a:p>
        </p:txBody>
      </p:sp>
      <p:pic>
        <p:nvPicPr>
          <p:cNvPr id="5" name="Picture 4"/>
          <p:cNvPicPr>
            <a:picLocks noChangeAspect="1"/>
          </p:cNvPicPr>
          <p:nvPr/>
        </p:nvPicPr>
        <p:blipFill>
          <a:blip r:embed="rId2"/>
          <a:stretch>
            <a:fillRect/>
          </a:stretch>
        </p:blipFill>
        <p:spPr>
          <a:xfrm>
            <a:off x="1066800" y="2133600"/>
            <a:ext cx="6705600" cy="4038599"/>
          </a:xfrm>
          <a:prstGeom prst="rect">
            <a:avLst/>
          </a:prstGeom>
        </p:spPr>
      </p:pic>
      <p:sp>
        <p:nvSpPr>
          <p:cNvPr id="6" name="Footer Placeholder 5"/>
          <p:cNvSpPr>
            <a:spLocks noGrp="1"/>
          </p:cNvSpPr>
          <p:nvPr/>
        </p:nvSpPr>
        <p:spPr>
          <a:xfrm>
            <a:off x="400050" y="6507326"/>
            <a:ext cx="6092276" cy="365125"/>
          </a:xfrm>
          <a:prstGeom prst="rect">
            <a:avLst/>
          </a:prstGeom>
        </p:spPr>
        <p:txBody>
          <a:bodyPr vert="horz" lIns="91440" tIns="45720" rIns="91440" bIns="4572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i="1" dirty="0" smtClean="0"/>
              <a:t>@Dr. </a:t>
            </a:r>
            <a:r>
              <a:rPr lang="en-US" sz="1100" i="1" dirty="0" err="1" smtClean="0"/>
              <a:t>Ugrasen</a:t>
            </a:r>
            <a:r>
              <a:rPr lang="en-US" sz="1100" i="1" dirty="0" smtClean="0"/>
              <a:t> Suman, Professor, SCSIT, DAVV Indore (MP), India</a:t>
            </a:r>
            <a:endParaRPr lang="en-US" sz="1100" i="1" dirty="0"/>
          </a:p>
        </p:txBody>
      </p:sp>
    </p:spTree>
    <p:extLst>
      <p:ext uri="{BB962C8B-B14F-4D97-AF65-F5344CB8AC3E}">
        <p14:creationId xmlns:p14="http://schemas.microsoft.com/office/powerpoint/2010/main" val="1399694100"/>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0155"/>
            <a:ext cx="8229600" cy="715963"/>
          </a:xfrm>
        </p:spPr>
        <p:txBody>
          <a:bodyPr>
            <a:normAutofit/>
          </a:bodyPr>
          <a:lstStyle/>
          <a:p>
            <a:r>
              <a:rPr lang="en-IN" sz="3200" b="1" dirty="0">
                <a:solidFill>
                  <a:srgbClr val="C00000"/>
                </a:solidFill>
                <a:cs typeface="Times New Roman" pitchFamily="18" charset="0"/>
              </a:rPr>
              <a:t>What is Software Architecture?</a:t>
            </a:r>
            <a:endParaRPr lang="en-IN" sz="3200" dirty="0"/>
          </a:p>
        </p:txBody>
      </p:sp>
      <p:sp>
        <p:nvSpPr>
          <p:cNvPr id="4" name="Slide Number Placeholder 3"/>
          <p:cNvSpPr>
            <a:spLocks noGrp="1"/>
          </p:cNvSpPr>
          <p:nvPr>
            <p:ph type="sldNum" sz="quarter" idx="12"/>
          </p:nvPr>
        </p:nvSpPr>
        <p:spPr/>
        <p:txBody>
          <a:bodyPr/>
          <a:lstStyle/>
          <a:p>
            <a:fld id="{26011043-848E-4CA3-808D-B3CFD8CB8118}" type="slidenum">
              <a:rPr lang="en-US" smtClean="0"/>
              <a:pPr/>
              <a:t>13</a:t>
            </a:fld>
            <a:endParaRPr lang="en-US"/>
          </a:p>
        </p:txBody>
      </p:sp>
      <p:pic>
        <p:nvPicPr>
          <p:cNvPr id="5" name="Picture 4"/>
          <p:cNvPicPr>
            <a:picLocks noChangeAspect="1"/>
          </p:cNvPicPr>
          <p:nvPr/>
        </p:nvPicPr>
        <p:blipFill>
          <a:blip r:embed="rId2"/>
          <a:stretch>
            <a:fillRect/>
          </a:stretch>
        </p:blipFill>
        <p:spPr>
          <a:xfrm>
            <a:off x="1143000" y="2004817"/>
            <a:ext cx="6858000" cy="4334600"/>
          </a:xfrm>
          <a:prstGeom prst="rect">
            <a:avLst/>
          </a:prstGeom>
        </p:spPr>
      </p:pic>
      <p:sp>
        <p:nvSpPr>
          <p:cNvPr id="6" name="Content Placeholder 2"/>
          <p:cNvSpPr>
            <a:spLocks noGrp="1"/>
          </p:cNvSpPr>
          <p:nvPr>
            <p:ph idx="1"/>
          </p:nvPr>
        </p:nvSpPr>
        <p:spPr>
          <a:xfrm>
            <a:off x="685800" y="999068"/>
            <a:ext cx="8229600" cy="829732"/>
          </a:xfrm>
        </p:spPr>
        <p:txBody>
          <a:bodyPr>
            <a:normAutofit/>
          </a:bodyPr>
          <a:lstStyle/>
          <a:p>
            <a:r>
              <a:rPr lang="en-US" sz="2400" dirty="0">
                <a:solidFill>
                  <a:srgbClr val="FF0000"/>
                </a:solidFill>
              </a:rPr>
              <a:t>Architecture characteristics </a:t>
            </a:r>
            <a:r>
              <a:rPr lang="en-US" sz="2400" dirty="0"/>
              <a:t>refers to the “-</a:t>
            </a:r>
            <a:r>
              <a:rPr lang="en-US" sz="2400" dirty="0" err="1"/>
              <a:t>ilities</a:t>
            </a:r>
            <a:r>
              <a:rPr lang="en-US" sz="2400" dirty="0"/>
              <a:t>” that the system </a:t>
            </a:r>
            <a:r>
              <a:rPr lang="en-US" sz="2400" dirty="0" smtClean="0"/>
              <a:t>must </a:t>
            </a:r>
            <a:r>
              <a:rPr lang="en-IN" sz="2400" dirty="0" smtClean="0"/>
              <a:t>support.</a:t>
            </a:r>
            <a:endParaRPr lang="en-IN" sz="2400" dirty="0">
              <a:cs typeface="Times New Roman" pitchFamily="18" charset="0"/>
            </a:endParaRPr>
          </a:p>
        </p:txBody>
      </p:sp>
      <p:sp>
        <p:nvSpPr>
          <p:cNvPr id="7" name="Footer Placeholder 5"/>
          <p:cNvSpPr>
            <a:spLocks noGrp="1"/>
          </p:cNvSpPr>
          <p:nvPr/>
        </p:nvSpPr>
        <p:spPr>
          <a:xfrm>
            <a:off x="400050" y="6507326"/>
            <a:ext cx="6092276" cy="365125"/>
          </a:xfrm>
          <a:prstGeom prst="rect">
            <a:avLst/>
          </a:prstGeom>
        </p:spPr>
        <p:txBody>
          <a:bodyPr vert="horz" lIns="91440" tIns="45720" rIns="91440" bIns="4572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i="1" dirty="0" smtClean="0"/>
              <a:t>@Dr. </a:t>
            </a:r>
            <a:r>
              <a:rPr lang="en-US" sz="1100" i="1" dirty="0" err="1" smtClean="0"/>
              <a:t>Ugrasen</a:t>
            </a:r>
            <a:r>
              <a:rPr lang="en-US" sz="1100" i="1" dirty="0" smtClean="0"/>
              <a:t> Suman, Professor, SCSIT, DAVV Indore (MP), India</a:t>
            </a:r>
            <a:endParaRPr lang="en-US" sz="1100" i="1" dirty="0"/>
          </a:p>
        </p:txBody>
      </p:sp>
    </p:spTree>
    <p:extLst>
      <p:ext uri="{BB962C8B-B14F-4D97-AF65-F5344CB8AC3E}">
        <p14:creationId xmlns:p14="http://schemas.microsoft.com/office/powerpoint/2010/main" val="3452608929"/>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IN" sz="3200" b="1" dirty="0">
                <a:solidFill>
                  <a:srgbClr val="C00000"/>
                </a:solidFill>
                <a:cs typeface="Times New Roman" pitchFamily="18" charset="0"/>
              </a:rPr>
              <a:t>What is Software Architecture?</a:t>
            </a:r>
            <a:endParaRPr lang="en-IN" sz="3200" dirty="0"/>
          </a:p>
        </p:txBody>
      </p:sp>
      <p:pic>
        <p:nvPicPr>
          <p:cNvPr id="5" name="Content Placeholder 4"/>
          <p:cNvPicPr>
            <a:picLocks noGrp="1" noChangeAspect="1"/>
          </p:cNvPicPr>
          <p:nvPr>
            <p:ph idx="1"/>
          </p:nvPr>
        </p:nvPicPr>
        <p:blipFill>
          <a:blip r:embed="rId2"/>
          <a:stretch>
            <a:fillRect/>
          </a:stretch>
        </p:blipFill>
        <p:spPr>
          <a:xfrm>
            <a:off x="990600" y="1600200"/>
            <a:ext cx="7086600" cy="4648200"/>
          </a:xfrm>
          <a:prstGeom prst="rect">
            <a:avLst/>
          </a:prstGeom>
        </p:spPr>
      </p:pic>
      <p:sp>
        <p:nvSpPr>
          <p:cNvPr id="4" name="Slide Number Placeholder 3"/>
          <p:cNvSpPr>
            <a:spLocks noGrp="1"/>
          </p:cNvSpPr>
          <p:nvPr>
            <p:ph type="sldNum" sz="quarter" idx="12"/>
          </p:nvPr>
        </p:nvSpPr>
        <p:spPr/>
        <p:txBody>
          <a:bodyPr/>
          <a:lstStyle/>
          <a:p>
            <a:fld id="{26011043-848E-4CA3-808D-B3CFD8CB8118}" type="slidenum">
              <a:rPr lang="en-US" smtClean="0"/>
              <a:pPr/>
              <a:t>14</a:t>
            </a:fld>
            <a:endParaRPr lang="en-US"/>
          </a:p>
        </p:txBody>
      </p:sp>
      <p:sp>
        <p:nvSpPr>
          <p:cNvPr id="8" name="Content Placeholder 2"/>
          <p:cNvSpPr txBox="1">
            <a:spLocks/>
          </p:cNvSpPr>
          <p:nvPr/>
        </p:nvSpPr>
        <p:spPr>
          <a:xfrm>
            <a:off x="685800" y="999068"/>
            <a:ext cx="8229600" cy="11430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400" dirty="0" smtClean="0">
                <a:solidFill>
                  <a:srgbClr val="FF0000"/>
                </a:solidFill>
                <a:cs typeface="Times New Roman" pitchFamily="18" charset="0"/>
              </a:rPr>
              <a:t>Architecture decisions </a:t>
            </a:r>
            <a:r>
              <a:rPr lang="en-US" sz="2400" dirty="0" smtClean="0">
                <a:cs typeface="Times New Roman" pitchFamily="18" charset="0"/>
              </a:rPr>
              <a:t>are rules for constructing systems</a:t>
            </a:r>
            <a:endParaRPr lang="en-IN" sz="2400" dirty="0">
              <a:cs typeface="Times New Roman" pitchFamily="18" charset="0"/>
            </a:endParaRPr>
          </a:p>
        </p:txBody>
      </p:sp>
      <p:sp>
        <p:nvSpPr>
          <p:cNvPr id="6" name="Footer Placeholder 5"/>
          <p:cNvSpPr>
            <a:spLocks noGrp="1"/>
          </p:cNvSpPr>
          <p:nvPr/>
        </p:nvSpPr>
        <p:spPr>
          <a:xfrm>
            <a:off x="400050" y="6507326"/>
            <a:ext cx="6092276" cy="365125"/>
          </a:xfrm>
          <a:prstGeom prst="rect">
            <a:avLst/>
          </a:prstGeom>
        </p:spPr>
        <p:txBody>
          <a:bodyPr vert="horz" lIns="91440" tIns="45720" rIns="91440" bIns="4572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i="1" dirty="0" smtClean="0"/>
              <a:t>@Dr. </a:t>
            </a:r>
            <a:r>
              <a:rPr lang="en-US" sz="1100" i="1" dirty="0" err="1" smtClean="0"/>
              <a:t>Ugrasen</a:t>
            </a:r>
            <a:r>
              <a:rPr lang="en-US" sz="1100" i="1" dirty="0" smtClean="0"/>
              <a:t> Suman, Professor, SCSIT, DAVV Indore (MP), India</a:t>
            </a:r>
            <a:endParaRPr lang="en-US" sz="1100" i="1" dirty="0"/>
          </a:p>
        </p:txBody>
      </p:sp>
    </p:spTree>
    <p:extLst>
      <p:ext uri="{BB962C8B-B14F-4D97-AF65-F5344CB8AC3E}">
        <p14:creationId xmlns:p14="http://schemas.microsoft.com/office/powerpoint/2010/main" val="437501613"/>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a:bodyPr>
          <a:lstStyle/>
          <a:p>
            <a:r>
              <a:rPr lang="en-IN" sz="3200" b="1" dirty="0">
                <a:solidFill>
                  <a:srgbClr val="C00000"/>
                </a:solidFill>
                <a:cs typeface="Times New Roman" pitchFamily="18" charset="0"/>
              </a:rPr>
              <a:t>What is Software Architecture?</a:t>
            </a:r>
            <a:endParaRPr lang="en-IN" sz="3200" dirty="0"/>
          </a:p>
        </p:txBody>
      </p:sp>
      <p:sp>
        <p:nvSpPr>
          <p:cNvPr id="3" name="Content Placeholder 2"/>
          <p:cNvSpPr>
            <a:spLocks noGrp="1"/>
          </p:cNvSpPr>
          <p:nvPr>
            <p:ph idx="1"/>
          </p:nvPr>
        </p:nvSpPr>
        <p:spPr>
          <a:xfrm>
            <a:off x="457200" y="1028700"/>
            <a:ext cx="8229600" cy="962712"/>
          </a:xfrm>
        </p:spPr>
        <p:txBody>
          <a:bodyPr>
            <a:normAutofit/>
          </a:bodyPr>
          <a:lstStyle/>
          <a:p>
            <a:r>
              <a:rPr lang="en-US" sz="2400" dirty="0" smtClean="0">
                <a:solidFill>
                  <a:srgbClr val="FF0000"/>
                </a:solidFill>
              </a:rPr>
              <a:t>Architectural principles </a:t>
            </a:r>
            <a:r>
              <a:rPr lang="en-US" sz="2400" dirty="0" smtClean="0"/>
              <a:t>are guidelines for constructing a system. </a:t>
            </a:r>
          </a:p>
          <a:p>
            <a:endParaRPr lang="en-IN" sz="2400" dirty="0"/>
          </a:p>
        </p:txBody>
      </p:sp>
      <p:sp>
        <p:nvSpPr>
          <p:cNvPr id="4" name="Slide Number Placeholder 3"/>
          <p:cNvSpPr>
            <a:spLocks noGrp="1"/>
          </p:cNvSpPr>
          <p:nvPr>
            <p:ph type="sldNum" sz="quarter" idx="12"/>
          </p:nvPr>
        </p:nvSpPr>
        <p:spPr/>
        <p:txBody>
          <a:bodyPr/>
          <a:lstStyle/>
          <a:p>
            <a:fld id="{26011043-848E-4CA3-808D-B3CFD8CB8118}" type="slidenum">
              <a:rPr lang="en-US" smtClean="0"/>
              <a:pPr/>
              <a:t>15</a:t>
            </a:fld>
            <a:endParaRPr lang="en-US"/>
          </a:p>
        </p:txBody>
      </p:sp>
      <p:pic>
        <p:nvPicPr>
          <p:cNvPr id="6" name="Picture 5"/>
          <p:cNvPicPr>
            <a:picLocks noChangeAspect="1"/>
          </p:cNvPicPr>
          <p:nvPr/>
        </p:nvPicPr>
        <p:blipFill>
          <a:blip r:embed="rId2"/>
          <a:stretch>
            <a:fillRect/>
          </a:stretch>
        </p:blipFill>
        <p:spPr>
          <a:xfrm>
            <a:off x="1028700" y="1905000"/>
            <a:ext cx="7086600" cy="4451350"/>
          </a:xfrm>
          <a:prstGeom prst="rect">
            <a:avLst/>
          </a:prstGeom>
        </p:spPr>
      </p:pic>
      <p:sp>
        <p:nvSpPr>
          <p:cNvPr id="7" name="Footer Placeholder 5"/>
          <p:cNvSpPr>
            <a:spLocks noGrp="1"/>
          </p:cNvSpPr>
          <p:nvPr/>
        </p:nvSpPr>
        <p:spPr>
          <a:xfrm>
            <a:off x="400050" y="6507326"/>
            <a:ext cx="6092276" cy="365125"/>
          </a:xfrm>
          <a:prstGeom prst="rect">
            <a:avLst/>
          </a:prstGeom>
        </p:spPr>
        <p:txBody>
          <a:bodyPr vert="horz" lIns="91440" tIns="45720" rIns="91440" bIns="4572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i="1" dirty="0" smtClean="0"/>
              <a:t>@Dr. </a:t>
            </a:r>
            <a:r>
              <a:rPr lang="en-US" sz="1100" i="1" dirty="0" err="1" smtClean="0"/>
              <a:t>Ugrasen</a:t>
            </a:r>
            <a:r>
              <a:rPr lang="en-US" sz="1100" i="1" dirty="0" smtClean="0"/>
              <a:t> Suman, Professor, SCSIT, DAVV Indore (MP), India</a:t>
            </a:r>
            <a:endParaRPr lang="en-US" sz="1100" i="1" dirty="0"/>
          </a:p>
        </p:txBody>
      </p:sp>
    </p:spTree>
    <p:extLst>
      <p:ext uri="{BB962C8B-B14F-4D97-AF65-F5344CB8AC3E}">
        <p14:creationId xmlns:p14="http://schemas.microsoft.com/office/powerpoint/2010/main" val="2558290846"/>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a:bodyPr>
          <a:lstStyle/>
          <a:p>
            <a:r>
              <a:rPr lang="en-US" sz="3200" b="1" dirty="0" smtClean="0">
                <a:solidFill>
                  <a:srgbClr val="C00000"/>
                </a:solidFill>
                <a:latin typeface="Times New Roman" pitchFamily="18" charset="0"/>
                <a:cs typeface="Times New Roman" pitchFamily="18" charset="0"/>
              </a:rPr>
              <a:t>What is Software Architecture?</a:t>
            </a:r>
            <a:endParaRPr lang="en-US" sz="3200" b="1" dirty="0">
              <a:solidFill>
                <a:srgbClr val="C00000"/>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1143000"/>
            <a:ext cx="8458200" cy="5257800"/>
          </a:xfrm>
        </p:spPr>
        <p:txBody>
          <a:bodyPr>
            <a:noAutofit/>
          </a:bodyPr>
          <a:lstStyle/>
          <a:p>
            <a:r>
              <a:rPr lang="en-US" sz="2400" dirty="0" smtClean="0">
                <a:cs typeface="Times New Roman" pitchFamily="18" charset="0"/>
              </a:rPr>
              <a:t>Architecture is a set of software structures</a:t>
            </a:r>
          </a:p>
          <a:p>
            <a:pPr lvl="1"/>
            <a:r>
              <a:rPr lang="en-US" sz="2400" i="1" dirty="0" smtClean="0">
                <a:cs typeface="Times New Roman" pitchFamily="18" charset="0"/>
              </a:rPr>
              <a:t>Component and connector structure</a:t>
            </a:r>
          </a:p>
          <a:p>
            <a:pPr lvl="1"/>
            <a:r>
              <a:rPr lang="en-US" sz="2400" i="1" dirty="0" smtClean="0">
                <a:cs typeface="Times New Roman" pitchFamily="18" charset="0"/>
              </a:rPr>
              <a:t>Module structure</a:t>
            </a:r>
          </a:p>
          <a:p>
            <a:pPr lvl="1"/>
            <a:r>
              <a:rPr lang="en-US" sz="2400" i="1" dirty="0" smtClean="0">
                <a:cs typeface="Times New Roman" pitchFamily="18" charset="0"/>
              </a:rPr>
              <a:t>Allocation structure </a:t>
            </a:r>
            <a:endParaRPr lang="en-IN" sz="2400" i="1" dirty="0">
              <a:cs typeface="Times New Roman" pitchFamily="18" charset="0"/>
            </a:endParaRPr>
          </a:p>
          <a:p>
            <a:pPr marL="342900" lvl="1" indent="-342900">
              <a:buFont typeface="Arial" pitchFamily="34" charset="0"/>
              <a:buChar char="•"/>
            </a:pPr>
            <a:r>
              <a:rPr lang="en-US" sz="2400" dirty="0">
                <a:cs typeface="Times New Roman" pitchFamily="18" charset="0"/>
              </a:rPr>
              <a:t>Architecture is an </a:t>
            </a:r>
            <a:r>
              <a:rPr lang="en-US" sz="2400" dirty="0" smtClean="0">
                <a:cs typeface="Times New Roman" pitchFamily="18" charset="0"/>
              </a:rPr>
              <a:t>abstraction</a:t>
            </a:r>
          </a:p>
          <a:p>
            <a:pPr marL="342900" lvl="1" indent="-342900">
              <a:buFont typeface="Arial" pitchFamily="34" charset="0"/>
              <a:buChar char="•"/>
            </a:pPr>
            <a:r>
              <a:rPr lang="en-US" sz="2400" dirty="0" smtClean="0">
                <a:cs typeface="Times New Roman" pitchFamily="18" charset="0"/>
              </a:rPr>
              <a:t>Architecture is design but not all design is architecture </a:t>
            </a:r>
            <a:r>
              <a:rPr lang="en-US" sz="2400" i="1" dirty="0" smtClean="0">
                <a:cs typeface="Times New Roman" pitchFamily="18" charset="0"/>
              </a:rPr>
              <a:t>(G. </a:t>
            </a:r>
            <a:r>
              <a:rPr lang="en-US" sz="2400" i="1" dirty="0" err="1" smtClean="0">
                <a:cs typeface="Times New Roman" pitchFamily="18" charset="0"/>
              </a:rPr>
              <a:t>Booch</a:t>
            </a:r>
            <a:r>
              <a:rPr lang="en-US" sz="2400" i="1" dirty="0" smtClean="0">
                <a:cs typeface="Times New Roman" pitchFamily="18" charset="0"/>
              </a:rPr>
              <a:t>)</a:t>
            </a:r>
          </a:p>
          <a:p>
            <a:pPr marL="342900" lvl="1" indent="-342900">
              <a:buFont typeface="Arial" pitchFamily="34" charset="0"/>
              <a:buChar char="•"/>
            </a:pPr>
            <a:r>
              <a:rPr lang="en-US" sz="2400" dirty="0" smtClean="0">
                <a:cs typeface="Times New Roman" pitchFamily="18" charset="0"/>
              </a:rPr>
              <a:t>Every software system has a software architecture</a:t>
            </a:r>
          </a:p>
          <a:p>
            <a:pPr marL="342900" lvl="1" indent="-342900">
              <a:buFont typeface="Arial" pitchFamily="34" charset="0"/>
              <a:buChar char="•"/>
            </a:pPr>
            <a:r>
              <a:rPr lang="en-US" sz="2400" dirty="0" smtClean="0">
                <a:cs typeface="Times New Roman" pitchFamily="18" charset="0"/>
              </a:rPr>
              <a:t>Not all architecture are good architecture</a:t>
            </a:r>
          </a:p>
          <a:p>
            <a:pPr marL="342900" lvl="1" indent="-342900">
              <a:buFont typeface="Arial" pitchFamily="34" charset="0"/>
              <a:buChar char="•"/>
            </a:pPr>
            <a:r>
              <a:rPr lang="en-US" sz="2400" dirty="0" smtClean="0">
                <a:cs typeface="Times New Roman" pitchFamily="18" charset="0"/>
              </a:rPr>
              <a:t>Architecture includes </a:t>
            </a:r>
            <a:r>
              <a:rPr lang="en-US" sz="2400" dirty="0" err="1" smtClean="0">
                <a:cs typeface="Times New Roman" pitchFamily="18" charset="0"/>
              </a:rPr>
              <a:t>behaviour</a:t>
            </a:r>
            <a:endParaRPr lang="en-US" sz="2400" dirty="0">
              <a:cs typeface="Times New Roman" pitchFamily="18" charset="0"/>
            </a:endParaRPr>
          </a:p>
        </p:txBody>
      </p:sp>
      <p:sp>
        <p:nvSpPr>
          <p:cNvPr id="5" name="Slide Number Placeholder 4"/>
          <p:cNvSpPr>
            <a:spLocks noGrp="1"/>
          </p:cNvSpPr>
          <p:nvPr>
            <p:ph type="sldNum" sz="quarter" idx="12"/>
          </p:nvPr>
        </p:nvSpPr>
        <p:spPr/>
        <p:txBody>
          <a:bodyPr/>
          <a:lstStyle/>
          <a:p>
            <a:fld id="{26011043-848E-4CA3-808D-B3CFD8CB8118}" type="slidenum">
              <a:rPr lang="en-US" smtClean="0">
                <a:solidFill>
                  <a:prstClr val="black">
                    <a:tint val="75000"/>
                  </a:prstClr>
                </a:solidFill>
              </a:rPr>
              <a:pPr/>
              <a:t>16</a:t>
            </a:fld>
            <a:endParaRPr lang="en-US">
              <a:solidFill>
                <a:prstClr val="black">
                  <a:tint val="75000"/>
                </a:prstClr>
              </a:solidFill>
            </a:endParaRPr>
          </a:p>
        </p:txBody>
      </p:sp>
      <p:sp>
        <p:nvSpPr>
          <p:cNvPr id="6" name="Footer Placeholder 5"/>
          <p:cNvSpPr>
            <a:spLocks noGrp="1"/>
          </p:cNvSpPr>
          <p:nvPr/>
        </p:nvSpPr>
        <p:spPr>
          <a:xfrm>
            <a:off x="400050" y="6507326"/>
            <a:ext cx="6092276" cy="365125"/>
          </a:xfrm>
          <a:prstGeom prst="rect">
            <a:avLst/>
          </a:prstGeom>
        </p:spPr>
        <p:txBody>
          <a:bodyPr vert="horz" lIns="91440" tIns="45720" rIns="91440" bIns="4572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i="1" dirty="0" smtClean="0"/>
              <a:t>@Dr. </a:t>
            </a:r>
            <a:r>
              <a:rPr lang="en-US" sz="1100" i="1" dirty="0" err="1" smtClean="0"/>
              <a:t>Ugrasen</a:t>
            </a:r>
            <a:r>
              <a:rPr lang="en-US" sz="1100" i="1" dirty="0" smtClean="0"/>
              <a:t> Suman, Professor, SCSIT, DAVV Indore (MP), India</a:t>
            </a:r>
            <a:endParaRPr lang="en-US" sz="1100" i="1" dirty="0"/>
          </a:p>
        </p:txBody>
      </p:sp>
    </p:spTree>
    <p:extLst>
      <p:ext uri="{BB962C8B-B14F-4D97-AF65-F5344CB8AC3E}">
        <p14:creationId xmlns:p14="http://schemas.microsoft.com/office/powerpoint/2010/main" val="2838371444"/>
      </p:ext>
    </p:extLst>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868362"/>
          </a:xfrm>
        </p:spPr>
        <p:txBody>
          <a:bodyPr vert="horz" lIns="91440" tIns="45720" rIns="91440" bIns="45720" rtlCol="0" anchor="ctr">
            <a:noAutofit/>
          </a:bodyPr>
          <a:lstStyle/>
          <a:p>
            <a:r>
              <a:rPr lang="en-US" sz="3200" b="1" dirty="0">
                <a:solidFill>
                  <a:srgbClr val="C00000"/>
                </a:solidFill>
                <a:cs typeface="Times New Roman" pitchFamily="18" charset="0"/>
              </a:rPr>
              <a:t>Importance of Software Architecture</a:t>
            </a:r>
          </a:p>
        </p:txBody>
      </p:sp>
      <p:sp>
        <p:nvSpPr>
          <p:cNvPr id="3" name="Content Placeholder 2"/>
          <p:cNvSpPr>
            <a:spLocks noGrp="1"/>
          </p:cNvSpPr>
          <p:nvPr>
            <p:ph idx="1"/>
          </p:nvPr>
        </p:nvSpPr>
        <p:spPr>
          <a:xfrm>
            <a:off x="304800" y="953029"/>
            <a:ext cx="8534400" cy="4754563"/>
          </a:xfrm>
        </p:spPr>
        <p:txBody>
          <a:bodyPr>
            <a:noAutofit/>
          </a:bodyPr>
          <a:lstStyle/>
          <a:p>
            <a:pPr marL="449263" lvl="1" indent="-355600" algn="just">
              <a:buFont typeface="Wingdings" pitchFamily="2" charset="2"/>
              <a:buChar char="Ø"/>
            </a:pPr>
            <a:r>
              <a:rPr lang="en-US" sz="2000" dirty="0" smtClean="0">
                <a:cs typeface="Times New Roman" pitchFamily="18" charset="0"/>
              </a:rPr>
              <a:t>An architecture can either inhibit or enable a system’s quality attributes and helps for quality prediction</a:t>
            </a:r>
          </a:p>
          <a:p>
            <a:pPr marL="449263" lvl="1" indent="-355600" algn="just">
              <a:buFont typeface="Wingdings" pitchFamily="2" charset="2"/>
              <a:buChar char="Ø"/>
            </a:pPr>
            <a:r>
              <a:rPr lang="en-US" sz="2000" dirty="0" smtClean="0">
                <a:cs typeface="Times New Roman" pitchFamily="18" charset="0"/>
              </a:rPr>
              <a:t>Provide </a:t>
            </a:r>
            <a:r>
              <a:rPr lang="en-US" sz="2000" dirty="0">
                <a:cs typeface="Times New Roman" pitchFamily="18" charset="0"/>
              </a:rPr>
              <a:t>a clear vision and </a:t>
            </a:r>
            <a:r>
              <a:rPr lang="en-US" sz="2000" dirty="0" smtClean="0">
                <a:cs typeface="Times New Roman" pitchFamily="18" charset="0"/>
              </a:rPr>
              <a:t>roadmap for </a:t>
            </a:r>
            <a:r>
              <a:rPr lang="en-US" sz="2000" dirty="0">
                <a:cs typeface="Times New Roman" pitchFamily="18" charset="0"/>
              </a:rPr>
              <a:t>the </a:t>
            </a:r>
            <a:r>
              <a:rPr lang="en-US" sz="2000" dirty="0" smtClean="0">
                <a:cs typeface="Times New Roman" pitchFamily="18" charset="0"/>
              </a:rPr>
              <a:t>team to technical </a:t>
            </a:r>
            <a:r>
              <a:rPr lang="en-US" sz="2000" dirty="0">
                <a:cs typeface="Times New Roman" pitchFamily="18" charset="0"/>
              </a:rPr>
              <a:t>leadership and better coordination</a:t>
            </a:r>
          </a:p>
          <a:p>
            <a:pPr marL="449263" lvl="1" indent="-355600" algn="just">
              <a:buFont typeface="Wingdings" pitchFamily="2" charset="2"/>
              <a:buChar char="Ø"/>
            </a:pPr>
            <a:r>
              <a:rPr lang="en-US" sz="2000" dirty="0" smtClean="0">
                <a:cs typeface="Times New Roman" pitchFamily="18" charset="0"/>
              </a:rPr>
              <a:t>Early design decisions</a:t>
            </a:r>
          </a:p>
          <a:p>
            <a:pPr marL="449263" lvl="1" indent="-355600" algn="just">
              <a:buFont typeface="Wingdings" pitchFamily="2" charset="2"/>
              <a:buChar char="Ø"/>
            </a:pPr>
            <a:r>
              <a:rPr lang="en-US" sz="2000" dirty="0" smtClean="0">
                <a:cs typeface="Times New Roman" pitchFamily="18" charset="0"/>
              </a:rPr>
              <a:t>Promotes reuse</a:t>
            </a:r>
          </a:p>
          <a:p>
            <a:pPr marL="449263" lvl="1" indent="-355600" algn="just">
              <a:buFont typeface="Wingdings" pitchFamily="2" charset="2"/>
              <a:buChar char="Ø"/>
            </a:pPr>
            <a:r>
              <a:rPr lang="en-US" sz="2000" dirty="0" smtClean="0">
                <a:cs typeface="Times New Roman" pitchFamily="18" charset="0"/>
              </a:rPr>
              <a:t>Analyzing and describing the high-level properties of a software system</a:t>
            </a:r>
          </a:p>
          <a:p>
            <a:pPr marL="449263" lvl="1" indent="-355600" algn="just">
              <a:buFont typeface="Wingdings" pitchFamily="2" charset="2"/>
              <a:buChar char="Ø"/>
            </a:pPr>
            <a:r>
              <a:rPr lang="en-US" sz="2000" dirty="0" smtClean="0">
                <a:cs typeface="Times New Roman" pitchFamily="18" charset="0"/>
              </a:rPr>
              <a:t>Construction and </a:t>
            </a:r>
            <a:r>
              <a:rPr lang="en-US" sz="2000" dirty="0">
                <a:cs typeface="Times New Roman" pitchFamily="18" charset="0"/>
              </a:rPr>
              <a:t>evolution and </a:t>
            </a:r>
            <a:r>
              <a:rPr lang="en-US" sz="2000" dirty="0" smtClean="0">
                <a:cs typeface="Times New Roman" pitchFamily="18" charset="0"/>
              </a:rPr>
              <a:t>firm </a:t>
            </a:r>
            <a:r>
              <a:rPr lang="en-US" sz="2000" dirty="0">
                <a:cs typeface="Times New Roman" pitchFamily="18" charset="0"/>
              </a:rPr>
              <a:t>foundations for the product being built</a:t>
            </a:r>
            <a:endParaRPr lang="en-US" sz="2000" dirty="0" smtClean="0">
              <a:cs typeface="Times New Roman" pitchFamily="18" charset="0"/>
            </a:endParaRPr>
          </a:p>
          <a:p>
            <a:pPr marL="449263" lvl="1" indent="-355600" algn="just">
              <a:buFont typeface="Wingdings" pitchFamily="2" charset="2"/>
              <a:buChar char="Ø"/>
            </a:pPr>
            <a:r>
              <a:rPr lang="en-US" sz="2000" dirty="0" smtClean="0">
                <a:cs typeface="Times New Roman" pitchFamily="18" charset="0"/>
              </a:rPr>
              <a:t>It is basis for incremental development</a:t>
            </a:r>
          </a:p>
          <a:p>
            <a:pPr marL="449263" lvl="1" indent="-355600" algn="just">
              <a:buFont typeface="Wingdings" pitchFamily="2" charset="2"/>
              <a:buChar char="Ø"/>
            </a:pPr>
            <a:r>
              <a:rPr lang="en-US" sz="2000" dirty="0">
                <a:cs typeface="Times New Roman" pitchFamily="18" charset="0"/>
              </a:rPr>
              <a:t>Identifying and mitigating risk</a:t>
            </a:r>
            <a:endParaRPr lang="en-US" sz="2000" dirty="0" smtClean="0">
              <a:cs typeface="Times New Roman" pitchFamily="18" charset="0"/>
            </a:endParaRPr>
          </a:p>
          <a:p>
            <a:pPr marL="449263" lvl="1" indent="-355600" algn="just">
              <a:buFont typeface="Wingdings" pitchFamily="2" charset="2"/>
              <a:buChar char="Ø"/>
            </a:pPr>
            <a:r>
              <a:rPr lang="en-US" sz="2000" dirty="0" smtClean="0">
                <a:cs typeface="Times New Roman" pitchFamily="18" charset="0"/>
              </a:rPr>
              <a:t>It allows the architect and the project manager to reason about cost and schedule </a:t>
            </a:r>
          </a:p>
          <a:p>
            <a:pPr marL="449263" lvl="1" indent="-355600" algn="just">
              <a:buFont typeface="Wingdings" pitchFamily="2" charset="2"/>
              <a:buChar char="Ø"/>
            </a:pPr>
            <a:r>
              <a:rPr lang="en-US" sz="2000" dirty="0" smtClean="0">
                <a:cs typeface="Times New Roman" pitchFamily="18" charset="0"/>
              </a:rPr>
              <a:t>Foundation for training of a new team member</a:t>
            </a:r>
          </a:p>
          <a:p>
            <a:pPr marL="449263" lvl="1" indent="-355600" algn="just">
              <a:buFont typeface="Wingdings" pitchFamily="2" charset="2"/>
              <a:buChar char="Ø"/>
            </a:pPr>
            <a:r>
              <a:rPr lang="en-US" sz="2000" dirty="0" smtClean="0">
                <a:cs typeface="Times New Roman" pitchFamily="18" charset="0"/>
              </a:rPr>
              <a:t>Architecture dictates the structure of an organization, or vice versa.</a:t>
            </a:r>
          </a:p>
          <a:p>
            <a:pPr marL="449263" lvl="1" indent="-355600" algn="just">
              <a:buFont typeface="Wingdings" pitchFamily="2" charset="2"/>
              <a:buChar char="Ø"/>
            </a:pPr>
            <a:r>
              <a:rPr lang="en-US" sz="2000" dirty="0" smtClean="0">
                <a:cs typeface="Times New Roman" pitchFamily="18" charset="0"/>
              </a:rPr>
              <a:t>A documented architecture enhances communication among stakeholders. </a:t>
            </a:r>
          </a:p>
          <a:p>
            <a:pPr lvl="1" algn="just">
              <a:buFont typeface="Wingdings" pitchFamily="2" charset="2"/>
              <a:buChar char="Ø"/>
            </a:pPr>
            <a:endParaRPr lang="en-US" sz="2000" dirty="0" smtClean="0">
              <a:cs typeface="Times New Roman" pitchFamily="18" charset="0"/>
            </a:endParaRPr>
          </a:p>
          <a:p>
            <a:pPr algn="just"/>
            <a:endParaRPr lang="en-US" sz="2000" dirty="0">
              <a:cs typeface="Times New Roman" pitchFamily="18" charset="0"/>
            </a:endParaRPr>
          </a:p>
        </p:txBody>
      </p:sp>
      <p:sp>
        <p:nvSpPr>
          <p:cNvPr id="5" name="Slide Number Placeholder 4"/>
          <p:cNvSpPr>
            <a:spLocks noGrp="1"/>
          </p:cNvSpPr>
          <p:nvPr>
            <p:ph type="sldNum" sz="quarter" idx="12"/>
          </p:nvPr>
        </p:nvSpPr>
        <p:spPr/>
        <p:txBody>
          <a:bodyPr/>
          <a:lstStyle/>
          <a:p>
            <a:fld id="{26011043-848E-4CA3-808D-B3CFD8CB8118}" type="slidenum">
              <a:rPr lang="en-US" smtClean="0"/>
              <a:pPr/>
              <a:t>17</a:t>
            </a:fld>
            <a:endParaRPr lang="en-US"/>
          </a:p>
        </p:txBody>
      </p:sp>
      <p:sp>
        <p:nvSpPr>
          <p:cNvPr id="6" name="Footer Placeholder 5"/>
          <p:cNvSpPr>
            <a:spLocks noGrp="1"/>
          </p:cNvSpPr>
          <p:nvPr/>
        </p:nvSpPr>
        <p:spPr>
          <a:xfrm>
            <a:off x="400050" y="6507326"/>
            <a:ext cx="6092276" cy="365125"/>
          </a:xfrm>
          <a:prstGeom prst="rect">
            <a:avLst/>
          </a:prstGeom>
        </p:spPr>
        <p:txBody>
          <a:bodyPr vert="horz" lIns="91440" tIns="45720" rIns="91440" bIns="4572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i="1" dirty="0" smtClean="0"/>
              <a:t>@Dr. </a:t>
            </a:r>
            <a:r>
              <a:rPr lang="en-US" sz="1100" i="1" dirty="0" err="1" smtClean="0"/>
              <a:t>Ugrasen</a:t>
            </a:r>
            <a:r>
              <a:rPr lang="en-US" sz="1100" i="1" dirty="0" smtClean="0"/>
              <a:t> Suman, Professor, SCSIT, DAVV Indore (MP), India</a:t>
            </a:r>
            <a:endParaRPr lang="en-US" sz="1100" i="1" dirty="0"/>
          </a:p>
        </p:txBody>
      </p:sp>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vert="horz" lIns="91440" tIns="45720" rIns="91440" bIns="45720" rtlCol="0" anchor="ctr">
            <a:noAutofit/>
          </a:bodyPr>
          <a:lstStyle/>
          <a:p>
            <a:r>
              <a:rPr lang="en-US" sz="3200" b="1" dirty="0">
                <a:solidFill>
                  <a:srgbClr val="C00000"/>
                </a:solidFill>
                <a:cs typeface="Times New Roman" pitchFamily="18" charset="0"/>
              </a:rPr>
              <a:t>Challenges </a:t>
            </a:r>
            <a:r>
              <a:rPr lang="en-US" sz="3200" b="1" dirty="0" smtClean="0">
                <a:solidFill>
                  <a:srgbClr val="C00000"/>
                </a:solidFill>
                <a:cs typeface="Times New Roman" pitchFamily="18" charset="0"/>
              </a:rPr>
              <a:t>in </a:t>
            </a:r>
            <a:r>
              <a:rPr lang="en-US" sz="3200" b="1" dirty="0">
                <a:solidFill>
                  <a:srgbClr val="C00000"/>
                </a:solidFill>
                <a:cs typeface="Times New Roman" pitchFamily="18" charset="0"/>
              </a:rPr>
              <a:t>software architecture</a:t>
            </a:r>
          </a:p>
        </p:txBody>
      </p:sp>
      <p:sp>
        <p:nvSpPr>
          <p:cNvPr id="3" name="Content Placeholder 2"/>
          <p:cNvSpPr>
            <a:spLocks noGrp="1"/>
          </p:cNvSpPr>
          <p:nvPr>
            <p:ph idx="1"/>
          </p:nvPr>
        </p:nvSpPr>
        <p:spPr>
          <a:xfrm>
            <a:off x="457200" y="1371600"/>
            <a:ext cx="8229600" cy="4754563"/>
          </a:xfrm>
        </p:spPr>
        <p:txBody>
          <a:bodyPr>
            <a:normAutofit/>
          </a:bodyPr>
          <a:lstStyle/>
          <a:p>
            <a:r>
              <a:rPr lang="en-US" sz="2400" dirty="0"/>
              <a:t>Architects at the ivory tower</a:t>
            </a:r>
          </a:p>
          <a:p>
            <a:pPr lvl="1"/>
            <a:r>
              <a:rPr lang="en-IN" sz="2400" dirty="0"/>
              <a:t>Lack of communication</a:t>
            </a:r>
          </a:p>
          <a:p>
            <a:r>
              <a:rPr lang="en-IN" sz="2400" dirty="0"/>
              <a:t>Centralization of all decisions</a:t>
            </a:r>
          </a:p>
          <a:p>
            <a:pPr lvl="1"/>
            <a:r>
              <a:rPr lang="en-IN" sz="2400" dirty="0"/>
              <a:t>Bottleneck</a:t>
            </a:r>
          </a:p>
          <a:p>
            <a:r>
              <a:rPr lang="en-IN" sz="2400" dirty="0"/>
              <a:t>Taking too many decisions</a:t>
            </a:r>
          </a:p>
          <a:p>
            <a:pPr lvl="1"/>
            <a:r>
              <a:rPr lang="en-US" sz="2400" dirty="0"/>
              <a:t>Deferring decisions may be better than reversing them</a:t>
            </a:r>
          </a:p>
          <a:p>
            <a:r>
              <a:rPr lang="en-IN" sz="2400" dirty="0"/>
              <a:t>Big design up front</a:t>
            </a:r>
          </a:p>
          <a:p>
            <a:pPr lvl="1"/>
            <a:r>
              <a:rPr lang="en-US" sz="2400" dirty="0"/>
              <a:t>Too much unneeded diagrams and docs</a:t>
            </a:r>
          </a:p>
          <a:p>
            <a:pPr lvl="1"/>
            <a:r>
              <a:rPr lang="en-US" sz="2400" dirty="0"/>
              <a:t>Delays caused by architecting </a:t>
            </a:r>
            <a:r>
              <a:rPr lang="en-US" sz="2400" dirty="0" smtClean="0"/>
              <a:t>process</a:t>
            </a:r>
            <a:endParaRPr lang="en-US" sz="2400" dirty="0">
              <a:cs typeface="Times New Roman" pitchFamily="18" charset="0"/>
            </a:endParaRPr>
          </a:p>
        </p:txBody>
      </p:sp>
      <p:sp>
        <p:nvSpPr>
          <p:cNvPr id="5" name="Slide Number Placeholder 4"/>
          <p:cNvSpPr>
            <a:spLocks noGrp="1"/>
          </p:cNvSpPr>
          <p:nvPr>
            <p:ph type="sldNum" sz="quarter" idx="12"/>
          </p:nvPr>
        </p:nvSpPr>
        <p:spPr/>
        <p:txBody>
          <a:bodyPr/>
          <a:lstStyle/>
          <a:p>
            <a:fld id="{26011043-848E-4CA3-808D-B3CFD8CB8118}" type="slidenum">
              <a:rPr lang="en-US" smtClean="0"/>
              <a:pPr/>
              <a:t>18</a:t>
            </a:fld>
            <a:endParaRPr lang="en-US"/>
          </a:p>
        </p:txBody>
      </p:sp>
      <p:sp>
        <p:nvSpPr>
          <p:cNvPr id="6" name="Footer Placeholder 5"/>
          <p:cNvSpPr>
            <a:spLocks noGrp="1"/>
          </p:cNvSpPr>
          <p:nvPr/>
        </p:nvSpPr>
        <p:spPr>
          <a:xfrm>
            <a:off x="400050" y="6507326"/>
            <a:ext cx="6092276" cy="365125"/>
          </a:xfrm>
          <a:prstGeom prst="rect">
            <a:avLst/>
          </a:prstGeom>
        </p:spPr>
        <p:txBody>
          <a:bodyPr vert="horz" lIns="91440" tIns="45720" rIns="91440" bIns="4572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i="1" dirty="0" smtClean="0"/>
              <a:t>@Dr. </a:t>
            </a:r>
            <a:r>
              <a:rPr lang="en-US" sz="1100" i="1" dirty="0" err="1" smtClean="0"/>
              <a:t>Ugrasen</a:t>
            </a:r>
            <a:r>
              <a:rPr lang="en-US" sz="1100" i="1" dirty="0" smtClean="0"/>
              <a:t> Suman, Professor, SCSIT, DAVV Indore (MP), India</a:t>
            </a:r>
            <a:endParaRPr lang="en-US" sz="1100" i="1" dirty="0"/>
          </a:p>
        </p:txBody>
      </p:sp>
    </p:spTree>
    <p:extLst>
      <p:ext uri="{BB962C8B-B14F-4D97-AF65-F5344CB8AC3E}">
        <p14:creationId xmlns:p14="http://schemas.microsoft.com/office/powerpoint/2010/main" val="3325503112"/>
      </p:ext>
    </p:extLst>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vert="horz" lIns="91440" tIns="45720" rIns="91440" bIns="45720" rtlCol="0" anchor="ctr">
            <a:noAutofit/>
          </a:bodyPr>
          <a:lstStyle/>
          <a:p>
            <a:r>
              <a:rPr lang="en-US" sz="3200" b="1" dirty="0">
                <a:solidFill>
                  <a:srgbClr val="C00000"/>
                </a:solidFill>
                <a:cs typeface="Times New Roman" pitchFamily="18" charset="0"/>
              </a:rPr>
              <a:t>Laws of Software Architecture</a:t>
            </a:r>
          </a:p>
        </p:txBody>
      </p:sp>
      <p:sp>
        <p:nvSpPr>
          <p:cNvPr id="3" name="Content Placeholder 2"/>
          <p:cNvSpPr>
            <a:spLocks noGrp="1"/>
          </p:cNvSpPr>
          <p:nvPr>
            <p:ph idx="1"/>
          </p:nvPr>
        </p:nvSpPr>
        <p:spPr>
          <a:xfrm>
            <a:off x="457200" y="1371600"/>
            <a:ext cx="8229600" cy="4754563"/>
          </a:xfrm>
        </p:spPr>
        <p:txBody>
          <a:bodyPr>
            <a:normAutofit/>
          </a:bodyPr>
          <a:lstStyle/>
          <a:p>
            <a:r>
              <a:rPr lang="en-US" sz="2400" b="1" dirty="0"/>
              <a:t>Everything in software architecture is a trade-off</a:t>
            </a:r>
            <a:r>
              <a:rPr lang="en-US" sz="2400" b="1" dirty="0" smtClean="0"/>
              <a:t>.</a:t>
            </a:r>
          </a:p>
          <a:p>
            <a:pPr marL="457200" lvl="1" indent="0">
              <a:buNone/>
            </a:pPr>
            <a:r>
              <a:rPr lang="en-IN" sz="2400" dirty="0"/>
              <a:t>Corollary </a:t>
            </a:r>
            <a:r>
              <a:rPr lang="en-IN" sz="2400" dirty="0" smtClean="0"/>
              <a:t>1: </a:t>
            </a:r>
          </a:p>
          <a:p>
            <a:pPr marL="457200" lvl="1" indent="0">
              <a:buNone/>
            </a:pPr>
            <a:r>
              <a:rPr lang="en-US" sz="2400" dirty="0" smtClean="0"/>
              <a:t>If </a:t>
            </a:r>
            <a:r>
              <a:rPr lang="en-US" sz="2400" dirty="0"/>
              <a:t>an architect thinks they have discovered something that </a:t>
            </a:r>
            <a:r>
              <a:rPr lang="en-US" sz="2400" i="1" dirty="0"/>
              <a:t>isn’t </a:t>
            </a:r>
            <a:r>
              <a:rPr lang="en-US" sz="2400" dirty="0"/>
              <a:t>a </a:t>
            </a:r>
            <a:r>
              <a:rPr lang="en-US" sz="2400" dirty="0" smtClean="0"/>
              <a:t>trade-off</a:t>
            </a:r>
            <a:r>
              <a:rPr lang="en-US" sz="2400" dirty="0"/>
              <a:t>, more </a:t>
            </a:r>
            <a:r>
              <a:rPr lang="en-US" sz="2400" dirty="0" smtClean="0"/>
              <a:t>likely they </a:t>
            </a:r>
            <a:r>
              <a:rPr lang="en-US" sz="2400" dirty="0"/>
              <a:t>just haven’t </a:t>
            </a:r>
            <a:r>
              <a:rPr lang="en-US" sz="2400" i="1" dirty="0"/>
              <a:t>identified </a:t>
            </a:r>
            <a:r>
              <a:rPr lang="en-US" sz="2400" dirty="0"/>
              <a:t>the trade-off </a:t>
            </a:r>
            <a:r>
              <a:rPr lang="en-US" sz="2400" dirty="0" smtClean="0"/>
              <a:t>yet</a:t>
            </a:r>
            <a:r>
              <a:rPr lang="en-US" sz="2400" dirty="0"/>
              <a:t>.</a:t>
            </a:r>
            <a:endParaRPr lang="en-US" sz="2400" dirty="0" smtClean="0"/>
          </a:p>
          <a:p>
            <a:r>
              <a:rPr lang="en-US" sz="2400" b="1" i="1" dirty="0"/>
              <a:t>Why </a:t>
            </a:r>
            <a:r>
              <a:rPr lang="en-US" sz="2400" b="1" dirty="0"/>
              <a:t>is more important than </a:t>
            </a:r>
            <a:r>
              <a:rPr lang="en-US" sz="2400" b="1" i="1" dirty="0"/>
              <a:t>how</a:t>
            </a:r>
            <a:r>
              <a:rPr lang="en-US" sz="2400" b="1" dirty="0"/>
              <a:t>.</a:t>
            </a:r>
          </a:p>
        </p:txBody>
      </p:sp>
      <p:sp>
        <p:nvSpPr>
          <p:cNvPr id="5" name="Slide Number Placeholder 4"/>
          <p:cNvSpPr>
            <a:spLocks noGrp="1"/>
          </p:cNvSpPr>
          <p:nvPr>
            <p:ph type="sldNum" sz="quarter" idx="12"/>
          </p:nvPr>
        </p:nvSpPr>
        <p:spPr/>
        <p:txBody>
          <a:bodyPr/>
          <a:lstStyle/>
          <a:p>
            <a:fld id="{26011043-848E-4CA3-808D-B3CFD8CB8118}" type="slidenum">
              <a:rPr lang="en-US" smtClean="0">
                <a:solidFill>
                  <a:prstClr val="black">
                    <a:tint val="75000"/>
                  </a:prstClr>
                </a:solidFill>
              </a:rPr>
              <a:pPr/>
              <a:t>19</a:t>
            </a:fld>
            <a:endParaRPr lang="en-US">
              <a:solidFill>
                <a:prstClr val="black">
                  <a:tint val="75000"/>
                </a:prstClr>
              </a:solidFill>
            </a:endParaRPr>
          </a:p>
        </p:txBody>
      </p:sp>
      <p:sp>
        <p:nvSpPr>
          <p:cNvPr id="6" name="Footer Placeholder 5"/>
          <p:cNvSpPr>
            <a:spLocks noGrp="1"/>
          </p:cNvSpPr>
          <p:nvPr/>
        </p:nvSpPr>
        <p:spPr>
          <a:xfrm>
            <a:off x="400050" y="6507326"/>
            <a:ext cx="6092276" cy="365125"/>
          </a:xfrm>
          <a:prstGeom prst="rect">
            <a:avLst/>
          </a:prstGeom>
        </p:spPr>
        <p:txBody>
          <a:bodyPr vert="horz" lIns="91440" tIns="45720" rIns="91440" bIns="4572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i="1" dirty="0" smtClean="0"/>
              <a:t>@Dr. </a:t>
            </a:r>
            <a:r>
              <a:rPr lang="en-US" sz="1100" i="1" dirty="0" err="1" smtClean="0"/>
              <a:t>Ugrasen</a:t>
            </a:r>
            <a:r>
              <a:rPr lang="en-US" sz="1100" i="1" dirty="0" smtClean="0"/>
              <a:t> Suman, Professor, SCSIT, DAVV Indore (MP), India</a:t>
            </a:r>
            <a:endParaRPr lang="en-US" sz="1100" i="1" dirty="0"/>
          </a:p>
        </p:txBody>
      </p:sp>
    </p:spTree>
    <p:extLst>
      <p:ext uri="{BB962C8B-B14F-4D97-AF65-F5344CB8AC3E}">
        <p14:creationId xmlns:p14="http://schemas.microsoft.com/office/powerpoint/2010/main" val="2039192100"/>
      </p:ext>
    </p:extLst>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22075"/>
            <a:ext cx="8229600" cy="868362"/>
          </a:xfrm>
        </p:spPr>
        <p:txBody>
          <a:bodyPr vert="horz" lIns="91440" tIns="45720" rIns="91440" bIns="45720" rtlCol="0" anchor="ctr">
            <a:noAutofit/>
          </a:bodyPr>
          <a:lstStyle/>
          <a:p>
            <a:r>
              <a:rPr lang="en-US" sz="3200" b="1" dirty="0" smtClean="0">
                <a:solidFill>
                  <a:srgbClr val="C00000"/>
                </a:solidFill>
                <a:cs typeface="Times New Roman" pitchFamily="18" charset="0"/>
              </a:rPr>
              <a:t>Architectural Structures</a:t>
            </a:r>
            <a:endParaRPr lang="en-US" sz="3200" b="1" dirty="0">
              <a:solidFill>
                <a:srgbClr val="C00000"/>
              </a:solidFill>
              <a:cs typeface="Times New Roman" pitchFamily="18" charset="0"/>
            </a:endParaRPr>
          </a:p>
        </p:txBody>
      </p:sp>
      <p:sp>
        <p:nvSpPr>
          <p:cNvPr id="3" name="Content Placeholder 2"/>
          <p:cNvSpPr>
            <a:spLocks noGrp="1"/>
          </p:cNvSpPr>
          <p:nvPr>
            <p:ph idx="1"/>
          </p:nvPr>
        </p:nvSpPr>
        <p:spPr>
          <a:xfrm>
            <a:off x="457200" y="990437"/>
            <a:ext cx="8229600" cy="5516889"/>
          </a:xfrm>
        </p:spPr>
        <p:txBody>
          <a:bodyPr>
            <a:normAutofit/>
          </a:bodyPr>
          <a:lstStyle/>
          <a:p>
            <a:r>
              <a:rPr lang="en-US" sz="2400" dirty="0" smtClean="0"/>
              <a:t>A </a:t>
            </a:r>
            <a:r>
              <a:rPr lang="en-US" sz="2400" dirty="0"/>
              <a:t>structure is simply a </a:t>
            </a:r>
            <a:r>
              <a:rPr lang="en-US" sz="2400" dirty="0" smtClean="0"/>
              <a:t>set of </a:t>
            </a:r>
            <a:r>
              <a:rPr lang="en-US" sz="2400" dirty="0"/>
              <a:t>elements held together by a relation. </a:t>
            </a:r>
            <a:endParaRPr lang="en-US" sz="2400" dirty="0" smtClean="0"/>
          </a:p>
          <a:p>
            <a:r>
              <a:rPr lang="en-US" sz="2400" dirty="0" smtClean="0"/>
              <a:t>Software </a:t>
            </a:r>
            <a:r>
              <a:rPr lang="en-US" sz="2400" dirty="0"/>
              <a:t>systems are composed of many structures</a:t>
            </a:r>
            <a:r>
              <a:rPr lang="en-US" sz="2400" dirty="0" smtClean="0"/>
              <a:t>, and </a:t>
            </a:r>
            <a:r>
              <a:rPr lang="en-US" sz="2400" dirty="0"/>
              <a:t>no single structure can lay claim to being </a:t>
            </a:r>
            <a:r>
              <a:rPr lang="en-US" sz="2400" i="1" dirty="0"/>
              <a:t>the </a:t>
            </a:r>
            <a:r>
              <a:rPr lang="en-US" sz="2400" dirty="0"/>
              <a:t>architecture. </a:t>
            </a:r>
            <a:endParaRPr lang="en-US" sz="2400" dirty="0" smtClean="0"/>
          </a:p>
          <a:p>
            <a:r>
              <a:rPr lang="en-US" sz="2400" dirty="0" smtClean="0"/>
              <a:t>Architectural </a:t>
            </a:r>
            <a:r>
              <a:rPr lang="en-US" sz="2400" dirty="0"/>
              <a:t>structures can be organized into three useful categories, </a:t>
            </a:r>
            <a:endParaRPr lang="en-US" sz="2400" dirty="0" smtClean="0"/>
          </a:p>
          <a:p>
            <a:pPr lvl="1"/>
            <a:r>
              <a:rPr lang="en-IN" sz="2400" dirty="0" smtClean="0">
                <a:solidFill>
                  <a:srgbClr val="2B0AB6"/>
                </a:solidFill>
              </a:rPr>
              <a:t>Component-and-connector </a:t>
            </a:r>
            <a:r>
              <a:rPr lang="en-IN" sz="2400" dirty="0">
                <a:solidFill>
                  <a:srgbClr val="2B0AB6"/>
                </a:solidFill>
              </a:rPr>
              <a:t>structures</a:t>
            </a:r>
          </a:p>
          <a:p>
            <a:pPr lvl="1"/>
            <a:r>
              <a:rPr lang="en-IN" sz="2400" dirty="0" smtClean="0">
                <a:solidFill>
                  <a:srgbClr val="2B0AB6"/>
                </a:solidFill>
              </a:rPr>
              <a:t>Module </a:t>
            </a:r>
            <a:r>
              <a:rPr lang="en-IN" sz="2400" dirty="0">
                <a:solidFill>
                  <a:srgbClr val="2B0AB6"/>
                </a:solidFill>
              </a:rPr>
              <a:t>structures</a:t>
            </a:r>
          </a:p>
          <a:p>
            <a:pPr lvl="1"/>
            <a:r>
              <a:rPr lang="en-IN" sz="2400" dirty="0" smtClean="0">
                <a:solidFill>
                  <a:srgbClr val="2B0AB6"/>
                </a:solidFill>
              </a:rPr>
              <a:t>Allocation </a:t>
            </a:r>
            <a:r>
              <a:rPr lang="en-IN" sz="2400" dirty="0">
                <a:solidFill>
                  <a:srgbClr val="2B0AB6"/>
                </a:solidFill>
              </a:rPr>
              <a:t>structures</a:t>
            </a:r>
            <a:endParaRPr lang="en-US" sz="2400" i="1" dirty="0">
              <a:solidFill>
                <a:srgbClr val="2B0AB6"/>
              </a:solidFill>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26011043-848E-4CA3-808D-B3CFD8CB8118}" type="slidenum">
              <a:rPr lang="en-US" smtClean="0">
                <a:solidFill>
                  <a:prstClr val="black">
                    <a:tint val="75000"/>
                  </a:prstClr>
                </a:solidFill>
              </a:rPr>
              <a:pPr/>
              <a:t>20</a:t>
            </a:fld>
            <a:endParaRPr lang="en-US">
              <a:solidFill>
                <a:prstClr val="black">
                  <a:tint val="75000"/>
                </a:prstClr>
              </a:solidFill>
            </a:endParaRPr>
          </a:p>
        </p:txBody>
      </p:sp>
      <p:sp>
        <p:nvSpPr>
          <p:cNvPr id="6" name="Footer Placeholder 5"/>
          <p:cNvSpPr>
            <a:spLocks noGrp="1"/>
          </p:cNvSpPr>
          <p:nvPr/>
        </p:nvSpPr>
        <p:spPr>
          <a:xfrm>
            <a:off x="400050" y="6507326"/>
            <a:ext cx="6092276" cy="365125"/>
          </a:xfrm>
          <a:prstGeom prst="rect">
            <a:avLst/>
          </a:prstGeom>
        </p:spPr>
        <p:txBody>
          <a:bodyPr vert="horz" lIns="91440" tIns="45720" rIns="91440" bIns="4572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i="1" dirty="0" smtClean="0">
                <a:solidFill>
                  <a:prstClr val="black"/>
                </a:solidFill>
              </a:rPr>
              <a:t>@Dr. </a:t>
            </a:r>
            <a:r>
              <a:rPr lang="en-US" sz="1100" i="1" dirty="0" err="1" smtClean="0">
                <a:solidFill>
                  <a:prstClr val="black"/>
                </a:solidFill>
              </a:rPr>
              <a:t>Ugrasen</a:t>
            </a:r>
            <a:r>
              <a:rPr lang="en-US" sz="1100" i="1" dirty="0" smtClean="0">
                <a:solidFill>
                  <a:prstClr val="black"/>
                </a:solidFill>
              </a:rPr>
              <a:t> Suman, Professor, SCSIT, DAVV Indore (MP), India</a:t>
            </a:r>
            <a:endParaRPr lang="en-US" sz="1100" i="1" dirty="0">
              <a:solidFill>
                <a:prstClr val="black"/>
              </a:solidFill>
            </a:endParaRPr>
          </a:p>
        </p:txBody>
      </p:sp>
    </p:spTree>
    <p:extLst>
      <p:ext uri="{BB962C8B-B14F-4D97-AF65-F5344CB8AC3E}">
        <p14:creationId xmlns:p14="http://schemas.microsoft.com/office/powerpoint/2010/main" val="3722762139"/>
      </p:ext>
    </p:extLst>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22075"/>
            <a:ext cx="8229600" cy="654213"/>
          </a:xfrm>
        </p:spPr>
        <p:txBody>
          <a:bodyPr vert="horz" lIns="91440" tIns="45720" rIns="91440" bIns="45720" rtlCol="0" anchor="ctr">
            <a:noAutofit/>
          </a:bodyPr>
          <a:lstStyle/>
          <a:p>
            <a:r>
              <a:rPr lang="en-US" sz="3200" b="1" dirty="0" smtClean="0">
                <a:solidFill>
                  <a:srgbClr val="C00000"/>
                </a:solidFill>
                <a:cs typeface="Times New Roman" pitchFamily="18" charset="0"/>
              </a:rPr>
              <a:t>Architectural Structures</a:t>
            </a:r>
            <a:endParaRPr lang="en-US" sz="3200" b="1" dirty="0">
              <a:solidFill>
                <a:srgbClr val="C00000"/>
              </a:solidFill>
              <a:cs typeface="Times New Roman" pitchFamily="18" charset="0"/>
            </a:endParaRPr>
          </a:p>
        </p:txBody>
      </p:sp>
      <p:sp>
        <p:nvSpPr>
          <p:cNvPr id="3" name="Content Placeholder 2"/>
          <p:cNvSpPr>
            <a:spLocks noGrp="1"/>
          </p:cNvSpPr>
          <p:nvPr>
            <p:ph idx="1"/>
          </p:nvPr>
        </p:nvSpPr>
        <p:spPr>
          <a:xfrm>
            <a:off x="457199" y="838201"/>
            <a:ext cx="8246533" cy="5669126"/>
          </a:xfrm>
        </p:spPr>
        <p:txBody>
          <a:bodyPr>
            <a:normAutofit/>
          </a:bodyPr>
          <a:lstStyle/>
          <a:p>
            <a:r>
              <a:rPr lang="en-US" sz="2400" dirty="0"/>
              <a:t>Architectural structures have counterparts in </a:t>
            </a:r>
            <a:r>
              <a:rPr lang="en-US" sz="2400" dirty="0" smtClean="0"/>
              <a:t>nature.</a:t>
            </a:r>
          </a:p>
          <a:p>
            <a:r>
              <a:rPr lang="en-US" sz="2400" dirty="0">
                <a:solidFill>
                  <a:srgbClr val="2B0AB6"/>
                </a:solidFill>
              </a:rPr>
              <a:t>For example</a:t>
            </a:r>
            <a:r>
              <a:rPr lang="en-US" sz="2400" dirty="0"/>
              <a:t>, the neurologist, </a:t>
            </a:r>
            <a:r>
              <a:rPr lang="en-US" sz="2400" dirty="0" smtClean="0"/>
              <a:t>the orthopedist</a:t>
            </a:r>
            <a:r>
              <a:rPr lang="en-US" sz="2400" dirty="0"/>
              <a:t>, the hematologist, and the dermatologist all have different views of the </a:t>
            </a:r>
            <a:r>
              <a:rPr lang="en-US" sz="2400" dirty="0" smtClean="0"/>
              <a:t>various structures </a:t>
            </a:r>
            <a:r>
              <a:rPr lang="en-US" sz="2400" dirty="0"/>
              <a:t>of a human </a:t>
            </a:r>
            <a:r>
              <a:rPr lang="en-US" sz="2400" dirty="0" smtClean="0"/>
              <a:t>body.</a:t>
            </a:r>
          </a:p>
          <a:p>
            <a:r>
              <a:rPr lang="en-IN" sz="2400" dirty="0"/>
              <a:t>Ophthalmologists, cardiologists, </a:t>
            </a:r>
            <a:r>
              <a:rPr lang="en-IN" sz="2400" dirty="0" smtClean="0"/>
              <a:t>and </a:t>
            </a:r>
            <a:r>
              <a:rPr lang="en-US" sz="2400" dirty="0" smtClean="0"/>
              <a:t>podiatrists </a:t>
            </a:r>
            <a:r>
              <a:rPr lang="en-US" sz="2400" dirty="0"/>
              <a:t>concentrate on specific subsystems. </a:t>
            </a:r>
            <a:r>
              <a:rPr lang="en-US" sz="2400" dirty="0" err="1"/>
              <a:t>Kinesiologists</a:t>
            </a:r>
            <a:r>
              <a:rPr lang="en-US" sz="2400" dirty="0"/>
              <a:t> and psychiatrists are </a:t>
            </a:r>
            <a:r>
              <a:rPr lang="en-US" sz="2400" dirty="0" smtClean="0"/>
              <a:t>concerned with </a:t>
            </a:r>
            <a:r>
              <a:rPr lang="en-US" sz="2400" dirty="0"/>
              <a:t>different aspects of the entire arrangement’s behavior.</a:t>
            </a:r>
            <a:endParaRPr lang="en-US" sz="2400" i="1" dirty="0">
              <a:solidFill>
                <a:srgbClr val="2B0AB6"/>
              </a:solidFill>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26011043-848E-4CA3-808D-B3CFD8CB8118}" type="slidenum">
              <a:rPr lang="en-US" smtClean="0">
                <a:solidFill>
                  <a:prstClr val="black">
                    <a:tint val="75000"/>
                  </a:prstClr>
                </a:solidFill>
              </a:rPr>
              <a:pPr/>
              <a:t>21</a:t>
            </a:fld>
            <a:endParaRPr lang="en-US">
              <a:solidFill>
                <a:prstClr val="black">
                  <a:tint val="75000"/>
                </a:prstClr>
              </a:solidFill>
            </a:endParaRPr>
          </a:p>
        </p:txBody>
      </p:sp>
      <p:sp>
        <p:nvSpPr>
          <p:cNvPr id="6" name="Footer Placeholder 5"/>
          <p:cNvSpPr>
            <a:spLocks noGrp="1"/>
          </p:cNvSpPr>
          <p:nvPr/>
        </p:nvSpPr>
        <p:spPr>
          <a:xfrm>
            <a:off x="400050" y="6507326"/>
            <a:ext cx="6092276" cy="365125"/>
          </a:xfrm>
          <a:prstGeom prst="rect">
            <a:avLst/>
          </a:prstGeom>
        </p:spPr>
        <p:txBody>
          <a:bodyPr vert="horz" lIns="91440" tIns="45720" rIns="91440" bIns="4572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i="1" dirty="0" smtClean="0">
                <a:solidFill>
                  <a:prstClr val="black"/>
                </a:solidFill>
              </a:rPr>
              <a:t>@Dr. </a:t>
            </a:r>
            <a:r>
              <a:rPr lang="en-US" sz="1100" i="1" dirty="0" err="1" smtClean="0">
                <a:solidFill>
                  <a:prstClr val="black"/>
                </a:solidFill>
              </a:rPr>
              <a:t>Ugrasen</a:t>
            </a:r>
            <a:r>
              <a:rPr lang="en-US" sz="1100" i="1" dirty="0" smtClean="0">
                <a:solidFill>
                  <a:prstClr val="black"/>
                </a:solidFill>
              </a:rPr>
              <a:t> Suman, Professor, SCSIT, DAVV Indore (MP), India</a:t>
            </a:r>
            <a:endParaRPr lang="en-US" sz="1100" i="1" dirty="0">
              <a:solidFill>
                <a:prstClr val="black"/>
              </a:solidFill>
            </a:endParaRPr>
          </a:p>
        </p:txBody>
      </p:sp>
      <p:pic>
        <p:nvPicPr>
          <p:cNvPr id="4" name="Picture 3"/>
          <p:cNvPicPr>
            <a:picLocks noChangeAspect="1"/>
          </p:cNvPicPr>
          <p:nvPr/>
        </p:nvPicPr>
        <p:blipFill>
          <a:blip r:embed="rId2"/>
          <a:stretch>
            <a:fillRect/>
          </a:stretch>
        </p:blipFill>
        <p:spPr>
          <a:xfrm>
            <a:off x="2971800" y="3657600"/>
            <a:ext cx="5410200" cy="2832793"/>
          </a:xfrm>
          <a:prstGeom prst="rect">
            <a:avLst/>
          </a:prstGeom>
        </p:spPr>
      </p:pic>
    </p:spTree>
    <p:extLst>
      <p:ext uri="{BB962C8B-B14F-4D97-AF65-F5344CB8AC3E}">
        <p14:creationId xmlns:p14="http://schemas.microsoft.com/office/powerpoint/2010/main" val="3650909055"/>
      </p:ext>
    </p:extLst>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22075"/>
            <a:ext cx="8229600" cy="654213"/>
          </a:xfrm>
        </p:spPr>
        <p:txBody>
          <a:bodyPr vert="horz" lIns="91440" tIns="45720" rIns="91440" bIns="45720" rtlCol="0" anchor="ctr">
            <a:noAutofit/>
          </a:bodyPr>
          <a:lstStyle/>
          <a:p>
            <a:r>
              <a:rPr lang="en-US" sz="3200" b="1" dirty="0" smtClean="0">
                <a:solidFill>
                  <a:srgbClr val="C00000"/>
                </a:solidFill>
                <a:cs typeface="Times New Roman" pitchFamily="18" charset="0"/>
              </a:rPr>
              <a:t>Architectural Structures</a:t>
            </a:r>
            <a:endParaRPr lang="en-US" sz="3200" b="1" dirty="0">
              <a:solidFill>
                <a:srgbClr val="C00000"/>
              </a:solidFill>
              <a:cs typeface="Times New Roman" pitchFamily="18" charset="0"/>
            </a:endParaRPr>
          </a:p>
        </p:txBody>
      </p:sp>
      <p:sp>
        <p:nvSpPr>
          <p:cNvPr id="3" name="Content Placeholder 2"/>
          <p:cNvSpPr>
            <a:spLocks noGrp="1"/>
          </p:cNvSpPr>
          <p:nvPr>
            <p:ph idx="1"/>
          </p:nvPr>
        </p:nvSpPr>
        <p:spPr>
          <a:xfrm>
            <a:off x="457200" y="839461"/>
            <a:ext cx="8229600" cy="5516889"/>
          </a:xfrm>
        </p:spPr>
        <p:txBody>
          <a:bodyPr>
            <a:normAutofit fontScale="62500" lnSpcReduction="20000"/>
          </a:bodyPr>
          <a:lstStyle/>
          <a:p>
            <a:pPr marL="457200" lvl="1" indent="-457200">
              <a:buNone/>
            </a:pPr>
            <a:r>
              <a:rPr lang="en-IN" sz="3800" b="1" dirty="0" smtClean="0">
                <a:solidFill>
                  <a:srgbClr val="2B0AB6"/>
                </a:solidFill>
              </a:rPr>
              <a:t>Component-and-connector structures</a:t>
            </a:r>
          </a:p>
          <a:p>
            <a:pPr marL="355600" indent="-177800"/>
            <a:r>
              <a:rPr lang="en-US" dirty="0"/>
              <a:t>Component-and-connector (C&amp;C) structures focus on the way the elements </a:t>
            </a:r>
            <a:r>
              <a:rPr lang="en-US" dirty="0" smtClean="0"/>
              <a:t>interact with </a:t>
            </a:r>
            <a:r>
              <a:rPr lang="en-US" dirty="0"/>
              <a:t>each other at runtime to carry out the system’s functions. </a:t>
            </a:r>
            <a:endParaRPr lang="en-US" dirty="0" smtClean="0"/>
          </a:p>
          <a:p>
            <a:pPr marL="355600" indent="-177800"/>
            <a:r>
              <a:rPr lang="en-US" dirty="0" smtClean="0"/>
              <a:t>How the system </a:t>
            </a:r>
            <a:r>
              <a:rPr lang="en-US" dirty="0"/>
              <a:t>is structured as a set of elements that have runtime behavior (components) </a:t>
            </a:r>
            <a:r>
              <a:rPr lang="en-US" dirty="0" smtClean="0"/>
              <a:t>and interactions </a:t>
            </a:r>
            <a:r>
              <a:rPr lang="en-US" dirty="0"/>
              <a:t>(connectors</a:t>
            </a:r>
            <a:r>
              <a:rPr lang="en-US" dirty="0" smtClean="0"/>
              <a:t>)? </a:t>
            </a:r>
          </a:p>
          <a:p>
            <a:pPr marL="355600" indent="-177800"/>
            <a:r>
              <a:rPr lang="en-US" dirty="0" smtClean="0"/>
              <a:t>Components </a:t>
            </a:r>
            <a:r>
              <a:rPr lang="en-US" dirty="0"/>
              <a:t>are the principal units of computation and </a:t>
            </a:r>
            <a:r>
              <a:rPr lang="en-US" dirty="0" smtClean="0"/>
              <a:t>could be </a:t>
            </a:r>
            <a:r>
              <a:rPr lang="en-US" dirty="0"/>
              <a:t>services, peers, clients, servers, filters, or many other types of runtime element.</a:t>
            </a:r>
          </a:p>
          <a:p>
            <a:pPr marL="355600" indent="-177800"/>
            <a:r>
              <a:rPr lang="en-US" dirty="0"/>
              <a:t>Connectors are the communication vehicles among components, such as call-return</a:t>
            </a:r>
            <a:r>
              <a:rPr lang="en-US" dirty="0" smtClean="0"/>
              <a:t>, process </a:t>
            </a:r>
            <a:r>
              <a:rPr lang="en-US" dirty="0"/>
              <a:t>synchronization operators, pipes, or others. </a:t>
            </a:r>
            <a:endParaRPr lang="en-US" dirty="0" smtClean="0"/>
          </a:p>
          <a:p>
            <a:pPr marL="355600" indent="-177800"/>
            <a:r>
              <a:rPr lang="en-US" dirty="0" smtClean="0"/>
              <a:t>C&amp;C </a:t>
            </a:r>
            <a:r>
              <a:rPr lang="en-US" dirty="0"/>
              <a:t>structures help answer </a:t>
            </a:r>
            <a:r>
              <a:rPr lang="en-US" dirty="0" smtClean="0"/>
              <a:t>questions </a:t>
            </a:r>
            <a:r>
              <a:rPr lang="en-IN" dirty="0" smtClean="0"/>
              <a:t>such </a:t>
            </a:r>
            <a:r>
              <a:rPr lang="en-IN" dirty="0"/>
              <a:t>as the following:</a:t>
            </a:r>
          </a:p>
          <a:p>
            <a:pPr lvl="1"/>
            <a:r>
              <a:rPr lang="en-US" sz="3200" dirty="0" smtClean="0"/>
              <a:t>What </a:t>
            </a:r>
            <a:r>
              <a:rPr lang="en-US" sz="3200" dirty="0"/>
              <a:t>are the major executing components and how do they interact at runtime?</a:t>
            </a:r>
          </a:p>
          <a:p>
            <a:pPr lvl="1"/>
            <a:r>
              <a:rPr lang="en-US" sz="3200" dirty="0" smtClean="0"/>
              <a:t>What </a:t>
            </a:r>
            <a:r>
              <a:rPr lang="en-US" sz="3200" dirty="0"/>
              <a:t>are the major shared data stores?</a:t>
            </a:r>
          </a:p>
          <a:p>
            <a:pPr lvl="1"/>
            <a:r>
              <a:rPr lang="en-US" sz="3200" dirty="0" smtClean="0"/>
              <a:t>Which </a:t>
            </a:r>
            <a:r>
              <a:rPr lang="en-US" sz="3200" dirty="0"/>
              <a:t>parts of the system are replicated?</a:t>
            </a:r>
          </a:p>
          <a:p>
            <a:pPr lvl="1"/>
            <a:r>
              <a:rPr lang="en-US" sz="3200" dirty="0" smtClean="0"/>
              <a:t>How </a:t>
            </a:r>
            <a:r>
              <a:rPr lang="en-US" sz="3200" dirty="0"/>
              <a:t>does data progress through the system?</a:t>
            </a:r>
          </a:p>
          <a:p>
            <a:pPr lvl="1"/>
            <a:r>
              <a:rPr lang="en-US" sz="3200" dirty="0" smtClean="0"/>
              <a:t>Which </a:t>
            </a:r>
            <a:r>
              <a:rPr lang="en-US" sz="3200" dirty="0"/>
              <a:t>parts of the system can run in parallel?</a:t>
            </a:r>
          </a:p>
          <a:p>
            <a:pPr lvl="1"/>
            <a:r>
              <a:rPr lang="en-US" sz="3200" dirty="0" smtClean="0"/>
              <a:t>Can </a:t>
            </a:r>
            <a:r>
              <a:rPr lang="en-US" sz="3200" dirty="0"/>
              <a:t>the system’s structure change as it executes and, if so, how?</a:t>
            </a:r>
            <a:endParaRPr lang="en-IN" sz="3200" dirty="0" smtClean="0">
              <a:solidFill>
                <a:srgbClr val="2B0AB6"/>
              </a:solidFill>
            </a:endParaRPr>
          </a:p>
          <a:p>
            <a:pPr marL="457200" lvl="1" indent="-457200">
              <a:buNone/>
            </a:pPr>
            <a:endParaRPr lang="en-IN" sz="2400" dirty="0">
              <a:solidFill>
                <a:srgbClr val="2B0AB6"/>
              </a:solidFill>
            </a:endParaRPr>
          </a:p>
        </p:txBody>
      </p:sp>
      <p:sp>
        <p:nvSpPr>
          <p:cNvPr id="5" name="Slide Number Placeholder 4"/>
          <p:cNvSpPr>
            <a:spLocks noGrp="1"/>
          </p:cNvSpPr>
          <p:nvPr>
            <p:ph type="sldNum" sz="quarter" idx="12"/>
          </p:nvPr>
        </p:nvSpPr>
        <p:spPr/>
        <p:txBody>
          <a:bodyPr/>
          <a:lstStyle/>
          <a:p>
            <a:fld id="{26011043-848E-4CA3-808D-B3CFD8CB8118}" type="slidenum">
              <a:rPr lang="en-US" smtClean="0">
                <a:solidFill>
                  <a:prstClr val="black">
                    <a:tint val="75000"/>
                  </a:prstClr>
                </a:solidFill>
              </a:rPr>
              <a:pPr/>
              <a:t>22</a:t>
            </a:fld>
            <a:endParaRPr lang="en-US">
              <a:solidFill>
                <a:prstClr val="black">
                  <a:tint val="75000"/>
                </a:prstClr>
              </a:solidFill>
            </a:endParaRPr>
          </a:p>
        </p:txBody>
      </p:sp>
      <p:sp>
        <p:nvSpPr>
          <p:cNvPr id="6" name="Footer Placeholder 5"/>
          <p:cNvSpPr>
            <a:spLocks noGrp="1"/>
          </p:cNvSpPr>
          <p:nvPr/>
        </p:nvSpPr>
        <p:spPr>
          <a:xfrm>
            <a:off x="400050" y="6507326"/>
            <a:ext cx="6092276" cy="365125"/>
          </a:xfrm>
          <a:prstGeom prst="rect">
            <a:avLst/>
          </a:prstGeom>
        </p:spPr>
        <p:txBody>
          <a:bodyPr vert="horz" lIns="91440" tIns="45720" rIns="91440" bIns="4572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i="1" dirty="0" smtClean="0">
                <a:solidFill>
                  <a:prstClr val="black"/>
                </a:solidFill>
              </a:rPr>
              <a:t>@Dr. </a:t>
            </a:r>
            <a:r>
              <a:rPr lang="en-US" sz="1100" i="1" dirty="0" err="1" smtClean="0">
                <a:solidFill>
                  <a:prstClr val="black"/>
                </a:solidFill>
              </a:rPr>
              <a:t>Ugrasen</a:t>
            </a:r>
            <a:r>
              <a:rPr lang="en-US" sz="1100" i="1" dirty="0" smtClean="0">
                <a:solidFill>
                  <a:prstClr val="black"/>
                </a:solidFill>
              </a:rPr>
              <a:t> Suman, Professor, SCSIT, DAVV Indore (MP), India</a:t>
            </a:r>
            <a:endParaRPr lang="en-US" sz="1100" i="1" dirty="0">
              <a:solidFill>
                <a:prstClr val="black"/>
              </a:solidFill>
            </a:endParaRPr>
          </a:p>
        </p:txBody>
      </p:sp>
    </p:spTree>
    <p:extLst>
      <p:ext uri="{BB962C8B-B14F-4D97-AF65-F5344CB8AC3E}">
        <p14:creationId xmlns:p14="http://schemas.microsoft.com/office/powerpoint/2010/main" val="1834215981"/>
      </p:ext>
    </p:extLst>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22075"/>
            <a:ext cx="8229600" cy="654213"/>
          </a:xfrm>
        </p:spPr>
        <p:txBody>
          <a:bodyPr vert="horz" lIns="91440" tIns="45720" rIns="91440" bIns="45720" rtlCol="0" anchor="ctr">
            <a:noAutofit/>
          </a:bodyPr>
          <a:lstStyle/>
          <a:p>
            <a:r>
              <a:rPr lang="en-US" sz="3200" b="1" dirty="0" smtClean="0">
                <a:solidFill>
                  <a:srgbClr val="C00000"/>
                </a:solidFill>
                <a:cs typeface="Times New Roman" pitchFamily="18" charset="0"/>
              </a:rPr>
              <a:t>Architectural Structures</a:t>
            </a:r>
            <a:endParaRPr lang="en-US" sz="3200" b="1" dirty="0">
              <a:solidFill>
                <a:srgbClr val="C00000"/>
              </a:solidFill>
              <a:cs typeface="Times New Roman" pitchFamily="18" charset="0"/>
            </a:endParaRPr>
          </a:p>
        </p:txBody>
      </p:sp>
      <p:sp>
        <p:nvSpPr>
          <p:cNvPr id="3" name="Content Placeholder 2"/>
          <p:cNvSpPr>
            <a:spLocks noGrp="1"/>
          </p:cNvSpPr>
          <p:nvPr>
            <p:ph idx="1"/>
          </p:nvPr>
        </p:nvSpPr>
        <p:spPr>
          <a:xfrm>
            <a:off x="457200" y="839461"/>
            <a:ext cx="8229600" cy="5516889"/>
          </a:xfrm>
        </p:spPr>
        <p:txBody>
          <a:bodyPr>
            <a:normAutofit/>
          </a:bodyPr>
          <a:lstStyle/>
          <a:p>
            <a:pPr marL="457200" lvl="1" indent="-457200">
              <a:buNone/>
            </a:pPr>
            <a:r>
              <a:rPr lang="en-IN" sz="2400" b="1" dirty="0" smtClean="0">
                <a:solidFill>
                  <a:srgbClr val="2B0AB6"/>
                </a:solidFill>
              </a:rPr>
              <a:t>Component-and-connector structures </a:t>
            </a:r>
            <a:r>
              <a:rPr lang="en-IN" sz="2400" dirty="0" smtClean="0">
                <a:solidFill>
                  <a:srgbClr val="002060"/>
                </a:solidFill>
              </a:rPr>
              <a:t>(</a:t>
            </a:r>
            <a:r>
              <a:rPr lang="en-US" sz="2400" dirty="0" smtClean="0">
                <a:solidFill>
                  <a:srgbClr val="002060"/>
                </a:solidFill>
              </a:rPr>
              <a:t>Example)</a:t>
            </a:r>
            <a:endParaRPr lang="en-US" sz="2400" dirty="0">
              <a:solidFill>
                <a:srgbClr val="002060"/>
              </a:solidFill>
            </a:endParaRPr>
          </a:p>
          <a:p>
            <a:pPr marL="457200" lvl="1" indent="-457200">
              <a:buNone/>
            </a:pPr>
            <a:endParaRPr lang="en-IN" sz="2400" b="1" dirty="0" smtClean="0">
              <a:solidFill>
                <a:srgbClr val="2B0AB6"/>
              </a:solidFill>
            </a:endParaRPr>
          </a:p>
          <a:p>
            <a:pPr marL="457200" lvl="1" indent="-457200">
              <a:buNone/>
            </a:pPr>
            <a:endParaRPr lang="en-IN" sz="2400" dirty="0">
              <a:solidFill>
                <a:srgbClr val="2B0AB6"/>
              </a:solidFill>
            </a:endParaRPr>
          </a:p>
        </p:txBody>
      </p:sp>
      <p:sp>
        <p:nvSpPr>
          <p:cNvPr id="5" name="Slide Number Placeholder 4"/>
          <p:cNvSpPr>
            <a:spLocks noGrp="1"/>
          </p:cNvSpPr>
          <p:nvPr>
            <p:ph type="sldNum" sz="quarter" idx="12"/>
          </p:nvPr>
        </p:nvSpPr>
        <p:spPr/>
        <p:txBody>
          <a:bodyPr/>
          <a:lstStyle/>
          <a:p>
            <a:fld id="{26011043-848E-4CA3-808D-B3CFD8CB8118}" type="slidenum">
              <a:rPr lang="en-US" smtClean="0">
                <a:solidFill>
                  <a:prstClr val="black">
                    <a:tint val="75000"/>
                  </a:prstClr>
                </a:solidFill>
              </a:rPr>
              <a:pPr/>
              <a:t>23</a:t>
            </a:fld>
            <a:endParaRPr lang="en-US">
              <a:solidFill>
                <a:prstClr val="black">
                  <a:tint val="75000"/>
                </a:prstClr>
              </a:solidFill>
            </a:endParaRPr>
          </a:p>
        </p:txBody>
      </p:sp>
      <p:sp>
        <p:nvSpPr>
          <p:cNvPr id="6" name="Footer Placeholder 5"/>
          <p:cNvSpPr>
            <a:spLocks noGrp="1"/>
          </p:cNvSpPr>
          <p:nvPr/>
        </p:nvSpPr>
        <p:spPr>
          <a:xfrm>
            <a:off x="400050" y="6507326"/>
            <a:ext cx="6092276" cy="365125"/>
          </a:xfrm>
          <a:prstGeom prst="rect">
            <a:avLst/>
          </a:prstGeom>
        </p:spPr>
        <p:txBody>
          <a:bodyPr vert="horz" lIns="91440" tIns="45720" rIns="91440" bIns="4572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i="1" dirty="0" smtClean="0">
                <a:solidFill>
                  <a:prstClr val="black"/>
                </a:solidFill>
              </a:rPr>
              <a:t>@Dr. </a:t>
            </a:r>
            <a:r>
              <a:rPr lang="en-US" sz="1100" i="1" dirty="0" err="1" smtClean="0">
                <a:solidFill>
                  <a:prstClr val="black"/>
                </a:solidFill>
              </a:rPr>
              <a:t>Ugrasen</a:t>
            </a:r>
            <a:r>
              <a:rPr lang="en-US" sz="1100" i="1" dirty="0" smtClean="0">
                <a:solidFill>
                  <a:prstClr val="black"/>
                </a:solidFill>
              </a:rPr>
              <a:t> Suman, Professor, SCSIT, DAVV Indore (MP), India</a:t>
            </a:r>
            <a:endParaRPr lang="en-US" sz="1100" i="1" dirty="0">
              <a:solidFill>
                <a:prstClr val="black"/>
              </a:solidFill>
            </a:endParaRPr>
          </a:p>
        </p:txBody>
      </p:sp>
      <p:pic>
        <p:nvPicPr>
          <p:cNvPr id="4" name="Picture 3"/>
          <p:cNvPicPr>
            <a:picLocks noChangeAspect="1"/>
          </p:cNvPicPr>
          <p:nvPr/>
        </p:nvPicPr>
        <p:blipFill>
          <a:blip r:embed="rId2"/>
          <a:stretch>
            <a:fillRect/>
          </a:stretch>
        </p:blipFill>
        <p:spPr>
          <a:xfrm>
            <a:off x="374650" y="1510807"/>
            <a:ext cx="3632850" cy="4211200"/>
          </a:xfrm>
          <a:prstGeom prst="rect">
            <a:avLst/>
          </a:prstGeom>
        </p:spPr>
      </p:pic>
      <p:pic>
        <p:nvPicPr>
          <p:cNvPr id="7" name="Picture 6"/>
          <p:cNvPicPr>
            <a:picLocks noChangeAspect="1"/>
          </p:cNvPicPr>
          <p:nvPr/>
        </p:nvPicPr>
        <p:blipFill>
          <a:blip r:embed="rId3"/>
          <a:stretch>
            <a:fillRect/>
          </a:stretch>
        </p:blipFill>
        <p:spPr>
          <a:xfrm>
            <a:off x="4343400" y="2209800"/>
            <a:ext cx="4166250" cy="2362200"/>
          </a:xfrm>
          <a:prstGeom prst="rect">
            <a:avLst/>
          </a:prstGeom>
        </p:spPr>
      </p:pic>
    </p:spTree>
    <p:extLst>
      <p:ext uri="{BB962C8B-B14F-4D97-AF65-F5344CB8AC3E}">
        <p14:creationId xmlns:p14="http://schemas.microsoft.com/office/powerpoint/2010/main" val="2437700552"/>
      </p:ext>
    </p:extLst>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22075"/>
            <a:ext cx="8229600" cy="654213"/>
          </a:xfrm>
        </p:spPr>
        <p:txBody>
          <a:bodyPr vert="horz" lIns="91440" tIns="45720" rIns="91440" bIns="45720" rtlCol="0" anchor="ctr">
            <a:noAutofit/>
          </a:bodyPr>
          <a:lstStyle/>
          <a:p>
            <a:r>
              <a:rPr lang="en-US" sz="3200" b="1" dirty="0" smtClean="0">
                <a:solidFill>
                  <a:srgbClr val="C00000"/>
                </a:solidFill>
                <a:cs typeface="Times New Roman" pitchFamily="18" charset="0"/>
              </a:rPr>
              <a:t>Architectural Structures</a:t>
            </a:r>
            <a:endParaRPr lang="en-US" sz="3200" b="1" dirty="0">
              <a:solidFill>
                <a:srgbClr val="C00000"/>
              </a:solidFill>
              <a:cs typeface="Times New Roman" pitchFamily="18" charset="0"/>
            </a:endParaRPr>
          </a:p>
        </p:txBody>
      </p:sp>
      <p:sp>
        <p:nvSpPr>
          <p:cNvPr id="3" name="Content Placeholder 2"/>
          <p:cNvSpPr>
            <a:spLocks noGrp="1"/>
          </p:cNvSpPr>
          <p:nvPr>
            <p:ph idx="1"/>
          </p:nvPr>
        </p:nvSpPr>
        <p:spPr>
          <a:xfrm>
            <a:off x="457200" y="839461"/>
            <a:ext cx="8229600" cy="5516889"/>
          </a:xfrm>
        </p:spPr>
        <p:txBody>
          <a:bodyPr>
            <a:normAutofit fontScale="25000" lnSpcReduction="20000"/>
          </a:bodyPr>
          <a:lstStyle/>
          <a:p>
            <a:pPr marL="457200" lvl="1" indent="-457200">
              <a:buNone/>
            </a:pPr>
            <a:r>
              <a:rPr lang="en-IN" sz="9600" b="1" dirty="0" smtClean="0">
                <a:solidFill>
                  <a:srgbClr val="2B0AB6"/>
                </a:solidFill>
              </a:rPr>
              <a:t>Component-and-connector structures</a:t>
            </a:r>
          </a:p>
          <a:p>
            <a:pPr indent="-165100"/>
            <a:r>
              <a:rPr lang="en-US" sz="8000" dirty="0"/>
              <a:t>The relation in all C&amp;C structures is </a:t>
            </a:r>
            <a:r>
              <a:rPr lang="en-US" sz="8000" i="1" dirty="0"/>
              <a:t>attachment</a:t>
            </a:r>
            <a:r>
              <a:rPr lang="en-US" sz="8000" dirty="0"/>
              <a:t>, showing how the components and </a:t>
            </a:r>
            <a:r>
              <a:rPr lang="en-US" sz="8000" dirty="0" smtClean="0"/>
              <a:t>the connectors </a:t>
            </a:r>
            <a:r>
              <a:rPr lang="en-US" sz="8000" dirty="0"/>
              <a:t>are hooked together. </a:t>
            </a:r>
            <a:endParaRPr lang="en-US" sz="8000" dirty="0" smtClean="0"/>
          </a:p>
          <a:p>
            <a:pPr indent="-165100"/>
            <a:r>
              <a:rPr lang="en-US" sz="8000" dirty="0" smtClean="0"/>
              <a:t>Useful </a:t>
            </a:r>
            <a:r>
              <a:rPr lang="en-US" sz="8000" dirty="0"/>
              <a:t>C&amp;C </a:t>
            </a:r>
            <a:r>
              <a:rPr lang="en-US" sz="8000" dirty="0" smtClean="0"/>
              <a:t>structures:</a:t>
            </a:r>
            <a:endParaRPr lang="en-US" sz="8000" dirty="0"/>
          </a:p>
          <a:p>
            <a:pPr indent="-165100"/>
            <a:r>
              <a:rPr lang="en-US" sz="8000" dirty="0" smtClean="0">
                <a:solidFill>
                  <a:srgbClr val="2B0AB6"/>
                </a:solidFill>
              </a:rPr>
              <a:t>Service structure </a:t>
            </a:r>
          </a:p>
          <a:p>
            <a:pPr lvl="1" indent="-165100"/>
            <a:r>
              <a:rPr lang="en-US" sz="8000" dirty="0" smtClean="0"/>
              <a:t>The </a:t>
            </a:r>
            <a:r>
              <a:rPr lang="en-US" sz="8000" dirty="0"/>
              <a:t>units here are services that interoperate through a </a:t>
            </a:r>
            <a:r>
              <a:rPr lang="en-US" sz="8000" dirty="0" smtClean="0"/>
              <a:t>service coordination mechanism</a:t>
            </a:r>
            <a:r>
              <a:rPr lang="en-US" sz="8000" dirty="0"/>
              <a:t>, such as messages. </a:t>
            </a:r>
            <a:endParaRPr lang="en-US" sz="8000" dirty="0" smtClean="0"/>
          </a:p>
          <a:p>
            <a:pPr lvl="1" indent="-165100"/>
            <a:r>
              <a:rPr lang="en-US" sz="8000" dirty="0" smtClean="0"/>
              <a:t>The </a:t>
            </a:r>
            <a:r>
              <a:rPr lang="en-US" sz="8000" dirty="0"/>
              <a:t>service structure is an important structure </a:t>
            </a:r>
            <a:r>
              <a:rPr lang="en-US" sz="8000" dirty="0" smtClean="0"/>
              <a:t>to help </a:t>
            </a:r>
            <a:r>
              <a:rPr lang="en-US" sz="8000" dirty="0"/>
              <a:t>engineer a system composed of components that may have been developed </a:t>
            </a:r>
            <a:r>
              <a:rPr lang="en-US" sz="8000" dirty="0" smtClean="0"/>
              <a:t>independently </a:t>
            </a:r>
            <a:r>
              <a:rPr lang="en-IN" sz="8000" dirty="0" smtClean="0"/>
              <a:t>of </a:t>
            </a:r>
            <a:r>
              <a:rPr lang="en-IN" sz="8000" dirty="0"/>
              <a:t>each other.</a:t>
            </a:r>
          </a:p>
          <a:p>
            <a:pPr indent="-165100"/>
            <a:r>
              <a:rPr lang="en-US" sz="8000" dirty="0" smtClean="0">
                <a:solidFill>
                  <a:srgbClr val="2B0AB6"/>
                </a:solidFill>
              </a:rPr>
              <a:t>Concurrency structure</a:t>
            </a:r>
          </a:p>
          <a:p>
            <a:pPr lvl="1" indent="-165100"/>
            <a:r>
              <a:rPr lang="en-US" sz="8000" dirty="0" smtClean="0"/>
              <a:t>This </a:t>
            </a:r>
            <a:r>
              <a:rPr lang="en-US" sz="8000" dirty="0"/>
              <a:t>C&amp;C structure allows the architect to determine </a:t>
            </a:r>
            <a:r>
              <a:rPr lang="en-US" sz="8000" dirty="0" smtClean="0"/>
              <a:t>opportunities for </a:t>
            </a:r>
            <a:r>
              <a:rPr lang="en-US" sz="8000" dirty="0"/>
              <a:t>parallelism and the locations where resource contention may occur. </a:t>
            </a:r>
            <a:endParaRPr lang="en-US" sz="8000" dirty="0" smtClean="0"/>
          </a:p>
          <a:p>
            <a:pPr lvl="1" indent="-165100"/>
            <a:r>
              <a:rPr lang="en-US" sz="8000" dirty="0" smtClean="0"/>
              <a:t>The </a:t>
            </a:r>
            <a:r>
              <a:rPr lang="en-US" sz="8000" dirty="0"/>
              <a:t>units </a:t>
            </a:r>
            <a:r>
              <a:rPr lang="en-US" sz="8000" dirty="0" smtClean="0"/>
              <a:t>are components</a:t>
            </a:r>
            <a:r>
              <a:rPr lang="en-US" sz="8000" dirty="0"/>
              <a:t>, and the connectors are their communication mechanisms. </a:t>
            </a:r>
            <a:endParaRPr lang="en-US" sz="8000" dirty="0" smtClean="0"/>
          </a:p>
          <a:p>
            <a:pPr lvl="1" indent="-165100"/>
            <a:r>
              <a:rPr lang="en-US" sz="8000" dirty="0" smtClean="0"/>
              <a:t>The components are </a:t>
            </a:r>
            <a:r>
              <a:rPr lang="en-US" sz="8000" dirty="0"/>
              <a:t>arranged into “logical threads.” </a:t>
            </a:r>
            <a:endParaRPr lang="en-US" sz="8000" dirty="0" smtClean="0"/>
          </a:p>
          <a:p>
            <a:pPr lvl="1" indent="-165100"/>
            <a:r>
              <a:rPr lang="en-US" sz="8000" dirty="0" smtClean="0"/>
              <a:t>The concurrency structure </a:t>
            </a:r>
            <a:r>
              <a:rPr lang="en-US" sz="8000" dirty="0"/>
              <a:t>is used early in the design process to identify and manage issues </a:t>
            </a:r>
            <a:r>
              <a:rPr lang="en-US" sz="8000" dirty="0" smtClean="0"/>
              <a:t>associated </a:t>
            </a:r>
            <a:r>
              <a:rPr lang="en-IN" sz="8000" dirty="0" smtClean="0"/>
              <a:t>with </a:t>
            </a:r>
            <a:r>
              <a:rPr lang="en-IN" sz="8000" dirty="0"/>
              <a:t>concurrent execution.</a:t>
            </a:r>
            <a:endParaRPr lang="en-IN" sz="8000" dirty="0">
              <a:solidFill>
                <a:srgbClr val="2B0AB6"/>
              </a:solidFill>
            </a:endParaRPr>
          </a:p>
        </p:txBody>
      </p:sp>
      <p:sp>
        <p:nvSpPr>
          <p:cNvPr id="5" name="Slide Number Placeholder 4"/>
          <p:cNvSpPr>
            <a:spLocks noGrp="1"/>
          </p:cNvSpPr>
          <p:nvPr>
            <p:ph type="sldNum" sz="quarter" idx="12"/>
          </p:nvPr>
        </p:nvSpPr>
        <p:spPr/>
        <p:txBody>
          <a:bodyPr/>
          <a:lstStyle/>
          <a:p>
            <a:fld id="{26011043-848E-4CA3-808D-B3CFD8CB8118}" type="slidenum">
              <a:rPr lang="en-US" smtClean="0">
                <a:solidFill>
                  <a:prstClr val="black">
                    <a:tint val="75000"/>
                  </a:prstClr>
                </a:solidFill>
              </a:rPr>
              <a:pPr/>
              <a:t>24</a:t>
            </a:fld>
            <a:endParaRPr lang="en-US">
              <a:solidFill>
                <a:prstClr val="black">
                  <a:tint val="75000"/>
                </a:prstClr>
              </a:solidFill>
            </a:endParaRPr>
          </a:p>
        </p:txBody>
      </p:sp>
      <p:sp>
        <p:nvSpPr>
          <p:cNvPr id="6" name="Footer Placeholder 5"/>
          <p:cNvSpPr>
            <a:spLocks noGrp="1"/>
          </p:cNvSpPr>
          <p:nvPr/>
        </p:nvSpPr>
        <p:spPr>
          <a:xfrm>
            <a:off x="400050" y="6507326"/>
            <a:ext cx="6092276" cy="365125"/>
          </a:xfrm>
          <a:prstGeom prst="rect">
            <a:avLst/>
          </a:prstGeom>
        </p:spPr>
        <p:txBody>
          <a:bodyPr vert="horz" lIns="91440" tIns="45720" rIns="91440" bIns="4572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i="1" dirty="0" smtClean="0">
                <a:solidFill>
                  <a:prstClr val="black"/>
                </a:solidFill>
              </a:rPr>
              <a:t>@Dr. </a:t>
            </a:r>
            <a:r>
              <a:rPr lang="en-US" sz="1100" i="1" dirty="0" err="1" smtClean="0">
                <a:solidFill>
                  <a:prstClr val="black"/>
                </a:solidFill>
              </a:rPr>
              <a:t>Ugrasen</a:t>
            </a:r>
            <a:r>
              <a:rPr lang="en-US" sz="1100" i="1" dirty="0" smtClean="0">
                <a:solidFill>
                  <a:prstClr val="black"/>
                </a:solidFill>
              </a:rPr>
              <a:t> Suman, Professor, SCSIT, DAVV Indore (MP), India</a:t>
            </a:r>
            <a:endParaRPr lang="en-US" sz="1100" i="1" dirty="0">
              <a:solidFill>
                <a:prstClr val="black"/>
              </a:solidFill>
            </a:endParaRPr>
          </a:p>
        </p:txBody>
      </p:sp>
    </p:spTree>
    <p:extLst>
      <p:ext uri="{BB962C8B-B14F-4D97-AF65-F5344CB8AC3E}">
        <p14:creationId xmlns:p14="http://schemas.microsoft.com/office/powerpoint/2010/main" val="3659116617"/>
      </p:ext>
    </p:extLst>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22075"/>
            <a:ext cx="8229600" cy="868362"/>
          </a:xfrm>
        </p:spPr>
        <p:txBody>
          <a:bodyPr vert="horz" lIns="91440" tIns="45720" rIns="91440" bIns="45720" rtlCol="0" anchor="ctr">
            <a:noAutofit/>
          </a:bodyPr>
          <a:lstStyle/>
          <a:p>
            <a:r>
              <a:rPr lang="en-US" sz="3200" b="1" dirty="0" smtClean="0">
                <a:solidFill>
                  <a:srgbClr val="C00000"/>
                </a:solidFill>
                <a:cs typeface="Times New Roman" pitchFamily="18" charset="0"/>
              </a:rPr>
              <a:t>Architectural Structures</a:t>
            </a:r>
            <a:endParaRPr lang="en-US" sz="3200" b="1" dirty="0">
              <a:solidFill>
                <a:srgbClr val="C00000"/>
              </a:solidFill>
              <a:cs typeface="Times New Roman" pitchFamily="18" charset="0"/>
            </a:endParaRPr>
          </a:p>
        </p:txBody>
      </p:sp>
      <p:sp>
        <p:nvSpPr>
          <p:cNvPr id="3" name="Content Placeholder 2"/>
          <p:cNvSpPr>
            <a:spLocks noGrp="1"/>
          </p:cNvSpPr>
          <p:nvPr>
            <p:ph idx="1"/>
          </p:nvPr>
        </p:nvSpPr>
        <p:spPr>
          <a:xfrm>
            <a:off x="457200" y="1143000"/>
            <a:ext cx="8153400" cy="5213350"/>
          </a:xfrm>
        </p:spPr>
        <p:txBody>
          <a:bodyPr>
            <a:noAutofit/>
          </a:bodyPr>
          <a:lstStyle/>
          <a:p>
            <a:pPr marL="457200" lvl="1" indent="-457200">
              <a:lnSpc>
                <a:spcPct val="80000"/>
              </a:lnSpc>
              <a:buNone/>
            </a:pPr>
            <a:r>
              <a:rPr lang="en-IN" sz="2400" b="1" dirty="0">
                <a:solidFill>
                  <a:srgbClr val="2B0AB6"/>
                </a:solidFill>
              </a:rPr>
              <a:t>Module </a:t>
            </a:r>
            <a:r>
              <a:rPr lang="en-IN" sz="2400" b="1" dirty="0" smtClean="0">
                <a:solidFill>
                  <a:srgbClr val="2B0AB6"/>
                </a:solidFill>
              </a:rPr>
              <a:t>structures</a:t>
            </a:r>
          </a:p>
          <a:p>
            <a:r>
              <a:rPr lang="en-US" sz="2200" i="1" dirty="0"/>
              <a:t>Module structures </a:t>
            </a:r>
            <a:r>
              <a:rPr lang="en-US" sz="2200" dirty="0"/>
              <a:t>partition systems into implementation units, </a:t>
            </a:r>
            <a:r>
              <a:rPr lang="en-US" sz="2200" dirty="0" smtClean="0"/>
              <a:t>called </a:t>
            </a:r>
            <a:r>
              <a:rPr lang="en-US" sz="2200" i="1" dirty="0"/>
              <a:t>modules</a:t>
            </a:r>
            <a:r>
              <a:rPr lang="en-US" sz="2200" dirty="0"/>
              <a:t>. </a:t>
            </a:r>
            <a:endParaRPr lang="en-US" sz="2200" dirty="0" smtClean="0"/>
          </a:p>
          <a:p>
            <a:r>
              <a:rPr lang="en-US" sz="2200" dirty="0" smtClean="0"/>
              <a:t>Module </a:t>
            </a:r>
            <a:r>
              <a:rPr lang="en-US" sz="2200" dirty="0"/>
              <a:t>structures show how a system is structured as a set of code or </a:t>
            </a:r>
            <a:r>
              <a:rPr lang="en-US" sz="2200" dirty="0" smtClean="0"/>
              <a:t>data units </a:t>
            </a:r>
            <a:r>
              <a:rPr lang="en-US" sz="2200" dirty="0"/>
              <a:t>that have to be constructed or procured. </a:t>
            </a:r>
            <a:endParaRPr lang="en-US" sz="2200" dirty="0" smtClean="0"/>
          </a:p>
          <a:p>
            <a:r>
              <a:rPr lang="en-US" sz="2200" dirty="0" smtClean="0"/>
              <a:t>Modules </a:t>
            </a:r>
            <a:r>
              <a:rPr lang="en-US" sz="2200" dirty="0"/>
              <a:t>are assigned specific </a:t>
            </a:r>
            <a:r>
              <a:rPr lang="en-US" sz="2200" dirty="0" smtClean="0"/>
              <a:t>computational responsibilities </a:t>
            </a:r>
            <a:r>
              <a:rPr lang="en-US" sz="2200" dirty="0"/>
              <a:t>and are the basis of work assignments for programming teams. </a:t>
            </a:r>
            <a:endParaRPr lang="en-US" sz="2200" dirty="0" smtClean="0"/>
          </a:p>
          <a:p>
            <a:r>
              <a:rPr lang="en-US" sz="2200" dirty="0" smtClean="0"/>
              <a:t>Modules </a:t>
            </a:r>
            <a:r>
              <a:rPr lang="en-US" sz="2200" dirty="0"/>
              <a:t>are assigned areas </a:t>
            </a:r>
            <a:r>
              <a:rPr lang="en-US" sz="2200" dirty="0" smtClean="0"/>
              <a:t>of functional </a:t>
            </a:r>
            <a:r>
              <a:rPr lang="en-US" sz="2200" dirty="0"/>
              <a:t>responsibility; there is less emphasis in these structures on how the </a:t>
            </a:r>
            <a:r>
              <a:rPr lang="en-US" sz="2200" dirty="0" smtClean="0"/>
              <a:t>resulting software </a:t>
            </a:r>
            <a:r>
              <a:rPr lang="en-US" sz="2200" dirty="0"/>
              <a:t>manifests itself at runtime. </a:t>
            </a:r>
            <a:endParaRPr lang="en-US" sz="2200" dirty="0" smtClean="0"/>
          </a:p>
          <a:p>
            <a:r>
              <a:rPr lang="en-US" sz="2200" dirty="0" smtClean="0"/>
              <a:t>Module </a:t>
            </a:r>
            <a:r>
              <a:rPr lang="en-US" sz="2200" dirty="0"/>
              <a:t>implementations include packages, classes</a:t>
            </a:r>
            <a:r>
              <a:rPr lang="en-US" sz="2200" dirty="0" smtClean="0"/>
              <a:t>, and </a:t>
            </a:r>
            <a:r>
              <a:rPr lang="en-US" sz="2200" dirty="0"/>
              <a:t>layers. </a:t>
            </a:r>
            <a:endParaRPr lang="en-US" sz="2200" dirty="0" smtClean="0"/>
          </a:p>
          <a:p>
            <a:r>
              <a:rPr lang="en-US" sz="2200" dirty="0" smtClean="0"/>
              <a:t>Relations </a:t>
            </a:r>
            <a:r>
              <a:rPr lang="en-US" sz="2200" dirty="0"/>
              <a:t>among modules in a module structure include uses, </a:t>
            </a:r>
            <a:r>
              <a:rPr lang="en-US" sz="2200" dirty="0" smtClean="0"/>
              <a:t>generalization (</a:t>
            </a:r>
            <a:r>
              <a:rPr lang="en-US" sz="2200" dirty="0"/>
              <a:t>or “is-a”), and “is part of.” </a:t>
            </a:r>
            <a:endParaRPr lang="en-US" sz="2200" dirty="0" smtClean="0"/>
          </a:p>
        </p:txBody>
      </p:sp>
      <p:sp>
        <p:nvSpPr>
          <p:cNvPr id="5" name="Slide Number Placeholder 4"/>
          <p:cNvSpPr>
            <a:spLocks noGrp="1"/>
          </p:cNvSpPr>
          <p:nvPr>
            <p:ph type="sldNum" sz="quarter" idx="12"/>
          </p:nvPr>
        </p:nvSpPr>
        <p:spPr/>
        <p:txBody>
          <a:bodyPr/>
          <a:lstStyle/>
          <a:p>
            <a:fld id="{26011043-848E-4CA3-808D-B3CFD8CB8118}" type="slidenum">
              <a:rPr lang="en-US" smtClean="0">
                <a:solidFill>
                  <a:prstClr val="black">
                    <a:tint val="75000"/>
                  </a:prstClr>
                </a:solidFill>
              </a:rPr>
              <a:pPr/>
              <a:t>25</a:t>
            </a:fld>
            <a:endParaRPr lang="en-US">
              <a:solidFill>
                <a:prstClr val="black">
                  <a:tint val="75000"/>
                </a:prstClr>
              </a:solidFill>
            </a:endParaRPr>
          </a:p>
        </p:txBody>
      </p:sp>
      <p:sp>
        <p:nvSpPr>
          <p:cNvPr id="6" name="Footer Placeholder 5"/>
          <p:cNvSpPr>
            <a:spLocks noGrp="1"/>
          </p:cNvSpPr>
          <p:nvPr/>
        </p:nvSpPr>
        <p:spPr>
          <a:xfrm>
            <a:off x="400050" y="6507326"/>
            <a:ext cx="6092276" cy="365125"/>
          </a:xfrm>
          <a:prstGeom prst="rect">
            <a:avLst/>
          </a:prstGeom>
        </p:spPr>
        <p:txBody>
          <a:bodyPr vert="horz" lIns="91440" tIns="45720" rIns="91440" bIns="4572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i="1" dirty="0" smtClean="0">
                <a:solidFill>
                  <a:prstClr val="black"/>
                </a:solidFill>
              </a:rPr>
              <a:t>@Dr. </a:t>
            </a:r>
            <a:r>
              <a:rPr lang="en-US" sz="1100" i="1" dirty="0" err="1" smtClean="0">
                <a:solidFill>
                  <a:prstClr val="black"/>
                </a:solidFill>
              </a:rPr>
              <a:t>Ugrasen</a:t>
            </a:r>
            <a:r>
              <a:rPr lang="en-US" sz="1100" i="1" dirty="0" smtClean="0">
                <a:solidFill>
                  <a:prstClr val="black"/>
                </a:solidFill>
              </a:rPr>
              <a:t> Suman, Professor, SCSIT, DAVV Indore (MP), India</a:t>
            </a:r>
            <a:endParaRPr lang="en-US" sz="1100" i="1" dirty="0">
              <a:solidFill>
                <a:prstClr val="black"/>
              </a:solidFill>
            </a:endParaRPr>
          </a:p>
        </p:txBody>
      </p:sp>
    </p:spTree>
    <p:extLst>
      <p:ext uri="{BB962C8B-B14F-4D97-AF65-F5344CB8AC3E}">
        <p14:creationId xmlns:p14="http://schemas.microsoft.com/office/powerpoint/2010/main" val="858765854"/>
      </p:ext>
    </p:extLst>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22075"/>
            <a:ext cx="8229600" cy="868362"/>
          </a:xfrm>
        </p:spPr>
        <p:txBody>
          <a:bodyPr vert="horz" lIns="91440" tIns="45720" rIns="91440" bIns="45720" rtlCol="0" anchor="ctr">
            <a:noAutofit/>
          </a:bodyPr>
          <a:lstStyle/>
          <a:p>
            <a:r>
              <a:rPr lang="en-US" sz="3200" b="1" dirty="0" smtClean="0">
                <a:solidFill>
                  <a:srgbClr val="C00000"/>
                </a:solidFill>
                <a:cs typeface="Times New Roman" pitchFamily="18" charset="0"/>
              </a:rPr>
              <a:t>Architectural Structures</a:t>
            </a:r>
            <a:endParaRPr lang="en-US" sz="3200" b="1" dirty="0">
              <a:solidFill>
                <a:srgbClr val="C00000"/>
              </a:solidFill>
              <a:cs typeface="Times New Roman" pitchFamily="18" charset="0"/>
            </a:endParaRPr>
          </a:p>
        </p:txBody>
      </p:sp>
      <p:sp>
        <p:nvSpPr>
          <p:cNvPr id="3" name="Content Placeholder 2"/>
          <p:cNvSpPr>
            <a:spLocks noGrp="1"/>
          </p:cNvSpPr>
          <p:nvPr>
            <p:ph idx="1"/>
          </p:nvPr>
        </p:nvSpPr>
        <p:spPr>
          <a:xfrm>
            <a:off x="457200" y="990437"/>
            <a:ext cx="8229600" cy="5516889"/>
          </a:xfrm>
        </p:spPr>
        <p:txBody>
          <a:bodyPr>
            <a:normAutofit/>
          </a:bodyPr>
          <a:lstStyle/>
          <a:p>
            <a:pPr marL="457200" lvl="1" indent="-457200">
              <a:lnSpc>
                <a:spcPct val="80000"/>
              </a:lnSpc>
              <a:buNone/>
            </a:pPr>
            <a:r>
              <a:rPr lang="en-IN" sz="2400" b="1" dirty="0">
                <a:solidFill>
                  <a:srgbClr val="2B0AB6"/>
                </a:solidFill>
              </a:rPr>
              <a:t>Module structures</a:t>
            </a:r>
          </a:p>
        </p:txBody>
      </p:sp>
      <p:sp>
        <p:nvSpPr>
          <p:cNvPr id="5" name="Slide Number Placeholder 4"/>
          <p:cNvSpPr>
            <a:spLocks noGrp="1"/>
          </p:cNvSpPr>
          <p:nvPr>
            <p:ph type="sldNum" sz="quarter" idx="12"/>
          </p:nvPr>
        </p:nvSpPr>
        <p:spPr/>
        <p:txBody>
          <a:bodyPr/>
          <a:lstStyle/>
          <a:p>
            <a:fld id="{26011043-848E-4CA3-808D-B3CFD8CB8118}" type="slidenum">
              <a:rPr lang="en-US" smtClean="0">
                <a:solidFill>
                  <a:prstClr val="black">
                    <a:tint val="75000"/>
                  </a:prstClr>
                </a:solidFill>
              </a:rPr>
              <a:pPr/>
              <a:t>26</a:t>
            </a:fld>
            <a:endParaRPr lang="en-US">
              <a:solidFill>
                <a:prstClr val="black">
                  <a:tint val="75000"/>
                </a:prstClr>
              </a:solidFill>
            </a:endParaRPr>
          </a:p>
        </p:txBody>
      </p:sp>
      <p:sp>
        <p:nvSpPr>
          <p:cNvPr id="6" name="Footer Placeholder 5"/>
          <p:cNvSpPr>
            <a:spLocks noGrp="1"/>
          </p:cNvSpPr>
          <p:nvPr/>
        </p:nvSpPr>
        <p:spPr>
          <a:xfrm>
            <a:off x="400050" y="6507326"/>
            <a:ext cx="6092276" cy="365125"/>
          </a:xfrm>
          <a:prstGeom prst="rect">
            <a:avLst/>
          </a:prstGeom>
        </p:spPr>
        <p:txBody>
          <a:bodyPr vert="horz" lIns="91440" tIns="45720" rIns="91440" bIns="4572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i="1" dirty="0" smtClean="0">
                <a:solidFill>
                  <a:prstClr val="black"/>
                </a:solidFill>
              </a:rPr>
              <a:t>@Dr. </a:t>
            </a:r>
            <a:r>
              <a:rPr lang="en-US" sz="1100" i="1" dirty="0" err="1" smtClean="0">
                <a:solidFill>
                  <a:prstClr val="black"/>
                </a:solidFill>
              </a:rPr>
              <a:t>Ugrasen</a:t>
            </a:r>
            <a:r>
              <a:rPr lang="en-US" sz="1100" i="1" dirty="0" smtClean="0">
                <a:solidFill>
                  <a:prstClr val="black"/>
                </a:solidFill>
              </a:rPr>
              <a:t> Suman, Professor, SCSIT, DAVV Indore (MP), India</a:t>
            </a:r>
            <a:endParaRPr lang="en-US" sz="1100" i="1" dirty="0">
              <a:solidFill>
                <a:prstClr val="black"/>
              </a:solidFill>
            </a:endParaRPr>
          </a:p>
        </p:txBody>
      </p:sp>
      <p:pic>
        <p:nvPicPr>
          <p:cNvPr id="7" name="Picture 6"/>
          <p:cNvPicPr>
            <a:picLocks noChangeAspect="1"/>
          </p:cNvPicPr>
          <p:nvPr/>
        </p:nvPicPr>
        <p:blipFill>
          <a:blip r:embed="rId2"/>
          <a:stretch>
            <a:fillRect/>
          </a:stretch>
        </p:blipFill>
        <p:spPr>
          <a:xfrm>
            <a:off x="465667" y="1675252"/>
            <a:ext cx="4495800" cy="2822400"/>
          </a:xfrm>
          <a:prstGeom prst="rect">
            <a:avLst/>
          </a:prstGeom>
        </p:spPr>
      </p:pic>
      <p:pic>
        <p:nvPicPr>
          <p:cNvPr id="8" name="Picture 7"/>
          <p:cNvPicPr>
            <a:picLocks noChangeAspect="1"/>
          </p:cNvPicPr>
          <p:nvPr/>
        </p:nvPicPr>
        <p:blipFill>
          <a:blip r:embed="rId3"/>
          <a:stretch>
            <a:fillRect/>
          </a:stretch>
        </p:blipFill>
        <p:spPr>
          <a:xfrm>
            <a:off x="5105400" y="1600200"/>
            <a:ext cx="3886200" cy="3612772"/>
          </a:xfrm>
          <a:prstGeom prst="rect">
            <a:avLst/>
          </a:prstGeom>
        </p:spPr>
      </p:pic>
    </p:spTree>
    <p:extLst>
      <p:ext uri="{BB962C8B-B14F-4D97-AF65-F5344CB8AC3E}">
        <p14:creationId xmlns:p14="http://schemas.microsoft.com/office/powerpoint/2010/main" val="1100593037"/>
      </p:ext>
    </p:extLst>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22075"/>
            <a:ext cx="8229600" cy="654213"/>
          </a:xfrm>
        </p:spPr>
        <p:txBody>
          <a:bodyPr vert="horz" lIns="91440" tIns="45720" rIns="91440" bIns="45720" rtlCol="0" anchor="ctr">
            <a:noAutofit/>
          </a:bodyPr>
          <a:lstStyle/>
          <a:p>
            <a:r>
              <a:rPr lang="en-US" sz="3200" b="1" dirty="0" smtClean="0">
                <a:solidFill>
                  <a:srgbClr val="C00000"/>
                </a:solidFill>
                <a:cs typeface="Times New Roman" pitchFamily="18" charset="0"/>
              </a:rPr>
              <a:t>Architectural Structures</a:t>
            </a:r>
            <a:endParaRPr lang="en-US" sz="3200" b="1" dirty="0">
              <a:solidFill>
                <a:srgbClr val="C00000"/>
              </a:solidFill>
              <a:cs typeface="Times New Roman" pitchFamily="18" charset="0"/>
            </a:endParaRPr>
          </a:p>
        </p:txBody>
      </p:sp>
      <p:sp>
        <p:nvSpPr>
          <p:cNvPr id="3" name="Content Placeholder 2"/>
          <p:cNvSpPr>
            <a:spLocks noGrp="1"/>
          </p:cNvSpPr>
          <p:nvPr>
            <p:ph idx="1"/>
          </p:nvPr>
        </p:nvSpPr>
        <p:spPr>
          <a:xfrm>
            <a:off x="457200" y="839461"/>
            <a:ext cx="8229600" cy="5516889"/>
          </a:xfrm>
        </p:spPr>
        <p:txBody>
          <a:bodyPr>
            <a:normAutofit/>
          </a:bodyPr>
          <a:lstStyle/>
          <a:p>
            <a:pPr marL="457200" lvl="1" indent="-457200">
              <a:lnSpc>
                <a:spcPct val="80000"/>
              </a:lnSpc>
              <a:buNone/>
            </a:pPr>
            <a:r>
              <a:rPr lang="en-IN" sz="2400" b="1" dirty="0">
                <a:solidFill>
                  <a:srgbClr val="2B0AB6"/>
                </a:solidFill>
              </a:rPr>
              <a:t>Module </a:t>
            </a:r>
            <a:r>
              <a:rPr lang="en-IN" sz="2400" b="1" dirty="0" smtClean="0">
                <a:solidFill>
                  <a:srgbClr val="2B0AB6"/>
                </a:solidFill>
              </a:rPr>
              <a:t>structures </a:t>
            </a:r>
            <a:r>
              <a:rPr lang="en-IN" sz="2400" dirty="0" smtClean="0">
                <a:solidFill>
                  <a:srgbClr val="2B0AB6"/>
                </a:solidFill>
              </a:rPr>
              <a:t>(</a:t>
            </a:r>
            <a:r>
              <a:rPr lang="en-US" sz="2400" dirty="0" smtClean="0">
                <a:solidFill>
                  <a:srgbClr val="2B0AB6"/>
                </a:solidFill>
              </a:rPr>
              <a:t>Some </a:t>
            </a:r>
            <a:r>
              <a:rPr lang="en-US" sz="2400" dirty="0">
                <a:solidFill>
                  <a:srgbClr val="2B0AB6"/>
                </a:solidFill>
              </a:rPr>
              <a:t>Useful Module </a:t>
            </a:r>
            <a:r>
              <a:rPr lang="en-US" sz="2400" dirty="0" smtClean="0">
                <a:solidFill>
                  <a:srgbClr val="2B0AB6"/>
                </a:solidFill>
              </a:rPr>
              <a:t>Structures</a:t>
            </a:r>
            <a:r>
              <a:rPr lang="en-US" sz="2400" dirty="0">
                <a:solidFill>
                  <a:srgbClr val="2B0AB6"/>
                </a:solidFill>
              </a:rPr>
              <a:t>)</a:t>
            </a:r>
            <a:endParaRPr lang="en-US" sz="2400" dirty="0" smtClean="0">
              <a:solidFill>
                <a:srgbClr val="2B0AB6"/>
              </a:solidFill>
            </a:endParaRPr>
          </a:p>
          <a:p>
            <a:pPr indent="-165100"/>
            <a:r>
              <a:rPr lang="en-IN" sz="2400" dirty="0"/>
              <a:t>Decomposition </a:t>
            </a:r>
            <a:r>
              <a:rPr lang="en-IN" sz="2400" dirty="0" smtClean="0"/>
              <a:t>structure</a:t>
            </a:r>
          </a:p>
          <a:p>
            <a:pPr indent="-165100"/>
            <a:r>
              <a:rPr lang="en-IN" sz="2400" dirty="0"/>
              <a:t>Uses </a:t>
            </a:r>
            <a:r>
              <a:rPr lang="en-IN" sz="2400" dirty="0" smtClean="0"/>
              <a:t>structure</a:t>
            </a:r>
          </a:p>
          <a:p>
            <a:pPr indent="-165100"/>
            <a:r>
              <a:rPr lang="en-IN" sz="2400" dirty="0" smtClean="0">
                <a:solidFill>
                  <a:srgbClr val="2B0AB6"/>
                </a:solidFill>
              </a:rPr>
              <a:t>Layer structure</a:t>
            </a:r>
          </a:p>
          <a:p>
            <a:pPr indent="-165100"/>
            <a:r>
              <a:rPr lang="en-IN" sz="2400" dirty="0">
                <a:solidFill>
                  <a:srgbClr val="2B0AB6"/>
                </a:solidFill>
              </a:rPr>
              <a:t>Class (or generalization) </a:t>
            </a:r>
            <a:r>
              <a:rPr lang="en-IN" sz="2400" dirty="0" smtClean="0">
                <a:solidFill>
                  <a:srgbClr val="2B0AB6"/>
                </a:solidFill>
              </a:rPr>
              <a:t>structure</a:t>
            </a:r>
          </a:p>
          <a:p>
            <a:pPr indent="-165100"/>
            <a:r>
              <a:rPr lang="en-IN" sz="2400" dirty="0"/>
              <a:t>Data </a:t>
            </a:r>
            <a:r>
              <a:rPr lang="en-IN" sz="2400" dirty="0" smtClean="0"/>
              <a:t>model</a:t>
            </a:r>
          </a:p>
          <a:p>
            <a:pPr marL="177800" indent="0">
              <a:buNone/>
            </a:pPr>
            <a:endParaRPr lang="en-US" sz="2400" dirty="0"/>
          </a:p>
        </p:txBody>
      </p:sp>
      <p:sp>
        <p:nvSpPr>
          <p:cNvPr id="5" name="Slide Number Placeholder 4"/>
          <p:cNvSpPr>
            <a:spLocks noGrp="1"/>
          </p:cNvSpPr>
          <p:nvPr>
            <p:ph type="sldNum" sz="quarter" idx="12"/>
          </p:nvPr>
        </p:nvSpPr>
        <p:spPr/>
        <p:txBody>
          <a:bodyPr/>
          <a:lstStyle/>
          <a:p>
            <a:fld id="{26011043-848E-4CA3-808D-B3CFD8CB8118}" type="slidenum">
              <a:rPr lang="en-US" smtClean="0">
                <a:solidFill>
                  <a:prstClr val="black">
                    <a:tint val="75000"/>
                  </a:prstClr>
                </a:solidFill>
              </a:rPr>
              <a:pPr/>
              <a:t>27</a:t>
            </a:fld>
            <a:endParaRPr lang="en-US">
              <a:solidFill>
                <a:prstClr val="black">
                  <a:tint val="75000"/>
                </a:prstClr>
              </a:solidFill>
            </a:endParaRPr>
          </a:p>
        </p:txBody>
      </p:sp>
      <p:sp>
        <p:nvSpPr>
          <p:cNvPr id="6" name="Footer Placeholder 5"/>
          <p:cNvSpPr>
            <a:spLocks noGrp="1"/>
          </p:cNvSpPr>
          <p:nvPr/>
        </p:nvSpPr>
        <p:spPr>
          <a:xfrm>
            <a:off x="400050" y="6507326"/>
            <a:ext cx="6092276" cy="365125"/>
          </a:xfrm>
          <a:prstGeom prst="rect">
            <a:avLst/>
          </a:prstGeom>
        </p:spPr>
        <p:txBody>
          <a:bodyPr vert="horz" lIns="91440" tIns="45720" rIns="91440" bIns="4572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i="1" dirty="0" smtClean="0">
                <a:solidFill>
                  <a:prstClr val="black"/>
                </a:solidFill>
              </a:rPr>
              <a:t>@Dr. </a:t>
            </a:r>
            <a:r>
              <a:rPr lang="en-US" sz="1100" i="1" dirty="0" err="1" smtClean="0">
                <a:solidFill>
                  <a:prstClr val="black"/>
                </a:solidFill>
              </a:rPr>
              <a:t>Ugrasen</a:t>
            </a:r>
            <a:r>
              <a:rPr lang="en-US" sz="1100" i="1" dirty="0" smtClean="0">
                <a:solidFill>
                  <a:prstClr val="black"/>
                </a:solidFill>
              </a:rPr>
              <a:t> Suman, Professor, SCSIT, DAVV Indore (MP), India</a:t>
            </a:r>
            <a:endParaRPr lang="en-US" sz="1100" i="1" dirty="0">
              <a:solidFill>
                <a:prstClr val="black"/>
              </a:solidFill>
            </a:endParaRPr>
          </a:p>
        </p:txBody>
      </p:sp>
      <p:pic>
        <p:nvPicPr>
          <p:cNvPr id="4" name="Picture 3"/>
          <p:cNvPicPr>
            <a:picLocks noChangeAspect="1"/>
          </p:cNvPicPr>
          <p:nvPr/>
        </p:nvPicPr>
        <p:blipFill>
          <a:blip r:embed="rId2"/>
          <a:stretch>
            <a:fillRect/>
          </a:stretch>
        </p:blipFill>
        <p:spPr>
          <a:xfrm>
            <a:off x="5257799" y="2514600"/>
            <a:ext cx="3462867" cy="3841750"/>
          </a:xfrm>
          <a:prstGeom prst="rect">
            <a:avLst/>
          </a:prstGeom>
        </p:spPr>
      </p:pic>
      <p:pic>
        <p:nvPicPr>
          <p:cNvPr id="7" name="Picture 6"/>
          <p:cNvPicPr>
            <a:picLocks noChangeAspect="1"/>
          </p:cNvPicPr>
          <p:nvPr/>
        </p:nvPicPr>
        <p:blipFill>
          <a:blip r:embed="rId3"/>
          <a:stretch>
            <a:fillRect/>
          </a:stretch>
        </p:blipFill>
        <p:spPr>
          <a:xfrm>
            <a:off x="1015194" y="3394699"/>
            <a:ext cx="3252005" cy="3037139"/>
          </a:xfrm>
          <a:prstGeom prst="rect">
            <a:avLst/>
          </a:prstGeom>
        </p:spPr>
      </p:pic>
    </p:spTree>
    <p:extLst>
      <p:ext uri="{BB962C8B-B14F-4D97-AF65-F5344CB8AC3E}">
        <p14:creationId xmlns:p14="http://schemas.microsoft.com/office/powerpoint/2010/main" val="247314480"/>
      </p:ext>
    </p:extLst>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22075"/>
            <a:ext cx="8229600" cy="654213"/>
          </a:xfrm>
        </p:spPr>
        <p:txBody>
          <a:bodyPr vert="horz" lIns="91440" tIns="45720" rIns="91440" bIns="45720" rtlCol="0" anchor="ctr">
            <a:noAutofit/>
          </a:bodyPr>
          <a:lstStyle/>
          <a:p>
            <a:r>
              <a:rPr lang="en-US" sz="3200" b="1" dirty="0" smtClean="0">
                <a:solidFill>
                  <a:srgbClr val="C00000"/>
                </a:solidFill>
                <a:cs typeface="Times New Roman" pitchFamily="18" charset="0"/>
              </a:rPr>
              <a:t>Architectural Structures</a:t>
            </a:r>
            <a:endParaRPr lang="en-US" sz="3200" b="1" dirty="0">
              <a:solidFill>
                <a:srgbClr val="C00000"/>
              </a:solidFill>
              <a:cs typeface="Times New Roman" pitchFamily="18" charset="0"/>
            </a:endParaRPr>
          </a:p>
        </p:txBody>
      </p:sp>
      <p:sp>
        <p:nvSpPr>
          <p:cNvPr id="3" name="Content Placeholder 2"/>
          <p:cNvSpPr>
            <a:spLocks noGrp="1"/>
          </p:cNvSpPr>
          <p:nvPr>
            <p:ph idx="1"/>
          </p:nvPr>
        </p:nvSpPr>
        <p:spPr>
          <a:xfrm>
            <a:off x="457200" y="914400"/>
            <a:ext cx="8229600" cy="5441950"/>
          </a:xfrm>
        </p:spPr>
        <p:txBody>
          <a:bodyPr>
            <a:normAutofit/>
          </a:bodyPr>
          <a:lstStyle/>
          <a:p>
            <a:pPr marL="457200" lvl="1" indent="-457200">
              <a:buNone/>
            </a:pPr>
            <a:r>
              <a:rPr lang="en-IN" sz="2400" b="1" dirty="0">
                <a:solidFill>
                  <a:srgbClr val="2B0AB6"/>
                </a:solidFill>
              </a:rPr>
              <a:t>Allocation </a:t>
            </a:r>
            <a:r>
              <a:rPr lang="en-IN" sz="2400" b="1" dirty="0" smtClean="0">
                <a:solidFill>
                  <a:srgbClr val="2B0AB6"/>
                </a:solidFill>
              </a:rPr>
              <a:t>structures</a:t>
            </a:r>
          </a:p>
          <a:p>
            <a:r>
              <a:rPr lang="en-US" sz="2400" i="1" dirty="0"/>
              <a:t>Allocation structures </a:t>
            </a:r>
            <a:r>
              <a:rPr lang="en-US" sz="2400" dirty="0"/>
              <a:t>establish the mapping from software structures to the </a:t>
            </a:r>
            <a:r>
              <a:rPr lang="en-US" sz="2400" dirty="0" smtClean="0"/>
              <a:t>system’s </a:t>
            </a:r>
            <a:r>
              <a:rPr lang="en-US" sz="2400" dirty="0" err="1" smtClean="0"/>
              <a:t>nonsoftware</a:t>
            </a:r>
            <a:r>
              <a:rPr lang="en-US" sz="2400" dirty="0" smtClean="0"/>
              <a:t> </a:t>
            </a:r>
            <a:r>
              <a:rPr lang="en-US" sz="2400" dirty="0"/>
              <a:t>structures, such as its organization, or its development, test, and </a:t>
            </a:r>
            <a:r>
              <a:rPr lang="en-US" sz="2400" dirty="0" smtClean="0"/>
              <a:t>execution </a:t>
            </a:r>
            <a:r>
              <a:rPr lang="en-IN" sz="2400" dirty="0" smtClean="0"/>
              <a:t>environments.</a:t>
            </a:r>
          </a:p>
          <a:p>
            <a:r>
              <a:rPr lang="en-US" sz="2400" dirty="0"/>
              <a:t>Allocation structures answer questions such </a:t>
            </a:r>
            <a:r>
              <a:rPr lang="en-US" sz="2400" dirty="0" smtClean="0"/>
              <a:t>as:</a:t>
            </a:r>
            <a:endParaRPr lang="en-US" sz="2400" dirty="0"/>
          </a:p>
          <a:p>
            <a:pPr lvl="1"/>
            <a:r>
              <a:rPr lang="en-US" sz="2400" dirty="0" smtClean="0"/>
              <a:t>Which </a:t>
            </a:r>
            <a:r>
              <a:rPr lang="en-US" sz="2400" dirty="0"/>
              <a:t>processor(s) does each software element execute on?</a:t>
            </a:r>
          </a:p>
          <a:p>
            <a:pPr lvl="1"/>
            <a:r>
              <a:rPr lang="en-US" sz="2400" dirty="0" smtClean="0"/>
              <a:t>In </a:t>
            </a:r>
            <a:r>
              <a:rPr lang="en-US" sz="2400" dirty="0"/>
              <a:t>which directories or files is each element stored during development, testing, </a:t>
            </a:r>
            <a:r>
              <a:rPr lang="en-US" sz="2400" dirty="0" smtClean="0"/>
              <a:t>and </a:t>
            </a:r>
            <a:r>
              <a:rPr lang="en-IN" sz="2400" dirty="0" smtClean="0"/>
              <a:t>system </a:t>
            </a:r>
            <a:r>
              <a:rPr lang="en-IN" sz="2400" dirty="0"/>
              <a:t>building?</a:t>
            </a:r>
          </a:p>
          <a:p>
            <a:pPr lvl="1"/>
            <a:r>
              <a:rPr lang="en-US" sz="2400" dirty="0" smtClean="0"/>
              <a:t>What </a:t>
            </a:r>
            <a:r>
              <a:rPr lang="en-US" sz="2400" dirty="0"/>
              <a:t>is the assignment of each software element to development teams?</a:t>
            </a:r>
            <a:endParaRPr lang="en-IN" sz="2400" b="1" dirty="0">
              <a:solidFill>
                <a:srgbClr val="2B0AB6"/>
              </a:solidFill>
            </a:endParaRPr>
          </a:p>
        </p:txBody>
      </p:sp>
      <p:sp>
        <p:nvSpPr>
          <p:cNvPr id="5" name="Slide Number Placeholder 4"/>
          <p:cNvSpPr>
            <a:spLocks noGrp="1"/>
          </p:cNvSpPr>
          <p:nvPr>
            <p:ph type="sldNum" sz="quarter" idx="12"/>
          </p:nvPr>
        </p:nvSpPr>
        <p:spPr/>
        <p:txBody>
          <a:bodyPr/>
          <a:lstStyle/>
          <a:p>
            <a:fld id="{26011043-848E-4CA3-808D-B3CFD8CB8118}" type="slidenum">
              <a:rPr lang="en-US" smtClean="0">
                <a:solidFill>
                  <a:prstClr val="black">
                    <a:tint val="75000"/>
                  </a:prstClr>
                </a:solidFill>
              </a:rPr>
              <a:pPr/>
              <a:t>28</a:t>
            </a:fld>
            <a:endParaRPr lang="en-US">
              <a:solidFill>
                <a:prstClr val="black">
                  <a:tint val="75000"/>
                </a:prstClr>
              </a:solidFill>
            </a:endParaRPr>
          </a:p>
        </p:txBody>
      </p:sp>
      <p:sp>
        <p:nvSpPr>
          <p:cNvPr id="6" name="Footer Placeholder 5"/>
          <p:cNvSpPr>
            <a:spLocks noGrp="1"/>
          </p:cNvSpPr>
          <p:nvPr/>
        </p:nvSpPr>
        <p:spPr>
          <a:xfrm>
            <a:off x="400050" y="6507326"/>
            <a:ext cx="6092276" cy="365125"/>
          </a:xfrm>
          <a:prstGeom prst="rect">
            <a:avLst/>
          </a:prstGeom>
        </p:spPr>
        <p:txBody>
          <a:bodyPr vert="horz" lIns="91440" tIns="45720" rIns="91440" bIns="4572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i="1" dirty="0" smtClean="0">
                <a:solidFill>
                  <a:prstClr val="black"/>
                </a:solidFill>
              </a:rPr>
              <a:t>@Dr. </a:t>
            </a:r>
            <a:r>
              <a:rPr lang="en-US" sz="1100" i="1" dirty="0" err="1" smtClean="0">
                <a:solidFill>
                  <a:prstClr val="black"/>
                </a:solidFill>
              </a:rPr>
              <a:t>Ugrasen</a:t>
            </a:r>
            <a:r>
              <a:rPr lang="en-US" sz="1100" i="1" dirty="0" smtClean="0">
                <a:solidFill>
                  <a:prstClr val="black"/>
                </a:solidFill>
              </a:rPr>
              <a:t> Suman, Professor, SCSIT, DAVV Indore (MP), India</a:t>
            </a:r>
            <a:endParaRPr lang="en-US" sz="1100" i="1" dirty="0">
              <a:solidFill>
                <a:prstClr val="black"/>
              </a:solidFill>
            </a:endParaRPr>
          </a:p>
        </p:txBody>
      </p:sp>
    </p:spTree>
    <p:extLst>
      <p:ext uri="{BB962C8B-B14F-4D97-AF65-F5344CB8AC3E}">
        <p14:creationId xmlns:p14="http://schemas.microsoft.com/office/powerpoint/2010/main" val="270586932"/>
      </p:ext>
    </p:extLst>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22075"/>
            <a:ext cx="8229600" cy="654213"/>
          </a:xfrm>
        </p:spPr>
        <p:txBody>
          <a:bodyPr vert="horz" lIns="91440" tIns="45720" rIns="91440" bIns="45720" rtlCol="0" anchor="ctr">
            <a:noAutofit/>
          </a:bodyPr>
          <a:lstStyle/>
          <a:p>
            <a:r>
              <a:rPr lang="en-US" sz="3200" b="1" dirty="0" smtClean="0">
                <a:solidFill>
                  <a:srgbClr val="C00000"/>
                </a:solidFill>
                <a:cs typeface="Times New Roman" pitchFamily="18" charset="0"/>
              </a:rPr>
              <a:t>Architectural Structures</a:t>
            </a:r>
            <a:endParaRPr lang="en-US" sz="3200" b="1" dirty="0">
              <a:solidFill>
                <a:srgbClr val="C00000"/>
              </a:solidFill>
              <a:cs typeface="Times New Roman" pitchFamily="18" charset="0"/>
            </a:endParaRPr>
          </a:p>
        </p:txBody>
      </p:sp>
      <p:sp>
        <p:nvSpPr>
          <p:cNvPr id="3" name="Content Placeholder 2"/>
          <p:cNvSpPr>
            <a:spLocks noGrp="1"/>
          </p:cNvSpPr>
          <p:nvPr>
            <p:ph idx="1"/>
          </p:nvPr>
        </p:nvSpPr>
        <p:spPr>
          <a:xfrm>
            <a:off x="400051" y="914400"/>
            <a:ext cx="8418074" cy="5441950"/>
          </a:xfrm>
        </p:spPr>
        <p:txBody>
          <a:bodyPr>
            <a:normAutofit/>
          </a:bodyPr>
          <a:lstStyle/>
          <a:p>
            <a:pPr marL="457200" lvl="1" indent="-457200">
              <a:buNone/>
            </a:pPr>
            <a:r>
              <a:rPr lang="en-IN" sz="2400" b="1" dirty="0">
                <a:solidFill>
                  <a:srgbClr val="2B0AB6"/>
                </a:solidFill>
              </a:rPr>
              <a:t>Allocation </a:t>
            </a:r>
            <a:r>
              <a:rPr lang="en-IN" sz="2400" b="1" dirty="0" smtClean="0">
                <a:solidFill>
                  <a:srgbClr val="2B0AB6"/>
                </a:solidFill>
              </a:rPr>
              <a:t>structures</a:t>
            </a:r>
          </a:p>
          <a:p>
            <a:r>
              <a:rPr lang="en-US" sz="2400" dirty="0"/>
              <a:t>Allocation structures define how the elements from C&amp;C or module structures map onto </a:t>
            </a:r>
            <a:r>
              <a:rPr lang="en-US" sz="2400" dirty="0" smtClean="0"/>
              <a:t>things that </a:t>
            </a:r>
            <a:r>
              <a:rPr lang="en-US" sz="2400" dirty="0"/>
              <a:t>are not </a:t>
            </a:r>
            <a:r>
              <a:rPr lang="en-US" sz="2400" dirty="0" smtClean="0"/>
              <a:t>software-typically </a:t>
            </a:r>
            <a:r>
              <a:rPr lang="en-US" sz="2400" dirty="0"/>
              <a:t>hardware (possibly virtualized), teams, and file systems.</a:t>
            </a:r>
          </a:p>
          <a:p>
            <a:r>
              <a:rPr lang="en-US" sz="2400" dirty="0"/>
              <a:t>Useful allocation structures include</a:t>
            </a:r>
            <a:r>
              <a:rPr lang="en-US" sz="2400" dirty="0" smtClean="0"/>
              <a:t>:</a:t>
            </a:r>
          </a:p>
          <a:p>
            <a:r>
              <a:rPr lang="en-IN" sz="2400" i="1" dirty="0">
                <a:solidFill>
                  <a:srgbClr val="2B0AB6"/>
                </a:solidFill>
              </a:rPr>
              <a:t>Deployment </a:t>
            </a:r>
            <a:r>
              <a:rPr lang="en-IN" sz="2400" i="1" dirty="0" smtClean="0">
                <a:solidFill>
                  <a:srgbClr val="2B0AB6"/>
                </a:solidFill>
              </a:rPr>
              <a:t>structure</a:t>
            </a:r>
          </a:p>
          <a:p>
            <a:r>
              <a:rPr lang="en-IN" sz="2400" i="1" dirty="0">
                <a:solidFill>
                  <a:srgbClr val="2B0AB6"/>
                </a:solidFill>
              </a:rPr>
              <a:t>Implementation </a:t>
            </a:r>
            <a:r>
              <a:rPr lang="en-IN" sz="2400" i="1" dirty="0" smtClean="0">
                <a:solidFill>
                  <a:srgbClr val="2B0AB6"/>
                </a:solidFill>
              </a:rPr>
              <a:t>structure</a:t>
            </a:r>
          </a:p>
          <a:p>
            <a:r>
              <a:rPr lang="en-IN" sz="2400" i="1" dirty="0">
                <a:solidFill>
                  <a:srgbClr val="2B0AB6"/>
                </a:solidFill>
              </a:rPr>
              <a:t>Work assignment structure</a:t>
            </a:r>
            <a:endParaRPr lang="en-IN" sz="2400" b="1" dirty="0">
              <a:solidFill>
                <a:srgbClr val="2B0AB6"/>
              </a:solidFill>
            </a:endParaRPr>
          </a:p>
        </p:txBody>
      </p:sp>
      <p:sp>
        <p:nvSpPr>
          <p:cNvPr id="5" name="Slide Number Placeholder 4"/>
          <p:cNvSpPr>
            <a:spLocks noGrp="1"/>
          </p:cNvSpPr>
          <p:nvPr>
            <p:ph type="sldNum" sz="quarter" idx="12"/>
          </p:nvPr>
        </p:nvSpPr>
        <p:spPr/>
        <p:txBody>
          <a:bodyPr/>
          <a:lstStyle/>
          <a:p>
            <a:fld id="{26011043-848E-4CA3-808D-B3CFD8CB8118}" type="slidenum">
              <a:rPr lang="en-US" smtClean="0">
                <a:solidFill>
                  <a:prstClr val="black">
                    <a:tint val="75000"/>
                  </a:prstClr>
                </a:solidFill>
              </a:rPr>
              <a:pPr/>
              <a:t>29</a:t>
            </a:fld>
            <a:endParaRPr lang="en-US">
              <a:solidFill>
                <a:prstClr val="black">
                  <a:tint val="75000"/>
                </a:prstClr>
              </a:solidFill>
            </a:endParaRPr>
          </a:p>
        </p:txBody>
      </p:sp>
      <p:sp>
        <p:nvSpPr>
          <p:cNvPr id="6" name="Footer Placeholder 5"/>
          <p:cNvSpPr>
            <a:spLocks noGrp="1"/>
          </p:cNvSpPr>
          <p:nvPr/>
        </p:nvSpPr>
        <p:spPr>
          <a:xfrm>
            <a:off x="400050" y="6507326"/>
            <a:ext cx="6092276" cy="365125"/>
          </a:xfrm>
          <a:prstGeom prst="rect">
            <a:avLst/>
          </a:prstGeom>
        </p:spPr>
        <p:txBody>
          <a:bodyPr vert="horz" lIns="91440" tIns="45720" rIns="91440" bIns="4572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i="1" dirty="0" smtClean="0">
                <a:solidFill>
                  <a:prstClr val="black"/>
                </a:solidFill>
              </a:rPr>
              <a:t>@Dr. </a:t>
            </a:r>
            <a:r>
              <a:rPr lang="en-US" sz="1100" i="1" dirty="0" err="1" smtClean="0">
                <a:solidFill>
                  <a:prstClr val="black"/>
                </a:solidFill>
              </a:rPr>
              <a:t>Ugrasen</a:t>
            </a:r>
            <a:r>
              <a:rPr lang="en-US" sz="1100" i="1" dirty="0" smtClean="0">
                <a:solidFill>
                  <a:prstClr val="black"/>
                </a:solidFill>
              </a:rPr>
              <a:t> Suman, Professor, SCSIT, DAVV Indore (MP), India</a:t>
            </a:r>
            <a:endParaRPr lang="en-US" sz="1100" i="1" dirty="0">
              <a:solidFill>
                <a:prstClr val="black"/>
              </a:solidFill>
            </a:endParaRPr>
          </a:p>
        </p:txBody>
      </p:sp>
      <p:pic>
        <p:nvPicPr>
          <p:cNvPr id="4" name="Picture 3"/>
          <p:cNvPicPr>
            <a:picLocks noChangeAspect="1"/>
          </p:cNvPicPr>
          <p:nvPr/>
        </p:nvPicPr>
        <p:blipFill>
          <a:blip r:embed="rId2"/>
          <a:stretch>
            <a:fillRect/>
          </a:stretch>
        </p:blipFill>
        <p:spPr>
          <a:xfrm>
            <a:off x="4288275" y="3301998"/>
            <a:ext cx="4529850" cy="3154526"/>
          </a:xfrm>
          <a:prstGeom prst="rect">
            <a:avLst/>
          </a:prstGeom>
        </p:spPr>
      </p:pic>
    </p:spTree>
    <p:extLst>
      <p:ext uri="{BB962C8B-B14F-4D97-AF65-F5344CB8AC3E}">
        <p14:creationId xmlns:p14="http://schemas.microsoft.com/office/powerpoint/2010/main" val="110512435"/>
      </p:ext>
    </p:extLst>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a:bodyPr>
          <a:lstStyle/>
          <a:p>
            <a:r>
              <a:rPr lang="en-US" sz="3200" b="1" dirty="0" smtClean="0">
                <a:solidFill>
                  <a:srgbClr val="C00000"/>
                </a:solidFill>
                <a:cs typeface="Times New Roman" pitchFamily="18" charset="0"/>
              </a:rPr>
              <a:t>System Architecture Vs. Software Architecture</a:t>
            </a:r>
            <a:endParaRPr lang="en-US" sz="3200" b="1" dirty="0">
              <a:solidFill>
                <a:srgbClr val="C00000"/>
              </a:solidFill>
              <a:cs typeface="Times New Roman" pitchFamily="18" charset="0"/>
            </a:endParaRPr>
          </a:p>
        </p:txBody>
      </p:sp>
      <p:sp>
        <p:nvSpPr>
          <p:cNvPr id="3" name="Content Placeholder 2"/>
          <p:cNvSpPr>
            <a:spLocks noGrp="1"/>
          </p:cNvSpPr>
          <p:nvPr>
            <p:ph idx="1"/>
          </p:nvPr>
        </p:nvSpPr>
        <p:spPr>
          <a:xfrm>
            <a:off x="457200" y="1143000"/>
            <a:ext cx="8458200" cy="5257800"/>
          </a:xfrm>
        </p:spPr>
        <p:txBody>
          <a:bodyPr>
            <a:noAutofit/>
          </a:bodyPr>
          <a:lstStyle/>
          <a:p>
            <a:r>
              <a:rPr lang="en-US" sz="2400" dirty="0" smtClean="0">
                <a:cs typeface="Times New Roman" pitchFamily="18" charset="0"/>
              </a:rPr>
              <a:t>System architecture is concerned with the totality of hardware, software and humans.</a:t>
            </a:r>
          </a:p>
          <a:p>
            <a:r>
              <a:rPr lang="en-US" sz="2400" dirty="0" smtClean="0">
                <a:cs typeface="Times New Roman" pitchFamily="18" charset="0"/>
              </a:rPr>
              <a:t>It will influence, for example, the functionality that is assigned to different processors, and the types of networks that connects those processors.  </a:t>
            </a:r>
          </a:p>
          <a:p>
            <a:r>
              <a:rPr lang="en-US" sz="2400" dirty="0" smtClean="0">
                <a:cs typeface="Times New Roman" pitchFamily="18" charset="0"/>
              </a:rPr>
              <a:t>Software architecture will determine how this functionality is structured and how the software programs residing on the various processors interact.  </a:t>
            </a:r>
          </a:p>
          <a:p>
            <a:r>
              <a:rPr lang="en-US" sz="2400" dirty="0" smtClean="0">
                <a:cs typeface="Times New Roman" pitchFamily="18" charset="0"/>
              </a:rPr>
              <a:t>Software architecture allows reasoning about qualities such as performance and reliability. </a:t>
            </a:r>
          </a:p>
          <a:p>
            <a:r>
              <a:rPr lang="en-US" sz="2400" dirty="0" smtClean="0">
                <a:cs typeface="Times New Roman" pitchFamily="18" charset="0"/>
              </a:rPr>
              <a:t>Whereas system architecture will allow reasoning about additional qualities such as power consumption, weight, and physical dimensions.</a:t>
            </a:r>
          </a:p>
        </p:txBody>
      </p:sp>
      <p:sp>
        <p:nvSpPr>
          <p:cNvPr id="5" name="Slide Number Placeholder 4"/>
          <p:cNvSpPr>
            <a:spLocks noGrp="1"/>
          </p:cNvSpPr>
          <p:nvPr>
            <p:ph type="sldNum" sz="quarter" idx="12"/>
          </p:nvPr>
        </p:nvSpPr>
        <p:spPr/>
        <p:txBody>
          <a:bodyPr/>
          <a:lstStyle/>
          <a:p>
            <a:fld id="{26011043-848E-4CA3-808D-B3CFD8CB8118}" type="slidenum">
              <a:rPr lang="en-US" smtClean="0">
                <a:solidFill>
                  <a:prstClr val="black">
                    <a:tint val="75000"/>
                  </a:prstClr>
                </a:solidFill>
              </a:rPr>
              <a:pPr/>
              <a:t>30</a:t>
            </a:fld>
            <a:endParaRPr lang="en-US">
              <a:solidFill>
                <a:prstClr val="black">
                  <a:tint val="75000"/>
                </a:prstClr>
              </a:solidFill>
            </a:endParaRPr>
          </a:p>
        </p:txBody>
      </p:sp>
      <p:sp>
        <p:nvSpPr>
          <p:cNvPr id="6" name="Footer Placeholder 5"/>
          <p:cNvSpPr>
            <a:spLocks noGrp="1"/>
          </p:cNvSpPr>
          <p:nvPr/>
        </p:nvSpPr>
        <p:spPr>
          <a:xfrm>
            <a:off x="400050" y="6507326"/>
            <a:ext cx="6092276" cy="365125"/>
          </a:xfrm>
          <a:prstGeom prst="rect">
            <a:avLst/>
          </a:prstGeom>
        </p:spPr>
        <p:txBody>
          <a:bodyPr vert="horz" lIns="91440" tIns="45720" rIns="91440" bIns="4572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i="1" dirty="0" smtClean="0"/>
              <a:t>@Dr. </a:t>
            </a:r>
            <a:r>
              <a:rPr lang="en-US" sz="1100" i="1" dirty="0" err="1" smtClean="0"/>
              <a:t>Ugrasen</a:t>
            </a:r>
            <a:r>
              <a:rPr lang="en-US" sz="1100" i="1" dirty="0" smtClean="0"/>
              <a:t> Suman, Professor, SCSIT, DAVV Indore (MP), India</a:t>
            </a:r>
            <a:endParaRPr lang="en-US" sz="1100" i="1" dirty="0"/>
          </a:p>
        </p:txBody>
      </p:sp>
    </p:spTree>
    <p:extLst>
      <p:ext uri="{BB962C8B-B14F-4D97-AF65-F5344CB8AC3E}">
        <p14:creationId xmlns:p14="http://schemas.microsoft.com/office/powerpoint/2010/main" val="506799350"/>
      </p:ext>
    </p:extLst>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sz="3200" b="1" dirty="0" smtClean="0">
                <a:solidFill>
                  <a:srgbClr val="C00000"/>
                </a:solidFill>
                <a:cs typeface="Times New Roman" pitchFamily="18" charset="0"/>
              </a:rPr>
              <a:t>Enterprise Architecture Vs. Software Architecture</a:t>
            </a:r>
            <a:endParaRPr lang="en-US" sz="3200" b="1" dirty="0">
              <a:solidFill>
                <a:srgbClr val="C00000"/>
              </a:solidFill>
              <a:cs typeface="Times New Roman" pitchFamily="18" charset="0"/>
            </a:endParaRPr>
          </a:p>
        </p:txBody>
      </p:sp>
      <p:sp>
        <p:nvSpPr>
          <p:cNvPr id="3" name="Content Placeholder 2"/>
          <p:cNvSpPr>
            <a:spLocks noGrp="1"/>
          </p:cNvSpPr>
          <p:nvPr>
            <p:ph idx="1"/>
          </p:nvPr>
        </p:nvSpPr>
        <p:spPr>
          <a:xfrm>
            <a:off x="457200" y="1143000"/>
            <a:ext cx="8458200" cy="5257800"/>
          </a:xfrm>
        </p:spPr>
        <p:txBody>
          <a:bodyPr>
            <a:noAutofit/>
          </a:bodyPr>
          <a:lstStyle/>
          <a:p>
            <a:r>
              <a:rPr lang="en-US" sz="2400" dirty="0" smtClean="0">
                <a:cs typeface="Times New Roman" pitchFamily="18" charset="0"/>
              </a:rPr>
              <a:t>Enterprise architecture is a description of the structure and behavior of an organization’s processes, information flow, personnel's and organizational subunits.</a:t>
            </a:r>
          </a:p>
          <a:p>
            <a:r>
              <a:rPr lang="en-US" sz="2400" dirty="0" smtClean="0">
                <a:cs typeface="Times New Roman" pitchFamily="18" charset="0"/>
              </a:rPr>
              <a:t>It need not to include computerized information systems.</a:t>
            </a:r>
          </a:p>
          <a:p>
            <a:r>
              <a:rPr lang="en-US" sz="2400" dirty="0" smtClean="0">
                <a:cs typeface="Times New Roman" pitchFamily="18" charset="0"/>
              </a:rPr>
              <a:t>Modern enterprise architecture is concerned with how software systems support the enterprise’s business processes and goals.</a:t>
            </a:r>
          </a:p>
          <a:p>
            <a:r>
              <a:rPr lang="en-US" sz="2400" dirty="0" smtClean="0">
                <a:cs typeface="Times New Roman" pitchFamily="18" charset="0"/>
              </a:rPr>
              <a:t>It will specify, for example, data model, that various systems use to interact.</a:t>
            </a:r>
          </a:p>
          <a:p>
            <a:r>
              <a:rPr lang="en-US" sz="2400" dirty="0" smtClean="0">
                <a:cs typeface="Times New Roman" pitchFamily="18" charset="0"/>
              </a:rPr>
              <a:t>Also, it will specify rules for how the enterprise’s systems interact with external systems.</a:t>
            </a:r>
          </a:p>
          <a:p>
            <a:r>
              <a:rPr lang="en-US" sz="2400" dirty="0" smtClean="0">
                <a:cs typeface="Times New Roman" pitchFamily="18" charset="0"/>
              </a:rPr>
              <a:t>Software is the only one concern of enterprise architecture that is used by human to perform business processes and the standards.      </a:t>
            </a:r>
          </a:p>
        </p:txBody>
      </p:sp>
      <p:sp>
        <p:nvSpPr>
          <p:cNvPr id="5" name="Slide Number Placeholder 4"/>
          <p:cNvSpPr>
            <a:spLocks noGrp="1"/>
          </p:cNvSpPr>
          <p:nvPr>
            <p:ph type="sldNum" sz="quarter" idx="12"/>
          </p:nvPr>
        </p:nvSpPr>
        <p:spPr/>
        <p:txBody>
          <a:bodyPr/>
          <a:lstStyle/>
          <a:p>
            <a:fld id="{26011043-848E-4CA3-808D-B3CFD8CB8118}" type="slidenum">
              <a:rPr lang="en-US" smtClean="0">
                <a:solidFill>
                  <a:prstClr val="black">
                    <a:tint val="75000"/>
                  </a:prstClr>
                </a:solidFill>
              </a:rPr>
              <a:pPr/>
              <a:t>31</a:t>
            </a:fld>
            <a:endParaRPr lang="en-US">
              <a:solidFill>
                <a:prstClr val="black">
                  <a:tint val="75000"/>
                </a:prstClr>
              </a:solidFill>
            </a:endParaRPr>
          </a:p>
        </p:txBody>
      </p:sp>
      <p:sp>
        <p:nvSpPr>
          <p:cNvPr id="6" name="Footer Placeholder 5"/>
          <p:cNvSpPr>
            <a:spLocks noGrp="1"/>
          </p:cNvSpPr>
          <p:nvPr/>
        </p:nvSpPr>
        <p:spPr>
          <a:xfrm>
            <a:off x="400050" y="6507326"/>
            <a:ext cx="6092276" cy="365125"/>
          </a:xfrm>
          <a:prstGeom prst="rect">
            <a:avLst/>
          </a:prstGeom>
        </p:spPr>
        <p:txBody>
          <a:bodyPr vert="horz" lIns="91440" tIns="45720" rIns="91440" bIns="4572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i="1" dirty="0" smtClean="0"/>
              <a:t>@Dr. </a:t>
            </a:r>
            <a:r>
              <a:rPr lang="en-US" sz="1100" i="1" dirty="0" err="1" smtClean="0"/>
              <a:t>Ugrasen</a:t>
            </a:r>
            <a:r>
              <a:rPr lang="en-US" sz="1100" i="1" dirty="0" smtClean="0"/>
              <a:t> Suman, Professor, SCSIT, DAVV Indore (MP), India</a:t>
            </a:r>
            <a:endParaRPr lang="en-US" sz="1100" i="1" dirty="0"/>
          </a:p>
        </p:txBody>
      </p:sp>
    </p:spTree>
    <p:extLst>
      <p:ext uri="{BB962C8B-B14F-4D97-AF65-F5344CB8AC3E}">
        <p14:creationId xmlns:p14="http://schemas.microsoft.com/office/powerpoint/2010/main" val="3032611543"/>
      </p:ext>
    </p:extLst>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715962"/>
          </a:xfrm>
        </p:spPr>
        <p:txBody>
          <a:bodyPr vert="horz" lIns="91440" tIns="45720" rIns="91440" bIns="45720" rtlCol="0" anchor="ctr">
            <a:noAutofit/>
          </a:bodyPr>
          <a:lstStyle/>
          <a:p>
            <a:r>
              <a:rPr lang="en-US" sz="3200" b="1" dirty="0" smtClean="0">
                <a:solidFill>
                  <a:srgbClr val="C00000"/>
                </a:solidFill>
                <a:cs typeface="Times New Roman" pitchFamily="18" charset="0"/>
              </a:rPr>
              <a:t>The Role of Software Architect</a:t>
            </a:r>
            <a:endParaRPr lang="en-IN" sz="3200" b="1" dirty="0" smtClean="0">
              <a:solidFill>
                <a:srgbClr val="C00000"/>
              </a:solidFill>
              <a:cs typeface="Times New Roman" pitchFamily="18" charset="0"/>
            </a:endParaRPr>
          </a:p>
        </p:txBody>
      </p:sp>
      <p:sp>
        <p:nvSpPr>
          <p:cNvPr id="3" name="Content Placeholder 2"/>
          <p:cNvSpPr>
            <a:spLocks noGrp="1"/>
          </p:cNvSpPr>
          <p:nvPr>
            <p:ph idx="1"/>
          </p:nvPr>
        </p:nvSpPr>
        <p:spPr>
          <a:xfrm>
            <a:off x="457200" y="990600"/>
            <a:ext cx="8229600" cy="1981200"/>
          </a:xfrm>
        </p:spPr>
        <p:txBody>
          <a:bodyPr>
            <a:noAutofit/>
          </a:bodyPr>
          <a:lstStyle/>
          <a:p>
            <a:r>
              <a:rPr lang="en-US" sz="2400" dirty="0" smtClean="0">
                <a:cs typeface="Times New Roman" pitchFamily="18" charset="0"/>
              </a:rPr>
              <a:t>Software architects are experienced developers who make high-level design decisions, design and develop software solutions, enforce to technical standards, and lead the development team to construct software tailored to customer’s needs.</a:t>
            </a:r>
            <a:r>
              <a:rPr lang="en-US" sz="2400" baseline="30000" dirty="0" smtClean="0">
                <a:cs typeface="Times New Roman" pitchFamily="18" charset="0"/>
              </a:rPr>
              <a:t> </a:t>
            </a:r>
          </a:p>
        </p:txBody>
      </p:sp>
      <p:sp>
        <p:nvSpPr>
          <p:cNvPr id="4" name="Slide Number Placeholder 3"/>
          <p:cNvSpPr>
            <a:spLocks noGrp="1"/>
          </p:cNvSpPr>
          <p:nvPr>
            <p:ph type="sldNum" sz="quarter" idx="12"/>
          </p:nvPr>
        </p:nvSpPr>
        <p:spPr/>
        <p:txBody>
          <a:bodyPr/>
          <a:lstStyle/>
          <a:p>
            <a:fld id="{26011043-848E-4CA3-808D-B3CFD8CB8118}" type="slidenum">
              <a:rPr lang="en-US" smtClean="0"/>
              <a:pPr/>
              <a:t>32</a:t>
            </a:fld>
            <a:endParaRPr lang="en-US"/>
          </a:p>
        </p:txBody>
      </p:sp>
      <p:sp>
        <p:nvSpPr>
          <p:cNvPr id="5" name="Content Placeholder 2"/>
          <p:cNvSpPr txBox="1">
            <a:spLocks/>
          </p:cNvSpPr>
          <p:nvPr/>
        </p:nvSpPr>
        <p:spPr>
          <a:xfrm>
            <a:off x="5867400" y="3657600"/>
            <a:ext cx="8229600" cy="228600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IN" sz="24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pic>
        <p:nvPicPr>
          <p:cNvPr id="7" name="Picture 6"/>
          <p:cNvPicPr>
            <a:picLocks noChangeAspect="1"/>
          </p:cNvPicPr>
          <p:nvPr/>
        </p:nvPicPr>
        <p:blipFill>
          <a:blip r:embed="rId2"/>
          <a:stretch>
            <a:fillRect/>
          </a:stretch>
        </p:blipFill>
        <p:spPr>
          <a:xfrm>
            <a:off x="685800" y="4419600"/>
            <a:ext cx="8077900" cy="1631950"/>
          </a:xfrm>
          <a:prstGeom prst="rect">
            <a:avLst/>
          </a:prstGeom>
        </p:spPr>
      </p:pic>
      <p:pic>
        <p:nvPicPr>
          <p:cNvPr id="8" name="Picture 7"/>
          <p:cNvPicPr>
            <a:picLocks noChangeAspect="1"/>
          </p:cNvPicPr>
          <p:nvPr/>
        </p:nvPicPr>
        <p:blipFill>
          <a:blip r:embed="rId3"/>
          <a:stretch>
            <a:fillRect/>
          </a:stretch>
        </p:blipFill>
        <p:spPr>
          <a:xfrm>
            <a:off x="1295400" y="3908848"/>
            <a:ext cx="1652159" cy="493819"/>
          </a:xfrm>
          <a:prstGeom prst="rect">
            <a:avLst/>
          </a:prstGeom>
        </p:spPr>
      </p:pic>
      <p:pic>
        <p:nvPicPr>
          <p:cNvPr id="9" name="Picture 8"/>
          <p:cNvPicPr>
            <a:picLocks noChangeAspect="1"/>
          </p:cNvPicPr>
          <p:nvPr/>
        </p:nvPicPr>
        <p:blipFill>
          <a:blip r:embed="rId4"/>
          <a:stretch>
            <a:fillRect/>
          </a:stretch>
        </p:blipFill>
        <p:spPr>
          <a:xfrm>
            <a:off x="6300200" y="3919685"/>
            <a:ext cx="1828959" cy="499915"/>
          </a:xfrm>
          <a:prstGeom prst="rect">
            <a:avLst/>
          </a:prstGeom>
        </p:spPr>
      </p:pic>
      <p:sp>
        <p:nvSpPr>
          <p:cNvPr id="10" name="Footer Placeholder 5"/>
          <p:cNvSpPr>
            <a:spLocks noGrp="1"/>
          </p:cNvSpPr>
          <p:nvPr/>
        </p:nvSpPr>
        <p:spPr>
          <a:xfrm>
            <a:off x="400050" y="6507326"/>
            <a:ext cx="6092276" cy="365125"/>
          </a:xfrm>
          <a:prstGeom prst="rect">
            <a:avLst/>
          </a:prstGeom>
        </p:spPr>
        <p:txBody>
          <a:bodyPr vert="horz" lIns="91440" tIns="45720" rIns="91440" bIns="4572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i="1" dirty="0" smtClean="0"/>
              <a:t>@Dr. </a:t>
            </a:r>
            <a:r>
              <a:rPr lang="en-US" sz="1100" i="1" dirty="0" err="1" smtClean="0"/>
              <a:t>Ugrasen</a:t>
            </a:r>
            <a:r>
              <a:rPr lang="en-US" sz="1100" i="1" dirty="0" smtClean="0"/>
              <a:t> Suman, Professor, SCSIT, DAVV Indore (MP), India</a:t>
            </a:r>
            <a:endParaRPr lang="en-US" sz="1100" i="1" dirty="0"/>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715962"/>
          </a:xfrm>
        </p:spPr>
        <p:txBody>
          <a:bodyPr vert="horz" lIns="91440" tIns="45720" rIns="91440" bIns="45720" rtlCol="0" anchor="ctr">
            <a:noAutofit/>
          </a:bodyPr>
          <a:lstStyle/>
          <a:p>
            <a:r>
              <a:rPr lang="en-US" sz="3200" b="1" dirty="0" smtClean="0">
                <a:solidFill>
                  <a:srgbClr val="C00000"/>
                </a:solidFill>
                <a:cs typeface="Times New Roman" pitchFamily="18" charset="0"/>
              </a:rPr>
              <a:t>The Role of Software Architect</a:t>
            </a:r>
            <a:endParaRPr lang="en-IN" sz="3200" b="1" dirty="0" smtClean="0">
              <a:solidFill>
                <a:srgbClr val="C00000"/>
              </a:solidFill>
              <a:cs typeface="Times New Roman" pitchFamily="18" charset="0"/>
            </a:endParaRPr>
          </a:p>
        </p:txBody>
      </p:sp>
      <p:sp>
        <p:nvSpPr>
          <p:cNvPr id="3" name="Content Placeholder 2"/>
          <p:cNvSpPr>
            <a:spLocks noGrp="1"/>
          </p:cNvSpPr>
          <p:nvPr>
            <p:ph idx="1"/>
          </p:nvPr>
        </p:nvSpPr>
        <p:spPr>
          <a:xfrm>
            <a:off x="457200" y="1066800"/>
            <a:ext cx="8229600" cy="5289550"/>
          </a:xfrm>
        </p:spPr>
        <p:txBody>
          <a:bodyPr>
            <a:noAutofit/>
          </a:bodyPr>
          <a:lstStyle/>
          <a:p>
            <a:r>
              <a:rPr lang="en-US" sz="2400" b="1" dirty="0" smtClean="0">
                <a:cs typeface="Times New Roman" pitchFamily="18" charset="0"/>
              </a:rPr>
              <a:t>There are various categories of architects:</a:t>
            </a:r>
          </a:p>
          <a:p>
            <a:pPr lvl="1"/>
            <a:r>
              <a:rPr lang="en-IN" sz="2400" dirty="0" smtClean="0">
                <a:cs typeface="Times New Roman" pitchFamily="18" charset="0"/>
              </a:rPr>
              <a:t>Business architect</a:t>
            </a:r>
          </a:p>
          <a:p>
            <a:pPr lvl="1"/>
            <a:r>
              <a:rPr lang="en-IN" sz="2400" dirty="0" smtClean="0">
                <a:cs typeface="Times New Roman" pitchFamily="18" charset="0"/>
              </a:rPr>
              <a:t>Enterprise architect</a:t>
            </a:r>
          </a:p>
          <a:p>
            <a:pPr lvl="1"/>
            <a:r>
              <a:rPr lang="en-US" sz="2400" dirty="0" smtClean="0">
                <a:cs typeface="Times New Roman" pitchFamily="18" charset="0"/>
              </a:rPr>
              <a:t>Information architect</a:t>
            </a:r>
            <a:endParaRPr lang="en-IN" sz="2400" dirty="0" smtClean="0">
              <a:cs typeface="Times New Roman" pitchFamily="18" charset="0"/>
            </a:endParaRPr>
          </a:p>
          <a:p>
            <a:pPr lvl="1"/>
            <a:r>
              <a:rPr lang="en-IN" sz="2400" dirty="0" smtClean="0">
                <a:cs typeface="Times New Roman" pitchFamily="18" charset="0"/>
              </a:rPr>
              <a:t>Product/system architect</a:t>
            </a:r>
          </a:p>
          <a:p>
            <a:pPr lvl="1"/>
            <a:r>
              <a:rPr lang="en-IN" sz="2400" dirty="0" smtClean="0">
                <a:cs typeface="Times New Roman" pitchFamily="18" charset="0"/>
              </a:rPr>
              <a:t>Solution architect</a:t>
            </a:r>
          </a:p>
          <a:p>
            <a:pPr lvl="1"/>
            <a:r>
              <a:rPr lang="en-IN" sz="2400" dirty="0" smtClean="0">
                <a:cs typeface="Times New Roman" pitchFamily="18" charset="0"/>
              </a:rPr>
              <a:t>Application architect</a:t>
            </a:r>
          </a:p>
          <a:p>
            <a:pPr lvl="1"/>
            <a:r>
              <a:rPr lang="en-IN" sz="2400" dirty="0" smtClean="0">
                <a:cs typeface="Times New Roman" pitchFamily="18" charset="0"/>
              </a:rPr>
              <a:t>Data/information architect</a:t>
            </a:r>
          </a:p>
          <a:p>
            <a:pPr lvl="1"/>
            <a:r>
              <a:rPr lang="en-IN" sz="2400" dirty="0" smtClean="0">
                <a:cs typeface="Times New Roman" pitchFamily="18" charset="0"/>
              </a:rPr>
              <a:t>Security architect</a:t>
            </a:r>
          </a:p>
          <a:p>
            <a:pPr lvl="1"/>
            <a:r>
              <a:rPr lang="en-IN" sz="2400" dirty="0" smtClean="0">
                <a:cs typeface="Times New Roman" pitchFamily="18" charset="0"/>
              </a:rPr>
              <a:t>Infrastructure architect</a:t>
            </a:r>
          </a:p>
          <a:p>
            <a:endParaRPr lang="en-IN" sz="2400" dirty="0">
              <a:cs typeface="Times New Roman" pitchFamily="18" charset="0"/>
            </a:endParaRPr>
          </a:p>
        </p:txBody>
      </p:sp>
      <p:sp>
        <p:nvSpPr>
          <p:cNvPr id="4" name="Slide Number Placeholder 3"/>
          <p:cNvSpPr>
            <a:spLocks noGrp="1"/>
          </p:cNvSpPr>
          <p:nvPr>
            <p:ph type="sldNum" sz="quarter" idx="12"/>
          </p:nvPr>
        </p:nvSpPr>
        <p:spPr/>
        <p:txBody>
          <a:bodyPr/>
          <a:lstStyle/>
          <a:p>
            <a:fld id="{26011043-848E-4CA3-808D-B3CFD8CB8118}" type="slidenum">
              <a:rPr lang="en-US" smtClean="0">
                <a:solidFill>
                  <a:prstClr val="black">
                    <a:tint val="75000"/>
                  </a:prstClr>
                </a:solidFill>
              </a:rPr>
              <a:pPr/>
              <a:t>33</a:t>
            </a:fld>
            <a:endParaRPr lang="en-US">
              <a:solidFill>
                <a:prstClr val="black">
                  <a:tint val="75000"/>
                </a:prstClr>
              </a:solidFill>
            </a:endParaRPr>
          </a:p>
        </p:txBody>
      </p:sp>
      <p:sp>
        <p:nvSpPr>
          <p:cNvPr id="5" name="Content Placeholder 2"/>
          <p:cNvSpPr txBox="1">
            <a:spLocks/>
          </p:cNvSpPr>
          <p:nvPr/>
        </p:nvSpPr>
        <p:spPr>
          <a:xfrm>
            <a:off x="5867400" y="3657600"/>
            <a:ext cx="8229600" cy="2286000"/>
          </a:xfrm>
          <a:prstGeom prst="rect">
            <a:avLst/>
          </a:prstGeom>
        </p:spPr>
        <p:txBody>
          <a:bodyPr vert="horz" lIns="91440" tIns="45720" rIns="91440" bIns="45720" rtlCol="0">
            <a:noAutofit/>
          </a:bodyPr>
          <a:lstStyle/>
          <a:p>
            <a:pPr marL="342900" indent="-342900">
              <a:spcBef>
                <a:spcPct val="20000"/>
              </a:spcBef>
              <a:buFont typeface="Arial" pitchFamily="34" charset="0"/>
              <a:buChar char="•"/>
              <a:defRPr/>
            </a:pPr>
            <a:endParaRPr lang="en-IN" sz="2400" dirty="0">
              <a:solidFill>
                <a:prstClr val="black"/>
              </a:solidFill>
              <a:latin typeface="Times New Roman" pitchFamily="18" charset="0"/>
              <a:cs typeface="Times New Roman" pitchFamily="18" charset="0"/>
            </a:endParaRPr>
          </a:p>
        </p:txBody>
      </p:sp>
      <p:sp>
        <p:nvSpPr>
          <p:cNvPr id="6" name="Footer Placeholder 5"/>
          <p:cNvSpPr>
            <a:spLocks noGrp="1"/>
          </p:cNvSpPr>
          <p:nvPr/>
        </p:nvSpPr>
        <p:spPr>
          <a:xfrm>
            <a:off x="400050" y="6507326"/>
            <a:ext cx="6092276" cy="365125"/>
          </a:xfrm>
          <a:prstGeom prst="rect">
            <a:avLst/>
          </a:prstGeom>
        </p:spPr>
        <p:txBody>
          <a:bodyPr vert="horz" lIns="91440" tIns="45720" rIns="91440" bIns="4572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i="1" dirty="0" smtClean="0"/>
              <a:t>@Dr. </a:t>
            </a:r>
            <a:r>
              <a:rPr lang="en-US" sz="1100" i="1" dirty="0" err="1" smtClean="0"/>
              <a:t>Ugrasen</a:t>
            </a:r>
            <a:r>
              <a:rPr lang="en-US" sz="1100" i="1" dirty="0" smtClean="0"/>
              <a:t> Suman, Professor, SCSIT, DAVV Indore (MP), India</a:t>
            </a:r>
            <a:endParaRPr lang="en-US" sz="1100" i="1" dirty="0"/>
          </a:p>
        </p:txBody>
      </p:sp>
    </p:spTree>
    <p:extLst>
      <p:ext uri="{BB962C8B-B14F-4D97-AF65-F5344CB8AC3E}">
        <p14:creationId xmlns:p14="http://schemas.microsoft.com/office/powerpoint/2010/main" val="1990112624"/>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vert="horz" lIns="91440" tIns="45720" rIns="91440" bIns="45720" rtlCol="0" anchor="ctr">
            <a:noAutofit/>
          </a:bodyPr>
          <a:lstStyle/>
          <a:p>
            <a:r>
              <a:rPr lang="en-US" sz="3200" b="1" dirty="0">
                <a:solidFill>
                  <a:srgbClr val="C00000"/>
                </a:solidFill>
                <a:cs typeface="Times New Roman" pitchFamily="18" charset="0"/>
              </a:rPr>
              <a:t>The Role of Software Architect</a:t>
            </a:r>
            <a:endParaRPr lang="en-IN" sz="3200" b="1" dirty="0">
              <a:solidFill>
                <a:srgbClr val="C00000"/>
              </a:solidFill>
              <a:cs typeface="Times New Roman" pitchFamily="18" charset="0"/>
            </a:endParaRPr>
          </a:p>
        </p:txBody>
      </p:sp>
      <p:sp>
        <p:nvSpPr>
          <p:cNvPr id="3" name="Content Placeholder 2"/>
          <p:cNvSpPr>
            <a:spLocks noGrp="1"/>
          </p:cNvSpPr>
          <p:nvPr>
            <p:ph idx="1"/>
          </p:nvPr>
        </p:nvSpPr>
        <p:spPr>
          <a:xfrm>
            <a:off x="381000" y="1066800"/>
            <a:ext cx="8229600" cy="2895600"/>
          </a:xfrm>
        </p:spPr>
        <p:txBody>
          <a:bodyPr>
            <a:normAutofit fontScale="92500" lnSpcReduction="20000"/>
          </a:bodyPr>
          <a:lstStyle/>
          <a:p>
            <a:r>
              <a:rPr lang="en-US" sz="2400" b="1" dirty="0" smtClean="0">
                <a:cs typeface="Times New Roman" pitchFamily="18" charset="0"/>
              </a:rPr>
              <a:t>Common roles of a software architect: </a:t>
            </a:r>
          </a:p>
          <a:p>
            <a:pPr lvl="1"/>
            <a:r>
              <a:rPr lang="en-US" sz="2400" i="1" dirty="0" smtClean="0">
                <a:cs typeface="Times New Roman" pitchFamily="18" charset="0"/>
              </a:rPr>
              <a:t>Design and develop solution</a:t>
            </a:r>
          </a:p>
          <a:p>
            <a:pPr lvl="1"/>
            <a:r>
              <a:rPr lang="en-US" sz="2400" i="1" dirty="0" smtClean="0">
                <a:cs typeface="Times New Roman" pitchFamily="18" charset="0"/>
              </a:rPr>
              <a:t>Team leadership</a:t>
            </a:r>
          </a:p>
          <a:p>
            <a:pPr lvl="1"/>
            <a:r>
              <a:rPr lang="en-US" sz="2400" i="1" dirty="0" smtClean="0">
                <a:cs typeface="Times New Roman" pitchFamily="18" charset="0"/>
              </a:rPr>
              <a:t>Collaborative working and mentoring</a:t>
            </a:r>
          </a:p>
          <a:p>
            <a:pPr lvl="1"/>
            <a:r>
              <a:rPr lang="en-US" sz="2400" i="1" dirty="0" smtClean="0">
                <a:cs typeface="Times New Roman" pitchFamily="18" charset="0"/>
              </a:rPr>
              <a:t>Architectural driver</a:t>
            </a:r>
          </a:p>
          <a:p>
            <a:pPr lvl="1"/>
            <a:r>
              <a:rPr lang="en-US" sz="2400" i="1" dirty="0" smtClean="0">
                <a:cs typeface="Times New Roman" pitchFamily="18" charset="0"/>
              </a:rPr>
              <a:t>Guardian of technical vision and project success</a:t>
            </a:r>
          </a:p>
          <a:p>
            <a:pPr lvl="1"/>
            <a:r>
              <a:rPr lang="en-US" sz="2400" i="1" dirty="0" smtClean="0">
                <a:cs typeface="Times New Roman" pitchFamily="18" charset="0"/>
              </a:rPr>
              <a:t>Quality assurer</a:t>
            </a:r>
          </a:p>
          <a:p>
            <a:pPr lvl="1"/>
            <a:r>
              <a:rPr lang="en-US" sz="2400" i="1" dirty="0" smtClean="0">
                <a:cs typeface="Times New Roman" pitchFamily="18" charset="0"/>
              </a:rPr>
              <a:t>Agent and negotiator</a:t>
            </a:r>
            <a:endParaRPr lang="en-IN" sz="2400" i="1" dirty="0">
              <a:cs typeface="Times New Roman" pitchFamily="18" charset="0"/>
            </a:endParaRPr>
          </a:p>
        </p:txBody>
      </p:sp>
      <p:sp>
        <p:nvSpPr>
          <p:cNvPr id="4" name="Slide Number Placeholder 3"/>
          <p:cNvSpPr>
            <a:spLocks noGrp="1"/>
          </p:cNvSpPr>
          <p:nvPr>
            <p:ph type="sldNum" sz="quarter" idx="12"/>
          </p:nvPr>
        </p:nvSpPr>
        <p:spPr/>
        <p:txBody>
          <a:bodyPr/>
          <a:lstStyle/>
          <a:p>
            <a:fld id="{26011043-848E-4CA3-808D-B3CFD8CB8118}" type="slidenum">
              <a:rPr lang="en-US" smtClean="0"/>
              <a:pPr/>
              <a:t>34</a:t>
            </a:fld>
            <a:endParaRPr lang="en-US"/>
          </a:p>
        </p:txBody>
      </p:sp>
      <p:sp>
        <p:nvSpPr>
          <p:cNvPr id="5" name="Footer Placeholder 5"/>
          <p:cNvSpPr>
            <a:spLocks noGrp="1"/>
          </p:cNvSpPr>
          <p:nvPr/>
        </p:nvSpPr>
        <p:spPr>
          <a:xfrm>
            <a:off x="400050" y="6507326"/>
            <a:ext cx="6092276" cy="365125"/>
          </a:xfrm>
          <a:prstGeom prst="rect">
            <a:avLst/>
          </a:prstGeom>
        </p:spPr>
        <p:txBody>
          <a:bodyPr vert="horz" lIns="91440" tIns="45720" rIns="91440" bIns="4572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i="1" dirty="0" smtClean="0"/>
              <a:t>@Dr. </a:t>
            </a:r>
            <a:r>
              <a:rPr lang="en-US" sz="1100" i="1" dirty="0" err="1" smtClean="0"/>
              <a:t>Ugrasen</a:t>
            </a:r>
            <a:r>
              <a:rPr lang="en-US" sz="1100" i="1" dirty="0" smtClean="0"/>
              <a:t> Suman, Professor, SCSIT, DAVV Indore (MP), India</a:t>
            </a:r>
            <a:endParaRPr lang="en-US" sz="1100" i="1" dirty="0"/>
          </a:p>
        </p:txBody>
      </p:sp>
    </p:spTree>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6105"/>
            <a:ext cx="8229600" cy="715962"/>
          </a:xfrm>
        </p:spPr>
        <p:txBody>
          <a:bodyPr vert="horz" lIns="91440" tIns="45720" rIns="91440" bIns="45720" rtlCol="0" anchor="ctr">
            <a:noAutofit/>
          </a:bodyPr>
          <a:lstStyle/>
          <a:p>
            <a:r>
              <a:rPr lang="en-US" sz="3200" b="1" dirty="0" smtClean="0">
                <a:solidFill>
                  <a:srgbClr val="C00000"/>
                </a:solidFill>
                <a:cs typeface="Times New Roman" pitchFamily="18" charset="0"/>
              </a:rPr>
              <a:t>The Role of Software Architect</a:t>
            </a:r>
            <a:endParaRPr lang="en-IN" sz="3200" b="1" dirty="0" smtClean="0">
              <a:solidFill>
                <a:srgbClr val="C00000"/>
              </a:solidFill>
              <a:cs typeface="Times New Roman" pitchFamily="18" charset="0"/>
            </a:endParaRPr>
          </a:p>
        </p:txBody>
      </p:sp>
      <p:sp>
        <p:nvSpPr>
          <p:cNvPr id="4" name="Slide Number Placeholder 3"/>
          <p:cNvSpPr>
            <a:spLocks noGrp="1"/>
          </p:cNvSpPr>
          <p:nvPr>
            <p:ph type="sldNum" sz="quarter" idx="12"/>
          </p:nvPr>
        </p:nvSpPr>
        <p:spPr/>
        <p:txBody>
          <a:bodyPr/>
          <a:lstStyle/>
          <a:p>
            <a:fld id="{26011043-848E-4CA3-808D-B3CFD8CB8118}" type="slidenum">
              <a:rPr lang="en-US" smtClean="0">
                <a:solidFill>
                  <a:prstClr val="black">
                    <a:tint val="75000"/>
                  </a:prstClr>
                </a:solidFill>
              </a:rPr>
              <a:pPr/>
              <a:t>35</a:t>
            </a:fld>
            <a:endParaRPr lang="en-US">
              <a:solidFill>
                <a:prstClr val="black">
                  <a:tint val="75000"/>
                </a:prstClr>
              </a:solidFill>
            </a:endParaRPr>
          </a:p>
        </p:txBody>
      </p:sp>
      <p:sp>
        <p:nvSpPr>
          <p:cNvPr id="5" name="Content Placeholder 2"/>
          <p:cNvSpPr txBox="1">
            <a:spLocks/>
          </p:cNvSpPr>
          <p:nvPr/>
        </p:nvSpPr>
        <p:spPr>
          <a:xfrm>
            <a:off x="5867400" y="3657600"/>
            <a:ext cx="8229600" cy="2286000"/>
          </a:xfrm>
          <a:prstGeom prst="rect">
            <a:avLst/>
          </a:prstGeom>
        </p:spPr>
        <p:txBody>
          <a:bodyPr vert="horz" lIns="91440" tIns="45720" rIns="91440" bIns="45720" rtlCol="0">
            <a:noAutofit/>
          </a:bodyPr>
          <a:lstStyle/>
          <a:p>
            <a:pPr marL="342900" indent="-342900">
              <a:spcBef>
                <a:spcPct val="20000"/>
              </a:spcBef>
              <a:buFont typeface="Arial" pitchFamily="34" charset="0"/>
              <a:buChar char="•"/>
              <a:defRPr/>
            </a:pPr>
            <a:endParaRPr lang="en-IN" sz="2400" dirty="0">
              <a:solidFill>
                <a:prstClr val="black"/>
              </a:solidFill>
              <a:latin typeface="Times New Roman" pitchFamily="18" charset="0"/>
              <a:cs typeface="Times New Roman" pitchFamily="18" charset="0"/>
            </a:endParaRPr>
          </a:p>
        </p:txBody>
      </p:sp>
      <p:pic>
        <p:nvPicPr>
          <p:cNvPr id="8" name="Picture 7"/>
          <p:cNvPicPr>
            <a:picLocks noChangeAspect="1"/>
          </p:cNvPicPr>
          <p:nvPr/>
        </p:nvPicPr>
        <p:blipFill>
          <a:blip r:embed="rId2"/>
          <a:stretch>
            <a:fillRect/>
          </a:stretch>
        </p:blipFill>
        <p:spPr>
          <a:xfrm>
            <a:off x="76200" y="1447800"/>
            <a:ext cx="8915400" cy="4572000"/>
          </a:xfrm>
          <a:prstGeom prst="rect">
            <a:avLst/>
          </a:prstGeom>
        </p:spPr>
      </p:pic>
      <p:sp>
        <p:nvSpPr>
          <p:cNvPr id="6" name="Footer Placeholder 5"/>
          <p:cNvSpPr>
            <a:spLocks noGrp="1"/>
          </p:cNvSpPr>
          <p:nvPr/>
        </p:nvSpPr>
        <p:spPr>
          <a:xfrm>
            <a:off x="400050" y="6507326"/>
            <a:ext cx="6092276" cy="365125"/>
          </a:xfrm>
          <a:prstGeom prst="rect">
            <a:avLst/>
          </a:prstGeom>
        </p:spPr>
        <p:txBody>
          <a:bodyPr vert="horz" lIns="91440" tIns="45720" rIns="91440" bIns="4572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i="1" dirty="0" smtClean="0"/>
              <a:t>@Dr. </a:t>
            </a:r>
            <a:r>
              <a:rPr lang="en-US" sz="1100" i="1" dirty="0" err="1" smtClean="0"/>
              <a:t>Ugrasen</a:t>
            </a:r>
            <a:r>
              <a:rPr lang="en-US" sz="1100" i="1" dirty="0" smtClean="0"/>
              <a:t> Suman, Professor, SCSIT, DAVV Indore (MP), India</a:t>
            </a:r>
            <a:endParaRPr lang="en-US" sz="1100" i="1" dirty="0"/>
          </a:p>
        </p:txBody>
      </p:sp>
    </p:spTree>
    <p:extLst>
      <p:ext uri="{BB962C8B-B14F-4D97-AF65-F5344CB8AC3E}">
        <p14:creationId xmlns:p14="http://schemas.microsoft.com/office/powerpoint/2010/main" val="2865389646"/>
      </p:ext>
    </p:extLst>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47687"/>
          </a:xfrm>
        </p:spPr>
        <p:txBody>
          <a:bodyPr vert="horz" lIns="91440" tIns="45720" rIns="91440" bIns="45720" rtlCol="0" anchor="ctr">
            <a:noAutofit/>
          </a:bodyPr>
          <a:lstStyle/>
          <a:p>
            <a:r>
              <a:rPr lang="en-US" sz="3200" b="1" dirty="0">
                <a:solidFill>
                  <a:srgbClr val="C00000"/>
                </a:solidFill>
                <a:cs typeface="Times New Roman" pitchFamily="18" charset="0"/>
              </a:rPr>
              <a:t>The Role of Software Architect</a:t>
            </a:r>
            <a:endParaRPr lang="en-IN" sz="3200" b="1" dirty="0">
              <a:solidFill>
                <a:srgbClr val="C00000"/>
              </a:solidFill>
              <a:cs typeface="Times New Roman" pitchFamily="18" charset="0"/>
            </a:endParaRPr>
          </a:p>
        </p:txBody>
      </p:sp>
      <p:sp>
        <p:nvSpPr>
          <p:cNvPr id="3" name="Content Placeholder 2"/>
          <p:cNvSpPr>
            <a:spLocks noGrp="1"/>
          </p:cNvSpPr>
          <p:nvPr>
            <p:ph idx="1"/>
          </p:nvPr>
        </p:nvSpPr>
        <p:spPr>
          <a:xfrm>
            <a:off x="304800" y="847725"/>
            <a:ext cx="8534400" cy="5257800"/>
          </a:xfrm>
        </p:spPr>
        <p:txBody>
          <a:bodyPr>
            <a:noAutofit/>
          </a:bodyPr>
          <a:lstStyle/>
          <a:p>
            <a:r>
              <a:rPr lang="en-US" sz="2400" b="1" dirty="0" smtClean="0">
                <a:cs typeface="Times New Roman" pitchFamily="18" charset="0"/>
              </a:rPr>
              <a:t>Important responsibilities are:</a:t>
            </a:r>
            <a:endParaRPr lang="en-IN" sz="2400" b="1" dirty="0" smtClean="0">
              <a:cs typeface="Times New Roman" pitchFamily="18" charset="0"/>
            </a:endParaRPr>
          </a:p>
          <a:p>
            <a:pPr lvl="1"/>
            <a:r>
              <a:rPr lang="en-US" sz="1800" i="1" dirty="0" smtClean="0">
                <a:cs typeface="Times New Roman" pitchFamily="18" charset="0"/>
              </a:rPr>
              <a:t>Providing tailored view of software architecture to the development team at all levels</a:t>
            </a:r>
            <a:endParaRPr lang="en-IN" sz="1800" i="1" dirty="0" smtClean="0">
              <a:cs typeface="Times New Roman" pitchFamily="18" charset="0"/>
            </a:endParaRPr>
          </a:p>
          <a:p>
            <a:pPr lvl="1"/>
            <a:r>
              <a:rPr lang="en-US" sz="1800" i="1" dirty="0" smtClean="0">
                <a:cs typeface="Times New Roman" pitchFamily="18" charset="0"/>
              </a:rPr>
              <a:t>Creating high-level product specifications and making design decisions</a:t>
            </a:r>
            <a:endParaRPr lang="en-IN" sz="1800" i="1" dirty="0" smtClean="0">
              <a:cs typeface="Times New Roman" pitchFamily="18" charset="0"/>
            </a:endParaRPr>
          </a:p>
          <a:p>
            <a:pPr lvl="1"/>
            <a:r>
              <a:rPr lang="en-US" sz="1800" i="1" dirty="0" smtClean="0">
                <a:cs typeface="Times New Roman" pitchFamily="18" charset="0"/>
              </a:rPr>
              <a:t>Providing complete technical support and guiding the development team throughout the process</a:t>
            </a:r>
            <a:endParaRPr lang="en-IN" sz="1800" i="1" dirty="0" smtClean="0">
              <a:cs typeface="Times New Roman" pitchFamily="18" charset="0"/>
            </a:endParaRPr>
          </a:p>
          <a:p>
            <a:pPr lvl="1"/>
            <a:r>
              <a:rPr lang="en-US" sz="1800" i="1" dirty="0" smtClean="0">
                <a:cs typeface="Times New Roman" pitchFamily="18" charset="0"/>
              </a:rPr>
              <a:t>Collaborating with various project stakeholders to determine software requirements</a:t>
            </a:r>
            <a:endParaRPr lang="en-IN" sz="1800" i="1" dirty="0" smtClean="0">
              <a:cs typeface="Times New Roman" pitchFamily="18" charset="0"/>
            </a:endParaRPr>
          </a:p>
          <a:p>
            <a:pPr lvl="1"/>
            <a:r>
              <a:rPr lang="en-US" sz="1800" i="1" dirty="0" smtClean="0">
                <a:cs typeface="Times New Roman" pitchFamily="18" charset="0"/>
              </a:rPr>
              <a:t>Selecting the right technologies for the implementation of each component and connections between the components</a:t>
            </a:r>
            <a:endParaRPr lang="en-IN" sz="1800" i="1" dirty="0" smtClean="0">
              <a:cs typeface="Times New Roman" pitchFamily="18" charset="0"/>
            </a:endParaRPr>
          </a:p>
          <a:p>
            <a:pPr lvl="1"/>
            <a:r>
              <a:rPr lang="en-US" sz="1800" i="1" dirty="0" smtClean="0">
                <a:cs typeface="Times New Roman" pitchFamily="18" charset="0"/>
              </a:rPr>
              <a:t>Writing design documentation and providing its support</a:t>
            </a:r>
            <a:endParaRPr lang="en-IN" sz="1800" i="1" dirty="0" smtClean="0">
              <a:cs typeface="Times New Roman" pitchFamily="18" charset="0"/>
            </a:endParaRPr>
          </a:p>
          <a:p>
            <a:pPr lvl="1"/>
            <a:r>
              <a:rPr lang="en-US" sz="1800" i="1" dirty="0" smtClean="0">
                <a:cs typeface="Times New Roman" pitchFamily="18" charset="0"/>
              </a:rPr>
              <a:t>Reviewing, troubleshooting, and resolving issues with coding or design</a:t>
            </a:r>
            <a:endParaRPr lang="en-IN" sz="1800" i="1" dirty="0" smtClean="0">
              <a:cs typeface="Times New Roman" pitchFamily="18" charset="0"/>
            </a:endParaRPr>
          </a:p>
          <a:p>
            <a:pPr lvl="1"/>
            <a:r>
              <a:rPr lang="en-US" sz="1800" i="1" dirty="0" smtClean="0">
                <a:cs typeface="Times New Roman" pitchFamily="18" charset="0"/>
              </a:rPr>
              <a:t>Controlling the team to adhere architecture, development schedules, and deadlines</a:t>
            </a:r>
            <a:endParaRPr lang="en-IN" sz="1800" i="1" dirty="0" smtClean="0">
              <a:cs typeface="Times New Roman" pitchFamily="18" charset="0"/>
            </a:endParaRPr>
          </a:p>
          <a:p>
            <a:pPr lvl="1"/>
            <a:r>
              <a:rPr lang="en-US" sz="1800" i="1" dirty="0" smtClean="0">
                <a:cs typeface="Times New Roman" pitchFamily="18" charset="0"/>
              </a:rPr>
              <a:t>Reviewing progress reports, resolving disputes, and setting goals and standards</a:t>
            </a:r>
            <a:endParaRPr lang="en-IN" sz="1800" i="1" dirty="0" smtClean="0">
              <a:cs typeface="Times New Roman" pitchFamily="18" charset="0"/>
            </a:endParaRPr>
          </a:p>
          <a:p>
            <a:pPr lvl="1"/>
            <a:r>
              <a:rPr lang="en-US" sz="1800" i="1" dirty="0" smtClean="0">
                <a:cs typeface="Times New Roman" pitchFamily="18" charset="0"/>
              </a:rPr>
              <a:t>Ensuring that the product meets requirements during delivery</a:t>
            </a:r>
            <a:endParaRPr lang="en-IN" sz="1800" i="1" dirty="0" smtClean="0">
              <a:cs typeface="Times New Roman" pitchFamily="18" charset="0"/>
            </a:endParaRPr>
          </a:p>
          <a:p>
            <a:pPr lvl="1"/>
            <a:r>
              <a:rPr lang="en-US" sz="1800" i="1" dirty="0" smtClean="0">
                <a:cs typeface="Times New Roman" pitchFamily="18" charset="0"/>
              </a:rPr>
              <a:t>Incorporating changes in software solutions as and when required</a:t>
            </a:r>
            <a:endParaRPr lang="en-IN" sz="1800" i="1" dirty="0" smtClean="0">
              <a:cs typeface="Times New Roman" pitchFamily="18" charset="0"/>
            </a:endParaRPr>
          </a:p>
          <a:p>
            <a:endParaRPr lang="en-IN" sz="1600" dirty="0">
              <a:cs typeface="Times New Roman" pitchFamily="18" charset="0"/>
            </a:endParaRPr>
          </a:p>
        </p:txBody>
      </p:sp>
      <p:sp>
        <p:nvSpPr>
          <p:cNvPr id="4" name="Slide Number Placeholder 3"/>
          <p:cNvSpPr>
            <a:spLocks noGrp="1"/>
          </p:cNvSpPr>
          <p:nvPr>
            <p:ph type="sldNum" sz="quarter" idx="12"/>
          </p:nvPr>
        </p:nvSpPr>
        <p:spPr/>
        <p:txBody>
          <a:bodyPr/>
          <a:lstStyle/>
          <a:p>
            <a:fld id="{26011043-848E-4CA3-808D-B3CFD8CB8118}" type="slidenum">
              <a:rPr lang="en-US" smtClean="0"/>
              <a:pPr/>
              <a:t>36</a:t>
            </a:fld>
            <a:endParaRPr lang="en-US"/>
          </a:p>
        </p:txBody>
      </p:sp>
      <p:sp>
        <p:nvSpPr>
          <p:cNvPr id="5" name="Footer Placeholder 5"/>
          <p:cNvSpPr>
            <a:spLocks noGrp="1"/>
          </p:cNvSpPr>
          <p:nvPr/>
        </p:nvSpPr>
        <p:spPr>
          <a:xfrm>
            <a:off x="400050" y="6507326"/>
            <a:ext cx="6092276" cy="365125"/>
          </a:xfrm>
          <a:prstGeom prst="rect">
            <a:avLst/>
          </a:prstGeom>
        </p:spPr>
        <p:txBody>
          <a:bodyPr vert="horz" lIns="91440" tIns="45720" rIns="91440" bIns="4572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i="1" dirty="0" smtClean="0"/>
              <a:t>@Dr. </a:t>
            </a:r>
            <a:r>
              <a:rPr lang="en-US" sz="1100" i="1" dirty="0" err="1" smtClean="0"/>
              <a:t>Ugrasen</a:t>
            </a:r>
            <a:r>
              <a:rPr lang="en-US" sz="1100" i="1" dirty="0" smtClean="0"/>
              <a:t> Suman, Professor, SCSIT, DAVV Indore (MP), India</a:t>
            </a:r>
            <a:endParaRPr lang="en-US" sz="1100" i="1" dirty="0"/>
          </a:p>
        </p:txBody>
      </p:sp>
    </p:spTree>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vert="horz" lIns="91440" tIns="45720" rIns="91440" bIns="45720" rtlCol="0" anchor="ctr">
            <a:noAutofit/>
          </a:bodyPr>
          <a:lstStyle/>
          <a:p>
            <a:r>
              <a:rPr lang="en-US" sz="3200" b="1" dirty="0">
                <a:solidFill>
                  <a:srgbClr val="C00000"/>
                </a:solidFill>
                <a:cs typeface="Times New Roman" pitchFamily="18" charset="0"/>
              </a:rPr>
              <a:t>The Role of Software Architect</a:t>
            </a:r>
            <a:endParaRPr lang="en-IN" sz="3200" b="1" dirty="0">
              <a:solidFill>
                <a:srgbClr val="C00000"/>
              </a:solidFill>
              <a:cs typeface="Times New Roman" pitchFamily="18" charset="0"/>
            </a:endParaRPr>
          </a:p>
        </p:txBody>
      </p:sp>
      <p:sp>
        <p:nvSpPr>
          <p:cNvPr id="3" name="Content Placeholder 2"/>
          <p:cNvSpPr>
            <a:spLocks noGrp="1"/>
          </p:cNvSpPr>
          <p:nvPr>
            <p:ph idx="1"/>
          </p:nvPr>
        </p:nvSpPr>
        <p:spPr>
          <a:xfrm>
            <a:off x="381000" y="990600"/>
            <a:ext cx="8229600" cy="4525963"/>
          </a:xfrm>
        </p:spPr>
        <p:txBody>
          <a:bodyPr>
            <a:normAutofit/>
          </a:bodyPr>
          <a:lstStyle/>
          <a:p>
            <a:r>
              <a:rPr lang="en-US" sz="2400" dirty="0" smtClean="0">
                <a:cs typeface="Times New Roman" pitchFamily="18" charset="0"/>
              </a:rPr>
              <a:t>Common traits of software architects are:</a:t>
            </a:r>
            <a:endParaRPr lang="en-IN" sz="2400" dirty="0" smtClean="0">
              <a:cs typeface="Times New Roman" pitchFamily="18" charset="0"/>
            </a:endParaRPr>
          </a:p>
          <a:p>
            <a:pPr lvl="1"/>
            <a:r>
              <a:rPr lang="en-US" sz="2400" i="1" dirty="0" smtClean="0">
                <a:cs typeface="Times New Roman" pitchFamily="18" charset="0"/>
              </a:rPr>
              <a:t>Strong technical knowledge</a:t>
            </a:r>
            <a:endParaRPr lang="en-IN" sz="2400" i="1" dirty="0" smtClean="0">
              <a:cs typeface="Times New Roman" pitchFamily="18" charset="0"/>
            </a:endParaRPr>
          </a:p>
          <a:p>
            <a:pPr lvl="1"/>
            <a:r>
              <a:rPr lang="en-US" sz="2400" i="1" dirty="0" smtClean="0">
                <a:cs typeface="Times New Roman" pitchFamily="18" charset="0"/>
              </a:rPr>
              <a:t>Responsible and motivated </a:t>
            </a:r>
            <a:endParaRPr lang="en-IN" sz="2400" i="1" dirty="0" smtClean="0">
              <a:cs typeface="Times New Roman" pitchFamily="18" charset="0"/>
            </a:endParaRPr>
          </a:p>
          <a:p>
            <a:pPr lvl="1"/>
            <a:r>
              <a:rPr lang="en-US" sz="2400" i="1" dirty="0" smtClean="0">
                <a:cs typeface="Times New Roman" pitchFamily="18" charset="0"/>
              </a:rPr>
              <a:t>Good communication and interpersonal skills</a:t>
            </a:r>
            <a:endParaRPr lang="en-IN" sz="2400" i="1" dirty="0" smtClean="0">
              <a:cs typeface="Times New Roman" pitchFamily="18" charset="0"/>
            </a:endParaRPr>
          </a:p>
          <a:p>
            <a:pPr lvl="1"/>
            <a:r>
              <a:rPr lang="en-US" sz="2400" i="1" dirty="0" smtClean="0">
                <a:cs typeface="Times New Roman" pitchFamily="18" charset="0"/>
              </a:rPr>
              <a:t>Analytical skills </a:t>
            </a:r>
            <a:endParaRPr lang="en-IN" sz="2400" i="1" dirty="0" smtClean="0">
              <a:cs typeface="Times New Roman" pitchFamily="18" charset="0"/>
            </a:endParaRPr>
          </a:p>
          <a:p>
            <a:pPr lvl="1"/>
            <a:r>
              <a:rPr lang="en-US" sz="2400" i="1" dirty="0" smtClean="0">
                <a:cs typeface="Times New Roman" pitchFamily="18" charset="0"/>
              </a:rPr>
              <a:t>Management skills</a:t>
            </a:r>
            <a:endParaRPr lang="en-IN" sz="2400" i="1" dirty="0" smtClean="0">
              <a:cs typeface="Times New Roman" pitchFamily="18" charset="0"/>
            </a:endParaRPr>
          </a:p>
          <a:p>
            <a:pPr lvl="1"/>
            <a:r>
              <a:rPr lang="en-US" sz="2400" i="1" dirty="0" smtClean="0">
                <a:cs typeface="Times New Roman" pitchFamily="18" charset="0"/>
              </a:rPr>
              <a:t>Patient, resilient, and stress-resistant</a:t>
            </a:r>
            <a:endParaRPr lang="en-IN" sz="2400" i="1" dirty="0" smtClean="0">
              <a:cs typeface="Times New Roman" pitchFamily="18" charset="0"/>
            </a:endParaRPr>
          </a:p>
        </p:txBody>
      </p:sp>
      <p:sp>
        <p:nvSpPr>
          <p:cNvPr id="4" name="Slide Number Placeholder 3"/>
          <p:cNvSpPr>
            <a:spLocks noGrp="1"/>
          </p:cNvSpPr>
          <p:nvPr>
            <p:ph type="sldNum" sz="quarter" idx="12"/>
          </p:nvPr>
        </p:nvSpPr>
        <p:spPr/>
        <p:txBody>
          <a:bodyPr/>
          <a:lstStyle/>
          <a:p>
            <a:fld id="{26011043-848E-4CA3-808D-B3CFD8CB8118}" type="slidenum">
              <a:rPr lang="en-US" smtClean="0"/>
              <a:pPr/>
              <a:t>37</a:t>
            </a:fld>
            <a:endParaRPr lang="en-US"/>
          </a:p>
        </p:txBody>
      </p:sp>
      <p:pic>
        <p:nvPicPr>
          <p:cNvPr id="5" name="Picture 4"/>
          <p:cNvPicPr>
            <a:picLocks noChangeAspect="1"/>
          </p:cNvPicPr>
          <p:nvPr/>
        </p:nvPicPr>
        <p:blipFill>
          <a:blip r:embed="rId2"/>
          <a:stretch>
            <a:fillRect/>
          </a:stretch>
        </p:blipFill>
        <p:spPr>
          <a:xfrm>
            <a:off x="499533" y="4419600"/>
            <a:ext cx="8153400" cy="1936750"/>
          </a:xfrm>
          <a:prstGeom prst="rect">
            <a:avLst/>
          </a:prstGeom>
        </p:spPr>
      </p:pic>
      <p:sp>
        <p:nvSpPr>
          <p:cNvPr id="6" name="Footer Placeholder 5"/>
          <p:cNvSpPr>
            <a:spLocks noGrp="1"/>
          </p:cNvSpPr>
          <p:nvPr/>
        </p:nvSpPr>
        <p:spPr>
          <a:xfrm>
            <a:off x="400050" y="6507326"/>
            <a:ext cx="6092276" cy="365125"/>
          </a:xfrm>
          <a:prstGeom prst="rect">
            <a:avLst/>
          </a:prstGeom>
        </p:spPr>
        <p:txBody>
          <a:bodyPr vert="horz" lIns="91440" tIns="45720" rIns="91440" bIns="4572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i="1" dirty="0" smtClean="0"/>
              <a:t>@Dr. </a:t>
            </a:r>
            <a:r>
              <a:rPr lang="en-US" sz="1100" i="1" dirty="0" err="1" smtClean="0"/>
              <a:t>Ugrasen</a:t>
            </a:r>
            <a:r>
              <a:rPr lang="en-US" sz="1100" i="1" dirty="0" smtClean="0"/>
              <a:t> Suman, Professor, SCSIT, DAVV Indore (MP), India</a:t>
            </a:r>
            <a:endParaRPr lang="en-US" sz="1100" i="1" dirty="0"/>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vert="horz" lIns="91440" tIns="45720" rIns="91440" bIns="45720" rtlCol="0" anchor="ctr">
            <a:noAutofit/>
          </a:bodyPr>
          <a:lstStyle/>
          <a:p>
            <a:r>
              <a:rPr lang="en-US" sz="3200" b="1" dirty="0">
                <a:solidFill>
                  <a:srgbClr val="C00000"/>
                </a:solidFill>
                <a:cs typeface="Times New Roman" pitchFamily="18" charset="0"/>
              </a:rPr>
              <a:t>Expectations of an Architect</a:t>
            </a:r>
          </a:p>
        </p:txBody>
      </p:sp>
      <p:sp>
        <p:nvSpPr>
          <p:cNvPr id="3" name="Content Placeholder 2"/>
          <p:cNvSpPr>
            <a:spLocks noGrp="1"/>
          </p:cNvSpPr>
          <p:nvPr>
            <p:ph idx="1"/>
          </p:nvPr>
        </p:nvSpPr>
        <p:spPr>
          <a:xfrm>
            <a:off x="457200" y="1371600"/>
            <a:ext cx="8229600" cy="4754563"/>
          </a:xfrm>
        </p:spPr>
        <p:txBody>
          <a:bodyPr>
            <a:normAutofit/>
          </a:bodyPr>
          <a:lstStyle/>
          <a:p>
            <a:pPr lvl="1" algn="just">
              <a:buFont typeface="Wingdings" pitchFamily="2" charset="2"/>
              <a:buChar char="Ø"/>
            </a:pPr>
            <a:r>
              <a:rPr lang="en-US" sz="2400" dirty="0" smtClean="0">
                <a:cs typeface="Times New Roman" pitchFamily="18" charset="0"/>
              </a:rPr>
              <a:t>Make </a:t>
            </a:r>
            <a:r>
              <a:rPr lang="en-US" sz="2400" dirty="0">
                <a:cs typeface="Times New Roman" pitchFamily="18" charset="0"/>
              </a:rPr>
              <a:t>architecture decisions</a:t>
            </a:r>
          </a:p>
          <a:p>
            <a:pPr lvl="1" algn="just">
              <a:buFont typeface="Wingdings" pitchFamily="2" charset="2"/>
              <a:buChar char="Ø"/>
            </a:pPr>
            <a:r>
              <a:rPr lang="en-US" sz="2400" dirty="0" smtClean="0">
                <a:cs typeface="Times New Roman" pitchFamily="18" charset="0"/>
              </a:rPr>
              <a:t>Continually </a:t>
            </a:r>
            <a:r>
              <a:rPr lang="en-US" sz="2400" dirty="0">
                <a:cs typeface="Times New Roman" pitchFamily="18" charset="0"/>
              </a:rPr>
              <a:t>analyze the architecture</a:t>
            </a:r>
          </a:p>
          <a:p>
            <a:pPr lvl="1" algn="just">
              <a:buFont typeface="Wingdings" pitchFamily="2" charset="2"/>
              <a:buChar char="Ø"/>
            </a:pPr>
            <a:r>
              <a:rPr lang="en-US" sz="2400" dirty="0" smtClean="0">
                <a:cs typeface="Times New Roman" pitchFamily="18" charset="0"/>
              </a:rPr>
              <a:t>Keep </a:t>
            </a:r>
            <a:r>
              <a:rPr lang="en-US" sz="2400" dirty="0">
                <a:cs typeface="Times New Roman" pitchFamily="18" charset="0"/>
              </a:rPr>
              <a:t>current with latest trends</a:t>
            </a:r>
          </a:p>
          <a:p>
            <a:pPr lvl="1" algn="just">
              <a:buFont typeface="Wingdings" pitchFamily="2" charset="2"/>
              <a:buChar char="Ø"/>
            </a:pPr>
            <a:r>
              <a:rPr lang="en-US" sz="2400" dirty="0" smtClean="0">
                <a:cs typeface="Times New Roman" pitchFamily="18" charset="0"/>
              </a:rPr>
              <a:t>Ensure </a:t>
            </a:r>
            <a:r>
              <a:rPr lang="en-US" sz="2400" dirty="0">
                <a:cs typeface="Times New Roman" pitchFamily="18" charset="0"/>
              </a:rPr>
              <a:t>compliance with decisions</a:t>
            </a:r>
          </a:p>
          <a:p>
            <a:pPr lvl="1" algn="just">
              <a:buFont typeface="Wingdings" pitchFamily="2" charset="2"/>
              <a:buChar char="Ø"/>
            </a:pPr>
            <a:r>
              <a:rPr lang="en-US" sz="2400" dirty="0" smtClean="0">
                <a:cs typeface="Times New Roman" pitchFamily="18" charset="0"/>
              </a:rPr>
              <a:t>Diverse </a:t>
            </a:r>
            <a:r>
              <a:rPr lang="en-US" sz="2400" dirty="0">
                <a:cs typeface="Times New Roman" pitchFamily="18" charset="0"/>
              </a:rPr>
              <a:t>exposure and experience</a:t>
            </a:r>
          </a:p>
          <a:p>
            <a:pPr lvl="1" algn="just">
              <a:buFont typeface="Wingdings" pitchFamily="2" charset="2"/>
              <a:buChar char="Ø"/>
            </a:pPr>
            <a:r>
              <a:rPr lang="en-US" sz="2400" dirty="0" smtClean="0">
                <a:cs typeface="Times New Roman" pitchFamily="18" charset="0"/>
              </a:rPr>
              <a:t>Have </a:t>
            </a:r>
            <a:r>
              <a:rPr lang="en-US" sz="2400" dirty="0">
                <a:cs typeface="Times New Roman" pitchFamily="18" charset="0"/>
              </a:rPr>
              <a:t>business domain knowledge</a:t>
            </a:r>
          </a:p>
          <a:p>
            <a:pPr lvl="1" algn="just">
              <a:buFont typeface="Wingdings" pitchFamily="2" charset="2"/>
              <a:buChar char="Ø"/>
            </a:pPr>
            <a:r>
              <a:rPr lang="en-US" sz="2400" dirty="0" smtClean="0">
                <a:cs typeface="Times New Roman" pitchFamily="18" charset="0"/>
              </a:rPr>
              <a:t>Possess </a:t>
            </a:r>
            <a:r>
              <a:rPr lang="en-US" sz="2400" dirty="0">
                <a:cs typeface="Times New Roman" pitchFamily="18" charset="0"/>
              </a:rPr>
              <a:t>interpersonal skills</a:t>
            </a:r>
          </a:p>
          <a:p>
            <a:pPr lvl="1" algn="just">
              <a:buFont typeface="Wingdings" pitchFamily="2" charset="2"/>
              <a:buChar char="Ø"/>
            </a:pPr>
            <a:r>
              <a:rPr lang="en-US" sz="2400" dirty="0" smtClean="0">
                <a:cs typeface="Times New Roman" pitchFamily="18" charset="0"/>
              </a:rPr>
              <a:t>Understand </a:t>
            </a:r>
            <a:r>
              <a:rPr lang="en-US" sz="2400" dirty="0">
                <a:cs typeface="Times New Roman" pitchFamily="18" charset="0"/>
              </a:rPr>
              <a:t>and navigate politics</a:t>
            </a:r>
          </a:p>
        </p:txBody>
      </p:sp>
      <p:sp>
        <p:nvSpPr>
          <p:cNvPr id="5" name="Slide Number Placeholder 4"/>
          <p:cNvSpPr>
            <a:spLocks noGrp="1"/>
          </p:cNvSpPr>
          <p:nvPr>
            <p:ph type="sldNum" sz="quarter" idx="12"/>
          </p:nvPr>
        </p:nvSpPr>
        <p:spPr/>
        <p:txBody>
          <a:bodyPr/>
          <a:lstStyle/>
          <a:p>
            <a:fld id="{26011043-848E-4CA3-808D-B3CFD8CB8118}" type="slidenum">
              <a:rPr lang="en-US" smtClean="0">
                <a:solidFill>
                  <a:prstClr val="black">
                    <a:tint val="75000"/>
                  </a:prstClr>
                </a:solidFill>
              </a:rPr>
              <a:pPr/>
              <a:t>38</a:t>
            </a:fld>
            <a:endParaRPr lang="en-US">
              <a:solidFill>
                <a:prstClr val="black">
                  <a:tint val="75000"/>
                </a:prstClr>
              </a:solidFill>
            </a:endParaRPr>
          </a:p>
        </p:txBody>
      </p:sp>
      <p:sp>
        <p:nvSpPr>
          <p:cNvPr id="6" name="Footer Placeholder 5"/>
          <p:cNvSpPr>
            <a:spLocks noGrp="1"/>
          </p:cNvSpPr>
          <p:nvPr/>
        </p:nvSpPr>
        <p:spPr>
          <a:xfrm>
            <a:off x="400050" y="6507326"/>
            <a:ext cx="6092276" cy="365125"/>
          </a:xfrm>
          <a:prstGeom prst="rect">
            <a:avLst/>
          </a:prstGeom>
        </p:spPr>
        <p:txBody>
          <a:bodyPr vert="horz" lIns="91440" tIns="45720" rIns="91440" bIns="4572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i="1" dirty="0" smtClean="0"/>
              <a:t>@Dr. </a:t>
            </a:r>
            <a:r>
              <a:rPr lang="en-US" sz="1100" i="1" dirty="0" err="1" smtClean="0"/>
              <a:t>Ugrasen</a:t>
            </a:r>
            <a:r>
              <a:rPr lang="en-US" sz="1100" i="1" dirty="0" smtClean="0"/>
              <a:t> Suman, Professor, SCSIT, DAVV Indore (MP), India</a:t>
            </a:r>
            <a:endParaRPr lang="en-US" sz="1100" i="1" dirty="0"/>
          </a:p>
        </p:txBody>
      </p:sp>
    </p:spTree>
    <p:extLst>
      <p:ext uri="{BB962C8B-B14F-4D97-AF65-F5344CB8AC3E}">
        <p14:creationId xmlns:p14="http://schemas.microsoft.com/office/powerpoint/2010/main" val="2368620075"/>
      </p:ext>
    </p:extLst>
  </p:cSld>
  <p:clrMapOvr>
    <a:masterClrMapping/>
  </p:clrMapOvr>
  <p:transition/>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3998</TotalTime>
  <Words>2633</Words>
  <Application>Microsoft Office PowerPoint</Application>
  <PresentationFormat>On-screen Show (4:3)</PresentationFormat>
  <Paragraphs>333</Paragraphs>
  <Slides>38</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38</vt:i4>
      </vt:variant>
    </vt:vector>
  </HeadingPairs>
  <TitlesOfParts>
    <vt:vector size="43" baseType="lpstr">
      <vt:lpstr>Arial</vt:lpstr>
      <vt:lpstr>Calibri</vt:lpstr>
      <vt:lpstr>Times New Roman</vt:lpstr>
      <vt:lpstr>Wingdings</vt:lpstr>
      <vt:lpstr>Office Theme</vt:lpstr>
      <vt:lpstr>PowerPoint Presentation</vt:lpstr>
      <vt:lpstr> Software Design Process   </vt:lpstr>
      <vt:lpstr> Software Design Process  </vt:lpstr>
      <vt:lpstr>Software Design Process </vt:lpstr>
      <vt:lpstr>What is Architecture?</vt:lpstr>
      <vt:lpstr>Building Architecture Vs. Software Architecture</vt:lpstr>
      <vt:lpstr>Building Architecture Vs. Software Architecture</vt:lpstr>
      <vt:lpstr>Other Similar Disciplines</vt:lpstr>
      <vt:lpstr>Other Architectures</vt:lpstr>
      <vt:lpstr>What is Software Architecture?</vt:lpstr>
      <vt:lpstr>What is Software Architecture?</vt:lpstr>
      <vt:lpstr>What is Software Architecture?</vt:lpstr>
      <vt:lpstr>What is Software Architecture?</vt:lpstr>
      <vt:lpstr>What is Software Architecture?</vt:lpstr>
      <vt:lpstr>What is Software Architecture?</vt:lpstr>
      <vt:lpstr>What is Software Architecture?</vt:lpstr>
      <vt:lpstr>Importance of Software Architecture</vt:lpstr>
      <vt:lpstr>Challenges in software architecture</vt:lpstr>
      <vt:lpstr>Laws of Software Architecture</vt:lpstr>
      <vt:lpstr>Architectural Structures</vt:lpstr>
      <vt:lpstr>Architectural Structures</vt:lpstr>
      <vt:lpstr>Architectural Structures</vt:lpstr>
      <vt:lpstr>Architectural Structures</vt:lpstr>
      <vt:lpstr>Architectural Structures</vt:lpstr>
      <vt:lpstr>Architectural Structures</vt:lpstr>
      <vt:lpstr>Architectural Structures</vt:lpstr>
      <vt:lpstr>Architectural Structures</vt:lpstr>
      <vt:lpstr>Architectural Structures</vt:lpstr>
      <vt:lpstr>Architectural Structures</vt:lpstr>
      <vt:lpstr>System Architecture Vs. Software Architecture</vt:lpstr>
      <vt:lpstr>Enterprise Architecture Vs. Software Architecture</vt:lpstr>
      <vt:lpstr>The Role of Software Architect</vt:lpstr>
      <vt:lpstr>The Role of Software Architect</vt:lpstr>
      <vt:lpstr>The Role of Software Architect</vt:lpstr>
      <vt:lpstr>The Role of Software Architect</vt:lpstr>
      <vt:lpstr>The Role of Software Architect</vt:lpstr>
      <vt:lpstr>The Role of Software Architect</vt:lpstr>
      <vt:lpstr>Expectations of an Architect</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MITM</dc:creator>
  <cp:lastModifiedBy>Suman</cp:lastModifiedBy>
  <cp:revision>335</cp:revision>
  <dcterms:created xsi:type="dcterms:W3CDTF">2013-08-03T07:26:24Z</dcterms:created>
  <dcterms:modified xsi:type="dcterms:W3CDTF">2026-01-17T11:01:37Z</dcterms:modified>
</cp:coreProperties>
</file>