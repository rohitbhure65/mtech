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65" r:id="rId2"/>
    <p:sldId id="260" r:id="rId3"/>
    <p:sldId id="266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6" r:id="rId20"/>
    <p:sldId id="284" r:id="rId21"/>
    <p:sldId id="287" r:id="rId22"/>
    <p:sldId id="285" r:id="rId23"/>
    <p:sldId id="288" r:id="rId24"/>
    <p:sldId id="289" r:id="rId25"/>
    <p:sldId id="291" r:id="rId26"/>
    <p:sldId id="29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0AB6"/>
    <a:srgbClr val="0000FF"/>
    <a:srgbClr val="0000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22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E5BDD-D9E0-4029-BEE3-D71C9D0FE685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F1181-0740-451E-8463-18B0B82439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078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B7778-3C8A-438C-9D83-C711A509E1DD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69B11-87FB-47D7-9E93-FAE142DAF1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2059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519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517A-38B3-440F-8FB8-1B6485227C92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6E19F-C88E-4A48-9271-FDEB165D29F3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FC565-FBCB-42E0-8C84-AAC533F4DA03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8A81-E1D8-40C7-97D6-FEFB0C9ED1C5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BA3B-D249-4720-98B3-8EAA5465385A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60C1-C3BC-4A1B-8CBF-0EC2A2A69D9A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C6E27-1F3A-423C-B3DF-D0BA1A59539F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63AC5-2C1A-44B5-8875-0D026100815D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0C3C-1F2D-4219-9C09-38A3D152AA90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5CF9-8CE5-4D3C-9DDC-FE57D6D06DDC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3E64-E888-4212-8F26-4839BB87EB26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1A983-22E6-489C-9C09-9492FF0721F9}" type="datetime1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8229600" cy="3459163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4400" b="1" dirty="0" smtClean="0">
                <a:solidFill>
                  <a:srgbClr val="2B0AB6"/>
                </a:solidFill>
                <a:latin typeface="+mj-lt"/>
              </a:rPr>
              <a:t>Software Modularity</a:t>
            </a:r>
            <a:endParaRPr lang="en-US" sz="4400" b="1" dirty="0">
              <a:solidFill>
                <a:srgbClr val="2B0AB6"/>
              </a:solidFill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Modularity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r>
              <a:rPr lang="en-US" sz="2400" dirty="0"/>
              <a:t>Decomposing the project in modules at development time</a:t>
            </a:r>
          </a:p>
          <a:p>
            <a:r>
              <a:rPr lang="en-US" sz="2400" dirty="0"/>
              <a:t>Modules can be developed independently</a:t>
            </a:r>
            <a:endParaRPr lang="en-US" sz="2400" dirty="0" smtClean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316817"/>
            <a:ext cx="6781800" cy="394640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Modularity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2400" dirty="0"/>
              <a:t>Big Ball of Mud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/>
              <a:t>Modularity definitions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/>
              <a:t>Modularity recommendations</a:t>
            </a:r>
          </a:p>
          <a:p>
            <a:pPr lvl="1"/>
            <a:r>
              <a:rPr lang="en-US" sz="2400" dirty="0"/>
              <a:t>SOLID, Cohesion, Coupling, </a:t>
            </a:r>
            <a:r>
              <a:rPr lang="en-US" sz="2400" dirty="0" err="1"/>
              <a:t>Connascence</a:t>
            </a:r>
            <a:r>
              <a:rPr lang="en-US" sz="2400" dirty="0"/>
              <a:t>, Robustness, Demeter, Fluid interfaces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/>
              <a:t>Modularity styles</a:t>
            </a:r>
          </a:p>
          <a:p>
            <a:pPr lvl="1"/>
            <a:r>
              <a:rPr lang="en-IN" sz="2400" dirty="0"/>
              <a:t>Layers</a:t>
            </a:r>
          </a:p>
          <a:p>
            <a:pPr lvl="1"/>
            <a:r>
              <a:rPr lang="en-IN" sz="2400" dirty="0"/>
              <a:t>Aspect Oriented decomposition</a:t>
            </a:r>
          </a:p>
          <a:p>
            <a:pPr lvl="1"/>
            <a:r>
              <a:rPr lang="en-IN" sz="2400" dirty="0"/>
              <a:t>Domain based decomposition</a:t>
            </a:r>
            <a:endParaRPr lang="en-US" sz="2400" dirty="0" smtClean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4948399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Modularity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667" y="11430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2B0AB6"/>
                </a:solidFill>
              </a:rPr>
              <a:t>Big Ball of </a:t>
            </a:r>
            <a:r>
              <a:rPr lang="en-IN" sz="2400" b="1" dirty="0" smtClean="0">
                <a:solidFill>
                  <a:srgbClr val="2B0AB6"/>
                </a:solidFill>
              </a:rPr>
              <a:t>Mud</a:t>
            </a:r>
          </a:p>
          <a:p>
            <a:r>
              <a:rPr lang="en-IN" sz="2400" dirty="0" smtClean="0"/>
              <a:t>Elements - Lots </a:t>
            </a:r>
            <a:r>
              <a:rPr lang="en-IN" sz="2400" dirty="0"/>
              <a:t>of entities intertwined</a:t>
            </a:r>
          </a:p>
          <a:p>
            <a:r>
              <a:rPr lang="en-IN" sz="2400" dirty="0" smtClean="0"/>
              <a:t>Constraints –None</a:t>
            </a:r>
          </a:p>
          <a:p>
            <a:r>
              <a:rPr lang="en-IN" sz="2400" dirty="0"/>
              <a:t>Quality </a:t>
            </a:r>
            <a:r>
              <a:rPr lang="en-IN" sz="2400" dirty="0" smtClean="0"/>
              <a:t>attributes - Time-to-market (short and early delivery) and Cost (cheaper)</a:t>
            </a:r>
          </a:p>
          <a:p>
            <a:r>
              <a:rPr lang="en-IN" sz="2400" dirty="0" smtClean="0"/>
              <a:t>High </a:t>
            </a:r>
            <a:r>
              <a:rPr lang="en-IN" sz="2400" dirty="0"/>
              <a:t>Maintenance </a:t>
            </a:r>
            <a:r>
              <a:rPr lang="en-IN" sz="2400" dirty="0" smtClean="0"/>
              <a:t>costs</a:t>
            </a:r>
          </a:p>
          <a:p>
            <a:r>
              <a:rPr lang="en-US" sz="2400" dirty="0" smtClean="0"/>
              <a:t>Low </a:t>
            </a:r>
            <a:r>
              <a:rPr lang="en-US" sz="2400" dirty="0"/>
              <a:t>flexibility at some given </a:t>
            </a:r>
            <a:r>
              <a:rPr lang="en-US" sz="2400" dirty="0" smtClean="0"/>
              <a:t>point: At </a:t>
            </a:r>
            <a:r>
              <a:rPr lang="en-US" sz="2400" dirty="0"/>
              <a:t>the beginning, it can be very </a:t>
            </a:r>
            <a:r>
              <a:rPr lang="en-US" sz="2400" dirty="0" smtClean="0"/>
              <a:t>flexible; After </a:t>
            </a:r>
            <a:r>
              <a:rPr lang="en-US" sz="2400" dirty="0"/>
              <a:t>some time, a change can be </a:t>
            </a:r>
            <a:r>
              <a:rPr lang="en-US" sz="2400" dirty="0" smtClean="0"/>
              <a:t>dramatic</a:t>
            </a:r>
          </a:p>
          <a:p>
            <a:r>
              <a:rPr lang="en-IN" sz="2400" dirty="0" smtClean="0"/>
              <a:t>Throwaway code: </a:t>
            </a:r>
            <a:r>
              <a:rPr lang="en-IN" sz="2400" dirty="0"/>
              <a:t>quick prototype </a:t>
            </a:r>
            <a:r>
              <a:rPr lang="en-IN" sz="2400" dirty="0" smtClean="0"/>
              <a:t> </a:t>
            </a:r>
          </a:p>
          <a:p>
            <a:r>
              <a:rPr lang="en-US" sz="2400" dirty="0" smtClean="0"/>
              <a:t>Cut/Paste reuse</a:t>
            </a:r>
          </a:p>
          <a:p>
            <a:r>
              <a:rPr lang="en-US" sz="2400" dirty="0" smtClean="0"/>
              <a:t>Bad </a:t>
            </a:r>
            <a:r>
              <a:rPr lang="en-US" sz="2400" dirty="0"/>
              <a:t>code reproduced in lots of </a:t>
            </a:r>
            <a:r>
              <a:rPr lang="en-US" sz="2400" dirty="0" smtClean="0"/>
              <a:t>places</a:t>
            </a:r>
          </a:p>
          <a:p>
            <a:r>
              <a:rPr lang="en-US" sz="2400" dirty="0" smtClean="0"/>
              <a:t>Anti-patterns </a:t>
            </a:r>
            <a:r>
              <a:rPr lang="en-US" sz="2400" dirty="0"/>
              <a:t>and technical debt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40287445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7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Modularity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3762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2B0AB6"/>
                </a:solidFill>
              </a:rPr>
              <a:t>Modularity definitions</a:t>
            </a:r>
          </a:p>
          <a:p>
            <a:r>
              <a:rPr lang="en-IN" sz="2400" dirty="0"/>
              <a:t>Module </a:t>
            </a:r>
            <a:r>
              <a:rPr lang="en-IN" sz="2400" dirty="0" smtClean="0"/>
              <a:t>is a p</a:t>
            </a:r>
            <a:r>
              <a:rPr lang="en-US" sz="2400" dirty="0" err="1" smtClean="0"/>
              <a:t>iece</a:t>
            </a:r>
            <a:r>
              <a:rPr lang="en-US" sz="2400" dirty="0" smtClean="0"/>
              <a:t> </a:t>
            </a:r>
            <a:r>
              <a:rPr lang="en-US" sz="2400" dirty="0"/>
              <a:t>of software the offers a set of responsibilities</a:t>
            </a:r>
          </a:p>
          <a:p>
            <a:pPr lvl="1"/>
            <a:r>
              <a:rPr lang="en-US" sz="2400" dirty="0"/>
              <a:t>It makes sense at building time (not at runtime)</a:t>
            </a:r>
          </a:p>
          <a:p>
            <a:pPr lvl="1"/>
            <a:r>
              <a:rPr lang="en-IN" sz="2400" dirty="0"/>
              <a:t>Separates interface from body</a:t>
            </a:r>
          </a:p>
          <a:p>
            <a:r>
              <a:rPr lang="en-IN" sz="2400" dirty="0" smtClean="0"/>
              <a:t>Interface: </a:t>
            </a:r>
            <a:r>
              <a:rPr lang="en-US" sz="2400" dirty="0" smtClean="0"/>
              <a:t>Describes </a:t>
            </a:r>
            <a:r>
              <a:rPr lang="en-US" sz="2400" dirty="0"/>
              <a:t>what is a </a:t>
            </a:r>
            <a:r>
              <a:rPr lang="en-US" sz="2400" dirty="0" smtClean="0"/>
              <a:t>module and How </a:t>
            </a:r>
            <a:r>
              <a:rPr lang="en-US" sz="2400" dirty="0"/>
              <a:t>to use </a:t>
            </a:r>
            <a:r>
              <a:rPr lang="en-US" sz="2400" dirty="0" smtClean="0"/>
              <a:t>it?</a:t>
            </a:r>
            <a:endParaRPr lang="en-US" sz="2400" dirty="0"/>
          </a:p>
          <a:p>
            <a:r>
              <a:rPr lang="en-IN" sz="2400" dirty="0" smtClean="0"/>
              <a:t>Body: How </a:t>
            </a:r>
            <a:r>
              <a:rPr lang="en-IN" sz="2400" dirty="0"/>
              <a:t>it is </a:t>
            </a:r>
            <a:r>
              <a:rPr lang="en-IN" sz="2400" dirty="0" smtClean="0"/>
              <a:t>implemented?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000" y="3200400"/>
            <a:ext cx="4054800" cy="3262312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17285463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Modularity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Modularity recommendations</a:t>
            </a:r>
          </a:p>
          <a:p>
            <a:r>
              <a:rPr lang="en-IN" sz="2400" dirty="0"/>
              <a:t>SOLID design principles</a:t>
            </a:r>
          </a:p>
          <a:p>
            <a:r>
              <a:rPr lang="en-IN" sz="2400" dirty="0"/>
              <a:t>Cohesion</a:t>
            </a:r>
          </a:p>
          <a:p>
            <a:r>
              <a:rPr lang="en-IN" sz="2400" dirty="0"/>
              <a:t>Coupling</a:t>
            </a:r>
          </a:p>
          <a:p>
            <a:r>
              <a:rPr lang="en-IN" sz="2400" dirty="0" err="1"/>
              <a:t>Connascence</a:t>
            </a:r>
            <a:endParaRPr lang="en-IN" sz="2400" dirty="0"/>
          </a:p>
          <a:p>
            <a:r>
              <a:rPr lang="en-IN" sz="2400" dirty="0"/>
              <a:t>Robustness: </a:t>
            </a:r>
            <a:r>
              <a:rPr lang="en-IN" sz="2400" dirty="0" err="1"/>
              <a:t>Postel’s</a:t>
            </a:r>
            <a:r>
              <a:rPr lang="en-IN" sz="2400" dirty="0"/>
              <a:t> law</a:t>
            </a:r>
          </a:p>
          <a:p>
            <a:r>
              <a:rPr lang="en-IN" sz="2400" dirty="0"/>
              <a:t>Demeter's Law</a:t>
            </a:r>
          </a:p>
          <a:p>
            <a:r>
              <a:rPr lang="en-IN" sz="2400" dirty="0"/>
              <a:t>Fluid interfaces</a:t>
            </a:r>
            <a:endParaRPr lang="en-IN" sz="2000" dirty="0">
              <a:solidFill>
                <a:srgbClr val="2B0AB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28075107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6397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Modularity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33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Modularity recommendations: </a:t>
            </a:r>
            <a:r>
              <a:rPr lang="en-IN" sz="2400" dirty="0" smtClean="0">
                <a:solidFill>
                  <a:srgbClr val="0000FF"/>
                </a:solidFill>
              </a:rPr>
              <a:t>SOLID </a:t>
            </a:r>
            <a:r>
              <a:rPr lang="en-IN" sz="2400" dirty="0">
                <a:solidFill>
                  <a:srgbClr val="0000FF"/>
                </a:solidFill>
              </a:rPr>
              <a:t>design principles</a:t>
            </a:r>
          </a:p>
          <a:p>
            <a:r>
              <a:rPr lang="en-IN" sz="2000" dirty="0"/>
              <a:t>SRP (Single </a:t>
            </a:r>
            <a:r>
              <a:rPr lang="en-IN" sz="2000" dirty="0" smtClean="0"/>
              <a:t>Responsibility Principle)</a:t>
            </a:r>
          </a:p>
          <a:p>
            <a:pPr lvl="1"/>
            <a:r>
              <a:rPr lang="en-US" sz="2000" dirty="0"/>
              <a:t>A module must have one responsibility</a:t>
            </a:r>
            <a:endParaRPr lang="en-IN" sz="2000" dirty="0"/>
          </a:p>
          <a:p>
            <a:r>
              <a:rPr lang="en-IN" sz="2000" dirty="0"/>
              <a:t>OCP (Open-Closed Principle</a:t>
            </a:r>
            <a:r>
              <a:rPr lang="en-IN" sz="2000" dirty="0" smtClean="0"/>
              <a:t>)</a:t>
            </a:r>
          </a:p>
          <a:p>
            <a:pPr lvl="1"/>
            <a:r>
              <a:rPr lang="en-US" sz="2000" dirty="0"/>
              <a:t>The module must adapt to new changes </a:t>
            </a:r>
            <a:r>
              <a:rPr lang="en-US" sz="2000" dirty="0" smtClean="0"/>
              <a:t>and </a:t>
            </a:r>
            <a:r>
              <a:rPr lang="en-US" sz="2000" dirty="0"/>
              <a:t>Changes can be done without changing the module </a:t>
            </a:r>
            <a:endParaRPr lang="en-IN" sz="2000" dirty="0"/>
          </a:p>
          <a:p>
            <a:r>
              <a:rPr lang="en-IN" sz="2000" dirty="0"/>
              <a:t>LSP (</a:t>
            </a:r>
            <a:r>
              <a:rPr lang="en-IN" sz="2000" dirty="0" err="1" smtClean="0"/>
              <a:t>Liskov</a:t>
            </a:r>
            <a:r>
              <a:rPr lang="en-IN" sz="2000" dirty="0" smtClean="0"/>
              <a:t> Substitution </a:t>
            </a:r>
            <a:r>
              <a:rPr lang="en-IN" sz="2000" dirty="0"/>
              <a:t>Principle</a:t>
            </a:r>
            <a:r>
              <a:rPr lang="en-IN" sz="2000" dirty="0" smtClean="0"/>
              <a:t>)</a:t>
            </a:r>
          </a:p>
          <a:p>
            <a:pPr lvl="1"/>
            <a:r>
              <a:rPr lang="en-US" sz="2000" dirty="0"/>
              <a:t>Subtypes must follow </a:t>
            </a:r>
            <a:r>
              <a:rPr lang="en-US" sz="2000" dirty="0" err="1"/>
              <a:t>supertypes</a:t>
            </a:r>
            <a:r>
              <a:rPr lang="en-US" sz="2000" dirty="0"/>
              <a:t> contract</a:t>
            </a:r>
            <a:endParaRPr lang="en-IN" sz="2000" dirty="0"/>
          </a:p>
          <a:p>
            <a:r>
              <a:rPr lang="en-IN" sz="2000" dirty="0"/>
              <a:t>ISP (Interface </a:t>
            </a:r>
            <a:r>
              <a:rPr lang="en-IN" sz="2000" dirty="0" err="1" smtClean="0"/>
              <a:t>Seggregation</a:t>
            </a:r>
            <a:r>
              <a:rPr lang="en-IN" sz="2000" dirty="0" smtClean="0"/>
              <a:t> Principle)</a:t>
            </a:r>
          </a:p>
          <a:p>
            <a:pPr lvl="1"/>
            <a:r>
              <a:rPr lang="en-US" sz="2000" dirty="0"/>
              <a:t>Clients must not depend on unused </a:t>
            </a:r>
            <a:r>
              <a:rPr lang="en-US" sz="2000" dirty="0" smtClean="0"/>
              <a:t>methods and it is better </a:t>
            </a:r>
            <a:r>
              <a:rPr lang="en-US" sz="2000" dirty="0"/>
              <a:t>to have small and cohesive interfaces</a:t>
            </a:r>
            <a:endParaRPr lang="en-IN" sz="2000" dirty="0" smtClean="0"/>
          </a:p>
          <a:p>
            <a:r>
              <a:rPr lang="en-IN" sz="2000" dirty="0" smtClean="0"/>
              <a:t>DIP </a:t>
            </a:r>
            <a:r>
              <a:rPr lang="en-IN" sz="2000" dirty="0"/>
              <a:t>(Dependency Injection Principle</a:t>
            </a:r>
            <a:r>
              <a:rPr lang="en-IN" sz="2000" dirty="0" smtClean="0"/>
              <a:t>)</a:t>
            </a:r>
          </a:p>
          <a:p>
            <a:pPr lvl="1"/>
            <a:r>
              <a:rPr lang="en-US" sz="2000" i="1" dirty="0"/>
              <a:t>High-level modules should not depend on low-level </a:t>
            </a:r>
            <a:r>
              <a:rPr lang="en-US" sz="2000" i="1" dirty="0" smtClean="0"/>
              <a:t>modules, Both </a:t>
            </a:r>
            <a:r>
              <a:rPr lang="en-US" sz="2000" i="1" dirty="0"/>
              <a:t>should depend on </a:t>
            </a:r>
            <a:r>
              <a:rPr lang="en-US" sz="2000" i="1" dirty="0" smtClean="0"/>
              <a:t>abstractions, Abstractions </a:t>
            </a:r>
            <a:r>
              <a:rPr lang="en-US" sz="2000" i="1" dirty="0"/>
              <a:t>should not depend upon details. </a:t>
            </a:r>
            <a:endParaRPr lang="en-IN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41701309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Modularity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Modularity recommendations: </a:t>
            </a:r>
            <a:r>
              <a:rPr lang="en-IN" sz="2400" dirty="0">
                <a:solidFill>
                  <a:srgbClr val="0000FF"/>
                </a:solidFill>
              </a:rPr>
              <a:t>Cohesion</a:t>
            </a:r>
          </a:p>
          <a:p>
            <a:r>
              <a:rPr lang="en-US" sz="2400" dirty="0"/>
              <a:t>Cohesion = Degree to which the elements of a module work together</a:t>
            </a:r>
          </a:p>
          <a:p>
            <a:r>
              <a:rPr lang="en-US" sz="2400" dirty="0"/>
              <a:t>It is recommended to have high </a:t>
            </a:r>
            <a:r>
              <a:rPr lang="en-US" sz="2400" dirty="0" smtClean="0"/>
              <a:t>cohesion</a:t>
            </a:r>
          </a:p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Levels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of cohesion:</a:t>
            </a:r>
          </a:p>
          <a:p>
            <a:pPr lvl="1" algn="just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Functional cohesion (best)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		</a:t>
            </a:r>
            <a:endParaRPr lang="en-US" sz="22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Sequential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cohesion</a:t>
            </a:r>
          </a:p>
          <a:p>
            <a:pPr lvl="1" algn="just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Communicational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cohesion</a:t>
            </a:r>
          </a:p>
          <a:p>
            <a:pPr lvl="1" algn="just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Procedural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cohesion</a:t>
            </a:r>
          </a:p>
          <a:p>
            <a:pPr lvl="1" algn="just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Temporal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cohesion</a:t>
            </a:r>
          </a:p>
          <a:p>
            <a:pPr lvl="1" algn="just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Logical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cohesion</a:t>
            </a:r>
          </a:p>
          <a:p>
            <a:pPr lvl="1" algn="just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Coincidental cohesion (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worst)</a:t>
            </a:r>
          </a:p>
          <a:p>
            <a:pPr algn="just">
              <a:buNone/>
            </a:pPr>
            <a:r>
              <a:rPr lang="en-GB" sz="22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1629413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Modularity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Modularity recommendations: </a:t>
            </a:r>
            <a:r>
              <a:rPr lang="en-IN" sz="2400" dirty="0">
                <a:solidFill>
                  <a:srgbClr val="0000FF"/>
                </a:solidFill>
              </a:rPr>
              <a:t>Coupling</a:t>
            </a:r>
          </a:p>
          <a:p>
            <a:r>
              <a:rPr lang="en-US" sz="2400" dirty="0"/>
              <a:t>Coupling = Degree of interdependence between software modules</a:t>
            </a:r>
          </a:p>
          <a:p>
            <a:r>
              <a:rPr lang="en-IN" sz="2400" dirty="0"/>
              <a:t>Low coupling </a:t>
            </a:r>
            <a:r>
              <a:rPr lang="en-IN" sz="2400" dirty="0" smtClean="0"/>
              <a:t>Improves modifiability</a:t>
            </a:r>
          </a:p>
          <a:p>
            <a:r>
              <a:rPr lang="en-US" sz="2400" dirty="0"/>
              <a:t>Types of coupling: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Message coupling (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best)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coupling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Stamp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coupling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Control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coupling 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External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coupling 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Common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coupling 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Content coupling (Worst)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IN" sz="2400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16715103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93724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Modularity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4562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Modularity recommendations: </a:t>
            </a:r>
            <a:r>
              <a:rPr lang="en-IN" sz="2400" dirty="0" err="1" smtClean="0">
                <a:solidFill>
                  <a:srgbClr val="0000FF"/>
                </a:solidFill>
              </a:rPr>
              <a:t>Connascence</a:t>
            </a:r>
            <a:endParaRPr lang="en-IN" sz="2400" dirty="0">
              <a:solidFill>
                <a:srgbClr val="0000FF"/>
              </a:solidFill>
            </a:endParaRPr>
          </a:p>
          <a:p>
            <a:r>
              <a:rPr lang="en-US" sz="2400" dirty="0"/>
              <a:t>Things that are born and grow together</a:t>
            </a:r>
          </a:p>
          <a:p>
            <a:r>
              <a:rPr lang="en-US" sz="2400" dirty="0"/>
              <a:t>A change in one requires others to be modified to maintain the system correct</a:t>
            </a:r>
          </a:p>
          <a:p>
            <a:pPr lvl="1"/>
            <a:r>
              <a:rPr lang="en-US" sz="2000" dirty="0"/>
              <a:t>Indicates problems to change -affects modifiability</a:t>
            </a:r>
          </a:p>
          <a:p>
            <a:pPr lvl="1"/>
            <a:r>
              <a:rPr lang="en-US" sz="2000" dirty="0"/>
              <a:t>A vocabulary to talk about coupling</a:t>
            </a:r>
          </a:p>
          <a:p>
            <a:pPr lvl="1"/>
            <a:r>
              <a:rPr lang="en-IN" sz="2000" dirty="0"/>
              <a:t>Combines coupling and cohesion</a:t>
            </a:r>
          </a:p>
          <a:p>
            <a:r>
              <a:rPr lang="en-IN" sz="2400" dirty="0" smtClean="0"/>
              <a:t>Types </a:t>
            </a:r>
            <a:r>
              <a:rPr lang="en-IN" sz="2400" dirty="0"/>
              <a:t>of </a:t>
            </a:r>
            <a:r>
              <a:rPr lang="en-IN" sz="2400" dirty="0" err="1"/>
              <a:t>connascence</a:t>
            </a:r>
            <a:endParaRPr lang="en-IN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00FF"/>
                </a:solidFill>
              </a:rPr>
              <a:t>Static</a:t>
            </a:r>
            <a:r>
              <a:rPr lang="en-US" sz="2400" dirty="0"/>
              <a:t> = can be detected with static </a:t>
            </a:r>
            <a:r>
              <a:rPr lang="en-US" sz="2400" dirty="0" smtClean="0"/>
              <a:t>analysis</a:t>
            </a:r>
          </a:p>
          <a:p>
            <a:pPr lvl="1"/>
            <a:r>
              <a:rPr lang="en-IN" sz="2000" dirty="0"/>
              <a:t>Several components </a:t>
            </a:r>
            <a:r>
              <a:rPr lang="en-IN" sz="2000" dirty="0" smtClean="0"/>
              <a:t>must agree with name, type, meaning, position, algorithm</a:t>
            </a:r>
            <a:endParaRPr 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0000FF"/>
                </a:solidFill>
              </a:rPr>
              <a:t>Dynamic</a:t>
            </a:r>
            <a:r>
              <a:rPr lang="en-IN" sz="2400" dirty="0"/>
              <a:t> = detected at </a:t>
            </a:r>
            <a:r>
              <a:rPr lang="en-IN" sz="2400" dirty="0" smtClean="0"/>
              <a:t>runtime </a:t>
            </a:r>
          </a:p>
          <a:p>
            <a:pPr lvl="1"/>
            <a:r>
              <a:rPr lang="en-US" sz="2000" dirty="0"/>
              <a:t>(Order of execution, time of execution like race condition, values change together, reference to same variable etc.)</a:t>
            </a:r>
            <a:endParaRPr lang="en-IN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13341386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Modularity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Modularity recommendations: </a:t>
            </a:r>
            <a:r>
              <a:rPr lang="en-IN" sz="2400" dirty="0" smtClean="0">
                <a:solidFill>
                  <a:srgbClr val="0000FF"/>
                </a:solidFill>
              </a:rPr>
              <a:t>Robustness</a:t>
            </a:r>
            <a:r>
              <a:rPr lang="en-IN" sz="2400" dirty="0">
                <a:solidFill>
                  <a:srgbClr val="0000FF"/>
                </a:solidFill>
              </a:rPr>
              <a:t>: </a:t>
            </a:r>
            <a:r>
              <a:rPr lang="en-IN" sz="2400" dirty="0" err="1">
                <a:solidFill>
                  <a:srgbClr val="0000FF"/>
                </a:solidFill>
              </a:rPr>
              <a:t>Postel’s</a:t>
            </a:r>
            <a:r>
              <a:rPr lang="en-IN" sz="2400" dirty="0">
                <a:solidFill>
                  <a:srgbClr val="0000FF"/>
                </a:solidFill>
              </a:rPr>
              <a:t> law</a:t>
            </a:r>
          </a:p>
          <a:p>
            <a:r>
              <a:rPr lang="en-US" sz="2400" dirty="0" err="1"/>
              <a:t>Postel’s</a:t>
            </a:r>
            <a:r>
              <a:rPr lang="en-US" sz="2400" dirty="0"/>
              <a:t> law (1980), defined for TCP/IP</a:t>
            </a:r>
          </a:p>
          <a:p>
            <a:pPr lvl="1"/>
            <a:r>
              <a:rPr lang="en-US" sz="2000" dirty="0"/>
              <a:t>Be liberal in what you accept and conservative in what you </a:t>
            </a:r>
            <a:r>
              <a:rPr lang="en-US" sz="2000" dirty="0" smtClean="0"/>
              <a:t>send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IN" sz="2400" dirty="0" smtClean="0"/>
              <a:t>Improve </a:t>
            </a:r>
            <a:r>
              <a:rPr lang="en-IN" sz="2400" dirty="0"/>
              <a:t>interoperability</a:t>
            </a:r>
          </a:p>
          <a:p>
            <a:pPr marL="742950" lvl="2" indent="-342900"/>
            <a:r>
              <a:rPr lang="en-IN" sz="2000" dirty="0" smtClean="0"/>
              <a:t>Send well </a:t>
            </a:r>
            <a:r>
              <a:rPr lang="en-IN" sz="2000" dirty="0"/>
              <a:t>formed messages</a:t>
            </a:r>
          </a:p>
          <a:p>
            <a:pPr lvl="1"/>
            <a:r>
              <a:rPr lang="en-IN" sz="2000" dirty="0"/>
              <a:t>Accept incorrect messages</a:t>
            </a:r>
          </a:p>
          <a:p>
            <a:r>
              <a:rPr lang="en-IN" sz="2400" dirty="0"/>
              <a:t>Applications to API design</a:t>
            </a:r>
          </a:p>
          <a:p>
            <a:pPr lvl="1"/>
            <a:r>
              <a:rPr lang="en-US" sz="2000" dirty="0"/>
              <a:t>Process fields of interest ignoring the rest</a:t>
            </a:r>
          </a:p>
          <a:p>
            <a:pPr lvl="1"/>
            <a:r>
              <a:rPr lang="en-US" sz="2000" dirty="0"/>
              <a:t>Allows APIs to evolve later</a:t>
            </a:r>
            <a:endParaRPr lang="en-IN" sz="1600" dirty="0">
              <a:solidFill>
                <a:srgbClr val="2B0AB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10033489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Modularity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Modularity recommendations: </a:t>
            </a:r>
            <a:r>
              <a:rPr lang="en-IN" sz="2400" dirty="0" smtClean="0">
                <a:solidFill>
                  <a:srgbClr val="0000FF"/>
                </a:solidFill>
              </a:rPr>
              <a:t>Demeter's </a:t>
            </a:r>
            <a:r>
              <a:rPr lang="en-IN" sz="2400" dirty="0">
                <a:solidFill>
                  <a:srgbClr val="0000FF"/>
                </a:solidFill>
              </a:rPr>
              <a:t>Law</a:t>
            </a:r>
          </a:p>
          <a:p>
            <a:r>
              <a:rPr lang="en-US" sz="2400" dirty="0"/>
              <a:t>Also known as Principle of less knowledge </a:t>
            </a:r>
          </a:p>
          <a:p>
            <a:r>
              <a:rPr lang="en-US" sz="2400" dirty="0" smtClean="0"/>
              <a:t>Demeter </a:t>
            </a:r>
            <a:r>
              <a:rPr lang="en-US" sz="2400" dirty="0"/>
              <a:t>System </a:t>
            </a:r>
            <a:r>
              <a:rPr lang="en-US" sz="2400" dirty="0" smtClean="0"/>
              <a:t>Law </a:t>
            </a:r>
          </a:p>
          <a:p>
            <a:pPr lvl="1"/>
            <a:r>
              <a:rPr lang="en-US" sz="2400" dirty="0" smtClean="0"/>
              <a:t>Units </a:t>
            </a:r>
            <a:r>
              <a:rPr lang="en-US" sz="2400" dirty="0"/>
              <a:t>should have limited knowledge about other units </a:t>
            </a:r>
          </a:p>
          <a:p>
            <a:pPr lvl="2"/>
            <a:r>
              <a:rPr lang="en-US" dirty="0"/>
              <a:t>Only units “closely” related to the current unit. </a:t>
            </a:r>
          </a:p>
          <a:p>
            <a:pPr lvl="1"/>
            <a:r>
              <a:rPr lang="en-US" sz="2400" dirty="0"/>
              <a:t>Each unit should only talk to its friends </a:t>
            </a:r>
          </a:p>
          <a:p>
            <a:pPr lvl="2"/>
            <a:r>
              <a:rPr lang="en-IN" dirty="0"/>
              <a:t>"Don’t talk to strangers" </a:t>
            </a:r>
          </a:p>
          <a:p>
            <a:pPr lvl="1"/>
            <a:r>
              <a:rPr lang="en-IN" sz="2400" dirty="0"/>
              <a:t>Symptoms of bad design </a:t>
            </a:r>
          </a:p>
          <a:p>
            <a:pPr lvl="2"/>
            <a:r>
              <a:rPr lang="en-US" dirty="0"/>
              <a:t>Using more than one dot... </a:t>
            </a:r>
          </a:p>
          <a:p>
            <a:pPr lvl="3"/>
            <a:r>
              <a:rPr lang="en-IN" sz="2400" dirty="0" err="1"/>
              <a:t>a.b.method</a:t>
            </a:r>
            <a:r>
              <a:rPr lang="en-IN" sz="2400" dirty="0"/>
              <a:t>(...) </a:t>
            </a:r>
          </a:p>
          <a:p>
            <a:pPr lvl="3"/>
            <a:r>
              <a:rPr lang="en-IN" sz="2400" dirty="0" err="1"/>
              <a:t>a.method</a:t>
            </a:r>
            <a:r>
              <a:rPr lang="en-IN" sz="2400" dirty="0"/>
              <a:t>(...) </a:t>
            </a:r>
            <a:endParaRPr lang="en-IN" sz="2400" dirty="0">
              <a:solidFill>
                <a:srgbClr val="2B0AB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42740271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Modularity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Modularity recommendations: </a:t>
            </a:r>
            <a:r>
              <a:rPr lang="en-IN" sz="2400" dirty="0" smtClean="0">
                <a:solidFill>
                  <a:srgbClr val="0000FF"/>
                </a:solidFill>
              </a:rPr>
              <a:t>Fluid interfaces</a:t>
            </a:r>
          </a:p>
          <a:p>
            <a:r>
              <a:rPr lang="en-US" sz="2400" dirty="0"/>
              <a:t>Improve readability and usability of interfaces </a:t>
            </a:r>
          </a:p>
          <a:p>
            <a:r>
              <a:rPr lang="en-IN" sz="2400" dirty="0"/>
              <a:t>Advantages </a:t>
            </a:r>
          </a:p>
          <a:p>
            <a:pPr lvl="1"/>
            <a:r>
              <a:rPr lang="en-US" sz="2400" dirty="0"/>
              <a:t>Can lead to domain specific languages </a:t>
            </a:r>
          </a:p>
          <a:p>
            <a:pPr lvl="1"/>
            <a:r>
              <a:rPr lang="en-IN" sz="2400" dirty="0"/>
              <a:t>Auto-complete facilities by IDEs </a:t>
            </a:r>
            <a:endParaRPr lang="en-IN" sz="2400" dirty="0">
              <a:solidFill>
                <a:srgbClr val="0000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20942478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r>
              <a:rPr lang="en-IN" sz="2800" dirty="0" smtClean="0"/>
              <a:t>Layered arrangement of modules</a:t>
            </a:r>
          </a:p>
          <a:p>
            <a:r>
              <a:rPr lang="en-IN" sz="2800" dirty="0"/>
              <a:t>Virtual machines </a:t>
            </a:r>
            <a:endParaRPr lang="en-IN" sz="2800" dirty="0" smtClean="0"/>
          </a:p>
          <a:p>
            <a:r>
              <a:rPr lang="en-IN" sz="2800" dirty="0"/>
              <a:t>Aspect </a:t>
            </a:r>
            <a:r>
              <a:rPr lang="en-IN" sz="2800" dirty="0" smtClean="0"/>
              <a:t>Oriented</a:t>
            </a:r>
          </a:p>
          <a:p>
            <a:r>
              <a:rPr lang="en-IN" sz="2800" dirty="0"/>
              <a:t>Domain based</a:t>
            </a:r>
            <a:endParaRPr lang="en-IN" sz="2800" dirty="0">
              <a:solidFill>
                <a:srgbClr val="0000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25562042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272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Layered arrangement of modules</a:t>
            </a:r>
          </a:p>
          <a:p>
            <a:r>
              <a:rPr lang="en-US" sz="2400" dirty="0"/>
              <a:t>Divide software modules in layers </a:t>
            </a:r>
          </a:p>
          <a:p>
            <a:r>
              <a:rPr lang="en-IN" sz="2400" dirty="0"/>
              <a:t>Layers are ordered </a:t>
            </a:r>
          </a:p>
          <a:p>
            <a:r>
              <a:rPr lang="en-US" sz="2400" dirty="0"/>
              <a:t>Each layer exposes an interface that can be used by higher layers </a:t>
            </a:r>
            <a:endParaRPr lang="en-US" sz="2400" dirty="0" smtClean="0"/>
          </a:p>
          <a:p>
            <a:r>
              <a:rPr lang="en-US" sz="2400" dirty="0" smtClean="0"/>
              <a:t>Layering improves</a:t>
            </a:r>
          </a:p>
          <a:p>
            <a:pPr lvl="1"/>
            <a:r>
              <a:rPr lang="en-US" sz="2000" dirty="0" smtClean="0"/>
              <a:t>Reusability</a:t>
            </a:r>
          </a:p>
          <a:p>
            <a:pPr lvl="1"/>
            <a:r>
              <a:rPr lang="en-US" sz="2000" dirty="0" smtClean="0"/>
              <a:t>Testability</a:t>
            </a:r>
          </a:p>
          <a:p>
            <a:pPr lvl="1"/>
            <a:r>
              <a:rPr lang="en-US" sz="2000" dirty="0" smtClean="0"/>
              <a:t>States abstraction level</a:t>
            </a:r>
          </a:p>
          <a:p>
            <a:pPr lvl="1"/>
            <a:r>
              <a:rPr lang="en-US" sz="2000" dirty="0" smtClean="0"/>
              <a:t>Loose coupling</a:t>
            </a:r>
          </a:p>
          <a:p>
            <a:r>
              <a:rPr lang="en-IN" sz="2400" dirty="0"/>
              <a:t>Variants: </a:t>
            </a:r>
            <a:endParaRPr lang="en-IN" sz="2400" dirty="0" smtClean="0"/>
          </a:p>
          <a:p>
            <a:pPr lvl="1"/>
            <a:r>
              <a:rPr lang="en-IN" sz="2000" dirty="0" smtClean="0"/>
              <a:t>Virtual </a:t>
            </a:r>
            <a:r>
              <a:rPr lang="en-IN" sz="2000" dirty="0"/>
              <a:t>machines, </a:t>
            </a:r>
            <a:r>
              <a:rPr lang="en-IN" sz="2000" dirty="0" smtClean="0"/>
              <a:t>APIs, </a:t>
            </a:r>
          </a:p>
          <a:p>
            <a:pPr lvl="1"/>
            <a:r>
              <a:rPr lang="en-IN" sz="2000" dirty="0" smtClean="0"/>
              <a:t>3-layers</a:t>
            </a:r>
            <a:r>
              <a:rPr lang="en-IN" sz="2000" dirty="0"/>
              <a:t>, </a:t>
            </a:r>
            <a:r>
              <a:rPr lang="en-IN" sz="2000" dirty="0" smtClean="0"/>
              <a:t>N-layers</a:t>
            </a:r>
            <a:endParaRPr lang="en-US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524" y="3635750"/>
            <a:ext cx="3182676" cy="272060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21139715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Layered arrangement of modules:</a:t>
            </a:r>
            <a:r>
              <a:rPr lang="en-IN" sz="2400" b="1" dirty="0" smtClean="0">
                <a:solidFill>
                  <a:srgbClr val="0000FF"/>
                </a:solidFill>
              </a:rPr>
              <a:t> </a:t>
            </a:r>
            <a:r>
              <a:rPr lang="en-US" sz="2400" dirty="0" smtClean="0">
                <a:solidFill>
                  <a:srgbClr val="0000FF"/>
                </a:solidFill>
              </a:rPr>
              <a:t>Other Example</a:t>
            </a:r>
            <a:endParaRPr lang="en-IN" sz="2400" dirty="0" smtClean="0">
              <a:solidFill>
                <a:srgbClr val="0000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5001"/>
            <a:ext cx="8382000" cy="4451350"/>
          </a:xfrm>
          <a:prstGeom prst="rect">
            <a:avLst/>
          </a:prstGeom>
        </p:spPr>
      </p:pic>
      <p:sp>
        <p:nvSpPr>
          <p:cNvPr id="7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38044383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3204"/>
            <a:ext cx="8382000" cy="5137150"/>
          </a:xfrm>
        </p:spPr>
        <p:txBody>
          <a:bodyPr>
            <a:noAutofit/>
          </a:bodyPr>
          <a:lstStyle/>
          <a:p>
            <a:r>
              <a:rPr lang="en-IN" sz="2400" b="1" dirty="0" smtClean="0">
                <a:solidFill>
                  <a:srgbClr val="2B0AB6"/>
                </a:solidFill>
              </a:rPr>
              <a:t>Virtual Machines (VM)</a:t>
            </a:r>
          </a:p>
          <a:p>
            <a:pPr lvl="1"/>
            <a:r>
              <a:rPr lang="en-IN" sz="2400" i="1" dirty="0"/>
              <a:t>Virtual machine = Opaque layer </a:t>
            </a:r>
          </a:p>
          <a:p>
            <a:r>
              <a:rPr lang="en-IN" sz="2400" dirty="0"/>
              <a:t>Hides a specific OS implementation </a:t>
            </a:r>
          </a:p>
          <a:p>
            <a:r>
              <a:rPr lang="en-US" sz="2400" dirty="0"/>
              <a:t>One can only get Access through the public API </a:t>
            </a:r>
            <a:endParaRPr lang="en-US" sz="2400" dirty="0" smtClean="0"/>
          </a:p>
          <a:p>
            <a:r>
              <a:rPr lang="en-IN" sz="2400" dirty="0"/>
              <a:t>Advantages</a:t>
            </a:r>
          </a:p>
          <a:p>
            <a:pPr lvl="1"/>
            <a:r>
              <a:rPr lang="en-IN" sz="2400" dirty="0"/>
              <a:t>Portability</a:t>
            </a:r>
          </a:p>
          <a:p>
            <a:pPr lvl="1"/>
            <a:r>
              <a:rPr lang="en-IN" sz="2400" dirty="0"/>
              <a:t>Simplifies software development</a:t>
            </a:r>
          </a:p>
          <a:p>
            <a:pPr lvl="1"/>
            <a:r>
              <a:rPr lang="en-IN" sz="2400" dirty="0"/>
              <a:t>Higher-level programming</a:t>
            </a:r>
          </a:p>
          <a:p>
            <a:pPr lvl="1"/>
            <a:r>
              <a:rPr lang="en-IN" sz="2400" dirty="0"/>
              <a:t>Facilitates emulation</a:t>
            </a:r>
          </a:p>
          <a:p>
            <a:pPr marL="0" indent="0">
              <a:buNone/>
            </a:pPr>
            <a:endParaRPr lang="en-IN" sz="28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289750"/>
            <a:ext cx="2895601" cy="314280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3711193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133" y="100543"/>
            <a:ext cx="8229600" cy="6397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333" y="888472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 smtClean="0">
                <a:solidFill>
                  <a:srgbClr val="2B0AB6"/>
                </a:solidFill>
              </a:rPr>
              <a:t>Aspect-Oriented</a:t>
            </a:r>
          </a:p>
          <a:p>
            <a:r>
              <a:rPr lang="en-IN" sz="2400" dirty="0"/>
              <a:t>Aspects: </a:t>
            </a:r>
            <a:r>
              <a:rPr lang="en-US" sz="2400" dirty="0" smtClean="0"/>
              <a:t>Modules </a:t>
            </a:r>
            <a:r>
              <a:rPr lang="en-US" sz="2400" dirty="0"/>
              <a:t>that implement crosscutting features </a:t>
            </a:r>
            <a:endParaRPr lang="en-US" sz="2400" dirty="0" smtClean="0"/>
          </a:p>
          <a:p>
            <a:r>
              <a:rPr lang="en-IN" sz="2400" i="1" dirty="0"/>
              <a:t>Crosscutting </a:t>
            </a:r>
            <a:r>
              <a:rPr lang="en-IN" sz="2400" i="1" dirty="0" smtClean="0"/>
              <a:t>concern: </a:t>
            </a:r>
            <a:r>
              <a:rPr lang="en-US" sz="2400" dirty="0" smtClean="0"/>
              <a:t>Functionality </a:t>
            </a:r>
            <a:r>
              <a:rPr lang="en-US" sz="2400" dirty="0"/>
              <a:t>that is required in several places of an application</a:t>
            </a:r>
          </a:p>
          <a:p>
            <a:r>
              <a:rPr lang="en-US" sz="2400" dirty="0"/>
              <a:t>Examples: logging, monitoring, i18n, security</a:t>
            </a:r>
            <a:r>
              <a:rPr lang="en-US" sz="2400" dirty="0" smtClean="0"/>
              <a:t>,...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333" y="3030273"/>
            <a:ext cx="6629400" cy="334327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23294728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066800"/>
            <a:ext cx="49022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 smtClean="0">
                <a:solidFill>
                  <a:srgbClr val="2B0AB6"/>
                </a:solidFill>
              </a:rPr>
              <a:t>Aspect-Oriented</a:t>
            </a:r>
          </a:p>
          <a:p>
            <a:r>
              <a:rPr lang="en-US" sz="2400" i="1" dirty="0">
                <a:solidFill>
                  <a:srgbClr val="2B0AB6"/>
                </a:solidFill>
              </a:rPr>
              <a:t>Join point: </a:t>
            </a:r>
            <a:r>
              <a:rPr lang="en-US" sz="2400" dirty="0"/>
              <a:t>Point where an aspect can be inserted </a:t>
            </a:r>
          </a:p>
          <a:p>
            <a:r>
              <a:rPr lang="en-IN" sz="2400" dirty="0" smtClean="0"/>
              <a:t>Aspect contains</a:t>
            </a:r>
            <a:r>
              <a:rPr lang="en-IN" sz="2400" dirty="0"/>
              <a:t>: </a:t>
            </a:r>
          </a:p>
          <a:p>
            <a:r>
              <a:rPr lang="en-US" sz="2400" i="1" dirty="0">
                <a:solidFill>
                  <a:srgbClr val="2B0AB6"/>
                </a:solidFill>
              </a:rPr>
              <a:t>Advice</a:t>
            </a:r>
            <a:r>
              <a:rPr lang="en-US" sz="2400" dirty="0">
                <a:solidFill>
                  <a:srgbClr val="2B0AB6"/>
                </a:solidFill>
              </a:rPr>
              <a:t>: </a:t>
            </a:r>
            <a:r>
              <a:rPr lang="en-US" sz="2400" dirty="0"/>
              <a:t>defines the job of the aspect </a:t>
            </a:r>
          </a:p>
          <a:p>
            <a:r>
              <a:rPr lang="en-US" sz="2400" i="1" dirty="0" err="1">
                <a:solidFill>
                  <a:srgbClr val="2B0AB6"/>
                </a:solidFill>
              </a:rPr>
              <a:t>Pointcut</a:t>
            </a:r>
            <a:r>
              <a:rPr lang="en-US" sz="2400" dirty="0">
                <a:solidFill>
                  <a:srgbClr val="2B0AB6"/>
                </a:solidFill>
              </a:rPr>
              <a:t>:</a:t>
            </a:r>
            <a:r>
              <a:rPr lang="en-US" sz="2400" dirty="0"/>
              <a:t> where the aspect will be introduced </a:t>
            </a:r>
          </a:p>
          <a:p>
            <a:r>
              <a:rPr lang="en-US" sz="2400" dirty="0"/>
              <a:t>It can match one or more </a:t>
            </a:r>
            <a:r>
              <a:rPr lang="en-US" sz="2400" i="1" dirty="0"/>
              <a:t>join points 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600200"/>
            <a:ext cx="3505200" cy="4603750"/>
          </a:xfrm>
          <a:prstGeom prst="rect">
            <a:avLst/>
          </a:prstGeom>
        </p:spPr>
      </p:pic>
      <p:sp>
        <p:nvSpPr>
          <p:cNvPr id="7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5380748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0668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 smtClean="0">
                <a:solidFill>
                  <a:srgbClr val="2B0AB6"/>
                </a:solidFill>
              </a:rPr>
              <a:t>Aspect-Oriented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67" y="1751574"/>
            <a:ext cx="8153400" cy="4604775"/>
          </a:xfrm>
          <a:prstGeom prst="rect">
            <a:avLst/>
          </a:prstGeom>
        </p:spPr>
      </p:pic>
      <p:sp>
        <p:nvSpPr>
          <p:cNvPr id="7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15498583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066800"/>
            <a:ext cx="8382000" cy="5156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Aspect-Oriented </a:t>
            </a:r>
            <a:r>
              <a:rPr lang="en-US" sz="2400" b="1" dirty="0">
                <a:solidFill>
                  <a:srgbClr val="2B0AB6"/>
                </a:solidFill>
              </a:rPr>
              <a:t>Structure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9" y="1752600"/>
            <a:ext cx="8001001" cy="4114800"/>
          </a:xfrm>
          <a:prstGeom prst="rect">
            <a:avLst/>
          </a:prstGeom>
        </p:spPr>
      </p:pic>
      <p:sp>
        <p:nvSpPr>
          <p:cNvPr id="7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19774533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76400"/>
            <a:ext cx="7848600" cy="4572000"/>
          </a:xfrm>
          <a:prstGeom prst="rect">
            <a:avLst/>
          </a:prstGeom>
        </p:spPr>
      </p:pic>
      <p:sp>
        <p:nvSpPr>
          <p:cNvPr id="7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38719407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 smtClean="0">
                <a:solidFill>
                  <a:srgbClr val="2B0AB6"/>
                </a:solidFill>
              </a:rPr>
              <a:t>Domain based</a:t>
            </a:r>
          </a:p>
          <a:p>
            <a:r>
              <a:rPr lang="en-IN" sz="2800" dirty="0"/>
              <a:t>Domain driven design</a:t>
            </a:r>
          </a:p>
          <a:p>
            <a:r>
              <a:rPr lang="en-IN" sz="2800" dirty="0"/>
              <a:t>Hexagonal architecture</a:t>
            </a:r>
          </a:p>
          <a:p>
            <a:r>
              <a:rPr lang="en-IN" sz="2800" dirty="0"/>
              <a:t>Data </a:t>
            </a:r>
            <a:r>
              <a:rPr lang="en-IN" sz="2800" dirty="0" err="1"/>
              <a:t>centered</a:t>
            </a:r>
            <a:endParaRPr lang="en-IN" sz="2800" dirty="0"/>
          </a:p>
          <a:p>
            <a:r>
              <a:rPr lang="en-IN" sz="2800" dirty="0"/>
              <a:t>Naked Objects</a:t>
            </a:r>
            <a:endParaRPr lang="en-IN" sz="2800" b="1" dirty="0">
              <a:solidFill>
                <a:srgbClr val="2B0AB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19179881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Domain based</a:t>
            </a:r>
          </a:p>
          <a:p>
            <a:r>
              <a:rPr lang="en-US" sz="2400" dirty="0"/>
              <a:t>Domain model is a clearly identified module separated from other modules</a:t>
            </a:r>
          </a:p>
          <a:p>
            <a:r>
              <a:rPr lang="en-IN" sz="2400" dirty="0"/>
              <a:t>Domain </a:t>
            </a:r>
            <a:r>
              <a:rPr lang="en-IN" sz="2400" dirty="0" err="1" smtClean="0"/>
              <a:t>centered</a:t>
            </a:r>
            <a:r>
              <a:rPr lang="en-IN" sz="2400" dirty="0" smtClean="0"/>
              <a:t> application</a:t>
            </a:r>
            <a:endParaRPr lang="en-IN" sz="2400" dirty="0"/>
          </a:p>
          <a:p>
            <a:pPr lvl="1"/>
            <a:r>
              <a:rPr lang="en-US" sz="2400" dirty="0"/>
              <a:t>Application must adapt to domain model changes</a:t>
            </a:r>
          </a:p>
          <a:p>
            <a:r>
              <a:rPr lang="en-IN" sz="2400" dirty="0"/>
              <a:t>No topological </a:t>
            </a:r>
            <a:r>
              <a:rPr lang="en-IN" sz="2400" dirty="0" smtClean="0"/>
              <a:t>constraints</a:t>
            </a:r>
          </a:p>
          <a:p>
            <a:r>
              <a:rPr lang="en-IN" sz="2400" dirty="0"/>
              <a:t>Domain </a:t>
            </a:r>
            <a:r>
              <a:rPr lang="en-IN" sz="2400" dirty="0" smtClean="0"/>
              <a:t>model is formed by </a:t>
            </a:r>
            <a:r>
              <a:rPr lang="en-IN" sz="2400" dirty="0" smtClean="0">
                <a:solidFill>
                  <a:srgbClr val="2B0AB6"/>
                </a:solidFill>
              </a:rPr>
              <a:t>Context, Entities </a:t>
            </a:r>
            <a:r>
              <a:rPr lang="en-IN" sz="2400" dirty="0" smtClean="0"/>
              <a:t>and </a:t>
            </a:r>
            <a:r>
              <a:rPr lang="en-IN" sz="2400" dirty="0" smtClean="0">
                <a:solidFill>
                  <a:srgbClr val="2B0AB6"/>
                </a:solidFill>
              </a:rPr>
              <a:t>Relationships</a:t>
            </a:r>
          </a:p>
          <a:p>
            <a:r>
              <a:rPr lang="en-IN" sz="2400" dirty="0">
                <a:solidFill>
                  <a:srgbClr val="2B0AB6"/>
                </a:solidFill>
              </a:rPr>
              <a:t>Advantages</a:t>
            </a:r>
            <a:r>
              <a:rPr lang="en-IN" sz="2400" dirty="0" smtClean="0">
                <a:solidFill>
                  <a:srgbClr val="2B0AB6"/>
                </a:solidFill>
              </a:rPr>
              <a:t>:</a:t>
            </a:r>
            <a:r>
              <a:rPr lang="en-IN" sz="2400" dirty="0" smtClean="0"/>
              <a:t> </a:t>
            </a:r>
          </a:p>
          <a:p>
            <a:pPr lvl="1"/>
            <a:r>
              <a:rPr lang="en-IN" sz="2000" dirty="0" smtClean="0"/>
              <a:t>Facilitates </a:t>
            </a:r>
            <a:r>
              <a:rPr lang="en-IN" sz="2000" dirty="0"/>
              <a:t>team </a:t>
            </a:r>
            <a:r>
              <a:rPr lang="en-IN" sz="2000" dirty="0" smtClean="0"/>
              <a:t>communication, </a:t>
            </a:r>
          </a:p>
          <a:p>
            <a:pPr lvl="1"/>
            <a:r>
              <a:rPr lang="en-IN" sz="2000" dirty="0" smtClean="0"/>
              <a:t>Reflects </a:t>
            </a:r>
            <a:r>
              <a:rPr lang="en-IN" sz="2000" dirty="0"/>
              <a:t>domain </a:t>
            </a:r>
            <a:r>
              <a:rPr lang="en-IN" sz="2000" dirty="0" smtClean="0"/>
              <a:t>structure, </a:t>
            </a:r>
          </a:p>
          <a:p>
            <a:pPr lvl="1"/>
            <a:r>
              <a:rPr lang="en-US" sz="2000" dirty="0" smtClean="0"/>
              <a:t>Reinforce </a:t>
            </a:r>
            <a:r>
              <a:rPr lang="en-US" sz="2000" dirty="0"/>
              <a:t>data quality </a:t>
            </a:r>
            <a:r>
              <a:rPr lang="en-US" sz="2000" dirty="0" smtClean="0"/>
              <a:t>&amp; consistency </a:t>
            </a:r>
          </a:p>
          <a:p>
            <a:pPr lvl="1"/>
            <a:r>
              <a:rPr lang="en-US" sz="2000" dirty="0" smtClean="0"/>
              <a:t>and </a:t>
            </a:r>
            <a:r>
              <a:rPr lang="en-IN" sz="2000" dirty="0" smtClean="0"/>
              <a:t>Facilitates </a:t>
            </a:r>
            <a:r>
              <a:rPr lang="en-IN" sz="2000" dirty="0"/>
              <a:t>system </a:t>
            </a:r>
            <a:r>
              <a:rPr lang="en-IN" sz="2000" dirty="0" smtClean="0"/>
              <a:t>testing.</a:t>
            </a:r>
            <a:endParaRPr lang="en-IN" sz="2000" b="1" dirty="0">
              <a:solidFill>
                <a:srgbClr val="2B0AB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10031584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3663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9079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Domain based</a:t>
            </a:r>
          </a:p>
          <a:p>
            <a:r>
              <a:rPr lang="en-US" sz="2400" dirty="0" smtClean="0"/>
              <a:t>Centered on </a:t>
            </a:r>
            <a:r>
              <a:rPr lang="en-US" sz="2400" dirty="0"/>
              <a:t>the domain and the business logic</a:t>
            </a:r>
          </a:p>
          <a:p>
            <a:pPr lvl="1"/>
            <a:r>
              <a:rPr lang="en-US" sz="2000" dirty="0"/>
              <a:t>Goal: Anticipate and handle changes in domain</a:t>
            </a:r>
          </a:p>
          <a:p>
            <a:pPr lvl="1"/>
            <a:r>
              <a:rPr lang="en-US" sz="2000" dirty="0"/>
              <a:t>Collaboration between developers and domain experts</a:t>
            </a:r>
            <a:endParaRPr lang="en-IN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76600"/>
            <a:ext cx="8001000" cy="2839508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38505087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B0AB6"/>
                </a:solidFill>
                <a:cs typeface="Times New Roman" pitchFamily="18" charset="0"/>
              </a:rPr>
              <a:t>Modularity </a:t>
            </a:r>
            <a:r>
              <a:rPr lang="en-US" sz="3200" b="1" dirty="0" smtClean="0">
                <a:solidFill>
                  <a:srgbClr val="2B0AB6"/>
                </a:solidFill>
                <a:cs typeface="Times New Roman" pitchFamily="18" charset="0"/>
              </a:rPr>
              <a:t>Styles</a:t>
            </a:r>
            <a:endParaRPr lang="en-US" sz="3200" b="1" dirty="0">
              <a:solidFill>
                <a:srgbClr val="2B0AB6"/>
              </a:solidFill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37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>
                <a:solidFill>
                  <a:srgbClr val="2B0AB6"/>
                </a:solidFill>
              </a:rPr>
              <a:t>Domain based</a:t>
            </a:r>
          </a:p>
          <a:p>
            <a:pPr marL="0" indent="0">
              <a:buNone/>
            </a:pPr>
            <a:endParaRPr lang="en-IN" sz="2400" b="1" dirty="0" smtClean="0">
              <a:solidFill>
                <a:srgbClr val="2B0AB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52600"/>
            <a:ext cx="8077200" cy="460375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/>
        </p:nvSpPr>
        <p:spPr>
          <a:xfrm>
            <a:off x="457200" y="6538912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1294228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4021</TotalTime>
  <Words>1311</Words>
  <Application>Microsoft Office PowerPoint</Application>
  <PresentationFormat>On-screen Show (4:3)</PresentationFormat>
  <Paragraphs>239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 New Roman</vt:lpstr>
      <vt:lpstr>Wingdings</vt:lpstr>
      <vt:lpstr>Office Theme</vt:lpstr>
      <vt:lpstr>PowerPoint Presentation</vt:lpstr>
      <vt:lpstr>Modularity</vt:lpstr>
      <vt:lpstr>Modularity</vt:lpstr>
      <vt:lpstr>Modularity</vt:lpstr>
      <vt:lpstr>Modularity</vt:lpstr>
      <vt:lpstr>Modularity</vt:lpstr>
      <vt:lpstr>Modularity</vt:lpstr>
      <vt:lpstr>Modularity</vt:lpstr>
      <vt:lpstr>Modularity</vt:lpstr>
      <vt:lpstr>Modularity</vt:lpstr>
      <vt:lpstr>Modularity</vt:lpstr>
      <vt:lpstr>Modularity</vt:lpstr>
      <vt:lpstr>Modularity</vt:lpstr>
      <vt:lpstr>Modularity Styles</vt:lpstr>
      <vt:lpstr>Modularity Styles</vt:lpstr>
      <vt:lpstr>Modularity Styles</vt:lpstr>
      <vt:lpstr>Modularity Styles</vt:lpstr>
      <vt:lpstr>Modularity Styles</vt:lpstr>
      <vt:lpstr>Modularity Styles</vt:lpstr>
      <vt:lpstr>Modularity Styles</vt:lpstr>
      <vt:lpstr>Modularity Styles</vt:lpstr>
      <vt:lpstr>Modularity Styles</vt:lpstr>
      <vt:lpstr>Modularity Styles</vt:lpstr>
      <vt:lpstr>Modularity Styles</vt:lpstr>
      <vt:lpstr>Modularity Styles</vt:lpstr>
      <vt:lpstr>Modularity Styles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MITM</dc:creator>
  <cp:lastModifiedBy>Suman</cp:lastModifiedBy>
  <cp:revision>346</cp:revision>
  <dcterms:created xsi:type="dcterms:W3CDTF">2013-08-03T07:26:24Z</dcterms:created>
  <dcterms:modified xsi:type="dcterms:W3CDTF">2026-01-14T09:52:43Z</dcterms:modified>
</cp:coreProperties>
</file>