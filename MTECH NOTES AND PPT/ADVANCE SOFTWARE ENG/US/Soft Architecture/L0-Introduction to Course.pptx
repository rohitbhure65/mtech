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781" r:id="rId2"/>
  </p:sldMasterIdLst>
  <p:notesMasterIdLst>
    <p:notesMasterId r:id="rId12"/>
  </p:notesMasterIdLst>
  <p:handoutMasterIdLst>
    <p:handoutMasterId r:id="rId13"/>
  </p:handoutMasterIdLst>
  <p:sldIdLst>
    <p:sldId id="256" r:id="rId3"/>
    <p:sldId id="260" r:id="rId4"/>
    <p:sldId id="258" r:id="rId5"/>
    <p:sldId id="261" r:id="rId6"/>
    <p:sldId id="262" r:id="rId7"/>
    <p:sldId id="263" r:id="rId8"/>
    <p:sldId id="264" r:id="rId9"/>
    <p:sldId id="257" r:id="rId10"/>
    <p:sldId id="259" r:id="rId1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5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DDA1B3D-22C2-4C9A-BA5A-2A80EBE58192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0F2B8E6-380B-484F-837F-DDF24A3971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99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E437BB9-8ED1-44ED-90EB-FAF5790DA148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5CE46A3-FEAB-4758-BE24-1E5F69DAA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94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E46A3-FEAB-4758-BE24-1E5F69DAA72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5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2968-0AE3-4881-88B4-E210829544A4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D5E6A-9796-42C8-BC6C-DE717FD5BAA6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DCE95-A771-477D-BA9E-58309BDE6BD6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4AAE-A5B7-4D30-BC1E-6A4553C3FAD0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D084F-B8C1-43A5-8C01-20F3CEDECF7A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4FF1-CB28-4BA8-8A5F-0E778B0EC747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BA9-301B-44B7-A139-B2F11D6D2324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C16B-44E6-422B-BF2A-8AE7FCA219C6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8DE31-14AC-492D-85C2-36528BE645A7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653B1-934C-4B74-9A9C-397CAD228A0C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8618-B08F-4297-BDEE-2DA8CB0F87B0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315D677-BA79-47C6-B165-E3B0515D5CC8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pic>
        <p:nvPicPr>
          <p:cNvPr id="11" name="Picture 10" descr="CoverOverlay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latin typeface="Times New Roman" pitchFamily="18" charset="0"/>
                <a:cs typeface="Times New Roman" pitchFamily="18" charset="0"/>
              </a:defRPr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defRPr sz="2400" b="1">
                <a:latin typeface="Times New Roman" pitchFamily="18" charset="0"/>
                <a:cs typeface="Times New Roman" pitchFamily="18" charset="0"/>
              </a:defRPr>
            </a:lvl1pPr>
            <a:lvl2pPr>
              <a:defRPr sz="2000">
                <a:latin typeface="Times New Roman" pitchFamily="18" charset="0"/>
                <a:cs typeface="Times New Roman" pitchFamily="18" charset="0"/>
              </a:defRPr>
            </a:lvl2pPr>
            <a:lvl3pPr>
              <a:defRPr sz="2000">
                <a:latin typeface="Times New Roman" pitchFamily="18" charset="0"/>
                <a:cs typeface="Times New Roman" pitchFamily="18" charset="0"/>
              </a:defRPr>
            </a:lvl3pPr>
            <a:lvl4pPr>
              <a:defRPr sz="2000">
                <a:latin typeface="Times New Roman" pitchFamily="18" charset="0"/>
                <a:cs typeface="Times New Roman" pitchFamily="18" charset="0"/>
              </a:defRPr>
            </a:lvl4pPr>
            <a:lvl5pPr>
              <a:defRPr sz="2000">
                <a:latin typeface="Times New Roman" pitchFamily="18" charset="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9ABE3F-CAD5-401C-966C-39A2BC4BB542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B5D18E-E5AB-4101-8F9F-182D00C3CB42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6F3FE9-6055-4E66-91B4-53288AB1A637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5454428-C3E7-43AF-AE5F-B6A6F6CE8B0F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B3D692-C883-459F-A880-567F220D0B27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A2656E2-3037-4B1C-85DB-3A6E339CA7DC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CE12D8-C8BD-432E-9CC6-AAF58EF92F97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63402B-A926-46AC-A430-EA249D4DFB48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804062-9A08-4F6B-8CDD-2D3DCC3C9C35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C0EA65-AA56-40AA-87F9-208021B38ABF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B77E-B29A-45D4-A962-4CF033D79991}" type="datetime1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Software Reuse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D9F1A-D692-4973-8C83-3D92032FEA17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59D9F1A-D692-4973-8C83-3D92032FEA17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684" r:id="rId1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914400"/>
            <a:ext cx="7406640" cy="18499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CS-5320</a:t>
            </a:r>
            <a:r>
              <a:rPr lang="en-US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Software </a:t>
            </a:r>
            <a: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Architecture </a:t>
            </a:r>
            <a:b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67200"/>
            <a:ext cx="7406640" cy="2188536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Ugrasen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Suman</a:t>
            </a: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000" b="1" dirty="0" smtClean="0"/>
              <a:t>Professor</a:t>
            </a:r>
          </a:p>
          <a:p>
            <a:pPr algn="ctr"/>
            <a:r>
              <a:rPr lang="en-US" sz="2000" b="1" dirty="0" smtClean="0"/>
              <a:t>School of Computer Science &amp; Information Technology,</a:t>
            </a:r>
          </a:p>
          <a:p>
            <a:pPr algn="ctr"/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Devi </a:t>
            </a:r>
            <a:r>
              <a:rPr lang="en-US" sz="2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Ahilya</a:t>
            </a: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University, Indore</a:t>
            </a:r>
          </a:p>
          <a:p>
            <a:pPr algn="ctr"/>
            <a:r>
              <a:rPr lang="en-US" sz="2000" b="1" dirty="0" smtClean="0"/>
              <a:t>E-mail</a:t>
            </a:r>
            <a:r>
              <a:rPr lang="en-US" sz="2000" b="1" dirty="0" smtClean="0">
                <a:solidFill>
                  <a:srgbClr val="000099"/>
                </a:solidFill>
              </a:rPr>
              <a:t>: ugrasen123@yahoo.com, usuman.scs@dauniv.ac.in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000099"/>
                </a:solidFill>
              </a:rPr>
              <a:t>Course Outcomes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Understand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the fundamentals of software architecture.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Study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the various architecture evaluation modelling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techniques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Explore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, design, implement and deploy architectures in different applications.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Analysis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of design patterns.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Apply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design patterns in producing quality software.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1066800" y="6521263"/>
            <a:ext cx="419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76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Contents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UNIT I: </a:t>
            </a:r>
            <a:r>
              <a:rPr lang="en-US" dirty="0"/>
              <a:t>Basic Concepts, Designing Architectures </a:t>
            </a:r>
            <a:endParaRPr lang="en-US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Understanding Software Architecture- Concepts, Models, Processes, Stakeholders. 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The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Design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Process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Architectural Conception. </a:t>
            </a: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Refined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Experience in Action: Styles and Architectural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Patterns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Architectural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Conception in Absence of Experience.</a:t>
            </a:r>
            <a:endParaRPr lang="en-IN" b="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914400" y="6543675"/>
            <a:ext cx="419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Contents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UNIT II: </a:t>
            </a:r>
            <a:r>
              <a:rPr lang="en-US" dirty="0"/>
              <a:t>Connectors, </a:t>
            </a:r>
            <a:r>
              <a:rPr lang="en-US" dirty="0" smtClean="0"/>
              <a:t>Modeling</a:t>
            </a:r>
          </a:p>
          <a:p>
            <a:r>
              <a:rPr lang="en-US" b="0" dirty="0"/>
              <a:t>Connectors in Action: A Motivating Example, </a:t>
            </a:r>
            <a:endParaRPr lang="en-US" b="0" dirty="0" smtClean="0"/>
          </a:p>
          <a:p>
            <a:r>
              <a:rPr lang="en-US" b="0" dirty="0" smtClean="0"/>
              <a:t>Connector </a:t>
            </a:r>
            <a:r>
              <a:rPr lang="en-US" b="0" dirty="0"/>
              <a:t>Foundations, Connector </a:t>
            </a:r>
            <a:r>
              <a:rPr lang="en-US" b="0" dirty="0" smtClean="0"/>
              <a:t>Roles. </a:t>
            </a:r>
          </a:p>
          <a:p>
            <a:r>
              <a:rPr lang="en-US" b="0" dirty="0" smtClean="0"/>
              <a:t>Connector </a:t>
            </a:r>
            <a:r>
              <a:rPr lang="en-US" b="0" dirty="0"/>
              <a:t>Types and Their Variation Dimensions, Example </a:t>
            </a:r>
            <a:r>
              <a:rPr lang="en-US" b="0" dirty="0" smtClean="0"/>
              <a:t>Connectors. </a:t>
            </a:r>
          </a:p>
          <a:p>
            <a:r>
              <a:rPr lang="en-US" b="0" dirty="0" smtClean="0"/>
              <a:t>Modeling </a:t>
            </a:r>
            <a:r>
              <a:rPr lang="en-US" b="0" dirty="0"/>
              <a:t>Concepts, Ambiguity, Accuracy, and </a:t>
            </a:r>
            <a:r>
              <a:rPr lang="en-US" b="0" dirty="0" smtClean="0"/>
              <a:t>Precision. </a:t>
            </a:r>
          </a:p>
          <a:p>
            <a:r>
              <a:rPr lang="en-US" b="0" dirty="0" smtClean="0"/>
              <a:t>Complex </a:t>
            </a:r>
            <a:r>
              <a:rPr lang="en-US" b="0" dirty="0"/>
              <a:t>Modeling: Mixed Content and Multiple Views, </a:t>
            </a:r>
            <a:endParaRPr lang="en-US" b="0" dirty="0" smtClean="0"/>
          </a:p>
          <a:p>
            <a:r>
              <a:rPr lang="en-US" b="0" dirty="0" smtClean="0"/>
              <a:t>Evaluating </a:t>
            </a:r>
            <a:r>
              <a:rPr lang="en-US" b="0" dirty="0"/>
              <a:t>Modeling Techniques (ATAM, SAAM, CBAM etc</a:t>
            </a:r>
            <a:r>
              <a:rPr lang="en-US" b="0" dirty="0" smtClean="0"/>
              <a:t>.). </a:t>
            </a:r>
          </a:p>
          <a:p>
            <a:r>
              <a:rPr lang="en-US" b="0" dirty="0" smtClean="0"/>
              <a:t>Specific </a:t>
            </a:r>
            <a:r>
              <a:rPr lang="en-US" b="0" dirty="0"/>
              <a:t>Modeling Techniques.</a:t>
            </a:r>
            <a:endParaRPr lang="en-IN" b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914400" y="6543675"/>
            <a:ext cx="419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82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Contents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UNIT III: </a:t>
            </a:r>
            <a:r>
              <a:rPr lang="en-US" dirty="0"/>
              <a:t>Analysis, Implementation and </a:t>
            </a:r>
            <a:r>
              <a:rPr lang="en-US" dirty="0" smtClean="0"/>
              <a:t>Deployment</a:t>
            </a:r>
          </a:p>
          <a:p>
            <a:r>
              <a:rPr lang="en-US" b="0" dirty="0" smtClean="0"/>
              <a:t>Existing Frameworks. </a:t>
            </a:r>
            <a:endParaRPr lang="en-US" b="0" dirty="0"/>
          </a:p>
          <a:p>
            <a:r>
              <a:rPr lang="en-US" b="0" dirty="0" smtClean="0"/>
              <a:t>Software </a:t>
            </a:r>
            <a:r>
              <a:rPr lang="en-US" b="0" dirty="0"/>
              <a:t>Architecture and </a:t>
            </a:r>
            <a:r>
              <a:rPr lang="en-US" b="0" dirty="0" smtClean="0"/>
              <a:t>Deployment. </a:t>
            </a:r>
          </a:p>
          <a:p>
            <a:r>
              <a:rPr lang="en-US" b="0" dirty="0" smtClean="0"/>
              <a:t>Software </a:t>
            </a:r>
            <a:r>
              <a:rPr lang="en-US" b="0" dirty="0"/>
              <a:t>Architecture and Mobility, Pipes and Filters, Event- based, Implicit Invocation, Layered systems, </a:t>
            </a:r>
            <a:r>
              <a:rPr lang="en-US" b="0" dirty="0" smtClean="0"/>
              <a:t>Repositories.</a:t>
            </a:r>
            <a:endParaRPr lang="en-IN" b="0" dirty="0"/>
          </a:p>
          <a:p>
            <a:r>
              <a:rPr lang="en-US" b="0" dirty="0"/>
              <a:t>Interpreters, Process control. Distributed and Networked Architectures, Architectures for Network-Based Applications, Decentralized Architectures. Service-Oriented Architectures and Web Services. </a:t>
            </a:r>
            <a:endParaRPr lang="en-IN" b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5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914400" y="6543675"/>
            <a:ext cx="419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42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Contents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UNIT IV: Concepts of </a:t>
            </a:r>
            <a:r>
              <a:rPr lang="en-US" dirty="0" smtClean="0"/>
              <a:t>Design </a:t>
            </a:r>
            <a:r>
              <a:rPr lang="en-US" dirty="0"/>
              <a:t>Patterns	</a:t>
            </a:r>
            <a:endParaRPr lang="en-US" dirty="0" smtClean="0"/>
          </a:p>
          <a:p>
            <a:r>
              <a:rPr lang="en-US" b="0" dirty="0"/>
              <a:t>What </a:t>
            </a:r>
            <a:r>
              <a:rPr lang="en-US" b="0" dirty="0" smtClean="0"/>
              <a:t>is </a:t>
            </a:r>
            <a:r>
              <a:rPr lang="en-US" b="0" dirty="0"/>
              <a:t>a Design Pattern? </a:t>
            </a:r>
            <a:endParaRPr lang="en-US" b="0" dirty="0" smtClean="0"/>
          </a:p>
          <a:p>
            <a:r>
              <a:rPr lang="en-US" b="0" dirty="0" smtClean="0"/>
              <a:t>Describing </a:t>
            </a:r>
            <a:r>
              <a:rPr lang="en-US" b="0" dirty="0"/>
              <a:t>Design </a:t>
            </a:r>
            <a:r>
              <a:rPr lang="en-US" b="0" dirty="0" smtClean="0"/>
              <a:t>Patterns </a:t>
            </a:r>
          </a:p>
          <a:p>
            <a:r>
              <a:rPr lang="en-US" b="0" dirty="0" smtClean="0"/>
              <a:t>The </a:t>
            </a:r>
            <a:r>
              <a:rPr lang="en-US" b="0" dirty="0"/>
              <a:t>Catalog of Design </a:t>
            </a:r>
            <a:r>
              <a:rPr lang="en-US" b="0" dirty="0" smtClean="0"/>
              <a:t>Patterns </a:t>
            </a:r>
          </a:p>
          <a:p>
            <a:r>
              <a:rPr lang="en-US" b="0" dirty="0" smtClean="0"/>
              <a:t>Organizing </a:t>
            </a:r>
            <a:r>
              <a:rPr lang="en-US" b="0" dirty="0"/>
              <a:t>the </a:t>
            </a:r>
            <a:r>
              <a:rPr lang="en-US" b="0" dirty="0" smtClean="0"/>
              <a:t>Catalog </a:t>
            </a:r>
          </a:p>
          <a:p>
            <a:r>
              <a:rPr lang="en-US" b="0" dirty="0" smtClean="0"/>
              <a:t>How </a:t>
            </a:r>
            <a:r>
              <a:rPr lang="en-US" b="0" dirty="0"/>
              <a:t>Design Patterns Solve Design </a:t>
            </a:r>
            <a:r>
              <a:rPr lang="en-US" b="0" dirty="0" smtClean="0"/>
              <a:t>Problems </a:t>
            </a:r>
          </a:p>
          <a:p>
            <a:r>
              <a:rPr lang="en-US" b="0" dirty="0" smtClean="0"/>
              <a:t>How </a:t>
            </a:r>
            <a:r>
              <a:rPr lang="en-US" b="0" dirty="0"/>
              <a:t>to Select a Design </a:t>
            </a:r>
            <a:r>
              <a:rPr lang="en-US" b="0" dirty="0" smtClean="0"/>
              <a:t>Pattern </a:t>
            </a:r>
          </a:p>
          <a:p>
            <a:r>
              <a:rPr lang="en-US" b="0" dirty="0" smtClean="0"/>
              <a:t>How </a:t>
            </a:r>
            <a:r>
              <a:rPr lang="en-US" b="0" dirty="0"/>
              <a:t>to Use a Design Pattern.</a:t>
            </a:r>
            <a:endParaRPr lang="en-IN" b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6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914400" y="6543675"/>
            <a:ext cx="419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853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Contents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48577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UNIT V: </a:t>
            </a:r>
            <a:r>
              <a:rPr lang="en-US" dirty="0"/>
              <a:t>Applications of Design </a:t>
            </a:r>
            <a:r>
              <a:rPr lang="en-US" dirty="0" smtClean="0"/>
              <a:t>Patterns</a:t>
            </a:r>
          </a:p>
          <a:p>
            <a:r>
              <a:rPr lang="en-US" b="0" dirty="0"/>
              <a:t>Categories of Design Patterns. </a:t>
            </a:r>
            <a:endParaRPr lang="en-US" b="0" dirty="0" smtClean="0"/>
          </a:p>
          <a:p>
            <a:r>
              <a:rPr lang="en-US" b="0" dirty="0" smtClean="0"/>
              <a:t>Creational </a:t>
            </a:r>
            <a:r>
              <a:rPr lang="en-US" b="0" dirty="0"/>
              <a:t>Patterns: Abstract Factory, Builder, Factory Method, Prototype, Singleton. </a:t>
            </a:r>
            <a:endParaRPr lang="en-US" b="0" dirty="0" smtClean="0"/>
          </a:p>
          <a:p>
            <a:r>
              <a:rPr lang="en-US" b="0" dirty="0" smtClean="0"/>
              <a:t>Structural </a:t>
            </a:r>
            <a:r>
              <a:rPr lang="en-US" b="0" dirty="0"/>
              <a:t>Patterns: Adapter, Bridge, Composite, Decorator, Façade, Flyweight, Proxy. </a:t>
            </a:r>
            <a:endParaRPr lang="en-US" b="0" dirty="0" smtClean="0"/>
          </a:p>
          <a:p>
            <a:r>
              <a:rPr lang="en-US" b="0" dirty="0" smtClean="0"/>
              <a:t>Behavioral </a:t>
            </a:r>
            <a:r>
              <a:rPr lang="en-US" b="0" dirty="0"/>
              <a:t>Patterns: Chain of Responsibility, Command, Interpreter, Iterator, Mediator, Memento, Observer, Strategy, Template Method, Visitor.</a:t>
            </a:r>
            <a:endParaRPr lang="en-IN" b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7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914400" y="6543675"/>
            <a:ext cx="419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20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Evaluation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143000"/>
            <a:ext cx="7714488" cy="54864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dirty="0" smtClean="0"/>
              <a:t>Internal Assessment: </a:t>
            </a:r>
            <a:r>
              <a:rPr lang="en-US" b="0" dirty="0"/>
              <a:t>3</a:t>
            </a:r>
            <a:r>
              <a:rPr lang="en-US" b="0" dirty="0" smtClean="0"/>
              <a:t>0 Marks</a:t>
            </a:r>
          </a:p>
          <a:p>
            <a:pPr marL="365760" lvl="1" indent="-283464">
              <a:spcBef>
                <a:spcPts val="600"/>
              </a:spcBef>
              <a:buClr>
                <a:schemeClr val="tx1"/>
              </a:buClr>
              <a:buSzPct val="80000"/>
              <a:buFont typeface="Wingdings 2"/>
              <a:buChar char=""/>
            </a:pPr>
            <a:r>
              <a:rPr lang="en-US" sz="2400" b="1" dirty="0" smtClean="0"/>
              <a:t>Practical Assessment</a:t>
            </a:r>
            <a:r>
              <a:rPr lang="en-US" sz="2400" b="1" dirty="0"/>
              <a:t>: </a:t>
            </a:r>
            <a:r>
              <a:rPr lang="en-US" sz="2400" dirty="0" smtClean="0"/>
              <a:t>20 </a:t>
            </a:r>
            <a:r>
              <a:rPr lang="en-US" sz="2400" dirty="0"/>
              <a:t>Marks</a:t>
            </a:r>
            <a:endParaRPr lang="en-IN" sz="2400" dirty="0"/>
          </a:p>
          <a:p>
            <a:pPr>
              <a:buClr>
                <a:schemeClr val="tx1"/>
              </a:buClr>
            </a:pPr>
            <a:r>
              <a:rPr lang="en-US" dirty="0" smtClean="0"/>
              <a:t>External </a:t>
            </a:r>
            <a:r>
              <a:rPr lang="en-US" dirty="0"/>
              <a:t>Assessment: </a:t>
            </a:r>
            <a:r>
              <a:rPr lang="en-US" b="0" dirty="0" smtClean="0"/>
              <a:t>50 </a:t>
            </a:r>
            <a:r>
              <a:rPr lang="en-US" b="0" dirty="0"/>
              <a:t>Marks</a:t>
            </a:r>
            <a:endParaRPr lang="en-IN" b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914400" y="6543675"/>
            <a:ext cx="419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References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82296" indent="0" algn="just">
              <a:spcAft>
                <a:spcPts val="0"/>
              </a:spcAft>
              <a:buNone/>
            </a:pPr>
            <a:r>
              <a:rPr lang="en-US" dirty="0">
                <a:ea typeface="Times New Roman" panose="02020603050405020304" pitchFamily="18" charset="0"/>
              </a:rPr>
              <a:t>Text </a:t>
            </a:r>
            <a:r>
              <a:rPr lang="en-US" dirty="0" smtClean="0">
                <a:ea typeface="Times New Roman" panose="02020603050405020304" pitchFamily="18" charset="0"/>
              </a:rPr>
              <a:t>&amp; Reference Books</a:t>
            </a:r>
            <a:r>
              <a:rPr lang="en-US" dirty="0">
                <a:ea typeface="Times New Roman" panose="02020603050405020304" pitchFamily="18" charset="0"/>
              </a:rPr>
              <a:t>:</a:t>
            </a:r>
            <a:endParaRPr lang="en-IN" dirty="0">
              <a:ea typeface="Times New Roman" panose="02020603050405020304" pitchFamily="18" charset="0"/>
            </a:endParaRP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dirty="0" smtClean="0">
                <a:ea typeface="Times New Roman" panose="02020603050405020304" pitchFamily="18" charset="0"/>
              </a:rPr>
              <a:t>Software </a:t>
            </a:r>
            <a:r>
              <a:rPr lang="en-US" dirty="0">
                <a:ea typeface="Times New Roman" panose="02020603050405020304" pitchFamily="18" charset="0"/>
              </a:rPr>
              <a:t>Architecture in Practice</a:t>
            </a:r>
            <a:r>
              <a:rPr lang="en-US" b="0" dirty="0">
                <a:ea typeface="Times New Roman" panose="02020603050405020304" pitchFamily="18" charset="0"/>
              </a:rPr>
              <a:t>- Len Bass, Paul Clements, Rick </a:t>
            </a:r>
            <a:r>
              <a:rPr lang="en-US" b="0" dirty="0" err="1">
                <a:ea typeface="Times New Roman" panose="02020603050405020304" pitchFamily="18" charset="0"/>
              </a:rPr>
              <a:t>Kazman</a:t>
            </a:r>
            <a:r>
              <a:rPr lang="en-US" b="0" dirty="0">
                <a:ea typeface="Times New Roman" panose="02020603050405020304" pitchFamily="18" charset="0"/>
              </a:rPr>
              <a:t>, Pearson, 4th Edition, 2021.</a:t>
            </a: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dirty="0" smtClean="0">
                <a:ea typeface="Times New Roman" panose="02020603050405020304" pitchFamily="18" charset="0"/>
              </a:rPr>
              <a:t>Software </a:t>
            </a:r>
            <a:r>
              <a:rPr lang="en-US" dirty="0">
                <a:ea typeface="Times New Roman" panose="02020603050405020304" pitchFamily="18" charset="0"/>
              </a:rPr>
              <a:t>Architecture: Foundations, Theory, and Practice- </a:t>
            </a:r>
            <a:r>
              <a:rPr lang="en-US" b="0" dirty="0">
                <a:ea typeface="Times New Roman" panose="02020603050405020304" pitchFamily="18" charset="0"/>
              </a:rPr>
              <a:t>Richard N. Taylor, </a:t>
            </a:r>
            <a:r>
              <a:rPr lang="en-US" b="0" dirty="0" err="1">
                <a:ea typeface="Times New Roman" panose="02020603050405020304" pitchFamily="18" charset="0"/>
              </a:rPr>
              <a:t>NenadMedvidovic</a:t>
            </a:r>
            <a:r>
              <a:rPr lang="en-US" b="0" dirty="0">
                <a:ea typeface="Times New Roman" panose="02020603050405020304" pitchFamily="18" charset="0"/>
              </a:rPr>
              <a:t>, Eric </a:t>
            </a:r>
            <a:r>
              <a:rPr lang="en-US" b="0" dirty="0" err="1">
                <a:ea typeface="Times New Roman" panose="02020603050405020304" pitchFamily="18" charset="0"/>
              </a:rPr>
              <a:t>Dashofy</a:t>
            </a:r>
            <a:r>
              <a:rPr lang="en-US" b="0" dirty="0">
                <a:ea typeface="Times New Roman" panose="02020603050405020304" pitchFamily="18" charset="0"/>
              </a:rPr>
              <a:t>, 2009.</a:t>
            </a: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dirty="0" smtClean="0">
                <a:ea typeface="Times New Roman" panose="02020603050405020304" pitchFamily="18" charset="0"/>
              </a:rPr>
              <a:t>Fundamentals </a:t>
            </a:r>
            <a:r>
              <a:rPr lang="en-US" dirty="0">
                <a:ea typeface="Times New Roman" panose="02020603050405020304" pitchFamily="18" charset="0"/>
              </a:rPr>
              <a:t>of Software Architecture, An Engineering Approach</a:t>
            </a:r>
            <a:r>
              <a:rPr lang="en-US" b="0" dirty="0">
                <a:ea typeface="Times New Roman" panose="02020603050405020304" pitchFamily="18" charset="0"/>
              </a:rPr>
              <a:t>- Mark Richards, Neal Ford, O'Reilly Media 2020.</a:t>
            </a: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dirty="0" smtClean="0">
                <a:ea typeface="Times New Roman" panose="02020603050405020304" pitchFamily="18" charset="0"/>
              </a:rPr>
              <a:t>Software </a:t>
            </a:r>
            <a:r>
              <a:rPr lang="en-US" dirty="0">
                <a:ea typeface="Times New Roman" panose="02020603050405020304" pitchFamily="18" charset="0"/>
              </a:rPr>
              <a:t>Engineering: Concepts &amp; Practices- </a:t>
            </a:r>
            <a:r>
              <a:rPr lang="en-US" b="0" dirty="0" err="1">
                <a:ea typeface="Times New Roman" panose="02020603050405020304" pitchFamily="18" charset="0"/>
              </a:rPr>
              <a:t>Ugrasen</a:t>
            </a:r>
            <a:r>
              <a:rPr lang="en-US" b="0" dirty="0">
                <a:ea typeface="Times New Roman" panose="02020603050405020304" pitchFamily="18" charset="0"/>
              </a:rPr>
              <a:t> Suman, </a:t>
            </a:r>
            <a:r>
              <a:rPr lang="en-US" b="0" dirty="0" err="1">
                <a:ea typeface="Times New Roman" panose="02020603050405020304" pitchFamily="18" charset="0"/>
              </a:rPr>
              <a:t>Cengage</a:t>
            </a:r>
            <a:r>
              <a:rPr lang="en-US" b="0" dirty="0">
                <a:ea typeface="Times New Roman" panose="02020603050405020304" pitchFamily="18" charset="0"/>
              </a:rPr>
              <a:t> Learning Publications, 2nd Ed., 2022.</a:t>
            </a: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dirty="0" smtClean="0">
                <a:ea typeface="Times New Roman" panose="02020603050405020304" pitchFamily="18" charset="0"/>
              </a:rPr>
              <a:t>Design </a:t>
            </a:r>
            <a:r>
              <a:rPr lang="en-US" dirty="0">
                <a:ea typeface="Times New Roman" panose="02020603050405020304" pitchFamily="18" charset="0"/>
              </a:rPr>
              <a:t>Patterns- </a:t>
            </a:r>
            <a:r>
              <a:rPr lang="en-US" b="0" dirty="0">
                <a:ea typeface="Times New Roman" panose="02020603050405020304" pitchFamily="18" charset="0"/>
              </a:rPr>
              <a:t>Erich Gamma, Pearson Education</a:t>
            </a: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dirty="0" smtClean="0">
                <a:ea typeface="Times New Roman" panose="02020603050405020304" pitchFamily="18" charset="0"/>
              </a:rPr>
              <a:t>Design </a:t>
            </a:r>
            <a:r>
              <a:rPr lang="en-US" dirty="0">
                <a:ea typeface="Times New Roman" panose="02020603050405020304" pitchFamily="18" charset="0"/>
              </a:rPr>
              <a:t>Patterns Explained </a:t>
            </a:r>
            <a:r>
              <a:rPr lang="en-US" b="0" dirty="0">
                <a:ea typeface="Times New Roman" panose="02020603050405020304" pitchFamily="18" charset="0"/>
              </a:rPr>
              <a:t>-Alan </a:t>
            </a:r>
            <a:r>
              <a:rPr lang="en-US" b="0" dirty="0" err="1">
                <a:ea typeface="Times New Roman" panose="02020603050405020304" pitchFamily="18" charset="0"/>
              </a:rPr>
              <a:t>Shalloway</a:t>
            </a:r>
            <a:r>
              <a:rPr lang="en-US" b="0" dirty="0">
                <a:ea typeface="Times New Roman" panose="02020603050405020304" pitchFamily="18" charset="0"/>
              </a:rPr>
              <a:t>, Pearson Education.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914400" y="6543675"/>
            <a:ext cx="419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Software Ontology</Template>
  <TotalTime>998</TotalTime>
  <Words>573</Words>
  <Application>Microsoft Office PowerPoint</Application>
  <PresentationFormat>On-screen Show (4:3)</PresentationFormat>
  <Paragraphs>78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Gill Sans MT</vt:lpstr>
      <vt:lpstr>Symbol</vt:lpstr>
      <vt:lpstr>Times New Roman</vt:lpstr>
      <vt:lpstr>Verdana</vt:lpstr>
      <vt:lpstr>Wingdings 2</vt:lpstr>
      <vt:lpstr>Custom Design</vt:lpstr>
      <vt:lpstr>Solstice</vt:lpstr>
      <vt:lpstr>    CS-5320 Software Architecture  </vt:lpstr>
      <vt:lpstr>Course Outcomes</vt:lpstr>
      <vt:lpstr>Course Contents</vt:lpstr>
      <vt:lpstr>Course Contents</vt:lpstr>
      <vt:lpstr>Course Contents</vt:lpstr>
      <vt:lpstr>Course Contents</vt:lpstr>
      <vt:lpstr>Course Contents</vt:lpstr>
      <vt:lpstr>Course Evaluation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Suman</cp:lastModifiedBy>
  <cp:revision>299</cp:revision>
  <dcterms:created xsi:type="dcterms:W3CDTF">2006-08-16T00:00:00Z</dcterms:created>
  <dcterms:modified xsi:type="dcterms:W3CDTF">2026-01-14T09:48:17Z</dcterms:modified>
</cp:coreProperties>
</file>