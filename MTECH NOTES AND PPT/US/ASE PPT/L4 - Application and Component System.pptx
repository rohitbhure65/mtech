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93" r:id="rId8"/>
    <p:sldId id="264" r:id="rId9"/>
    <p:sldId id="294" r:id="rId10"/>
    <p:sldId id="266" r:id="rId11"/>
    <p:sldId id="295" r:id="rId12"/>
    <p:sldId id="267" r:id="rId13"/>
    <p:sldId id="297" r:id="rId14"/>
    <p:sldId id="268" r:id="rId15"/>
    <p:sldId id="279" r:id="rId16"/>
    <p:sldId id="280" r:id="rId17"/>
    <p:sldId id="270" r:id="rId18"/>
    <p:sldId id="281" r:id="rId19"/>
    <p:sldId id="282" r:id="rId20"/>
    <p:sldId id="299" r:id="rId21"/>
    <p:sldId id="283" r:id="rId22"/>
    <p:sldId id="271" r:id="rId23"/>
    <p:sldId id="272" r:id="rId24"/>
    <p:sldId id="284" r:id="rId25"/>
    <p:sldId id="273" r:id="rId26"/>
    <p:sldId id="274" r:id="rId27"/>
    <p:sldId id="275" r:id="rId28"/>
    <p:sldId id="285" r:id="rId29"/>
    <p:sldId id="276" r:id="rId30"/>
    <p:sldId id="286" r:id="rId31"/>
    <p:sldId id="277" r:id="rId32"/>
    <p:sldId id="287" r:id="rId33"/>
    <p:sldId id="288" r:id="rId34"/>
    <p:sldId id="289" r:id="rId35"/>
    <p:sldId id="290" r:id="rId36"/>
    <p:sldId id="278" r:id="rId37"/>
    <p:sldId id="291" r:id="rId38"/>
    <p:sldId id="292" r:id="rId39"/>
    <p:sldId id="298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4660"/>
  </p:normalViewPr>
  <p:slideViewPr>
    <p:cSldViewPr>
      <p:cViewPr varScale="1">
        <p:scale>
          <a:sx n="64" d="100"/>
          <a:sy n="64" d="100"/>
        </p:scale>
        <p:origin x="-14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31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FB0FC237-8BA9-4C9A-B2F9-00816D42CC00}" type="datetimeFigureOut">
              <a:rPr lang="en-US" smtClean="0"/>
              <a:pPr/>
              <a:t>3/7/2018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0446D2-7B09-4D31-A909-B7FB429007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C237-8BA9-4C9A-B2F9-00816D42CC00}" type="datetimeFigureOut">
              <a:rPr lang="en-US" smtClean="0"/>
              <a:pPr/>
              <a:t>3/7/2018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0446D2-7B09-4D31-A909-B7FB429007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C237-8BA9-4C9A-B2F9-00816D42CC00}" type="datetimeFigureOut">
              <a:rPr lang="en-US" smtClean="0"/>
              <a:pPr/>
              <a:t>3/7/2018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E0446D2-7B09-4D31-A909-B7FB429007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B0FC237-8BA9-4C9A-B2F9-00816D42CC00}" type="datetimeFigureOut">
              <a:rPr lang="en-US" smtClean="0"/>
              <a:pPr/>
              <a:t>3/7/2018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E0446D2-7B09-4D31-A909-B7FB429007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B0FC237-8BA9-4C9A-B2F9-00816D42CC00}" type="datetimeFigureOut">
              <a:rPr lang="en-US" smtClean="0"/>
              <a:pPr/>
              <a:t>3/7/2018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E0446D2-7B09-4D31-A909-B7FB429007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C237-8BA9-4C9A-B2F9-00816D42CC00}" type="datetimeFigureOut">
              <a:rPr lang="en-US" smtClean="0"/>
              <a:pPr/>
              <a:t>3/7/2018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0446D2-7B09-4D31-A909-B7FB429007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C237-8BA9-4C9A-B2F9-00816D42CC00}" type="datetimeFigureOut">
              <a:rPr lang="en-US" smtClean="0"/>
              <a:pPr/>
              <a:t>3/7/2018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0446D2-7B09-4D31-A909-B7FB429007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C237-8BA9-4C9A-B2F9-00816D42CC00}" type="datetimeFigureOut">
              <a:rPr lang="en-US" smtClean="0"/>
              <a:pPr/>
              <a:t>3/7/2018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0446D2-7B09-4D31-A909-B7FB429007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FB0FC237-8BA9-4C9A-B2F9-00816D42CC00}" type="datetimeFigureOut">
              <a:rPr lang="en-US" smtClean="0"/>
              <a:pPr/>
              <a:t>3/7/2018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E0446D2-7B09-4D31-A909-B7FB429007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C237-8BA9-4C9A-B2F9-00816D42CC00}" type="datetimeFigureOut">
              <a:rPr lang="en-US" smtClean="0"/>
              <a:pPr/>
              <a:t>3/7/2018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446D2-7B09-4D31-A909-B7FB429007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FB0FC237-8BA9-4C9A-B2F9-00816D42CC00}" type="datetimeFigureOut">
              <a:rPr lang="en-US" smtClean="0"/>
              <a:pPr/>
              <a:t>3/7/2018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E0446D2-7B09-4D31-A909-B7FB429007B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B0FC237-8BA9-4C9A-B2F9-00816D42CC00}" type="datetimeFigureOut">
              <a:rPr lang="en-US" smtClean="0"/>
              <a:pPr/>
              <a:t>3/7/2018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E0446D2-7B09-4D31-A909-B7FB429007B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09800"/>
            <a:ext cx="9144000" cy="1470025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Application and Component System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Application developers can reuse OOSE model components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828800"/>
            <a:ext cx="7924800" cy="39624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839200" cy="1143000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Application developers can reuse OOSE model components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676400"/>
            <a:ext cx="8458200" cy="44196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sz="2400" dirty="0" smtClean="0"/>
              <a:t>A system is a well-documented </a:t>
            </a:r>
            <a:r>
              <a:rPr lang="en-US" sz="2400" dirty="0" err="1" smtClean="0"/>
              <a:t>workproduct</a:t>
            </a:r>
            <a:r>
              <a:rPr lang="en-US" sz="2400" dirty="0" smtClean="0"/>
              <a:t> owned by an organization unit, such as a group.</a:t>
            </a:r>
          </a:p>
          <a:p>
            <a:pPr algn="just">
              <a:spcBef>
                <a:spcPts val="0"/>
              </a:spcBef>
            </a:pPr>
            <a:r>
              <a:rPr lang="en-US" sz="2400" dirty="0" smtClean="0"/>
              <a:t>Each application system is a system consisting of a set of related models and associated documents</a:t>
            </a:r>
          </a:p>
          <a:p>
            <a:pPr algn="just">
              <a:spcBef>
                <a:spcPts val="0"/>
              </a:spcBef>
            </a:pPr>
            <a:r>
              <a:rPr lang="en-US" sz="2400" dirty="0" smtClean="0"/>
              <a:t>A system is an organizational assets that require investment, version control, configuration management, development, certification, testing, packaging, maintenance and release management.</a:t>
            </a:r>
          </a:p>
          <a:p>
            <a:pPr algn="just">
              <a:spcBef>
                <a:spcPts val="0"/>
              </a:spcBef>
            </a:pPr>
            <a:r>
              <a:rPr lang="en-US" sz="2400" dirty="0" smtClean="0"/>
              <a:t>Systems are generally configurable and have attached user, installation and maintenance documents, tools and processes for installers to follow.</a:t>
            </a:r>
          </a:p>
          <a:p>
            <a:pPr algn="just">
              <a:spcBef>
                <a:spcPts val="0"/>
              </a:spcBef>
            </a:pPr>
            <a:r>
              <a:rPr lang="en-US" sz="2400" dirty="0" smtClean="0"/>
              <a:t>A system can be developed by breaking them into pieces or </a:t>
            </a:r>
            <a:r>
              <a:rPr lang="en-US" sz="2400" dirty="0" err="1" smtClean="0"/>
              <a:t>workproduct</a:t>
            </a:r>
            <a:endParaRPr lang="en-US" sz="24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839200" cy="1143000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Application developers can reuse OOSE model components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676400"/>
            <a:ext cx="8686800" cy="4953000"/>
          </a:xfrm>
        </p:spPr>
        <p:txBody>
          <a:bodyPr>
            <a:noAutofit/>
          </a:bodyPr>
          <a:lstStyle/>
          <a:p>
            <a:pPr lvl="0" algn="just"/>
            <a:r>
              <a:rPr lang="en-US" sz="2400" b="1" dirty="0" err="1" smtClean="0">
                <a:solidFill>
                  <a:srgbClr val="0000FF"/>
                </a:solidFill>
              </a:rPr>
              <a:t>Workproduct</a:t>
            </a:r>
            <a:endParaRPr lang="en-US" sz="2400" b="1" dirty="0" smtClean="0">
              <a:solidFill>
                <a:srgbClr val="0000FF"/>
              </a:solidFill>
            </a:endParaRPr>
          </a:p>
          <a:p>
            <a:pPr lvl="1" algn="just"/>
            <a:r>
              <a:rPr lang="en-US" sz="2400" dirty="0" smtClean="0">
                <a:solidFill>
                  <a:prstClr val="black"/>
                </a:solidFill>
              </a:rPr>
              <a:t>Unit of code, a document or piece of software model that can be independently managed within a software engineering organization.</a:t>
            </a:r>
          </a:p>
          <a:p>
            <a:pPr lvl="1" algn="just"/>
            <a:r>
              <a:rPr lang="en-US" sz="2400" dirty="0" smtClean="0">
                <a:solidFill>
                  <a:prstClr val="black"/>
                </a:solidFill>
              </a:rPr>
              <a:t>Ex. Individual types, classes and other model elements, diagrams etc.</a:t>
            </a:r>
          </a:p>
          <a:p>
            <a:pPr lvl="1" algn="just"/>
            <a:r>
              <a:rPr lang="en-US" sz="2400" dirty="0" smtClean="0">
                <a:solidFill>
                  <a:prstClr val="black"/>
                </a:solidFill>
              </a:rPr>
              <a:t>Complete models, subsystems and test models are also workproducts</a:t>
            </a:r>
          </a:p>
          <a:p>
            <a:pPr lvl="1" algn="just"/>
            <a:r>
              <a:rPr lang="en-US" sz="2400" dirty="0" smtClean="0">
                <a:solidFill>
                  <a:prstClr val="black"/>
                </a:solidFill>
              </a:rPr>
              <a:t>Ex. </a:t>
            </a:r>
          </a:p>
          <a:p>
            <a:pPr lvl="2" algn="just"/>
            <a:r>
              <a:rPr lang="en-US" sz="2400" dirty="0" smtClean="0">
                <a:solidFill>
                  <a:prstClr val="black"/>
                </a:solidFill>
              </a:rPr>
              <a:t>Configuration file</a:t>
            </a:r>
          </a:p>
          <a:p>
            <a:pPr lvl="2" algn="just"/>
            <a:r>
              <a:rPr lang="en-US" sz="2400" dirty="0" smtClean="0">
                <a:solidFill>
                  <a:prstClr val="black"/>
                </a:solidFill>
              </a:rPr>
              <a:t>Listing the names and version of other software workproducts that are intended to be used together.</a:t>
            </a:r>
          </a:p>
          <a:p>
            <a:pPr lvl="1" algn="just">
              <a:buNone/>
            </a:pPr>
            <a:endParaRPr lang="en-US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1020762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Application developers can reuse OOSE model components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05800" cy="4876800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 smtClean="0">
                <a:solidFill>
                  <a:srgbClr val="0000FF"/>
                </a:solidFill>
              </a:rPr>
              <a:t>Application system</a:t>
            </a:r>
            <a:r>
              <a:rPr lang="en-US" sz="2400" dirty="0" smtClean="0">
                <a:solidFill>
                  <a:prstClr val="black"/>
                </a:solidFill>
              </a:rPr>
              <a:t> is a system product delivered outside of the reuse business. </a:t>
            </a:r>
          </a:p>
          <a:p>
            <a:pPr lvl="0" algn="just"/>
            <a:r>
              <a:rPr lang="en-US" sz="2400" dirty="0" smtClean="0">
                <a:solidFill>
                  <a:prstClr val="black"/>
                </a:solidFill>
              </a:rPr>
              <a:t>When installed, an application system offers a coherent set of use cases to an end user.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276600"/>
            <a:ext cx="73914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915400" cy="10207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Application families allow significant reuse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524000"/>
            <a:ext cx="8686800" cy="4876800"/>
          </a:xfrm>
        </p:spPr>
        <p:txBody>
          <a:bodyPr>
            <a:noAutofit/>
          </a:bodyPr>
          <a:lstStyle/>
          <a:p>
            <a:pPr lvl="0" algn="just"/>
            <a:r>
              <a:rPr lang="en-US" sz="2400" dirty="0" smtClean="0">
                <a:solidFill>
                  <a:srgbClr val="0000FF"/>
                </a:solidFill>
              </a:rPr>
              <a:t>Application System Family </a:t>
            </a:r>
            <a:r>
              <a:rPr lang="en-US" sz="2400" dirty="0" smtClean="0">
                <a:solidFill>
                  <a:prstClr val="black"/>
                </a:solidFill>
              </a:rPr>
              <a:t>is a set of application systems with common features.</a:t>
            </a:r>
          </a:p>
          <a:p>
            <a:pPr lvl="0" algn="just"/>
            <a:r>
              <a:rPr lang="en-US" sz="2400" dirty="0" smtClean="0">
                <a:solidFill>
                  <a:prstClr val="black"/>
                </a:solidFill>
              </a:rPr>
              <a:t>Types:</a:t>
            </a:r>
          </a:p>
          <a:p>
            <a:pPr lvl="1" algn="just"/>
            <a:r>
              <a:rPr lang="en-US" sz="2400" dirty="0" smtClean="0">
                <a:solidFill>
                  <a:srgbClr val="0000FF"/>
                </a:solidFill>
              </a:rPr>
              <a:t>Application System Suite </a:t>
            </a:r>
            <a:r>
              <a:rPr lang="en-US" sz="2400" dirty="0" smtClean="0">
                <a:solidFill>
                  <a:prstClr val="black"/>
                </a:solidFill>
              </a:rPr>
              <a:t>is a set of different application systems that are intended to work together to help some actors accomplish their work. </a:t>
            </a:r>
            <a:r>
              <a:rPr lang="en-US" sz="2400" i="1" dirty="0" smtClean="0">
                <a:solidFill>
                  <a:prstClr val="black"/>
                </a:solidFill>
              </a:rPr>
              <a:t>Ex. Microsoft Office Suite etc.</a:t>
            </a:r>
          </a:p>
          <a:p>
            <a:pPr lvl="1" algn="just"/>
            <a:r>
              <a:rPr lang="en-US" sz="2400" dirty="0" smtClean="0">
                <a:solidFill>
                  <a:srgbClr val="0000FF"/>
                </a:solidFill>
              </a:rPr>
              <a:t>Application  System Variants </a:t>
            </a:r>
            <a:r>
              <a:rPr lang="en-US" sz="2400" dirty="0" smtClean="0">
                <a:solidFill>
                  <a:prstClr val="black"/>
                </a:solidFill>
              </a:rPr>
              <a:t>are useful when same application system need to be configured, packaged and installed differently for different users. </a:t>
            </a:r>
            <a:r>
              <a:rPr lang="en-US" sz="2400" i="1" dirty="0" smtClean="0">
                <a:solidFill>
                  <a:prstClr val="black"/>
                </a:solidFill>
              </a:rPr>
              <a:t>Ex. Ericsson AXE family of telecommunications switching system</a:t>
            </a:r>
          </a:p>
          <a:p>
            <a:pPr lvl="1" algn="just"/>
            <a:r>
              <a:rPr lang="en-US" sz="2400" dirty="0" smtClean="0">
                <a:solidFill>
                  <a:srgbClr val="0000FF"/>
                </a:solidFill>
              </a:rPr>
              <a:t>Fairly Independent Application System </a:t>
            </a:r>
            <a:r>
              <a:rPr lang="en-US" sz="2400" dirty="0" smtClean="0">
                <a:solidFill>
                  <a:prstClr val="black"/>
                </a:solidFill>
              </a:rPr>
              <a:t>build from the same set of lower-level reusable components. </a:t>
            </a:r>
            <a:r>
              <a:rPr lang="en-US" sz="2400" i="1" dirty="0" smtClean="0">
                <a:solidFill>
                  <a:prstClr val="black"/>
                </a:solidFill>
              </a:rPr>
              <a:t>Ex. Application system with similar Windows behavior can be built from the MFCs.</a:t>
            </a:r>
            <a:endParaRPr lang="en-US" sz="2400" dirty="0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Application families allow significant reuse</a:t>
            </a:r>
            <a:endParaRPr lang="en-US" sz="2800" b="1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886200"/>
            <a:ext cx="76962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524000"/>
            <a:ext cx="8305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buFont typeface="Arial" pitchFamily="34" charset="0"/>
              <a:buChar char="•"/>
            </a:pPr>
            <a:r>
              <a:rPr lang="en-IN" sz="2400" dirty="0" smtClean="0"/>
              <a:t>The business process </a:t>
            </a:r>
            <a:r>
              <a:rPr lang="en-IN" sz="2400" i="1" dirty="0" smtClean="0"/>
              <a:t>sales from order to delivery </a:t>
            </a:r>
            <a:r>
              <a:rPr lang="en-IN" sz="2400" dirty="0" smtClean="0"/>
              <a:t>is a customizable, configurable component.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IN" sz="2400" dirty="0" smtClean="0"/>
              <a:t>Here, there are two application systems: </a:t>
            </a:r>
            <a:r>
              <a:rPr lang="en-IN" sz="2400" i="1" dirty="0" smtClean="0"/>
              <a:t>Payment </a:t>
            </a:r>
            <a:r>
              <a:rPr lang="en-IN" sz="2400" dirty="0" smtClean="0"/>
              <a:t>and</a:t>
            </a:r>
            <a:r>
              <a:rPr lang="en-IN" sz="2400" i="1" dirty="0" smtClean="0"/>
              <a:t> Invoicing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IN" sz="2400" dirty="0" smtClean="0"/>
              <a:t>Invoicing is used by Seller to request payment for some service or goods and later to follow up the payment of invoices.</a:t>
            </a:r>
          </a:p>
          <a:p>
            <a:pPr marL="179388" indent="-179388">
              <a:buFont typeface="Arial" pitchFamily="34" charset="0"/>
              <a:buChar char="•"/>
            </a:pPr>
            <a:r>
              <a:rPr lang="en-IN" sz="2400" dirty="0" smtClean="0"/>
              <a:t>Payment is used by a Buyer to pay received invoices.</a:t>
            </a:r>
          </a:p>
          <a:p>
            <a:pPr>
              <a:buFont typeface="Arial" pitchFamily="34" charset="0"/>
              <a:buChar char="•"/>
            </a:pPr>
            <a:endParaRPr lang="en-IN" sz="2400" dirty="0" smtClean="0"/>
          </a:p>
          <a:p>
            <a:pPr>
              <a:buFont typeface="Arial" pitchFamily="34" charset="0"/>
              <a:buChar char="•"/>
            </a:pP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915400" cy="1020762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Application systems are built from reusable components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676400"/>
            <a:ext cx="8534400" cy="5029200"/>
          </a:xfrm>
        </p:spPr>
        <p:txBody>
          <a:bodyPr>
            <a:normAutofit/>
          </a:bodyPr>
          <a:lstStyle/>
          <a:p>
            <a:pPr lvl="1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A </a:t>
            </a:r>
            <a:r>
              <a:rPr lang="en-US" sz="2400" dirty="0" smtClean="0">
                <a:solidFill>
                  <a:srgbClr val="0000FF"/>
                </a:solidFill>
              </a:rPr>
              <a:t>component</a:t>
            </a:r>
            <a:r>
              <a:rPr lang="en-US" sz="2400" dirty="0" smtClean="0">
                <a:solidFill>
                  <a:prstClr val="black"/>
                </a:solidFill>
              </a:rPr>
              <a:t> is a type, class or any other </a:t>
            </a:r>
            <a:r>
              <a:rPr lang="en-US" sz="2400" dirty="0" err="1" smtClean="0">
                <a:solidFill>
                  <a:prstClr val="black"/>
                </a:solidFill>
              </a:rPr>
              <a:t>workproduct</a:t>
            </a:r>
            <a:r>
              <a:rPr lang="en-US" sz="2400" dirty="0" smtClean="0">
                <a:solidFill>
                  <a:prstClr val="black"/>
                </a:solidFill>
              </a:rPr>
              <a:t> that has been specifically engineered to be reusable.  </a:t>
            </a:r>
          </a:p>
          <a:p>
            <a:pPr lvl="2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It includes use case, analysis, design and implementation model elements etc.</a:t>
            </a:r>
          </a:p>
          <a:p>
            <a:pPr lvl="2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Components are designed, packaged and documented to be reusable</a:t>
            </a:r>
          </a:p>
          <a:p>
            <a:pPr lvl="2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Cohesive and has a relatively stable public interface</a:t>
            </a:r>
          </a:p>
          <a:p>
            <a:pPr lvl="2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May be very general and reusable in many types of application systems</a:t>
            </a:r>
          </a:p>
          <a:p>
            <a:pPr lvl="2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May be limited and specific to only a certain business area</a:t>
            </a:r>
          </a:p>
          <a:p>
            <a:pPr lvl="1" algn="just">
              <a:lnSpc>
                <a:spcPct val="150000"/>
              </a:lnSpc>
            </a:pPr>
            <a:endParaRPr lang="en-US" sz="2400" dirty="0" smtClean="0">
              <a:solidFill>
                <a:prstClr val="black"/>
              </a:solidFill>
            </a:endParaRPr>
          </a:p>
          <a:p>
            <a:pPr lvl="2" algn="just">
              <a:lnSpc>
                <a:spcPct val="150000"/>
              </a:lnSpc>
              <a:buNone/>
            </a:pPr>
            <a:endParaRPr lang="en-US" sz="2400" dirty="0" smtClean="0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915400" cy="10207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Application systems are built from reusable components</a:t>
            </a:r>
            <a:endParaRPr lang="en-US" sz="3200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2362200"/>
            <a:ext cx="3657600" cy="3543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676400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b="1" dirty="0" smtClean="0"/>
              <a:t> Buyer</a:t>
            </a:r>
            <a:r>
              <a:rPr lang="en-IN" dirty="0" smtClean="0"/>
              <a:t>  can use </a:t>
            </a:r>
            <a:r>
              <a:rPr lang="en-IN" b="1" dirty="0" smtClean="0"/>
              <a:t>Payment</a:t>
            </a:r>
            <a:r>
              <a:rPr lang="en-IN" dirty="0" smtClean="0"/>
              <a:t> and </a:t>
            </a:r>
            <a:r>
              <a:rPr lang="en-IN" b="1" dirty="0" smtClean="0"/>
              <a:t>ATM Cashier</a:t>
            </a:r>
            <a:r>
              <a:rPr lang="en-IN" dirty="0" smtClean="0"/>
              <a:t> of </a:t>
            </a:r>
            <a:r>
              <a:rPr lang="en-IN" b="1" dirty="0" smtClean="0"/>
              <a:t>Account</a:t>
            </a:r>
            <a:r>
              <a:rPr lang="en-IN" dirty="0" smtClean="0"/>
              <a:t> component for transactions.  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915400" cy="9445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Group components into component systems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610600" cy="4724400"/>
          </a:xfrm>
        </p:spPr>
        <p:txBody>
          <a:bodyPr>
            <a:noAutofit/>
          </a:bodyPr>
          <a:lstStyle/>
          <a:p>
            <a:pPr lvl="0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A component system is a system product that offer a set of reusable features. </a:t>
            </a:r>
          </a:p>
          <a:p>
            <a:pPr lvl="0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Features are implemented as related and interconnected sets of components of various types, associated packages and descriptive documents</a:t>
            </a:r>
          </a:p>
          <a:p>
            <a:pPr lvl="0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Components should be carefully modeled, implemented, documented and tested to allow effective future maintenance and evolution. </a:t>
            </a:r>
          </a:p>
          <a:p>
            <a:pPr lvl="0" algn="just">
              <a:spcBef>
                <a:spcPts val="0"/>
              </a:spcBef>
            </a:pPr>
            <a:r>
              <a:rPr lang="en-IN" sz="2400" dirty="0" smtClean="0"/>
              <a:t>Application systems reuse common components by importing reusable components from the component systems.  </a:t>
            </a:r>
          </a:p>
          <a:p>
            <a:pPr lvl="0" algn="just">
              <a:spcBef>
                <a:spcPts val="0"/>
              </a:spcBef>
            </a:pPr>
            <a:r>
              <a:rPr lang="en-IN" sz="2400" dirty="0" smtClean="0"/>
              <a:t>Component systems include façade for providing to application system development.</a:t>
            </a:r>
            <a:endParaRPr lang="en-US" sz="2400" dirty="0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Group components into component systems</a:t>
            </a:r>
            <a:endParaRPr lang="en-US" sz="2800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6764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Facades control access to component system internals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10600" cy="4876800"/>
          </a:xfrm>
        </p:spPr>
        <p:txBody>
          <a:bodyPr>
            <a:normAutofit/>
          </a:bodyPr>
          <a:lstStyle/>
          <a:p>
            <a:pPr marL="449263" lvl="1" indent="-269875" algn="just">
              <a:spcBef>
                <a:spcPts val="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Façade</a:t>
            </a:r>
            <a:r>
              <a:rPr lang="en-US" sz="2400" dirty="0" smtClean="0">
                <a:solidFill>
                  <a:prstClr val="black"/>
                </a:solidFill>
              </a:rPr>
              <a:t> is a packaged subset of components or references to components, selected from the component system. </a:t>
            </a:r>
          </a:p>
          <a:p>
            <a:pPr marL="449263" lvl="1" indent="-269875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It provides public access to only those parts of the component system that have been chosen to be available for reuse.</a:t>
            </a:r>
          </a:p>
          <a:p>
            <a:pPr marL="449263" lvl="1" indent="-269875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Insulates a </a:t>
            </a:r>
            <a:r>
              <a:rPr lang="en-US" sz="2400" dirty="0" err="1" smtClean="0">
                <a:solidFill>
                  <a:prstClr val="black"/>
                </a:solidFill>
              </a:rPr>
              <a:t>reuser</a:t>
            </a:r>
            <a:r>
              <a:rPr lang="en-US" sz="2400" dirty="0" smtClean="0">
                <a:solidFill>
                  <a:prstClr val="black"/>
                </a:solidFill>
              </a:rPr>
              <a:t> from the specific details of how a component system is implemented and allows internal changes without necessarily impacting the </a:t>
            </a:r>
            <a:r>
              <a:rPr lang="en-US" sz="2400" dirty="0" err="1" smtClean="0">
                <a:solidFill>
                  <a:prstClr val="black"/>
                </a:solidFill>
              </a:rPr>
              <a:t>reuser</a:t>
            </a:r>
            <a:endParaRPr lang="en-US" sz="2400" dirty="0" smtClean="0">
              <a:solidFill>
                <a:prstClr val="black"/>
              </a:solidFill>
            </a:endParaRPr>
          </a:p>
          <a:p>
            <a:pPr marL="449263" lvl="1" indent="-269875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Encapsulate the internals of the component system in order to minimize dependencies and rippling change as the component system evolves. </a:t>
            </a:r>
          </a:p>
          <a:p>
            <a:pPr lvl="2" algn="just">
              <a:lnSpc>
                <a:spcPct val="150000"/>
              </a:lnSpc>
            </a:pPr>
            <a:endParaRPr lang="en-US" sz="1600" dirty="0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Facades control access to component system internals</a:t>
            </a:r>
            <a:endParaRPr lang="en-US" sz="2800" dirty="0"/>
          </a:p>
        </p:txBody>
      </p:sp>
      <p:pic>
        <p:nvPicPr>
          <p:cNvPr id="18434" name="Picture 2" descr="C:\Users\saurabh\Desktop\jitu\4.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600200"/>
            <a:ext cx="8153399" cy="50292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Facades and Component System are special kinds of packages</a:t>
            </a:r>
            <a:endParaRPr lang="en-US" sz="2800" dirty="0"/>
          </a:p>
        </p:txBody>
      </p:sp>
      <p:pic>
        <p:nvPicPr>
          <p:cNvPr id="1026" name="Picture 2" descr="C:\Users\saurabh\Desktop\jitu\4.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447800"/>
            <a:ext cx="8610600" cy="5181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Facades and Component System are special kinds of packages</a:t>
            </a:r>
            <a:endParaRPr lang="en-US" sz="2800" dirty="0"/>
          </a:p>
        </p:txBody>
      </p:sp>
      <p:pic>
        <p:nvPicPr>
          <p:cNvPr id="2050" name="Picture 2" descr="C:\Users\saurabh\Desktop\jitu\4.8.jpg"/>
          <p:cNvPicPr>
            <a:picLocks noChangeAspect="1" noChangeArrowheads="1"/>
          </p:cNvPicPr>
          <p:nvPr/>
        </p:nvPicPr>
        <p:blipFill>
          <a:blip r:embed="rId2" cstate="print"/>
          <a:srcRect l="3457" t="5967" r="6665" b="7233"/>
          <a:stretch>
            <a:fillRect/>
          </a:stretch>
        </p:blipFill>
        <p:spPr bwMode="auto">
          <a:xfrm>
            <a:off x="228600" y="1371600"/>
            <a:ext cx="8717280" cy="50292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0207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Facades and Component System are special kinds of packages</a:t>
            </a:r>
            <a:endParaRPr lang="en-US" sz="2800" dirty="0"/>
          </a:p>
        </p:txBody>
      </p:sp>
      <p:pic>
        <p:nvPicPr>
          <p:cNvPr id="3074" name="Picture 2" descr="C:\Users\saurabh\Desktop\jitu\4.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524000"/>
            <a:ext cx="8610600" cy="5019675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915400" cy="1020762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Component systems export component via facades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371600"/>
            <a:ext cx="8610600" cy="4800600"/>
          </a:xfrm>
        </p:spPr>
        <p:txBody>
          <a:bodyPr>
            <a:normAutofit/>
          </a:bodyPr>
          <a:lstStyle/>
          <a:p>
            <a:pPr marL="360363" lvl="1" indent="-269875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Each component system exports a set of reusable components; that is make them publicly accessible for reuse</a:t>
            </a:r>
          </a:p>
          <a:p>
            <a:pPr marL="360363" lvl="1" indent="-269875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Only those elements that </a:t>
            </a:r>
            <a:r>
              <a:rPr lang="en-US" sz="2400" dirty="0" err="1" smtClean="0">
                <a:solidFill>
                  <a:prstClr val="black"/>
                </a:solidFill>
              </a:rPr>
              <a:t>reuser</a:t>
            </a:r>
            <a:r>
              <a:rPr lang="en-US" sz="2400" dirty="0" smtClean="0">
                <a:solidFill>
                  <a:prstClr val="black"/>
                </a:solidFill>
              </a:rPr>
              <a:t> (application engineers) need to “connect to” directly are  exported via façade</a:t>
            </a:r>
          </a:p>
          <a:p>
            <a:pPr marL="360363" lvl="1" indent="-269875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Façade defines an alternative exported set of related components offering an independent and consistent way of reuse</a:t>
            </a:r>
          </a:p>
          <a:p>
            <a:pPr marL="360363" lvl="1" indent="-269875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Change in component should affect the façades where the component is exported and thus only the </a:t>
            </a:r>
            <a:r>
              <a:rPr lang="en-US" sz="2400" dirty="0" err="1" smtClean="0">
                <a:solidFill>
                  <a:prstClr val="black"/>
                </a:solidFill>
              </a:rPr>
              <a:t>reusers</a:t>
            </a:r>
            <a:r>
              <a:rPr lang="en-US" sz="2400" dirty="0" smtClean="0">
                <a:solidFill>
                  <a:prstClr val="black"/>
                </a:solidFill>
              </a:rPr>
              <a:t> of those facades</a:t>
            </a:r>
          </a:p>
          <a:p>
            <a:pPr marL="360363" lvl="1" indent="-269875" algn="just">
              <a:spcBef>
                <a:spcPts val="0"/>
              </a:spcBef>
            </a:pPr>
            <a:r>
              <a:rPr lang="en-US" sz="2400" dirty="0" smtClean="0">
                <a:solidFill>
                  <a:prstClr val="black"/>
                </a:solidFill>
              </a:rPr>
              <a:t>Older facades should continue to exist for backward compatibility as component system evolve.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Component systems export component via facades</a:t>
            </a:r>
            <a:endParaRPr lang="en-US" sz="2800" dirty="0"/>
          </a:p>
        </p:txBody>
      </p:sp>
      <p:pic>
        <p:nvPicPr>
          <p:cNvPr id="4098" name="Picture 2" descr="C:\Users\saurabh\Desktop\jitu\4.10.jpg"/>
          <p:cNvPicPr>
            <a:picLocks noChangeAspect="1" noChangeArrowheads="1"/>
          </p:cNvPicPr>
          <p:nvPr/>
        </p:nvPicPr>
        <p:blipFill>
          <a:blip r:embed="rId2" cstate="print"/>
          <a:srcRect l="1734" t="1449" r="2021" b="1449"/>
          <a:stretch>
            <a:fillRect/>
          </a:stretch>
        </p:blipFill>
        <p:spPr bwMode="auto">
          <a:xfrm>
            <a:off x="990600" y="1524000"/>
            <a:ext cx="7315200" cy="33528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914400" y="5181600"/>
            <a:ext cx="777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Here, the component system exports some type or classes, C1 and C2, and documents via a façade, while the other type, classes C3 … are hidden in the internals of the component system. 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Component systems export component via facades</a:t>
            </a:r>
            <a:endParaRPr lang="en-US" sz="2800" dirty="0"/>
          </a:p>
        </p:txBody>
      </p:sp>
      <p:pic>
        <p:nvPicPr>
          <p:cNvPr id="5122" name="Picture 2" descr="C:\Users\saurabh\Desktop\jitu\4.11.jpg"/>
          <p:cNvPicPr>
            <a:picLocks noChangeAspect="1" noChangeArrowheads="1"/>
          </p:cNvPicPr>
          <p:nvPr/>
        </p:nvPicPr>
        <p:blipFill>
          <a:blip r:embed="rId2" cstate="print"/>
          <a:srcRect l="2481" t="4225" r="5178" b="4225"/>
          <a:stretch>
            <a:fillRect/>
          </a:stretch>
        </p:blipFill>
        <p:spPr bwMode="auto">
          <a:xfrm>
            <a:off x="609600" y="1600200"/>
            <a:ext cx="8229600" cy="41148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762000" y="5867400"/>
            <a:ext cx="777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Account management </a:t>
            </a:r>
            <a:r>
              <a:rPr lang="en-IN" sz="2000" dirty="0" smtClean="0"/>
              <a:t>component system exports components organized into separate facades </a:t>
            </a:r>
            <a:r>
              <a:rPr lang="en-IN" sz="2000" b="1" dirty="0" smtClean="0"/>
              <a:t>Transfers </a:t>
            </a:r>
            <a:r>
              <a:rPr lang="en-IN" sz="2000" dirty="0" smtClean="0"/>
              <a:t>and </a:t>
            </a:r>
            <a:r>
              <a:rPr lang="en-IN" sz="2000" b="1" dirty="0" smtClean="0"/>
              <a:t>Risks.</a:t>
            </a:r>
            <a:endParaRPr lang="en-I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537448" cy="990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775F55"/>
                </a:solidFill>
              </a:rPr>
              <a:t>Component systems export component via facades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08848" cy="44958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When an application system imports a component from a façade, a UML reference to the component is included in the appropriate model of the application system.</a:t>
            </a:r>
          </a:p>
          <a:p>
            <a:r>
              <a:rPr lang="en-IN" sz="2400" dirty="0" smtClean="0"/>
              <a:t>Payment application system reusing several imported components.</a:t>
            </a:r>
          </a:p>
          <a:p>
            <a:r>
              <a:rPr lang="en-IN" sz="2400" dirty="0" smtClean="0"/>
              <a:t>For example, account “ is imported type.</a:t>
            </a:r>
            <a:endParaRPr lang="en-IN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saurabh\Desktop\jitu\4.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600200"/>
            <a:ext cx="8001000" cy="5029200"/>
          </a:xfrm>
          <a:prstGeom prst="rect">
            <a:avLst/>
          </a:prstGeom>
          <a:noFill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Component systems export component via facades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763000" cy="102076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Specialize some components before reuse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458200" cy="4419600"/>
          </a:xfrm>
        </p:spPr>
        <p:txBody>
          <a:bodyPr>
            <a:normAutofit/>
          </a:bodyPr>
          <a:lstStyle/>
          <a:p>
            <a:pPr lvl="0" algn="just">
              <a:lnSpc>
                <a:spcPct val="11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For effective reuse, many of the components exported by a component system need  to offer some degree of variability. </a:t>
            </a:r>
          </a:p>
          <a:p>
            <a:pPr lvl="0" algn="just">
              <a:lnSpc>
                <a:spcPct val="11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To accommodate the differences between individual application system</a:t>
            </a:r>
          </a:p>
          <a:p>
            <a:pPr lvl="2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We might need a large number of similar but distinct </a:t>
            </a:r>
            <a:r>
              <a:rPr lang="en-US" sz="2000" i="1" dirty="0" smtClean="0">
                <a:solidFill>
                  <a:prstClr val="black"/>
                </a:solidFill>
              </a:rPr>
              <a:t>as-is</a:t>
            </a:r>
            <a:r>
              <a:rPr lang="en-US" sz="2000" dirty="0" smtClean="0">
                <a:solidFill>
                  <a:prstClr val="black"/>
                </a:solidFill>
              </a:rPr>
              <a:t> component  </a:t>
            </a:r>
          </a:p>
          <a:p>
            <a:pPr lvl="2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We can build a small number of more flexible, general components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General component need to be specialized in some way before reuse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Variability mechanisms</a:t>
            </a:r>
          </a:p>
          <a:p>
            <a:pPr lvl="2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Provide different ways of specializing reusable components 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Ex. </a:t>
            </a:r>
            <a:r>
              <a:rPr lang="en-US" sz="2000" dirty="0" err="1" smtClean="0">
                <a:solidFill>
                  <a:prstClr val="black"/>
                </a:solidFill>
              </a:rPr>
              <a:t>Netron</a:t>
            </a:r>
            <a:r>
              <a:rPr lang="en-US" sz="2000" dirty="0" smtClean="0">
                <a:solidFill>
                  <a:prstClr val="black"/>
                </a:solidFill>
              </a:rPr>
              <a:t> CAP/Fusion, Ericsson AXE, Visual Basic Active X</a:t>
            </a:r>
          </a:p>
          <a:p>
            <a:pPr lvl="2" algn="just">
              <a:buNone/>
            </a:pPr>
            <a:endParaRPr lang="en-US" sz="2000" dirty="0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Variability occurs at variation points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676400"/>
            <a:ext cx="8382000" cy="2743200"/>
          </a:xfrm>
        </p:spPr>
        <p:txBody>
          <a:bodyPr>
            <a:normAutofit fontScale="85000" lnSpcReduction="20000"/>
          </a:bodyPr>
          <a:lstStyle/>
          <a:p>
            <a:pPr lvl="0" algn="just">
              <a:lnSpc>
                <a:spcPct val="150000"/>
              </a:lnSpc>
            </a:pPr>
            <a:r>
              <a:rPr lang="en-US" sz="2400" b="1" dirty="0" smtClean="0">
                <a:solidFill>
                  <a:prstClr val="black"/>
                </a:solidFill>
              </a:rPr>
              <a:t>Feature</a:t>
            </a:r>
            <a:r>
              <a:rPr lang="en-US" sz="2400" dirty="0" smtClean="0">
                <a:solidFill>
                  <a:prstClr val="black"/>
                </a:solidFill>
              </a:rPr>
              <a:t> is a use case, part of a use case or responsibility of a use case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 smtClean="0">
                <a:solidFill>
                  <a:prstClr val="black"/>
                </a:solidFill>
              </a:rPr>
              <a:t>Variable feature are exported at variation points</a:t>
            </a:r>
          </a:p>
          <a:p>
            <a:pPr lvl="0" algn="just">
              <a:lnSpc>
                <a:spcPct val="150000"/>
              </a:lnSpc>
            </a:pPr>
            <a:r>
              <a:rPr lang="en-US" sz="2400" b="1" dirty="0" smtClean="0">
                <a:solidFill>
                  <a:prstClr val="black"/>
                </a:solidFill>
              </a:rPr>
              <a:t>Variation point </a:t>
            </a:r>
            <a:r>
              <a:rPr lang="en-US" sz="2400" dirty="0" smtClean="0">
                <a:solidFill>
                  <a:prstClr val="black"/>
                </a:solidFill>
              </a:rPr>
              <a:t>identifies one or more locations at which the variation will occur.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 smtClean="0">
                <a:solidFill>
                  <a:prstClr val="black"/>
                </a:solidFill>
              </a:rPr>
              <a:t>An abstract component is </a:t>
            </a:r>
            <a:r>
              <a:rPr lang="en-US" sz="2200" dirty="0" smtClean="0">
                <a:solidFill>
                  <a:prstClr val="black"/>
                </a:solidFill>
              </a:rPr>
              <a:t>specialized</a:t>
            </a:r>
            <a:r>
              <a:rPr lang="en-US" sz="2400" dirty="0" smtClean="0">
                <a:solidFill>
                  <a:prstClr val="black"/>
                </a:solidFill>
              </a:rPr>
              <a:t> by attaching one or several </a:t>
            </a:r>
            <a:r>
              <a:rPr lang="en-US" sz="2400" dirty="0" smtClean="0">
                <a:solidFill>
                  <a:srgbClr val="0000FF"/>
                </a:solidFill>
              </a:rPr>
              <a:t>variants </a:t>
            </a:r>
            <a:r>
              <a:rPr lang="en-US" sz="2400" dirty="0" smtClean="0">
                <a:solidFill>
                  <a:prstClr val="black"/>
                </a:solidFill>
              </a:rPr>
              <a:t>to its variation point.</a:t>
            </a:r>
          </a:p>
          <a:p>
            <a:pPr lvl="2" algn="just">
              <a:lnSpc>
                <a:spcPct val="150000"/>
              </a:lnSpc>
              <a:buNone/>
            </a:pPr>
            <a:endParaRPr lang="en-US" sz="1600" dirty="0" smtClean="0">
              <a:solidFill>
                <a:prstClr val="black"/>
              </a:solidFill>
            </a:endParaRPr>
          </a:p>
        </p:txBody>
      </p:sp>
      <p:pic>
        <p:nvPicPr>
          <p:cNvPr id="7170" name="Picture 2" descr="C:\Users\saurabh\Desktop\jitu\4.13.JPG"/>
          <p:cNvPicPr>
            <a:picLocks noChangeAspect="1" noChangeArrowheads="1"/>
          </p:cNvPicPr>
          <p:nvPr/>
        </p:nvPicPr>
        <p:blipFill>
          <a:blip r:embed="rId2" cstate="print"/>
          <a:srcRect l="10121" t="17521" r="22205" b="43162"/>
          <a:stretch>
            <a:fillRect/>
          </a:stretch>
        </p:blipFill>
        <p:spPr bwMode="auto">
          <a:xfrm>
            <a:off x="2971800" y="4495800"/>
            <a:ext cx="4267200" cy="1752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Variability occurs at variation points</a:t>
            </a:r>
            <a:endParaRPr lang="en-US" sz="2800" dirty="0"/>
          </a:p>
        </p:txBody>
      </p:sp>
      <p:pic>
        <p:nvPicPr>
          <p:cNvPr id="8194" name="Picture 2" descr="C:\Users\saurabh\Desktop\jitu\4.14.jpg"/>
          <p:cNvPicPr>
            <a:picLocks noChangeAspect="1" noChangeArrowheads="1"/>
          </p:cNvPicPr>
          <p:nvPr/>
        </p:nvPicPr>
        <p:blipFill>
          <a:blip r:embed="rId2" cstate="print"/>
          <a:srcRect l="943" t="1169" r="943" b="1336"/>
          <a:stretch>
            <a:fillRect/>
          </a:stretch>
        </p:blipFill>
        <p:spPr bwMode="auto">
          <a:xfrm>
            <a:off x="609600" y="1676400"/>
            <a:ext cx="8077200" cy="48768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Use several kinds of variability mechanisms</a:t>
            </a:r>
            <a:endParaRPr lang="en-US" sz="28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1558183"/>
          <a:ext cx="8458200" cy="5153599"/>
        </p:xfrm>
        <a:graphic>
          <a:graphicData uri="http://schemas.openxmlformats.org/drawingml/2006/table">
            <a:tbl>
              <a:tblPr/>
              <a:tblGrid>
                <a:gridCol w="1339215"/>
                <a:gridCol w="1832610"/>
                <a:gridCol w="1621155"/>
                <a:gridCol w="3665220"/>
              </a:tblGrid>
              <a:tr h="5748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Mechanism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Type of </a:t>
                      </a:r>
                      <a:r>
                        <a:rPr lang="en-US" sz="1800" b="1" dirty="0" smtClean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 VP</a:t>
                      </a:r>
                      <a:endParaRPr lang="en-US" sz="1800" b="1" dirty="0">
                        <a:solidFill>
                          <a:srgbClr val="0000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Type of variant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Times New Roman"/>
                        </a:rPr>
                        <a:t>Use particularly when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8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latin typeface="Calibri"/>
                          <a:ea typeface="Calibri"/>
                          <a:cs typeface="Times New Roman"/>
                        </a:rPr>
                        <a:t>Inheritance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Virtual operation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Subclass or subtype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Specializing and adding selected operations while keeping others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 err="1">
                          <a:latin typeface="Calibri"/>
                          <a:ea typeface="Calibri"/>
                          <a:cs typeface="Times New Roman"/>
                        </a:rPr>
                        <a:t>Extenstions</a:t>
                      </a:r>
                      <a:endParaRPr lang="en-US" sz="1600" b="1" i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Extension point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extension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It must be possible to attach several variants at each variation point at the same time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8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latin typeface="Calibri"/>
                          <a:ea typeface="Calibri"/>
                          <a:cs typeface="Times New Roman"/>
                        </a:rPr>
                        <a:t>Uses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Use point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Use case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Reusing an abstract use case to create a specialized use case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8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latin typeface="Calibri"/>
                          <a:ea typeface="Calibri"/>
                          <a:cs typeface="Times New Roman"/>
                        </a:rPr>
                        <a:t>Configuration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Configuration item slot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Configuration item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Choosing alternative functions and implementations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8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latin typeface="Calibri"/>
                          <a:ea typeface="Calibri"/>
                          <a:cs typeface="Times New Roman"/>
                        </a:rPr>
                        <a:t>Parameters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parameter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Bound parameter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There are several small variation points for each variable feature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8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latin typeface="Calibri"/>
                          <a:ea typeface="Calibri"/>
                          <a:cs typeface="Times New Roman"/>
                        </a:rPr>
                        <a:t>Template instantiation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Template parameter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Template instance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Doing type adaptation or selecting alternative pieces of code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32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latin typeface="Calibri"/>
                          <a:ea typeface="Calibri"/>
                          <a:cs typeface="Times New Roman"/>
                        </a:rPr>
                        <a:t>Generation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Parameter or language script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Bound parameter or expression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Doing large-scale creation of one or more types or class from a problem specific language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Use several kinds of variability mechanisms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534400" cy="4800600"/>
          </a:xfrm>
        </p:spPr>
        <p:txBody>
          <a:bodyPr>
            <a:normAutofit fontScale="92500" lnSpcReduction="10000"/>
          </a:bodyPr>
          <a:lstStyle/>
          <a:p>
            <a:pPr lvl="0" algn="just">
              <a:lnSpc>
                <a:spcPct val="110000"/>
              </a:lnSpc>
            </a:pPr>
            <a:r>
              <a:rPr lang="en-US" sz="2400" dirty="0" smtClean="0">
                <a:solidFill>
                  <a:prstClr val="black"/>
                </a:solidFill>
              </a:rPr>
              <a:t>Using Inheritance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Useful for </a:t>
            </a:r>
            <a:r>
              <a:rPr lang="en-US" sz="2000" dirty="0" err="1" smtClean="0">
                <a:solidFill>
                  <a:prstClr val="black"/>
                </a:solidFill>
              </a:rPr>
              <a:t>subtyping</a:t>
            </a:r>
            <a:endParaRPr lang="en-US" sz="2000" dirty="0" smtClean="0">
              <a:solidFill>
                <a:prstClr val="black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Defined as a type essentially the specification of a set of  “virtual “ or “dummy” operations  in the </a:t>
            </a:r>
            <a:r>
              <a:rPr lang="en-US" sz="2000" dirty="0" err="1" smtClean="0">
                <a:solidFill>
                  <a:prstClr val="black"/>
                </a:solidFill>
              </a:rPr>
              <a:t>superclass</a:t>
            </a:r>
            <a:endParaRPr lang="en-US" sz="2000" dirty="0" smtClean="0">
              <a:solidFill>
                <a:prstClr val="black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Class (or type) Inheritance</a:t>
            </a:r>
          </a:p>
          <a:p>
            <a:pPr lvl="2" algn="just">
              <a:lnSpc>
                <a:spcPct val="150000"/>
              </a:lnSpc>
            </a:pPr>
            <a:r>
              <a:rPr lang="en-US" sz="1600" dirty="0" smtClean="0">
                <a:solidFill>
                  <a:prstClr val="black"/>
                </a:solidFill>
              </a:rPr>
              <a:t>Reduce the encapsulation and open up the internals of the class to subclass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Deep Class Hierarchies </a:t>
            </a:r>
            <a:endParaRPr lang="en-US" sz="1600" dirty="0" smtClean="0">
              <a:solidFill>
                <a:prstClr val="black"/>
              </a:solidFill>
            </a:endParaRPr>
          </a:p>
          <a:p>
            <a:pPr lvl="2" algn="just">
              <a:lnSpc>
                <a:spcPct val="150000"/>
              </a:lnSpc>
            </a:pPr>
            <a:r>
              <a:rPr lang="en-US" sz="1600" dirty="0" err="1" smtClean="0">
                <a:solidFill>
                  <a:prstClr val="black"/>
                </a:solidFill>
              </a:rPr>
              <a:t>YoYo</a:t>
            </a:r>
            <a:r>
              <a:rPr lang="en-US" sz="1600" dirty="0" smtClean="0">
                <a:solidFill>
                  <a:prstClr val="black"/>
                </a:solidFill>
              </a:rPr>
              <a:t> Problem-difficult to understand which operations invoke when an instance call several internal operations at different level in the hierarchy</a:t>
            </a:r>
          </a:p>
          <a:p>
            <a:pPr lvl="2" algn="just">
              <a:lnSpc>
                <a:spcPct val="150000"/>
              </a:lnSpc>
            </a:pPr>
            <a:r>
              <a:rPr lang="en-US" sz="1600" dirty="0" smtClean="0">
                <a:solidFill>
                  <a:prstClr val="black"/>
                </a:solidFill>
              </a:rPr>
              <a:t>Hard to localize changes</a:t>
            </a:r>
          </a:p>
          <a:p>
            <a:pPr lvl="2" algn="just">
              <a:lnSpc>
                <a:spcPct val="150000"/>
              </a:lnSpc>
            </a:pPr>
            <a:r>
              <a:rPr lang="en-US" sz="1600" dirty="0" smtClean="0">
                <a:solidFill>
                  <a:prstClr val="black"/>
                </a:solidFill>
              </a:rPr>
              <a:t>Difficult to test abstract class and to decide what to test and retest when adding subclass</a:t>
            </a:r>
          </a:p>
          <a:p>
            <a:pPr lvl="2" algn="just">
              <a:buNone/>
            </a:pPr>
            <a:endParaRPr lang="en-US" sz="1600" dirty="0" smtClean="0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Use several kinds of variability mechanisms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600200"/>
            <a:ext cx="8534400" cy="4648200"/>
          </a:xfrm>
        </p:spPr>
        <p:txBody>
          <a:bodyPr>
            <a:normAutofit/>
          </a:bodyPr>
          <a:lstStyle/>
          <a:p>
            <a:pPr lvl="0" algn="just">
              <a:lnSpc>
                <a:spcPct val="110000"/>
              </a:lnSpc>
            </a:pPr>
            <a:r>
              <a:rPr lang="en-US" sz="2400" dirty="0" smtClean="0">
                <a:solidFill>
                  <a:prstClr val="black"/>
                </a:solidFill>
              </a:rPr>
              <a:t>Using Extensions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A use case type or object type or class extension is a use case type or object type or class that adds new responsibilities or behavior(extends) another use case type or object type or class</a:t>
            </a:r>
            <a:endParaRPr lang="en-US" sz="1600" dirty="0" smtClean="0">
              <a:solidFill>
                <a:prstClr val="black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It  is a variant attached at a variation point called an extension point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Small type or class that cannot be used by itself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It may be</a:t>
            </a:r>
          </a:p>
          <a:p>
            <a:pPr lvl="2" algn="just">
              <a:lnSpc>
                <a:spcPct val="150000"/>
              </a:lnSpc>
            </a:pPr>
            <a:r>
              <a:rPr lang="en-US" sz="1600" dirty="0" smtClean="0">
                <a:solidFill>
                  <a:prstClr val="black"/>
                </a:solidFill>
              </a:rPr>
              <a:t>Implicit- not directly visible at all in the component system</a:t>
            </a:r>
          </a:p>
          <a:p>
            <a:pPr lvl="2" algn="just">
              <a:lnSpc>
                <a:spcPct val="150000"/>
              </a:lnSpc>
            </a:pPr>
            <a:r>
              <a:rPr lang="en-US" sz="1600" dirty="0" smtClean="0">
                <a:solidFill>
                  <a:prstClr val="black"/>
                </a:solidFill>
              </a:rPr>
              <a:t>Explicit-visible and documented in the component</a:t>
            </a:r>
          </a:p>
          <a:p>
            <a:pPr lvl="1" algn="just">
              <a:lnSpc>
                <a:spcPct val="150000"/>
              </a:lnSpc>
            </a:pPr>
            <a:endParaRPr lang="en-US" sz="2000" dirty="0" smtClean="0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Use several kinds of variability mechanisms</a:t>
            </a:r>
            <a:endParaRPr lang="en-US" sz="2800" dirty="0"/>
          </a:p>
        </p:txBody>
      </p:sp>
      <p:pic>
        <p:nvPicPr>
          <p:cNvPr id="9218" name="Picture 2" descr="C:\Users\saurabh\Desktop\jitu\4.15.jpg"/>
          <p:cNvPicPr>
            <a:picLocks noChangeAspect="1" noChangeArrowheads="1"/>
          </p:cNvPicPr>
          <p:nvPr/>
        </p:nvPicPr>
        <p:blipFill>
          <a:blip r:embed="rId2" cstate="print"/>
          <a:srcRect l="8602" t="8954"/>
          <a:stretch>
            <a:fillRect/>
          </a:stretch>
        </p:blipFill>
        <p:spPr bwMode="auto">
          <a:xfrm>
            <a:off x="1295400" y="2209800"/>
            <a:ext cx="7086600" cy="4267200"/>
          </a:xfrm>
          <a:prstGeom prst="rect">
            <a:avLst/>
          </a:prstGeom>
          <a:noFill/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609600" y="16764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Using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Use several kinds of variability mechanisms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600200"/>
            <a:ext cx="8458200" cy="4876800"/>
          </a:xfrm>
        </p:spPr>
        <p:txBody>
          <a:bodyPr>
            <a:normAutofit/>
          </a:bodyPr>
          <a:lstStyle/>
          <a:p>
            <a:pPr lvl="0" algn="just">
              <a:lnSpc>
                <a:spcPct val="110000"/>
              </a:lnSpc>
            </a:pPr>
            <a:r>
              <a:rPr lang="en-US" sz="2400" dirty="0" smtClean="0">
                <a:solidFill>
                  <a:prstClr val="black"/>
                </a:solidFill>
              </a:rPr>
              <a:t>Using parameterization, templates, and macros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Simple but powerful technique to express component variability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Parameterization can be used in the</a:t>
            </a:r>
          </a:p>
          <a:p>
            <a:pPr lvl="2" algn="just">
              <a:lnSpc>
                <a:spcPct val="150000"/>
              </a:lnSpc>
            </a:pPr>
            <a:r>
              <a:rPr lang="en-US" sz="1600" dirty="0" smtClean="0">
                <a:solidFill>
                  <a:prstClr val="black"/>
                </a:solidFill>
              </a:rPr>
              <a:t>description of  a use case</a:t>
            </a:r>
          </a:p>
          <a:p>
            <a:pPr lvl="2" algn="just">
              <a:lnSpc>
                <a:spcPct val="150000"/>
              </a:lnSpc>
            </a:pPr>
            <a:r>
              <a:rPr lang="en-US" sz="1600" dirty="0" smtClean="0">
                <a:solidFill>
                  <a:prstClr val="black"/>
                </a:solidFill>
              </a:rPr>
              <a:t>Name of a type or class</a:t>
            </a:r>
          </a:p>
          <a:p>
            <a:pPr lvl="2" algn="just">
              <a:lnSpc>
                <a:spcPct val="150000"/>
              </a:lnSpc>
            </a:pPr>
            <a:r>
              <a:rPr lang="en-US" sz="1600" dirty="0" smtClean="0">
                <a:solidFill>
                  <a:prstClr val="black"/>
                </a:solidFill>
              </a:rPr>
              <a:t>Operation definition</a:t>
            </a:r>
          </a:p>
          <a:p>
            <a:pPr lvl="2" algn="just">
              <a:lnSpc>
                <a:spcPct val="150000"/>
              </a:lnSpc>
            </a:pPr>
            <a:r>
              <a:rPr lang="en-US" sz="1600" dirty="0" smtClean="0">
                <a:solidFill>
                  <a:prstClr val="black"/>
                </a:solidFill>
              </a:rPr>
              <a:t>Body of a method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 smtClean="0">
                <a:solidFill>
                  <a:prstClr val="black"/>
                </a:solidFill>
              </a:rPr>
              <a:t>Most suitable when the feature variants are small</a:t>
            </a:r>
          </a:p>
          <a:p>
            <a:pPr lvl="2" algn="just">
              <a:lnSpc>
                <a:spcPct val="150000"/>
              </a:lnSpc>
              <a:buNone/>
            </a:pPr>
            <a:endParaRPr lang="en-US" sz="1600" dirty="0" smtClean="0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Use several kinds of variability mechanisms</a:t>
            </a:r>
            <a:endParaRPr lang="en-US" sz="2800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828800"/>
            <a:ext cx="8153400" cy="4648200"/>
          </a:xfrm>
        </p:spPr>
        <p:txBody>
          <a:bodyPr>
            <a:normAutofit/>
          </a:bodyPr>
          <a:lstStyle/>
          <a:p>
            <a:pPr lvl="0" algn="just">
              <a:lnSpc>
                <a:spcPct val="110000"/>
              </a:lnSpc>
            </a:pPr>
            <a:endParaRPr lang="en-US" sz="2400" dirty="0" smtClean="0">
              <a:solidFill>
                <a:prstClr val="black"/>
              </a:solidFill>
            </a:endParaRPr>
          </a:p>
        </p:txBody>
      </p:sp>
      <p:pic>
        <p:nvPicPr>
          <p:cNvPr id="10242" name="Picture 2" descr="C:\Users\saurabh\Desktop\jitu\4.16.JPG"/>
          <p:cNvPicPr>
            <a:picLocks noChangeAspect="1" noChangeArrowheads="1"/>
          </p:cNvPicPr>
          <p:nvPr/>
        </p:nvPicPr>
        <p:blipFill>
          <a:blip r:embed="rId2" cstate="print"/>
          <a:srcRect l="4167" t="22329" r="9375" b="3815"/>
          <a:stretch>
            <a:fillRect/>
          </a:stretch>
        </p:blipFill>
        <p:spPr bwMode="auto">
          <a:xfrm>
            <a:off x="581248" y="1828800"/>
            <a:ext cx="8105552" cy="4893325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Reuse variable components to build application systems</a:t>
            </a:r>
            <a:endParaRPr lang="en-US" sz="2800" dirty="0"/>
          </a:p>
        </p:txBody>
      </p:sp>
      <p:pic>
        <p:nvPicPr>
          <p:cNvPr id="11266" name="Picture 2" descr="C:\Users\saurabh\Desktop\jitu\4.1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00200"/>
            <a:ext cx="6705600" cy="4800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Reuse variable components to build application systems</a:t>
            </a:r>
            <a:endParaRPr lang="en-US" sz="2800" dirty="0"/>
          </a:p>
        </p:txBody>
      </p:sp>
      <p:pic>
        <p:nvPicPr>
          <p:cNvPr id="12290" name="Picture 2" descr="C:\Users\saurabh\Desktop\jitu\4.18.JPG"/>
          <p:cNvPicPr>
            <a:picLocks noChangeAspect="1" noChangeArrowheads="1"/>
          </p:cNvPicPr>
          <p:nvPr/>
        </p:nvPicPr>
        <p:blipFill>
          <a:blip r:embed="rId2" cstate="print"/>
          <a:srcRect l="12532" r="35160"/>
          <a:stretch>
            <a:fillRect/>
          </a:stretch>
        </p:blipFill>
        <p:spPr bwMode="auto">
          <a:xfrm>
            <a:off x="838200" y="1752600"/>
            <a:ext cx="7543800" cy="48006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Reuse variable components to build application systems</a:t>
            </a:r>
            <a:endParaRPr lang="en-US" sz="2800" dirty="0"/>
          </a:p>
        </p:txBody>
      </p:sp>
      <p:pic>
        <p:nvPicPr>
          <p:cNvPr id="13314" name="Picture 2" descr="C:\Users\saurabh\Desktop\jitu\4.19.JPG"/>
          <p:cNvPicPr>
            <a:picLocks noChangeAspect="1" noChangeArrowheads="1"/>
          </p:cNvPicPr>
          <p:nvPr/>
        </p:nvPicPr>
        <p:blipFill>
          <a:blip r:embed="rId2" cstate="print"/>
          <a:srcRect l="990" t="709" r="8911" b="5559"/>
          <a:stretch>
            <a:fillRect/>
          </a:stretch>
        </p:blipFill>
        <p:spPr bwMode="auto">
          <a:xfrm>
            <a:off x="914400" y="1524000"/>
            <a:ext cx="7696200" cy="51054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Reuse variable components to build application systems</a:t>
            </a:r>
            <a:endParaRPr lang="en-US" sz="2800" dirty="0"/>
          </a:p>
        </p:txBody>
      </p:sp>
      <p:pic>
        <p:nvPicPr>
          <p:cNvPr id="14338" name="Picture 2" descr="C:\Users\saurabh\Desktop\jitu\4.2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600200"/>
            <a:ext cx="7086600" cy="50292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Reuse variable components to build application systems</a:t>
            </a:r>
            <a:endParaRPr lang="en-US" sz="2800" dirty="0"/>
          </a:p>
        </p:txBody>
      </p:sp>
      <p:pic>
        <p:nvPicPr>
          <p:cNvPr id="15362" name="Picture 2" descr="C:\Users\saurabh\Desktop\jitu\4.2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524000"/>
            <a:ext cx="6690963" cy="4957762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Package and document component systems for reuse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76400"/>
            <a:ext cx="8534400" cy="4800600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 smtClean="0">
                <a:solidFill>
                  <a:prstClr val="black"/>
                </a:solidFill>
              </a:rPr>
              <a:t>Package and document a component system in terms of its exported components, variants and facades.</a:t>
            </a:r>
          </a:p>
          <a:p>
            <a:pPr lvl="0" algn="just">
              <a:lnSpc>
                <a:spcPct val="110000"/>
              </a:lnSpc>
            </a:pPr>
            <a:r>
              <a:rPr lang="en-US" sz="2400" dirty="0" smtClean="0">
                <a:solidFill>
                  <a:prstClr val="black"/>
                </a:solidFill>
              </a:rPr>
              <a:t>Component system and façade will be broken into pieces for configuration management</a:t>
            </a:r>
          </a:p>
          <a:p>
            <a:pPr lvl="0" algn="just">
              <a:lnSpc>
                <a:spcPct val="110000"/>
              </a:lnSpc>
            </a:pPr>
            <a:r>
              <a:rPr lang="en-US" sz="2400" dirty="0" smtClean="0">
                <a:solidFill>
                  <a:prstClr val="black"/>
                </a:solidFill>
              </a:rPr>
              <a:t>Configuration consists of particular version of configuration items</a:t>
            </a:r>
          </a:p>
          <a:p>
            <a:pPr lvl="0" algn="just">
              <a:lnSpc>
                <a:spcPct val="110000"/>
              </a:lnSpc>
            </a:pPr>
            <a:r>
              <a:rPr lang="en-US" sz="2400" dirty="0" smtClean="0">
                <a:solidFill>
                  <a:prstClr val="black"/>
                </a:solidFill>
              </a:rPr>
              <a:t>Configuration item is a segment of a model that is subject to version control</a:t>
            </a:r>
          </a:p>
          <a:p>
            <a:pPr lvl="0" algn="just">
              <a:lnSpc>
                <a:spcPct val="110000"/>
              </a:lnSpc>
            </a:pPr>
            <a:r>
              <a:rPr lang="en-US" sz="2400" dirty="0" smtClean="0">
                <a:solidFill>
                  <a:prstClr val="black"/>
                </a:solidFill>
              </a:rPr>
              <a:t>Use to support the implementation of a simple form of variability, by selecting alternate configuration item to import the alternate component for as-is reuse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Package and document component systems for reuse</a:t>
            </a:r>
            <a:endParaRPr lang="en-US" sz="2800" dirty="0"/>
          </a:p>
        </p:txBody>
      </p:sp>
      <p:pic>
        <p:nvPicPr>
          <p:cNvPr id="16386" name="Picture 2" descr="C:\Users\saurabh\Desktop\jitu\4.2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76400"/>
            <a:ext cx="8229600" cy="4953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Package and document component systems for reuse</a:t>
            </a:r>
            <a:endParaRPr lang="en-US" sz="2800" dirty="0"/>
          </a:p>
        </p:txBody>
      </p:sp>
      <p:pic>
        <p:nvPicPr>
          <p:cNvPr id="17410" name="Picture 2" descr="C:\Users\saurabh\Desktop\jitu\4.2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7663" y="1600200"/>
            <a:ext cx="8448675" cy="51816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7924800" y="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Cont…</a:t>
            </a:r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Exercises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Design an ActiveX control in VB and customize them for Wizard, generator, builders program language and add-ins.</a:t>
            </a:r>
          </a:p>
          <a:p>
            <a:r>
              <a:rPr lang="en-IN" dirty="0" smtClean="0"/>
              <a:t>Design a template in C++ to customize for various applications. Explain the variability usage in template design.</a:t>
            </a:r>
          </a:p>
          <a:p>
            <a:r>
              <a:rPr lang="en-IN" dirty="0" smtClean="0"/>
              <a:t>Using inheritance principle in C++, explain variability mechanism with example?   </a:t>
            </a:r>
          </a:p>
          <a:p>
            <a:endParaRPr lang="en-IN" dirty="0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967</TotalTime>
  <Words>1696</Words>
  <Application>Microsoft Office PowerPoint</Application>
  <PresentationFormat>On-screen Show (4:3)</PresentationFormat>
  <Paragraphs>187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Median</vt:lpstr>
      <vt:lpstr>Application and Component System</vt:lpstr>
      <vt:lpstr>Application developers can reuse OOSE model components</vt:lpstr>
      <vt:lpstr>Application developers can reuse OOSE model components</vt:lpstr>
      <vt:lpstr>Application developers can reuse OOSE model components</vt:lpstr>
      <vt:lpstr>Application developers can reuse OOSE model components</vt:lpstr>
      <vt:lpstr>Application families allow significant reuse</vt:lpstr>
      <vt:lpstr>Application families allow significant reuse</vt:lpstr>
      <vt:lpstr>Application systems are built from reusable components</vt:lpstr>
      <vt:lpstr>Application systems are built from reusable components</vt:lpstr>
      <vt:lpstr>Group components into component systems</vt:lpstr>
      <vt:lpstr>Group components into component systems</vt:lpstr>
      <vt:lpstr>Facades control access to component system internals</vt:lpstr>
      <vt:lpstr>Facades control access to component system internals</vt:lpstr>
      <vt:lpstr>Facades and Component System are special kinds of packages</vt:lpstr>
      <vt:lpstr>Facades and Component System are special kinds of packages</vt:lpstr>
      <vt:lpstr>Facades and Component System are special kinds of packages</vt:lpstr>
      <vt:lpstr>Component systems export component via facades</vt:lpstr>
      <vt:lpstr>Component systems export component via facades</vt:lpstr>
      <vt:lpstr>Component systems export component via facades</vt:lpstr>
      <vt:lpstr>Component systems export component via facades</vt:lpstr>
      <vt:lpstr>Component systems export component via facades</vt:lpstr>
      <vt:lpstr>Specialize some components before reuse</vt:lpstr>
      <vt:lpstr>Variability occurs at variation points</vt:lpstr>
      <vt:lpstr>Variability occurs at variation points</vt:lpstr>
      <vt:lpstr>Use several kinds of variability mechanisms</vt:lpstr>
      <vt:lpstr>Use several kinds of variability mechanisms</vt:lpstr>
      <vt:lpstr>Use several kinds of variability mechanisms</vt:lpstr>
      <vt:lpstr>Use several kinds of variability mechanisms</vt:lpstr>
      <vt:lpstr>Use several kinds of variability mechanisms</vt:lpstr>
      <vt:lpstr>Use several kinds of variability mechanisms</vt:lpstr>
      <vt:lpstr>Reuse variable components to build application systems</vt:lpstr>
      <vt:lpstr>Reuse variable components to build application systems</vt:lpstr>
      <vt:lpstr>Reuse variable components to build application systems</vt:lpstr>
      <vt:lpstr>Reuse variable components to build application systems</vt:lpstr>
      <vt:lpstr>Reuse variable components to build application systems</vt:lpstr>
      <vt:lpstr>Package and document component systems for reuse</vt:lpstr>
      <vt:lpstr>Package and document component systems for reuse</vt:lpstr>
      <vt:lpstr>Package and document component systems for reuse</vt:lpstr>
      <vt:lpstr>Exercises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and Component System</dc:title>
  <dc:creator>saurabh</dc:creator>
  <cp:lastModifiedBy>admin</cp:lastModifiedBy>
  <cp:revision>166</cp:revision>
  <dcterms:created xsi:type="dcterms:W3CDTF">2012-03-07T00:16:59Z</dcterms:created>
  <dcterms:modified xsi:type="dcterms:W3CDTF">2018-03-07T05:25:02Z</dcterms:modified>
</cp:coreProperties>
</file>