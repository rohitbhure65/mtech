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6" r:id="rId11"/>
    <p:sldId id="267" r:id="rId12"/>
    <p:sldId id="285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7" r:id="rId27"/>
    <p:sldId id="291" r:id="rId28"/>
    <p:sldId id="290" r:id="rId29"/>
    <p:sldId id="282" r:id="rId30"/>
    <p:sldId id="288" r:id="rId31"/>
    <p:sldId id="283" r:id="rId32"/>
    <p:sldId id="289" r:id="rId33"/>
    <p:sldId id="292" r:id="rId34"/>
    <p:sldId id="286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AB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11775-F9AC-4CB1-AC37-BF651FEE41E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4BD21-3A38-47B9-A858-C08BCC11E5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4BD21-3A38-47B9-A858-C08BCC11E59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Object Oriented Software Engineering (OOSE)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7620000" cy="43434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Object–oriented software engineering is the process of systematically building software systems using objects, types and classes.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system’s structure and design are defined by its types and classes and the relationships between them.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Object-oriented software engineering is an object-oriented, graphical modeling notation that provides a clear and precise modeling language that allows us to describe an architecture and components that will ensure the development of robust, reuse-supporting systems.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task of the software engineering process is to turn an informal statement of a problem in the real world (the requirements) into a limited amount of code (the system).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Software Engineering transforms requirements into code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7848600" cy="48006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Software engineering is the process in which a team of people build software system using systematic engineering principles and techniques, such as model building, simulation, estimation and measurement.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The development of most software system involves the creation and evolution of several software </a:t>
            </a:r>
            <a:r>
              <a:rPr lang="en-US" sz="2400" dirty="0" smtClean="0">
                <a:solidFill>
                  <a:srgbClr val="0000FF"/>
                </a:solidFill>
              </a:rPr>
              <a:t>artifacts</a:t>
            </a:r>
            <a:r>
              <a:rPr lang="en-US" sz="2400" dirty="0" smtClean="0"/>
              <a:t> or </a:t>
            </a:r>
            <a:r>
              <a:rPr lang="en-US" sz="2400" dirty="0" smtClean="0">
                <a:solidFill>
                  <a:srgbClr val="0000FF"/>
                </a:solidFill>
              </a:rPr>
              <a:t>workproducts</a:t>
            </a:r>
            <a:r>
              <a:rPr lang="en-US" sz="24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These workproducts are diagrams, source code files, test files, installation scripts, design documents and user documents.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Each of these workproducts describes a different aspect of system, of interest of different member of the software engineering team, customers, or users.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Software Engineering is a team process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81342" y="1481138"/>
            <a:ext cx="7781316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Software Engineering is a team process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620000" y="2286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153400" cy="4495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Software engineering is the process of building several related models. Each model defines a specific aspect of the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These models are described using several diagrams and documents that have a prescribed format.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Each model is examined or manipulated by different </a:t>
            </a:r>
            <a:r>
              <a:rPr lang="en-US" sz="2000" dirty="0" smtClean="0">
                <a:solidFill>
                  <a:srgbClr val="0000FF"/>
                </a:solidFill>
              </a:rPr>
              <a:t>people (stakeholder) </a:t>
            </a:r>
            <a:r>
              <a:rPr lang="en-US" sz="2000" dirty="0" smtClean="0"/>
              <a:t>with different specific interests, roles or tasks.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solidFill>
                  <a:srgbClr val="0000FF"/>
                </a:solidFill>
              </a:rPr>
              <a:t>Stakeholder</a:t>
            </a:r>
          </a:p>
          <a:p>
            <a:pPr marL="1314450" lvl="1" indent="-569913" algn="just"/>
            <a:r>
              <a:rPr lang="en-US" sz="1800" dirty="0" smtClean="0"/>
              <a:t>Someone who is interested in using the system, understanding the system, placing requirements on the system, or developing some part of the system.</a:t>
            </a:r>
          </a:p>
          <a:p>
            <a:pPr marL="1314450" lvl="1" indent="-569913" algn="just"/>
            <a:r>
              <a:rPr lang="en-US" sz="1800" dirty="0" smtClean="0"/>
              <a:t>Stakeholder may be a worker within the software development organization (engineer, manager), or someone outside the organization (customer, installer, end user). </a:t>
            </a: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Software engineering is systematic model building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5800" y="1524000"/>
            <a:ext cx="7620000" cy="2286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An application system is referred to as a set of models describing the software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Each application can be specified, ordered, and paid for by customers, developed by software engineers, and installed more or less independently of other application systems.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Software engineering has five main activities:</a:t>
            </a:r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                       </a:t>
            </a:r>
          </a:p>
          <a:p>
            <a:pPr algn="just">
              <a:buNone/>
            </a:pPr>
            <a:endParaRPr lang="en-US" sz="2000" dirty="0" smtClean="0"/>
          </a:p>
          <a:p>
            <a:pPr marL="857250" lvl="1" indent="-457200" algn="just">
              <a:buNone/>
            </a:pPr>
            <a:endParaRPr lang="en-US" sz="20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Software engineering is systematic model building</a:t>
            </a:r>
            <a:endParaRPr lang="en-US" sz="2800" b="1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191000"/>
            <a:ext cx="77724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696200" y="1524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724400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None/>
            </a:pPr>
            <a:r>
              <a:rPr lang="en-US" sz="2600" b="1" dirty="0" smtClean="0">
                <a:solidFill>
                  <a:srgbClr val="0000FF"/>
                </a:solidFill>
              </a:rPr>
              <a:t>Software engineering activities</a:t>
            </a:r>
          </a:p>
          <a:p>
            <a:pPr marL="457200" indent="-457200">
              <a:buNone/>
            </a:pPr>
            <a:endParaRPr lang="en-US" sz="2200" b="1" dirty="0" smtClean="0"/>
          </a:p>
          <a:p>
            <a:pPr marL="457200" indent="-457200">
              <a:buNone/>
            </a:pPr>
            <a:r>
              <a:rPr lang="en-US" sz="2300" b="1" dirty="0" smtClean="0"/>
              <a:t>1. Requirement Capture: </a:t>
            </a:r>
            <a:r>
              <a:rPr lang="en-US" sz="2300" dirty="0" smtClean="0"/>
              <a:t>Customers and end users work with requirements capturer to specify the different use scenarios of the system.</a:t>
            </a:r>
          </a:p>
          <a:p>
            <a:pPr marL="457200" indent="-457200">
              <a:buNone/>
            </a:pPr>
            <a:endParaRPr lang="en-US" sz="2300" dirty="0" smtClean="0"/>
          </a:p>
          <a:p>
            <a:pPr marL="457200" indent="-457200">
              <a:buNone/>
            </a:pPr>
            <a:r>
              <a:rPr lang="en-US" sz="2300" b="1" dirty="0" smtClean="0"/>
              <a:t>2. Robustness Analysis: </a:t>
            </a:r>
            <a:r>
              <a:rPr lang="en-US" sz="2300" dirty="0" smtClean="0"/>
              <a:t>Analyst then develop an analysis model that helps to build a structure that is reusable and robust when faced with changing requirements. </a:t>
            </a:r>
          </a:p>
          <a:p>
            <a:pPr marL="457200" indent="-457200">
              <a:buNone/>
            </a:pPr>
            <a:endParaRPr lang="en-US" sz="2300" dirty="0" smtClean="0"/>
          </a:p>
          <a:p>
            <a:pPr marL="1139825" indent="-1035050">
              <a:buNone/>
            </a:pPr>
            <a:r>
              <a:rPr lang="en-US" sz="2300" b="1" dirty="0" smtClean="0"/>
              <a:t>3. Design: </a:t>
            </a:r>
            <a:r>
              <a:rPr lang="en-US" sz="2300" dirty="0" smtClean="0"/>
              <a:t>The designer develop the design model which express how the system  is to be implemented.</a:t>
            </a:r>
          </a:p>
          <a:p>
            <a:pPr marL="1139825" indent="-1035050">
              <a:buNone/>
            </a:pPr>
            <a:endParaRPr lang="en-US" sz="2300" dirty="0" smtClean="0"/>
          </a:p>
          <a:p>
            <a:pPr marL="1139825" indent="-1081088">
              <a:buNone/>
            </a:pPr>
            <a:r>
              <a:rPr lang="en-US" sz="2300" b="1" dirty="0" smtClean="0"/>
              <a:t>4. Implementation: </a:t>
            </a:r>
            <a:r>
              <a:rPr lang="en-US" sz="2300" dirty="0" smtClean="0"/>
              <a:t>The implementers implement this detailed design in some programming language,  filling in the remaining details to produce   the implementation model of the system. </a:t>
            </a:r>
          </a:p>
          <a:p>
            <a:pPr marL="1139825" indent="-1081088">
              <a:buNone/>
            </a:pPr>
            <a:endParaRPr lang="en-US" sz="2300" dirty="0" smtClean="0"/>
          </a:p>
          <a:p>
            <a:pPr marL="1139825" indent="-1079500">
              <a:buNone/>
            </a:pPr>
            <a:r>
              <a:rPr lang="en-US" sz="2300" b="1" dirty="0" smtClean="0"/>
              <a:t>5. Testing: </a:t>
            </a:r>
            <a:r>
              <a:rPr lang="en-US" sz="2300" dirty="0" smtClean="0"/>
              <a:t>The tasters develop a test model that describes how the resulting system should be inspected and tested, to verify that all requirements are fulfilled and that an appropriate level of quality is met.</a:t>
            </a:r>
            <a:endParaRPr lang="en-US" sz="23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Software engineering is systematic model building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696200" y="1524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5257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Each stakeholder may needs to see a different aspect of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Thus, the software development team needs to build several different, but related models.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Software engineering is the process of building models for different stakeholders</a:t>
            </a:r>
            <a:endParaRPr lang="en-US" sz="20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Software engineering is systematic model building</a:t>
            </a:r>
            <a:endParaRPr lang="en-US" sz="2800" b="1" dirty="0"/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048000"/>
            <a:ext cx="8229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620000" y="1524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5334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rgbClr val="0000FF"/>
                </a:solidFill>
              </a:rPr>
              <a:t>The incremental, iterative software engineering life cycle</a:t>
            </a:r>
          </a:p>
          <a:p>
            <a:pPr marL="974725" lvl="1" indent="-404813" algn="just">
              <a:buFont typeface="Wingdings" pitchFamily="2" charset="2"/>
              <a:buChar char="§"/>
            </a:pPr>
            <a:r>
              <a:rPr lang="en-US" sz="2000" dirty="0" smtClean="0"/>
              <a:t>System development is a cycle that starts with “Greenfield” engineering of the first version, and proceeds to deliver successive versions over time.   </a:t>
            </a:r>
          </a:p>
          <a:p>
            <a:pPr marL="974725" lvl="1" indent="-404813" algn="just">
              <a:buFont typeface="Wingdings" pitchFamily="2" charset="2"/>
              <a:buChar char="§"/>
            </a:pPr>
            <a:r>
              <a:rPr lang="en-US" sz="2000" dirty="0" smtClean="0"/>
              <a:t>Development of the first version from scratch is called </a:t>
            </a:r>
            <a:r>
              <a:rPr lang="en-US" sz="2000" i="1" dirty="0" smtClean="0"/>
              <a:t>Greenfield</a:t>
            </a:r>
            <a:r>
              <a:rPr lang="en-US" sz="2000" dirty="0" smtClean="0"/>
              <a:t> development.   </a:t>
            </a:r>
            <a:endParaRPr lang="en-US" sz="16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Software engineering is systematic model building</a:t>
            </a:r>
            <a:endParaRPr lang="en-US" sz="2800" b="1" dirty="0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276600"/>
            <a:ext cx="5488238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696200" y="1524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/>
          <a:lstStyle/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                       </a:t>
            </a:r>
          </a:p>
          <a:p>
            <a:pPr algn="just">
              <a:buNone/>
            </a:pP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Software engineering is systematic model building</a:t>
            </a:r>
            <a:endParaRPr lang="en-US" sz="28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1295400"/>
            <a:ext cx="87630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74725" marR="0" lvl="1" indent="-404813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first few increments, we plan the overall series of increments and develop the base architecture.</a:t>
            </a:r>
          </a:p>
          <a:p>
            <a:pPr marL="974725" marR="0" lvl="1" indent="-404813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dirty="0" smtClean="0"/>
          </a:p>
        </p:txBody>
      </p:sp>
      <p:pic>
        <p:nvPicPr>
          <p:cNvPr id="10" name="Content Placeholder 11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133600"/>
            <a:ext cx="7696200" cy="38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7543800" cy="4572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An object is a modeling and programming construct that effectively represents things in the real world as well as in the models of the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In the real world, objects have a state and they operate.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Object represents the abstraction in the real world.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Object unify the modeling process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Objects contain both behavior and data: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Object encapsulates data and behavior, hiding details from view outside the object.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Object is an instance of a type.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Object represented by a rectangular shape.</a:t>
            </a:r>
          </a:p>
          <a:p>
            <a:pPr lvl="1" algn="just">
              <a:buNone/>
            </a:pPr>
            <a:r>
              <a:rPr lang="en-US" sz="2000" dirty="0" smtClean="0"/>
              <a:t>      </a:t>
            </a:r>
          </a:p>
          <a:p>
            <a:pPr lvl="1" algn="just">
              <a:buNone/>
            </a:pPr>
            <a:endParaRPr lang="en-US" sz="2000" dirty="0" smtClean="0"/>
          </a:p>
          <a:p>
            <a:pPr lvl="1" algn="just">
              <a:buNone/>
            </a:pPr>
            <a:endParaRPr lang="en-US" sz="2000" dirty="0" smtClean="0"/>
          </a:p>
          <a:p>
            <a:pPr lvl="1" algn="just">
              <a:buFont typeface="Wingdings" pitchFamily="2" charset="2"/>
              <a:buChar char="§"/>
            </a:pPr>
            <a:endParaRPr lang="en-US" sz="2000" dirty="0" smtClean="0"/>
          </a:p>
          <a:p>
            <a:pPr lvl="1" algn="just">
              <a:buFont typeface="Wingdings" pitchFamily="2" charset="2"/>
              <a:buChar char="§"/>
            </a:pPr>
            <a:r>
              <a:rPr lang="en-US" sz="2000" dirty="0" err="1" smtClean="0"/>
              <a:t>MyCheck</a:t>
            </a:r>
            <a:r>
              <a:rPr lang="en-US" sz="2000" dirty="0" smtClean="0"/>
              <a:t> is instance of Account type.     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Object unify the modeling process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733800"/>
            <a:ext cx="55054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4648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Objects contain both behavior and data: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A type is a description of a set of instance that share the same operation, attributes and relationships.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A type is also shown by a bold rectangular shape with several variations.</a:t>
            </a:r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1200" dirty="0" smtClean="0"/>
          </a:p>
          <a:p>
            <a:pPr lvl="1" algn="just">
              <a:buNone/>
            </a:pPr>
            <a:endParaRPr lang="en-US" sz="20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Object unify the modeling process</a:t>
            </a:r>
            <a:endParaRPr lang="en-US" sz="2800" b="1" dirty="0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733800"/>
            <a:ext cx="6941936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Stereotypes define different kinds of types, classes and other elements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UML provide the concept of stereotype to allow the definition of new kinds of types, classes and other UML constructs </a:t>
            </a:r>
            <a:r>
              <a:rPr lang="en-US" sz="1800" dirty="0" smtClean="0"/>
              <a:t>used </a:t>
            </a:r>
            <a:r>
              <a:rPr lang="en-US" sz="1800" dirty="0" smtClean="0"/>
              <a:t>in the various models.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>
                <a:solidFill>
                  <a:srgbClr val="0000FF"/>
                </a:solidFill>
              </a:rPr>
              <a:t>Stereotype</a:t>
            </a:r>
            <a:r>
              <a:rPr lang="en-US" sz="1800" dirty="0" smtClean="0"/>
              <a:t> is a tag or symbol, used to mark the type of an object or other construct so that it can be distinguished and treated differently from other types of constructs.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 smtClean="0"/>
              <a:t>There are following three formats for showing stereotypes:</a:t>
            </a:r>
          </a:p>
          <a:p>
            <a:pPr lvl="1" algn="just">
              <a:buFont typeface="Wingdings" pitchFamily="2" charset="2"/>
              <a:buChar char="§"/>
            </a:pPr>
            <a:endParaRPr lang="en-US" sz="2000" dirty="0" smtClean="0"/>
          </a:p>
          <a:p>
            <a:pPr lvl="1" algn="just">
              <a:buFont typeface="Wingdings" pitchFamily="2" charset="2"/>
              <a:buChar char="§"/>
            </a:pPr>
            <a:endParaRPr lang="en-US" sz="2000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Object unify the modeling process</a:t>
            </a:r>
            <a:endParaRPr lang="en-US" sz="2800" b="1" dirty="0"/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267200"/>
            <a:ext cx="72801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334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Relationships connect objects: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A relationship is a semantic connection among model elements (types, classes, use cases).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Shown using solid or dashed line with one or several kinds of arrowheads, bi-direction or </a:t>
            </a:r>
            <a:r>
              <a:rPr lang="en-US" sz="2000" dirty="0" err="1" smtClean="0"/>
              <a:t>unidirection</a:t>
            </a:r>
            <a:r>
              <a:rPr lang="en-US" sz="2000" dirty="0" smtClean="0"/>
              <a:t> or Labeled or &lt;&lt;stereotype&gt;&gt; is attached to the line.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Important relationships: </a:t>
            </a:r>
            <a:r>
              <a:rPr lang="en-US" sz="2000" i="1" dirty="0" smtClean="0">
                <a:solidFill>
                  <a:srgbClr val="0000FF"/>
                </a:solidFill>
              </a:rPr>
              <a:t>generalizations, associations, dependencies</a:t>
            </a:r>
            <a:r>
              <a:rPr lang="en-US" sz="2000" dirty="0" smtClean="0">
                <a:solidFill>
                  <a:srgbClr val="0000FF"/>
                </a:solidFill>
              </a:rPr>
              <a:t>.</a:t>
            </a:r>
          </a:p>
          <a:p>
            <a:pPr lvl="1">
              <a:buNone/>
            </a:pPr>
            <a:endParaRPr lang="en-US" sz="1800" dirty="0" smtClean="0"/>
          </a:p>
          <a:p>
            <a:pPr lvl="1">
              <a:buNone/>
            </a:pPr>
            <a:endParaRPr lang="en-US" sz="1800" dirty="0" smtClean="0"/>
          </a:p>
          <a:p>
            <a:pPr lvl="1">
              <a:buNone/>
            </a:pPr>
            <a:endParaRPr lang="en-US" sz="1400" dirty="0"/>
          </a:p>
        </p:txBody>
      </p:sp>
      <p:sp>
        <p:nvSpPr>
          <p:cNvPr id="11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Object unify the modeling process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962400"/>
            <a:ext cx="75533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419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Packages and subsystems group classes, types and  other elements-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0000FF"/>
                </a:solidFill>
              </a:rPr>
              <a:t>Package</a:t>
            </a:r>
            <a:r>
              <a:rPr lang="en-US" sz="2000" dirty="0" smtClean="0"/>
              <a:t>- is a general purpose mechanism for organizing elements into groups. Packages may be nested within other packages.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0000FF"/>
                </a:solidFill>
              </a:rPr>
              <a:t>System</a:t>
            </a:r>
            <a:r>
              <a:rPr lang="en-US" sz="2000" dirty="0" smtClean="0"/>
              <a:t>- A single high-level package, with  every thing else in the system contained in it.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0000FF"/>
                </a:solidFill>
              </a:rPr>
              <a:t>Subsystem</a:t>
            </a:r>
            <a:r>
              <a:rPr lang="en-US" sz="2000" dirty="0" smtClean="0"/>
              <a:t>- is a kind of package, marked using the &lt;&lt;subsystem&gt;&gt; stereotype, used to divide the system into smaller parts. </a:t>
            </a:r>
          </a:p>
          <a:p>
            <a:pPr lvl="2" algn="just"/>
            <a:r>
              <a:rPr lang="en-US" sz="2000" dirty="0" smtClean="0"/>
              <a:t>It may contain other subsystems.</a:t>
            </a:r>
          </a:p>
          <a:p>
            <a:pPr lvl="2" algn="just"/>
            <a:r>
              <a:rPr lang="en-US" sz="2000" dirty="0" smtClean="0"/>
              <a:t>Lowest level of subsystem is called a service package.</a:t>
            </a:r>
          </a:p>
          <a:p>
            <a:pPr lvl="2">
              <a:buNone/>
            </a:pPr>
            <a:endParaRPr lang="en-US" sz="1600" dirty="0" smtClean="0"/>
          </a:p>
        </p:txBody>
      </p:sp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Object unify the modeling process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  <a:p>
            <a:pPr marL="342900" lvl="1" indent="-342900">
              <a:buNone/>
            </a:pPr>
            <a:endParaRPr lang="en-US" sz="2000" dirty="0" smtClean="0"/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Object unify the modeling process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371600"/>
            <a:ext cx="8001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0292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Use case is used for requirement analysis.</a:t>
            </a:r>
          </a:p>
          <a:p>
            <a:r>
              <a:rPr lang="en-US" sz="2000" dirty="0" smtClean="0"/>
              <a:t>It consists of actor types and use case types.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Use case: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Represent behavior of the system.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Develop according actor’s needs.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Drawn as ellipses.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Actor-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Anything that interacts with the system (exchanges data and events).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Represent particular type of user.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A user can act as several different actors.</a:t>
            </a:r>
          </a:p>
          <a:p>
            <a:pPr lvl="2">
              <a:buNone/>
            </a:pPr>
            <a:endParaRPr lang="en-US" sz="1600" dirty="0"/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use case model captures system requirements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733800"/>
            <a:ext cx="6315075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5257800"/>
            <a:ext cx="990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Use case model: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Define what the system should do.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Allow the software engineers and the customers to agree on this.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Closest to the requirement.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Drive the rest of the development work.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Starting point for the object modeling activities.</a:t>
            </a:r>
            <a:endParaRPr lang="en-US" sz="1600" dirty="0"/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use case model captures system requirements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581400"/>
            <a:ext cx="5488459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Actors model roles: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/>
              <a:t>An actor can be a human user, external hardware, or another system.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/>
              <a:t>Instances of several actors can interact with instances of a particular use case.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/>
              <a:t>Actor communicate wit the system by sending and receiving messages.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/>
              <a:t>A Private Customer and a Corporate Customer can be seen as variant of Bank Customer.</a:t>
            </a:r>
            <a:endParaRPr lang="en-US" sz="1800" dirty="0"/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use case model captures system requirements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505200"/>
            <a:ext cx="4572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Use cases generalization: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Two important use case generalization mechanisms-</a:t>
            </a:r>
          </a:p>
          <a:p>
            <a:pPr lvl="2">
              <a:buNone/>
            </a:pPr>
            <a:r>
              <a:rPr lang="en-US" sz="1600" dirty="0" smtClean="0">
                <a:solidFill>
                  <a:srgbClr val="0000FF"/>
                </a:solidFill>
              </a:rPr>
              <a:t>                           &lt;&lt;uses&gt;&gt;        &lt;&lt;extends&gt;&gt;</a:t>
            </a:r>
          </a:p>
          <a:p>
            <a:pPr marL="752475" lvl="2" indent="-242888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0000FF"/>
                </a:solidFill>
              </a:rPr>
              <a:t>&lt;&lt;uses&gt;&gt;</a:t>
            </a:r>
            <a:r>
              <a:rPr lang="en-US" sz="2000" dirty="0" smtClean="0"/>
              <a:t>  generalization from use case A to use case B indicates that A inherits B.</a:t>
            </a:r>
          </a:p>
          <a:p>
            <a:pPr marL="752475" lvl="2" indent="-242888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0000FF"/>
                </a:solidFill>
              </a:rPr>
              <a:t>&lt;&lt;extends&gt;&gt; </a:t>
            </a:r>
            <a:r>
              <a:rPr lang="en-US" sz="2000" dirty="0" smtClean="0"/>
              <a:t>from B to A indicates that an instance obeying that use case and instead begin obeying use case B.</a:t>
            </a:r>
          </a:p>
          <a:p>
            <a:pPr lvl="2" indent="-512763">
              <a:buNone/>
            </a:pPr>
            <a:endParaRPr lang="en-US" sz="1600" dirty="0" smtClean="0"/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use case model captures system requirements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886200"/>
            <a:ext cx="6934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Analysis model: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Model of the system design at a high level, ignoring the specific low-level details of the target implementation environment.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Consists of analysis types and subsystems with their relationships.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lang="en-US" sz="2800" b="1" dirty="0" smtClean="0"/>
              <a:t>analysis model shapes system architecture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200400"/>
            <a:ext cx="71628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334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Analysis object: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Represent a situation where objects are executed in an ideal system.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OOSE provides three analysis stereotypes- </a:t>
            </a:r>
            <a:r>
              <a:rPr lang="en-US" sz="1400" b="1" dirty="0" smtClean="0">
                <a:solidFill>
                  <a:srgbClr val="0000FF"/>
                </a:solidFill>
              </a:rPr>
              <a:t>&lt;&lt;</a:t>
            </a:r>
            <a:r>
              <a:rPr lang="en-US" sz="2000" b="1" dirty="0" smtClean="0">
                <a:solidFill>
                  <a:srgbClr val="0000FF"/>
                </a:solidFill>
              </a:rPr>
              <a:t>boundary</a:t>
            </a:r>
            <a:r>
              <a:rPr lang="en-US" sz="1400" b="1" dirty="0" smtClean="0">
                <a:solidFill>
                  <a:srgbClr val="0000FF"/>
                </a:solidFill>
              </a:rPr>
              <a:t>&gt;&gt;</a:t>
            </a:r>
            <a:r>
              <a:rPr lang="en-US" sz="2000" dirty="0" smtClean="0">
                <a:solidFill>
                  <a:srgbClr val="0000FF"/>
                </a:solidFill>
              </a:rPr>
              <a:t>, </a:t>
            </a:r>
            <a:r>
              <a:rPr lang="en-US" sz="1400" b="1" dirty="0" smtClean="0">
                <a:solidFill>
                  <a:srgbClr val="0000FF"/>
                </a:solidFill>
              </a:rPr>
              <a:t>&lt;&lt;</a:t>
            </a:r>
            <a:r>
              <a:rPr lang="en-US" sz="2000" b="1" dirty="0" smtClean="0">
                <a:solidFill>
                  <a:srgbClr val="0000FF"/>
                </a:solidFill>
              </a:rPr>
              <a:t>control</a:t>
            </a:r>
            <a:r>
              <a:rPr lang="en-US" sz="1400" b="1" dirty="0" smtClean="0">
                <a:solidFill>
                  <a:srgbClr val="0000FF"/>
                </a:solidFill>
              </a:rPr>
              <a:t>&gt;&gt;</a:t>
            </a:r>
            <a:r>
              <a:rPr lang="en-US" sz="2000" dirty="0" smtClean="0">
                <a:solidFill>
                  <a:srgbClr val="0000FF"/>
                </a:solidFill>
              </a:rPr>
              <a:t>, </a:t>
            </a:r>
            <a:r>
              <a:rPr lang="en-US" sz="2000" dirty="0" smtClean="0"/>
              <a:t>and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1400" b="1" dirty="0" smtClean="0">
                <a:solidFill>
                  <a:srgbClr val="0000FF"/>
                </a:solidFill>
              </a:rPr>
              <a:t>&lt;&lt;</a:t>
            </a:r>
            <a:r>
              <a:rPr lang="en-US" sz="2000" b="1" dirty="0" smtClean="0">
                <a:solidFill>
                  <a:srgbClr val="0000FF"/>
                </a:solidFill>
              </a:rPr>
              <a:t>entity</a:t>
            </a:r>
            <a:r>
              <a:rPr lang="en-US" sz="1400" b="1" dirty="0" smtClean="0">
                <a:solidFill>
                  <a:srgbClr val="0000FF"/>
                </a:solidFill>
              </a:rPr>
              <a:t>&gt;&gt;</a:t>
            </a:r>
            <a:r>
              <a:rPr lang="en-US" sz="2000" b="1" dirty="0" smtClean="0">
                <a:solidFill>
                  <a:srgbClr val="0000FF"/>
                </a:solidFill>
              </a:rPr>
              <a:t>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The</a:t>
            </a:r>
            <a:r>
              <a:rPr lang="en-US" sz="2000" b="1" dirty="0" smtClean="0"/>
              <a:t> </a:t>
            </a:r>
            <a:r>
              <a:rPr lang="en-US" sz="1400" b="1" dirty="0" smtClean="0"/>
              <a:t>&lt;&lt;</a:t>
            </a:r>
            <a:r>
              <a:rPr lang="en-US" sz="2000" b="1" dirty="0" smtClean="0"/>
              <a:t>entity</a:t>
            </a:r>
            <a:r>
              <a:rPr lang="en-US" sz="1400" b="1" dirty="0" smtClean="0"/>
              <a:t>&gt;&gt;</a:t>
            </a:r>
            <a:r>
              <a:rPr lang="en-US" sz="2000" b="1" dirty="0" smtClean="0"/>
              <a:t> objects </a:t>
            </a:r>
            <a:r>
              <a:rPr lang="en-US" sz="2000" dirty="0" smtClean="0"/>
              <a:t>is in general a long-lived object in the system.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The</a:t>
            </a:r>
            <a:r>
              <a:rPr lang="en-US" sz="2000" b="1" dirty="0" smtClean="0"/>
              <a:t> </a:t>
            </a:r>
            <a:r>
              <a:rPr lang="en-US" sz="1400" b="1" dirty="0" smtClean="0"/>
              <a:t>&lt;&lt;</a:t>
            </a:r>
            <a:r>
              <a:rPr lang="en-US" sz="2000" b="1" dirty="0" smtClean="0"/>
              <a:t>boundary</a:t>
            </a:r>
            <a:r>
              <a:rPr lang="en-US" sz="1400" b="1" dirty="0" smtClean="0"/>
              <a:t>&gt;&gt;  </a:t>
            </a:r>
            <a:r>
              <a:rPr lang="en-US" sz="2000" b="1" dirty="0" smtClean="0"/>
              <a:t>objects </a:t>
            </a:r>
            <a:r>
              <a:rPr lang="en-US" sz="1400" b="1" dirty="0" smtClean="0"/>
              <a:t> </a:t>
            </a:r>
            <a:r>
              <a:rPr lang="en-US" sz="2000" dirty="0" smtClean="0"/>
              <a:t>handles communication between the system and its surroundings.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/>
              <a:t>The</a:t>
            </a:r>
            <a:r>
              <a:rPr lang="en-US" sz="2000" b="1" dirty="0" smtClean="0"/>
              <a:t> </a:t>
            </a:r>
            <a:r>
              <a:rPr lang="en-US" sz="1400" b="1" dirty="0" smtClean="0"/>
              <a:t>&lt;&lt;</a:t>
            </a:r>
            <a:r>
              <a:rPr lang="en-US" sz="2000" b="1" dirty="0" smtClean="0"/>
              <a:t>control</a:t>
            </a:r>
            <a:r>
              <a:rPr lang="en-US" sz="1400" b="1" dirty="0" smtClean="0"/>
              <a:t>&gt;&gt;   </a:t>
            </a:r>
            <a:r>
              <a:rPr lang="en-US" sz="2000" b="1" dirty="0" smtClean="0"/>
              <a:t>objects </a:t>
            </a:r>
            <a:r>
              <a:rPr lang="en-US" sz="2000" dirty="0" smtClean="0"/>
              <a:t>performs use-case-specific behavior.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8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lang="en-US" sz="2800" b="1" dirty="0" smtClean="0">
                <a:solidFill>
                  <a:schemeClr val="tx1"/>
                </a:solidFill>
              </a:rPr>
              <a:t>analysis model shapes system architecture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4495801"/>
            <a:ext cx="686254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5257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Collaboration Diagram: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Represent how object perform the use case.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Analysis objects interact in performing the use case instances.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Each analysis object plays one or more roles in at least one use case.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0000FF"/>
                </a:solidFill>
              </a:rPr>
              <a:t>Collaboration diagram can be  drawn for each individual use case or for each group of use case.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lang="en-US" sz="2800" b="1" dirty="0" smtClean="0"/>
              <a:t>analysis model shapes system architecture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581400"/>
            <a:ext cx="680085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191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Sequence Diagram: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smtClean="0"/>
              <a:t>Shows more detailed message flow and operation details.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smtClean="0"/>
              <a:t>Commonly used with design model.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smtClean="0"/>
              <a:t>Show the details of object interactions during a use case instance.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smtClean="0"/>
              <a:t>In this diagram an object represent by a vertical column.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</p:txBody>
      </p:sp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lang="en-US" sz="2800" dirty="0" smtClean="0">
                <a:solidFill>
                  <a:schemeClr val="tx1"/>
                </a:solidFill>
              </a:rPr>
              <a:t>analysis model shapes system architecture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960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 model shapes system architecture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438400"/>
            <a:ext cx="77724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048000" y="17526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Bank customer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419600" y="18288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Cashier interface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0" y="1828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Dispenser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705600" y="21336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Withdrawal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001000" y="1905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/>
              <a:t>Account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Analysis model with three </a:t>
            </a:r>
            <a:r>
              <a:rPr lang="en-IN" sz="2800" dirty="0" err="1" smtClean="0"/>
              <a:t>susbsystems</a:t>
            </a:r>
            <a:endParaRPr lang="en-IN" sz="2800" dirty="0" smtClean="0"/>
          </a:p>
        </p:txBody>
      </p:sp>
      <p:pic>
        <p:nvPicPr>
          <p:cNvPr id="2050" name="Picture 2" descr="G:\TEACHING\Software reuse\collebrationDiagram 3.2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24001"/>
            <a:ext cx="7391400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Analysis model with three </a:t>
            </a:r>
            <a:r>
              <a:rPr lang="en-IN" sz="2800" dirty="0" err="1" smtClean="0"/>
              <a:t>susbsystems</a:t>
            </a:r>
            <a:endParaRPr lang="en-IN" sz="2800" dirty="0"/>
          </a:p>
        </p:txBody>
      </p:sp>
      <p:pic>
        <p:nvPicPr>
          <p:cNvPr id="1026" name="Picture 2" descr="G:\TEACHING\Software reuse\Analysis model 3.2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371600"/>
            <a:ext cx="7315200" cy="4648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572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Design Model: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smtClean="0"/>
              <a:t>Serves as higher-level view of source code.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smtClean="0"/>
              <a:t>Shows a blueprint of how the source code is organized.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smtClean="0"/>
              <a:t>Consists of design classes and design subsystems.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 smtClean="0"/>
              <a:t>Like analysis model, the design model is organized into subsystem, in which lower-level subsystems and design classes are grouped.</a:t>
            </a:r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lang="en-US" sz="2800" b="1" dirty="0" smtClean="0">
                <a:solidFill>
                  <a:schemeClr val="tx1"/>
                </a:solidFill>
              </a:rPr>
              <a:t>design model defines the implementation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371600"/>
            <a:ext cx="8153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design model defines the implementation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48600" y="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Cont…</a:t>
            </a:r>
            <a:endParaRPr lang="en-IN" sz="28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334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/>
              <a:t>Implementation model: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Consists of the source code, classes, and also necessary documents and annotations to make the code readable.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The most important principle is to define the interfaces explicitly, since this simplifies reuse and component-based development.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Example:- Following is part of the definition of the operations for the </a:t>
            </a:r>
            <a:r>
              <a:rPr lang="en-US" sz="2000" b="1" dirty="0" smtClean="0"/>
              <a:t>Account </a:t>
            </a:r>
            <a:r>
              <a:rPr lang="en-US" sz="2000" dirty="0" smtClean="0"/>
              <a:t>class.</a:t>
            </a:r>
          </a:p>
          <a:p>
            <a:pPr lvl="1">
              <a:buFont typeface="Wingdings" pitchFamily="2" charset="2"/>
              <a:buChar char="§"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implementation model is the code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657600"/>
            <a:ext cx="6523963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An OOSE system a set of models, packaged together, and connected with trace links</a:t>
            </a:r>
            <a:br>
              <a:rPr lang="en-US" sz="2800" dirty="0" smtClean="0"/>
            </a:br>
            <a:endParaRPr lang="en-IN" sz="2800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524000"/>
            <a:ext cx="7010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 smtClean="0"/>
              <a:t>Test model is used to confirm the validity of the other models produced during software engineering.</a:t>
            </a:r>
          </a:p>
          <a:p>
            <a:r>
              <a:rPr lang="en-IN" sz="2400" dirty="0" smtClean="0"/>
              <a:t>Test cases</a:t>
            </a:r>
          </a:p>
          <a:p>
            <a:r>
              <a:rPr lang="en-IN" sz="2400" dirty="0" smtClean="0"/>
              <a:t>Test plan</a:t>
            </a:r>
          </a:p>
          <a:p>
            <a:r>
              <a:rPr lang="en-IN" sz="2400" dirty="0" smtClean="0"/>
              <a:t>Test case execution </a:t>
            </a:r>
          </a:p>
          <a:p>
            <a:r>
              <a:rPr lang="en-IN" sz="2400" dirty="0" smtClean="0"/>
              <a:t>Test result</a:t>
            </a:r>
          </a:p>
          <a:p>
            <a:r>
              <a:rPr lang="en-IN" sz="2400" dirty="0" smtClean="0"/>
              <a:t>Inspections and reviews 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The test model validates the system </a:t>
            </a:r>
            <a:endParaRPr lang="en-IN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381000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Exercise</a:t>
            </a:r>
            <a:endParaRPr lang="en-US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1371600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pitchFamily="34" charset="0"/>
              <a:buChar char="•"/>
            </a:pPr>
            <a:r>
              <a:rPr lang="en-IN" sz="2400" dirty="0" smtClean="0"/>
              <a:t> Perform OOSE for online submission of semester fee through MP Online web portal.</a:t>
            </a:r>
          </a:p>
          <a:p>
            <a:pPr>
              <a:buFont typeface="Arial" pitchFamily="34" charset="0"/>
              <a:buChar char="•"/>
            </a:pPr>
            <a:r>
              <a:rPr lang="en-IN" sz="2400" dirty="0" smtClean="0"/>
              <a:t> Perform OOSE for Library Management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1578</TotalTime>
  <Words>1816</Words>
  <Application>Microsoft Office PowerPoint</Application>
  <PresentationFormat>On-screen Show (4:3)</PresentationFormat>
  <Paragraphs>220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Concourse</vt:lpstr>
      <vt:lpstr>Object Oriented Software Engineering (OOSE)</vt:lpstr>
      <vt:lpstr>Software Engineering transforms requirements into code</vt:lpstr>
      <vt:lpstr>Software Engineering is a team process</vt:lpstr>
      <vt:lpstr>Software Engineering is a team process</vt:lpstr>
      <vt:lpstr>Software engineering is systematic model building</vt:lpstr>
      <vt:lpstr>Software engineering is systematic model building</vt:lpstr>
      <vt:lpstr>Software engineering is systematic model building</vt:lpstr>
      <vt:lpstr>Software engineering is systematic model building</vt:lpstr>
      <vt:lpstr>Software engineering is systematic model building</vt:lpstr>
      <vt:lpstr>Software engineering is systematic model building</vt:lpstr>
      <vt:lpstr>Object unify the modeling process</vt:lpstr>
      <vt:lpstr>Object unify the modeling process</vt:lpstr>
      <vt:lpstr>Object unify the modeling process</vt:lpstr>
      <vt:lpstr>Object unify the modeling process</vt:lpstr>
      <vt:lpstr>Object unify the modeling process</vt:lpstr>
      <vt:lpstr>Object unify the modeling process</vt:lpstr>
      <vt:lpstr>Object unify the modeling process</vt:lpstr>
      <vt:lpstr>The use case model captures system requirements</vt:lpstr>
      <vt:lpstr>The use case model captures system requirements</vt:lpstr>
      <vt:lpstr>The use case model captures system requirements</vt:lpstr>
      <vt:lpstr>The use case model captures system requirements</vt:lpstr>
      <vt:lpstr>The analysis model shapes system architecture</vt:lpstr>
      <vt:lpstr>The analysis model shapes system architecture</vt:lpstr>
      <vt:lpstr>The analysis model shapes system architecture</vt:lpstr>
      <vt:lpstr>The analysis model shapes system architecture</vt:lpstr>
      <vt:lpstr>The analysis model shapes system architecture</vt:lpstr>
      <vt:lpstr>Analysis model with three susbsystems</vt:lpstr>
      <vt:lpstr>Analysis model with three susbsystems</vt:lpstr>
      <vt:lpstr>The design model defines the implementation</vt:lpstr>
      <vt:lpstr>The design model defines the implementation</vt:lpstr>
      <vt:lpstr>The implementation model is the code</vt:lpstr>
      <vt:lpstr>An OOSE system a set of models, packaged together, and connected with trace links </vt:lpstr>
      <vt:lpstr>The test model validates the system </vt:lpstr>
      <vt:lpstr>Slide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admin</cp:lastModifiedBy>
  <cp:revision>322</cp:revision>
  <dcterms:created xsi:type="dcterms:W3CDTF">2006-08-16T00:00:00Z</dcterms:created>
  <dcterms:modified xsi:type="dcterms:W3CDTF">2018-02-07T05:12:28Z</dcterms:modified>
</cp:coreProperties>
</file>