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81" r:id="rId2"/>
  </p:sldMasterIdLst>
  <p:notesMasterIdLst>
    <p:notesMasterId r:id="rId45"/>
  </p:notesMasterIdLst>
  <p:handoutMasterIdLst>
    <p:handoutMasterId r:id="rId46"/>
  </p:handoutMasterIdLst>
  <p:sldIdLst>
    <p:sldId id="256" r:id="rId3"/>
    <p:sldId id="258" r:id="rId4"/>
    <p:sldId id="259" r:id="rId5"/>
    <p:sldId id="315" r:id="rId6"/>
    <p:sldId id="316" r:id="rId7"/>
    <p:sldId id="318" r:id="rId8"/>
    <p:sldId id="320" r:id="rId9"/>
    <p:sldId id="319" r:id="rId10"/>
    <p:sldId id="317" r:id="rId11"/>
    <p:sldId id="303" r:id="rId12"/>
    <p:sldId id="304" r:id="rId13"/>
    <p:sldId id="305" r:id="rId14"/>
    <p:sldId id="312" r:id="rId15"/>
    <p:sldId id="269" r:id="rId16"/>
    <p:sldId id="280" r:id="rId17"/>
    <p:sldId id="281" r:id="rId18"/>
    <p:sldId id="282" r:id="rId19"/>
    <p:sldId id="283" r:id="rId20"/>
    <p:sldId id="284" r:id="rId21"/>
    <p:sldId id="286" r:id="rId22"/>
    <p:sldId id="285" r:id="rId23"/>
    <p:sldId id="266" r:id="rId24"/>
    <p:sldId id="314" r:id="rId25"/>
    <p:sldId id="291" r:id="rId26"/>
    <p:sldId id="292" r:id="rId27"/>
    <p:sldId id="293" r:id="rId28"/>
    <p:sldId id="294" r:id="rId29"/>
    <p:sldId id="296" r:id="rId30"/>
    <p:sldId id="297" r:id="rId31"/>
    <p:sldId id="298" r:id="rId32"/>
    <p:sldId id="299" r:id="rId33"/>
    <p:sldId id="300" r:id="rId34"/>
    <p:sldId id="321" r:id="rId35"/>
    <p:sldId id="267" r:id="rId36"/>
    <p:sldId id="268" r:id="rId37"/>
    <p:sldId id="270" r:id="rId38"/>
    <p:sldId id="310" r:id="rId39"/>
    <p:sldId id="271" r:id="rId40"/>
    <p:sldId id="264" r:id="rId41"/>
    <p:sldId id="261" r:id="rId42"/>
    <p:sldId id="263" r:id="rId43"/>
    <p:sldId id="265" r:id="rId4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DDA1B3D-22C2-4C9A-BA5A-2A80EBE58192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0F2B8E6-380B-484F-837F-DDF24A3971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86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E437BB9-8ED1-44ED-90EB-FAF5790DA148}" type="datetimeFigureOut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5CE46A3-FEAB-4758-BE24-1E5F69DAA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5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2968-0AE3-4881-88B4-E210829544A4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D5E6A-9796-42C8-BC6C-DE717FD5BAA6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DCE95-A771-477D-BA9E-58309BDE6BD6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4AAE-A5B7-4D30-BC1E-6A4553C3FAD0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D084F-B8C1-43A5-8C01-20F3CEDECF7A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4FF1-CB28-4BA8-8A5F-0E778B0EC74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BBA9-301B-44B7-A139-B2F11D6D2324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C16B-44E6-422B-BF2A-8AE7FCA219C6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8DE31-14AC-492D-85C2-36528BE645A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653B1-934C-4B74-9A9C-397CAD228A0C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8618-B08F-4297-BDEE-2DA8CB0F87B0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315D677-BA79-47C6-B165-E3B0515D5CC8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pic>
        <p:nvPicPr>
          <p:cNvPr id="11" name="Picture 10" descr="CoverOverlay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itchFamily="18" charset="0"/>
                <a:cs typeface="Times New Roman" pitchFamily="18" charset="0"/>
              </a:defRPr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 sz="2400" b="1">
                <a:latin typeface="Times New Roman" pitchFamily="18" charset="0"/>
                <a:cs typeface="Times New Roman" pitchFamily="18" charset="0"/>
              </a:defRPr>
            </a:lvl1pPr>
            <a:lvl2pPr>
              <a:defRPr sz="2000">
                <a:latin typeface="Times New Roman" pitchFamily="18" charset="0"/>
                <a:cs typeface="Times New Roman" pitchFamily="18" charset="0"/>
              </a:defRPr>
            </a:lvl2pPr>
            <a:lvl3pPr>
              <a:defRPr sz="2000">
                <a:latin typeface="Times New Roman" pitchFamily="18" charset="0"/>
                <a:cs typeface="Times New Roman" pitchFamily="18" charset="0"/>
              </a:defRPr>
            </a:lvl3pPr>
            <a:lvl4pPr>
              <a:defRPr sz="2000">
                <a:latin typeface="Times New Roman" pitchFamily="18" charset="0"/>
                <a:cs typeface="Times New Roman" pitchFamily="18" charset="0"/>
              </a:defRPr>
            </a:lvl4pPr>
            <a:lvl5pPr>
              <a:defRPr sz="2000">
                <a:latin typeface="Times New Roman" pitchFamily="18" charset="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9ABE3F-CAD5-401C-966C-39A2BC4BB542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B5D18E-E5AB-4101-8F9F-182D00C3CB42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6F3FE9-6055-4E66-91B4-53288AB1A63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5454428-C3E7-43AF-AE5F-B6A6F6CE8B0F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B3D692-C883-459F-A880-567F220D0B2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A2656E2-3037-4B1C-85DB-3A6E339CA7DC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CE12D8-C8BD-432E-9CC6-AAF58EF92F9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63402B-A926-46AC-A430-EA249D4DFB48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804062-9A08-4F6B-8CDD-2D3DCC3C9C35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C0EA65-AA56-40AA-87F9-208021B38ABF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B77E-B29A-45D4-A962-4CF033D79991}" type="datetime1">
              <a:rPr lang="en-US" smtClean="0"/>
              <a:pPr/>
              <a:t>8/2/2025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smtClean="0"/>
              <a:t>Software Reuse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D9F1A-D692-4973-8C83-3D92032FEA1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59D9F1A-D692-4973-8C83-3D92032FEA17}" type="datetime1">
              <a:rPr lang="en-US" smtClean="0"/>
              <a:pPr/>
              <a:t>8/2/2025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3DD28B1-55A9-4C2B-85B5-D92033742F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684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3.bp.blogspot.com/_6gq0IrewSHQ/Sa4Tx_2vAiI/AAAAAAAAAQY/HIrwP6BX904/s1600-h/120px-Recycle_mini.png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zennaware.com/blog/wp-content/leaves-large.pn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www.google.co.in/imgres?imgurl=http://www.iwaiter.com.au/images/photos/benefits_graph.jpg&amp;imgrefurl=http://www.iwaiter.com.au/Benefits&amp;usg=__B6JDxXDMmFBJ3WBAthy4OA_7ngc=&amp;h=390&amp;w=299&amp;sz=25&amp;hl=en&amp;start=5&amp;zoom=1&amp;tbnid=W9cSwbSSnuNiZM:&amp;tbnh=123&amp;tbnw=94&amp;ei=H1-pTerPI5HRrQfU0KGoCA&amp;prev=/search?q=benefits&amp;hl=en&amp;sa=N&amp;tbs=itp:clipart&amp;tbm=isch&amp;prmd=ivnsb&amp;itbs=1" TargetMode="Externa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www.google.co.in/imgres?imgurl=http://www.mytraffic-pro.com/clipart/images/barriers/flashing_barrier.png&amp;imgrefurl=http://www.mytraffic-pro.com/clipart/construction_barriers.html&amp;usg=__Nj2hJf4KElGIcXu6oo63_3KXmz4=&amp;h=80&amp;w=80&amp;sz=3&amp;hl=en&amp;start=5&amp;zoom=1&amp;tbnid=7-_ODtWJY-eWjM:&amp;tbnh=74&amp;tbnw=74&amp;ei=xV-pTYTpBI3irAfs44SoCA&amp;prev=/search?q=barriers&amp;hl=en&amp;sa=N&amp;tbs=itp:clipart&amp;tbm=isch&amp;prmd=ivnsb&amp;itbs=1" TargetMode="Externa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://www.google.co.in/imgres?imgurl=http://www.istockphoto.com/file_thumbview_approve/4945162/2/istockphoto_4945162-business-success-concept.jpg&amp;imgrefurl=http://www.istockphoto.com/stock-photo-4945162-business-success-concept.php&amp;usg=__AWN344LUEktrRMy2IAenbOOFpLk=&amp;h=304&amp;w=380&amp;sz=42&amp;hl=en&amp;start=14&amp;zoom=1&amp;tbnid=C6KHbS1NSq7qLM:&amp;tbnh=98&amp;tbnw=123&amp;ei=mWGpTeWmLsvOrQeXvtyoCA&amp;prev=/search?q=business+success&amp;hl=en&amp;sa=N&amp;tbs=itp:clipart&amp;tbm=isch&amp;prmd=ivnsb&amp;itbs=1" TargetMode="Externa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://www.google.co.in/imgres?imgurl=http://dailyblogma.com/wp-content/uploads/2011/04/Business-Development-and-Failure-to-Launch.jpg&amp;imgrefurl=http://dailyblogma.com/business/business-development-failure-launch/&amp;usg=__UBXjkf-6H0Mu8jhSmGOYjSTW4ok=&amp;h=612&amp;w=816&amp;sz=41&amp;hl=en&amp;start=45&amp;zoom=1&amp;tbnid=GgtlwHkeiXqOrM:&amp;tbnh=108&amp;tbnw=144&amp;ei=EWGpTei4EZGvrAfws6SoCA&amp;prev=/search?q=business+Failure&amp;start=40&amp;hl=en&amp;sa=N&amp;tbs=itp:clipart&amp;tbm=isch&amp;prmd=ivnsb&amp;itbs=1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981200"/>
            <a:ext cx="7406640" cy="1472184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Introduction to Software Reuse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71600" y="22860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What is Software Reuse?</a:t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How to get </a:t>
            </a:r>
            <a:r>
              <a:rPr lang="en-US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faster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better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cheaper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software products?</a:t>
            </a:r>
          </a:p>
          <a:p>
            <a:pPr>
              <a:buClr>
                <a:srgbClr val="C00000"/>
              </a:buClr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Solution:</a:t>
            </a:r>
          </a:p>
          <a:p>
            <a:pPr marL="859536" lvl="1" indent="-457200">
              <a:buClr>
                <a:srgbClr val="C00000"/>
              </a:buClr>
              <a:buSzPct val="75000"/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Increase effectiveness of the organization that produces the software</a:t>
            </a:r>
          </a:p>
          <a:p>
            <a:pPr marL="859536" lvl="1" indent="-457200">
              <a:buClr>
                <a:srgbClr val="C00000"/>
              </a:buClr>
              <a:buSzPct val="75000"/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Establish reuse development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324600"/>
            <a:ext cx="5334000" cy="365125"/>
          </a:xfrm>
        </p:spPr>
        <p:txBody>
          <a:bodyPr/>
          <a:lstStyle/>
          <a:p>
            <a:r>
              <a:rPr lang="en-US" sz="1050" dirty="0" smtClean="0"/>
              <a:t>@ Dr. U. </a:t>
            </a:r>
            <a:r>
              <a:rPr lang="en-US" sz="1050" dirty="0" err="1" smtClean="0"/>
              <a:t>Suman</a:t>
            </a:r>
            <a:r>
              <a:rPr lang="en-US" sz="1050" dirty="0" smtClean="0"/>
              <a:t>, SCS&amp;IT, DAVV, Indore, India 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What is Software Reuse?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C00000"/>
              </a:buClr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Building software from reusable components.</a:t>
            </a:r>
          </a:p>
          <a:p>
            <a:pPr>
              <a:buClr>
                <a:srgbClr val="C00000"/>
              </a:buClr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Components =&gt; Assets =&gt;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Workproducts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324600"/>
            <a:ext cx="5334000" cy="365125"/>
          </a:xfrm>
        </p:spPr>
        <p:txBody>
          <a:bodyPr/>
          <a:lstStyle/>
          <a:p>
            <a:r>
              <a:rPr lang="en-US" sz="1050" dirty="0" smtClean="0"/>
              <a:t>@ Dr. U. </a:t>
            </a:r>
            <a:r>
              <a:rPr lang="en-US" sz="1050" dirty="0" err="1" smtClean="0"/>
              <a:t>Suman</a:t>
            </a:r>
            <a:r>
              <a:rPr lang="en-US" sz="1050" dirty="0" smtClean="0"/>
              <a:t>, SCS&amp;IT, DAVV, Indore, India 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3250" name="Picture 2" descr="http://3.bp.blogspot.com/_6gq0IrewSHQ/Sa4Tx_2vAiI/AAAAAAAAAQY/HIrwP6BX904/s200/120px-Recycle_mini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43800" y="381000"/>
            <a:ext cx="1143000" cy="1143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Systematic Reuse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Systematic reuse is the purposeful creation, management, support and reuse of assets.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9624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Systematic Reuse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324600"/>
            <a:ext cx="4953000" cy="365125"/>
          </a:xfrm>
        </p:spPr>
        <p:txBody>
          <a:bodyPr/>
          <a:lstStyle/>
          <a:p>
            <a:r>
              <a:rPr lang="en-US" sz="1050" dirty="0" smtClean="0"/>
              <a:t>@ Dr. U. </a:t>
            </a:r>
            <a:r>
              <a:rPr lang="en-US" sz="1050" dirty="0" err="1" smtClean="0"/>
              <a:t>Suman</a:t>
            </a:r>
            <a:r>
              <a:rPr lang="en-US" sz="1050" dirty="0" smtClean="0"/>
              <a:t>, SCS&amp;IT, DAVV, Indore, India 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43200" y="1524000"/>
            <a:ext cx="4800600" cy="609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Manage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Plan, fund, prioritize, coordinate, learn</a:t>
            </a:r>
          </a:p>
          <a:p>
            <a:pPr algn="ctr"/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0" y="2514600"/>
            <a:ext cx="2514600" cy="914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Create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Engineer domain, framework, tools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9000" y="3733800"/>
            <a:ext cx="27432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Support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Certify, classify, package, distribute, advise, mai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ntain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0" y="4953000"/>
            <a:ext cx="28194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Reuse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Select, customize, assemble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rot="5400000">
            <a:off x="3163094" y="2324100"/>
            <a:ext cx="38020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5296694" y="3543300"/>
            <a:ext cx="281860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5220494" y="2932906"/>
            <a:ext cx="1600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 flipH="1" flipV="1">
            <a:off x="877094" y="4304506"/>
            <a:ext cx="2514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133600" y="3048000"/>
            <a:ext cx="6096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>
            <a:off x="2895600" y="4038600"/>
            <a:ext cx="533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 flipH="1" flipV="1">
            <a:off x="2590800" y="3733800"/>
            <a:ext cx="610394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10800000">
            <a:off x="3810794" y="5105400"/>
            <a:ext cx="76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 flipH="1" flipV="1">
            <a:off x="3543300" y="4838700"/>
            <a:ext cx="534194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7" idx="3"/>
          </p:cNvCxnSpPr>
          <p:nvPr/>
        </p:nvCxnSpPr>
        <p:spPr>
          <a:xfrm>
            <a:off x="5257800" y="2971800"/>
            <a:ext cx="534194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5400000">
            <a:off x="5410994" y="3352800"/>
            <a:ext cx="7620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172200" y="4038600"/>
            <a:ext cx="304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>
            <a:off x="6020594" y="44950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981200" y="5562600"/>
            <a:ext cx="2590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209800" y="5029200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Product requirements and/ or existing software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7391400" y="5562600"/>
            <a:ext cx="838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391400" y="5181600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Products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Domain Engg. vs. Application System Engg.</a:t>
            </a:r>
            <a:endParaRPr lang="en-US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8100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828800" y="2514600"/>
            <a:ext cx="2057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Domain engineering</a:t>
            </a:r>
            <a:endPara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43600" y="2438400"/>
            <a:ext cx="2057400" cy="914400"/>
          </a:xfrm>
          <a:prstGeom prst="ellipse">
            <a:avLst/>
          </a:prstGeom>
          <a:solidFill>
            <a:schemeClr val="bg1">
              <a:alpha val="3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Application System Engineering</a:t>
            </a:r>
            <a:endPara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6" idx="6"/>
          </p:cNvCxnSpPr>
          <p:nvPr/>
        </p:nvCxnSpPr>
        <p:spPr>
          <a:xfrm>
            <a:off x="3886200" y="2971800"/>
            <a:ext cx="1981200" cy="152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6"/>
          </p:cNvCxnSpPr>
          <p:nvPr/>
        </p:nvCxnSpPr>
        <p:spPr>
          <a:xfrm flipV="1">
            <a:off x="3886200" y="2438400"/>
            <a:ext cx="1905000" cy="533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oon 17"/>
          <p:cNvSpPr/>
          <p:nvPr/>
        </p:nvSpPr>
        <p:spPr>
          <a:xfrm rot="5552446">
            <a:off x="6675805" y="1418005"/>
            <a:ext cx="669190" cy="1981200"/>
          </a:xfrm>
          <a:prstGeom prst="moon">
            <a:avLst>
              <a:gd name="adj" fmla="val 295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371600" y="3733800"/>
            <a:ext cx="3657600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Define and scope domain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Analyze examples, needs, trends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Develop domain model and architectures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Structure commonality and variability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Engineer reusable component systems, languages and tools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57800" y="3733800"/>
            <a:ext cx="3429000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Do delta analysis and design relative to domain model and architecture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Use component system as starting point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Find, specialize, and integrate components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Exploit variability mechanisms, languages, generators….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requires changes in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Systematic reuse process has two types of organization:</a:t>
            </a:r>
          </a:p>
          <a:p>
            <a:pPr lvl="1"/>
            <a:r>
              <a:rPr lang="en-US" dirty="0" smtClean="0"/>
              <a:t>Domain engineering organization </a:t>
            </a:r>
            <a:r>
              <a:rPr lang="en-US" dirty="0" smtClean="0">
                <a:solidFill>
                  <a:srgbClr val="800000"/>
                </a:solidFill>
              </a:rPr>
              <a:t>(Creators)</a:t>
            </a:r>
          </a:p>
          <a:p>
            <a:pPr lvl="1"/>
            <a:r>
              <a:rPr lang="en-US" dirty="0" smtClean="0"/>
              <a:t>Application engineering organization </a:t>
            </a:r>
            <a:r>
              <a:rPr lang="en-US" dirty="0" smtClean="0">
                <a:solidFill>
                  <a:srgbClr val="800000"/>
                </a:solidFill>
              </a:rPr>
              <a:t>(Reusers)</a:t>
            </a:r>
          </a:p>
          <a:p>
            <a:r>
              <a:rPr lang="en-US" sz="2000" dirty="0" smtClean="0"/>
              <a:t>Creators build high quality assets that will serve the needs of </a:t>
            </a:r>
            <a:r>
              <a:rPr lang="en-US" sz="2000" dirty="0" err="1" smtClean="0"/>
              <a:t>reusers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organizational structure of reuse business evolves and introduces the use of </a:t>
            </a:r>
            <a:r>
              <a:rPr lang="en-US" sz="2000" dirty="0" smtClean="0">
                <a:solidFill>
                  <a:srgbClr val="800000"/>
                </a:solidFill>
              </a:rPr>
              <a:t>Support</a:t>
            </a:r>
            <a:r>
              <a:rPr lang="en-US" sz="2000" dirty="0" smtClean="0"/>
              <a:t> function. </a:t>
            </a:r>
          </a:p>
          <a:p>
            <a:r>
              <a:rPr lang="en-US" sz="2000" dirty="0" smtClean="0">
                <a:solidFill>
                  <a:srgbClr val="800000"/>
                </a:solidFill>
              </a:rPr>
              <a:t>Reuse management council </a:t>
            </a:r>
            <a:r>
              <a:rPr lang="en-US" sz="2000" dirty="0" smtClean="0"/>
              <a:t>play the role of senior manager in organizational structure, which includes architects and managers.</a:t>
            </a:r>
          </a:p>
          <a:p>
            <a:r>
              <a:rPr lang="en-US" sz="2000" dirty="0" smtClean="0"/>
              <a:t>Reuse management council resolves the conflicting interests.</a:t>
            </a:r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3000" y="6248400"/>
            <a:ext cx="37338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Reuse requires changes in organization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3000" y="6248400"/>
            <a:ext cx="3505200" cy="476250"/>
          </a:xfrm>
        </p:spPr>
        <p:txBody>
          <a:bodyPr/>
          <a:lstStyle/>
          <a:p>
            <a:pPr algn="ctr"/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438400" y="1981200"/>
            <a:ext cx="4495800" cy="2590800"/>
            <a:chOff x="2209800" y="2743200"/>
            <a:chExt cx="4495800" cy="2590800"/>
          </a:xfrm>
        </p:grpSpPr>
        <p:sp>
          <p:nvSpPr>
            <p:cNvPr id="21" name="Oval 20"/>
            <p:cNvSpPr/>
            <p:nvPr/>
          </p:nvSpPr>
          <p:spPr>
            <a:xfrm>
              <a:off x="5334000" y="4419600"/>
              <a:ext cx="137160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Reusers </a:t>
              </a:r>
              <a:endPara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3810000" y="4419600"/>
              <a:ext cx="137160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Support</a:t>
              </a:r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209800" y="4419600"/>
              <a:ext cx="144780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Creatures </a:t>
              </a:r>
              <a:endPara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267200" y="4343400"/>
              <a:ext cx="228600" cy="228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791200" y="4343400"/>
              <a:ext cx="228600" cy="228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19400" y="4343400"/>
              <a:ext cx="228600" cy="228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</a:t>
              </a:r>
              <a:endParaRPr lang="en-US" dirty="0"/>
            </a:p>
          </p:txBody>
        </p:sp>
        <p:cxnSp>
          <p:nvCxnSpPr>
            <p:cNvPr id="41" name="Straight Connector 40"/>
            <p:cNvCxnSpPr>
              <a:stCxn id="12" idx="0"/>
            </p:cNvCxnSpPr>
            <p:nvPr/>
          </p:nvCxnSpPr>
          <p:spPr>
            <a:xfrm rot="5400000" flipH="1" flipV="1">
              <a:off x="3962400" y="3924300"/>
              <a:ext cx="838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Elbow Connector 106"/>
            <p:cNvCxnSpPr>
              <a:stCxn id="16" idx="0"/>
              <a:endCxn id="15" idx="0"/>
            </p:cNvCxnSpPr>
            <p:nvPr/>
          </p:nvCxnSpPr>
          <p:spPr>
            <a:xfrm rot="5400000" flipH="1" flipV="1">
              <a:off x="4419600" y="2857500"/>
              <a:ext cx="1588" cy="2971800"/>
            </a:xfrm>
            <a:prstGeom prst="bentConnector3">
              <a:avLst>
                <a:gd name="adj1" fmla="val 1439546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3810000" y="2743200"/>
              <a:ext cx="1219200" cy="76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Reuse manager</a:t>
              </a:r>
              <a:endPara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581400" y="49530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 – Local manager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Incremental adoption of reuse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8862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-37306" y="3390106"/>
            <a:ext cx="3581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752600" y="5181600"/>
            <a:ext cx="5638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752600" y="48006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67000" y="43434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657600" y="4038600"/>
            <a:ext cx="76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800600" y="3733800"/>
            <a:ext cx="76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791200" y="3429000"/>
            <a:ext cx="60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781800" y="3048000"/>
            <a:ext cx="99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5400000" flipH="1" flipV="1">
            <a:off x="2286000" y="4419600"/>
            <a:ext cx="4572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3276600" y="4038600"/>
            <a:ext cx="3810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419600" y="3733800"/>
            <a:ext cx="3810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 flipH="1" flipV="1">
            <a:off x="5524500" y="3467100"/>
            <a:ext cx="3048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 flipH="1" flipV="1">
            <a:off x="6400800" y="3048000"/>
            <a:ext cx="3810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200400" y="52578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Investment, experience, time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 rot="16200000">
            <a:off x="535793" y="2664607"/>
            <a:ext cx="188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Benefits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828800" y="4876800"/>
            <a:ext cx="533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None 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667000" y="44196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Informal code reuse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581400" y="41148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Black box reuse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724400" y="3810000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Managed asset reuse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791200" y="35052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Architected reuse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705600" y="31242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Domain specific reuse-driven org.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828800" y="35814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Reduced development cost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895600" y="3276600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Reduced maintenance cost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038600" y="29718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Broader coverage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105400" y="259080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Interoperability,</a:t>
            </a:r>
          </a:p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High reuse level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477000" y="19050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Rapid custom product development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0" name="Straight Arrow Connector 109"/>
          <p:cNvCxnSpPr/>
          <p:nvPr/>
        </p:nvCxnSpPr>
        <p:spPr>
          <a:xfrm flipV="1">
            <a:off x="2209800" y="1981200"/>
            <a:ext cx="4114800" cy="144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 rot="20521852">
            <a:off x="2063820" y="2234945"/>
            <a:ext cx="3688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Improved time to market, cost, quality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Components provide a service without regard to where the component is executing or its programming language.</a:t>
            </a:r>
          </a:p>
          <a:p>
            <a:pPr lvl="1"/>
            <a:r>
              <a:rPr lang="en-US" dirty="0" smtClean="0"/>
              <a:t>A component is an independent executable entity that can be made up of one or more executable objects.</a:t>
            </a:r>
          </a:p>
          <a:p>
            <a:pPr lvl="1"/>
            <a:r>
              <a:rPr lang="en-US" dirty="0" smtClean="0"/>
              <a:t>The component interface is published and all interactions are through the published interface.</a:t>
            </a:r>
          </a:p>
          <a:p>
            <a:r>
              <a:rPr lang="en-US" dirty="0" smtClean="0"/>
              <a:t>Components can range in size from simple functions to entire application systems.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7338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Interfaces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40386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981200"/>
            <a:ext cx="5333999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 descr="See full size imag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228600"/>
            <a:ext cx="16002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Example: Printing services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810000" cy="476250"/>
          </a:xfrm>
        </p:spPr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1" y="1600200"/>
            <a:ext cx="6400800" cy="365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Reusable Component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Application system reuse</a:t>
            </a:r>
          </a:p>
          <a:p>
            <a:pPr lvl="1"/>
            <a:r>
              <a:rPr lang="en-US" dirty="0" smtClean="0"/>
              <a:t>The whole of an application system may be reused on a different machine which leads to software portability.</a:t>
            </a:r>
          </a:p>
          <a:p>
            <a:r>
              <a:rPr lang="en-US" dirty="0" smtClean="0"/>
              <a:t> Sub-system reuse</a:t>
            </a:r>
          </a:p>
          <a:p>
            <a:pPr lvl="1"/>
            <a:r>
              <a:rPr lang="en-US" dirty="0" smtClean="0"/>
              <a:t>Major sub-systems such as a pattern-matching system may be reused.</a:t>
            </a:r>
          </a:p>
          <a:p>
            <a:r>
              <a:rPr lang="en-US" dirty="0" smtClean="0"/>
              <a:t> Modules or object reuse</a:t>
            </a:r>
          </a:p>
          <a:p>
            <a:pPr lvl="1"/>
            <a:r>
              <a:rPr lang="en-US" dirty="0" smtClean="0"/>
              <a:t>The reusable component is a collection of functions or procedures.</a:t>
            </a:r>
          </a:p>
          <a:p>
            <a:r>
              <a:rPr lang="en-US" dirty="0" smtClean="0"/>
              <a:t> Function reuse</a:t>
            </a:r>
          </a:p>
          <a:p>
            <a:pPr lvl="1"/>
            <a:r>
              <a:rPr lang="en-US" dirty="0" smtClean="0"/>
              <a:t>The reusable component is a single function.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3528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types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248400"/>
            <a:ext cx="35052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Group 319"/>
          <p:cNvGraphicFramePr>
            <a:graphicFrameLocks noGrp="1"/>
          </p:cNvGraphicFramePr>
          <p:nvPr>
            <p:ph idx="1"/>
          </p:nvPr>
        </p:nvGraphicFramePr>
        <p:xfrm>
          <a:off x="1371599" y="1676400"/>
          <a:ext cx="7543801" cy="4525964"/>
        </p:xfrm>
        <a:graphic>
          <a:graphicData uri="http://schemas.openxmlformats.org/drawingml/2006/table">
            <a:tbl>
              <a:tblPr/>
              <a:tblGrid>
                <a:gridCol w="1371601"/>
                <a:gridCol w="990600"/>
                <a:gridCol w="1447800"/>
                <a:gridCol w="1371600"/>
                <a:gridCol w="1066800"/>
                <a:gridCol w="1295400"/>
              </a:tblGrid>
              <a:tr h="796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Reuse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Management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Domain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Scope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Modifications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Development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Scope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Reuse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Approach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Reused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Entity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 Hoc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(Informal)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Vertical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White Box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Internal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(Private)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Layered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Source 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9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Systematic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(Formal)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Horizontal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Black Box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(Verbatim)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External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(Public)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Tailored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Abstract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Level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Adaptive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(Porting)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Generative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Instance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Level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6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In-the-Small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Customization Reuse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In-the-Large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Generic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6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Carried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Reuse types: </a:t>
            </a:r>
            <a:r>
              <a:rPr lang="en-US" sz="2800" dirty="0" smtClean="0"/>
              <a:t>Reuse management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Reuse management </a:t>
            </a:r>
            <a:r>
              <a:rPr lang="en-US" b="0" dirty="0" smtClean="0"/>
              <a:t>refers to the degree to which reuse is performed systematically.</a:t>
            </a:r>
          </a:p>
          <a:p>
            <a:endParaRPr lang="en-US" b="0" dirty="0" smtClean="0"/>
          </a:p>
          <a:p>
            <a:r>
              <a:rPr lang="en-US" dirty="0" smtClean="0"/>
              <a:t>Ad Hoc reuse </a:t>
            </a:r>
            <a:r>
              <a:rPr lang="en-US" b="0" dirty="0" smtClean="0"/>
              <a:t>is the programmer derived informal reuse, usually ill-documented code used by particular programmers from their own libraries.</a:t>
            </a:r>
          </a:p>
          <a:p>
            <a:endParaRPr lang="en-US" b="0" dirty="0" smtClean="0"/>
          </a:p>
          <a:p>
            <a:r>
              <a:rPr lang="en-US" dirty="0" smtClean="0"/>
              <a:t>Systematic reuse </a:t>
            </a:r>
            <a:r>
              <a:rPr lang="en-US" b="0" dirty="0" smtClean="0"/>
              <a:t>is the process driven activity that requires common standards, procedures, and practices applied consistently across a given domain. </a:t>
            </a:r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248400"/>
            <a:ext cx="37338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Reuse types: </a:t>
            </a:r>
            <a:r>
              <a:rPr lang="en-US" sz="2800" dirty="0" smtClean="0"/>
              <a:t>Domain scope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Domain scope </a:t>
            </a:r>
            <a:r>
              <a:rPr lang="en-US" b="0" dirty="0" smtClean="0"/>
              <a:t>refers to the occurrence of reuse within a family of systems or between a family of systems. </a:t>
            </a:r>
          </a:p>
          <a:p>
            <a:endParaRPr lang="en-US" b="0" dirty="0" smtClean="0"/>
          </a:p>
          <a:p>
            <a:r>
              <a:rPr lang="en-US" dirty="0" smtClean="0"/>
              <a:t>Vertical  reuse </a:t>
            </a:r>
            <a:r>
              <a:rPr lang="en-US" b="0" dirty="0" smtClean="0"/>
              <a:t>is applicable in the functional areas or domains, which may be utilized by a family of systems with similar functionality.</a:t>
            </a:r>
          </a:p>
          <a:p>
            <a:pPr lvl="1"/>
            <a:r>
              <a:rPr lang="en-US" dirty="0" smtClean="0"/>
              <a:t>String handling functions</a:t>
            </a:r>
          </a:p>
          <a:p>
            <a:pPr lvl="1"/>
            <a:endParaRPr lang="en-US" b="0" dirty="0" smtClean="0"/>
          </a:p>
          <a:p>
            <a:r>
              <a:rPr lang="en-US" dirty="0" smtClean="0"/>
              <a:t>Horizontal reuse </a:t>
            </a:r>
            <a:r>
              <a:rPr lang="en-US" b="0" dirty="0" smtClean="0"/>
              <a:t>involves those software components that are used for a wide variety of applications </a:t>
            </a:r>
          </a:p>
          <a:p>
            <a:pPr lvl="1"/>
            <a:r>
              <a:rPr lang="en-US" b="0" dirty="0" smtClean="0"/>
              <a:t>e.g. E-mail packages, word processing program, huge library of component such as stack class, GUI functions, character handling functions, etc.</a:t>
            </a:r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248400"/>
            <a:ext cx="38862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Reuse types: </a:t>
            </a:r>
            <a:r>
              <a:rPr lang="en-US" sz="2800" dirty="0" smtClean="0">
                <a:solidFill>
                  <a:schemeClr val="tx2"/>
                </a:solidFill>
                <a:effectLst/>
              </a:rPr>
              <a:t>Reuse modifications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Reuse modification </a:t>
            </a:r>
            <a:r>
              <a:rPr lang="en-US" b="0" dirty="0" smtClean="0"/>
              <a:t>dictates the amounts of reusable components are changed within the reuse repository .</a:t>
            </a:r>
          </a:p>
          <a:p>
            <a:r>
              <a:rPr lang="en-US" dirty="0" smtClean="0"/>
              <a:t>Black box reuse: </a:t>
            </a:r>
            <a:r>
              <a:rPr lang="en-US" b="0" dirty="0" smtClean="0"/>
              <a:t>Reuse without any modification such as standardization, wrapping techniques etc. </a:t>
            </a:r>
          </a:p>
          <a:p>
            <a:r>
              <a:rPr lang="en-US" dirty="0" smtClean="0"/>
              <a:t>White box </a:t>
            </a:r>
            <a:r>
              <a:rPr lang="en-US" b="0" dirty="0" smtClean="0"/>
              <a:t>Reuse by modification and adaptation such as copy and pastes, inheritance, etc. </a:t>
            </a:r>
          </a:p>
          <a:p>
            <a:r>
              <a:rPr lang="en-US" dirty="0" smtClean="0"/>
              <a:t>Adaptive reuse </a:t>
            </a:r>
            <a:r>
              <a:rPr lang="en-US" b="0" dirty="0" smtClean="0"/>
              <a:t>uses large software structures as invariants and restricts variability to low level, isolated locations. </a:t>
            </a:r>
          </a:p>
          <a:p>
            <a:pPr lvl="1"/>
            <a:r>
              <a:rPr lang="en-US" b="0" dirty="0" smtClean="0"/>
              <a:t>For example, changing arguments to parameterized modules.    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248400"/>
            <a:ext cx="3352800" cy="476250"/>
          </a:xfrm>
        </p:spPr>
        <p:txBody>
          <a:bodyPr/>
          <a:lstStyle/>
          <a:p>
            <a:r>
              <a:rPr lang="en-US" smtClean="0"/>
              <a:t>@ Dr. U. Suman, SCS&amp;IT, DAVV, Indore, India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 fontAlgn="base">
              <a:spcAft>
                <a:spcPct val="0"/>
              </a:spcAft>
            </a:pPr>
            <a:r>
              <a:rPr lang="en-US" dirty="0" smtClean="0"/>
              <a:t>Reuse types: </a:t>
            </a:r>
            <a:r>
              <a:rPr lang="en-US" sz="2800" dirty="0" smtClean="0">
                <a:solidFill>
                  <a:schemeClr val="tx2"/>
                </a:solidFill>
                <a:effectLst/>
              </a:rPr>
              <a:t>Development scope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Development scope </a:t>
            </a:r>
            <a:r>
              <a:rPr lang="en-US" b="0" dirty="0" smtClean="0"/>
              <a:t>means that the reusable components are available either from a source external or internal to a project. </a:t>
            </a:r>
          </a:p>
          <a:p>
            <a:endParaRPr lang="en-US" sz="1200" b="0" dirty="0" smtClean="0"/>
          </a:p>
          <a:p>
            <a:r>
              <a:rPr lang="en-US" dirty="0" smtClean="0"/>
              <a:t>Internal reuse: </a:t>
            </a:r>
            <a:r>
              <a:rPr lang="en-US" b="0" dirty="0" smtClean="0"/>
              <a:t>Ratio between the number of lower level items  and the total number of lower level items (not from an external repository).</a:t>
            </a:r>
          </a:p>
          <a:p>
            <a:endParaRPr lang="en-US" sz="1200" b="0" dirty="0" smtClean="0"/>
          </a:p>
          <a:p>
            <a:r>
              <a:rPr lang="en-US" dirty="0" smtClean="0"/>
              <a:t>External reuse : </a:t>
            </a:r>
            <a:r>
              <a:rPr lang="en-US" b="0" dirty="0" smtClean="0"/>
              <a:t>Ratio between the number of lower level items from an external repository in a higher level item and the total number of lower level items in the higher level item.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248400"/>
            <a:ext cx="35814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 fontAlgn="base">
              <a:spcAft>
                <a:spcPct val="0"/>
              </a:spcAft>
            </a:pPr>
            <a:r>
              <a:rPr lang="en-US" dirty="0" smtClean="0"/>
              <a:t>Reuse types: </a:t>
            </a:r>
            <a:r>
              <a:rPr lang="en-US" sz="2800" dirty="0" smtClean="0">
                <a:solidFill>
                  <a:schemeClr val="tx2"/>
                </a:solidFill>
                <a:effectLst/>
              </a:rPr>
              <a:t>Reuse implementation approach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Layered reuse : </a:t>
            </a:r>
            <a:r>
              <a:rPr lang="en-US" sz="2000" b="0" dirty="0" smtClean="0"/>
              <a:t>Case</a:t>
            </a:r>
            <a:r>
              <a:rPr lang="en-US" sz="2000" dirty="0" smtClean="0"/>
              <a:t> </a:t>
            </a:r>
            <a:r>
              <a:rPr lang="en-US" sz="2000" b="0" dirty="0" smtClean="0"/>
              <a:t>where reusable functions or operations are viewed as abstract primitives. For example, network layered software,  etc. </a:t>
            </a:r>
          </a:p>
          <a:p>
            <a:r>
              <a:rPr lang="en-US" sz="2000" dirty="0" smtClean="0"/>
              <a:t>Tailored reuse: </a:t>
            </a:r>
            <a:r>
              <a:rPr lang="en-US" sz="2000" b="0" dirty="0" smtClean="0"/>
              <a:t>The configuration of reusable components is required to interoperate properly with the client software. </a:t>
            </a:r>
          </a:p>
          <a:p>
            <a:pPr lvl="1"/>
            <a:r>
              <a:rPr lang="en-US" dirty="0" smtClean="0"/>
              <a:t>e.g. the generic data structures that allows the client software to create stack, queue, lists, etc. </a:t>
            </a:r>
          </a:p>
          <a:p>
            <a:r>
              <a:rPr lang="en-US" sz="2000" dirty="0" smtClean="0"/>
              <a:t>Generative reuse: </a:t>
            </a:r>
            <a:r>
              <a:rPr lang="en-US" sz="2000" b="0" dirty="0" smtClean="0"/>
              <a:t>When reusable components are used as a generator program rather than being incorporated directly into the final application system. </a:t>
            </a:r>
          </a:p>
          <a:p>
            <a:pPr lvl="1"/>
            <a:r>
              <a:rPr lang="en-US" dirty="0" smtClean="0"/>
              <a:t>e.g. compilers, test case generators, fourth generation languages, parser generators, etc. </a:t>
            </a:r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248400"/>
            <a:ext cx="38862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4F271C">
                    <a:satMod val="130000"/>
                  </a:srgbClr>
                </a:solidFill>
              </a:rPr>
              <a:t>Reuse types: </a:t>
            </a:r>
            <a:r>
              <a:rPr lang="en-US" sz="2800" dirty="0" smtClean="0">
                <a:solidFill>
                  <a:srgbClr val="4F271C"/>
                </a:solidFill>
                <a:effectLst/>
              </a:rPr>
              <a:t>Reuse implementation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Reuse in-the-large: </a:t>
            </a:r>
            <a:r>
              <a:rPr lang="en-US" b="0" dirty="0" smtClean="0"/>
              <a:t>Use of large, self contained packages such as spreadsheets and operating systems. </a:t>
            </a:r>
          </a:p>
          <a:p>
            <a:endParaRPr lang="en-US" b="0" dirty="0" smtClean="0"/>
          </a:p>
          <a:p>
            <a:r>
              <a:rPr lang="en-US" dirty="0" smtClean="0"/>
              <a:t>Reuse in-the-small: </a:t>
            </a:r>
            <a:r>
              <a:rPr lang="en-US" b="0" dirty="0" smtClean="0"/>
              <a:t>Reuse of components which are dependent upon the environment of the application for full functionality. </a:t>
            </a:r>
          </a:p>
          <a:p>
            <a:endParaRPr lang="en-US" b="0" dirty="0" smtClean="0"/>
          </a:p>
          <a:p>
            <a:r>
              <a:rPr lang="en-US" dirty="0" smtClean="0"/>
              <a:t>Carry over reuse:  </a:t>
            </a:r>
            <a:r>
              <a:rPr lang="en-US" b="0" dirty="0" smtClean="0"/>
              <a:t>When one version of a software component is considered to be used as is in a subsequent version of the same system.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40386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 fontAlgn="base">
              <a:spcAft>
                <a:spcPct val="0"/>
              </a:spcAft>
            </a:pPr>
            <a:r>
              <a:rPr lang="en-US" dirty="0" smtClean="0"/>
              <a:t>Reuse types: </a:t>
            </a:r>
            <a:r>
              <a:rPr lang="en-US" sz="2800" dirty="0" smtClean="0">
                <a:solidFill>
                  <a:schemeClr val="tx2"/>
                </a:solidFill>
                <a:effectLst/>
              </a:rPr>
              <a:t>Reused entity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Reused entity </a:t>
            </a:r>
            <a:r>
              <a:rPr lang="en-US" b="0" dirty="0" smtClean="0"/>
              <a:t>is the type of reused objects used for application development. </a:t>
            </a:r>
          </a:p>
          <a:p>
            <a:r>
              <a:rPr lang="en-US" dirty="0" smtClean="0"/>
              <a:t>Source code reuse </a:t>
            </a:r>
            <a:r>
              <a:rPr lang="en-US" b="0" dirty="0" smtClean="0"/>
              <a:t>is the low level modification of an existing source to change its performance characteristics. </a:t>
            </a:r>
          </a:p>
          <a:p>
            <a:r>
              <a:rPr lang="en-US" dirty="0" smtClean="0"/>
              <a:t>Abstract reuse </a:t>
            </a:r>
            <a:r>
              <a:rPr lang="en-US" b="0" dirty="0" smtClean="0"/>
              <a:t>is the use of high level abstractions within an object oriented inheritance structure as the foundation for new ideas or additional classification schemes. </a:t>
            </a:r>
          </a:p>
          <a:p>
            <a:r>
              <a:rPr lang="en-US" dirty="0" smtClean="0"/>
              <a:t>Instance level reuse </a:t>
            </a:r>
            <a:r>
              <a:rPr lang="en-US" b="0" dirty="0" smtClean="0"/>
              <a:t>is the most common form of reuse that can be defined as simply creating an instance of an existing class. </a:t>
            </a:r>
          </a:p>
          <a:p>
            <a:r>
              <a:rPr lang="en-US" dirty="0" smtClean="0"/>
              <a:t>Customization </a:t>
            </a:r>
            <a:r>
              <a:rPr lang="en-US" b="0" dirty="0" smtClean="0"/>
              <a:t>reuse is the use of object oriented inheritance to support incremental development. </a:t>
            </a:r>
          </a:p>
          <a:p>
            <a:pPr lvl="1"/>
            <a:r>
              <a:rPr lang="en-US" dirty="0" smtClean="0"/>
              <a:t>e.g. </a:t>
            </a:r>
            <a:r>
              <a:rPr lang="en-US" b="0" dirty="0" smtClean="0"/>
              <a:t>A new application system may inherit information from an existing class, overriding certain methods and adding new behaviors. </a:t>
            </a:r>
          </a:p>
          <a:p>
            <a:r>
              <a:rPr lang="en-US" dirty="0" smtClean="0"/>
              <a:t>Generic reuse </a:t>
            </a:r>
            <a:r>
              <a:rPr lang="en-US" b="0" dirty="0" smtClean="0"/>
              <a:t>is reuse of generic packages, such as templates for packages or subprograms. 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248400"/>
            <a:ext cx="38100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Aspects of Reuse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Software development with reuse</a:t>
            </a:r>
          </a:p>
          <a:p>
            <a:pPr lvl="1"/>
            <a:r>
              <a:rPr lang="en-US" dirty="0" smtClean="0"/>
              <a:t>Developing software given a base of reusable components.</a:t>
            </a:r>
          </a:p>
          <a:p>
            <a:r>
              <a:rPr lang="en-US" dirty="0" smtClean="0"/>
              <a:t>Software development for reuse</a:t>
            </a:r>
          </a:p>
          <a:p>
            <a:pPr lvl="1"/>
            <a:r>
              <a:rPr lang="en-US" dirty="0" smtClean="0"/>
              <a:t>Design generic software components for reuse.</a:t>
            </a:r>
          </a:p>
          <a:p>
            <a:r>
              <a:rPr lang="en-US" dirty="0" smtClean="0"/>
              <a:t> Generator-based reuse</a:t>
            </a:r>
          </a:p>
          <a:p>
            <a:pPr lvl="1"/>
            <a:r>
              <a:rPr lang="en-US" dirty="0" smtClean="0"/>
              <a:t>Domain-specific reuse through application generation.</a:t>
            </a:r>
          </a:p>
          <a:p>
            <a:r>
              <a:rPr lang="en-US" dirty="0" smtClean="0"/>
              <a:t> Application system reuse</a:t>
            </a:r>
          </a:p>
          <a:p>
            <a:pPr lvl="1"/>
            <a:r>
              <a:rPr lang="en-US" dirty="0" smtClean="0"/>
              <a:t>Develop application systems that they may be readily ported from one platform to another.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4290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development with reuse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Attempts to maximize the use of existing components in a new application.</a:t>
            </a:r>
          </a:p>
          <a:p>
            <a:endParaRPr lang="en-US" sz="1200" dirty="0" smtClean="0"/>
          </a:p>
          <a:p>
            <a:r>
              <a:rPr lang="en-US" dirty="0" smtClean="0"/>
              <a:t>Fewer components need be specified, designed and coded.</a:t>
            </a:r>
          </a:p>
          <a:p>
            <a:endParaRPr lang="en-US" sz="1200" dirty="0" smtClean="0"/>
          </a:p>
          <a:p>
            <a:r>
              <a:rPr lang="en-US" dirty="0" smtClean="0"/>
              <a:t>Overall development costs and time can be reduced. </a:t>
            </a:r>
          </a:p>
          <a:p>
            <a:endParaRPr lang="en-US" sz="1200" dirty="0" smtClean="0"/>
          </a:p>
          <a:p>
            <a:r>
              <a:rPr lang="en-US" dirty="0" smtClean="0"/>
              <a:t>System reliability is increased.</a:t>
            </a:r>
          </a:p>
          <a:p>
            <a:endParaRPr lang="en-US" sz="1200" dirty="0" smtClean="0"/>
          </a:p>
          <a:p>
            <a:r>
              <a:rPr lang="en-US" dirty="0" smtClean="0"/>
              <a:t>Overall risk is reduced.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9624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development with reuse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2766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>
            <a:fillRect/>
          </a:stretch>
        </p:blipFill>
        <p:spPr bwMode="auto">
          <a:xfrm>
            <a:off x="1600200" y="2590801"/>
            <a:ext cx="6553200" cy="129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development for reuse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2766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components are not automatically reusable. They must be modified to make them usable across a range of applications.</a:t>
            </a:r>
          </a:p>
          <a:p>
            <a:r>
              <a:rPr lang="en-US" dirty="0" smtClean="0"/>
              <a:t>Software development for reuse is a development process which takes existing components and aims to generalize and document them for reuse across a range of applications.</a:t>
            </a:r>
          </a:p>
          <a:p>
            <a:r>
              <a:rPr lang="en-US" dirty="0" smtClean="0"/>
              <a:t>Reusability may be enhanced for name generalization, operation generalization, exception generalization and component certification.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Domain-specific Reuse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Components can mostly be reused in the application domain for which they were originally developed.</a:t>
            </a:r>
          </a:p>
          <a:p>
            <a:r>
              <a:rPr lang="en-US" dirty="0" smtClean="0"/>
              <a:t>Domain analysis is concerned with studying domains to discover their elementary characteristics.</a:t>
            </a:r>
          </a:p>
          <a:p>
            <a:r>
              <a:rPr lang="en-US" dirty="0" smtClean="0"/>
              <a:t>With this knowledge, components can be generalized for reuse in that domain.</a:t>
            </a:r>
          </a:p>
          <a:p>
            <a:r>
              <a:rPr lang="en-US" dirty="0" smtClean="0"/>
              <a:t>Reusable components should encapsulate a domain abstraction.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7338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Guidelines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Implement data structures as generic packages.</a:t>
            </a:r>
          </a:p>
          <a:p>
            <a:r>
              <a:rPr lang="en-US" dirty="0" smtClean="0"/>
              <a:t>Provide operations to create and assign instances.</a:t>
            </a:r>
          </a:p>
          <a:p>
            <a:r>
              <a:rPr lang="en-US" dirty="0" smtClean="0"/>
              <a:t>Provide a mechanism to indicate whether or not operations have been successful.</a:t>
            </a:r>
          </a:p>
          <a:p>
            <a:r>
              <a:rPr lang="en-US" dirty="0" smtClean="0"/>
              <a:t>Implement operations which can fail as procedures and return an error indicator as an out parameter.</a:t>
            </a:r>
          </a:p>
          <a:p>
            <a:r>
              <a:rPr lang="en-US" dirty="0" smtClean="0"/>
              <a:t>Provide an equality operation to compare structures.</a:t>
            </a:r>
          </a:p>
          <a:p>
            <a:r>
              <a:rPr lang="en-US" dirty="0" smtClean="0"/>
              <a:t>Provide an </a:t>
            </a:r>
            <a:r>
              <a:rPr lang="en-US" dirty="0" err="1" smtClean="0"/>
              <a:t>iterator</a:t>
            </a:r>
            <a:r>
              <a:rPr lang="en-US" dirty="0" smtClean="0"/>
              <a:t> which allows each element in a collection to be visited efficiently without modification to that element.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41148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and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Objects are inherently reusable because they package state and associated operations. They can be self-contained with no external dependencies.</a:t>
            </a:r>
          </a:p>
          <a:p>
            <a:r>
              <a:rPr lang="en-US" dirty="0" smtClean="0"/>
              <a:t>Inheritance means that a class inherits attributes and operations from a super-class. Essentially, these are being reused.</a:t>
            </a:r>
          </a:p>
          <a:p>
            <a:r>
              <a:rPr lang="en-US" dirty="0" smtClean="0"/>
              <a:t>Multiple inheritance allows several objects to act as a base class so attributes and operations from several sources are reused.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3000" y="6248400"/>
            <a:ext cx="34290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Generator-based reuse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 generators involve the reuse of standard patterns and algorithms.</a:t>
            </a:r>
          </a:p>
          <a:p>
            <a:r>
              <a:rPr lang="en-US" dirty="0" smtClean="0"/>
              <a:t>These are embedded in the generator and parameterized by user commands. A program is then automatically generated.</a:t>
            </a:r>
          </a:p>
          <a:p>
            <a:r>
              <a:rPr lang="en-US" dirty="0" smtClean="0"/>
              <a:t>Compilers are program generators where the </a:t>
            </a:r>
            <a:r>
              <a:rPr lang="fr-FR" dirty="0" err="1" smtClean="0"/>
              <a:t>reusable</a:t>
            </a:r>
            <a:r>
              <a:rPr lang="fr-FR" dirty="0" smtClean="0"/>
              <a:t> patterns are </a:t>
            </a:r>
            <a:r>
              <a:rPr lang="fr-FR" dirty="0" err="1" smtClean="0"/>
              <a:t>object</a:t>
            </a:r>
            <a:r>
              <a:rPr lang="fr-FR" dirty="0" smtClean="0"/>
              <a:t> code fragments </a:t>
            </a:r>
            <a:r>
              <a:rPr lang="en-US" dirty="0" smtClean="0"/>
              <a:t>corresponding to high-level language commands.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3000" y="6248400"/>
            <a:ext cx="35814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Generator-based reuse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5052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>
            <a:fillRect/>
          </a:stretch>
        </p:blipFill>
        <p:spPr bwMode="auto">
          <a:xfrm>
            <a:off x="1676400" y="2286000"/>
            <a:ext cx="601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program generator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400" b="1" dirty="0" smtClean="0"/>
              <a:t>Application generators for business data processing.</a:t>
            </a:r>
          </a:p>
          <a:p>
            <a:pPr lvl="1"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400" b="1" dirty="0" smtClean="0"/>
              <a:t>Parser and lexical analyzer generators for language processing.</a:t>
            </a:r>
          </a:p>
          <a:p>
            <a:pPr lvl="1"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400" b="1" dirty="0" smtClean="0"/>
              <a:t>Code generators in CASE tools.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8100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system reuse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1219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Portability is a special case of reuse where an entire application is reused on a different platform.</a:t>
            </a:r>
          </a:p>
          <a:p>
            <a:r>
              <a:rPr lang="en-US" dirty="0" smtClean="0"/>
              <a:t>Various API are available for reuse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41148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124200"/>
            <a:ext cx="4181475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Approaches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3000" y="6172200"/>
            <a:ext cx="32766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6" name="Picture 4" descr="18.3 ReuseLandscape.eps                                        001843C7Macintosh HD                   B8AA5F2E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209800"/>
            <a:ext cx="6934200" cy="3444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Component-based development</a:t>
            </a:r>
          </a:p>
          <a:p>
            <a:pPr lvl="1"/>
            <a:r>
              <a:rPr lang="en-GB" dirty="0" smtClean="0"/>
              <a:t>Integrating components (collections of objects)</a:t>
            </a:r>
          </a:p>
          <a:p>
            <a:r>
              <a:rPr lang="en-US" dirty="0" smtClean="0"/>
              <a:t>Design patterns</a:t>
            </a:r>
          </a:p>
          <a:p>
            <a:pPr lvl="1"/>
            <a:r>
              <a:rPr lang="en-US" dirty="0" smtClean="0"/>
              <a:t>Reusing abstract knowledge</a:t>
            </a:r>
          </a:p>
          <a:p>
            <a:r>
              <a:rPr lang="en-GB" dirty="0" smtClean="0"/>
              <a:t>Application frameworks</a:t>
            </a:r>
          </a:p>
          <a:p>
            <a:pPr lvl="1"/>
            <a:r>
              <a:rPr lang="en-GB" dirty="0" smtClean="0"/>
              <a:t>Collections of abstract and concrete classes using MVC</a:t>
            </a:r>
          </a:p>
          <a:p>
            <a:r>
              <a:rPr lang="en-GB" dirty="0" smtClean="0"/>
              <a:t>Application product lines</a:t>
            </a:r>
          </a:p>
          <a:p>
            <a:pPr lvl="1"/>
            <a:r>
              <a:rPr lang="en-GB" dirty="0" smtClean="0"/>
              <a:t>An application type is generalised around a common architecture </a:t>
            </a:r>
            <a:r>
              <a:rPr lang="en-US" dirty="0" smtClean="0"/>
              <a:t>can be adapted in different ways for different customers.</a:t>
            </a:r>
            <a:endParaRPr lang="en-GB" dirty="0" smtClean="0"/>
          </a:p>
          <a:p>
            <a:r>
              <a:rPr lang="en-US" dirty="0" smtClean="0"/>
              <a:t>Legacy system wrapping</a:t>
            </a:r>
          </a:p>
          <a:p>
            <a:pPr lvl="1"/>
            <a:r>
              <a:rPr lang="en-US" dirty="0" smtClean="0"/>
              <a:t>Wrapped legacy systems accessed using interfaces </a:t>
            </a:r>
          </a:p>
          <a:p>
            <a:r>
              <a:rPr lang="en-US" dirty="0" smtClean="0"/>
              <a:t>Service-oriented systems</a:t>
            </a:r>
          </a:p>
          <a:p>
            <a:pPr lvl="1"/>
            <a:r>
              <a:rPr lang="en-US" dirty="0" smtClean="0"/>
              <a:t>Systems are developed by linking shared services that may be externally provided.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5052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COTS integration</a:t>
            </a:r>
          </a:p>
          <a:p>
            <a:pPr lvl="1"/>
            <a:r>
              <a:rPr lang="en-GB" dirty="0" smtClean="0"/>
              <a:t>Integrating existing application systems</a:t>
            </a:r>
          </a:p>
          <a:p>
            <a:r>
              <a:rPr lang="en-GB" dirty="0" smtClean="0"/>
              <a:t>Program libraries</a:t>
            </a:r>
          </a:p>
          <a:p>
            <a:pPr lvl="1"/>
            <a:r>
              <a:rPr lang="en-GB" dirty="0" smtClean="0"/>
              <a:t>Class and function libraries</a:t>
            </a:r>
          </a:p>
          <a:p>
            <a:r>
              <a:rPr lang="en-GB" dirty="0" smtClean="0"/>
              <a:t>Configurable vertical applications</a:t>
            </a:r>
          </a:p>
          <a:p>
            <a:pPr lvl="1"/>
            <a:r>
              <a:rPr lang="en-GB" dirty="0" smtClean="0"/>
              <a:t>A generic system is designed so that it can be configured to the needs of specific system.</a:t>
            </a:r>
          </a:p>
          <a:p>
            <a:r>
              <a:rPr lang="en-GB" dirty="0" smtClean="0"/>
              <a:t>Program generators </a:t>
            </a:r>
          </a:p>
          <a:p>
            <a:pPr lvl="1"/>
            <a:r>
              <a:rPr lang="en-GB" dirty="0" smtClean="0"/>
              <a:t>Embeds knowledge of a particular types of application to generate systems or system fragments in that domain.</a:t>
            </a:r>
            <a:endParaRPr lang="en-US" dirty="0" smtClean="0"/>
          </a:p>
          <a:p>
            <a:r>
              <a:rPr lang="en-US" dirty="0" smtClean="0"/>
              <a:t>Aspect-oriented software development</a:t>
            </a:r>
          </a:p>
          <a:p>
            <a:pPr lvl="1"/>
            <a:r>
              <a:rPr lang="en-US" dirty="0" smtClean="0"/>
              <a:t>Shared components are woven into an application at different places when the program is compiled.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5052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/>
              <a:t>Reuse Technologies </a:t>
            </a:r>
            <a:br>
              <a:rPr lang="en-US" sz="36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CBD based technologies: </a:t>
            </a:r>
          </a:p>
          <a:p>
            <a:pPr lvl="1"/>
            <a:r>
              <a:rPr lang="en-US" dirty="0" smtClean="0"/>
              <a:t>COM / DCOM, OLE &amp; Active-X</a:t>
            </a:r>
          </a:p>
          <a:p>
            <a:r>
              <a:rPr lang="en-US" dirty="0" smtClean="0"/>
              <a:t>Framework based middleware technologies: </a:t>
            </a:r>
          </a:p>
          <a:p>
            <a:pPr lvl="1"/>
            <a:r>
              <a:rPr lang="en-US" dirty="0" smtClean="0"/>
              <a:t>CORBA, J2EE, .NET</a:t>
            </a:r>
          </a:p>
          <a:p>
            <a:r>
              <a:rPr lang="en-US" dirty="0" smtClean="0"/>
              <a:t>OO design technologies: </a:t>
            </a:r>
          </a:p>
          <a:p>
            <a:pPr lvl="1"/>
            <a:r>
              <a:rPr lang="en-US" dirty="0" smtClean="0"/>
              <a:t>UML,  design patterns</a:t>
            </a:r>
          </a:p>
          <a:p>
            <a:pPr lvl="1"/>
            <a:r>
              <a:rPr lang="en-US" dirty="0" smtClean="0"/>
              <a:t>OO programming languages: C++, Java, C#.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2004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Leading reuse companies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HP	- </a:t>
            </a:r>
            <a:r>
              <a:rPr lang="en-US" b="0" dirty="0" smtClean="0"/>
              <a:t>Medical, Networking, Printer, etc.</a:t>
            </a:r>
            <a:r>
              <a:rPr lang="en-US" dirty="0" smtClean="0"/>
              <a:t>	 	</a:t>
            </a:r>
          </a:p>
          <a:p>
            <a:r>
              <a:rPr lang="en-US" dirty="0" smtClean="0"/>
              <a:t>Ericsson- </a:t>
            </a:r>
            <a:r>
              <a:rPr lang="en-US" b="0" dirty="0" smtClean="0"/>
              <a:t>Telecommunication switching system</a:t>
            </a:r>
          </a:p>
          <a:p>
            <a:r>
              <a:rPr lang="en-US" dirty="0" smtClean="0"/>
              <a:t>AT&amp;T</a:t>
            </a:r>
            <a:r>
              <a:rPr lang="en-US" b="0" dirty="0" smtClean="0"/>
              <a:t>- Telephone operation system</a:t>
            </a:r>
          </a:p>
          <a:p>
            <a:r>
              <a:rPr lang="en-US" dirty="0" smtClean="0"/>
              <a:t>Microsoft- </a:t>
            </a:r>
            <a:r>
              <a:rPr lang="en-US" b="0" dirty="0" smtClean="0"/>
              <a:t>PC products</a:t>
            </a:r>
          </a:p>
          <a:p>
            <a:r>
              <a:rPr lang="en-US" dirty="0" err="1" smtClean="0"/>
              <a:t>Netron</a:t>
            </a:r>
            <a:r>
              <a:rPr lang="en-US" dirty="0" smtClean="0"/>
              <a:t>- </a:t>
            </a:r>
            <a:r>
              <a:rPr lang="en-US" b="0" dirty="0" smtClean="0"/>
              <a:t>Frame technology</a:t>
            </a:r>
          </a:p>
          <a:p>
            <a:r>
              <a:rPr lang="en-US" dirty="0" smtClean="0"/>
              <a:t>Sun Microsystems – </a:t>
            </a:r>
            <a:r>
              <a:rPr lang="en-US" b="0" dirty="0" smtClean="0"/>
              <a:t>Software systems</a:t>
            </a:r>
            <a:endParaRPr lang="en-US" b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8862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Reuse implementation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Sustaining reuse programs</a:t>
            </a:r>
          </a:p>
          <a:p>
            <a:r>
              <a:rPr lang="en-US" dirty="0" smtClean="0"/>
              <a:t>Organizational issues</a:t>
            </a:r>
          </a:p>
          <a:p>
            <a:r>
              <a:rPr lang="en-US" dirty="0" smtClean="0"/>
              <a:t>Process focus (Systematic vs. Ad-hoc)</a:t>
            </a:r>
          </a:p>
          <a:p>
            <a:r>
              <a:rPr lang="en-US" dirty="0" smtClean="0"/>
              <a:t>Component technologies</a:t>
            </a:r>
          </a:p>
          <a:p>
            <a:r>
              <a:rPr lang="en-US" dirty="0" smtClean="0"/>
              <a:t>Programming languages</a:t>
            </a:r>
          </a:p>
          <a:p>
            <a:r>
              <a:rPr lang="en-US" dirty="0" smtClean="0"/>
              <a:t>Effective reuse repository</a:t>
            </a:r>
          </a:p>
          <a:p>
            <a:r>
              <a:rPr lang="en-US" dirty="0" smtClean="0"/>
              <a:t>Architectural impact</a:t>
            </a:r>
          </a:p>
          <a:p>
            <a:r>
              <a:rPr lang="en-US" dirty="0" smtClean="0"/>
              <a:t>Domain engineering</a:t>
            </a:r>
          </a:p>
          <a:p>
            <a:r>
              <a:rPr lang="en-US" dirty="0" smtClean="0"/>
              <a:t>Reuse measurement</a:t>
            </a:r>
          </a:p>
          <a:p>
            <a:r>
              <a:rPr lang="en-US" dirty="0" smtClean="0"/>
              <a:t>Reliability and safety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3528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/>
              <a:t>Reuse benefits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Increased productivity &amp; product quality </a:t>
            </a:r>
          </a:p>
          <a:p>
            <a:pPr lvl="1"/>
            <a:r>
              <a:rPr lang="en-US" b="0" dirty="0" smtClean="0"/>
              <a:t>Components exercised in working systems</a:t>
            </a:r>
            <a:endParaRPr lang="en-US" dirty="0" smtClean="0"/>
          </a:p>
          <a:p>
            <a:r>
              <a:rPr lang="en-US" dirty="0" smtClean="0"/>
              <a:t>Reduced process risk</a:t>
            </a:r>
          </a:p>
          <a:p>
            <a:pPr lvl="1"/>
            <a:r>
              <a:rPr lang="en-US" b="0" dirty="0" smtClean="0"/>
              <a:t>Less uncertainty in development costs</a:t>
            </a:r>
          </a:p>
          <a:p>
            <a:r>
              <a:rPr lang="en-US" dirty="0" smtClean="0"/>
              <a:t> Effective use of specialists</a:t>
            </a:r>
          </a:p>
          <a:p>
            <a:pPr lvl="1"/>
            <a:r>
              <a:rPr lang="en-US" b="0" dirty="0" smtClean="0"/>
              <a:t>Reuse components instead of people</a:t>
            </a:r>
          </a:p>
          <a:p>
            <a:r>
              <a:rPr lang="en-US" dirty="0" smtClean="0"/>
              <a:t> Standards compliance</a:t>
            </a:r>
          </a:p>
          <a:p>
            <a:pPr lvl="1"/>
            <a:r>
              <a:rPr lang="en-US" dirty="0" smtClean="0"/>
              <a:t>Embed standards in reusable components</a:t>
            </a:r>
          </a:p>
          <a:p>
            <a:r>
              <a:rPr lang="en-US" dirty="0" smtClean="0"/>
              <a:t> Accelerated development</a:t>
            </a:r>
          </a:p>
          <a:p>
            <a:pPr lvl="1"/>
            <a:r>
              <a:rPr lang="en-US" b="0" dirty="0" smtClean="0"/>
              <a:t>Avoid original development and hence speed-up production </a:t>
            </a:r>
          </a:p>
          <a:p>
            <a:r>
              <a:rPr lang="en-US" dirty="0" smtClean="0"/>
              <a:t>Competitive advantages in the market </a:t>
            </a:r>
          </a:p>
          <a:p>
            <a:pPr lvl="1"/>
            <a:r>
              <a:rPr lang="en-US" dirty="0" smtClean="0"/>
              <a:t>Development with reuse shorten the schedule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305550"/>
            <a:ext cx="29718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26626" name="Picture 2" descr="http://t1.gstatic.com/images?q=tbn:ANd9GcSDtzDUzBDXdxjS_xLPlIhP8i7nYfkeb_WCgyYXRZCIsprmTWwokCCR_ME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72400" y="152401"/>
            <a:ext cx="1123950" cy="1066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Reuse barriers</a:t>
            </a: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Engineering</a:t>
            </a:r>
          </a:p>
          <a:p>
            <a:pPr lvl="1"/>
            <a:r>
              <a:rPr lang="en-GB" dirty="0" smtClean="0"/>
              <a:t>Increased maintenance costs</a:t>
            </a:r>
          </a:p>
          <a:p>
            <a:pPr lvl="1"/>
            <a:r>
              <a:rPr lang="en-GB" dirty="0" smtClean="0"/>
              <a:t>Lack of tool support</a:t>
            </a:r>
          </a:p>
          <a:p>
            <a:pPr lvl="1"/>
            <a:r>
              <a:rPr lang="en-GB" dirty="0" smtClean="0"/>
              <a:t>Not-invented-here syndrome </a:t>
            </a:r>
          </a:p>
          <a:p>
            <a:pPr lvl="1"/>
            <a:r>
              <a:rPr lang="en-GB" dirty="0" smtClean="0"/>
              <a:t>Creating and maintaining a component library</a:t>
            </a:r>
          </a:p>
          <a:p>
            <a:pPr lvl="1"/>
            <a:r>
              <a:rPr lang="en-GB" dirty="0" smtClean="0"/>
              <a:t>Finding, understanding and adapting reusable components</a:t>
            </a:r>
          </a:p>
          <a:p>
            <a:r>
              <a:rPr lang="en-US" dirty="0" smtClean="0"/>
              <a:t>Process</a:t>
            </a:r>
          </a:p>
          <a:p>
            <a:pPr lvl="1"/>
            <a:r>
              <a:rPr lang="en-US" dirty="0" smtClean="0"/>
              <a:t>Traditions software development Vs reuse based development</a:t>
            </a:r>
          </a:p>
          <a:p>
            <a:r>
              <a:rPr lang="en-US" dirty="0" smtClean="0"/>
              <a:t>Organizations</a:t>
            </a:r>
          </a:p>
          <a:p>
            <a:pPr lvl="1"/>
            <a:r>
              <a:rPr lang="en-US" dirty="0" smtClean="0"/>
              <a:t>Single project Vs set of projects in a domain</a:t>
            </a:r>
          </a:p>
          <a:p>
            <a:r>
              <a:rPr lang="en-US" dirty="0" smtClean="0"/>
              <a:t>Business</a:t>
            </a:r>
          </a:p>
          <a:p>
            <a:pPr lvl="1"/>
            <a:r>
              <a:rPr lang="en-US" dirty="0" smtClean="0"/>
              <a:t>Building, sharing or licensing reusable software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8100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25604" name="Picture 4" descr="http://t1.gstatic.com/images?q=tbn:ANd9GcRCeVb887mkP5FOT-fFHQtsIj9iRqi6FvI_Ca_-BzMpC0GxE6CbPyfTzQ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304800"/>
            <a:ext cx="1447800" cy="9334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Success factors of reuse</a:t>
            </a:r>
            <a:endParaRPr lang="en-US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790688" cy="4800600"/>
          </a:xfrm>
        </p:spPr>
        <p:txBody>
          <a:bodyPr>
            <a:noAutofit/>
          </a:bodyPr>
          <a:lstStyle/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Focus on domain analysis and adopt a product line approach.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Focus on achieving black-box reuse.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Establish reuse oriented development process and organization.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Adopt reuse in an incremental manner.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Produce large volume of software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Certify reuse components to build trust and ensure quality 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Plan reuse program over a long period of time 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Organize training for staff 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Create incentives for individuals/ engineers for doing reuse 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Developer reuse experience 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Keep track of technological development to avoid obsolesce </a:t>
            </a:r>
          </a:p>
          <a:p>
            <a:pPr lvl="1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200" dirty="0" smtClean="0"/>
              <a:t>Use reuse metrics in order to manage reuse program </a:t>
            </a:r>
            <a:endParaRPr 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4290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24580" name="Picture 4" descr="http://t2.gstatic.com/images?q=tbn:ANd9GcQzIwjItB-21zj8omNrnbkeMNRo_9me8fQLUUyRmsVuvk2_gQELuzS1rA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200" y="228600"/>
            <a:ext cx="1171575" cy="9334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Failure factors of Reuse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447800"/>
            <a:ext cx="7638288" cy="4800600"/>
          </a:xfrm>
        </p:spPr>
        <p:txBody>
          <a:bodyPr>
            <a:normAutofit/>
          </a:bodyPr>
          <a:lstStyle/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400" b="1" dirty="0" smtClean="0"/>
              <a:t>Managerial and organizational </a:t>
            </a:r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endParaRPr lang="en-US" sz="2400" b="1" dirty="0" smtClean="0"/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400" b="1" dirty="0" smtClean="0"/>
              <a:t>Economical </a:t>
            </a:r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endParaRPr lang="en-US" sz="2400" b="1" dirty="0" smtClean="0"/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400" b="1" dirty="0" smtClean="0"/>
              <a:t>Technical</a:t>
            </a:r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endParaRPr lang="en-US" sz="2400" b="1" dirty="0" smtClean="0"/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400" b="1" dirty="0" smtClean="0"/>
              <a:t>Psychological </a:t>
            </a:r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endParaRPr lang="en-US" sz="2400" b="1" dirty="0" smtClean="0"/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400" b="1" dirty="0" smtClean="0"/>
              <a:t>Political </a:t>
            </a:r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endParaRPr lang="en-US" sz="2400" b="1" dirty="0" smtClean="0"/>
          </a:p>
          <a:p>
            <a:pPr marL="800100" lvl="1" indent="-342900">
              <a:lnSpc>
                <a:spcPct val="80000"/>
              </a:lnSpc>
              <a:buClr>
                <a:srgbClr val="C00000"/>
              </a:buClr>
              <a:buFont typeface="Arial" pitchFamily="34" charset="0"/>
              <a:buChar char="•"/>
            </a:pPr>
            <a:r>
              <a:rPr lang="en-US" sz="2400" b="1" dirty="0" smtClean="0"/>
              <a:t>Legal </a:t>
            </a:r>
          </a:p>
          <a:p>
            <a:pPr marL="381000" indent="-381000">
              <a:lnSpc>
                <a:spcPct val="80000"/>
              </a:lnSpc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66800" y="6248400"/>
            <a:ext cx="3581400" cy="476250"/>
          </a:xfrm>
        </p:spPr>
        <p:txBody>
          <a:bodyPr/>
          <a:lstStyle/>
          <a:p>
            <a:r>
              <a:rPr lang="en-US" dirty="0" smtClean="0"/>
              <a:t>@ Dr. U. </a:t>
            </a:r>
            <a:r>
              <a:rPr lang="en-US" dirty="0" err="1" smtClean="0"/>
              <a:t>Suman</a:t>
            </a:r>
            <a:r>
              <a:rPr lang="en-US" dirty="0" smtClean="0"/>
              <a:t>, SCS&amp;IT, DAVV, Indore, India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23554" name="Picture 2" descr="http://t1.gstatic.com/images?q=tbn:ANd9GcRhUtikStWfcQIOGr8WgV5kIOoRT5ENXC2BWLbXq7VvXMglTHRzb7h7CUef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0" y="228600"/>
            <a:ext cx="1371600" cy="10287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Software Ontology</Template>
  <TotalTime>905</TotalTime>
  <Words>2690</Words>
  <Application>Microsoft Office PowerPoint</Application>
  <PresentationFormat>On-screen Show (4:3)</PresentationFormat>
  <Paragraphs>411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Calibri</vt:lpstr>
      <vt:lpstr>Gill Sans MT</vt:lpstr>
      <vt:lpstr>Times New Roman</vt:lpstr>
      <vt:lpstr>Verdana</vt:lpstr>
      <vt:lpstr>Wingdings</vt:lpstr>
      <vt:lpstr>Wingdings 2</vt:lpstr>
      <vt:lpstr>Custom Design</vt:lpstr>
      <vt:lpstr>Solstice</vt:lpstr>
      <vt:lpstr>Introduction to Software Reuse</vt:lpstr>
      <vt:lpstr> What is Software Reuse? </vt:lpstr>
      <vt:lpstr>What is Software Reuse?</vt:lpstr>
      <vt:lpstr>Systematic Reuse</vt:lpstr>
      <vt:lpstr>Systematic Reuse</vt:lpstr>
      <vt:lpstr>Domain Engg. vs. Application System Engg.</vt:lpstr>
      <vt:lpstr>Reuse requires changes in organization</vt:lpstr>
      <vt:lpstr>Reuse requires changes in organization</vt:lpstr>
      <vt:lpstr>Incremental adoption of reuse</vt:lpstr>
      <vt:lpstr>Software components</vt:lpstr>
      <vt:lpstr>Component Interfaces</vt:lpstr>
      <vt:lpstr>Component Example: Printing services</vt:lpstr>
      <vt:lpstr>Reusable Component Types</vt:lpstr>
      <vt:lpstr>Reuse types</vt:lpstr>
      <vt:lpstr>Reuse types: Reuse management</vt:lpstr>
      <vt:lpstr>Reuse types: Domain scope</vt:lpstr>
      <vt:lpstr>Reuse types: Reuse modifications</vt:lpstr>
      <vt:lpstr>Reuse types: Development scope</vt:lpstr>
      <vt:lpstr>Reuse types: Reuse implementation approach</vt:lpstr>
      <vt:lpstr>Reuse types: Reuse implementation approach</vt:lpstr>
      <vt:lpstr>Reuse types: Reused entity</vt:lpstr>
      <vt:lpstr>Aspects of Reuse</vt:lpstr>
      <vt:lpstr>Software development with reuse</vt:lpstr>
      <vt:lpstr>Software development with reuse</vt:lpstr>
      <vt:lpstr>Software development for reuse</vt:lpstr>
      <vt:lpstr>Domain-specific Reuse</vt:lpstr>
      <vt:lpstr>Reuse Guidelines</vt:lpstr>
      <vt:lpstr>Reuse and Inheritance</vt:lpstr>
      <vt:lpstr>Generator-based reuse</vt:lpstr>
      <vt:lpstr>Generator-based reuse</vt:lpstr>
      <vt:lpstr>Types of program generator </vt:lpstr>
      <vt:lpstr>Application system reuse</vt:lpstr>
      <vt:lpstr>Reuse Approaches</vt:lpstr>
      <vt:lpstr>Reuse Approaches</vt:lpstr>
      <vt:lpstr>Reuse Approaches</vt:lpstr>
      <vt:lpstr> Reuse Technologies  </vt:lpstr>
      <vt:lpstr>Leading reuse companies</vt:lpstr>
      <vt:lpstr>Reuse implementation issues</vt:lpstr>
      <vt:lpstr> Reuse benefits </vt:lpstr>
      <vt:lpstr>Reuse barriers</vt:lpstr>
      <vt:lpstr>Success factors of reuse</vt:lpstr>
      <vt:lpstr>Failure factors of Reuse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Suman</cp:lastModifiedBy>
  <cp:revision>245</cp:revision>
  <dcterms:created xsi:type="dcterms:W3CDTF">2006-08-16T00:00:00Z</dcterms:created>
  <dcterms:modified xsi:type="dcterms:W3CDTF">2025-08-02T09:56:39Z</dcterms:modified>
</cp:coreProperties>
</file>