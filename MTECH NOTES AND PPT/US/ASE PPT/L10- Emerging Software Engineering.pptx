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1" r:id="rId3"/>
    <p:sldId id="304" r:id="rId4"/>
    <p:sldId id="305" r:id="rId5"/>
    <p:sldId id="322" r:id="rId6"/>
    <p:sldId id="326" r:id="rId7"/>
    <p:sldId id="325" r:id="rId8"/>
    <p:sldId id="324" r:id="rId9"/>
    <p:sldId id="323" r:id="rId10"/>
    <p:sldId id="307" r:id="rId11"/>
    <p:sldId id="309" r:id="rId12"/>
    <p:sldId id="282" r:id="rId13"/>
    <p:sldId id="288" r:id="rId14"/>
    <p:sldId id="287" r:id="rId15"/>
    <p:sldId id="286" r:id="rId16"/>
    <p:sldId id="285" r:id="rId17"/>
    <p:sldId id="284" r:id="rId18"/>
    <p:sldId id="283" r:id="rId19"/>
    <p:sldId id="338" r:id="rId20"/>
    <p:sldId id="330" r:id="rId21"/>
    <p:sldId id="333" r:id="rId22"/>
    <p:sldId id="339" r:id="rId23"/>
    <p:sldId id="334" r:id="rId24"/>
    <p:sldId id="335" r:id="rId25"/>
    <p:sldId id="340" r:id="rId26"/>
    <p:sldId id="344" r:id="rId27"/>
    <p:sldId id="345" r:id="rId28"/>
    <p:sldId id="346" r:id="rId29"/>
    <p:sldId id="341" r:id="rId30"/>
    <p:sldId id="342" r:id="rId31"/>
    <p:sldId id="343" r:id="rId32"/>
    <p:sldId id="336" r:id="rId33"/>
    <p:sldId id="347" r:id="rId34"/>
    <p:sldId id="351" r:id="rId35"/>
    <p:sldId id="348" r:id="rId36"/>
    <p:sldId id="352" r:id="rId37"/>
    <p:sldId id="349" r:id="rId38"/>
    <p:sldId id="353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61" autoAdjust="0"/>
    <p:restoredTop sz="94660"/>
  </p:normalViewPr>
  <p:slideViewPr>
    <p:cSldViewPr>
      <p:cViewPr varScale="1">
        <p:scale>
          <a:sx n="113" d="100"/>
          <a:sy n="113" d="100"/>
        </p:scale>
        <p:origin x="15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124200"/>
            <a:ext cx="8229600" cy="609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4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Emerging Software Engineering </a:t>
            </a:r>
            <a:endParaRPr lang="en-IN" sz="44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590800"/>
            <a:ext cx="8229600" cy="6858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Aspect-Oriented Software Engineering</a:t>
            </a:r>
            <a:endParaRPr lang="en-IN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Aspect-Oriented Software Engineering</a:t>
            </a:r>
            <a:endParaRPr lang="en-IN" sz="32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Aspect-oriented approach is a new paradigm which supports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separation of concerns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software development.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entails partitioning a program into distinct parts called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concerns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 cohesive area of functionality.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Aspect-oriented software development (AOSD) techniques result in better implementation and have positive impact on many quality attributes such as reusability and complexity.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crosscutting concerns cut across multiple abstractions in a program.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Crosscutting concerns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aspects of a program which affect (crosscut) other concerns. These concerns often cannot be clearly distinguished from the rest of the system, both for design and implementation.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Components of Aspect Orientation</a:t>
            </a:r>
            <a:endParaRPr lang="en-IN" sz="32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143000" y="1600200"/>
            <a:ext cx="6477000" cy="4525963"/>
          </a:xfrm>
        </p:spPr>
        <p:txBody>
          <a:bodyPr>
            <a:normAutofit/>
          </a:bodyPr>
          <a:lstStyle/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Join Points</a:t>
            </a:r>
          </a:p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Pointcut</a:t>
            </a: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Advice</a:t>
            </a:r>
          </a:p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Weavers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Aspect 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Components of Aspect Orientation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Join Points </a:t>
            </a:r>
            <a:endParaRPr lang="en-IN" sz="24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aspect-oriented programming language, aspects are invoked only at well-defined points in program execution. These points are referred to as join points.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join point is considered to be a location in a code where concern crosscuts to represent aspect.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Assignment statements, method or constructor call, variable references, static and dynamic initializations are a few examples of join points.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two types of join points, namely, static join points and dynamic join points.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static join point is a location in the structure of a component program whereas a dynamic join point is a location in the execution of a component program.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Join point model is a representation of a conceptual framework which describes the different types of join points and associated restriction on their use. 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Components of Aspect Orientation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Pointcut</a:t>
            </a:r>
            <a:endParaRPr lang="en-IN" sz="24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Pointcut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 way to specify join points.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identifies specific events with which advice should be associated.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other words, it is a statement that defines join points where the associated aspect advice should be executed.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Components of Aspect Orientation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Advice</a:t>
            </a:r>
            <a:endParaRPr lang="en-IN" sz="24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method which executes conditionally on happening of an event is called advice.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Advice declaration is used to define the aspect code that runs at join points.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Advice consists 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pointcut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declaration and a body which gets executed whenever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pointcut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matches.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different types of advices are around advice, before advice, and after advice.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Around advice: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advice code is run at a join point and it can check the conditions to control the selection of advice code, it is known as around advice.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Before advice: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advice code is run before the method starts running, it is known as before advice.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After advice: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When advice code is run at the moment method returns the control, it is known as after advice.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Components of Aspect Orientation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24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 introduction is a member of a type (class), but it defines or modifies a member of another type (class).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a static crosscutting instruction that introduces changes to the classes, interfaces, and aspects of the system.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adds fields and methods to an existing class, extends an existing class with another, and implements an interface in an existing class.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Weavers</a:t>
            </a:r>
            <a:endParaRPr lang="en-IN" sz="24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Weavers are a specific kind of compilers used for aspect languages.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Weaver’s primary task is to transfer the aspect language program into OO program where the aspect code is inserted into the OO implementation modules.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Components of Aspect Orientation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Aspect </a:t>
            </a:r>
            <a:endParaRPr lang="en-IN" sz="24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aspect is similar to a class by having a type; it can extend classes and other aspects.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aspect can be abstract or concrete and have fields, methods, and types as members. 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Aspects are modular units of crosscutting implementation. 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Aspects define precisely how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behavioral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and structural crosscutting has to take place by means of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pointcuts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(specifying fix points for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behavioral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crosscutting), advice (specifying code for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behavioral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crosscutting), and introductions (specifying code for structural crosscutting). 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Just like standard UML classes, sub-aspects inherit all features from their super-aspects; they may override only ordinary Java operations and abstract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pointcuts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though.</a:t>
            </a:r>
          </a:p>
          <a:p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AspectJ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is an aspect-oriented programming language.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AspectJ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extends Java with support for two kinds of crosscutting implementation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AOSD Process</a:t>
            </a:r>
            <a:endParaRPr lang="en-IN" sz="32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678363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None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The activities of AOSD process are as follows:</a:t>
            </a:r>
          </a:p>
          <a:p>
            <a:pPr marL="857250" lvl="1" indent="-457200">
              <a:buFont typeface="+mj-lt"/>
              <a:buAutoNum type="arabicPeriod"/>
              <a:defRPr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Aspect-Oriented Requirements Engineering (AORE)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Aspect-Oriented Architecture (AOA)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Aspect-Oriented Design (AOD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Aspect-Oriented Programming (AOP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Verification of aspect-oriented programs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arenR"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AOP Benefits and Limitations</a:t>
            </a:r>
            <a:endParaRPr lang="en-IN" sz="32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4525963"/>
          </a:xfrm>
        </p:spPr>
        <p:txBody>
          <a:bodyPr/>
          <a:lstStyle/>
          <a:p>
            <a:pPr>
              <a:buFont typeface="Arial" pitchFamily="34" charset="0"/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Benefits: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Modularize implementations of crosscutting concerns.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Overcomes the problems caused by code tangling and code scattering.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Addresses each concern separately with minimal coupling.</a:t>
            </a:r>
          </a:p>
          <a:p>
            <a:pPr lvl="1">
              <a:buNone/>
            </a:pPr>
            <a:r>
              <a:rPr lang="en-IN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Limitations: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is not well tested and documented.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 limited amount of developing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09800"/>
            <a:ext cx="8229600" cy="838200"/>
          </a:xfrm>
        </p:spPr>
        <p:txBody>
          <a:bodyPr>
            <a:normAutofit/>
          </a:bodyPr>
          <a:lstStyle/>
          <a:p>
            <a:pPr marL="342900" lvl="1" indent="-342900" algn="ctr">
              <a:buNone/>
            </a:pPr>
            <a:r>
              <a:rPr lang="en-US" sz="4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Usability Engineering</a:t>
            </a:r>
            <a:endParaRPr lang="en-IN" sz="44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4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Usability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Autofit/>
          </a:bodyPr>
          <a:lstStyle/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Usability is the extent to which a product can be used by the specified users to achieve the specified goals with effectiveness, efficiency, and satisfaction in a specified context of use.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Usability is a quality attribute that assesses how easy user interfaces are to use. Usability relates to how the system interacts with the user of the system. 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Usability has the following five quality components:</a:t>
            </a:r>
          </a:p>
          <a:p>
            <a:pPr lvl="1"/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Ease of learning</a:t>
            </a:r>
          </a:p>
          <a:p>
            <a:pPr lvl="1"/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Efficiency of use</a:t>
            </a:r>
          </a:p>
          <a:p>
            <a:pPr lvl="1"/>
            <a:r>
              <a:rPr lang="en-IN" sz="2200" i="1" dirty="0" err="1" smtClean="0">
                <a:latin typeface="Times New Roman" pitchFamily="18" charset="0"/>
                <a:cs typeface="Times New Roman" pitchFamily="18" charset="0"/>
              </a:rPr>
              <a:t>Memorability</a:t>
            </a:r>
            <a:endParaRPr lang="en-IN" sz="22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Error frequency and severity</a:t>
            </a:r>
          </a:p>
          <a:p>
            <a:pPr lvl="1"/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Satisfaction</a:t>
            </a:r>
            <a:endParaRPr lang="en-IN" sz="22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Usability Engineering</a:t>
            </a:r>
            <a:r>
              <a:rPr lang="en-IN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/>
          </a:bodyPr>
          <a:lstStyle/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Usability Engineering is a discipline that provides structured methods for achieving usability in user interface design during product development. 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a methodical "engineering" approach to user interface design and evaluation, involving practical, systematic approaches to developing requirements, analyzing a usability problem, developing proposed solutions, and testing those solutions. 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Usability engineering deals with design of websites, computer portals, computer keyboard design, car dashboard design, TV remote key layouts, washing machine front panel layout, etc.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Principles of Usability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5029200"/>
          </a:xfrm>
        </p:spPr>
        <p:txBody>
          <a:bodyPr>
            <a:noAutofit/>
          </a:bodyPr>
          <a:lstStyle/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Some of the important principles of usability are as follows: </a:t>
            </a:r>
          </a:p>
          <a:p>
            <a:pPr lvl="1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Visibility: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specifies what the software looks like to the user.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Feedback: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is the response from the users.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system should send back to the user information about what action has actually been done and what result has been accomplished.</a:t>
            </a:r>
          </a:p>
          <a:p>
            <a:pPr lvl="1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Structure: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system should be designed in such a way that a user can easily control      the system. There should be proper icons and exit points.                                        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Reuse: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system should be consistent so that it can be reused in other environment.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Simplicity: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System should be simple and help users to diagnose the errors and to overcome them. 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Usability and HCI</a:t>
            </a:r>
            <a:endParaRPr lang="en-IN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4678363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Usability issues are not tolerable during system use especially in the case where we had never used the system or we often use a system, which is difficult and complex to use.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User interface (UI) design describes any kind of interface design of an interactive system and also the information design of non-interactive systems. 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Thus, user interface design is a subset of usability engineering. 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There is a difference between the visible part of the user interface (buttons, pull-down menus, checkboxes, background 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, and so forth) and the interaction part of the system. 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It is important to consider the design of interaction when designing the rest of the system, not just when designing the visible part of the user interface. 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development team must consider user interaction from the beginning of the development process.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Usability Engineering Process</a:t>
            </a:r>
            <a:endParaRPr lang="en-IN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Usability engineering is a set of activities that ideally take place throughout the life cycle of a product, with significant activities happening at the early stages before the user interface has even been designed. 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Usability engineering approaches often have the following phases in common:</a:t>
            </a:r>
          </a:p>
          <a:p>
            <a:pPr lvl="1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Requirement analysis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Conceptual model design 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Prototyping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Evaluation and refinement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Usability Methods </a:t>
            </a:r>
            <a:endParaRPr lang="en-IN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4525963"/>
          </a:xfrm>
        </p:spPr>
        <p:txBody>
          <a:bodyPr>
            <a:normAutofit/>
          </a:bodyPr>
          <a:lstStyle/>
          <a:p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User profiling</a:t>
            </a:r>
          </a:p>
          <a:p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Heuristic evaluation</a:t>
            </a:r>
          </a:p>
          <a:p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User scenarios</a:t>
            </a:r>
          </a:p>
          <a:p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Task analysis</a:t>
            </a:r>
          </a:p>
          <a:p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 Prototyping</a:t>
            </a:r>
          </a:p>
          <a:p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 Usability testing</a:t>
            </a:r>
          </a:p>
          <a:p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 Usability inspection</a:t>
            </a:r>
            <a:endParaRPr lang="en-IN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1"/>
            <a:ext cx="8229600" cy="9906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Cleanroom Software Engineering </a:t>
            </a:r>
            <a:endParaRPr lang="en-I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6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2130"/>
            <a:ext cx="8229600" cy="5138670"/>
          </a:xfrm>
        </p:spPr>
        <p:txBody>
          <a:bodyPr>
            <a:noAutofit/>
          </a:bodyPr>
          <a:lstStyle/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Cleanroom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software engineering was developed by Harlan Mills and his colleagues, at IBM Corporation’s Federal Systems Division during the early 1980s.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leanroom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software engineering is a software development process intended to produce quality and defect free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software.</a:t>
            </a: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Cleanroom is a team-oriented process that makes development more manageable and predictable because it is performed under statistical quality control.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It focuses on defect prevention rather than defect removal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This approach recommends formal models for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analyzing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designing, development, and testing of the software.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4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Characteristics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Autofit/>
          </a:bodyPr>
          <a:lstStyle/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Incremental </a:t>
            </a:r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development: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Problem is broken down into small manageable pieces, which are developed in increments that gradually increase the implemented functionality.  </a:t>
            </a: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Formal methods for specification and hierarchical design: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Cleanroom approach applies a hierarchy of box-structures method in which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of the system is represented in mathematical manner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Correctness verification: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code written by developers is verified for its correctness and defect identification with the help of team reviews and inspections.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Statistical quality control: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unit testing is done as a reliability testing by independent team with the aim to keep the system as reliable as possible, i.e., maximizes the mean time to failure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16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Cleanroom Process Model</a:t>
            </a:r>
            <a:endParaRPr lang="en-IN" sz="3200" dirty="0"/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438400" y="6019800"/>
            <a:ext cx="4089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Figure </a:t>
            </a: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15.10: Cleanroom process model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43156" y="1631884"/>
            <a:ext cx="10533597" cy="52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195069"/>
              </p:ext>
            </p:extLst>
          </p:nvPr>
        </p:nvGraphicFramePr>
        <p:xfrm>
          <a:off x="543066" y="1417638"/>
          <a:ext cx="8143734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Visio" r:id="rId3" imgW="6102743" imgH="3170406" progId="Visio.Drawing.11">
                  <p:embed/>
                </p:oleObj>
              </mc:Choice>
              <mc:Fallback>
                <p:oleObj name="Visio" r:id="rId3" imgW="6102743" imgH="3170406" progId="Visio.Drawing.11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66" y="1417638"/>
                        <a:ext cx="8143734" cy="460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968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Phases of Cleanroom Process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Autofit/>
          </a:bodyPr>
          <a:lstStyle/>
          <a:p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Function specification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defines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external system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in term of capabilities and specific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of the system. 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Usage </a:t>
            </a:r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specification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defines the use cases and their possibilities of occurrence, which is used for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testing.</a:t>
            </a: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Increment planning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 Development and certification teams together plan for incremental development.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Software reengineering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 This activity is considered when any reusable component is used in the development process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Correctness verification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 The design and functionality of the developed increment is verified by design and development team with the help of formal reviews/ inspections or mathematical verification techniques to verify the correctness of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software.</a:t>
            </a:r>
          </a:p>
        </p:txBody>
      </p:sp>
    </p:spTree>
    <p:extLst>
      <p:ext uri="{BB962C8B-B14F-4D97-AF65-F5344CB8AC3E}">
        <p14:creationId xmlns:p14="http://schemas.microsoft.com/office/powerpoint/2010/main" val="279221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Phases of Cleanroom Process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043502"/>
          </a:xfrm>
        </p:spPr>
        <p:txBody>
          <a:bodyPr>
            <a:noAutofit/>
          </a:bodyPr>
          <a:lstStyle/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Formal design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Cleanroom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approach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uses box structures specification method to specify system’s functionalities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Each box encapsulates the system at some level of detail. Each box is refined into a hierarchy using stepwise refinement, where each box has referential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transparency.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Box structures specification has three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boxes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as follows:</a:t>
            </a:r>
          </a:p>
          <a:p>
            <a:pPr lvl="1"/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Black box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It describes the externally-visible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of a system or a component that hides the implementation details of both data and process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State box: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 state box refinement of a black box that specifies state data required to achieve the black box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Clear box: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It is a procedural view of state box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that implements the functions. It may reuse existing black boxes or introduce new black boxes for subsequent refinements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43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Phases of </a:t>
            </a:r>
            <a:r>
              <a:rPr lang="en-US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Cleanroom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Process Model</a:t>
            </a:r>
            <a:b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Box Structure Specification</a:t>
            </a:r>
            <a:endParaRPr lang="en-IN" sz="2400" dirty="0"/>
          </a:p>
        </p:txBody>
      </p:sp>
      <p:sp>
        <p:nvSpPr>
          <p:cNvPr id="5" name="Rectangle 39"/>
          <p:cNvSpPr>
            <a:spLocks noChangeArrowheads="1"/>
          </p:cNvSpPr>
          <p:nvPr/>
        </p:nvSpPr>
        <p:spPr bwMode="auto">
          <a:xfrm>
            <a:off x="532541" y="1428369"/>
            <a:ext cx="12214875" cy="55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6" name="Group 1"/>
          <p:cNvGrpSpPr>
            <a:grpSpLocks noChangeAspect="1"/>
          </p:cNvGrpSpPr>
          <p:nvPr/>
        </p:nvGrpSpPr>
        <p:grpSpPr bwMode="auto">
          <a:xfrm>
            <a:off x="1011447" y="1458332"/>
            <a:ext cx="7011010" cy="4352780"/>
            <a:chOff x="2385" y="6749"/>
            <a:chExt cx="7005" cy="4651"/>
          </a:xfrm>
        </p:grpSpPr>
        <p:sp>
          <p:nvSpPr>
            <p:cNvPr id="8" name="Rectangle 37"/>
            <p:cNvSpPr>
              <a:spLocks noChangeArrowheads="1"/>
            </p:cNvSpPr>
            <p:nvPr/>
          </p:nvSpPr>
          <p:spPr bwMode="auto">
            <a:xfrm>
              <a:off x="5086" y="9750"/>
              <a:ext cx="1664" cy="1650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>
              <a:off x="5071" y="6749"/>
              <a:ext cx="1694" cy="85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AutoShape 35"/>
            <p:cNvSpPr>
              <a:spLocks noChangeShapeType="1"/>
            </p:cNvSpPr>
            <p:nvPr/>
          </p:nvSpPr>
          <p:spPr bwMode="auto">
            <a:xfrm>
              <a:off x="5071" y="6952"/>
              <a:ext cx="1694" cy="1"/>
            </a:xfrm>
            <a:prstGeom prst="straightConnector1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Rectangle 34"/>
            <p:cNvSpPr>
              <a:spLocks noChangeArrowheads="1"/>
            </p:cNvSpPr>
            <p:nvPr/>
          </p:nvSpPr>
          <p:spPr bwMode="auto">
            <a:xfrm>
              <a:off x="5071" y="7965"/>
              <a:ext cx="1679" cy="1410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33"/>
            <p:cNvSpPr>
              <a:spLocks noChangeArrowheads="1"/>
            </p:cNvSpPr>
            <p:nvPr/>
          </p:nvSpPr>
          <p:spPr bwMode="auto">
            <a:xfrm>
              <a:off x="5266" y="8804"/>
              <a:ext cx="1304" cy="46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AutoShape 32"/>
            <p:cNvSpPr>
              <a:spLocks noChangeShapeType="1"/>
            </p:cNvSpPr>
            <p:nvPr/>
          </p:nvSpPr>
          <p:spPr bwMode="auto">
            <a:xfrm>
              <a:off x="5266" y="8932"/>
              <a:ext cx="1304" cy="1"/>
            </a:xfrm>
            <a:prstGeom prst="straightConnector1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AutoShape 31"/>
            <p:cNvSpPr>
              <a:spLocks noChangeArrowheads="1"/>
            </p:cNvSpPr>
            <p:nvPr/>
          </p:nvSpPr>
          <p:spPr bwMode="auto">
            <a:xfrm>
              <a:off x="5266" y="8040"/>
              <a:ext cx="1304" cy="43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State data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AutoShape 30"/>
            <p:cNvSpPr>
              <a:spLocks noChangeShapeType="1"/>
            </p:cNvSpPr>
            <p:nvPr/>
          </p:nvSpPr>
          <p:spPr bwMode="auto">
            <a:xfrm>
              <a:off x="5843" y="8475"/>
              <a:ext cx="1" cy="3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AutoShape 29"/>
            <p:cNvSpPr>
              <a:spLocks noChangeShapeType="1"/>
            </p:cNvSpPr>
            <p:nvPr/>
          </p:nvSpPr>
          <p:spPr bwMode="auto">
            <a:xfrm>
              <a:off x="5266" y="10694"/>
              <a:ext cx="1214" cy="1"/>
            </a:xfrm>
            <a:prstGeom prst="straightConnector1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AutoShape 28"/>
            <p:cNvSpPr>
              <a:spLocks noChangeShapeType="1"/>
            </p:cNvSpPr>
            <p:nvPr/>
          </p:nvSpPr>
          <p:spPr bwMode="auto">
            <a:xfrm>
              <a:off x="5266" y="10822"/>
              <a:ext cx="1214" cy="1"/>
            </a:xfrm>
            <a:prstGeom prst="straightConnector1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AutoShape 27"/>
            <p:cNvSpPr>
              <a:spLocks noChangeShapeType="1"/>
            </p:cNvSpPr>
            <p:nvPr/>
          </p:nvSpPr>
          <p:spPr bwMode="auto">
            <a:xfrm>
              <a:off x="5266" y="10964"/>
              <a:ext cx="1214" cy="1"/>
            </a:xfrm>
            <a:prstGeom prst="straightConnector1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Text Box 26"/>
            <p:cNvSpPr txBox="1">
              <a:spLocks noChangeArrowheads="1"/>
            </p:cNvSpPr>
            <p:nvPr/>
          </p:nvSpPr>
          <p:spPr bwMode="auto">
            <a:xfrm>
              <a:off x="5985" y="10215"/>
              <a:ext cx="344" cy="479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BFBFB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+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AutoShape 25"/>
            <p:cNvSpPr>
              <a:spLocks noChangeArrowheads="1"/>
            </p:cNvSpPr>
            <p:nvPr/>
          </p:nvSpPr>
          <p:spPr bwMode="auto">
            <a:xfrm>
              <a:off x="5266" y="9825"/>
              <a:ext cx="1304" cy="43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State data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4"/>
            <p:cNvSpPr>
              <a:spLocks noChangeArrowheads="1"/>
            </p:cNvSpPr>
            <p:nvPr/>
          </p:nvSpPr>
          <p:spPr bwMode="auto">
            <a:xfrm>
              <a:off x="5266" y="10589"/>
              <a:ext cx="1214" cy="46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AutoShape 23"/>
            <p:cNvSpPr>
              <a:spLocks noChangeShapeType="1"/>
            </p:cNvSpPr>
            <p:nvPr/>
          </p:nvSpPr>
          <p:spPr bwMode="auto">
            <a:xfrm>
              <a:off x="5266" y="10693"/>
              <a:ext cx="1214" cy="1"/>
            </a:xfrm>
            <a:prstGeom prst="straightConnector1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AutoShape 22"/>
            <p:cNvSpPr>
              <a:spLocks noChangeShapeType="1"/>
            </p:cNvSpPr>
            <p:nvPr/>
          </p:nvSpPr>
          <p:spPr bwMode="auto">
            <a:xfrm>
              <a:off x="5266" y="10821"/>
              <a:ext cx="1214" cy="1"/>
            </a:xfrm>
            <a:prstGeom prst="straightConnector1">
              <a:avLst/>
            </a:prstGeom>
            <a:noFill/>
            <a:ln w="9525">
              <a:solidFill>
                <a:srgbClr val="D8D8D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AutoShape 21"/>
            <p:cNvSpPr>
              <a:spLocks noChangeShapeType="1"/>
            </p:cNvSpPr>
            <p:nvPr/>
          </p:nvSpPr>
          <p:spPr bwMode="auto">
            <a:xfrm>
              <a:off x="5266" y="10965"/>
              <a:ext cx="1214" cy="1"/>
            </a:xfrm>
            <a:prstGeom prst="straightConnector1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5266" y="11070"/>
              <a:ext cx="1214" cy="240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BFBFB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Procedure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19"/>
            <p:cNvSpPr txBox="1">
              <a:spLocks noChangeArrowheads="1"/>
            </p:cNvSpPr>
            <p:nvPr/>
          </p:nvSpPr>
          <p:spPr bwMode="auto">
            <a:xfrm>
              <a:off x="3630" y="6749"/>
              <a:ext cx="1140" cy="3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Black box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3630" y="8040"/>
              <a:ext cx="1140" cy="3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State box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17"/>
            <p:cNvSpPr txBox="1">
              <a:spLocks noChangeArrowheads="1"/>
            </p:cNvSpPr>
            <p:nvPr/>
          </p:nvSpPr>
          <p:spPr bwMode="auto">
            <a:xfrm>
              <a:off x="3630" y="9735"/>
              <a:ext cx="1140" cy="3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Clear box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AutoShape 16"/>
            <p:cNvSpPr>
              <a:spLocks noChangeArrowheads="1"/>
            </p:cNvSpPr>
            <p:nvPr/>
          </p:nvSpPr>
          <p:spPr bwMode="auto">
            <a:xfrm>
              <a:off x="5730" y="7604"/>
              <a:ext cx="188" cy="361"/>
            </a:xfrm>
            <a:prstGeom prst="downArrow">
              <a:avLst>
                <a:gd name="adj1" fmla="val 50000"/>
                <a:gd name="adj2" fmla="val 48005"/>
              </a:avLst>
            </a:prstGeom>
            <a:solidFill>
              <a:srgbClr val="D8D8D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AutoShape 15"/>
            <p:cNvSpPr>
              <a:spLocks noChangeArrowheads="1"/>
            </p:cNvSpPr>
            <p:nvPr/>
          </p:nvSpPr>
          <p:spPr bwMode="auto">
            <a:xfrm>
              <a:off x="5730" y="9375"/>
              <a:ext cx="188" cy="361"/>
            </a:xfrm>
            <a:prstGeom prst="downArrow">
              <a:avLst>
                <a:gd name="adj1" fmla="val 50000"/>
                <a:gd name="adj2" fmla="val 48005"/>
              </a:avLst>
            </a:prstGeom>
            <a:solidFill>
              <a:srgbClr val="D8D8D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AutoShape 14"/>
            <p:cNvSpPr>
              <a:spLocks noChangeShapeType="1"/>
            </p:cNvSpPr>
            <p:nvPr/>
          </p:nvSpPr>
          <p:spPr bwMode="auto">
            <a:xfrm>
              <a:off x="3750" y="7176"/>
              <a:ext cx="132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AutoShape 13"/>
            <p:cNvSpPr>
              <a:spLocks noChangeShapeType="1"/>
            </p:cNvSpPr>
            <p:nvPr/>
          </p:nvSpPr>
          <p:spPr bwMode="auto">
            <a:xfrm>
              <a:off x="3750" y="8803"/>
              <a:ext cx="132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AutoShape 12"/>
            <p:cNvSpPr>
              <a:spLocks noChangeShapeType="1"/>
            </p:cNvSpPr>
            <p:nvPr/>
          </p:nvSpPr>
          <p:spPr bwMode="auto">
            <a:xfrm>
              <a:off x="3750" y="10589"/>
              <a:ext cx="132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AutoShape 11"/>
            <p:cNvSpPr>
              <a:spLocks noChangeShapeType="1"/>
            </p:cNvSpPr>
            <p:nvPr/>
          </p:nvSpPr>
          <p:spPr bwMode="auto">
            <a:xfrm flipV="1">
              <a:off x="6765" y="7176"/>
              <a:ext cx="11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AutoShape 10"/>
            <p:cNvSpPr>
              <a:spLocks noChangeShapeType="1"/>
            </p:cNvSpPr>
            <p:nvPr/>
          </p:nvSpPr>
          <p:spPr bwMode="auto">
            <a:xfrm flipV="1">
              <a:off x="6765" y="8700"/>
              <a:ext cx="11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AutoShape 9"/>
            <p:cNvSpPr>
              <a:spLocks noChangeShapeType="1"/>
            </p:cNvSpPr>
            <p:nvPr/>
          </p:nvSpPr>
          <p:spPr bwMode="auto">
            <a:xfrm flipV="1">
              <a:off x="6765" y="10587"/>
              <a:ext cx="11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AutoShape 8"/>
            <p:cNvSpPr>
              <a:spLocks noChangeShapeType="1"/>
            </p:cNvSpPr>
            <p:nvPr/>
          </p:nvSpPr>
          <p:spPr bwMode="auto">
            <a:xfrm>
              <a:off x="5842" y="10245"/>
              <a:ext cx="1" cy="3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Text Box 7"/>
            <p:cNvSpPr txBox="1">
              <a:spLocks noChangeArrowheads="1"/>
            </p:cNvSpPr>
            <p:nvPr/>
          </p:nvSpPr>
          <p:spPr bwMode="auto">
            <a:xfrm>
              <a:off x="2385" y="7028"/>
              <a:ext cx="1365" cy="3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Stimuli        S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Text Box 6"/>
            <p:cNvSpPr txBox="1">
              <a:spLocks noChangeArrowheads="1"/>
            </p:cNvSpPr>
            <p:nvPr/>
          </p:nvSpPr>
          <p:spPr bwMode="auto">
            <a:xfrm>
              <a:off x="7875" y="7043"/>
              <a:ext cx="1515" cy="2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     Response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Text Box 5"/>
            <p:cNvSpPr txBox="1">
              <a:spLocks noChangeArrowheads="1"/>
            </p:cNvSpPr>
            <p:nvPr/>
          </p:nvSpPr>
          <p:spPr bwMode="auto">
            <a:xfrm>
              <a:off x="2385" y="8656"/>
              <a:ext cx="1365" cy="3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Stimuli        S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Text Box 4"/>
            <p:cNvSpPr txBox="1">
              <a:spLocks noChangeArrowheads="1"/>
            </p:cNvSpPr>
            <p:nvPr/>
          </p:nvSpPr>
          <p:spPr bwMode="auto">
            <a:xfrm>
              <a:off x="2385" y="10448"/>
              <a:ext cx="1365" cy="3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Stimuli        S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Text Box 3"/>
            <p:cNvSpPr txBox="1">
              <a:spLocks noChangeArrowheads="1"/>
            </p:cNvSpPr>
            <p:nvPr/>
          </p:nvSpPr>
          <p:spPr bwMode="auto">
            <a:xfrm>
              <a:off x="7875" y="8550"/>
              <a:ext cx="1515" cy="2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     Response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Text Box 2"/>
            <p:cNvSpPr txBox="1">
              <a:spLocks noChangeArrowheads="1"/>
            </p:cNvSpPr>
            <p:nvPr/>
          </p:nvSpPr>
          <p:spPr bwMode="auto">
            <a:xfrm>
              <a:off x="7875" y="10448"/>
              <a:ext cx="1515" cy="2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     Response</a:t>
              </a:r>
              <a:endPara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4" name="Rectangle 43"/>
          <p:cNvSpPr/>
          <p:nvPr/>
        </p:nvSpPr>
        <p:spPr>
          <a:xfrm>
            <a:off x="3007984" y="5974315"/>
            <a:ext cx="4171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Figure </a:t>
            </a: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15.11: Box structure specification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37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Phases of Cleanroom Process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Autofit/>
          </a:bodyPr>
          <a:lstStyle/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Usage </a:t>
            </a:r>
            <a:r>
              <a:rPr lang="en-IN" sz="2400" i="1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 and test planning: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Usage models are the basis for test planning and statistical testing. A usage model is treated as a graph, where the nodes indicate events and the arcs represent transitions between events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Statistical testing: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Test cases are created from the usage models for statistical testing. This is where the software’s suitability for use is established in a format statistical experiment.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Certification: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After statistical usage testing of the function, it is ready for integration. The certification team then finds mean time to failure (MTTF) in order to estimate its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reliability.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Samples and populations theories are used for certifications. </a:t>
            </a:r>
          </a:p>
          <a:p>
            <a:pPr marL="457200" lvl="1" indent="0"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02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Applications, Advantages, and Limitations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several advantages of cleanroom process model, which include the following: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Useful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in small scale as well as large scale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development</a:t>
            </a:r>
          </a:p>
          <a:p>
            <a:pPr lvl="1"/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bject-oriented development</a:t>
            </a:r>
          </a:p>
          <a:p>
            <a:pPr lvl="1"/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ovel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and exceptional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systems</a:t>
            </a:r>
          </a:p>
          <a:p>
            <a:pPr lvl="1"/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mbedded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systems and legacy systems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development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Real world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Applications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cleanroom process model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Army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weapon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systems, COBOL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structuring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facility, OS32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system for telecommunication switches, and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industries etc.</a:t>
            </a:r>
            <a:endParaRPr lang="en-US" sz="20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spite of the above advantages, cleanroom process model have certain limitations.</a:t>
            </a:r>
          </a:p>
          <a:p>
            <a:pPr lvl="1"/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too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theoretical and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mathematical.</a:t>
            </a:r>
          </a:p>
          <a:p>
            <a:pPr lvl="1"/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requires intensive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training</a:t>
            </a:r>
          </a:p>
          <a:p>
            <a:pPr lvl="1"/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lack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of unit testing</a:t>
            </a:r>
          </a:p>
        </p:txBody>
      </p:sp>
    </p:spTree>
    <p:extLst>
      <p:ext uri="{BB962C8B-B14F-4D97-AF65-F5344CB8AC3E}">
        <p14:creationId xmlns:p14="http://schemas.microsoft.com/office/powerpoint/2010/main" val="342366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1"/>
            <a:ext cx="8229600" cy="9906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Crowdsourced</a:t>
            </a:r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Software Engineering </a:t>
            </a:r>
            <a:endParaRPr lang="en-I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69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Autofit/>
          </a:bodyPr>
          <a:lstStyle/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is an emerging software engineering approach of distributed problem solving, which involves both human and machine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efforts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Here,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tasks are assigned to an undefined mass of anonymous individuals, known as </a:t>
            </a:r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crowd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Crowdsourced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software engineering is the act of undertaking any external software engineering tasks by an undefined, potentially large group of online workers in an open call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format.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reduces the cost of developers; reduces time to market through collaborative and parallel development; and produces higher quality product through broad participation of the talented people.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Crowdsourcing Process</a:t>
            </a:r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47800" y="1143000"/>
            <a:ext cx="999209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85129"/>
              </p:ext>
            </p:extLst>
          </p:nvPr>
        </p:nvGraphicFramePr>
        <p:xfrm>
          <a:off x="714348" y="2143116"/>
          <a:ext cx="8001056" cy="2200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2" name="Visio" r:id="rId3" imgW="5645004" imgH="1597228" progId="Visio.Drawing.11">
                  <p:embed/>
                </p:oleObj>
              </mc:Choice>
              <mc:Fallback>
                <p:oleObj name="Visio" r:id="rId3" imgW="5645004" imgH="1597228" progId="Visio.Drawing.11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2143116"/>
                        <a:ext cx="8001056" cy="22002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571736" y="5072074"/>
            <a:ext cx="3848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Figure </a:t>
            </a: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15.12: Crowdsourcing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70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Crowdsourcing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142984"/>
            <a:ext cx="8229600" cy="5043502"/>
          </a:xfrm>
        </p:spPr>
        <p:txBody>
          <a:bodyPr>
            <a:noAutofit/>
          </a:bodyPr>
          <a:lstStyle/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Crowdsourcing process involves three types of stakeholders (or components or actors),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such as:</a:t>
            </a:r>
          </a:p>
          <a:p>
            <a:pPr lvl="1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Requesters: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 They are the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crowdsourcer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(or employers or assigners or customers or system owner), who have software tasks that need to be developed.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select specific internal tasks it intends to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crowdsource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and subsequently broadcast the underlying tasks on crowdsourcing platform.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Workers: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They are the crowd of people (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crowdworkers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) who respond by performing the task (i.e., developing software) or answering the question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crowdsourced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by requester.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Platforms: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It is the crowdsourcing marketplace (i.e., crowdsourcing intermediary) within which requesters and workers can meet.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87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Crowdsourced</a:t>
            </a: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Software Development </a:t>
            </a:r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3999" y="1219199"/>
            <a:ext cx="101634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819310"/>
              </p:ext>
            </p:extLst>
          </p:nvPr>
        </p:nvGraphicFramePr>
        <p:xfrm>
          <a:off x="762000" y="1219200"/>
          <a:ext cx="7996863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1" name="Visio" r:id="rId3" imgW="5554913" imgH="3329021" progId="Visio.Drawing.11">
                  <p:embed/>
                </p:oleObj>
              </mc:Choice>
              <mc:Fallback>
                <p:oleObj name="Visio" r:id="rId3" imgW="5554913" imgH="3329021" progId="Visio.Drawing.11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7996863" cy="472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057400" y="6096000"/>
            <a:ext cx="629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Figure </a:t>
            </a: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15.13: </a:t>
            </a:r>
            <a:r>
              <a:rPr lang="en-US" b="1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Crowdsourced</a:t>
            </a: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software development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32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401080" cy="868346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Crowdsourced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Software Development Platforms</a:t>
            </a:r>
            <a:endParaRPr lang="en-IN" sz="28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3999" y="1219199"/>
            <a:ext cx="101634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499318"/>
              </p:ext>
            </p:extLst>
          </p:nvPr>
        </p:nvGraphicFramePr>
        <p:xfrm>
          <a:off x="642910" y="1071546"/>
          <a:ext cx="8001056" cy="5214973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43074"/>
                <a:gridCol w="6357982"/>
              </a:tblGrid>
              <a:tr h="3627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CSD Phases</a:t>
                      </a:r>
                      <a:endParaRPr lang="en-IN" sz="20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Platforms</a:t>
                      </a:r>
                      <a:endParaRPr lang="en-IN" sz="20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58034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Requirements engineering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CrowdREquire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StakeSource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StakeNet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541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Design 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99desings,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DesignCrowd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crowdSPING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TopCoder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756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Coding 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TopCoder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GetACoder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AppStori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Bountify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HelpMeOut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BlueFix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Calcite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526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Testing 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uTest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370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BugCrowd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Mob4hire,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crowdMOS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Testbirds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Testbats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Pay4bugs,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CrowdTesters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iTest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541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Verification 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VeriWeb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CrowdMine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CSFV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541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Deployment 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Crowdcloud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CloudFoundry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Salesforce.com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67111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Evolution and maintenance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CrowdAdapt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Social Sensing, Social Sensing is Social Adaptation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541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Documentation 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NumPy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StackOverflow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58034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Quality assessment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QualityCrowd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CrowdPickUp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7574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Other activities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Amazon Mechanical Turk, 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Guru,  </a:t>
                      </a:r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oDesk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and Freelancer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84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1"/>
            <a:ext cx="8229600" cy="990600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Recommender Systems for Software Engineering </a:t>
            </a:r>
            <a:endParaRPr lang="en-I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13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Autofit/>
          </a:bodyPr>
          <a:lstStyle/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Recommender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systems have become popular due to the explosive growth of information on the web.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Recommendation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tools are intensively used in e-commerce for the purpose of recommending products and services; for example, movies, books, digital cameras, or financial services. 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order to ease the performance of development activities, recommender systems for software engineering (RSSE) have been introduced. 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RSSE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is defined as software applications that provide information items estimated to be valuable for a software engineering task in a given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context. 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RSSEs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provide development information (source code,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artifacts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quality measures, and tools) and collaboration information (people, awareness, and status and priorities)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40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of Recommender System </a:t>
            </a:r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3999" y="1219199"/>
            <a:ext cx="101634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928794" y="4786322"/>
            <a:ext cx="629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Figure </a:t>
            </a: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15.14: Recommender system design process</a:t>
            </a:r>
            <a:endParaRPr lang="en-IN" dirty="0"/>
          </a:p>
        </p:txBody>
      </p:sp>
      <p:sp>
        <p:nvSpPr>
          <p:cNvPr id="4" name="Rectangle 16"/>
          <p:cNvSpPr>
            <a:spLocks noChangeArrowheads="1"/>
          </p:cNvSpPr>
          <p:nvPr/>
        </p:nvSpPr>
        <p:spPr bwMode="auto">
          <a:xfrm>
            <a:off x="1600200" y="220947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8" name="Group 1"/>
          <p:cNvGrpSpPr>
            <a:grpSpLocks noChangeAspect="1"/>
          </p:cNvGrpSpPr>
          <p:nvPr/>
        </p:nvGrpSpPr>
        <p:grpSpPr bwMode="auto">
          <a:xfrm>
            <a:off x="737946" y="2281884"/>
            <a:ext cx="7847527" cy="2451051"/>
            <a:chOff x="1948" y="8925"/>
            <a:chExt cx="8132" cy="1860"/>
          </a:xfrm>
        </p:grpSpPr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1948" y="8927"/>
              <a:ext cx="1457" cy="6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anose="02020603050405020304" pitchFamily="18" charset="0"/>
                  <a:cs typeface="Times New Roman" pitchFamily="18" charset="0"/>
                </a:rPr>
                <a:t>Data preprocessing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3974" y="8927"/>
              <a:ext cx="1457" cy="6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anose="02020603050405020304" pitchFamily="18" charset="0"/>
                  <a:cs typeface="Times New Roman" pitchFamily="18" charset="0"/>
                </a:rPr>
                <a:t>Capturing task contexts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5925" y="8925"/>
              <a:ext cx="1847" cy="6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anose="02020603050405020304" pitchFamily="18" charset="0"/>
                  <a:cs typeface="Times New Roman" pitchFamily="18" charset="0"/>
                </a:rPr>
                <a:t>Recommendation engine</a:t>
              </a:r>
              <a:endPara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8203" y="8927"/>
              <a:ext cx="1877" cy="6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anose="02020603050405020304" pitchFamily="18" charset="0"/>
                  <a:cs typeface="Times New Roman" pitchFamily="18" charset="0"/>
                </a:rPr>
                <a:t>Presenting recommendations</a:t>
              </a:r>
              <a:endPara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AutoShape 10"/>
            <p:cNvSpPr>
              <a:spLocks noChangeShapeType="1"/>
            </p:cNvSpPr>
            <p:nvPr/>
          </p:nvSpPr>
          <p:spPr bwMode="auto">
            <a:xfrm flipV="1">
              <a:off x="3405" y="9264"/>
              <a:ext cx="56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AutoShape 9"/>
            <p:cNvSpPr>
              <a:spLocks noChangeShapeType="1"/>
            </p:cNvSpPr>
            <p:nvPr/>
          </p:nvSpPr>
          <p:spPr bwMode="auto">
            <a:xfrm flipV="1">
              <a:off x="5431" y="9263"/>
              <a:ext cx="4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AutoShape 8"/>
            <p:cNvSpPr>
              <a:spLocks noChangeShapeType="1"/>
            </p:cNvSpPr>
            <p:nvPr/>
          </p:nvSpPr>
          <p:spPr bwMode="auto">
            <a:xfrm>
              <a:off x="7666" y="9263"/>
              <a:ext cx="537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AutoShape 7"/>
            <p:cNvSpPr>
              <a:spLocks noChangeShapeType="1"/>
            </p:cNvSpPr>
            <p:nvPr/>
          </p:nvSpPr>
          <p:spPr bwMode="auto">
            <a:xfrm flipV="1">
              <a:off x="6795" y="9601"/>
              <a:ext cx="1" cy="7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AutoShape 6"/>
            <p:cNvSpPr>
              <a:spLocks noChangeShapeType="1"/>
            </p:cNvSpPr>
            <p:nvPr/>
          </p:nvSpPr>
          <p:spPr bwMode="auto">
            <a:xfrm flipV="1">
              <a:off x="4702" y="9601"/>
              <a:ext cx="1" cy="7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AutoShape 5"/>
            <p:cNvSpPr>
              <a:spLocks noChangeShapeType="1"/>
            </p:cNvSpPr>
            <p:nvPr/>
          </p:nvSpPr>
          <p:spPr bwMode="auto">
            <a:xfrm>
              <a:off x="2677" y="10381"/>
              <a:ext cx="646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AutoShape 4"/>
            <p:cNvSpPr>
              <a:spLocks noChangeShapeType="1"/>
            </p:cNvSpPr>
            <p:nvPr/>
          </p:nvSpPr>
          <p:spPr bwMode="auto">
            <a:xfrm flipV="1">
              <a:off x="2676" y="9602"/>
              <a:ext cx="1" cy="7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Text Box 3"/>
            <p:cNvSpPr txBox="1">
              <a:spLocks noChangeArrowheads="1"/>
            </p:cNvSpPr>
            <p:nvPr/>
          </p:nvSpPr>
          <p:spPr bwMode="auto">
            <a:xfrm>
              <a:off x="5431" y="10470"/>
              <a:ext cx="1139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anose="02020603050405020304" pitchFamily="18" charset="0"/>
                  <a:cs typeface="Times New Roman" pitchFamily="18" charset="0"/>
                </a:rPr>
                <a:t>Feedback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AutoShape 2"/>
            <p:cNvSpPr>
              <a:spLocks noChangeShapeType="1"/>
            </p:cNvSpPr>
            <p:nvPr/>
          </p:nvSpPr>
          <p:spPr bwMode="auto">
            <a:xfrm flipV="1">
              <a:off x="9141" y="9601"/>
              <a:ext cx="1" cy="7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268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Components of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ecommender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Autofit/>
          </a:bodyPr>
          <a:lstStyle/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Date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preprocessing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It is a process of transforming raw data into interpreted format in order to detect any outlier and replacing missing values. For example, source code has to be parsed; software has to be abstracted into dependency graphs etc. </a:t>
            </a:r>
          </a:p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Capturing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task contexts: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context is the input to RSSE that it accesses and processes in order to produce recommendations. It can be explicit, implicit or hybrid.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Recommendation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engine: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It is the central part of the system. It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analyzes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more than context data to make their recommendations and analysis of these data sources is often referred to as mining software repositories (MSR). </a:t>
            </a:r>
          </a:p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Presenting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recommendations: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It presents a recommendation of items of potential interest such as functions, classes, code examples, issue reports etc.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Feedback: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It is the cross design dimension. The past recommendations support a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feedback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mechanism and become part of the context or data on which the RSSE operates. </a:t>
            </a:r>
          </a:p>
        </p:txBody>
      </p:sp>
    </p:spTree>
    <p:extLst>
      <p:ext uri="{BB962C8B-B14F-4D97-AF65-F5344CB8AC3E}">
        <p14:creationId xmlns:p14="http://schemas.microsoft.com/office/powerpoint/2010/main" val="180944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Summary</a:t>
            </a:r>
            <a:endParaRPr lang="en-IN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082" y="1357298"/>
            <a:ext cx="8624918" cy="4900634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emerging software engineering approaches are</a:t>
            </a:r>
          </a:p>
          <a:p>
            <a:pPr lvl="2" algn="just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Software reuse</a:t>
            </a:r>
          </a:p>
          <a:p>
            <a:pPr lvl="2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Aspect-oriented software engineering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Service-oriented software engineering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Usability engineering</a:t>
            </a:r>
          </a:p>
          <a:p>
            <a:pPr lvl="2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Model-driven software engineering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Client-server software engineering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Web engineering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Cleanrooom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software engineering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Crowdsourced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software engineering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Recommender systems for software engineering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2675</Words>
  <Application>Microsoft Office PowerPoint</Application>
  <PresentationFormat>On-screen Show (4:3)</PresentationFormat>
  <Paragraphs>244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Times New Roman</vt:lpstr>
      <vt:lpstr>Office Theme</vt:lpstr>
      <vt:lpstr>Visio</vt:lpstr>
      <vt:lpstr>PowerPoint Presentation</vt:lpstr>
      <vt:lpstr>PowerPoint Presentation</vt:lpstr>
      <vt:lpstr>Aspect-Oriented Software Engineering</vt:lpstr>
      <vt:lpstr>Components of Aspect Orientation</vt:lpstr>
      <vt:lpstr>Components of Aspect Orientation</vt:lpstr>
      <vt:lpstr>Components of Aspect Orientation</vt:lpstr>
      <vt:lpstr>Components of Aspect Orientation</vt:lpstr>
      <vt:lpstr>Components of Aspect Orientation</vt:lpstr>
      <vt:lpstr>Components of Aspect Orientation</vt:lpstr>
      <vt:lpstr>AOSD Process</vt:lpstr>
      <vt:lpstr>AOP Benefits and Limitations</vt:lpstr>
      <vt:lpstr>PowerPoint Presentation</vt:lpstr>
      <vt:lpstr>Usability</vt:lpstr>
      <vt:lpstr>Usability Engineering </vt:lpstr>
      <vt:lpstr>Principles of Usability</vt:lpstr>
      <vt:lpstr>Usability and HCI</vt:lpstr>
      <vt:lpstr>Usability Engineering Process</vt:lpstr>
      <vt:lpstr>Usability Methods </vt:lpstr>
      <vt:lpstr>PowerPoint Presentation</vt:lpstr>
      <vt:lpstr>Introduction</vt:lpstr>
      <vt:lpstr> Characteristics</vt:lpstr>
      <vt:lpstr>Cleanroom Process Model</vt:lpstr>
      <vt:lpstr>Phases of Cleanroom Process Model</vt:lpstr>
      <vt:lpstr>Phases of Cleanroom Process Model</vt:lpstr>
      <vt:lpstr> Phases of Cleanroom Process Model  Box Structure Specification</vt:lpstr>
      <vt:lpstr>Phases of Cleanroom Process Model</vt:lpstr>
      <vt:lpstr>Applications, Advantages, and Limitations </vt:lpstr>
      <vt:lpstr>PowerPoint Presentation</vt:lpstr>
      <vt:lpstr>Introduction</vt:lpstr>
      <vt:lpstr>Crowdsourcing Process</vt:lpstr>
      <vt:lpstr>Crowdsourcing Process</vt:lpstr>
      <vt:lpstr>Crowdsourced Software Development </vt:lpstr>
      <vt:lpstr>Crowdsourced Software Development Platforms</vt:lpstr>
      <vt:lpstr>PowerPoint Presentation</vt:lpstr>
      <vt:lpstr>Introduction</vt:lpstr>
      <vt:lpstr>Design of Recommender System </vt:lpstr>
      <vt:lpstr>Components of Recommender System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</dc:title>
  <dc:creator>admin</dc:creator>
  <cp:lastModifiedBy>Suman</cp:lastModifiedBy>
  <cp:revision>120</cp:revision>
  <dcterms:created xsi:type="dcterms:W3CDTF">2006-08-16T00:00:00Z</dcterms:created>
  <dcterms:modified xsi:type="dcterms:W3CDTF">2025-08-02T10:06:50Z</dcterms:modified>
</cp:coreProperties>
</file>