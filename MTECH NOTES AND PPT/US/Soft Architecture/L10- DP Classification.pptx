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BE418-337B-4933-B86B-1F6EFCC97095}" type="datetimeFigureOut">
              <a:rPr lang="en-IN" smtClean="0"/>
              <a:pPr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BC1DF-EE50-4D88-9503-331CD839A60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8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873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93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284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85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398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52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555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639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1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62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0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143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097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283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071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EBED-AEEC-4F39-9463-B85153B936AF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309-BFA0-4D3C-AD28-64B19BD0C898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C863-47CB-4298-8993-9842BD329DD2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2A84-651A-49C7-A419-5E5F1F1E2095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A483-1466-46CC-A8D0-04DA713DD156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E77D-46FD-42F3-BD77-AE9BF9970C6A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46D6C-1483-4A7D-AD5B-F250E3104A3F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5B2FE-5802-462D-B4E7-E91804D68340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82CA8-A2BE-420D-98DE-F3ECC242B3A2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487B-CC0D-49DA-A824-06599DD797C2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E7C2D-3109-4F93-B152-407C414AFB23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F6789-C72A-4D18-BE3A-A70E38FC86E9}" type="datetime1">
              <a:rPr lang="en-US"/>
              <a:pPr>
                <a:defRPr/>
              </a:pPr>
              <a:t>1/3/2026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Software Reuse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65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8013" cy="4524375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8260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80E83-DADA-401A-BBC2-6E8C95C403CF}" type="datetime1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00" y="2286000"/>
            <a:ext cx="7772400" cy="16002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 smtClean="0">
                <a:solidFill>
                  <a:srgbClr val="0000CC"/>
                </a:solidFill>
              </a:rPr>
              <a:t>Classification of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7015429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lnSpc>
                <a:spcPts val="2163"/>
              </a:lnSpc>
            </a:pPr>
            <a:r>
              <a:rPr lang="en-US" sz="3200" b="1" dirty="0" err="1" smtClean="0">
                <a:solidFill>
                  <a:srgbClr val="0000CC"/>
                </a:solidFill>
              </a:rPr>
              <a:t>GoF</a:t>
            </a:r>
            <a:r>
              <a:rPr lang="en-US" sz="3200" b="1" dirty="0" smtClean="0">
                <a:solidFill>
                  <a:srgbClr val="0000CC"/>
                </a:solidFill>
              </a:rPr>
              <a:t> Classification </a:t>
            </a:r>
            <a:r>
              <a:rPr lang="en-US" sz="3200" b="1" dirty="0">
                <a:solidFill>
                  <a:srgbClr val="0000CC"/>
                </a:solidFill>
              </a:rPr>
              <a:t>o</a:t>
            </a:r>
            <a:r>
              <a:rPr lang="en-US" sz="3200" b="1" dirty="0" smtClean="0">
                <a:solidFill>
                  <a:srgbClr val="0000CC"/>
                </a:solidFill>
              </a:rPr>
              <a:t>f Design Patterns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19881" y="1447800"/>
            <a:ext cx="8504238" cy="4873625"/>
          </a:xfrm>
        </p:spPr>
        <p:txBody>
          <a:bodyPr>
            <a:no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b="1" dirty="0" smtClean="0"/>
              <a:t>Purpose - what a pattern does</a:t>
            </a:r>
          </a:p>
          <a:p>
            <a:pPr marL="548640" lvl="1" indent="-27432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i="1" dirty="0" smtClean="0"/>
              <a:t>Creational Patterns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Concern the process of object creation</a:t>
            </a:r>
          </a:p>
          <a:p>
            <a:pPr marL="548640" lvl="1" indent="-27432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i="1" dirty="0" smtClean="0"/>
              <a:t>Structural Patterns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Deal with the composition of classes and objects</a:t>
            </a:r>
          </a:p>
          <a:p>
            <a:pPr marL="548640" lvl="1" indent="-27432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i="1" dirty="0" smtClean="0"/>
              <a:t>Behavioral Patterns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Deal with the interaction of classes and objects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b="1" dirty="0" smtClean="0"/>
              <a:t>Scope - what the pattern applies to</a:t>
            </a:r>
          </a:p>
          <a:p>
            <a:pPr marL="548640" lvl="1" indent="-27432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i="1" dirty="0" smtClean="0"/>
              <a:t>Class Patterns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Focus on the relationships between classes and their subclasses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Involve inheritance reuse</a:t>
            </a:r>
          </a:p>
          <a:p>
            <a:pPr marL="548640" lvl="1" indent="-27432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i="1" dirty="0" smtClean="0"/>
              <a:t>Object Patterns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Focus on the relationships between objects</a:t>
            </a:r>
          </a:p>
          <a:p>
            <a:pPr marL="1200150" lvl="2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defRPr/>
            </a:pPr>
            <a:r>
              <a:rPr lang="en-US" sz="2000" dirty="0" smtClean="0"/>
              <a:t>Involve composition reuse</a:t>
            </a:r>
          </a:p>
        </p:txBody>
      </p:sp>
    </p:spTree>
    <p:extLst>
      <p:ext uri="{BB962C8B-B14F-4D97-AF65-F5344CB8AC3E}">
        <p14:creationId xmlns:p14="http://schemas.microsoft.com/office/powerpoint/2010/main" val="2043125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Creational Patterns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19881" y="1219200"/>
            <a:ext cx="8504238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Abstract Factory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Factory for building related objects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Builder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Factory for building complex objects incrementally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Factory Method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Method in a derived class creates associates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Prototype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Factory for cloning new instances from a prototype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Singleton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Factory for a singular (sole) instance</a:t>
            </a:r>
          </a:p>
        </p:txBody>
      </p:sp>
    </p:spTree>
    <p:extLst>
      <p:ext uri="{BB962C8B-B14F-4D97-AF65-F5344CB8AC3E}">
        <p14:creationId xmlns:p14="http://schemas.microsoft.com/office/powerpoint/2010/main" val="4323647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Structural Patterns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84094" y="1066800"/>
            <a:ext cx="8229600" cy="4605338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Adapter: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Translator adapts a server interface for a client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Bridge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Abstraction for binding one of many implementations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Composite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/>
              <a:t>Structure</a:t>
            </a:r>
            <a:r>
              <a:rPr lang="en-GB" sz="2400" dirty="0" smtClean="0"/>
              <a:t> for building recursive aggregations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Decorator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Decorator extends an object transparently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Facade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Simplifies the interface for a subsystem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Flyweight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Many fine-grained objects shared efficiently.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Wingdings 2"/>
              <a:buChar char="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b="1" dirty="0" smtClean="0"/>
              <a:t>Proxy</a:t>
            </a:r>
            <a:r>
              <a:rPr lang="en-GB" sz="2400" dirty="0" smtClean="0"/>
              <a:t>:</a:t>
            </a:r>
          </a:p>
          <a:p>
            <a:pPr marL="617220" lvl="1" indent="-342900" eaLnBrk="1" fontAlgn="auto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 smtClean="0"/>
              <a:t>One object approximates another</a:t>
            </a:r>
          </a:p>
        </p:txBody>
      </p:sp>
    </p:spTree>
    <p:extLst>
      <p:ext uri="{BB962C8B-B14F-4D97-AF65-F5344CB8AC3E}">
        <p14:creationId xmlns:p14="http://schemas.microsoft.com/office/powerpoint/2010/main" val="20814316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Behavioral Patterns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Chain of Responsibility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Request delegated to the responsible service provider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Command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Request is first-class object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Iterator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Aggregate elements are accessed sequentially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Interpreter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Language interpreter for a small grammar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Mediator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Coordinates interactions between its associates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Memento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Snapshot captures and restores object states privately</a:t>
            </a:r>
          </a:p>
        </p:txBody>
      </p:sp>
    </p:spTree>
    <p:extLst>
      <p:ext uri="{BB962C8B-B14F-4D97-AF65-F5344CB8AC3E}">
        <p14:creationId xmlns:p14="http://schemas.microsoft.com/office/powerpoint/2010/main" val="37192809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Behavioral Patterns (cont.)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Observer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Dependents update automatically when subject changes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State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Object whose </a:t>
            </a:r>
            <a:r>
              <a:rPr lang="en-GB" sz="2400" dirty="0" err="1" smtClean="0"/>
              <a:t>behavior</a:t>
            </a:r>
            <a:r>
              <a:rPr lang="en-GB" sz="2400" dirty="0" smtClean="0"/>
              <a:t> depends on its state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Strategy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Abstraction for selecting one of many algorithms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Template Method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Algorithm with some steps supplied by a derived class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/>
              <a:t>Visitor</a:t>
            </a:r>
            <a:r>
              <a:rPr lang="en-GB" sz="2400" dirty="0" smtClean="0"/>
              <a:t>: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Operations applied to elements of a heterogeneous object structure</a:t>
            </a:r>
          </a:p>
        </p:txBody>
      </p:sp>
    </p:spTree>
    <p:extLst>
      <p:ext uri="{BB962C8B-B14F-4D97-AF65-F5344CB8AC3E}">
        <p14:creationId xmlns:p14="http://schemas.microsoft.com/office/powerpoint/2010/main" val="40348732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ChangeArrowheads="1"/>
          </p:cNvSpPr>
          <p:nvPr>
            <p:ph type="title"/>
          </p:nvPr>
        </p:nvSpPr>
        <p:spPr>
          <a:xfrm>
            <a:off x="475130" y="8213"/>
            <a:ext cx="8229600" cy="792162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Design Pattern Space</a:t>
            </a:r>
          </a:p>
        </p:txBody>
      </p:sp>
      <p:grpSp>
        <p:nvGrpSpPr>
          <p:cNvPr id="40963" name="Group 2"/>
          <p:cNvGrpSpPr>
            <a:grpSpLocks/>
          </p:cNvGrpSpPr>
          <p:nvPr/>
        </p:nvGrpSpPr>
        <p:grpSpPr bwMode="auto">
          <a:xfrm>
            <a:off x="685800" y="990600"/>
            <a:ext cx="8231188" cy="5185002"/>
            <a:chOff x="288" y="864"/>
            <a:chExt cx="5185" cy="3048"/>
          </a:xfrm>
        </p:grpSpPr>
        <p:sp>
          <p:nvSpPr>
            <p:cNvPr id="40964" name="Text Box 3"/>
            <p:cNvSpPr txBox="1">
              <a:spLocks noChangeArrowheads="1"/>
            </p:cNvSpPr>
            <p:nvPr/>
          </p:nvSpPr>
          <p:spPr bwMode="auto">
            <a:xfrm>
              <a:off x="288" y="864"/>
              <a:ext cx="5184" cy="3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grpSp>
          <p:nvGrpSpPr>
            <p:cNvPr id="40965" name="Group 4"/>
            <p:cNvGrpSpPr>
              <a:grpSpLocks/>
            </p:cNvGrpSpPr>
            <p:nvPr/>
          </p:nvGrpSpPr>
          <p:grpSpPr bwMode="auto">
            <a:xfrm>
              <a:off x="4128" y="1844"/>
              <a:ext cx="1344" cy="2067"/>
              <a:chOff x="4128" y="1844"/>
              <a:chExt cx="1344" cy="2067"/>
            </a:xfrm>
          </p:grpSpPr>
          <p:sp>
            <p:nvSpPr>
              <p:cNvPr id="41025" name="AutoShape 5"/>
              <p:cNvSpPr>
                <a:spLocks noChangeArrowheads="1"/>
              </p:cNvSpPr>
              <p:nvPr/>
            </p:nvSpPr>
            <p:spPr bwMode="auto">
              <a:xfrm>
                <a:off x="4128" y="1844"/>
                <a:ext cx="1344" cy="2067"/>
              </a:xfrm>
              <a:prstGeom prst="roundRect">
                <a:avLst>
                  <a:gd name="adj" fmla="val 74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26" name="Text Box 6"/>
              <p:cNvSpPr txBox="1">
                <a:spLocks noChangeArrowheads="1"/>
              </p:cNvSpPr>
              <p:nvPr/>
            </p:nvSpPr>
            <p:spPr bwMode="auto">
              <a:xfrm>
                <a:off x="4128" y="1844"/>
                <a:ext cx="1344" cy="19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Chain of responsibility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Command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Iterator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Mediator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Memento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Observer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State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Strategy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Visitor</a:t>
                </a:r>
              </a:p>
            </p:txBody>
          </p:sp>
        </p:grpSp>
        <p:grpSp>
          <p:nvGrpSpPr>
            <p:cNvPr id="40966" name="Group 7"/>
            <p:cNvGrpSpPr>
              <a:grpSpLocks/>
            </p:cNvGrpSpPr>
            <p:nvPr/>
          </p:nvGrpSpPr>
          <p:grpSpPr bwMode="auto">
            <a:xfrm>
              <a:off x="2976" y="1844"/>
              <a:ext cx="1152" cy="2067"/>
              <a:chOff x="2976" y="1844"/>
              <a:chExt cx="1152" cy="2067"/>
            </a:xfrm>
          </p:grpSpPr>
          <p:sp>
            <p:nvSpPr>
              <p:cNvPr id="41023" name="AutoShape 8"/>
              <p:cNvSpPr>
                <a:spLocks noChangeArrowheads="1"/>
              </p:cNvSpPr>
              <p:nvPr/>
            </p:nvSpPr>
            <p:spPr bwMode="auto">
              <a:xfrm>
                <a:off x="2976" y="1844"/>
                <a:ext cx="1152" cy="2067"/>
              </a:xfrm>
              <a:prstGeom prst="roundRect">
                <a:avLst>
                  <a:gd name="adj" fmla="val 83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24" name="Text Box 9"/>
              <p:cNvSpPr txBox="1">
                <a:spLocks noChangeArrowheads="1"/>
              </p:cNvSpPr>
              <p:nvPr/>
            </p:nvSpPr>
            <p:spPr bwMode="auto">
              <a:xfrm>
                <a:off x="2976" y="1844"/>
                <a:ext cx="1152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Adapter (object)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Bridge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Composite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Decorator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Façade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Flyweight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Proxy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endParaRPr lang="en-GB" b="1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0967" name="Group 10"/>
            <p:cNvGrpSpPr>
              <a:grpSpLocks/>
            </p:cNvGrpSpPr>
            <p:nvPr/>
          </p:nvGrpSpPr>
          <p:grpSpPr bwMode="auto">
            <a:xfrm>
              <a:off x="1776" y="1844"/>
              <a:ext cx="1200" cy="2067"/>
              <a:chOff x="1776" y="1844"/>
              <a:chExt cx="1200" cy="2067"/>
            </a:xfrm>
          </p:grpSpPr>
          <p:sp>
            <p:nvSpPr>
              <p:cNvPr id="41021" name="AutoShape 11"/>
              <p:cNvSpPr>
                <a:spLocks noChangeArrowheads="1"/>
              </p:cNvSpPr>
              <p:nvPr/>
            </p:nvSpPr>
            <p:spPr bwMode="auto">
              <a:xfrm>
                <a:off x="1776" y="1844"/>
                <a:ext cx="1200" cy="2067"/>
              </a:xfrm>
              <a:prstGeom prst="roundRect">
                <a:avLst>
                  <a:gd name="adj" fmla="val 83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22" name="Text Box 12"/>
              <p:cNvSpPr txBox="1">
                <a:spLocks noChangeArrowheads="1"/>
              </p:cNvSpPr>
              <p:nvPr/>
            </p:nvSpPr>
            <p:spPr bwMode="auto">
              <a:xfrm>
                <a:off x="1776" y="1844"/>
                <a:ext cx="1200" cy="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Abstract factory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Builder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Prototype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Singleton</a:t>
                </a:r>
              </a:p>
            </p:txBody>
          </p:sp>
        </p:grpSp>
        <p:grpSp>
          <p:nvGrpSpPr>
            <p:cNvPr id="40968" name="Group 13"/>
            <p:cNvGrpSpPr>
              <a:grpSpLocks/>
            </p:cNvGrpSpPr>
            <p:nvPr/>
          </p:nvGrpSpPr>
          <p:grpSpPr bwMode="auto">
            <a:xfrm>
              <a:off x="1104" y="1844"/>
              <a:ext cx="671" cy="2066"/>
              <a:chOff x="1104" y="1844"/>
              <a:chExt cx="671" cy="2066"/>
            </a:xfrm>
          </p:grpSpPr>
          <p:sp>
            <p:nvSpPr>
              <p:cNvPr id="41019" name="AutoShape 14"/>
              <p:cNvSpPr>
                <a:spLocks noChangeArrowheads="1"/>
              </p:cNvSpPr>
              <p:nvPr/>
            </p:nvSpPr>
            <p:spPr bwMode="auto">
              <a:xfrm>
                <a:off x="1104" y="1844"/>
                <a:ext cx="672" cy="2067"/>
              </a:xfrm>
              <a:prstGeom prst="roundRect">
                <a:avLst>
                  <a:gd name="adj" fmla="val 148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20" name="Text Box 15"/>
              <p:cNvSpPr txBox="1">
                <a:spLocks noChangeArrowheads="1"/>
              </p:cNvSpPr>
              <p:nvPr/>
            </p:nvSpPr>
            <p:spPr bwMode="auto">
              <a:xfrm>
                <a:off x="1104" y="1844"/>
                <a:ext cx="672" cy="20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>
                    <a:solidFill>
                      <a:srgbClr val="000000"/>
                    </a:solidFill>
                  </a:rPr>
                  <a:t>Object</a:t>
                </a:r>
              </a:p>
            </p:txBody>
          </p:sp>
        </p:grpSp>
        <p:sp>
          <p:nvSpPr>
            <p:cNvPr id="40969" name="AutoShape 16"/>
            <p:cNvSpPr>
              <a:spLocks noChangeArrowheads="1"/>
            </p:cNvSpPr>
            <p:nvPr/>
          </p:nvSpPr>
          <p:spPr bwMode="auto">
            <a:xfrm>
              <a:off x="288" y="1844"/>
              <a:ext cx="816" cy="2067"/>
            </a:xfrm>
            <a:prstGeom prst="roundRect">
              <a:avLst>
                <a:gd name="adj" fmla="val 12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grpSp>
          <p:nvGrpSpPr>
            <p:cNvPr id="40970" name="Group 17"/>
            <p:cNvGrpSpPr>
              <a:grpSpLocks/>
            </p:cNvGrpSpPr>
            <p:nvPr/>
          </p:nvGrpSpPr>
          <p:grpSpPr bwMode="auto">
            <a:xfrm>
              <a:off x="4128" y="1392"/>
              <a:ext cx="1344" cy="452"/>
              <a:chOff x="4128" y="1392"/>
              <a:chExt cx="1344" cy="452"/>
            </a:xfrm>
          </p:grpSpPr>
          <p:sp>
            <p:nvSpPr>
              <p:cNvPr id="41017" name="AutoShape 18"/>
              <p:cNvSpPr>
                <a:spLocks noChangeArrowheads="1"/>
              </p:cNvSpPr>
              <p:nvPr/>
            </p:nvSpPr>
            <p:spPr bwMode="auto">
              <a:xfrm>
                <a:off x="4128" y="1392"/>
                <a:ext cx="1344" cy="452"/>
              </a:xfrm>
              <a:prstGeom prst="roundRect">
                <a:avLst>
                  <a:gd name="adj" fmla="val 218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18" name="Text Box 19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344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Interpreter</a:t>
                </a:r>
              </a:p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Template method</a:t>
                </a:r>
              </a:p>
            </p:txBody>
          </p:sp>
        </p:grpSp>
        <p:grpSp>
          <p:nvGrpSpPr>
            <p:cNvPr id="40971" name="Group 20"/>
            <p:cNvGrpSpPr>
              <a:grpSpLocks/>
            </p:cNvGrpSpPr>
            <p:nvPr/>
          </p:nvGrpSpPr>
          <p:grpSpPr bwMode="auto">
            <a:xfrm>
              <a:off x="2976" y="1392"/>
              <a:ext cx="1152" cy="452"/>
              <a:chOff x="2976" y="1392"/>
              <a:chExt cx="1152" cy="452"/>
            </a:xfrm>
          </p:grpSpPr>
          <p:sp>
            <p:nvSpPr>
              <p:cNvPr id="41015" name="AutoShape 21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152" cy="452"/>
              </a:xfrm>
              <a:prstGeom prst="roundRect">
                <a:avLst>
                  <a:gd name="adj" fmla="val 218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16" name="Text Box 22"/>
              <p:cNvSpPr txBox="1">
                <a:spLocks noChangeArrowheads="1"/>
              </p:cNvSpPr>
              <p:nvPr/>
            </p:nvSpPr>
            <p:spPr bwMode="auto">
              <a:xfrm>
                <a:off x="2976" y="1392"/>
                <a:ext cx="1152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Adapter (class)</a:t>
                </a:r>
              </a:p>
            </p:txBody>
          </p:sp>
        </p:grpSp>
        <p:grpSp>
          <p:nvGrpSpPr>
            <p:cNvPr id="40972" name="Group 23"/>
            <p:cNvGrpSpPr>
              <a:grpSpLocks/>
            </p:cNvGrpSpPr>
            <p:nvPr/>
          </p:nvGrpSpPr>
          <p:grpSpPr bwMode="auto">
            <a:xfrm>
              <a:off x="1776" y="1392"/>
              <a:ext cx="1200" cy="452"/>
              <a:chOff x="1776" y="1392"/>
              <a:chExt cx="1200" cy="452"/>
            </a:xfrm>
          </p:grpSpPr>
          <p:sp>
            <p:nvSpPr>
              <p:cNvPr id="41013" name="AutoShape 24"/>
              <p:cNvSpPr>
                <a:spLocks noChangeArrowheads="1"/>
              </p:cNvSpPr>
              <p:nvPr/>
            </p:nvSpPr>
            <p:spPr bwMode="auto">
              <a:xfrm>
                <a:off x="1776" y="1392"/>
                <a:ext cx="1200" cy="452"/>
              </a:xfrm>
              <a:prstGeom prst="roundRect">
                <a:avLst>
                  <a:gd name="adj" fmla="val 218"/>
                </a:avLst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14" name="Text Box 25"/>
              <p:cNvSpPr txBox="1">
                <a:spLocks noChangeArrowheads="1"/>
              </p:cNvSpPr>
              <p:nvPr/>
            </p:nvSpPr>
            <p:spPr bwMode="auto">
              <a:xfrm>
                <a:off x="1776" y="1392"/>
                <a:ext cx="1200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45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b="1">
                    <a:solidFill>
                      <a:srgbClr val="000000"/>
                    </a:solidFill>
                  </a:rPr>
                  <a:t>Factory method</a:t>
                </a:r>
              </a:p>
            </p:txBody>
          </p:sp>
        </p:grpSp>
        <p:grpSp>
          <p:nvGrpSpPr>
            <p:cNvPr id="40973" name="Group 26"/>
            <p:cNvGrpSpPr>
              <a:grpSpLocks/>
            </p:cNvGrpSpPr>
            <p:nvPr/>
          </p:nvGrpSpPr>
          <p:grpSpPr bwMode="auto">
            <a:xfrm>
              <a:off x="1104" y="1392"/>
              <a:ext cx="671" cy="451"/>
              <a:chOff x="1104" y="1392"/>
              <a:chExt cx="671" cy="451"/>
            </a:xfrm>
          </p:grpSpPr>
          <p:sp>
            <p:nvSpPr>
              <p:cNvPr id="41011" name="AutoShape 27"/>
              <p:cNvSpPr>
                <a:spLocks noChangeArrowheads="1"/>
              </p:cNvSpPr>
              <p:nvPr/>
            </p:nvSpPr>
            <p:spPr bwMode="auto">
              <a:xfrm>
                <a:off x="1104" y="1392"/>
                <a:ext cx="672" cy="452"/>
              </a:xfrm>
              <a:prstGeom prst="roundRect">
                <a:avLst>
                  <a:gd name="adj" fmla="val 218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12" name="Text Box 28"/>
              <p:cNvSpPr txBox="1">
                <a:spLocks noChangeArrowheads="1"/>
              </p:cNvSpPr>
              <p:nvPr/>
            </p:nvSpPr>
            <p:spPr bwMode="auto">
              <a:xfrm>
                <a:off x="1104" y="1392"/>
                <a:ext cx="672" cy="4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>
                    <a:solidFill>
                      <a:srgbClr val="000000"/>
                    </a:solidFill>
                  </a:rPr>
                  <a:t>Class</a:t>
                </a:r>
              </a:p>
            </p:txBody>
          </p:sp>
        </p:grpSp>
        <p:grpSp>
          <p:nvGrpSpPr>
            <p:cNvPr id="40974" name="Group 29"/>
            <p:cNvGrpSpPr>
              <a:grpSpLocks/>
            </p:cNvGrpSpPr>
            <p:nvPr/>
          </p:nvGrpSpPr>
          <p:grpSpPr bwMode="auto">
            <a:xfrm>
              <a:off x="288" y="1392"/>
              <a:ext cx="816" cy="452"/>
              <a:chOff x="288" y="1392"/>
              <a:chExt cx="816" cy="452"/>
            </a:xfrm>
          </p:grpSpPr>
          <p:sp>
            <p:nvSpPr>
              <p:cNvPr id="41009" name="AutoShape 30"/>
              <p:cNvSpPr>
                <a:spLocks noChangeArrowheads="1"/>
              </p:cNvSpPr>
              <p:nvPr/>
            </p:nvSpPr>
            <p:spPr bwMode="auto">
              <a:xfrm>
                <a:off x="288" y="1392"/>
                <a:ext cx="816" cy="452"/>
              </a:xfrm>
              <a:prstGeom prst="roundRect">
                <a:avLst>
                  <a:gd name="adj" fmla="val 218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10" name="Text Box 31"/>
              <p:cNvSpPr txBox="1">
                <a:spLocks noChangeArrowheads="1"/>
              </p:cNvSpPr>
              <p:nvPr/>
            </p:nvSpPr>
            <p:spPr bwMode="auto">
              <a:xfrm>
                <a:off x="288" y="1392"/>
                <a:ext cx="816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 b="1">
                    <a:solidFill>
                      <a:srgbClr val="000000"/>
                    </a:solidFill>
                  </a:rPr>
                  <a:t>Scope</a:t>
                </a:r>
              </a:p>
            </p:txBody>
          </p:sp>
        </p:grpSp>
        <p:grpSp>
          <p:nvGrpSpPr>
            <p:cNvPr id="40975" name="Group 32"/>
            <p:cNvGrpSpPr>
              <a:grpSpLocks/>
            </p:cNvGrpSpPr>
            <p:nvPr/>
          </p:nvGrpSpPr>
          <p:grpSpPr bwMode="auto">
            <a:xfrm>
              <a:off x="4128" y="1113"/>
              <a:ext cx="1344" cy="279"/>
              <a:chOff x="4128" y="1113"/>
              <a:chExt cx="1344" cy="279"/>
            </a:xfrm>
          </p:grpSpPr>
          <p:sp>
            <p:nvSpPr>
              <p:cNvPr id="41007" name="AutoShape 33"/>
              <p:cNvSpPr>
                <a:spLocks noChangeArrowheads="1"/>
              </p:cNvSpPr>
              <p:nvPr/>
            </p:nvSpPr>
            <p:spPr bwMode="auto">
              <a:xfrm>
                <a:off x="4128" y="1113"/>
                <a:ext cx="1344" cy="279"/>
              </a:xfrm>
              <a:prstGeom prst="roundRect">
                <a:avLst>
                  <a:gd name="adj" fmla="val 356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08" name="Text Box 34"/>
              <p:cNvSpPr txBox="1">
                <a:spLocks noChangeArrowheads="1"/>
              </p:cNvSpPr>
              <p:nvPr/>
            </p:nvSpPr>
            <p:spPr bwMode="auto">
              <a:xfrm>
                <a:off x="4128" y="1113"/>
                <a:ext cx="1344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 b="1">
                    <a:solidFill>
                      <a:srgbClr val="0000FF"/>
                    </a:solidFill>
                  </a:rPr>
                  <a:t>Behavioral</a:t>
                </a:r>
              </a:p>
            </p:txBody>
          </p:sp>
        </p:grpSp>
        <p:grpSp>
          <p:nvGrpSpPr>
            <p:cNvPr id="40976" name="Group 35"/>
            <p:cNvGrpSpPr>
              <a:grpSpLocks/>
            </p:cNvGrpSpPr>
            <p:nvPr/>
          </p:nvGrpSpPr>
          <p:grpSpPr bwMode="auto">
            <a:xfrm>
              <a:off x="2976" y="1113"/>
              <a:ext cx="1152" cy="279"/>
              <a:chOff x="2976" y="1113"/>
              <a:chExt cx="1152" cy="279"/>
            </a:xfrm>
          </p:grpSpPr>
          <p:sp>
            <p:nvSpPr>
              <p:cNvPr id="41005" name="AutoShape 36"/>
              <p:cNvSpPr>
                <a:spLocks noChangeArrowheads="1"/>
              </p:cNvSpPr>
              <p:nvPr/>
            </p:nvSpPr>
            <p:spPr bwMode="auto">
              <a:xfrm>
                <a:off x="2976" y="1113"/>
                <a:ext cx="1152" cy="279"/>
              </a:xfrm>
              <a:prstGeom prst="roundRect">
                <a:avLst>
                  <a:gd name="adj" fmla="val 356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06" name="Text Box 37"/>
              <p:cNvSpPr txBox="1">
                <a:spLocks noChangeArrowheads="1"/>
              </p:cNvSpPr>
              <p:nvPr/>
            </p:nvSpPr>
            <p:spPr bwMode="auto">
              <a:xfrm>
                <a:off x="2976" y="1113"/>
                <a:ext cx="1152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 b="1">
                    <a:solidFill>
                      <a:srgbClr val="0000FF"/>
                    </a:solidFill>
                  </a:rPr>
                  <a:t>Structural</a:t>
                </a:r>
              </a:p>
            </p:txBody>
          </p:sp>
        </p:grpSp>
        <p:grpSp>
          <p:nvGrpSpPr>
            <p:cNvPr id="40977" name="Group 38"/>
            <p:cNvGrpSpPr>
              <a:grpSpLocks/>
            </p:cNvGrpSpPr>
            <p:nvPr/>
          </p:nvGrpSpPr>
          <p:grpSpPr bwMode="auto">
            <a:xfrm>
              <a:off x="1776" y="1113"/>
              <a:ext cx="1200" cy="279"/>
              <a:chOff x="1776" y="1113"/>
              <a:chExt cx="1200" cy="279"/>
            </a:xfrm>
          </p:grpSpPr>
          <p:sp>
            <p:nvSpPr>
              <p:cNvPr id="41003" name="AutoShape 39"/>
              <p:cNvSpPr>
                <a:spLocks noChangeArrowheads="1"/>
              </p:cNvSpPr>
              <p:nvPr/>
            </p:nvSpPr>
            <p:spPr bwMode="auto">
              <a:xfrm>
                <a:off x="1776" y="1113"/>
                <a:ext cx="1200" cy="279"/>
              </a:xfrm>
              <a:prstGeom prst="roundRect">
                <a:avLst>
                  <a:gd name="adj" fmla="val 356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04" name="Text Box 40"/>
              <p:cNvSpPr txBox="1">
                <a:spLocks noChangeArrowheads="1"/>
              </p:cNvSpPr>
              <p:nvPr/>
            </p:nvSpPr>
            <p:spPr bwMode="auto">
              <a:xfrm>
                <a:off x="1776" y="1113"/>
                <a:ext cx="1200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 b="1" dirty="0">
                    <a:solidFill>
                      <a:srgbClr val="0000FF"/>
                    </a:solidFill>
                  </a:rPr>
                  <a:t>Creational</a:t>
                </a:r>
              </a:p>
            </p:txBody>
          </p:sp>
        </p:grpSp>
        <p:sp>
          <p:nvSpPr>
            <p:cNvPr id="40978" name="AutoShape 41"/>
            <p:cNvSpPr>
              <a:spLocks noChangeArrowheads="1"/>
            </p:cNvSpPr>
            <p:nvPr/>
          </p:nvSpPr>
          <p:spPr bwMode="auto">
            <a:xfrm>
              <a:off x="1104" y="1113"/>
              <a:ext cx="672" cy="279"/>
            </a:xfrm>
            <a:prstGeom prst="roundRect">
              <a:avLst>
                <a:gd name="adj" fmla="val 356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40979" name="AutoShape 42"/>
            <p:cNvSpPr>
              <a:spLocks noChangeArrowheads="1"/>
            </p:cNvSpPr>
            <p:nvPr/>
          </p:nvSpPr>
          <p:spPr bwMode="auto">
            <a:xfrm>
              <a:off x="288" y="1113"/>
              <a:ext cx="816" cy="279"/>
            </a:xfrm>
            <a:prstGeom prst="roundRect">
              <a:avLst>
                <a:gd name="adj" fmla="val 356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40980" name="AutoShape 43"/>
            <p:cNvSpPr>
              <a:spLocks noChangeArrowheads="1"/>
            </p:cNvSpPr>
            <p:nvPr/>
          </p:nvSpPr>
          <p:spPr bwMode="auto">
            <a:xfrm>
              <a:off x="4128" y="864"/>
              <a:ext cx="1344" cy="249"/>
            </a:xfrm>
            <a:prstGeom prst="roundRect">
              <a:avLst>
                <a:gd name="adj" fmla="val 403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grpSp>
          <p:nvGrpSpPr>
            <p:cNvPr id="40981" name="Group 44"/>
            <p:cNvGrpSpPr>
              <a:grpSpLocks/>
            </p:cNvGrpSpPr>
            <p:nvPr/>
          </p:nvGrpSpPr>
          <p:grpSpPr bwMode="auto">
            <a:xfrm>
              <a:off x="2976" y="864"/>
              <a:ext cx="1152" cy="249"/>
              <a:chOff x="2976" y="864"/>
              <a:chExt cx="1152" cy="249"/>
            </a:xfrm>
          </p:grpSpPr>
          <p:sp>
            <p:nvSpPr>
              <p:cNvPr id="41001" name="AutoShape 45"/>
              <p:cNvSpPr>
                <a:spLocks noChangeArrowheads="1"/>
              </p:cNvSpPr>
              <p:nvPr/>
            </p:nvSpPr>
            <p:spPr bwMode="auto">
              <a:xfrm>
                <a:off x="2976" y="864"/>
                <a:ext cx="1152" cy="249"/>
              </a:xfrm>
              <a:prstGeom prst="roundRect">
                <a:avLst>
                  <a:gd name="adj" fmla="val 403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002" name="Text Box 46"/>
              <p:cNvSpPr txBox="1">
                <a:spLocks noChangeArrowheads="1"/>
              </p:cNvSpPr>
              <p:nvPr/>
            </p:nvSpPr>
            <p:spPr bwMode="auto">
              <a:xfrm>
                <a:off x="2976" y="864"/>
                <a:ext cx="1152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9913" algn="l"/>
                    <a:tab pos="1484313" algn="l"/>
                    <a:tab pos="2398713" algn="l"/>
                    <a:tab pos="3313113" algn="l"/>
                    <a:tab pos="4227513" algn="l"/>
                    <a:tab pos="5141913" algn="l"/>
                    <a:tab pos="6056313" algn="l"/>
                    <a:tab pos="6970713" algn="l"/>
                    <a:tab pos="7885113" algn="l"/>
                    <a:tab pos="8799513" algn="l"/>
                    <a:tab pos="9713913" algn="l"/>
                  </a:tabLst>
                  <a:defRPr>
                    <a:solidFill>
                      <a:schemeClr val="bg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GB" sz="2000" b="1" dirty="0">
                    <a:solidFill>
                      <a:srgbClr val="FF0000"/>
                    </a:solidFill>
                  </a:rPr>
                  <a:t>Purpose</a:t>
                </a:r>
              </a:p>
            </p:txBody>
          </p:sp>
        </p:grpSp>
        <p:sp>
          <p:nvSpPr>
            <p:cNvPr id="40982" name="AutoShape 47"/>
            <p:cNvSpPr>
              <a:spLocks noChangeArrowheads="1"/>
            </p:cNvSpPr>
            <p:nvPr/>
          </p:nvSpPr>
          <p:spPr bwMode="auto">
            <a:xfrm>
              <a:off x="1776" y="864"/>
              <a:ext cx="1200" cy="249"/>
            </a:xfrm>
            <a:prstGeom prst="roundRect">
              <a:avLst>
                <a:gd name="adj" fmla="val 403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40983" name="AutoShape 48"/>
            <p:cNvSpPr>
              <a:spLocks noChangeArrowheads="1"/>
            </p:cNvSpPr>
            <p:nvPr/>
          </p:nvSpPr>
          <p:spPr bwMode="auto">
            <a:xfrm>
              <a:off x="1104" y="864"/>
              <a:ext cx="672" cy="249"/>
            </a:xfrm>
            <a:prstGeom prst="roundRect">
              <a:avLst>
                <a:gd name="adj" fmla="val 40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40984" name="AutoShape 49"/>
            <p:cNvSpPr>
              <a:spLocks noChangeArrowheads="1"/>
            </p:cNvSpPr>
            <p:nvPr/>
          </p:nvSpPr>
          <p:spPr bwMode="auto">
            <a:xfrm>
              <a:off x="288" y="864"/>
              <a:ext cx="816" cy="249"/>
            </a:xfrm>
            <a:prstGeom prst="roundRect">
              <a:avLst>
                <a:gd name="adj" fmla="val 40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40985" name="Line 50"/>
            <p:cNvSpPr>
              <a:spLocks noChangeShapeType="1"/>
            </p:cNvSpPr>
            <p:nvPr/>
          </p:nvSpPr>
          <p:spPr bwMode="auto">
            <a:xfrm>
              <a:off x="288" y="864"/>
              <a:ext cx="816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6" name="Line 51"/>
            <p:cNvSpPr>
              <a:spLocks noChangeShapeType="1"/>
            </p:cNvSpPr>
            <p:nvPr/>
          </p:nvSpPr>
          <p:spPr bwMode="auto">
            <a:xfrm>
              <a:off x="288" y="864"/>
              <a:ext cx="1" cy="24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7" name="Line 52"/>
            <p:cNvSpPr>
              <a:spLocks noChangeShapeType="1"/>
            </p:cNvSpPr>
            <p:nvPr/>
          </p:nvSpPr>
          <p:spPr bwMode="auto">
            <a:xfrm>
              <a:off x="1776" y="864"/>
              <a:ext cx="36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8" name="Line 53"/>
            <p:cNvSpPr>
              <a:spLocks noChangeShapeType="1"/>
            </p:cNvSpPr>
            <p:nvPr/>
          </p:nvSpPr>
          <p:spPr bwMode="auto">
            <a:xfrm>
              <a:off x="288" y="1392"/>
              <a:ext cx="1" cy="251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9" name="Line 54"/>
            <p:cNvSpPr>
              <a:spLocks noChangeShapeType="1"/>
            </p:cNvSpPr>
            <p:nvPr/>
          </p:nvSpPr>
          <p:spPr bwMode="auto">
            <a:xfrm>
              <a:off x="1776" y="1113"/>
              <a:ext cx="36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0" name="Line 55"/>
            <p:cNvSpPr>
              <a:spLocks noChangeShapeType="1"/>
            </p:cNvSpPr>
            <p:nvPr/>
          </p:nvSpPr>
          <p:spPr bwMode="auto">
            <a:xfrm>
              <a:off x="2976" y="1113"/>
              <a:ext cx="1" cy="2798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1" name="Line 56"/>
            <p:cNvSpPr>
              <a:spLocks noChangeShapeType="1"/>
            </p:cNvSpPr>
            <p:nvPr/>
          </p:nvSpPr>
          <p:spPr bwMode="auto">
            <a:xfrm>
              <a:off x="4128" y="1113"/>
              <a:ext cx="1" cy="2798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2" name="Line 57"/>
            <p:cNvSpPr>
              <a:spLocks noChangeShapeType="1"/>
            </p:cNvSpPr>
            <p:nvPr/>
          </p:nvSpPr>
          <p:spPr bwMode="auto">
            <a:xfrm>
              <a:off x="5472" y="864"/>
              <a:ext cx="1" cy="304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3" name="Line 58"/>
            <p:cNvSpPr>
              <a:spLocks noChangeShapeType="1"/>
            </p:cNvSpPr>
            <p:nvPr/>
          </p:nvSpPr>
          <p:spPr bwMode="auto">
            <a:xfrm>
              <a:off x="1776" y="1392"/>
              <a:ext cx="36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4" name="Line 59"/>
            <p:cNvSpPr>
              <a:spLocks noChangeShapeType="1"/>
            </p:cNvSpPr>
            <p:nvPr/>
          </p:nvSpPr>
          <p:spPr bwMode="auto">
            <a:xfrm>
              <a:off x="1104" y="1392"/>
              <a:ext cx="1" cy="251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5" name="Line 60"/>
            <p:cNvSpPr>
              <a:spLocks noChangeShapeType="1"/>
            </p:cNvSpPr>
            <p:nvPr/>
          </p:nvSpPr>
          <p:spPr bwMode="auto">
            <a:xfrm>
              <a:off x="1104" y="1844"/>
              <a:ext cx="4368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6" name="Line 61"/>
            <p:cNvSpPr>
              <a:spLocks noChangeShapeType="1"/>
            </p:cNvSpPr>
            <p:nvPr/>
          </p:nvSpPr>
          <p:spPr bwMode="auto">
            <a:xfrm>
              <a:off x="288" y="3911"/>
              <a:ext cx="518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7" name="Line 62"/>
            <p:cNvSpPr>
              <a:spLocks noChangeShapeType="1"/>
            </p:cNvSpPr>
            <p:nvPr/>
          </p:nvSpPr>
          <p:spPr bwMode="auto">
            <a:xfrm>
              <a:off x="288" y="1392"/>
              <a:ext cx="1488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8" name="Line 63"/>
            <p:cNvSpPr>
              <a:spLocks noChangeShapeType="1"/>
            </p:cNvSpPr>
            <p:nvPr/>
          </p:nvSpPr>
          <p:spPr bwMode="auto">
            <a:xfrm>
              <a:off x="288" y="1113"/>
              <a:ext cx="1" cy="2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99" name="Line 64"/>
            <p:cNvSpPr>
              <a:spLocks noChangeShapeType="1"/>
            </p:cNvSpPr>
            <p:nvPr/>
          </p:nvSpPr>
          <p:spPr bwMode="auto">
            <a:xfrm>
              <a:off x="1104" y="864"/>
              <a:ext cx="672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000" name="Line 65"/>
            <p:cNvSpPr>
              <a:spLocks noChangeShapeType="1"/>
            </p:cNvSpPr>
            <p:nvPr/>
          </p:nvSpPr>
          <p:spPr bwMode="auto">
            <a:xfrm>
              <a:off x="1776" y="864"/>
              <a:ext cx="1" cy="304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3992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Categorization Terms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Scope is the domain over which a pattern applies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Class Scope: relationships between base classes and their subclasses (static semantics)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Object Scope: relationships between peer objects</a:t>
            </a:r>
          </a:p>
          <a:p>
            <a:pPr lvl="1" eaLnBrk="1" hangingPunct="1"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 smtClean="0"/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Some patterns apply to both scopes.</a:t>
            </a:r>
          </a:p>
        </p:txBody>
      </p:sp>
    </p:spTree>
    <p:extLst>
      <p:ext uri="{BB962C8B-B14F-4D97-AF65-F5344CB8AC3E}">
        <p14:creationId xmlns:p14="http://schemas.microsoft.com/office/powerpoint/2010/main" val="25544115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Class: Creational</a:t>
            </a:r>
            <a:endParaRPr lang="en-GB" sz="3200" b="1" dirty="0" smtClean="0">
              <a:solidFill>
                <a:srgbClr val="0000CC"/>
              </a:solidFill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Abstracts how objects are instantiated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Hides specifics of the creation process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May want to delay specifying a class name explicitly when instantiating an object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Just want a specific protocol</a:t>
            </a:r>
          </a:p>
        </p:txBody>
      </p:sp>
    </p:spTree>
    <p:extLst>
      <p:ext uri="{BB962C8B-B14F-4D97-AF65-F5344CB8AC3E}">
        <p14:creationId xmlns:p14="http://schemas.microsoft.com/office/powerpoint/2010/main" val="15453331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Example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19881" y="990600"/>
            <a:ext cx="8504238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Use </a:t>
            </a:r>
            <a:r>
              <a:rPr lang="en-GB" sz="2400" b="1" i="1" dirty="0" smtClean="0"/>
              <a:t>Factory Method</a:t>
            </a:r>
            <a:r>
              <a:rPr lang="en-GB" sz="2400" dirty="0" smtClean="0"/>
              <a:t> to instantiate members in base classes with objects created by subclasses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Abstract </a:t>
            </a:r>
            <a:r>
              <a:rPr lang="en-GB" sz="2400" dirty="0" smtClean="0"/>
              <a:t>Application class: create application-specific documents conforming to a particular Document type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Application instantiates these Document objects by calling the factory method </a:t>
            </a:r>
            <a:r>
              <a:rPr lang="en-GB" sz="2400" dirty="0" err="1" smtClean="0"/>
              <a:t>DoMakeDocument</a:t>
            </a:r>
            <a:endParaRPr lang="en-GB" sz="2400" dirty="0" smtClean="0"/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Method is overridden in classes derived from Application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Subclass </a:t>
            </a:r>
            <a:r>
              <a:rPr lang="en-GB" sz="2400" dirty="0" err="1" smtClean="0"/>
              <a:t>DrawApplication</a:t>
            </a:r>
            <a:r>
              <a:rPr lang="en-GB" sz="2400" dirty="0" smtClean="0"/>
              <a:t> overrides </a:t>
            </a:r>
            <a:r>
              <a:rPr lang="en-GB" sz="2400" dirty="0" err="1" smtClean="0"/>
              <a:t>DoMakeDocument</a:t>
            </a:r>
            <a:r>
              <a:rPr lang="en-GB" sz="2400" dirty="0" smtClean="0"/>
              <a:t> to return a </a:t>
            </a:r>
            <a:r>
              <a:rPr lang="en-GB" sz="2400" dirty="0" err="1" smtClean="0"/>
              <a:t>DrawDocument</a:t>
            </a:r>
            <a:r>
              <a:rPr lang="en-GB" sz="2400" dirty="0" smtClean="0"/>
              <a:t> object</a:t>
            </a:r>
          </a:p>
        </p:txBody>
      </p:sp>
    </p:spTree>
    <p:extLst>
      <p:ext uri="{BB962C8B-B14F-4D97-AF65-F5344CB8AC3E}">
        <p14:creationId xmlns:p14="http://schemas.microsoft.com/office/powerpoint/2010/main" val="13963997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Class</a:t>
            </a:r>
            <a:r>
              <a:rPr lang="en-GB" sz="3200" b="1" dirty="0" smtClean="0">
                <a:solidFill>
                  <a:srgbClr val="0000CC"/>
                </a:solidFill>
              </a:rPr>
              <a:t>: </a:t>
            </a:r>
            <a:r>
              <a:rPr lang="en-GB" sz="3200" b="1" dirty="0" smtClean="0">
                <a:solidFill>
                  <a:srgbClr val="0000CC"/>
                </a:solidFill>
              </a:rPr>
              <a:t>Structural</a:t>
            </a:r>
          </a:p>
        </p:txBody>
      </p:sp>
      <p:sp>
        <p:nvSpPr>
          <p:cNvPr id="4915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Use inheritance to compose protocols or code</a:t>
            </a:r>
          </a:p>
          <a:p>
            <a:pPr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Example:</a:t>
            </a:r>
          </a:p>
          <a:p>
            <a:pPr lvl="1" eaLnBrk="1" hangingPunct="1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i="1" dirty="0" smtClean="0"/>
              <a:t>Adapter Pattern: </a:t>
            </a:r>
            <a:r>
              <a:rPr lang="en-GB" sz="2400" dirty="0" smtClean="0"/>
              <a:t>makes one interface (</a:t>
            </a:r>
            <a:r>
              <a:rPr lang="en-GB" sz="2400" dirty="0" smtClean="0"/>
              <a:t>Adapter’s</a:t>
            </a:r>
            <a:r>
              <a:rPr lang="en-GB" sz="2400" dirty="0" smtClean="0"/>
              <a:t>) conform to another</a:t>
            </a:r>
          </a:p>
          <a:p>
            <a:pPr lvl="1" eaLnBrk="1" hangingPunct="1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Gives a uniform abstraction of different interfaces</a:t>
            </a:r>
          </a:p>
          <a:p>
            <a:pPr lvl="1" eaLnBrk="1" hangingPunct="1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Class Adapter inherits privately from an </a:t>
            </a:r>
            <a:r>
              <a:rPr lang="en-GB" sz="2400" dirty="0" err="1" smtClean="0"/>
              <a:t>Adaptee</a:t>
            </a:r>
            <a:r>
              <a:rPr lang="en-GB" sz="2400" dirty="0" smtClean="0"/>
              <a:t> class</a:t>
            </a:r>
          </a:p>
          <a:p>
            <a:pPr lvl="1" eaLnBrk="1" hangingPunct="1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Adapter then expresses its interface in terms of the </a:t>
            </a:r>
            <a:r>
              <a:rPr lang="en-GB" sz="2400" dirty="0" err="1" smtClean="0"/>
              <a:t>Adaptee’s</a:t>
            </a:r>
            <a:r>
              <a:rPr lang="en-GB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1533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Class:: Behavioral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Captures how classes cooperate with their subclasses to satisfy semantics.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 dirty="0" smtClean="0"/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Example: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i="1" dirty="0" smtClean="0"/>
              <a:t>Template Method</a:t>
            </a:r>
            <a:r>
              <a:rPr lang="en-GB" sz="2800" dirty="0" smtClean="0"/>
              <a:t>: defines algorithms step by step.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Each step can invoke an abstract method (that must be defined by the subclass) or a base method.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Subclass must implement specific </a:t>
            </a:r>
            <a:r>
              <a:rPr lang="en-GB" sz="2800" dirty="0" err="1" smtClean="0"/>
              <a:t>behavior</a:t>
            </a:r>
            <a:r>
              <a:rPr lang="en-GB" sz="2800" dirty="0" smtClean="0"/>
              <a:t> to provide required services</a:t>
            </a:r>
          </a:p>
        </p:txBody>
      </p:sp>
    </p:spTree>
    <p:extLst>
      <p:ext uri="{BB962C8B-B14F-4D97-AF65-F5344CB8AC3E}">
        <p14:creationId xmlns:p14="http://schemas.microsoft.com/office/powerpoint/2010/main" val="29532389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Object Scope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Object Patterns all apply various forms of non-recursive object composition.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Object Composition: most powerful form of reuse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Reuse of a collection of objects is better achieved through variations of their composition, rather than through sub classing.</a:t>
            </a:r>
          </a:p>
        </p:txBody>
      </p:sp>
    </p:spTree>
    <p:extLst>
      <p:ext uri="{BB962C8B-B14F-4D97-AF65-F5344CB8AC3E}">
        <p14:creationId xmlns:p14="http://schemas.microsoft.com/office/powerpoint/2010/main" val="39217260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Object:: Creational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783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Abstracts how sets of objects are created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Example: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i="1" smtClean="0"/>
              <a:t>Abstract Factory</a:t>
            </a:r>
            <a:r>
              <a:rPr lang="en-GB" sz="2000" smtClean="0"/>
              <a:t>: create “product” objects through generic interface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Subclasses may manufacture specialized versions or compositions of objects as allowed by this generic interface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User Interface Toolkit: 2 types of scroll bars (Motif and Open Look)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Don’t want to hard-code specific one; an environment variable decides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Class Kit: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Encapsulates scroll bar creation (and other UI entities);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An abstract factory that abstracts the specific type of scroll bar to instantiate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Subclasses of Kit refine operations in the protocol to return specialized types of scroll bars.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smtClean="0"/>
              <a:t>Subclasses MotifKit and OpenLookKit each have scroll bar operation.</a:t>
            </a:r>
          </a:p>
          <a:p>
            <a:pPr eaLnBrk="1" hangingPunct="1">
              <a:lnSpc>
                <a:spcPct val="80000"/>
              </a:lnSpc>
              <a:spcBef>
                <a:spcPts val="45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800" smtClean="0"/>
          </a:p>
        </p:txBody>
      </p:sp>
    </p:spTree>
    <p:extLst>
      <p:ext uri="{BB962C8B-B14F-4D97-AF65-F5344CB8AC3E}">
        <p14:creationId xmlns:p14="http://schemas.microsoft.com/office/powerpoint/2010/main" val="10995054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smtClean="0">
                <a:solidFill>
                  <a:srgbClr val="0000CC"/>
                </a:solidFill>
              </a:rPr>
              <a:t>Object:: Structural</a:t>
            </a:r>
          </a:p>
        </p:txBody>
      </p:sp>
      <p:sp>
        <p:nvSpPr>
          <p:cNvPr id="5734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Describe ways to assemble objects to realize new functionality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smtClean="0"/>
              <a:t>Added flexibility inherent in object composition due to ability to change composition at run-time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smtClean="0"/>
              <a:t>not possible with static class composition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Example: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i="1" smtClean="0"/>
              <a:t>Proxy</a:t>
            </a:r>
            <a:r>
              <a:rPr lang="en-GB" sz="2400" smtClean="0"/>
              <a:t>: acts as convenient surrogate or placeholder for another object.</a:t>
            </a:r>
          </a:p>
          <a:p>
            <a:pPr lvl="2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Remote Proxy: local representative for object in a different address space</a:t>
            </a:r>
          </a:p>
          <a:p>
            <a:pPr lvl="2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Virtual Proxy: represent large object that should be loaded on demand</a:t>
            </a:r>
          </a:p>
          <a:p>
            <a:pPr lvl="2"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Protected Proxy: protect access to the original object</a:t>
            </a:r>
          </a:p>
        </p:txBody>
      </p:sp>
    </p:spTree>
    <p:extLst>
      <p:ext uri="{BB962C8B-B14F-4D97-AF65-F5344CB8AC3E}">
        <p14:creationId xmlns:p14="http://schemas.microsoft.com/office/powerpoint/2010/main" val="28884052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b="1" dirty="0" smtClean="0">
                <a:solidFill>
                  <a:srgbClr val="0000CC"/>
                </a:solidFill>
              </a:rPr>
              <a:t>Object</a:t>
            </a:r>
            <a:r>
              <a:rPr lang="en-GB" sz="3200" b="1" dirty="0" smtClean="0">
                <a:solidFill>
                  <a:srgbClr val="0000CC"/>
                </a:solidFill>
              </a:rPr>
              <a:t>: </a:t>
            </a:r>
            <a:r>
              <a:rPr lang="en-GB" sz="3200" b="1" dirty="0" err="1" smtClean="0">
                <a:solidFill>
                  <a:srgbClr val="0000CC"/>
                </a:solidFill>
              </a:rPr>
              <a:t>Behavioral</a:t>
            </a:r>
            <a:endParaRPr lang="en-GB" sz="3200" b="1" dirty="0" smtClean="0">
              <a:solidFill>
                <a:srgbClr val="0000CC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84094" y="990600"/>
            <a:ext cx="8431306" cy="46228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Describes how a group of peer objects cooperate to perform a task that can be carried out by itself.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Example</a:t>
            </a:r>
            <a:r>
              <a:rPr lang="en-GB" sz="2200" dirty="0" smtClean="0"/>
              <a:t>: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i="1" dirty="0" smtClean="0"/>
              <a:t>Strategy Pattern</a:t>
            </a:r>
            <a:r>
              <a:rPr lang="en-GB" sz="2200" b="1" dirty="0" smtClean="0"/>
              <a:t>: </a:t>
            </a:r>
            <a:r>
              <a:rPr lang="en-GB" sz="2200" dirty="0" smtClean="0"/>
              <a:t>objectifies an algorithm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Text Composition Object: support different line breaking algorithms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Don’t want to hard-code all </a:t>
            </a:r>
            <a:r>
              <a:rPr lang="en-GB" sz="2200" dirty="0" err="1" smtClean="0"/>
              <a:t>algs</a:t>
            </a:r>
            <a:r>
              <a:rPr lang="en-GB" sz="2200" dirty="0" smtClean="0"/>
              <a:t> into text composition class/subclasses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Objectify different </a:t>
            </a:r>
            <a:r>
              <a:rPr lang="en-GB" sz="2200" dirty="0" err="1" smtClean="0"/>
              <a:t>algs</a:t>
            </a:r>
            <a:r>
              <a:rPr lang="en-GB" sz="2200" dirty="0" smtClean="0"/>
              <a:t> and provide them as Compositor subclasses (contains criteria for line breaking strategies)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Interface for Compositors defined by Abstract Compositor Class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Derived classes provide different layout strategies (simple line breaks, left/right justification, etc.)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Instances of Compositor subclasses couple with text composition at run-time to provide text layout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 smtClean="0"/>
              <a:t>Whenever text composition has to find line breaks, forwards the responsibility to its current Compositor object.</a:t>
            </a:r>
          </a:p>
        </p:txBody>
      </p:sp>
    </p:spTree>
    <p:extLst>
      <p:ext uri="{BB962C8B-B14F-4D97-AF65-F5344CB8AC3E}">
        <p14:creationId xmlns:p14="http://schemas.microsoft.com/office/powerpoint/2010/main" val="35070688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mtClean="0">
                <a:solidFill>
                  <a:srgbClr val="0000CC"/>
                </a:solidFill>
              </a:rPr>
              <a:t>Exercise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IN" smtClean="0"/>
              <a:t>Implement a design pattern of your choice in Java taking a suitable example.</a:t>
            </a:r>
          </a:p>
        </p:txBody>
      </p:sp>
    </p:spTree>
    <p:extLst>
      <p:ext uri="{BB962C8B-B14F-4D97-AF65-F5344CB8AC3E}">
        <p14:creationId xmlns:p14="http://schemas.microsoft.com/office/powerpoint/2010/main" val="1387402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524</TotalTime>
  <Words>936</Words>
  <Application>Microsoft Office PowerPoint</Application>
  <PresentationFormat>On-screen Show (4:3)</PresentationFormat>
  <Paragraphs>168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Wingdings 2</vt:lpstr>
      <vt:lpstr>Office Theme</vt:lpstr>
      <vt:lpstr>Classification of Design Patterns</vt:lpstr>
      <vt:lpstr>GoF Classification of Design Patterns</vt:lpstr>
      <vt:lpstr>Creational Patterns</vt:lpstr>
      <vt:lpstr>Structural Patterns</vt:lpstr>
      <vt:lpstr>Behavioral Patterns</vt:lpstr>
      <vt:lpstr>Behavioral Patterns (cont.)</vt:lpstr>
      <vt:lpstr>Design Pattern Space</vt:lpstr>
      <vt:lpstr>Categorization Terms</vt:lpstr>
      <vt:lpstr>Class: Creational</vt:lpstr>
      <vt:lpstr>Example</vt:lpstr>
      <vt:lpstr>Class: Structural</vt:lpstr>
      <vt:lpstr>Class:: Behavioral</vt:lpstr>
      <vt:lpstr>Object Scope</vt:lpstr>
      <vt:lpstr>Object:: Creational</vt:lpstr>
      <vt:lpstr>Object:: Structural</vt:lpstr>
      <vt:lpstr>Object: Behavioral</vt:lpstr>
      <vt:lpstr>Exercise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Suman</cp:lastModifiedBy>
  <cp:revision>167</cp:revision>
  <dcterms:created xsi:type="dcterms:W3CDTF">2006-08-16T00:00:00Z</dcterms:created>
  <dcterms:modified xsi:type="dcterms:W3CDTF">2026-01-03T11:55:17Z</dcterms:modified>
</cp:coreProperties>
</file>