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65" r:id="rId2"/>
    <p:sldId id="278" r:id="rId3"/>
    <p:sldId id="342" r:id="rId4"/>
    <p:sldId id="343" r:id="rId5"/>
    <p:sldId id="344" r:id="rId6"/>
    <p:sldId id="280" r:id="rId7"/>
    <p:sldId id="346" r:id="rId8"/>
    <p:sldId id="345" r:id="rId9"/>
    <p:sldId id="281" r:id="rId10"/>
    <p:sldId id="282" r:id="rId11"/>
    <p:sldId id="348" r:id="rId12"/>
    <p:sldId id="283" r:id="rId13"/>
    <p:sldId id="284" r:id="rId14"/>
    <p:sldId id="336" r:id="rId15"/>
    <p:sldId id="337" r:id="rId16"/>
    <p:sldId id="338" r:id="rId17"/>
    <p:sldId id="347" r:id="rId18"/>
    <p:sldId id="349" r:id="rId19"/>
    <p:sldId id="350" r:id="rId20"/>
    <p:sldId id="351" r:id="rId21"/>
    <p:sldId id="287" r:id="rId22"/>
    <p:sldId id="340" r:id="rId23"/>
    <p:sldId id="285" r:id="rId24"/>
    <p:sldId id="286" r:id="rId25"/>
    <p:sldId id="339" r:id="rId26"/>
    <p:sldId id="288" r:id="rId27"/>
    <p:sldId id="289" r:id="rId28"/>
    <p:sldId id="352" r:id="rId29"/>
    <p:sldId id="353" r:id="rId30"/>
    <p:sldId id="354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EA"/>
    <a:srgbClr val="0000FF"/>
    <a:srgbClr val="2B0A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22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8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9E5BDD-D9E0-4029-BEE3-D71C9D0FE685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F1181-0740-451E-8463-18B0B82439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0078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0B7778-3C8A-438C-9D83-C711A509E1DD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D69B11-87FB-47D7-9E93-FAE142DAF1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92059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519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517A-38B3-440F-8FB8-1B6485227C92}" type="datetime1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6E19F-C88E-4A48-9271-FDEB165D29F3}" type="datetime1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FC565-FBCB-42E0-8C84-AAC533F4DA03}" type="datetime1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98A81-E1D8-40C7-97D6-FEFB0C9ED1C5}" type="datetime1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CBA3B-D249-4720-98B3-8EAA5465385A}" type="datetime1">
              <a:rPr lang="en-US" smtClean="0"/>
              <a:pPr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160C1-C3BC-4A1B-8CBF-0EC2A2A69D9A}" type="datetime1">
              <a:rPr lang="en-US" smtClean="0"/>
              <a:pPr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C6E27-1F3A-423C-B3DF-D0BA1A59539F}" type="datetime1">
              <a:rPr lang="en-US" smtClean="0"/>
              <a:pPr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63AC5-2C1A-44B5-8875-0D026100815D}" type="datetime1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B0C3C-1F2D-4219-9C09-38A3D152AA90}" type="datetime1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5CF9-8CE5-4D3C-9DDC-FE57D6D06DDC}" type="datetime1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93E64-E888-4212-8F26-4839BB87EB26}" type="datetime1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B1A983-22E6-489C-9C09-9492FF0721F9}" type="datetime1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011043-848E-4CA3-808D-B3CFD8CB811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image" Target="../media/image11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28800"/>
            <a:ext cx="8229600" cy="3459163"/>
          </a:xfrm>
        </p:spPr>
        <p:txBody>
          <a:bodyPr>
            <a:normAutofit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en-US" sz="4400" b="1" dirty="0">
                <a:solidFill>
                  <a:srgbClr val="002060"/>
                </a:solidFill>
                <a:ea typeface="+mj-ea"/>
                <a:cs typeface="Times New Roman" pitchFamily="18" charset="0"/>
              </a:rPr>
              <a:t>Architectural Styles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5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2060"/>
                </a:solidFill>
                <a:latin typeface="+mn-lt"/>
                <a:cs typeface="Times New Roman" pitchFamily="18" charset="0"/>
              </a:rPr>
              <a:t>Architectural Styles</a:t>
            </a:r>
            <a:endParaRPr lang="en-US" sz="3200" b="1" dirty="0">
              <a:solidFill>
                <a:srgbClr val="002060"/>
              </a:solidFill>
              <a:latin typeface="+mn-lt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88"/>
            <a:ext cx="8229600" cy="5427662"/>
          </a:xfrm>
        </p:spPr>
        <p:txBody>
          <a:bodyPr>
            <a:noAutofit/>
          </a:bodyPr>
          <a:lstStyle/>
          <a:p>
            <a:r>
              <a:rPr lang="en-US" sz="2300" dirty="0" smtClean="0">
                <a:cs typeface="Times New Roman" pitchFamily="18" charset="0"/>
              </a:rPr>
              <a:t> </a:t>
            </a:r>
            <a:r>
              <a:rPr lang="en-US" sz="2300" dirty="0"/>
              <a:t>Architecture styles, sometimes called architecture patterns, describe a named </a:t>
            </a:r>
            <a:r>
              <a:rPr lang="en-US" sz="2300" dirty="0" smtClean="0"/>
              <a:t>relationship of </a:t>
            </a:r>
            <a:r>
              <a:rPr lang="en-US" sz="2300" dirty="0"/>
              <a:t>components covering a variety of architecture characteristics</a:t>
            </a:r>
            <a:r>
              <a:rPr lang="en-US" sz="2300" dirty="0" smtClean="0"/>
              <a:t>.</a:t>
            </a:r>
          </a:p>
          <a:p>
            <a:r>
              <a:rPr lang="en-US" sz="2300" dirty="0" smtClean="0"/>
              <a:t>An </a:t>
            </a:r>
            <a:r>
              <a:rPr lang="en-US" sz="2300" i="1" dirty="0" smtClean="0">
                <a:solidFill>
                  <a:srgbClr val="C00000"/>
                </a:solidFill>
              </a:rPr>
              <a:t>architecture </a:t>
            </a:r>
            <a:r>
              <a:rPr lang="en-US" sz="2300" i="1" dirty="0">
                <a:solidFill>
                  <a:srgbClr val="C00000"/>
                </a:solidFill>
              </a:rPr>
              <a:t>style</a:t>
            </a:r>
            <a:r>
              <a:rPr lang="en-US" sz="2300" dirty="0">
                <a:solidFill>
                  <a:srgbClr val="C00000"/>
                </a:solidFill>
              </a:rPr>
              <a:t> </a:t>
            </a:r>
            <a:r>
              <a:rPr lang="en-US" sz="2300" dirty="0" smtClean="0"/>
              <a:t>is the </a:t>
            </a:r>
            <a:r>
              <a:rPr lang="en-US" sz="2300" dirty="0"/>
              <a:t>overarching structure of how the </a:t>
            </a:r>
            <a:r>
              <a:rPr lang="en-US" sz="2300" dirty="0" smtClean="0"/>
              <a:t>user interface </a:t>
            </a:r>
            <a:r>
              <a:rPr lang="en-US" sz="2300" dirty="0"/>
              <a:t>and backend source code are organized (such as within layers of a </a:t>
            </a:r>
            <a:r>
              <a:rPr lang="en-US" sz="2300" dirty="0" smtClean="0"/>
              <a:t>monolithic deployment </a:t>
            </a:r>
            <a:r>
              <a:rPr lang="en-US" sz="2300" dirty="0"/>
              <a:t>or separately deployed services) and how that source code </a:t>
            </a:r>
            <a:r>
              <a:rPr lang="en-US" sz="2300" dirty="0" smtClean="0"/>
              <a:t>interacts </a:t>
            </a:r>
            <a:r>
              <a:rPr lang="en-IN" sz="2300" dirty="0" smtClean="0"/>
              <a:t>with </a:t>
            </a:r>
            <a:r>
              <a:rPr lang="en-IN" sz="2300" dirty="0"/>
              <a:t>a </a:t>
            </a:r>
            <a:r>
              <a:rPr lang="en-IN" sz="2300" dirty="0" err="1"/>
              <a:t>datastore</a:t>
            </a:r>
            <a:r>
              <a:rPr lang="en-IN" sz="2300" dirty="0" smtClean="0"/>
              <a:t>.</a:t>
            </a:r>
          </a:p>
          <a:p>
            <a:r>
              <a:rPr lang="en-US" sz="2300" i="1" dirty="0">
                <a:solidFill>
                  <a:srgbClr val="C00000"/>
                </a:solidFill>
              </a:rPr>
              <a:t>Architecture patterns</a:t>
            </a:r>
            <a:r>
              <a:rPr lang="en-US" sz="2300" dirty="0">
                <a:solidFill>
                  <a:srgbClr val="C00000"/>
                </a:solidFill>
              </a:rPr>
              <a:t>, </a:t>
            </a:r>
            <a:r>
              <a:rPr lang="en-US" sz="2300" dirty="0"/>
              <a:t>on the other hand, are lower-level </a:t>
            </a:r>
            <a:r>
              <a:rPr lang="en-US" sz="2300" dirty="0" smtClean="0"/>
              <a:t>design structures </a:t>
            </a:r>
            <a:r>
              <a:rPr lang="en-US" sz="2300" dirty="0"/>
              <a:t>that help form specific solutions within an architecture style (such as </a:t>
            </a:r>
            <a:r>
              <a:rPr lang="en-US" sz="2300" dirty="0" smtClean="0"/>
              <a:t>how to </a:t>
            </a:r>
            <a:r>
              <a:rPr lang="en-US" sz="2300" dirty="0"/>
              <a:t>achieve high scalability or high performance within a set of operations or </a:t>
            </a:r>
            <a:r>
              <a:rPr lang="en-US" sz="2300" dirty="0" smtClean="0"/>
              <a:t>between </a:t>
            </a:r>
            <a:r>
              <a:rPr lang="en-IN" sz="2300" dirty="0" smtClean="0"/>
              <a:t>sets </a:t>
            </a:r>
            <a:r>
              <a:rPr lang="en-IN" sz="2300" dirty="0"/>
              <a:t>of services).</a:t>
            </a:r>
            <a:endParaRPr lang="en-IN" sz="2300" dirty="0" smtClean="0"/>
          </a:p>
          <a:p>
            <a:r>
              <a:rPr lang="en-US" sz="2300" dirty="0"/>
              <a:t>An architecture style describes the topology, assumed and default </a:t>
            </a:r>
            <a:r>
              <a:rPr lang="en-US" sz="2300" dirty="0" smtClean="0"/>
              <a:t>architecture characteristics</a:t>
            </a:r>
            <a:r>
              <a:rPr lang="en-US" sz="2300" dirty="0"/>
              <a:t>, both beneficial </a:t>
            </a:r>
            <a:r>
              <a:rPr lang="en-US" sz="2300" dirty="0" smtClean="0"/>
              <a:t>and detrimental</a:t>
            </a:r>
            <a:r>
              <a:rPr lang="en-US" sz="2300" dirty="0"/>
              <a:t>.</a:t>
            </a:r>
            <a:endParaRPr lang="en-US" sz="2300" dirty="0" smtClean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/>
        </p:nvSpPr>
        <p:spPr>
          <a:xfrm>
            <a:off x="0" y="6492875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/>
              <a:t>@Dr. </a:t>
            </a:r>
            <a:r>
              <a:rPr lang="en-US" sz="1100" i="1" dirty="0" err="1" smtClean="0"/>
              <a:t>Ugrasen</a:t>
            </a:r>
            <a:r>
              <a:rPr lang="en-US" sz="1100" i="1" dirty="0" smtClean="0"/>
              <a:t> Suman, Professor, SCSIT, DAVV Indore (MP), India</a:t>
            </a:r>
            <a:endParaRPr lang="en-US" sz="1100" i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5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+mn-lt"/>
                <a:cs typeface="Times New Roman" pitchFamily="18" charset="0"/>
              </a:rPr>
              <a:t>Big Ball of Mud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88"/>
            <a:ext cx="8229600" cy="5427662"/>
          </a:xfrm>
        </p:spPr>
        <p:txBody>
          <a:bodyPr>
            <a:noAutofit/>
          </a:bodyPr>
          <a:lstStyle/>
          <a:p>
            <a:r>
              <a:rPr lang="en-US" sz="2300" dirty="0" smtClean="0">
                <a:cs typeface="Times New Roman" pitchFamily="18" charset="0"/>
              </a:rPr>
              <a:t> </a:t>
            </a:r>
            <a:r>
              <a:rPr lang="en-US" sz="2300" dirty="0"/>
              <a:t>Architecture styles, sometimes called architecture patterns, describe a named </a:t>
            </a:r>
            <a:r>
              <a:rPr lang="en-US" sz="2300" dirty="0" smtClean="0"/>
              <a:t>relationship of </a:t>
            </a:r>
            <a:r>
              <a:rPr lang="en-US" sz="2300" dirty="0"/>
              <a:t>components covering a variety of architecture characteristics</a:t>
            </a:r>
            <a:r>
              <a:rPr lang="en-US" sz="2300" dirty="0" smtClean="0"/>
              <a:t>.</a:t>
            </a:r>
          </a:p>
          <a:p>
            <a:r>
              <a:rPr lang="en-US" sz="2300" dirty="0" smtClean="0"/>
              <a:t>An </a:t>
            </a:r>
            <a:r>
              <a:rPr lang="en-US" sz="2300" i="1" dirty="0" smtClean="0">
                <a:solidFill>
                  <a:srgbClr val="C00000"/>
                </a:solidFill>
              </a:rPr>
              <a:t>architecture </a:t>
            </a:r>
            <a:r>
              <a:rPr lang="en-US" sz="2300" i="1" dirty="0">
                <a:solidFill>
                  <a:srgbClr val="C00000"/>
                </a:solidFill>
              </a:rPr>
              <a:t>style</a:t>
            </a:r>
            <a:r>
              <a:rPr lang="en-US" sz="2300" dirty="0">
                <a:solidFill>
                  <a:srgbClr val="C00000"/>
                </a:solidFill>
              </a:rPr>
              <a:t> </a:t>
            </a:r>
            <a:r>
              <a:rPr lang="en-US" sz="2300" dirty="0" smtClean="0"/>
              <a:t>is the </a:t>
            </a:r>
            <a:r>
              <a:rPr lang="en-US" sz="2300" dirty="0"/>
              <a:t>overarching structure of how the </a:t>
            </a:r>
            <a:r>
              <a:rPr lang="en-US" sz="2300" dirty="0" smtClean="0"/>
              <a:t>user interface </a:t>
            </a:r>
            <a:r>
              <a:rPr lang="en-US" sz="2300" dirty="0"/>
              <a:t>and backend source code are organized (such as within layers of a </a:t>
            </a:r>
            <a:r>
              <a:rPr lang="en-US" sz="2300" dirty="0" smtClean="0"/>
              <a:t>monolithic deployment </a:t>
            </a:r>
            <a:r>
              <a:rPr lang="en-US" sz="2300" dirty="0"/>
              <a:t>or separately deployed services) and how that source code </a:t>
            </a:r>
            <a:r>
              <a:rPr lang="en-US" sz="2300" dirty="0" smtClean="0"/>
              <a:t>interacts </a:t>
            </a:r>
            <a:r>
              <a:rPr lang="en-IN" sz="2300" dirty="0" smtClean="0"/>
              <a:t>with </a:t>
            </a:r>
            <a:r>
              <a:rPr lang="en-IN" sz="2300" dirty="0"/>
              <a:t>a </a:t>
            </a:r>
            <a:r>
              <a:rPr lang="en-IN" sz="2300" dirty="0" err="1"/>
              <a:t>datastore</a:t>
            </a:r>
            <a:r>
              <a:rPr lang="en-IN" sz="2300" dirty="0" smtClean="0"/>
              <a:t>.</a:t>
            </a:r>
          </a:p>
          <a:p>
            <a:r>
              <a:rPr lang="en-US" sz="2300" i="1" dirty="0">
                <a:solidFill>
                  <a:srgbClr val="C00000"/>
                </a:solidFill>
              </a:rPr>
              <a:t>Architecture patterns</a:t>
            </a:r>
            <a:r>
              <a:rPr lang="en-US" sz="2300" dirty="0">
                <a:solidFill>
                  <a:srgbClr val="C00000"/>
                </a:solidFill>
              </a:rPr>
              <a:t>, </a:t>
            </a:r>
            <a:r>
              <a:rPr lang="en-US" sz="2300" dirty="0"/>
              <a:t>on the other hand, are lower-level </a:t>
            </a:r>
            <a:r>
              <a:rPr lang="en-US" sz="2300" dirty="0" smtClean="0"/>
              <a:t>design structures </a:t>
            </a:r>
            <a:r>
              <a:rPr lang="en-US" sz="2300" dirty="0"/>
              <a:t>that help form specific solutions within an architecture style (such as </a:t>
            </a:r>
            <a:r>
              <a:rPr lang="en-US" sz="2300" dirty="0" smtClean="0"/>
              <a:t>how to </a:t>
            </a:r>
            <a:r>
              <a:rPr lang="en-US" sz="2300" dirty="0"/>
              <a:t>achieve high scalability or high performance within a set of operations or </a:t>
            </a:r>
            <a:r>
              <a:rPr lang="en-US" sz="2300" dirty="0" smtClean="0"/>
              <a:t>between </a:t>
            </a:r>
            <a:r>
              <a:rPr lang="en-IN" sz="2300" dirty="0" smtClean="0"/>
              <a:t>sets </a:t>
            </a:r>
            <a:r>
              <a:rPr lang="en-IN" sz="2300" dirty="0"/>
              <a:t>of services).</a:t>
            </a:r>
            <a:endParaRPr lang="en-IN" sz="2300" dirty="0" smtClean="0"/>
          </a:p>
          <a:p>
            <a:r>
              <a:rPr lang="en-US" sz="2300" dirty="0"/>
              <a:t>An architecture style describes the topology, assumed and default </a:t>
            </a:r>
            <a:r>
              <a:rPr lang="en-US" sz="2300" dirty="0" smtClean="0"/>
              <a:t>architecture characteristics</a:t>
            </a:r>
            <a:r>
              <a:rPr lang="en-US" sz="2300" dirty="0"/>
              <a:t>, both beneficial </a:t>
            </a:r>
            <a:r>
              <a:rPr lang="en-US" sz="2300" dirty="0" smtClean="0"/>
              <a:t>and detrimental</a:t>
            </a:r>
            <a:r>
              <a:rPr lang="en-US" sz="2300" dirty="0"/>
              <a:t>.</a:t>
            </a:r>
            <a:endParaRPr lang="en-US" sz="2300" dirty="0" smtClean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/>
        </p:nvSpPr>
        <p:spPr>
          <a:xfrm>
            <a:off x="0" y="6492875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>
                <a:solidFill>
                  <a:prstClr val="black"/>
                </a:solidFill>
              </a:rPr>
              <a:t>@Dr. </a:t>
            </a:r>
            <a:r>
              <a:rPr lang="en-US" sz="1100" i="1" dirty="0" err="1" smtClean="0">
                <a:solidFill>
                  <a:prstClr val="black"/>
                </a:solidFill>
              </a:rPr>
              <a:t>Ugrasen</a:t>
            </a:r>
            <a:r>
              <a:rPr lang="en-US" sz="1100" i="1" dirty="0" smtClean="0">
                <a:solidFill>
                  <a:prstClr val="black"/>
                </a:solidFill>
              </a:rPr>
              <a:t> Suman, Professor, SCSIT, DAVV Indore (MP), India</a:t>
            </a:r>
            <a:endParaRPr lang="en-US" sz="1100" i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93993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5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+mn-lt"/>
                <a:cs typeface="Times New Roman" pitchFamily="18" charset="0"/>
              </a:rPr>
              <a:t>Big Ball of Mud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88"/>
            <a:ext cx="8229600" cy="5427662"/>
          </a:xfrm>
        </p:spPr>
        <p:txBody>
          <a:bodyPr>
            <a:noAutofit/>
          </a:bodyPr>
          <a:lstStyle/>
          <a:p>
            <a:r>
              <a:rPr lang="en-US" sz="2400" dirty="0" smtClean="0"/>
              <a:t>In </a:t>
            </a:r>
            <a:r>
              <a:rPr lang="en-US" sz="2400" dirty="0"/>
              <a:t>general, architects want to avoid this type of architecture at all costs. 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lack </a:t>
            </a:r>
            <a:r>
              <a:rPr lang="en-US" sz="2400" dirty="0" smtClean="0"/>
              <a:t>of structure </a:t>
            </a:r>
            <a:r>
              <a:rPr lang="en-US" sz="2400" dirty="0"/>
              <a:t>makes </a:t>
            </a:r>
            <a:r>
              <a:rPr lang="en-US" sz="2400" dirty="0">
                <a:solidFill>
                  <a:srgbClr val="C00000"/>
                </a:solidFill>
              </a:rPr>
              <a:t>change</a:t>
            </a:r>
            <a:r>
              <a:rPr lang="en-US" sz="2400" dirty="0"/>
              <a:t> increasingly </a:t>
            </a:r>
            <a:r>
              <a:rPr lang="en-US" sz="2400" dirty="0" smtClean="0"/>
              <a:t>difficult and also suffers from </a:t>
            </a:r>
            <a:r>
              <a:rPr lang="en-US" sz="2400" dirty="0"/>
              <a:t>problems in </a:t>
            </a:r>
            <a:r>
              <a:rPr lang="en-US" sz="2400" dirty="0">
                <a:solidFill>
                  <a:srgbClr val="C00000"/>
                </a:solidFill>
              </a:rPr>
              <a:t>deployment, testability, scalability, </a:t>
            </a:r>
            <a:r>
              <a:rPr lang="en-US" sz="2400" dirty="0"/>
              <a:t>and</a:t>
            </a:r>
            <a:r>
              <a:rPr lang="en-US" sz="2400" dirty="0">
                <a:solidFill>
                  <a:srgbClr val="C00000"/>
                </a:solidFill>
              </a:rPr>
              <a:t> performance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Such architecture anti-pattern 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occurs </a:t>
            </a:r>
            <a:r>
              <a:rPr lang="en-US" sz="2400" dirty="0"/>
              <a:t>quite commonly in the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     Real world</a:t>
            </a:r>
            <a:r>
              <a:rPr lang="en-US" sz="2400" dirty="0"/>
              <a:t>. </a:t>
            </a:r>
            <a:endParaRPr lang="en-US" sz="2400" dirty="0" smtClean="0"/>
          </a:p>
          <a:p>
            <a:r>
              <a:rPr lang="en-US" sz="2400" dirty="0" smtClean="0"/>
              <a:t>Few </a:t>
            </a:r>
            <a:r>
              <a:rPr lang="en-US" sz="2400" dirty="0"/>
              <a:t>architects intend to create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     one</a:t>
            </a:r>
            <a:r>
              <a:rPr lang="en-US" sz="2400" dirty="0"/>
              <a:t>, but many projects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     inadvertently manage to </a:t>
            </a:r>
            <a:r>
              <a:rPr lang="en-US" sz="2400" dirty="0"/>
              <a:t>create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     a </a:t>
            </a:r>
            <a:r>
              <a:rPr lang="en-US" sz="2400" dirty="0"/>
              <a:t>mess because of lack of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     governance </a:t>
            </a:r>
            <a:r>
              <a:rPr lang="en-US" sz="2400" dirty="0"/>
              <a:t>around code quality and structure.</a:t>
            </a:r>
            <a:endParaRPr lang="en-US" sz="2400" dirty="0" smtClean="0"/>
          </a:p>
          <a:p>
            <a:endParaRPr lang="en-US" sz="2300" dirty="0" smtClean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/>
        </p:nvSpPr>
        <p:spPr>
          <a:xfrm>
            <a:off x="0" y="6492875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>
                <a:solidFill>
                  <a:prstClr val="black"/>
                </a:solidFill>
              </a:rPr>
              <a:t>@Dr. </a:t>
            </a:r>
            <a:r>
              <a:rPr lang="en-US" sz="1100" i="1" dirty="0" err="1" smtClean="0">
                <a:solidFill>
                  <a:prstClr val="black"/>
                </a:solidFill>
              </a:rPr>
              <a:t>Ugrasen</a:t>
            </a:r>
            <a:r>
              <a:rPr lang="en-US" sz="1100" i="1" dirty="0" smtClean="0">
                <a:solidFill>
                  <a:prstClr val="black"/>
                </a:solidFill>
              </a:rPr>
              <a:t> Suman, Professor, SCSIT, DAVV Indore (MP), India</a:t>
            </a:r>
            <a:endParaRPr lang="en-US" sz="1100" i="1" dirty="0">
              <a:solidFill>
                <a:prstClr val="black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2590800"/>
            <a:ext cx="3708824" cy="351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4667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5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+mn-lt"/>
                <a:cs typeface="Times New Roman" pitchFamily="18" charset="0"/>
              </a:rPr>
              <a:t>Unitary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88"/>
            <a:ext cx="8229600" cy="5427662"/>
          </a:xfrm>
        </p:spPr>
        <p:txBody>
          <a:bodyPr>
            <a:noAutofit/>
          </a:bodyPr>
          <a:lstStyle/>
          <a:p>
            <a:r>
              <a:rPr lang="en-US" sz="2000" dirty="0"/>
              <a:t>When software originated, there was only the computer, and software ran on it.</a:t>
            </a:r>
          </a:p>
          <a:p>
            <a:r>
              <a:rPr lang="en-US" sz="2000" dirty="0"/>
              <a:t>Through the various eras of hardware and software evolution, the two started as </a:t>
            </a:r>
            <a:r>
              <a:rPr lang="en-US" sz="2000" dirty="0" smtClean="0"/>
              <a:t>a single </a:t>
            </a:r>
            <a:r>
              <a:rPr lang="en-US" sz="2000" dirty="0"/>
              <a:t>entity, then split as the need for more sophisticated capabilities grew. </a:t>
            </a:r>
            <a:endParaRPr lang="en-US" sz="2000" dirty="0" smtClean="0"/>
          </a:p>
          <a:p>
            <a:r>
              <a:rPr lang="en-US" sz="2000" dirty="0" smtClean="0"/>
              <a:t>For </a:t>
            </a:r>
            <a:r>
              <a:rPr lang="en-US" sz="2000" dirty="0"/>
              <a:t>example</a:t>
            </a:r>
            <a:r>
              <a:rPr lang="en-US" sz="2000" dirty="0" smtClean="0"/>
              <a:t>, mainframe </a:t>
            </a:r>
            <a:r>
              <a:rPr lang="en-US" sz="2000" dirty="0"/>
              <a:t>computers started as singular systems, then gradually separated </a:t>
            </a:r>
            <a:r>
              <a:rPr lang="en-US" sz="2000" dirty="0" smtClean="0"/>
              <a:t>data into </a:t>
            </a:r>
            <a:r>
              <a:rPr lang="en-US" sz="2000" dirty="0"/>
              <a:t>its own kind of system. </a:t>
            </a:r>
            <a:endParaRPr lang="en-US" sz="2000" dirty="0" smtClean="0"/>
          </a:p>
          <a:p>
            <a:r>
              <a:rPr lang="en-US" sz="2000" dirty="0" smtClean="0"/>
              <a:t>Similarly</a:t>
            </a:r>
            <a:r>
              <a:rPr lang="en-US" sz="2000" dirty="0"/>
              <a:t>, when personal computers first appeared, </a:t>
            </a:r>
            <a:r>
              <a:rPr lang="en-US" sz="2000" dirty="0" smtClean="0"/>
              <a:t>much of </a:t>
            </a:r>
            <a:r>
              <a:rPr lang="en-US" sz="2000" dirty="0"/>
              <a:t>the commercial development focused on single machines. </a:t>
            </a:r>
            <a:endParaRPr lang="en-US" sz="2000" dirty="0" smtClean="0"/>
          </a:p>
          <a:p>
            <a:r>
              <a:rPr lang="en-US" sz="2000" dirty="0" smtClean="0"/>
              <a:t>As </a:t>
            </a:r>
            <a:r>
              <a:rPr lang="en-US" sz="2000" dirty="0"/>
              <a:t>networking </a:t>
            </a:r>
            <a:r>
              <a:rPr lang="en-US" sz="2000" dirty="0" smtClean="0"/>
              <a:t>PCs became </a:t>
            </a:r>
            <a:r>
              <a:rPr lang="en-US" sz="2000" dirty="0"/>
              <a:t>common, distributed systems (such as client</a:t>
            </a:r>
            <a:r>
              <a:rPr lang="en-US" sz="2000" dirty="0" smtClean="0"/>
              <a:t>/ server</a:t>
            </a:r>
            <a:r>
              <a:rPr lang="en-US" sz="2000" dirty="0"/>
              <a:t>) appeared.</a:t>
            </a:r>
          </a:p>
          <a:p>
            <a:r>
              <a:rPr lang="en-US" sz="2000" dirty="0"/>
              <a:t>Few unitary architectures exist outside embedded systems and other highly </a:t>
            </a:r>
            <a:r>
              <a:rPr lang="en-US" sz="2000" dirty="0" smtClean="0"/>
              <a:t>constrained environments</a:t>
            </a:r>
            <a:r>
              <a:rPr lang="en-US" sz="2000" dirty="0"/>
              <a:t>. </a:t>
            </a:r>
            <a:endParaRPr lang="en-US" sz="2000" dirty="0" smtClean="0"/>
          </a:p>
          <a:p>
            <a:r>
              <a:rPr lang="en-US" sz="2000" dirty="0" smtClean="0"/>
              <a:t>Generally</a:t>
            </a:r>
            <a:r>
              <a:rPr lang="en-US" sz="2000" dirty="0"/>
              <a:t>, software systems tend to grow in functionality </a:t>
            </a:r>
            <a:r>
              <a:rPr lang="en-US" sz="2000" dirty="0" smtClean="0"/>
              <a:t>over time</a:t>
            </a:r>
            <a:r>
              <a:rPr lang="en-US" sz="2000" dirty="0"/>
              <a:t>, requiring separation of concerns to maintain operational architecture characteristics</a:t>
            </a:r>
            <a:r>
              <a:rPr lang="en-US" sz="2000" dirty="0" smtClean="0"/>
              <a:t>, such </a:t>
            </a:r>
            <a:r>
              <a:rPr lang="en-US" sz="2000" dirty="0"/>
              <a:t>as performance and scale.</a:t>
            </a:r>
            <a:endParaRPr lang="en-US" sz="2000" dirty="0" smtClean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/>
        </p:nvSpPr>
        <p:spPr>
          <a:xfrm>
            <a:off x="0" y="6492875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>
                <a:solidFill>
                  <a:prstClr val="black"/>
                </a:solidFill>
              </a:rPr>
              <a:t>@Dr. </a:t>
            </a:r>
            <a:r>
              <a:rPr lang="en-US" sz="1100" i="1" dirty="0" err="1" smtClean="0">
                <a:solidFill>
                  <a:prstClr val="black"/>
                </a:solidFill>
              </a:rPr>
              <a:t>Ugrasen</a:t>
            </a:r>
            <a:r>
              <a:rPr lang="en-US" sz="1100" i="1" dirty="0" smtClean="0">
                <a:solidFill>
                  <a:prstClr val="black"/>
                </a:solidFill>
              </a:rPr>
              <a:t> Suman, Professor, SCSIT, DAVV Indore (MP), India</a:t>
            </a:r>
            <a:endParaRPr lang="en-US" sz="1100" i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5887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5710"/>
            <a:ext cx="8229600" cy="715962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solidFill>
                  <a:srgbClr val="002060"/>
                </a:solidFill>
                <a:latin typeface="+mn-lt"/>
                <a:cs typeface="Times New Roman" pitchFamily="18" charset="0"/>
              </a:rPr>
              <a:t>Monolithic Vs. </a:t>
            </a:r>
            <a:r>
              <a:rPr lang="en-US" sz="3200" b="1" dirty="0">
                <a:solidFill>
                  <a:srgbClr val="002060"/>
                </a:solidFill>
                <a:latin typeface="+mn-lt"/>
                <a:cs typeface="Times New Roman" pitchFamily="18" charset="0"/>
              </a:rPr>
              <a:t>Distributed Architectures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036033"/>
            <a:ext cx="81153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itchFamily="18" charset="0"/>
              </a:rPr>
              <a:t>Architecture styles can be classified into two main types: monolithic (single </a:t>
            </a:r>
            <a:r>
              <a:rPr lang="en-US" sz="2400" dirty="0" smtClean="0">
                <a:cs typeface="Times New Roman" pitchFamily="18" charset="0"/>
              </a:rPr>
              <a:t>deployment unit </a:t>
            </a:r>
            <a:r>
              <a:rPr lang="en-US" sz="2400" dirty="0">
                <a:cs typeface="Times New Roman" pitchFamily="18" charset="0"/>
              </a:rPr>
              <a:t>of all code) and distributed (multiple deployment units connected </a:t>
            </a:r>
            <a:r>
              <a:rPr lang="en-US" sz="2400" dirty="0" smtClean="0">
                <a:cs typeface="Times New Roman" pitchFamily="18" charset="0"/>
              </a:rPr>
              <a:t>through remote </a:t>
            </a:r>
            <a:r>
              <a:rPr lang="en-US" sz="2400" dirty="0">
                <a:cs typeface="Times New Roman" pitchFamily="18" charset="0"/>
              </a:rPr>
              <a:t>access protocols</a:t>
            </a:r>
            <a:r>
              <a:rPr lang="en-US" sz="2400" dirty="0" smtClean="0">
                <a:cs typeface="Times New Roman" pitchFamily="18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Distributed architecture styles, while being much more powerful in terms of performance</a:t>
            </a:r>
            <a:r>
              <a:rPr lang="en-US" sz="2400" dirty="0" smtClean="0"/>
              <a:t>, scalability</a:t>
            </a:r>
            <a:r>
              <a:rPr lang="en-US" sz="2400" dirty="0"/>
              <a:t>, and availability than monolithic architecture styles, have </a:t>
            </a:r>
            <a:r>
              <a:rPr lang="en-US" sz="2400" dirty="0" smtClean="0"/>
              <a:t>significant trade-offs </a:t>
            </a:r>
            <a:r>
              <a:rPr lang="en-US" sz="2400" dirty="0"/>
              <a:t>for this power. 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The </a:t>
            </a:r>
            <a:r>
              <a:rPr lang="en-US" sz="2400" dirty="0"/>
              <a:t>first group of issues facing all </a:t>
            </a:r>
            <a:r>
              <a:rPr lang="en-US" sz="2400" dirty="0" smtClean="0"/>
              <a:t>distributed architectures </a:t>
            </a:r>
            <a:r>
              <a:rPr lang="en-US" sz="2400" dirty="0"/>
              <a:t>are described in </a:t>
            </a:r>
            <a:r>
              <a:rPr lang="en-US" sz="2400" i="1" dirty="0">
                <a:solidFill>
                  <a:srgbClr val="C00000"/>
                </a:solidFill>
              </a:rPr>
              <a:t>the fallacies of distributed </a:t>
            </a:r>
            <a:r>
              <a:rPr lang="en-US" sz="2400" i="1" dirty="0" smtClean="0">
                <a:solidFill>
                  <a:srgbClr val="C00000"/>
                </a:solidFill>
              </a:rPr>
              <a:t>computing</a:t>
            </a:r>
            <a:r>
              <a:rPr lang="en-US" sz="2400" i="1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smtClean="0"/>
              <a:t>A </a:t>
            </a:r>
            <a:r>
              <a:rPr lang="en-IN" sz="2400" i="1" dirty="0">
                <a:solidFill>
                  <a:srgbClr val="C00000"/>
                </a:solidFill>
              </a:rPr>
              <a:t>fallacy</a:t>
            </a:r>
            <a:r>
              <a:rPr lang="en-IN" sz="2400" i="1" dirty="0"/>
              <a:t> </a:t>
            </a:r>
            <a:r>
              <a:rPr lang="en-IN" sz="2400" dirty="0" smtClean="0"/>
              <a:t>is </a:t>
            </a:r>
            <a:r>
              <a:rPr lang="en-US" sz="2400" dirty="0" smtClean="0"/>
              <a:t>something </a:t>
            </a:r>
            <a:r>
              <a:rPr lang="en-US" sz="2400" dirty="0"/>
              <a:t>that is believed or assumed to be true but is not. 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/>
        </p:nvSpPr>
        <p:spPr>
          <a:xfrm>
            <a:off x="0" y="6492875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/>
              <a:t>@Dr. </a:t>
            </a:r>
            <a:r>
              <a:rPr lang="en-US" sz="1100" i="1" dirty="0" err="1" smtClean="0"/>
              <a:t>Ugrasen</a:t>
            </a:r>
            <a:r>
              <a:rPr lang="en-US" sz="1100" i="1" dirty="0" smtClean="0"/>
              <a:t> Suman, Professor, SCSIT, DAVV Indore (MP), India</a:t>
            </a:r>
            <a:endParaRPr lang="en-US" sz="1100" i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5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2060"/>
                </a:solidFill>
                <a:latin typeface="+mn-lt"/>
                <a:cs typeface="Times New Roman" pitchFamily="18" charset="0"/>
              </a:rPr>
              <a:t>The fallacies </a:t>
            </a:r>
            <a:r>
              <a:rPr lang="en-US" sz="3200" b="1" dirty="0">
                <a:solidFill>
                  <a:srgbClr val="002060"/>
                </a:solidFill>
                <a:latin typeface="+mn-lt"/>
                <a:cs typeface="Times New Roman" pitchFamily="18" charset="0"/>
              </a:rPr>
              <a:t>of distributed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34269"/>
            <a:ext cx="8229600" cy="5289550"/>
          </a:xfrm>
        </p:spPr>
        <p:txBody>
          <a:bodyPr>
            <a:noAutofit/>
          </a:bodyPr>
          <a:lstStyle/>
          <a:p>
            <a:r>
              <a:rPr lang="en-IN" sz="2000" dirty="0"/>
              <a:t>The Network Is </a:t>
            </a:r>
            <a:r>
              <a:rPr lang="en-IN" sz="2000" dirty="0" smtClean="0"/>
              <a:t>Reliable</a:t>
            </a:r>
          </a:p>
          <a:p>
            <a:pPr lvl="1"/>
            <a:r>
              <a:rPr lang="en-US" sz="1600" i="1" dirty="0">
                <a:solidFill>
                  <a:srgbClr val="C00000"/>
                </a:solidFill>
              </a:rPr>
              <a:t>The network is not </a:t>
            </a:r>
            <a:r>
              <a:rPr lang="en-US" sz="1600" i="1" dirty="0" smtClean="0">
                <a:solidFill>
                  <a:srgbClr val="C00000"/>
                </a:solidFill>
              </a:rPr>
              <a:t>reliable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IN" sz="2000" dirty="0"/>
              <a:t>Latency </a:t>
            </a:r>
            <a:r>
              <a:rPr lang="en-IN" sz="2000" dirty="0" smtClean="0"/>
              <a:t>Is Zero</a:t>
            </a:r>
          </a:p>
          <a:p>
            <a:pPr lvl="1"/>
            <a:r>
              <a:rPr lang="en-IN" sz="1600" i="1" dirty="0">
                <a:solidFill>
                  <a:srgbClr val="C00000"/>
                </a:solidFill>
              </a:rPr>
              <a:t>Latency is not </a:t>
            </a:r>
            <a:r>
              <a:rPr lang="en-IN" sz="1600" i="1" dirty="0" smtClean="0">
                <a:solidFill>
                  <a:srgbClr val="C00000"/>
                </a:solidFill>
              </a:rPr>
              <a:t>zero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IN" sz="2000" dirty="0"/>
              <a:t>Bandwidth Is Infinite</a:t>
            </a:r>
          </a:p>
          <a:p>
            <a:pPr lvl="1"/>
            <a:r>
              <a:rPr lang="en-IN" sz="1600" i="1" dirty="0">
                <a:solidFill>
                  <a:srgbClr val="C00000"/>
                </a:solidFill>
              </a:rPr>
              <a:t>Bandwidth is not infinite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IN" sz="2000" dirty="0"/>
              <a:t>The Network Is Secure</a:t>
            </a:r>
          </a:p>
          <a:p>
            <a:pPr lvl="1"/>
            <a:r>
              <a:rPr lang="en-US" sz="1600" i="1" dirty="0">
                <a:solidFill>
                  <a:srgbClr val="C00000"/>
                </a:solidFill>
              </a:rPr>
              <a:t>The network is not secure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IN" sz="2000" dirty="0"/>
              <a:t>The Topology Never Changes</a:t>
            </a:r>
          </a:p>
          <a:p>
            <a:pPr lvl="1"/>
            <a:r>
              <a:rPr lang="en-US" sz="1600" i="1" dirty="0">
                <a:solidFill>
                  <a:srgbClr val="C00000"/>
                </a:solidFill>
              </a:rPr>
              <a:t>The network topology always changes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2000" dirty="0"/>
              <a:t>There Is Only One Administrator</a:t>
            </a:r>
          </a:p>
          <a:p>
            <a:pPr lvl="1"/>
            <a:r>
              <a:rPr lang="en-US" sz="1600" i="1" dirty="0">
                <a:solidFill>
                  <a:srgbClr val="C00000"/>
                </a:solidFill>
              </a:rPr>
              <a:t>There are many network administrators, not just one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IN" sz="2000" dirty="0"/>
              <a:t>Transport Cost Is Zero</a:t>
            </a:r>
          </a:p>
          <a:p>
            <a:pPr lvl="1"/>
            <a:r>
              <a:rPr lang="en-IN" sz="1600" i="1" dirty="0">
                <a:solidFill>
                  <a:srgbClr val="C00000"/>
                </a:solidFill>
              </a:rPr>
              <a:t>Remote access costs money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IN" sz="2000" dirty="0"/>
              <a:t>The Network Is Homogeneous</a:t>
            </a:r>
          </a:p>
          <a:p>
            <a:pPr lvl="1"/>
            <a:r>
              <a:rPr lang="en-US" sz="1600" i="1" dirty="0">
                <a:solidFill>
                  <a:srgbClr val="C00000"/>
                </a:solidFill>
              </a:rPr>
              <a:t>The network is not homogeneous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/>
        </p:nvSpPr>
        <p:spPr>
          <a:xfrm>
            <a:off x="0" y="6492875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>
                <a:solidFill>
                  <a:prstClr val="black"/>
                </a:solidFill>
              </a:rPr>
              <a:t>@Dr. </a:t>
            </a:r>
            <a:r>
              <a:rPr lang="en-US" sz="1100" i="1" dirty="0" err="1" smtClean="0">
                <a:solidFill>
                  <a:prstClr val="black"/>
                </a:solidFill>
              </a:rPr>
              <a:t>Ugrasen</a:t>
            </a:r>
            <a:r>
              <a:rPr lang="en-US" sz="1100" i="1" dirty="0" smtClean="0">
                <a:solidFill>
                  <a:prstClr val="black"/>
                </a:solidFill>
              </a:rPr>
              <a:t> Suman, Professor, SCSIT, DAVV Indore (MP), India</a:t>
            </a:r>
            <a:endParaRPr lang="en-US" sz="1100" i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53347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563562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+mn-lt"/>
                <a:cs typeface="Times New Roman" pitchFamily="18" charset="0"/>
              </a:rPr>
              <a:t>Classification of Architectural styles</a:t>
            </a:r>
            <a:endParaRPr lang="en-IN" sz="3200" b="1" dirty="0">
              <a:solidFill>
                <a:srgbClr val="002060"/>
              </a:solidFill>
              <a:latin typeface="+mn-lt"/>
              <a:cs typeface="Times New Roman" pitchFamily="18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9496466"/>
              </p:ext>
            </p:extLst>
          </p:nvPr>
        </p:nvGraphicFramePr>
        <p:xfrm>
          <a:off x="514349" y="960584"/>
          <a:ext cx="8096251" cy="46708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7651"/>
                <a:gridCol w="4038600"/>
              </a:tblGrid>
              <a:tr h="3883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 smtClean="0">
                          <a:solidFill>
                            <a:srgbClr val="C00000"/>
                          </a:solidFill>
                        </a:rPr>
                        <a:t>Monolithic</a:t>
                      </a:r>
                      <a:endParaRPr lang="en-US" sz="2400" dirty="0" smtClean="0">
                        <a:solidFill>
                          <a:srgbClr val="C00000"/>
                        </a:solidFill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>
                          <a:solidFill>
                            <a:srgbClr val="C00000"/>
                          </a:solidFill>
                        </a:rPr>
                        <a:t> Distributed</a:t>
                      </a:r>
                      <a:endParaRPr lang="en-IN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213661">
                <a:tc>
                  <a:txBody>
                    <a:bodyPr/>
                    <a:lstStyle/>
                    <a:p>
                      <a:pPr marL="271463" indent="-271463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 smtClean="0">
                          <a:cs typeface="Times New Roman" pitchFamily="18" charset="0"/>
                        </a:rPr>
                        <a:t>Layered </a:t>
                      </a:r>
                    </a:p>
                    <a:p>
                      <a:pPr marL="271463" indent="-271463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 smtClean="0">
                          <a:cs typeface="Times New Roman" pitchFamily="18" charset="0"/>
                        </a:rPr>
                        <a:t>Pipe &amp; Filter</a:t>
                      </a:r>
                      <a:endParaRPr lang="en-US" sz="2400" dirty="0" smtClean="0">
                        <a:cs typeface="Times New Roman" pitchFamily="18" charset="0"/>
                      </a:endParaRPr>
                    </a:p>
                    <a:p>
                      <a:pPr marL="271463" indent="-271463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 smtClean="0"/>
                        <a:t>Microkernel</a:t>
                      </a:r>
                      <a:endParaRPr lang="en-US" sz="2400" dirty="0" smtClean="0">
                        <a:cs typeface="Times New Roman" pitchFamily="18" charset="0"/>
                      </a:endParaRPr>
                    </a:p>
                    <a:p>
                      <a:pPr marL="271463" indent="-271463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 smtClean="0">
                          <a:cs typeface="Times New Roman" pitchFamily="18" charset="0"/>
                        </a:rPr>
                        <a:t>Data-flow</a:t>
                      </a:r>
                    </a:p>
                    <a:p>
                      <a:pPr marL="271463" marR="0" indent="-27146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dirty="0" smtClean="0">
                          <a:cs typeface="Times New Roman" pitchFamily="18" charset="0"/>
                        </a:rPr>
                        <a:t>Interpreter</a:t>
                      </a:r>
                    </a:p>
                    <a:p>
                      <a:pPr marL="271463" marR="0" indent="-27146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dirty="0" smtClean="0">
                          <a:cs typeface="Times New Roman" pitchFamily="18" charset="0"/>
                        </a:rPr>
                        <a:t>Rule-based</a:t>
                      </a:r>
                    </a:p>
                    <a:p>
                      <a:pPr marL="271463" indent="-271463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endParaRPr lang="en-US" sz="2400" dirty="0" smtClean="0"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71463" indent="-271463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 smtClean="0">
                          <a:cs typeface="Times New Roman" pitchFamily="18" charset="0"/>
                        </a:rPr>
                        <a:t>Client-server</a:t>
                      </a:r>
                    </a:p>
                    <a:p>
                      <a:pPr marL="271463" indent="-271463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 smtClean="0">
                          <a:cs typeface="Times New Roman" pitchFamily="18" charset="0"/>
                        </a:rPr>
                        <a:t>Shared data</a:t>
                      </a:r>
                    </a:p>
                    <a:p>
                      <a:pPr marL="271463" indent="-271463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 smtClean="0">
                          <a:cs typeface="Times New Roman" pitchFamily="18" charset="0"/>
                        </a:rPr>
                        <a:t>Event-based </a:t>
                      </a:r>
                    </a:p>
                    <a:p>
                      <a:pPr marL="271463" indent="-271463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 smtClean="0">
                          <a:cs typeface="Times New Roman" pitchFamily="18" charset="0"/>
                        </a:rPr>
                        <a:t>Service-oriented</a:t>
                      </a:r>
                    </a:p>
                    <a:p>
                      <a:pPr marL="271463" indent="-271463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 smtClean="0"/>
                        <a:t>Space-based</a:t>
                      </a:r>
                      <a:endParaRPr lang="en-US" sz="2400" dirty="0" smtClean="0">
                        <a:cs typeface="Times New Roman" pitchFamily="18" charset="0"/>
                      </a:endParaRPr>
                    </a:p>
                    <a:p>
                      <a:pPr marL="271463" indent="-271463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 err="1" smtClean="0"/>
                        <a:t>Microservices</a:t>
                      </a:r>
                      <a:endParaRPr lang="en-US" sz="2400" dirty="0" smtClean="0">
                        <a:cs typeface="Times New Roman" pitchFamily="18" charset="0"/>
                      </a:endParaRPr>
                    </a:p>
                    <a:p>
                      <a:pPr marL="271463" indent="-271463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 smtClean="0">
                          <a:cs typeface="Times New Roman" pitchFamily="18" charset="0"/>
                        </a:rPr>
                        <a:t>Object-oriented</a:t>
                      </a:r>
                    </a:p>
                    <a:p>
                      <a:pPr marL="271463" indent="-271463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 smtClean="0">
                          <a:cs typeface="Times New Roman" pitchFamily="18" charset="0"/>
                        </a:rPr>
                        <a:t>Mobile-code</a:t>
                      </a:r>
                    </a:p>
                    <a:p>
                      <a:pPr marL="271463" indent="-271463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 smtClean="0">
                          <a:cs typeface="Times New Roman" pitchFamily="18" charset="0"/>
                        </a:rPr>
                        <a:t>Implicit invocation</a:t>
                      </a:r>
                    </a:p>
                    <a:p>
                      <a:pPr marL="271463" indent="-271463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 smtClean="0">
                          <a:cs typeface="Times New Roman" pitchFamily="18" charset="0"/>
                        </a:rPr>
                        <a:t>Publish-subscribe</a:t>
                      </a:r>
                    </a:p>
                    <a:p>
                      <a:pPr marL="271463" indent="-271463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 smtClean="0">
                          <a:cs typeface="Times New Roman" pitchFamily="18" charset="0"/>
                        </a:rPr>
                        <a:t>Peer-to-peer, etc.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71499" y="2805454"/>
            <a:ext cx="8115301" cy="3550896"/>
          </a:xfrm>
          <a:prstGeom prst="rect">
            <a:avLst/>
          </a:prstGeom>
        </p:spPr>
        <p:txBody>
          <a:bodyPr vert="horz" lIns="91440" tIns="45720" rIns="91440" bIns="45720" numCol="2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IN" sz="2400" dirty="0" smtClean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246379286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solidFill>
                  <a:srgbClr val="002060"/>
                </a:solidFill>
                <a:latin typeface="+mn-lt"/>
                <a:cs typeface="Times New Roman" pitchFamily="18" charset="0"/>
              </a:rPr>
              <a:t/>
            </a:r>
            <a:br>
              <a:rPr lang="en-US" sz="3200" b="1" dirty="0" smtClean="0">
                <a:solidFill>
                  <a:srgbClr val="002060"/>
                </a:solidFill>
                <a:latin typeface="+mn-lt"/>
                <a:cs typeface="Times New Roman" pitchFamily="18" charset="0"/>
              </a:rPr>
            </a:br>
            <a:r>
              <a:rPr lang="en-US" sz="3200" b="1" dirty="0" smtClean="0">
                <a:solidFill>
                  <a:srgbClr val="002060"/>
                </a:solidFill>
                <a:latin typeface="+mn-lt"/>
                <a:cs typeface="Times New Roman" pitchFamily="18" charset="0"/>
              </a:rPr>
              <a:t/>
            </a:r>
            <a:br>
              <a:rPr lang="en-US" sz="3200" b="1" dirty="0" smtClean="0">
                <a:solidFill>
                  <a:srgbClr val="002060"/>
                </a:solidFill>
                <a:latin typeface="+mn-lt"/>
                <a:cs typeface="Times New Roman" pitchFamily="18" charset="0"/>
              </a:rPr>
            </a:br>
            <a:r>
              <a:rPr lang="en-US" sz="3200" b="1" dirty="0">
                <a:solidFill>
                  <a:srgbClr val="002060"/>
                </a:solidFill>
                <a:cs typeface="Times New Roman" pitchFamily="18" charset="0"/>
              </a:rPr>
              <a:t>Layered Architectural Style</a:t>
            </a:r>
            <a:br>
              <a:rPr lang="en-US" sz="3200" b="1" dirty="0">
                <a:solidFill>
                  <a:srgbClr val="002060"/>
                </a:solidFill>
                <a:cs typeface="Times New Roman" pitchFamily="18" charset="0"/>
              </a:rPr>
            </a:br>
            <a:r>
              <a:rPr lang="en-US" sz="3200" dirty="0" smtClean="0">
                <a:solidFill>
                  <a:srgbClr val="002060"/>
                </a:solidFill>
                <a:latin typeface="+mn-lt"/>
                <a:cs typeface="Times New Roman" pitchFamily="18" charset="0"/>
              </a:rPr>
              <a:t/>
            </a:r>
            <a:br>
              <a:rPr lang="en-US" sz="3200" dirty="0" smtClean="0">
                <a:solidFill>
                  <a:srgbClr val="002060"/>
                </a:solidFill>
                <a:latin typeface="+mn-lt"/>
                <a:cs typeface="Times New Roman" pitchFamily="18" charset="0"/>
              </a:rPr>
            </a:br>
            <a:endParaRPr lang="en-US" sz="3200" dirty="0">
              <a:solidFill>
                <a:srgbClr val="002060"/>
              </a:solidFill>
              <a:latin typeface="+mn-lt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Autofit/>
          </a:bodyPr>
          <a:lstStyle/>
          <a:p>
            <a:pPr algn="just"/>
            <a:r>
              <a:rPr lang="en-US" sz="2400" dirty="0" smtClean="0">
                <a:cs typeface="Times New Roman" pitchFamily="18" charset="0"/>
              </a:rPr>
              <a:t>Layered style of architecture is the hierarchical organization of a system in layers. </a:t>
            </a:r>
          </a:p>
          <a:p>
            <a:pPr algn="just"/>
            <a:r>
              <a:rPr lang="en-US" sz="2400" dirty="0" smtClean="0">
                <a:cs typeface="Times New Roman" pitchFamily="18" charset="0"/>
              </a:rPr>
              <a:t>Layered systems are designed in a modular fashion at each layer in the architecture. </a:t>
            </a:r>
          </a:p>
          <a:p>
            <a:pPr algn="just"/>
            <a:r>
              <a:rPr lang="en-US" sz="2400" dirty="0" smtClean="0">
                <a:cs typeface="Times New Roman" pitchFamily="18" charset="0"/>
              </a:rPr>
              <a:t>There are well-defined interfaces between the layers. A layer provides service to the layer above it and acts as a client to the layer below it. </a:t>
            </a:r>
          </a:p>
          <a:p>
            <a:pPr algn="just"/>
            <a:r>
              <a:rPr lang="en-US" sz="2400" dirty="0" smtClean="0">
                <a:cs typeface="Times New Roman" pitchFamily="18" charset="0"/>
              </a:rPr>
              <a:t>Examples: Layered organization of an operating system, a database system, an object request broker (ORB), network layers, etc. </a:t>
            </a:r>
          </a:p>
          <a:p>
            <a:pPr algn="just"/>
            <a:endParaRPr lang="en-US" sz="2400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/>
        </p:nvSpPr>
        <p:spPr>
          <a:xfrm>
            <a:off x="0" y="6492875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/>
              <a:t>@Dr. </a:t>
            </a:r>
            <a:r>
              <a:rPr lang="en-US" sz="1100" i="1" dirty="0" err="1" smtClean="0"/>
              <a:t>Ugrasen</a:t>
            </a:r>
            <a:r>
              <a:rPr lang="en-US" sz="1100" i="1" dirty="0" smtClean="0"/>
              <a:t> Suman, Professor, SCSIT, DAVV Indore (MP), India</a:t>
            </a:r>
            <a:endParaRPr lang="en-US" sz="1100" i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333" y="336991"/>
            <a:ext cx="8229600" cy="73183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2060"/>
                </a:solidFill>
                <a:cs typeface="Times New Roman" pitchFamily="18" charset="0"/>
              </a:rPr>
              <a:t>Layered Architectural </a:t>
            </a:r>
            <a:r>
              <a:rPr lang="en-US" sz="3200" b="1" dirty="0" smtClean="0">
                <a:solidFill>
                  <a:srgbClr val="002060"/>
                </a:solidFill>
                <a:cs typeface="Times New Roman" pitchFamily="18" charset="0"/>
              </a:rPr>
              <a:t>Style</a:t>
            </a:r>
            <a:endParaRPr lang="en-US" sz="3200" b="1" dirty="0">
              <a:solidFill>
                <a:srgbClr val="002060"/>
              </a:solidFill>
              <a:cs typeface="Times New Roman" pitchFamily="18" charset="0"/>
            </a:endParaRP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2049" name="Group 1"/>
          <p:cNvGrpSpPr>
            <a:grpSpLocks noChangeAspect="1"/>
          </p:cNvGrpSpPr>
          <p:nvPr/>
        </p:nvGrpSpPr>
        <p:grpSpPr bwMode="auto">
          <a:xfrm>
            <a:off x="609600" y="1274189"/>
            <a:ext cx="8229600" cy="4876800"/>
            <a:chOff x="4119" y="9622"/>
            <a:chExt cx="4166" cy="2814"/>
          </a:xfrm>
        </p:grpSpPr>
        <p:sp>
          <p:nvSpPr>
            <p:cNvPr id="2068" name="AutoShape 20"/>
            <p:cNvSpPr>
              <a:spLocks noChangeAspect="1" noChangeArrowheads="1" noTextEdit="1"/>
            </p:cNvSpPr>
            <p:nvPr/>
          </p:nvSpPr>
          <p:spPr bwMode="auto">
            <a:xfrm>
              <a:off x="4119" y="9622"/>
              <a:ext cx="4166" cy="2814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7" name="Rectangle 19"/>
            <p:cNvSpPr>
              <a:spLocks noChangeArrowheads="1"/>
            </p:cNvSpPr>
            <p:nvPr/>
          </p:nvSpPr>
          <p:spPr bwMode="auto">
            <a:xfrm>
              <a:off x="4281" y="9759"/>
              <a:ext cx="2954" cy="4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prstDash val="dash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66" name="Rectangle 18"/>
            <p:cNvSpPr>
              <a:spLocks noChangeArrowheads="1"/>
            </p:cNvSpPr>
            <p:nvPr/>
          </p:nvSpPr>
          <p:spPr bwMode="auto">
            <a:xfrm>
              <a:off x="4281" y="10567"/>
              <a:ext cx="2954" cy="5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prstDash val="dash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5" name="Rectangle 17"/>
            <p:cNvSpPr>
              <a:spLocks noChangeArrowheads="1"/>
            </p:cNvSpPr>
            <p:nvPr/>
          </p:nvSpPr>
          <p:spPr bwMode="auto">
            <a:xfrm>
              <a:off x="4281" y="11397"/>
              <a:ext cx="2954" cy="53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prstDash val="dash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4" name="Text Box 16"/>
            <p:cNvSpPr txBox="1">
              <a:spLocks noChangeArrowheads="1"/>
            </p:cNvSpPr>
            <p:nvPr/>
          </p:nvSpPr>
          <p:spPr bwMode="auto">
            <a:xfrm>
              <a:off x="7556" y="9874"/>
              <a:ext cx="659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 New Roman" pitchFamily="18" charset="0"/>
                  <a:cs typeface="Times New Roman" pitchFamily="18" charset="0"/>
                </a:rPr>
                <a:t> Layer n</a:t>
              </a:r>
              <a:endPara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63" name="Text Box 15"/>
            <p:cNvSpPr txBox="1">
              <a:spLocks noChangeArrowheads="1"/>
            </p:cNvSpPr>
            <p:nvPr/>
          </p:nvSpPr>
          <p:spPr bwMode="auto">
            <a:xfrm>
              <a:off x="7558" y="10670"/>
              <a:ext cx="657" cy="2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 New Roman" pitchFamily="18" charset="0"/>
                  <a:cs typeface="Times New Roman" pitchFamily="18" charset="0"/>
                </a:rPr>
                <a:t> Layer 2</a:t>
              </a:r>
              <a:endPara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62" name="Text Box 14"/>
            <p:cNvSpPr txBox="1">
              <a:spLocks noChangeArrowheads="1"/>
            </p:cNvSpPr>
            <p:nvPr/>
          </p:nvSpPr>
          <p:spPr bwMode="auto">
            <a:xfrm>
              <a:off x="7558" y="11559"/>
              <a:ext cx="659" cy="28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 New Roman" pitchFamily="18" charset="0"/>
                  <a:cs typeface="Times New Roman" pitchFamily="18" charset="0"/>
                </a:rPr>
                <a:t> Layer 1</a:t>
              </a:r>
              <a:endPara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61" name="Text Box 13"/>
            <p:cNvSpPr txBox="1">
              <a:spLocks noChangeArrowheads="1"/>
            </p:cNvSpPr>
            <p:nvPr/>
          </p:nvSpPr>
          <p:spPr bwMode="auto">
            <a:xfrm>
              <a:off x="7556" y="10104"/>
              <a:ext cx="657" cy="56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60" name="AutoShape 12"/>
            <p:cNvSpPr>
              <a:spLocks noChangeShapeType="1"/>
            </p:cNvSpPr>
            <p:nvPr/>
          </p:nvSpPr>
          <p:spPr bwMode="auto">
            <a:xfrm>
              <a:off x="6139" y="10255"/>
              <a:ext cx="1" cy="312"/>
            </a:xfrm>
            <a:prstGeom prst="straightConnector1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9" name="AutoShape 11"/>
            <p:cNvSpPr>
              <a:spLocks noChangeShapeType="1"/>
            </p:cNvSpPr>
            <p:nvPr/>
          </p:nvSpPr>
          <p:spPr bwMode="auto">
            <a:xfrm>
              <a:off x="6139" y="11098"/>
              <a:ext cx="1" cy="312"/>
            </a:xfrm>
            <a:prstGeom prst="straightConnector1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8" name="AutoShape 10"/>
            <p:cNvSpPr>
              <a:spLocks noChangeShapeType="1"/>
            </p:cNvSpPr>
            <p:nvPr/>
          </p:nvSpPr>
          <p:spPr bwMode="auto">
            <a:xfrm flipV="1">
              <a:off x="5042" y="11110"/>
              <a:ext cx="2" cy="300"/>
            </a:xfrm>
            <a:prstGeom prst="straightConnector1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7" name="AutoShape 9"/>
            <p:cNvSpPr>
              <a:spLocks noChangeShapeType="1"/>
            </p:cNvSpPr>
            <p:nvPr/>
          </p:nvSpPr>
          <p:spPr bwMode="auto">
            <a:xfrm flipV="1">
              <a:off x="5044" y="10255"/>
              <a:ext cx="2" cy="300"/>
            </a:xfrm>
            <a:prstGeom prst="straightConnector1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5" name="Text Box 7"/>
            <p:cNvSpPr txBox="1">
              <a:spLocks noChangeArrowheads="1"/>
            </p:cNvSpPr>
            <p:nvPr/>
          </p:nvSpPr>
          <p:spPr bwMode="auto">
            <a:xfrm>
              <a:off x="4346" y="9874"/>
              <a:ext cx="1281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0" rIns="180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 New Roman" pitchFamily="18" charset="0"/>
                  <a:cs typeface="Times New Roman" pitchFamily="18" charset="0"/>
                </a:rPr>
                <a:t>Subsystem E</a:t>
              </a:r>
              <a:endParaRPr kumimoji="0" lang="en-US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4" name="Text Box 6"/>
            <p:cNvSpPr txBox="1">
              <a:spLocks noChangeArrowheads="1"/>
            </p:cNvSpPr>
            <p:nvPr/>
          </p:nvSpPr>
          <p:spPr bwMode="auto">
            <a:xfrm>
              <a:off x="5754" y="9874"/>
              <a:ext cx="1281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0" rIns="180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 New Roman" pitchFamily="18" charset="0"/>
                  <a:cs typeface="Times New Roman" pitchFamily="18" charset="0"/>
                </a:rPr>
                <a:t>Subsystem F</a:t>
              </a:r>
              <a:endParaRPr kumimoji="0" lang="en-US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3" name="Text Box 5"/>
            <p:cNvSpPr txBox="1">
              <a:spLocks noChangeArrowheads="1"/>
            </p:cNvSpPr>
            <p:nvPr/>
          </p:nvSpPr>
          <p:spPr bwMode="auto">
            <a:xfrm>
              <a:off x="4346" y="10670"/>
              <a:ext cx="1281" cy="2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0" rIns="180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 New Roman" pitchFamily="18" charset="0"/>
                  <a:cs typeface="Times New Roman" pitchFamily="18" charset="0"/>
                </a:rPr>
                <a:t>Subsystem C</a:t>
              </a:r>
              <a:endParaRPr kumimoji="0" lang="en-US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2" name="Text Box 4"/>
            <p:cNvSpPr txBox="1">
              <a:spLocks noChangeArrowheads="1"/>
            </p:cNvSpPr>
            <p:nvPr/>
          </p:nvSpPr>
          <p:spPr bwMode="auto">
            <a:xfrm>
              <a:off x="5754" y="10670"/>
              <a:ext cx="1281" cy="2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0" rIns="180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 New Roman" pitchFamily="18" charset="0"/>
                  <a:cs typeface="Times New Roman" pitchFamily="18" charset="0"/>
                </a:rPr>
                <a:t>Subsystem D</a:t>
              </a:r>
              <a:endParaRPr kumimoji="0" lang="en-US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1" name="Text Box 3"/>
            <p:cNvSpPr txBox="1">
              <a:spLocks noChangeArrowheads="1"/>
            </p:cNvSpPr>
            <p:nvPr/>
          </p:nvSpPr>
          <p:spPr bwMode="auto">
            <a:xfrm>
              <a:off x="4346" y="11478"/>
              <a:ext cx="1281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0" rIns="180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 New Roman" pitchFamily="18" charset="0"/>
                  <a:cs typeface="Times New Roman" pitchFamily="18" charset="0"/>
                </a:rPr>
                <a:t>Subsystem A</a:t>
              </a:r>
              <a:endParaRPr kumimoji="0" lang="en-US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0" name="Text Box 2"/>
            <p:cNvSpPr txBox="1">
              <a:spLocks noChangeArrowheads="1"/>
            </p:cNvSpPr>
            <p:nvPr/>
          </p:nvSpPr>
          <p:spPr bwMode="auto">
            <a:xfrm>
              <a:off x="5754" y="11478"/>
              <a:ext cx="1281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0" rIns="1800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 New Roman" pitchFamily="18" charset="0"/>
                  <a:cs typeface="Times New Roman" pitchFamily="18" charset="0"/>
                </a:rPr>
                <a:t>Subsystem B</a:t>
              </a:r>
              <a:endParaRPr kumimoji="0" lang="en-US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083" name="Text Box 35"/>
          <p:cNvSpPr txBox="1">
            <a:spLocks noChangeArrowheads="1"/>
          </p:cNvSpPr>
          <p:nvPr/>
        </p:nvSpPr>
        <p:spPr bwMode="auto">
          <a:xfrm>
            <a:off x="6324600" y="2362200"/>
            <a:ext cx="8382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457200" marR="0" lvl="1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Symbol" pitchFamily="18" charset="2"/>
              <a:buChar char="·"/>
              <a:tabLst/>
            </a:pPr>
            <a:r>
              <a:rPr kumimoji="0" lang="en-IN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rPr>
              <a:t> </a:t>
            </a:r>
          </a:p>
          <a:p>
            <a:pPr marL="457200" marR="0" lvl="1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Symbol" pitchFamily="18" charset="2"/>
              <a:buChar char="·"/>
              <a:tabLst/>
            </a:pPr>
            <a:r>
              <a:rPr lang="en-IN" sz="1200" b="1" dirty="0" smtClean="0">
                <a:latin typeface="Times New Roman" pitchFamily="18" charset="0"/>
                <a:cs typeface="Arial" pitchFamily="34" charset="0"/>
              </a:rPr>
              <a:t> </a:t>
            </a:r>
          </a:p>
          <a:p>
            <a:pPr marL="457200" marR="0" lvl="1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Symbol" pitchFamily="18" charset="2"/>
              <a:buChar char="·"/>
              <a:tabLst/>
            </a:pPr>
            <a:r>
              <a:rPr kumimoji="0" lang="en-IN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5" name="Footer Placeholder 5"/>
          <p:cNvSpPr>
            <a:spLocks noGrp="1"/>
          </p:cNvSpPr>
          <p:nvPr/>
        </p:nvSpPr>
        <p:spPr>
          <a:xfrm>
            <a:off x="0" y="6492875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/>
              <a:t>@Dr. </a:t>
            </a:r>
            <a:r>
              <a:rPr lang="en-US" sz="1100" i="1" dirty="0" err="1" smtClean="0"/>
              <a:t>Ugrasen</a:t>
            </a:r>
            <a:r>
              <a:rPr lang="en-US" sz="1100" i="1" dirty="0" smtClean="0"/>
              <a:t> Suman, Professor, SCSIT, DAVV Indore (MP), India</a:t>
            </a:r>
            <a:endParaRPr lang="en-US" sz="1100" i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solidFill>
                  <a:srgbClr val="002060"/>
                </a:solidFill>
                <a:latin typeface="+mn-lt"/>
                <a:cs typeface="Times New Roman" pitchFamily="18" charset="0"/>
              </a:rPr>
              <a:t/>
            </a:r>
            <a:br>
              <a:rPr lang="en-US" sz="3200" b="1" dirty="0" smtClean="0">
                <a:solidFill>
                  <a:srgbClr val="002060"/>
                </a:solidFill>
                <a:latin typeface="+mn-lt"/>
                <a:cs typeface="Times New Roman" pitchFamily="18" charset="0"/>
              </a:rPr>
            </a:br>
            <a:r>
              <a:rPr lang="en-US" sz="3200" b="1" dirty="0" smtClean="0">
                <a:solidFill>
                  <a:srgbClr val="002060"/>
                </a:solidFill>
                <a:latin typeface="+mn-lt"/>
                <a:cs typeface="Times New Roman" pitchFamily="18" charset="0"/>
              </a:rPr>
              <a:t/>
            </a:r>
            <a:br>
              <a:rPr lang="en-US" sz="3200" b="1" dirty="0" smtClean="0">
                <a:solidFill>
                  <a:srgbClr val="002060"/>
                </a:solidFill>
                <a:latin typeface="+mn-lt"/>
                <a:cs typeface="Times New Roman" pitchFamily="18" charset="0"/>
              </a:rPr>
            </a:br>
            <a:r>
              <a:rPr lang="en-US" sz="3200" b="1" dirty="0">
                <a:solidFill>
                  <a:srgbClr val="002060"/>
                </a:solidFill>
                <a:cs typeface="Times New Roman" pitchFamily="18" charset="0"/>
              </a:rPr>
              <a:t>Layered Architectural </a:t>
            </a:r>
            <a:r>
              <a:rPr lang="en-US" sz="3200" b="1" dirty="0" smtClean="0">
                <a:solidFill>
                  <a:srgbClr val="002060"/>
                </a:solidFill>
                <a:cs typeface="Times New Roman" pitchFamily="18" charset="0"/>
              </a:rPr>
              <a:t>Style (Standard)</a:t>
            </a:r>
            <a:r>
              <a:rPr lang="en-US" sz="3200" b="1" dirty="0">
                <a:solidFill>
                  <a:srgbClr val="002060"/>
                </a:solidFill>
                <a:cs typeface="Times New Roman" pitchFamily="18" charset="0"/>
              </a:rPr>
              <a:t/>
            </a:r>
            <a:br>
              <a:rPr lang="en-US" sz="3200" b="1" dirty="0">
                <a:solidFill>
                  <a:srgbClr val="002060"/>
                </a:solidFill>
                <a:cs typeface="Times New Roman" pitchFamily="18" charset="0"/>
              </a:rPr>
            </a:br>
            <a:r>
              <a:rPr lang="en-US" sz="3200" dirty="0" smtClean="0">
                <a:solidFill>
                  <a:srgbClr val="002060"/>
                </a:solidFill>
                <a:latin typeface="+mn-lt"/>
                <a:cs typeface="Times New Roman" pitchFamily="18" charset="0"/>
              </a:rPr>
              <a:t/>
            </a:r>
            <a:br>
              <a:rPr lang="en-US" sz="3200" dirty="0" smtClean="0">
                <a:solidFill>
                  <a:srgbClr val="002060"/>
                </a:solidFill>
                <a:latin typeface="+mn-lt"/>
                <a:cs typeface="Times New Roman" pitchFamily="18" charset="0"/>
              </a:rPr>
            </a:br>
            <a:endParaRPr lang="en-US" sz="3200" dirty="0">
              <a:solidFill>
                <a:srgbClr val="002060"/>
              </a:solidFill>
              <a:latin typeface="+mn-lt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/>
        </p:nvSpPr>
        <p:spPr>
          <a:xfrm>
            <a:off x="0" y="6492875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>
                <a:solidFill>
                  <a:prstClr val="black"/>
                </a:solidFill>
              </a:rPr>
              <a:t>@Dr. </a:t>
            </a:r>
            <a:r>
              <a:rPr lang="en-US" sz="1100" i="1" dirty="0" err="1" smtClean="0">
                <a:solidFill>
                  <a:prstClr val="black"/>
                </a:solidFill>
              </a:rPr>
              <a:t>Ugrasen</a:t>
            </a:r>
            <a:r>
              <a:rPr lang="en-US" sz="1100" i="1" dirty="0" smtClean="0">
                <a:solidFill>
                  <a:prstClr val="black"/>
                </a:solidFill>
              </a:rPr>
              <a:t> Suman, Professor, SCSIT, DAVV Indore (MP), India</a:t>
            </a:r>
            <a:endParaRPr lang="en-US" sz="1100" i="1" dirty="0">
              <a:solidFill>
                <a:prstClr val="black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626" y="3395875"/>
            <a:ext cx="3049800" cy="1691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6426" y="1346275"/>
            <a:ext cx="5471700" cy="37408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400" y="5181600"/>
            <a:ext cx="2735850" cy="2016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5159200"/>
            <a:ext cx="3946800" cy="2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7300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solidFill>
                  <a:srgbClr val="002060"/>
                </a:solidFill>
                <a:latin typeface="+mn-lt"/>
                <a:cs typeface="Times New Roman" pitchFamily="18" charset="0"/>
              </a:rPr>
              <a:t>Benefits and drawbacks of Layered Style</a:t>
            </a:r>
            <a:endParaRPr lang="en-US" sz="3200" b="1" dirty="0">
              <a:solidFill>
                <a:srgbClr val="002060"/>
              </a:solidFill>
              <a:latin typeface="+mn-lt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4830763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  <a:buNone/>
            </a:pPr>
            <a:r>
              <a:rPr lang="en-US" sz="2400" b="1" dirty="0" smtClean="0">
                <a:solidFill>
                  <a:srgbClr val="002060"/>
                </a:solidFill>
                <a:cs typeface="Times New Roman" pitchFamily="18" charset="0"/>
              </a:rPr>
              <a:t>Benefits:</a:t>
            </a:r>
          </a:p>
          <a:p>
            <a:pPr algn="just">
              <a:spcBef>
                <a:spcPts val="0"/>
              </a:spcBef>
            </a:pPr>
            <a:r>
              <a:rPr lang="en-US" sz="2200" dirty="0" smtClean="0">
                <a:cs typeface="Times New Roman" pitchFamily="18" charset="0"/>
              </a:rPr>
              <a:t>Using the layered style, a system is designed based on the increasing level of abstraction. </a:t>
            </a:r>
          </a:p>
          <a:p>
            <a:pPr algn="just">
              <a:spcBef>
                <a:spcPts val="0"/>
              </a:spcBef>
            </a:pPr>
            <a:r>
              <a:rPr lang="en-US" sz="2200" dirty="0" smtClean="0">
                <a:cs typeface="Times New Roman" pitchFamily="18" charset="0"/>
              </a:rPr>
              <a:t>The details of unnecessary implementation can be hidden at any layer. </a:t>
            </a:r>
          </a:p>
          <a:p>
            <a:pPr algn="just">
              <a:spcBef>
                <a:spcPts val="0"/>
              </a:spcBef>
            </a:pPr>
            <a:r>
              <a:rPr lang="en-US" sz="2200" dirty="0" smtClean="0">
                <a:cs typeface="Times New Roman" pitchFamily="18" charset="0"/>
              </a:rPr>
              <a:t>New features can be added to a layer and new layers can be created. </a:t>
            </a:r>
          </a:p>
          <a:p>
            <a:pPr algn="just">
              <a:spcBef>
                <a:spcPts val="0"/>
              </a:spcBef>
            </a:pPr>
            <a:r>
              <a:rPr lang="en-US" sz="2200" dirty="0" smtClean="0">
                <a:cs typeface="Times New Roman" pitchFamily="18" charset="0"/>
              </a:rPr>
              <a:t>The layers can be modified without affecting the layers other than the layers it’s above and below. </a:t>
            </a:r>
          </a:p>
          <a:p>
            <a:pPr algn="just">
              <a:spcBef>
                <a:spcPts val="0"/>
              </a:spcBef>
            </a:pPr>
            <a:r>
              <a:rPr lang="en-US" sz="2200" dirty="0" smtClean="0">
                <a:cs typeface="Times New Roman" pitchFamily="18" charset="0"/>
              </a:rPr>
              <a:t>The layered style promotes reuse. </a:t>
            </a:r>
          </a:p>
          <a:p>
            <a:pPr algn="just">
              <a:spcBef>
                <a:spcPts val="0"/>
              </a:spcBef>
              <a:buNone/>
            </a:pPr>
            <a:endParaRPr lang="en-US" sz="2400" b="1" dirty="0" smtClean="0">
              <a:solidFill>
                <a:srgbClr val="002060"/>
              </a:solidFill>
              <a:cs typeface="Times New Roman" pitchFamily="18" charset="0"/>
            </a:endParaRPr>
          </a:p>
          <a:p>
            <a:pPr algn="just">
              <a:spcBef>
                <a:spcPts val="0"/>
              </a:spcBef>
              <a:buNone/>
            </a:pPr>
            <a:r>
              <a:rPr lang="en-US" sz="2400" b="1" dirty="0" smtClean="0">
                <a:solidFill>
                  <a:srgbClr val="002060"/>
                </a:solidFill>
                <a:cs typeface="Times New Roman" pitchFamily="18" charset="0"/>
              </a:rPr>
              <a:t>Drawbacks:</a:t>
            </a:r>
          </a:p>
          <a:p>
            <a:pPr algn="just">
              <a:spcBef>
                <a:spcPts val="0"/>
              </a:spcBef>
            </a:pPr>
            <a:r>
              <a:rPr lang="en-US" sz="2200" dirty="0" smtClean="0">
                <a:cs typeface="Times New Roman" pitchFamily="18" charset="0"/>
              </a:rPr>
              <a:t>It is not necessary to design all systems in a layered fashion. </a:t>
            </a:r>
          </a:p>
          <a:p>
            <a:pPr algn="just">
              <a:spcBef>
                <a:spcPts val="0"/>
              </a:spcBef>
            </a:pPr>
            <a:r>
              <a:rPr lang="en-US" sz="2200" dirty="0" smtClean="0">
                <a:cs typeface="Times New Roman" pitchFamily="18" charset="0"/>
              </a:rPr>
              <a:t>Adding more number of layers may decrease system performance.</a:t>
            </a:r>
          </a:p>
          <a:p>
            <a:pPr algn="just">
              <a:spcBef>
                <a:spcPts val="0"/>
              </a:spcBef>
            </a:pPr>
            <a:r>
              <a:rPr lang="en-US" sz="2200" dirty="0" smtClean="0">
                <a:cs typeface="Times New Roman" pitchFamily="18" charset="0"/>
              </a:rPr>
              <a:t>Deciding the right architecture for a module is a difficult job.</a:t>
            </a:r>
            <a:endParaRPr lang="en-US" sz="2200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/>
        </p:nvSpPr>
        <p:spPr>
          <a:xfrm>
            <a:off x="0" y="6492875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/>
              <a:t>@Dr. </a:t>
            </a:r>
            <a:r>
              <a:rPr lang="en-US" sz="1100" i="1" dirty="0" err="1" smtClean="0"/>
              <a:t>Ugrasen</a:t>
            </a:r>
            <a:r>
              <a:rPr lang="en-US" sz="1100" i="1" dirty="0" smtClean="0"/>
              <a:t> Suman, Professor, SCSIT, DAVV Indore (MP), India</a:t>
            </a:r>
            <a:endParaRPr lang="en-US" sz="1100" i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2060"/>
                </a:solidFill>
                <a:latin typeface="+mn-lt"/>
                <a:cs typeface="Times New Roman" pitchFamily="18" charset="0"/>
              </a:rPr>
              <a:t>Data-Flow Style</a:t>
            </a:r>
            <a:endParaRPr lang="en-US" sz="3200" dirty="0">
              <a:solidFill>
                <a:srgbClr val="002060"/>
              </a:solidFill>
              <a:latin typeface="+mn-lt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400" dirty="0" smtClean="0">
                <a:cs typeface="Times New Roman" pitchFamily="18" charset="0"/>
              </a:rPr>
              <a:t>This style is characterized by viewing the system as a series of transformations in a successive manner. </a:t>
            </a:r>
          </a:p>
          <a:p>
            <a:pPr algn="just"/>
            <a:r>
              <a:rPr lang="en-US" sz="2400" dirty="0" smtClean="0">
                <a:cs typeface="Times New Roman" pitchFamily="18" charset="0"/>
              </a:rPr>
              <a:t>The input data enter the system and then move through the components one at a time, and finally the transformed data are produced as output. </a:t>
            </a:r>
          </a:p>
          <a:p>
            <a:pPr algn="just"/>
            <a:r>
              <a:rPr lang="en-US" sz="2400" dirty="0" smtClean="0">
                <a:cs typeface="Times New Roman" pitchFamily="18" charset="0"/>
              </a:rPr>
              <a:t>These architectures focus on achieving the quality of reuse and modifiability. </a:t>
            </a:r>
          </a:p>
          <a:p>
            <a:pPr algn="just"/>
            <a:r>
              <a:rPr lang="en-US" sz="2400" dirty="0" smtClean="0">
                <a:cs typeface="Times New Roman" pitchFamily="18" charset="0"/>
              </a:rPr>
              <a:t>Earlier systems were designed using data flow architectures. </a:t>
            </a:r>
          </a:p>
          <a:p>
            <a:pPr algn="just"/>
            <a:r>
              <a:rPr lang="en-US" sz="2400" dirty="0" smtClean="0">
                <a:cs typeface="Times New Roman" pitchFamily="18" charset="0"/>
              </a:rPr>
              <a:t>Data-flow styles can be classified as:</a:t>
            </a:r>
          </a:p>
          <a:p>
            <a:pPr lvl="1" algn="just"/>
            <a:r>
              <a:rPr lang="en-US" sz="2400" dirty="0" smtClean="0">
                <a:cs typeface="Times New Roman" pitchFamily="18" charset="0"/>
              </a:rPr>
              <a:t>Batch-sequential </a:t>
            </a:r>
          </a:p>
          <a:p>
            <a:pPr lvl="1" algn="just"/>
            <a:r>
              <a:rPr lang="en-US" sz="2400" dirty="0" smtClean="0">
                <a:cs typeface="Times New Roman" pitchFamily="18" charset="0"/>
              </a:rPr>
              <a:t>Pipe-filters architectures </a:t>
            </a:r>
            <a:endParaRPr lang="en-US" sz="2400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/>
        </p:nvSpPr>
        <p:spPr>
          <a:xfrm>
            <a:off x="0" y="6492875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/>
              <a:t>@Dr. </a:t>
            </a:r>
            <a:r>
              <a:rPr lang="en-US" sz="1100" i="1" dirty="0" err="1" smtClean="0"/>
              <a:t>Ugrasen</a:t>
            </a:r>
            <a:r>
              <a:rPr lang="en-US" sz="1100" i="1" dirty="0" smtClean="0"/>
              <a:t> Suman, Professor, SCSIT, DAVV Indore (MP), India</a:t>
            </a:r>
            <a:endParaRPr lang="en-US" sz="1100" i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2060"/>
                </a:solidFill>
                <a:latin typeface="+mn-lt"/>
                <a:cs typeface="Times New Roman" pitchFamily="18" charset="0"/>
              </a:rPr>
              <a:t>Batch-sequential</a:t>
            </a:r>
            <a:endParaRPr lang="en-IN" sz="3200" b="1" dirty="0">
              <a:solidFill>
                <a:srgbClr val="002060"/>
              </a:solidFill>
              <a:latin typeface="+mn-lt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990599"/>
          </a:xfrm>
        </p:spPr>
        <p:txBody>
          <a:bodyPr>
            <a:normAutofit/>
          </a:bodyPr>
          <a:lstStyle/>
          <a:p>
            <a:r>
              <a:rPr lang="en-US" sz="2400" dirty="0" smtClean="0">
                <a:cs typeface="Times New Roman" pitchFamily="18" charset="0"/>
              </a:rPr>
              <a:t>The batch-sequential system consists of several programs which are executed in an orderly fashion. </a:t>
            </a:r>
            <a:endParaRPr lang="en-IN" sz="2400" dirty="0" smtClean="0"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89101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pSp>
        <p:nvGrpSpPr>
          <p:cNvPr id="89089" name="Group 1"/>
          <p:cNvGrpSpPr>
            <a:grpSpLocks noChangeAspect="1"/>
          </p:cNvGrpSpPr>
          <p:nvPr/>
        </p:nvGrpSpPr>
        <p:grpSpPr bwMode="auto">
          <a:xfrm>
            <a:off x="457200" y="3200400"/>
            <a:ext cx="8382000" cy="2921000"/>
            <a:chOff x="2804" y="2246"/>
            <a:chExt cx="6023" cy="1323"/>
          </a:xfrm>
        </p:grpSpPr>
        <p:sp>
          <p:nvSpPr>
            <p:cNvPr id="89100" name="AutoShape 12"/>
            <p:cNvSpPr>
              <a:spLocks noChangeAspect="1" noChangeArrowheads="1" noTextEdit="1"/>
            </p:cNvSpPr>
            <p:nvPr/>
          </p:nvSpPr>
          <p:spPr bwMode="auto">
            <a:xfrm>
              <a:off x="2804" y="2246"/>
              <a:ext cx="6023" cy="1323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099" name="AutoShape 11"/>
            <p:cNvSpPr>
              <a:spLocks noChangeArrowheads="1"/>
            </p:cNvSpPr>
            <p:nvPr/>
          </p:nvSpPr>
          <p:spPr bwMode="auto">
            <a:xfrm>
              <a:off x="2873" y="2488"/>
              <a:ext cx="727" cy="497"/>
            </a:xfrm>
            <a:prstGeom prst="flowChartInputOutpu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 New Roman" pitchFamily="18" charset="0"/>
                  <a:cs typeface="Times New Roman" pitchFamily="18" charset="0"/>
                </a:rPr>
                <a:t>Input data</a:t>
              </a:r>
              <a:endParaRPr kumimoji="0" 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098" name="AutoShape 10"/>
            <p:cNvSpPr>
              <a:spLocks noChangeArrowheads="1"/>
            </p:cNvSpPr>
            <p:nvPr/>
          </p:nvSpPr>
          <p:spPr bwMode="auto">
            <a:xfrm>
              <a:off x="3958" y="2488"/>
              <a:ext cx="1050" cy="498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 New Roman" pitchFamily="18" charset="0"/>
                  <a:cs typeface="Times New Roman" pitchFamily="18" charset="0"/>
                </a:rPr>
                <a:t>Component</a:t>
              </a:r>
              <a:endParaRPr kumimoji="0" 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 New Roman" pitchFamily="18" charset="0"/>
                  <a:cs typeface="Times New Roman" pitchFamily="18" charset="0"/>
                </a:rPr>
                <a:t>1</a:t>
              </a:r>
              <a:endParaRPr kumimoji="0" 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097" name="AutoShape 9"/>
            <p:cNvSpPr>
              <a:spLocks noChangeArrowheads="1"/>
            </p:cNvSpPr>
            <p:nvPr/>
          </p:nvSpPr>
          <p:spPr bwMode="auto">
            <a:xfrm>
              <a:off x="6626" y="2488"/>
              <a:ext cx="984" cy="497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 New Roman" pitchFamily="18" charset="0"/>
                  <a:cs typeface="Times New Roman" pitchFamily="18" charset="0"/>
                </a:rPr>
                <a:t>Component</a:t>
              </a:r>
              <a:endParaRPr kumimoji="0" 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 New Roman" pitchFamily="18" charset="0"/>
                  <a:cs typeface="Times New Roman" pitchFamily="18" charset="0"/>
                </a:rPr>
                <a:t>1</a:t>
              </a:r>
              <a:endParaRPr kumimoji="0" 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096" name="AutoShape 8"/>
            <p:cNvSpPr>
              <a:spLocks noChangeShapeType="1"/>
            </p:cNvSpPr>
            <p:nvPr/>
          </p:nvSpPr>
          <p:spPr bwMode="auto">
            <a:xfrm>
              <a:off x="3526" y="2737"/>
              <a:ext cx="432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095" name="AutoShape 7"/>
            <p:cNvSpPr>
              <a:spLocks noChangeShapeType="1"/>
            </p:cNvSpPr>
            <p:nvPr/>
          </p:nvSpPr>
          <p:spPr bwMode="auto">
            <a:xfrm>
              <a:off x="5008" y="2738"/>
              <a:ext cx="419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094" name="AutoShape 6"/>
            <p:cNvSpPr>
              <a:spLocks noChangeShapeType="1"/>
            </p:cNvSpPr>
            <p:nvPr/>
          </p:nvSpPr>
          <p:spPr bwMode="auto">
            <a:xfrm>
              <a:off x="6286" y="2735"/>
              <a:ext cx="340" cy="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093" name="AutoShape 5"/>
            <p:cNvSpPr>
              <a:spLocks noChangeShapeType="1"/>
            </p:cNvSpPr>
            <p:nvPr/>
          </p:nvSpPr>
          <p:spPr bwMode="auto">
            <a:xfrm>
              <a:off x="7610" y="2739"/>
              <a:ext cx="409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091" name="AutoShape 3"/>
            <p:cNvSpPr>
              <a:spLocks noChangeArrowheads="1"/>
            </p:cNvSpPr>
            <p:nvPr/>
          </p:nvSpPr>
          <p:spPr bwMode="auto">
            <a:xfrm>
              <a:off x="8019" y="2346"/>
              <a:ext cx="719" cy="780"/>
            </a:xfrm>
            <a:prstGeom prst="flowChartMagneticDisk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 New Roman" pitchFamily="18" charset="0"/>
                  <a:cs typeface="Times New Roman" pitchFamily="18" charset="0"/>
                </a:rPr>
                <a:t>Output data</a:t>
              </a:r>
              <a:endParaRPr kumimoji="0" 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090" name="AutoShape 2"/>
            <p:cNvSpPr>
              <a:spLocks noChangeArrowheads="1"/>
            </p:cNvSpPr>
            <p:nvPr/>
          </p:nvSpPr>
          <p:spPr bwMode="auto">
            <a:xfrm>
              <a:off x="5271" y="2346"/>
              <a:ext cx="1015" cy="739"/>
            </a:xfrm>
            <a:prstGeom prst="flowChartMagneticTap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 New Roman" pitchFamily="18" charset="0"/>
                  <a:cs typeface="Times New Roman" pitchFamily="18" charset="0"/>
                </a:rPr>
                <a:t>Transfor</a:t>
              </a: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 New Roman" pitchFamily="18" charset="0"/>
                  <a:cs typeface="Times New Roman" pitchFamily="18" charset="0"/>
                </a:rPr>
                <a:t>-med data</a:t>
              </a:r>
              <a:endPara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7" name="Footer Placeholder 5"/>
          <p:cNvSpPr>
            <a:spLocks noGrp="1"/>
          </p:cNvSpPr>
          <p:nvPr/>
        </p:nvSpPr>
        <p:spPr>
          <a:xfrm>
            <a:off x="0" y="6492875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/>
              <a:t>@Dr. </a:t>
            </a:r>
            <a:r>
              <a:rPr lang="en-US" sz="1100" i="1" dirty="0" err="1" smtClean="0"/>
              <a:t>Ugrasen</a:t>
            </a:r>
            <a:r>
              <a:rPr lang="en-US" sz="1100" i="1" dirty="0" smtClean="0"/>
              <a:t> Suman, Professor, SCSIT, DAVV Indore (MP), India</a:t>
            </a:r>
            <a:endParaRPr lang="en-US" sz="1100" i="1" dirty="0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>
                <a:solidFill>
                  <a:srgbClr val="002060"/>
                </a:solidFill>
                <a:latin typeface="+mn-lt"/>
                <a:cs typeface="Times New Roman" pitchFamily="18" charset="0"/>
              </a:rPr>
              <a:t>Pipe and filters</a:t>
            </a:r>
            <a:endParaRPr lang="en-IN" sz="3200" b="1" dirty="0">
              <a:solidFill>
                <a:srgbClr val="002060"/>
              </a:solidFill>
              <a:latin typeface="+mn-lt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cs typeface="Times New Roman" pitchFamily="18" charset="0"/>
              </a:rPr>
              <a:t>The pipe and filter style follows the component-connector structure in which components are filters and pipes are connectors. </a:t>
            </a:r>
          </a:p>
          <a:p>
            <a:r>
              <a:rPr lang="en-US" sz="2400" dirty="0" smtClean="0">
                <a:cs typeface="Times New Roman" pitchFamily="18" charset="0"/>
              </a:rPr>
              <a:t>The filter reads stream of data as input, performs data transformation, and forwards the output data stream to another filter.</a:t>
            </a:r>
          </a:p>
          <a:p>
            <a:r>
              <a:rPr lang="en-US" sz="2400" dirty="0" smtClean="0">
                <a:cs typeface="Times New Roman" pitchFamily="18" charset="0"/>
              </a:rPr>
              <a:t> The pipe transports data streams from one filter to another filter. </a:t>
            </a:r>
          </a:p>
          <a:p>
            <a:r>
              <a:rPr lang="en-US" sz="2400" dirty="0" smtClean="0">
                <a:cs typeface="Times New Roman" pitchFamily="18" charset="0"/>
              </a:rPr>
              <a:t>In this style, system functionalities are decomposed into smaller transformations, which are performed through connectors. </a:t>
            </a:r>
            <a:endParaRPr lang="en-IN" sz="2400" dirty="0"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/>
        </p:nvSpPr>
        <p:spPr>
          <a:xfrm>
            <a:off x="0" y="6492875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/>
              <a:t>@Dr. </a:t>
            </a:r>
            <a:r>
              <a:rPr lang="en-US" sz="1100" i="1" dirty="0" err="1" smtClean="0"/>
              <a:t>Ugrasen</a:t>
            </a:r>
            <a:r>
              <a:rPr lang="en-US" sz="1100" i="1" dirty="0" smtClean="0"/>
              <a:t> Suman, Professor, SCSIT, DAVV Indore (MP), India</a:t>
            </a:r>
            <a:endParaRPr lang="en-US" sz="1100" i="1" dirty="0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>
                <a:solidFill>
                  <a:srgbClr val="002060"/>
                </a:solidFill>
                <a:latin typeface="+mn-lt"/>
                <a:cs typeface="Times New Roman" pitchFamily="18" charset="0"/>
              </a:rPr>
              <a:t>Pipe and filters</a:t>
            </a:r>
            <a:endParaRPr lang="en-IN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98322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98348" name="Rectangle 4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pSp>
        <p:nvGrpSpPr>
          <p:cNvPr id="98331" name="Group 27"/>
          <p:cNvGrpSpPr>
            <a:grpSpLocks noChangeAspect="1"/>
          </p:cNvGrpSpPr>
          <p:nvPr/>
        </p:nvGrpSpPr>
        <p:grpSpPr bwMode="auto">
          <a:xfrm>
            <a:off x="990989" y="2209800"/>
            <a:ext cx="7390622" cy="3641725"/>
            <a:chOff x="2271" y="1811"/>
            <a:chExt cx="7204" cy="1643"/>
          </a:xfrm>
        </p:grpSpPr>
        <p:sp>
          <p:nvSpPr>
            <p:cNvPr id="98347" name="AutoShape 43"/>
            <p:cNvSpPr>
              <a:spLocks noChangeAspect="1" noChangeArrowheads="1" noTextEdit="1"/>
            </p:cNvSpPr>
            <p:nvPr/>
          </p:nvSpPr>
          <p:spPr bwMode="auto">
            <a:xfrm>
              <a:off x="2642" y="1811"/>
              <a:ext cx="6462" cy="1643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346" name="AutoShape 42"/>
            <p:cNvSpPr>
              <a:spLocks noChangeArrowheads="1"/>
            </p:cNvSpPr>
            <p:nvPr/>
          </p:nvSpPr>
          <p:spPr bwMode="auto">
            <a:xfrm>
              <a:off x="3652" y="2191"/>
              <a:ext cx="1050" cy="347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345" name="AutoShape 41"/>
            <p:cNvSpPr>
              <a:spLocks noChangeArrowheads="1"/>
            </p:cNvSpPr>
            <p:nvPr/>
          </p:nvSpPr>
          <p:spPr bwMode="auto">
            <a:xfrm>
              <a:off x="6877" y="2191"/>
              <a:ext cx="1050" cy="347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344" name="AutoShape 40"/>
            <p:cNvSpPr>
              <a:spLocks noChangeArrowheads="1"/>
            </p:cNvSpPr>
            <p:nvPr/>
          </p:nvSpPr>
          <p:spPr bwMode="auto">
            <a:xfrm>
              <a:off x="5257" y="2191"/>
              <a:ext cx="1050" cy="347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343" name="AutoShape 39"/>
            <p:cNvSpPr>
              <a:spLocks noChangeShapeType="1"/>
            </p:cNvSpPr>
            <p:nvPr/>
          </p:nvSpPr>
          <p:spPr bwMode="auto">
            <a:xfrm>
              <a:off x="4702" y="2365"/>
              <a:ext cx="555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342" name="AutoShape 38"/>
            <p:cNvSpPr>
              <a:spLocks noChangeShapeType="1"/>
            </p:cNvSpPr>
            <p:nvPr/>
          </p:nvSpPr>
          <p:spPr bwMode="auto">
            <a:xfrm>
              <a:off x="6307" y="2365"/>
              <a:ext cx="57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340" name="Text Box 36"/>
            <p:cNvSpPr txBox="1">
              <a:spLocks noChangeArrowheads="1"/>
            </p:cNvSpPr>
            <p:nvPr/>
          </p:nvSpPr>
          <p:spPr bwMode="auto">
            <a:xfrm>
              <a:off x="2271" y="2100"/>
              <a:ext cx="856" cy="53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 New Roman" pitchFamily="18" charset="0"/>
                  <a:cs typeface="Times New Roman" pitchFamily="18" charset="0"/>
                </a:rPr>
                <a:t>Input data</a:t>
              </a:r>
              <a:endPara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339" name="AutoShape 35"/>
            <p:cNvSpPr>
              <a:spLocks noChangeShapeType="1"/>
            </p:cNvSpPr>
            <p:nvPr/>
          </p:nvSpPr>
          <p:spPr bwMode="auto">
            <a:xfrm>
              <a:off x="3127" y="2365"/>
              <a:ext cx="525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338" name="Text Box 34"/>
            <p:cNvSpPr txBox="1">
              <a:spLocks noChangeArrowheads="1"/>
            </p:cNvSpPr>
            <p:nvPr/>
          </p:nvSpPr>
          <p:spPr bwMode="auto">
            <a:xfrm>
              <a:off x="8435" y="2100"/>
              <a:ext cx="1040" cy="52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 New Roman" pitchFamily="18" charset="0"/>
                  <a:cs typeface="Times New Roman" pitchFamily="18" charset="0"/>
                </a:rPr>
                <a:t>Output data</a:t>
              </a:r>
              <a:endPara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337" name="AutoShape 33"/>
            <p:cNvSpPr>
              <a:spLocks noChangeShapeType="1"/>
            </p:cNvSpPr>
            <p:nvPr/>
          </p:nvSpPr>
          <p:spPr bwMode="auto">
            <a:xfrm>
              <a:off x="7927" y="2365"/>
              <a:ext cx="508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336" name="Text Box 32"/>
            <p:cNvSpPr txBox="1">
              <a:spLocks noChangeArrowheads="1"/>
            </p:cNvSpPr>
            <p:nvPr/>
          </p:nvSpPr>
          <p:spPr bwMode="auto">
            <a:xfrm>
              <a:off x="3940" y="2840"/>
              <a:ext cx="930" cy="2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 New Roman" pitchFamily="18" charset="0"/>
                  <a:cs typeface="Times New Roman" pitchFamily="18" charset="0"/>
                </a:rPr>
                <a:t>Filter</a:t>
              </a:r>
              <a:endPara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335" name="Text Box 31"/>
            <p:cNvSpPr txBox="1">
              <a:spLocks noChangeArrowheads="1"/>
            </p:cNvSpPr>
            <p:nvPr/>
          </p:nvSpPr>
          <p:spPr bwMode="auto">
            <a:xfrm>
              <a:off x="6393" y="2840"/>
              <a:ext cx="854" cy="23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 New Roman" pitchFamily="18" charset="0"/>
                  <a:cs typeface="Times New Roman" pitchFamily="18" charset="0"/>
                </a:rPr>
                <a:t>Pipe</a:t>
              </a:r>
              <a:endPara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334" name="AutoShape 30"/>
            <p:cNvSpPr>
              <a:spLocks noChangeShapeType="1"/>
            </p:cNvSpPr>
            <p:nvPr/>
          </p:nvSpPr>
          <p:spPr bwMode="auto">
            <a:xfrm flipH="1" flipV="1">
              <a:off x="4177" y="2538"/>
              <a:ext cx="6" cy="30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333" name="AutoShape 29"/>
            <p:cNvSpPr>
              <a:spLocks noChangeShapeType="1"/>
            </p:cNvSpPr>
            <p:nvPr/>
          </p:nvSpPr>
          <p:spPr bwMode="auto">
            <a:xfrm flipH="1" flipV="1">
              <a:off x="6577" y="2366"/>
              <a:ext cx="6" cy="47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cxnSp>
        <p:nvCxnSpPr>
          <p:cNvPr id="42" name="Elbow Connector 41"/>
          <p:cNvCxnSpPr>
            <a:stCxn id="98345" idx="0"/>
            <a:endCxn id="98344" idx="0"/>
          </p:cNvCxnSpPr>
          <p:nvPr/>
        </p:nvCxnSpPr>
        <p:spPr>
          <a:xfrm rot="16200000" flipV="1">
            <a:off x="5423927" y="2221090"/>
            <a:ext cx="12700" cy="1661967"/>
          </a:xfrm>
          <a:prstGeom prst="bentConnector3">
            <a:avLst>
              <a:gd name="adj1" fmla="val 180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ooter Placeholder 5"/>
          <p:cNvSpPr>
            <a:spLocks noGrp="1"/>
          </p:cNvSpPr>
          <p:nvPr/>
        </p:nvSpPr>
        <p:spPr>
          <a:xfrm>
            <a:off x="0" y="6492875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/>
              <a:t>@Dr. </a:t>
            </a:r>
            <a:r>
              <a:rPr lang="en-US" sz="1100" i="1" dirty="0" err="1" smtClean="0"/>
              <a:t>Ugrasen</a:t>
            </a:r>
            <a:r>
              <a:rPr lang="en-US" sz="1100" i="1" dirty="0" smtClean="0"/>
              <a:t> Suman, Professor, SCSIT, DAVV Indore (MP), India</a:t>
            </a:r>
            <a:endParaRPr lang="en-US" sz="1100" i="1" dirty="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4408"/>
            <a:ext cx="8229600" cy="639762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2060"/>
                </a:solidFill>
                <a:latin typeface="+mn-lt"/>
                <a:cs typeface="Times New Roman" pitchFamily="18" charset="0"/>
              </a:rPr>
              <a:t>Microkernel</a:t>
            </a:r>
            <a:endParaRPr lang="en-IN" sz="3200" b="1" dirty="0">
              <a:solidFill>
                <a:srgbClr val="002060"/>
              </a:solidFill>
              <a:latin typeface="+mn-lt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80534"/>
            <a:ext cx="8229600" cy="2137304"/>
          </a:xfrm>
        </p:spPr>
        <p:txBody>
          <a:bodyPr>
            <a:normAutofit lnSpcReduction="10000"/>
          </a:bodyPr>
          <a:lstStyle/>
          <a:p>
            <a:r>
              <a:rPr lang="en-US" sz="2200" dirty="0" smtClean="0"/>
              <a:t>Microkernel architecture </a:t>
            </a:r>
            <a:r>
              <a:rPr lang="en-US" sz="2200" dirty="0"/>
              <a:t>style </a:t>
            </a:r>
            <a:r>
              <a:rPr lang="en-US" sz="2200" dirty="0" smtClean="0"/>
              <a:t>(called </a:t>
            </a:r>
            <a:r>
              <a:rPr lang="en-US" sz="2200" i="1" dirty="0" smtClean="0"/>
              <a:t>plug-in </a:t>
            </a:r>
            <a:r>
              <a:rPr lang="en-US" sz="2200" dirty="0"/>
              <a:t>architecture) </a:t>
            </a:r>
            <a:r>
              <a:rPr lang="en-US" sz="2200" dirty="0" smtClean="0"/>
              <a:t>is monolithic architecture suitable for </a:t>
            </a:r>
            <a:r>
              <a:rPr lang="en-US" sz="2200" dirty="0"/>
              <a:t>product-based applications </a:t>
            </a:r>
            <a:r>
              <a:rPr lang="en-US" sz="2200" dirty="0" smtClean="0"/>
              <a:t>but </a:t>
            </a:r>
            <a:r>
              <a:rPr lang="en-US" sz="2200" dirty="0"/>
              <a:t>is widely used in many </a:t>
            </a:r>
            <a:r>
              <a:rPr lang="en-US" sz="2200" dirty="0" err="1"/>
              <a:t>nonproduct</a:t>
            </a:r>
            <a:r>
              <a:rPr lang="en-US" sz="2200" dirty="0"/>
              <a:t> </a:t>
            </a:r>
            <a:r>
              <a:rPr lang="en-US" sz="2200" dirty="0" smtClean="0"/>
              <a:t>custom </a:t>
            </a:r>
            <a:r>
              <a:rPr lang="en-IN" sz="2200" dirty="0" smtClean="0"/>
              <a:t>business </a:t>
            </a:r>
            <a:r>
              <a:rPr lang="en-IN" sz="2200" dirty="0"/>
              <a:t>applications as well</a:t>
            </a:r>
            <a:r>
              <a:rPr lang="en-IN" sz="2200" dirty="0" smtClean="0"/>
              <a:t>.</a:t>
            </a:r>
          </a:p>
          <a:p>
            <a:r>
              <a:rPr lang="en-IN" sz="2200" dirty="0" smtClean="0"/>
              <a:t>It consists of </a:t>
            </a:r>
            <a:r>
              <a:rPr lang="en-US" sz="2200" dirty="0" smtClean="0"/>
              <a:t>of </a:t>
            </a:r>
            <a:r>
              <a:rPr lang="en-US" sz="2200" dirty="0"/>
              <a:t>two </a:t>
            </a:r>
            <a:r>
              <a:rPr lang="en-US" sz="2200" dirty="0" smtClean="0"/>
              <a:t>architectural </a:t>
            </a:r>
            <a:r>
              <a:rPr lang="en-US" sz="2200" dirty="0"/>
              <a:t>components: a core system and plug-in components</a:t>
            </a:r>
            <a:r>
              <a:rPr lang="en-US" sz="2200" dirty="0" smtClean="0"/>
              <a:t>.</a:t>
            </a:r>
          </a:p>
          <a:p>
            <a:endParaRPr lang="en-IN" sz="2400" dirty="0"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5"/>
          <p:cNvSpPr>
            <a:spLocks noGrp="1"/>
          </p:cNvSpPr>
          <p:nvPr/>
        </p:nvSpPr>
        <p:spPr>
          <a:xfrm>
            <a:off x="0" y="6492875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>
                <a:solidFill>
                  <a:prstClr val="black"/>
                </a:solidFill>
              </a:rPr>
              <a:t>@Dr. </a:t>
            </a:r>
            <a:r>
              <a:rPr lang="en-US" sz="1100" i="1" dirty="0" err="1" smtClean="0">
                <a:solidFill>
                  <a:prstClr val="black"/>
                </a:solidFill>
              </a:rPr>
              <a:t>Ugrasen</a:t>
            </a:r>
            <a:r>
              <a:rPr lang="en-US" sz="1100" i="1" dirty="0" smtClean="0">
                <a:solidFill>
                  <a:prstClr val="black"/>
                </a:solidFill>
              </a:rPr>
              <a:t> Suman, Professor, SCSIT, DAVV Indore (MP), India</a:t>
            </a:r>
            <a:endParaRPr lang="en-US" sz="1100" i="1" dirty="0">
              <a:solidFill>
                <a:prstClr val="black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025" y="2937668"/>
            <a:ext cx="3854775" cy="3262312"/>
          </a:xfrm>
          <a:prstGeom prst="rect">
            <a:avLst/>
          </a:prstGeom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457200" y="2937668"/>
            <a:ext cx="4267200" cy="3418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Application logic is divided between independent plug-in components and the basic core system, providing extensibility, adaptability, and isolation of application features </a:t>
            </a:r>
            <a:r>
              <a:rPr lang="en-IN" sz="2400" dirty="0" smtClean="0"/>
              <a:t>and custom processing logic.</a:t>
            </a:r>
            <a:endParaRPr lang="en-IN" sz="2200" dirty="0" smtClean="0"/>
          </a:p>
          <a:p>
            <a:endParaRPr lang="en-IN" sz="2400" dirty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650371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4408"/>
            <a:ext cx="8229600" cy="639762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2060"/>
                </a:solidFill>
                <a:latin typeface="+mn-lt"/>
                <a:cs typeface="Times New Roman" pitchFamily="18" charset="0"/>
              </a:rPr>
              <a:t>Microkernel</a:t>
            </a:r>
            <a:endParaRPr lang="en-IN" sz="3200" b="1" dirty="0">
              <a:solidFill>
                <a:srgbClr val="002060"/>
              </a:solidFill>
              <a:latin typeface="+mn-lt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74171"/>
            <a:ext cx="8382000" cy="55361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C00000"/>
                </a:solidFill>
              </a:rPr>
              <a:t>Core System</a:t>
            </a:r>
          </a:p>
          <a:p>
            <a:r>
              <a:rPr lang="en-US" sz="2000" dirty="0"/>
              <a:t>The </a:t>
            </a:r>
            <a:r>
              <a:rPr lang="en-US" sz="2000" i="1" dirty="0">
                <a:solidFill>
                  <a:srgbClr val="C00000"/>
                </a:solidFill>
              </a:rPr>
              <a:t>core system </a:t>
            </a:r>
            <a:r>
              <a:rPr lang="en-US" sz="2000" dirty="0"/>
              <a:t>is formally defined as the minimal functionality required to run </a:t>
            </a:r>
            <a:r>
              <a:rPr lang="en-US" sz="2000" dirty="0" smtClean="0"/>
              <a:t>the </a:t>
            </a:r>
            <a:r>
              <a:rPr lang="en-IN" sz="2000" dirty="0" smtClean="0"/>
              <a:t>system.</a:t>
            </a:r>
          </a:p>
          <a:p>
            <a:r>
              <a:rPr lang="en-US" sz="2000" dirty="0"/>
              <a:t>Removing the </a:t>
            </a:r>
            <a:r>
              <a:rPr lang="en-US" sz="2000" dirty="0" err="1"/>
              <a:t>cyclomatic</a:t>
            </a:r>
            <a:r>
              <a:rPr lang="en-US" sz="2000" dirty="0"/>
              <a:t> complexity of </a:t>
            </a:r>
            <a:r>
              <a:rPr lang="en-US" sz="2000" dirty="0" smtClean="0"/>
              <a:t>the core </a:t>
            </a:r>
            <a:r>
              <a:rPr lang="en-US" sz="2000" dirty="0"/>
              <a:t>system and placing it into separate plug-in components allows for better extensibility</a:t>
            </a:r>
          </a:p>
          <a:p>
            <a:r>
              <a:rPr lang="en-US" sz="2000" dirty="0"/>
              <a:t>and maintainability, as well as increased testability.</a:t>
            </a:r>
            <a:endParaRPr lang="en-US" sz="2000" dirty="0" smtClean="0"/>
          </a:p>
          <a:p>
            <a:r>
              <a:rPr lang="en-US" sz="2000" dirty="0" smtClean="0"/>
              <a:t>Depending </a:t>
            </a:r>
            <a:r>
              <a:rPr lang="en-US" sz="2000" dirty="0"/>
              <a:t>on the size and complexity, the core system can </a:t>
            </a:r>
            <a:r>
              <a:rPr lang="en-US" sz="2000" dirty="0" smtClean="0"/>
              <a:t>be implemented </a:t>
            </a:r>
            <a:r>
              <a:rPr lang="en-US" sz="2000" dirty="0"/>
              <a:t>as a </a:t>
            </a:r>
            <a:r>
              <a:rPr lang="en-US" sz="2000" dirty="0" smtClean="0">
                <a:solidFill>
                  <a:srgbClr val="C00000"/>
                </a:solidFill>
              </a:rPr>
              <a:t>layered architecture </a:t>
            </a:r>
            <a:r>
              <a:rPr lang="en-US" sz="2000" dirty="0"/>
              <a:t>or a </a:t>
            </a:r>
            <a:r>
              <a:rPr lang="en-US" sz="2000" dirty="0">
                <a:solidFill>
                  <a:srgbClr val="C00000"/>
                </a:solidFill>
              </a:rPr>
              <a:t>modular </a:t>
            </a:r>
            <a:r>
              <a:rPr lang="en-US" sz="2000" dirty="0" smtClean="0">
                <a:solidFill>
                  <a:srgbClr val="C00000"/>
                </a:solidFill>
              </a:rPr>
              <a:t>monolith</a:t>
            </a:r>
            <a:r>
              <a:rPr lang="en-US" sz="2000" dirty="0" smtClean="0"/>
              <a:t>.</a:t>
            </a:r>
            <a:endParaRPr lang="en-IN" sz="2000" dirty="0"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5"/>
          <p:cNvSpPr>
            <a:spLocks noGrp="1"/>
          </p:cNvSpPr>
          <p:nvPr/>
        </p:nvSpPr>
        <p:spPr>
          <a:xfrm>
            <a:off x="0" y="6492875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>
                <a:solidFill>
                  <a:prstClr val="black"/>
                </a:solidFill>
              </a:rPr>
              <a:t>@Dr. </a:t>
            </a:r>
            <a:r>
              <a:rPr lang="en-US" sz="1100" i="1" dirty="0" err="1" smtClean="0">
                <a:solidFill>
                  <a:prstClr val="black"/>
                </a:solidFill>
              </a:rPr>
              <a:t>Ugrasen</a:t>
            </a:r>
            <a:r>
              <a:rPr lang="en-US" sz="1100" i="1" dirty="0" smtClean="0">
                <a:solidFill>
                  <a:prstClr val="black"/>
                </a:solidFill>
              </a:rPr>
              <a:t> Suman, Professor, SCSIT, DAVV Indore (MP), India</a:t>
            </a:r>
            <a:endParaRPr lang="en-US" sz="1100" i="1" dirty="0">
              <a:solidFill>
                <a:prstClr val="black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756289"/>
            <a:ext cx="3810000" cy="278262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3722421"/>
            <a:ext cx="3733800" cy="269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224513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4408"/>
            <a:ext cx="8229600" cy="639762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2060"/>
                </a:solidFill>
                <a:latin typeface="+mn-lt"/>
                <a:cs typeface="Times New Roman" pitchFamily="18" charset="0"/>
              </a:rPr>
              <a:t>Microkernel</a:t>
            </a:r>
            <a:endParaRPr lang="en-IN" sz="3200" b="1" dirty="0">
              <a:solidFill>
                <a:srgbClr val="002060"/>
              </a:solidFill>
              <a:latin typeface="+mn-lt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3437"/>
            <a:ext cx="8229600" cy="542977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 smtClean="0">
                <a:solidFill>
                  <a:srgbClr val="C00000"/>
                </a:solidFill>
              </a:rPr>
              <a:t>Plug-in Components </a:t>
            </a:r>
          </a:p>
          <a:p>
            <a:r>
              <a:rPr lang="en-US" sz="2400" dirty="0"/>
              <a:t>Plug-in components are standalone, independent components that contain </a:t>
            </a:r>
            <a:r>
              <a:rPr lang="en-US" sz="2400" dirty="0" smtClean="0"/>
              <a:t>specialized processing</a:t>
            </a:r>
            <a:r>
              <a:rPr lang="en-US" sz="2400" dirty="0"/>
              <a:t>, additional features, and custom code meant to enhance or extend </a:t>
            </a:r>
            <a:r>
              <a:rPr lang="en-US" sz="2400" dirty="0" smtClean="0"/>
              <a:t>the core </a:t>
            </a:r>
            <a:r>
              <a:rPr lang="en-US" sz="2400" dirty="0"/>
              <a:t>system. </a:t>
            </a:r>
            <a:endParaRPr lang="en-US" sz="2400" dirty="0" smtClean="0"/>
          </a:p>
          <a:p>
            <a:r>
              <a:rPr lang="en-US" sz="2400" dirty="0" smtClean="0"/>
              <a:t>They can </a:t>
            </a:r>
            <a:r>
              <a:rPr lang="en-US" sz="2400" dirty="0"/>
              <a:t>be used to isolate highly volatile code, </a:t>
            </a:r>
            <a:r>
              <a:rPr lang="en-US" sz="2400" dirty="0" smtClean="0"/>
              <a:t>creating </a:t>
            </a:r>
            <a:r>
              <a:rPr lang="en-US" sz="2400" dirty="0"/>
              <a:t>better maintainability and testability within the application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The communication between the plug-in components and the core system is </a:t>
            </a:r>
            <a:r>
              <a:rPr lang="en-US" sz="2400" dirty="0" smtClean="0"/>
              <a:t>generally point-to-point; i.e., plug-in </a:t>
            </a:r>
            <a:r>
              <a:rPr lang="en-US" sz="2400" dirty="0"/>
              <a:t>to the core system </a:t>
            </a:r>
            <a:r>
              <a:rPr lang="en-US" sz="2400" dirty="0" smtClean="0"/>
              <a:t>is usually </a:t>
            </a:r>
            <a:r>
              <a:rPr lang="en-US" sz="2400" dirty="0"/>
              <a:t>a method invocation or function call to the entry-point class of the </a:t>
            </a:r>
            <a:r>
              <a:rPr lang="en-US" sz="2400" dirty="0" smtClean="0"/>
              <a:t>plug-in component</a:t>
            </a:r>
            <a:r>
              <a:rPr lang="en-US" sz="2400" dirty="0"/>
              <a:t>. </a:t>
            </a:r>
            <a:endParaRPr lang="en-US" sz="2400" dirty="0" smtClean="0"/>
          </a:p>
          <a:p>
            <a:r>
              <a:rPr lang="en-US" sz="2400" dirty="0" smtClean="0"/>
              <a:t>In </a:t>
            </a:r>
            <a:r>
              <a:rPr lang="en-US" sz="2400" dirty="0"/>
              <a:t>addition, the plug-in component can be either compile-based </a:t>
            </a:r>
            <a:r>
              <a:rPr lang="en-US" sz="2400" dirty="0" smtClean="0"/>
              <a:t>or </a:t>
            </a:r>
            <a:r>
              <a:rPr lang="en-IN" sz="2400" dirty="0" smtClean="0"/>
              <a:t>runtime-based.</a:t>
            </a:r>
          </a:p>
          <a:p>
            <a:r>
              <a:rPr lang="en-US" sz="2400" dirty="0"/>
              <a:t>Point-to-point plug-in components can be implemented as shared libraries (such as </a:t>
            </a:r>
            <a:r>
              <a:rPr lang="en-US" sz="2400" dirty="0" smtClean="0"/>
              <a:t>a JAR</a:t>
            </a:r>
            <a:r>
              <a:rPr lang="en-US" sz="2400" dirty="0"/>
              <a:t>, DLL, or Gem), package names in Java, or namespaces in C#.</a:t>
            </a:r>
            <a:endParaRPr lang="en-IN" sz="2400" dirty="0"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5"/>
          <p:cNvSpPr>
            <a:spLocks noGrp="1"/>
          </p:cNvSpPr>
          <p:nvPr/>
        </p:nvSpPr>
        <p:spPr>
          <a:xfrm>
            <a:off x="0" y="6492875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>
                <a:solidFill>
                  <a:prstClr val="black"/>
                </a:solidFill>
              </a:rPr>
              <a:t>@Dr. </a:t>
            </a:r>
            <a:r>
              <a:rPr lang="en-US" sz="1100" i="1" dirty="0" err="1" smtClean="0">
                <a:solidFill>
                  <a:prstClr val="black"/>
                </a:solidFill>
              </a:rPr>
              <a:t>Ugrasen</a:t>
            </a:r>
            <a:r>
              <a:rPr lang="en-US" sz="1100" i="1" dirty="0" smtClean="0">
                <a:solidFill>
                  <a:prstClr val="black"/>
                </a:solidFill>
              </a:rPr>
              <a:t> Suman, Professor, SCSIT, DAVV Indore (MP), India</a:t>
            </a:r>
            <a:endParaRPr lang="en-US" sz="1100" i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9978617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4408"/>
            <a:ext cx="8229600" cy="639762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2060"/>
                </a:solidFill>
                <a:latin typeface="+mn-lt"/>
                <a:cs typeface="Times New Roman" pitchFamily="18" charset="0"/>
              </a:rPr>
              <a:t>Microkernel</a:t>
            </a:r>
            <a:endParaRPr lang="en-IN" sz="3200" b="1" dirty="0">
              <a:solidFill>
                <a:srgbClr val="002060"/>
              </a:solidFill>
              <a:latin typeface="+mn-lt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3437"/>
            <a:ext cx="8229600" cy="54297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C00000"/>
                </a:solidFill>
              </a:rPr>
              <a:t>Plug-in Components</a:t>
            </a:r>
            <a:r>
              <a:rPr lang="en-US" sz="2200" b="1" dirty="0" smtClean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5"/>
          <p:cNvSpPr>
            <a:spLocks noGrp="1"/>
          </p:cNvSpPr>
          <p:nvPr/>
        </p:nvSpPr>
        <p:spPr>
          <a:xfrm>
            <a:off x="0" y="6492875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>
                <a:solidFill>
                  <a:prstClr val="black"/>
                </a:solidFill>
              </a:rPr>
              <a:t>@Dr. </a:t>
            </a:r>
            <a:r>
              <a:rPr lang="en-US" sz="1100" i="1" dirty="0" err="1" smtClean="0">
                <a:solidFill>
                  <a:prstClr val="black"/>
                </a:solidFill>
              </a:rPr>
              <a:t>Ugrasen</a:t>
            </a:r>
            <a:r>
              <a:rPr lang="en-US" sz="1100" i="1" dirty="0" smtClean="0">
                <a:solidFill>
                  <a:prstClr val="black"/>
                </a:solidFill>
              </a:rPr>
              <a:t> Suman, Professor, SCSIT, DAVV Indore (MP), India</a:t>
            </a:r>
            <a:endParaRPr lang="en-US" sz="1100" i="1" dirty="0">
              <a:solidFill>
                <a:prstClr val="black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76715"/>
            <a:ext cx="7391400" cy="386238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47800"/>
            <a:ext cx="42672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706053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2060"/>
                </a:solidFill>
                <a:latin typeface="+mn-lt"/>
                <a:cs typeface="Times New Roman" pitchFamily="18" charset="0"/>
              </a:rPr>
              <a:t>Client-Server Style</a:t>
            </a:r>
            <a:endParaRPr lang="en-US" sz="3200" dirty="0">
              <a:solidFill>
                <a:srgbClr val="002060"/>
              </a:solidFill>
              <a:latin typeface="+mn-lt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4208"/>
            <a:ext cx="8229600" cy="5181600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en-US" sz="2400" dirty="0" smtClean="0">
                <a:cs typeface="Times New Roman" pitchFamily="18" charset="0"/>
              </a:rPr>
              <a:t>Client-server style is useful for distributed processing, load balancing, separation of concerns, and performance analysis. </a:t>
            </a:r>
          </a:p>
          <a:p>
            <a:pPr algn="just">
              <a:spcBef>
                <a:spcPts val="0"/>
              </a:spcBef>
            </a:pPr>
            <a:r>
              <a:rPr lang="en-US" sz="2400" dirty="0" smtClean="0">
                <a:cs typeface="Times New Roman" pitchFamily="18" charset="0"/>
              </a:rPr>
              <a:t>In this style, there are two types of components, viz., client and server. And there exists a connecting network between the clients and servers.</a:t>
            </a:r>
          </a:p>
          <a:p>
            <a:pPr algn="just">
              <a:spcBef>
                <a:spcPts val="0"/>
              </a:spcBef>
            </a:pPr>
            <a:r>
              <a:rPr lang="en-US" sz="2400" dirty="0" smtClean="0">
                <a:cs typeface="Times New Roman" pitchFamily="18" charset="0"/>
              </a:rPr>
              <a:t>The client communicates with servers through protocol and message connectors. </a:t>
            </a:r>
          </a:p>
          <a:p>
            <a:pPr algn="just">
              <a:spcBef>
                <a:spcPts val="0"/>
              </a:spcBef>
            </a:pPr>
            <a:r>
              <a:rPr lang="en-US" sz="2400" dirty="0" smtClean="0">
                <a:cs typeface="Times New Roman" pitchFamily="18" charset="0"/>
              </a:rPr>
              <a:t>Example: a web browser program running on the Internet has client server style. </a:t>
            </a:r>
          </a:p>
          <a:p>
            <a:pPr algn="just">
              <a:spcBef>
                <a:spcPts val="0"/>
              </a:spcBef>
            </a:pPr>
            <a:r>
              <a:rPr lang="en-US" sz="2400" dirty="0" smtClean="0">
                <a:cs typeface="Times New Roman" pitchFamily="18" charset="0"/>
              </a:rPr>
              <a:t>The client </a:t>
            </a:r>
            <a:r>
              <a:rPr lang="en-IN" sz="2400" dirty="0" smtClean="0">
                <a:cs typeface="Times New Roman" pitchFamily="18" charset="0"/>
              </a:rPr>
              <a:t>server architectural style provides higher security, centralized data access, and easier maintenance.</a:t>
            </a:r>
            <a:endParaRPr lang="en-US" sz="2400" dirty="0" smtClean="0"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2400" dirty="0" smtClean="0">
                <a:cs typeface="Times New Roman" pitchFamily="18" charset="0"/>
              </a:rPr>
              <a:t>The remote procedure calls (RPC) mechanism is used for requesting and providing services. </a:t>
            </a:r>
            <a:endParaRPr lang="en-US" sz="2400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/>
        </p:nvSpPr>
        <p:spPr>
          <a:xfrm>
            <a:off x="0" y="6492875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/>
              <a:t>@Dr. </a:t>
            </a:r>
            <a:r>
              <a:rPr lang="en-US" sz="1100" i="1" dirty="0" err="1" smtClean="0"/>
              <a:t>Ugrasen</a:t>
            </a:r>
            <a:r>
              <a:rPr lang="en-US" sz="1100" i="1" dirty="0" smtClean="0"/>
              <a:t> Suman, Professor, SCSIT, DAVV Indore (MP), India</a:t>
            </a:r>
            <a:endParaRPr lang="en-US" sz="1100" i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>
                <a:solidFill>
                  <a:srgbClr val="002060"/>
                </a:solidFill>
                <a:latin typeface="+mn-lt"/>
                <a:cs typeface="Times New Roman" pitchFamily="18" charset="0"/>
              </a:rPr>
              <a:t>Client-Server Style</a:t>
            </a:r>
            <a:endParaRPr lang="en-IN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100363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pSp>
        <p:nvGrpSpPr>
          <p:cNvPr id="100353" name="Group 1"/>
          <p:cNvGrpSpPr>
            <a:grpSpLocks noChangeAspect="1"/>
          </p:cNvGrpSpPr>
          <p:nvPr/>
        </p:nvGrpSpPr>
        <p:grpSpPr bwMode="auto">
          <a:xfrm>
            <a:off x="762000" y="2057400"/>
            <a:ext cx="7620000" cy="3792538"/>
            <a:chOff x="3415" y="4942"/>
            <a:chExt cx="4662" cy="1917"/>
          </a:xfrm>
        </p:grpSpPr>
        <p:sp>
          <p:nvSpPr>
            <p:cNvPr id="100362" name="AutoShape 10"/>
            <p:cNvSpPr>
              <a:spLocks noChangeAspect="1" noChangeArrowheads="1" noTextEdit="1"/>
            </p:cNvSpPr>
            <p:nvPr/>
          </p:nvSpPr>
          <p:spPr bwMode="auto">
            <a:xfrm>
              <a:off x="3415" y="4942"/>
              <a:ext cx="4662" cy="1917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0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0361" name="AutoShape 9"/>
            <p:cNvSpPr>
              <a:spLocks noChangeArrowheads="1"/>
            </p:cNvSpPr>
            <p:nvPr/>
          </p:nvSpPr>
          <p:spPr bwMode="auto">
            <a:xfrm>
              <a:off x="3499" y="6086"/>
              <a:ext cx="805" cy="312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 New Roman" pitchFamily="18" charset="0"/>
                  <a:cs typeface="Times New Roman" pitchFamily="18" charset="0"/>
                </a:rPr>
                <a:t>Client 1</a:t>
              </a:r>
              <a:endParaRPr kumimoji="0" 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0360" name="AutoShape 8"/>
            <p:cNvSpPr>
              <a:spLocks noChangeArrowheads="1"/>
            </p:cNvSpPr>
            <p:nvPr/>
          </p:nvSpPr>
          <p:spPr bwMode="auto">
            <a:xfrm>
              <a:off x="5311" y="6086"/>
              <a:ext cx="805" cy="312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 New Roman" pitchFamily="18" charset="0"/>
                  <a:cs typeface="Times New Roman" pitchFamily="18" charset="0"/>
                </a:rPr>
                <a:t>Client 2</a:t>
              </a:r>
              <a:endParaRPr kumimoji="0" 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0359" name="AutoShape 7"/>
            <p:cNvSpPr>
              <a:spLocks noChangeArrowheads="1"/>
            </p:cNvSpPr>
            <p:nvPr/>
          </p:nvSpPr>
          <p:spPr bwMode="auto">
            <a:xfrm>
              <a:off x="7192" y="6086"/>
              <a:ext cx="803" cy="312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 New Roman" pitchFamily="18" charset="0"/>
                  <a:cs typeface="Times New Roman" pitchFamily="18" charset="0"/>
                </a:rPr>
                <a:t>Client 3</a:t>
              </a:r>
              <a:endParaRPr kumimoji="0" 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0358" name="AutoShape 6"/>
            <p:cNvSpPr>
              <a:spLocks noChangeArrowheads="1"/>
            </p:cNvSpPr>
            <p:nvPr/>
          </p:nvSpPr>
          <p:spPr bwMode="auto">
            <a:xfrm>
              <a:off x="5311" y="5000"/>
              <a:ext cx="805" cy="312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 New Roman" pitchFamily="18" charset="0"/>
                  <a:cs typeface="Times New Roman" pitchFamily="18" charset="0"/>
                </a:rPr>
                <a:t>Server</a:t>
              </a:r>
              <a:endParaRPr kumimoji="0" 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0357" name="AutoShape 5"/>
            <p:cNvSpPr>
              <a:spLocks noChangeShapeType="1"/>
            </p:cNvSpPr>
            <p:nvPr/>
          </p:nvSpPr>
          <p:spPr bwMode="auto">
            <a:xfrm flipV="1">
              <a:off x="3902" y="5312"/>
              <a:ext cx="1812" cy="77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0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0356" name="AutoShape 4"/>
            <p:cNvSpPr>
              <a:spLocks noChangeShapeType="1"/>
            </p:cNvSpPr>
            <p:nvPr/>
          </p:nvSpPr>
          <p:spPr bwMode="auto">
            <a:xfrm>
              <a:off x="5714" y="5312"/>
              <a:ext cx="1" cy="77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0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0355" name="AutoShape 3"/>
            <p:cNvSpPr>
              <a:spLocks noChangeShapeType="1"/>
            </p:cNvSpPr>
            <p:nvPr/>
          </p:nvSpPr>
          <p:spPr bwMode="auto">
            <a:xfrm>
              <a:off x="5714" y="5312"/>
              <a:ext cx="1880" cy="77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000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4" name="Footer Placeholder 5"/>
          <p:cNvSpPr>
            <a:spLocks noGrp="1"/>
          </p:cNvSpPr>
          <p:nvPr/>
        </p:nvSpPr>
        <p:spPr>
          <a:xfrm>
            <a:off x="0" y="6492875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/>
              <a:t>@Dr. </a:t>
            </a:r>
            <a:r>
              <a:rPr lang="en-US" sz="1100" i="1" dirty="0" err="1" smtClean="0"/>
              <a:t>Ugrasen</a:t>
            </a:r>
            <a:r>
              <a:rPr lang="en-US" sz="1100" i="1" dirty="0" smtClean="0"/>
              <a:t> Suman, Professor, SCSIT, DAVV Indore (MP), India</a:t>
            </a:r>
            <a:endParaRPr lang="en-US" sz="1100" i="1" dirty="0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77850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solidFill>
                  <a:srgbClr val="002060"/>
                </a:solidFill>
                <a:latin typeface="+mn-lt"/>
                <a:cs typeface="Times New Roman" pitchFamily="18" charset="0"/>
              </a:rPr>
              <a:t>Shared Data Style</a:t>
            </a:r>
            <a:endParaRPr lang="en-US" sz="3200" dirty="0">
              <a:solidFill>
                <a:srgbClr val="002060"/>
              </a:solidFill>
              <a:latin typeface="+mn-lt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610600" cy="4906963"/>
          </a:xfrm>
        </p:spPr>
        <p:txBody>
          <a:bodyPr>
            <a:noAutofit/>
          </a:bodyPr>
          <a:lstStyle/>
          <a:p>
            <a:pPr algn="just"/>
            <a:r>
              <a:rPr lang="en-US" sz="2400" dirty="0" smtClean="0">
                <a:cs typeface="Times New Roman" pitchFamily="18" charset="0"/>
              </a:rPr>
              <a:t>Shared data style (also known as repository style) comprised of a central data repository (or shared data such as databases, files) and a number of data </a:t>
            </a:r>
            <a:r>
              <a:rPr lang="en-US" sz="2400" dirty="0" err="1" smtClean="0">
                <a:cs typeface="Times New Roman" pitchFamily="18" charset="0"/>
              </a:rPr>
              <a:t>accessors</a:t>
            </a:r>
            <a:r>
              <a:rPr lang="en-US" sz="2400" dirty="0" smtClean="0">
                <a:cs typeface="Times New Roman" pitchFamily="18" charset="0"/>
              </a:rPr>
              <a:t> (like users, nodes, developers) connected to the central repository. </a:t>
            </a:r>
          </a:p>
          <a:p>
            <a:pPr algn="just"/>
            <a:r>
              <a:rPr lang="en-US" sz="2400" dirty="0" smtClean="0">
                <a:cs typeface="Times New Roman" pitchFamily="18" charset="0"/>
              </a:rPr>
              <a:t>Shared data style creates, stores, updates, and accesses persistent data. </a:t>
            </a:r>
          </a:p>
          <a:p>
            <a:r>
              <a:rPr lang="en-US" sz="2400" dirty="0" smtClean="0">
                <a:cs typeface="Times New Roman" pitchFamily="18" charset="0"/>
              </a:rPr>
              <a:t>Data </a:t>
            </a:r>
            <a:r>
              <a:rPr lang="en-US" sz="2400" dirty="0" err="1" smtClean="0">
                <a:cs typeface="Times New Roman" pitchFamily="18" charset="0"/>
              </a:rPr>
              <a:t>accessors</a:t>
            </a:r>
            <a:r>
              <a:rPr lang="en-US" sz="2400" dirty="0" smtClean="0">
                <a:cs typeface="Times New Roman" pitchFamily="18" charset="0"/>
              </a:rPr>
              <a:t> access, transform, update, and restore data into the central repository. </a:t>
            </a:r>
          </a:p>
          <a:p>
            <a:r>
              <a:rPr lang="en-US" sz="2400" dirty="0" smtClean="0">
                <a:cs typeface="Times New Roman" pitchFamily="18" charset="0"/>
              </a:rPr>
              <a:t>There are two major categories of shared data styles, namely, blackboard (i.e. active repository) and traditional database (i.e. passive repository).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/>
        </p:nvSpPr>
        <p:spPr>
          <a:xfrm>
            <a:off x="0" y="6492875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/>
              <a:t>@Dr. </a:t>
            </a:r>
            <a:r>
              <a:rPr lang="en-US" sz="1100" i="1" dirty="0" err="1" smtClean="0"/>
              <a:t>Ugrasen</a:t>
            </a:r>
            <a:r>
              <a:rPr lang="en-US" sz="1100" i="1" dirty="0" smtClean="0"/>
              <a:t> Suman, Professor, SCSIT, DAVV Indore (MP), India</a:t>
            </a:r>
            <a:endParaRPr lang="en-US" sz="1100" i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solidFill>
                  <a:srgbClr val="002060"/>
                </a:solidFill>
                <a:latin typeface="+mn-lt"/>
                <a:cs typeface="Times New Roman" pitchFamily="18" charset="0"/>
              </a:rPr>
              <a:t>Shared Data Style</a:t>
            </a:r>
            <a:endParaRPr lang="en-US" sz="32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 smtClean="0">
                <a:cs typeface="Times New Roman" pitchFamily="18" charset="0"/>
              </a:rPr>
              <a:t>Blackboard (i.e. active repository):</a:t>
            </a:r>
          </a:p>
          <a:p>
            <a:pPr lvl="1" algn="just"/>
            <a:r>
              <a:rPr lang="en-US" sz="2400" dirty="0" smtClean="0">
                <a:cs typeface="Times New Roman" pitchFamily="18" charset="0"/>
              </a:rPr>
              <a:t>Any change or update in the repository will be notified to all the data </a:t>
            </a:r>
            <a:r>
              <a:rPr lang="en-US" sz="2400" dirty="0" err="1" smtClean="0">
                <a:cs typeface="Times New Roman" pitchFamily="18" charset="0"/>
              </a:rPr>
              <a:t>accessors</a:t>
            </a:r>
            <a:r>
              <a:rPr lang="en-US" sz="2400" dirty="0" smtClean="0">
                <a:cs typeface="Times New Roman" pitchFamily="18" charset="0"/>
              </a:rPr>
              <a:t>. </a:t>
            </a:r>
          </a:p>
          <a:p>
            <a:pPr lvl="1" algn="just"/>
            <a:r>
              <a:rPr lang="en-US" sz="2400" dirty="0" smtClean="0">
                <a:cs typeface="Times New Roman" pitchFamily="18" charset="0"/>
              </a:rPr>
              <a:t>For example, an insurance company policy has a central repository in which any policy change or update is informed to the customers.</a:t>
            </a:r>
          </a:p>
          <a:p>
            <a:pPr lvl="1" algn="just"/>
            <a:endParaRPr lang="en-US" sz="2400" dirty="0" smtClean="0">
              <a:cs typeface="Times New Roman" pitchFamily="18" charset="0"/>
            </a:endParaRPr>
          </a:p>
          <a:p>
            <a:pPr algn="just"/>
            <a:r>
              <a:rPr lang="en-US" sz="2400" b="1" dirty="0" smtClean="0">
                <a:cs typeface="Times New Roman" pitchFamily="18" charset="0"/>
              </a:rPr>
              <a:t>Traditional database (i.e. passive repository):</a:t>
            </a:r>
          </a:p>
          <a:p>
            <a:pPr lvl="1" algn="just"/>
            <a:r>
              <a:rPr lang="en-US" sz="2400" dirty="0" smtClean="0">
                <a:cs typeface="Times New Roman" pitchFamily="18" charset="0"/>
              </a:rPr>
              <a:t>It provides permanent storage and controls the processing of the applications. </a:t>
            </a:r>
          </a:p>
          <a:p>
            <a:pPr lvl="1" algn="just"/>
            <a:r>
              <a:rPr lang="en-US" sz="2400" dirty="0" smtClean="0">
                <a:cs typeface="Times New Roman" pitchFamily="18" charset="0"/>
              </a:rPr>
              <a:t>For example, an inherent symbol table repository of a compiler is used by the phases of compilation as and when required.</a:t>
            </a:r>
            <a:endParaRPr lang="en-US" sz="2400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/>
        </p:nvSpPr>
        <p:spPr>
          <a:xfrm>
            <a:off x="0" y="6492875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/>
              <a:t>@Dr. </a:t>
            </a:r>
            <a:r>
              <a:rPr lang="en-US" sz="1100" i="1" dirty="0" err="1" smtClean="0"/>
              <a:t>Ugrasen</a:t>
            </a:r>
            <a:r>
              <a:rPr lang="en-US" sz="1100" i="1" dirty="0" smtClean="0"/>
              <a:t> Suman, Professor, SCSIT, DAVV Indore (MP), India</a:t>
            </a:r>
            <a:endParaRPr lang="en-US" sz="1100" i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2060"/>
                </a:solidFill>
                <a:latin typeface="+mn-lt"/>
                <a:cs typeface="Times New Roman" pitchFamily="18" charset="0"/>
              </a:rPr>
              <a:t>Blackboard (i.e. active repository)</a:t>
            </a:r>
            <a:endParaRPr lang="en-IN" sz="32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99345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pSp>
        <p:nvGrpSpPr>
          <p:cNvPr id="99329" name="Group 1"/>
          <p:cNvGrpSpPr>
            <a:grpSpLocks noChangeAspect="1"/>
          </p:cNvGrpSpPr>
          <p:nvPr/>
        </p:nvGrpSpPr>
        <p:grpSpPr bwMode="auto">
          <a:xfrm>
            <a:off x="609600" y="1676400"/>
            <a:ext cx="7620000" cy="4464050"/>
            <a:chOff x="3688" y="7989"/>
            <a:chExt cx="5025" cy="3285"/>
          </a:xfrm>
        </p:grpSpPr>
        <p:sp>
          <p:nvSpPr>
            <p:cNvPr id="99344" name="AutoShape 16"/>
            <p:cNvSpPr>
              <a:spLocks noChangeAspect="1" noChangeArrowheads="1" noTextEdit="1"/>
            </p:cNvSpPr>
            <p:nvPr/>
          </p:nvSpPr>
          <p:spPr bwMode="auto">
            <a:xfrm>
              <a:off x="3688" y="7989"/>
              <a:ext cx="5025" cy="328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0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9343" name="AutoShape 15"/>
            <p:cNvSpPr>
              <a:spLocks noChangeArrowheads="1"/>
            </p:cNvSpPr>
            <p:nvPr/>
          </p:nvSpPr>
          <p:spPr bwMode="auto">
            <a:xfrm>
              <a:off x="5469" y="9106"/>
              <a:ext cx="1050" cy="911"/>
            </a:xfrm>
            <a:prstGeom prst="flowChartMagneticDisk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36000" tIns="10800" rIns="36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 New Roman" pitchFamily="18" charset="0"/>
                  <a:cs typeface="Times New Roman" pitchFamily="18" charset="0"/>
                </a:rPr>
                <a:t>Central repository</a:t>
              </a:r>
              <a:endParaRPr kumimoji="0" 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graphicFrame>
          <p:nvGraphicFramePr>
            <p:cNvPr id="99342" name="Object 14"/>
            <p:cNvGraphicFramePr>
              <a:graphicFrameLocks noChangeAspect="1"/>
            </p:cNvGraphicFramePr>
            <p:nvPr/>
          </p:nvGraphicFramePr>
          <p:xfrm>
            <a:off x="4547" y="9267"/>
            <a:ext cx="253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647" name="Visio" r:id="rId3" imgW="332297" imgH="1053821" progId="Visio.Drawing.11">
                    <p:embed/>
                  </p:oleObj>
                </mc:Choice>
                <mc:Fallback>
                  <p:oleObj name="Visio" r:id="rId3" imgW="332297" imgH="1053821" progId="Visio.Drawing.11">
                    <p:embed/>
                    <p:pic>
                      <p:nvPicPr>
                        <p:cNvPr id="0" name="Picture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7" y="9267"/>
                          <a:ext cx="253" cy="5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341" name="Object 13"/>
            <p:cNvGraphicFramePr>
              <a:graphicFrameLocks noChangeAspect="1"/>
            </p:cNvGraphicFramePr>
            <p:nvPr/>
          </p:nvGraphicFramePr>
          <p:xfrm>
            <a:off x="5872" y="8271"/>
            <a:ext cx="252" cy="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648" name="Visio" r:id="rId5" imgW="332297" imgH="1053821" progId="Visio.Drawing.11">
                    <p:embed/>
                  </p:oleObj>
                </mc:Choice>
                <mc:Fallback>
                  <p:oleObj name="Visio" r:id="rId5" imgW="332297" imgH="1053821" progId="Visio.Drawing.11">
                    <p:embed/>
                    <p:pic>
                      <p:nvPicPr>
                        <p:cNvPr id="0" name="Picture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72" y="8271"/>
                          <a:ext cx="252" cy="41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340" name="Object 12"/>
            <p:cNvGraphicFramePr>
              <a:graphicFrameLocks noChangeAspect="1"/>
            </p:cNvGraphicFramePr>
            <p:nvPr/>
          </p:nvGraphicFramePr>
          <p:xfrm>
            <a:off x="5872" y="10397"/>
            <a:ext cx="255" cy="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649" name="Visio" r:id="rId6" imgW="332297" imgH="1053821" progId="Visio.Drawing.11">
                    <p:embed/>
                  </p:oleObj>
                </mc:Choice>
                <mc:Fallback>
                  <p:oleObj name="Visio" r:id="rId6" imgW="332297" imgH="1053821" progId="Visio.Drawing.11">
                    <p:embed/>
                    <p:pic>
                      <p:nvPicPr>
                        <p:cNvPr id="0" name="Picture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72" y="10397"/>
                          <a:ext cx="255" cy="36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339" name="Object 11"/>
            <p:cNvGraphicFramePr>
              <a:graphicFrameLocks noChangeAspect="1"/>
            </p:cNvGraphicFramePr>
            <p:nvPr/>
          </p:nvGraphicFramePr>
          <p:xfrm>
            <a:off x="7283" y="9360"/>
            <a:ext cx="253" cy="4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650" name="Visio" r:id="rId7" imgW="332297" imgH="1053821" progId="Visio.Drawing.11">
                    <p:embed/>
                  </p:oleObj>
                </mc:Choice>
                <mc:Fallback>
                  <p:oleObj name="Visio" r:id="rId7" imgW="332297" imgH="1053821" progId="Visio.Drawing.11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83" y="9360"/>
                          <a:ext cx="253" cy="42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338" name="AutoShape 10"/>
            <p:cNvSpPr>
              <a:spLocks noChangeShapeType="1"/>
            </p:cNvSpPr>
            <p:nvPr/>
          </p:nvSpPr>
          <p:spPr bwMode="auto">
            <a:xfrm>
              <a:off x="4962" y="9602"/>
              <a:ext cx="369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0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9337" name="AutoShape 9"/>
            <p:cNvSpPr>
              <a:spLocks noChangeShapeType="1"/>
            </p:cNvSpPr>
            <p:nvPr/>
          </p:nvSpPr>
          <p:spPr bwMode="auto">
            <a:xfrm flipH="1">
              <a:off x="5999" y="8690"/>
              <a:ext cx="5" cy="34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0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9336" name="AutoShape 8"/>
            <p:cNvSpPr>
              <a:spLocks noChangeShapeType="1"/>
            </p:cNvSpPr>
            <p:nvPr/>
          </p:nvSpPr>
          <p:spPr bwMode="auto">
            <a:xfrm>
              <a:off x="6773" y="9602"/>
              <a:ext cx="369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0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9335" name="AutoShape 7"/>
            <p:cNvSpPr>
              <a:spLocks noChangeShapeType="1"/>
            </p:cNvSpPr>
            <p:nvPr/>
          </p:nvSpPr>
          <p:spPr bwMode="auto">
            <a:xfrm flipH="1">
              <a:off x="6006" y="10097"/>
              <a:ext cx="6" cy="30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0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9333" name="Text Box 5"/>
            <p:cNvSpPr txBox="1">
              <a:spLocks noChangeArrowheads="1"/>
            </p:cNvSpPr>
            <p:nvPr/>
          </p:nvSpPr>
          <p:spPr bwMode="auto">
            <a:xfrm>
              <a:off x="4143" y="9924"/>
              <a:ext cx="1059" cy="2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 New Roman" pitchFamily="18" charset="0"/>
                  <a:cs typeface="Times New Roman" pitchFamily="18" charset="0"/>
                </a:rPr>
                <a:t>Data accessor</a:t>
              </a:r>
              <a:endParaRPr kumimoji="0" 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9332" name="Text Box 4"/>
            <p:cNvSpPr txBox="1">
              <a:spLocks noChangeArrowheads="1"/>
            </p:cNvSpPr>
            <p:nvPr/>
          </p:nvSpPr>
          <p:spPr bwMode="auto">
            <a:xfrm>
              <a:off x="5544" y="10771"/>
              <a:ext cx="1059" cy="2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 New Roman" pitchFamily="18" charset="0"/>
                  <a:cs typeface="Times New Roman" pitchFamily="18" charset="0"/>
                </a:rPr>
                <a:t>Data accessor</a:t>
              </a:r>
              <a:endParaRPr kumimoji="0" 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9331" name="Text Box 3"/>
            <p:cNvSpPr txBox="1">
              <a:spLocks noChangeArrowheads="1"/>
            </p:cNvSpPr>
            <p:nvPr/>
          </p:nvSpPr>
          <p:spPr bwMode="auto">
            <a:xfrm>
              <a:off x="5469" y="7989"/>
              <a:ext cx="1059" cy="2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 New Roman" pitchFamily="18" charset="0"/>
                  <a:cs typeface="Times New Roman" pitchFamily="18" charset="0"/>
                </a:rPr>
                <a:t>Data accessor</a:t>
              </a:r>
              <a:endParaRPr kumimoji="0" 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9330" name="Text Box 2"/>
            <p:cNvSpPr txBox="1">
              <a:spLocks noChangeArrowheads="1"/>
            </p:cNvSpPr>
            <p:nvPr/>
          </p:nvSpPr>
          <p:spPr bwMode="auto">
            <a:xfrm>
              <a:off x="6901" y="9924"/>
              <a:ext cx="1059" cy="2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 New Roman" pitchFamily="18" charset="0"/>
                  <a:cs typeface="Times New Roman" pitchFamily="18" charset="0"/>
                </a:rPr>
                <a:t>Data accessor</a:t>
              </a:r>
              <a:endParaRPr kumimoji="0" 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0" name="Footer Placeholder 5"/>
          <p:cNvSpPr>
            <a:spLocks noGrp="1"/>
          </p:cNvSpPr>
          <p:nvPr/>
        </p:nvSpPr>
        <p:spPr>
          <a:xfrm>
            <a:off x="0" y="6492875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/>
              <a:t>@Dr. </a:t>
            </a:r>
            <a:r>
              <a:rPr lang="en-US" sz="1100" i="1" dirty="0" err="1" smtClean="0"/>
              <a:t>Ugrasen</a:t>
            </a:r>
            <a:r>
              <a:rPr lang="en-US" sz="1100" i="1" dirty="0" smtClean="0"/>
              <a:t> Suman, Professor, SCSIT, DAVV Indore (MP), India</a:t>
            </a:r>
            <a:endParaRPr lang="en-US" sz="1100" i="1" dirty="0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2060"/>
                </a:solidFill>
                <a:latin typeface="+mn-lt"/>
                <a:cs typeface="Times New Roman" pitchFamily="18" charset="0"/>
              </a:rPr>
              <a:t>Service-Oriented Architecture (SOA)</a:t>
            </a:r>
            <a:endParaRPr lang="en-US" sz="3200" dirty="0">
              <a:solidFill>
                <a:srgbClr val="002060"/>
              </a:solidFill>
              <a:latin typeface="+mn-lt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>
            <a:noAutofit/>
          </a:bodyPr>
          <a:lstStyle/>
          <a:p>
            <a:pPr algn="just"/>
            <a:r>
              <a:rPr lang="en-US" sz="2400" dirty="0" smtClean="0">
                <a:cs typeface="Times New Roman" pitchFamily="18" charset="0"/>
              </a:rPr>
              <a:t>The service-oriented architecture (SOA) is an architectural paradigm that is used to provide a platform to fulfill the needs of consumers and capabilities of providers to interact through services across different domains and technology.</a:t>
            </a:r>
          </a:p>
          <a:p>
            <a:pPr algn="just"/>
            <a:r>
              <a:rPr lang="en-US" sz="2400" dirty="0" smtClean="0">
                <a:cs typeface="Times New Roman" pitchFamily="18" charset="0"/>
              </a:rPr>
              <a:t>SOA is essentially a collection of web services, which are well defined, self-contained modules that provide standard business functionality and are independent of the state or context of other web services. </a:t>
            </a:r>
          </a:p>
          <a:p>
            <a:pPr algn="just"/>
            <a:r>
              <a:rPr lang="en-US" sz="2400" dirty="0" smtClean="0">
                <a:cs typeface="Times New Roman" pitchFamily="18" charset="0"/>
              </a:rPr>
              <a:t>The basic SOA architecture encompasses three roles, namely, web service provider; web service consumer; and Universal Description, Discovery and Integration (UDDI) registry for handling service request, service discovery, and service invocation.</a:t>
            </a:r>
            <a:endParaRPr lang="en-US" sz="2400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/>
        </p:nvSpPr>
        <p:spPr>
          <a:xfrm>
            <a:off x="0" y="6492875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/>
              <a:t>@Dr. </a:t>
            </a:r>
            <a:r>
              <a:rPr lang="en-US" sz="1100" i="1" dirty="0" err="1" smtClean="0"/>
              <a:t>Ugrasen</a:t>
            </a:r>
            <a:r>
              <a:rPr lang="en-US" sz="1100" i="1" dirty="0" smtClean="0"/>
              <a:t> Suman, Professor, SCSIT, DAVV Indore (MP), India</a:t>
            </a:r>
            <a:endParaRPr lang="en-US" sz="1100" i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/>
            <a:r>
              <a:rPr lang="en-US" sz="3200" b="1" dirty="0" smtClean="0">
                <a:solidFill>
                  <a:srgbClr val="002060"/>
                </a:solidFill>
                <a:latin typeface="+mn-lt"/>
                <a:cs typeface="Times New Roman" pitchFamily="18" charset="0"/>
              </a:rPr>
              <a:t>Service-Oriented Architecture (SOA)</a:t>
            </a:r>
            <a:endParaRPr lang="en-US" sz="3200" dirty="0">
              <a:latin typeface="+mn-lt"/>
              <a:cs typeface="Times New Roman" pitchFamily="18" charset="0"/>
            </a:endParaRPr>
          </a:p>
        </p:txBody>
      </p:sp>
      <p:sp>
        <p:nvSpPr>
          <p:cNvPr id="42017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42005" name="Group 21"/>
          <p:cNvGrpSpPr>
            <a:grpSpLocks noChangeAspect="1"/>
          </p:cNvGrpSpPr>
          <p:nvPr/>
        </p:nvGrpSpPr>
        <p:grpSpPr bwMode="auto">
          <a:xfrm>
            <a:off x="457200" y="1676400"/>
            <a:ext cx="8305800" cy="4495800"/>
            <a:chOff x="2159" y="7551"/>
            <a:chExt cx="6305" cy="2901"/>
          </a:xfrm>
        </p:grpSpPr>
        <p:sp>
          <p:nvSpPr>
            <p:cNvPr id="42016" name="AutoShape 32"/>
            <p:cNvSpPr>
              <a:spLocks noChangeAspect="1" noChangeArrowheads="1" noTextEdit="1"/>
            </p:cNvSpPr>
            <p:nvPr/>
          </p:nvSpPr>
          <p:spPr bwMode="auto">
            <a:xfrm>
              <a:off x="2159" y="7551"/>
              <a:ext cx="6305" cy="29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015" name="Text Box 31"/>
            <p:cNvSpPr txBox="1">
              <a:spLocks noChangeArrowheads="1"/>
            </p:cNvSpPr>
            <p:nvPr/>
          </p:nvSpPr>
          <p:spPr bwMode="auto">
            <a:xfrm>
              <a:off x="4154" y="7559"/>
              <a:ext cx="1935" cy="51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 New Roman" pitchFamily="18" charset="0"/>
                  <a:cs typeface="Times New Roman" pitchFamily="18" charset="0"/>
                </a:rPr>
                <a:t>UDDI registry</a:t>
              </a:r>
              <a:endPara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014" name="Text Box 30"/>
            <p:cNvSpPr txBox="1">
              <a:spLocks noChangeArrowheads="1"/>
            </p:cNvSpPr>
            <p:nvPr/>
          </p:nvSpPr>
          <p:spPr bwMode="auto">
            <a:xfrm>
              <a:off x="6342" y="9127"/>
              <a:ext cx="1616" cy="6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 New Roman" pitchFamily="18" charset="0"/>
                  <a:cs typeface="Times New Roman" pitchFamily="18" charset="0"/>
                </a:rPr>
                <a:t>Web service provider</a:t>
              </a:r>
              <a:endPara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013" name="Text Box 29"/>
            <p:cNvSpPr txBox="1">
              <a:spLocks noChangeArrowheads="1"/>
            </p:cNvSpPr>
            <p:nvPr/>
          </p:nvSpPr>
          <p:spPr bwMode="auto">
            <a:xfrm>
              <a:off x="2335" y="9127"/>
              <a:ext cx="1653" cy="6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 New Roman" pitchFamily="18" charset="0"/>
                  <a:cs typeface="Times New Roman" pitchFamily="18" charset="0"/>
                </a:rPr>
                <a:t>Web service consumer</a:t>
              </a:r>
              <a:endPara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012" name="AutoShape 28"/>
            <p:cNvSpPr>
              <a:spLocks noChangeShapeType="1"/>
            </p:cNvSpPr>
            <p:nvPr/>
          </p:nvSpPr>
          <p:spPr bwMode="auto">
            <a:xfrm>
              <a:off x="3988" y="9465"/>
              <a:ext cx="2354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011" name="Text Box 27"/>
            <p:cNvSpPr txBox="1">
              <a:spLocks noChangeArrowheads="1"/>
            </p:cNvSpPr>
            <p:nvPr/>
          </p:nvSpPr>
          <p:spPr bwMode="auto">
            <a:xfrm>
              <a:off x="4383" y="9637"/>
              <a:ext cx="1794" cy="29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 New Roman" pitchFamily="18" charset="0"/>
                  <a:cs typeface="Times New Roman" pitchFamily="18" charset="0"/>
                </a:rPr>
                <a:t>Request/response</a:t>
              </a:r>
              <a:endPara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010" name="Text Box 26"/>
            <p:cNvSpPr txBox="1">
              <a:spLocks noChangeArrowheads="1"/>
            </p:cNvSpPr>
            <p:nvPr/>
          </p:nvSpPr>
          <p:spPr bwMode="auto">
            <a:xfrm>
              <a:off x="2159" y="8266"/>
              <a:ext cx="1348" cy="28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 New Roman" pitchFamily="18" charset="0"/>
                  <a:cs typeface="Times New Roman" pitchFamily="18" charset="0"/>
                </a:rPr>
                <a:t>Find/retrieve </a:t>
              </a:r>
              <a:endPara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009" name="AutoShape 25"/>
            <p:cNvSpPr>
              <a:spLocks noChangeShapeType="1"/>
            </p:cNvSpPr>
            <p:nvPr/>
          </p:nvSpPr>
          <p:spPr bwMode="auto">
            <a:xfrm flipV="1">
              <a:off x="3162" y="7816"/>
              <a:ext cx="992" cy="131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008" name="Text Box 24"/>
            <p:cNvSpPr txBox="1">
              <a:spLocks noChangeArrowheads="1"/>
            </p:cNvSpPr>
            <p:nvPr/>
          </p:nvSpPr>
          <p:spPr bwMode="auto">
            <a:xfrm>
              <a:off x="6757" y="8266"/>
              <a:ext cx="1707" cy="28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Times New Roman" pitchFamily="18" charset="0"/>
                  <a:cs typeface="Times New Roman" pitchFamily="18" charset="0"/>
                </a:rPr>
                <a:t>Register/publish</a:t>
              </a:r>
              <a:endPara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007" name="AutoShape 23"/>
            <p:cNvSpPr>
              <a:spLocks noChangeShapeType="1"/>
            </p:cNvSpPr>
            <p:nvPr/>
          </p:nvSpPr>
          <p:spPr bwMode="auto">
            <a:xfrm>
              <a:off x="6089" y="7816"/>
              <a:ext cx="1061" cy="131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16" name="Footer Placeholder 5"/>
          <p:cNvSpPr>
            <a:spLocks noGrp="1"/>
          </p:cNvSpPr>
          <p:nvPr/>
        </p:nvSpPr>
        <p:spPr>
          <a:xfrm>
            <a:off x="0" y="6492875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/>
              <a:t>@Dr. </a:t>
            </a:r>
            <a:r>
              <a:rPr lang="en-US" sz="1100" i="1" dirty="0" err="1" smtClean="0"/>
              <a:t>Ugrasen</a:t>
            </a:r>
            <a:r>
              <a:rPr lang="en-US" sz="1100" i="1" dirty="0" smtClean="0"/>
              <a:t> Suman, Professor, SCSIT, DAVV Indore (MP), India</a:t>
            </a:r>
            <a:endParaRPr lang="en-US" sz="1100" i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23887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002060"/>
                </a:solidFill>
                <a:latin typeface="+mn-lt"/>
                <a:cs typeface="Times New Roman" pitchFamily="18" charset="0"/>
              </a:rPr>
              <a:t>Microservices</a:t>
            </a:r>
            <a:r>
              <a:rPr lang="en-US" sz="3200" b="1" dirty="0">
                <a:solidFill>
                  <a:srgbClr val="002060"/>
                </a:solidFill>
                <a:latin typeface="+mn-lt"/>
                <a:cs typeface="Times New Roman" pitchFamily="18" charset="0"/>
              </a:rPr>
              <a:t> Architecture</a:t>
            </a:r>
            <a:endParaRPr lang="en-US" sz="3200" dirty="0">
              <a:solidFill>
                <a:srgbClr val="002060"/>
              </a:solidFill>
              <a:latin typeface="+mn-lt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</p:spPr>
        <p:txBody>
          <a:bodyPr>
            <a:noAutofit/>
          </a:bodyPr>
          <a:lstStyle/>
          <a:p>
            <a:r>
              <a:rPr lang="en-US" sz="2200" dirty="0" err="1"/>
              <a:t>Microservices</a:t>
            </a:r>
            <a:r>
              <a:rPr lang="en-US" sz="2200" dirty="0"/>
              <a:t> is heavily inspired by the ideas in domain-driven design (DDD), a </a:t>
            </a:r>
            <a:r>
              <a:rPr lang="en-US" sz="2200" dirty="0" smtClean="0"/>
              <a:t>logical design </a:t>
            </a:r>
            <a:r>
              <a:rPr lang="en-US" sz="2200" dirty="0"/>
              <a:t>process for software projects. </a:t>
            </a:r>
            <a:endParaRPr lang="en-US" sz="2200" dirty="0" smtClean="0"/>
          </a:p>
          <a:p>
            <a:r>
              <a:rPr lang="en-US" sz="2200" dirty="0" smtClean="0"/>
              <a:t>One </a:t>
            </a:r>
            <a:r>
              <a:rPr lang="en-US" sz="2200" dirty="0"/>
              <a:t>concept in particular from DDD, </a:t>
            </a:r>
            <a:r>
              <a:rPr lang="en-US" sz="2200" i="1" dirty="0" smtClean="0">
                <a:solidFill>
                  <a:srgbClr val="FF0000"/>
                </a:solidFill>
              </a:rPr>
              <a:t>bounded context</a:t>
            </a:r>
            <a:r>
              <a:rPr lang="en-US" sz="2200" dirty="0"/>
              <a:t>, decidedly inspired </a:t>
            </a:r>
            <a:r>
              <a:rPr lang="en-US" sz="2200" dirty="0" err="1"/>
              <a:t>microservices</a:t>
            </a:r>
            <a:r>
              <a:rPr lang="en-US" sz="2200" dirty="0"/>
              <a:t>. </a:t>
            </a:r>
            <a:endParaRPr lang="en-US" sz="2200" dirty="0" smtClean="0"/>
          </a:p>
          <a:p>
            <a:r>
              <a:rPr lang="en-US" sz="2200" dirty="0" smtClean="0"/>
              <a:t>The </a:t>
            </a:r>
            <a:r>
              <a:rPr lang="en-US" sz="2200" dirty="0"/>
              <a:t>concept of bounded </a:t>
            </a:r>
            <a:r>
              <a:rPr lang="en-US" sz="2200" dirty="0" smtClean="0"/>
              <a:t>context represents </a:t>
            </a:r>
            <a:r>
              <a:rPr lang="en-US" sz="2200" dirty="0"/>
              <a:t>a decoupling style. </a:t>
            </a:r>
            <a:endParaRPr lang="en-US" sz="2200" dirty="0" smtClean="0"/>
          </a:p>
          <a:p>
            <a:r>
              <a:rPr lang="en-US" sz="2200" dirty="0" smtClean="0"/>
              <a:t>When </a:t>
            </a:r>
            <a:r>
              <a:rPr lang="en-US" sz="2200" dirty="0"/>
              <a:t>a developer defines a domain, that </a:t>
            </a:r>
            <a:r>
              <a:rPr lang="en-US" sz="2200" dirty="0" smtClean="0"/>
              <a:t>domain includes </a:t>
            </a:r>
            <a:r>
              <a:rPr lang="en-US" sz="2200" dirty="0"/>
              <a:t>many entities and behaviors, identified in artifacts such as code and </a:t>
            </a:r>
            <a:r>
              <a:rPr lang="en-US" sz="2200" dirty="0" smtClean="0"/>
              <a:t>database </a:t>
            </a:r>
            <a:r>
              <a:rPr lang="en-IN" sz="2200" dirty="0" smtClean="0"/>
              <a:t>schemas.</a:t>
            </a:r>
          </a:p>
          <a:p>
            <a:r>
              <a:rPr lang="en-US" sz="2200" dirty="0"/>
              <a:t>Within a bounded context, the </a:t>
            </a:r>
            <a:r>
              <a:rPr lang="en-US" sz="2200" dirty="0" smtClean="0"/>
              <a:t>internal parts</a:t>
            </a:r>
            <a:r>
              <a:rPr lang="en-US" sz="2200" dirty="0"/>
              <a:t>, such as code and data schemas, are coupled together to produce work; </a:t>
            </a:r>
            <a:r>
              <a:rPr lang="en-US" sz="2200" dirty="0" smtClean="0"/>
              <a:t>but they </a:t>
            </a:r>
            <a:r>
              <a:rPr lang="en-US" sz="2200" dirty="0"/>
              <a:t>are never coupled to anything outside the bounded context, such as a </a:t>
            </a:r>
            <a:r>
              <a:rPr lang="en-US" sz="2200" dirty="0" smtClean="0"/>
              <a:t>database or </a:t>
            </a:r>
            <a:r>
              <a:rPr lang="en-US" sz="2200" dirty="0"/>
              <a:t>class definition from another bounded context. </a:t>
            </a:r>
            <a:endParaRPr lang="en-US" sz="2200" dirty="0" smtClean="0"/>
          </a:p>
          <a:p>
            <a:r>
              <a:rPr lang="en-US" sz="2200" dirty="0" smtClean="0"/>
              <a:t>This </a:t>
            </a:r>
            <a:r>
              <a:rPr lang="en-US" sz="2200" dirty="0"/>
              <a:t>allows each context to </a:t>
            </a:r>
            <a:r>
              <a:rPr lang="en-US" sz="2200" dirty="0" smtClean="0"/>
              <a:t>define only </a:t>
            </a:r>
            <a:r>
              <a:rPr lang="en-US" sz="2200" dirty="0"/>
              <a:t>what it needs rather than accommodating other constituents.</a:t>
            </a:r>
            <a:endParaRPr lang="en-US" sz="2200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/>
        </p:nvSpPr>
        <p:spPr>
          <a:xfrm>
            <a:off x="0" y="6492875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>
                <a:solidFill>
                  <a:prstClr val="black"/>
                </a:solidFill>
              </a:rPr>
              <a:t>@Dr. </a:t>
            </a:r>
            <a:r>
              <a:rPr lang="en-US" sz="1100" i="1" dirty="0" err="1" smtClean="0">
                <a:solidFill>
                  <a:prstClr val="black"/>
                </a:solidFill>
              </a:rPr>
              <a:t>Ugrasen</a:t>
            </a:r>
            <a:r>
              <a:rPr lang="en-US" sz="1100" i="1" dirty="0" smtClean="0">
                <a:solidFill>
                  <a:prstClr val="black"/>
                </a:solidFill>
              </a:rPr>
              <a:t> Suman, Professor, SCSIT, DAVV Indore (MP), India</a:t>
            </a:r>
            <a:endParaRPr lang="en-US" sz="1100" i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967200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23887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2060"/>
                </a:solidFill>
                <a:latin typeface="+mn-lt"/>
                <a:cs typeface="Times New Roman" pitchFamily="18" charset="0"/>
              </a:rPr>
              <a:t>Topology of </a:t>
            </a:r>
            <a:r>
              <a:rPr lang="en-US" sz="3200" b="1" dirty="0" err="1" smtClean="0">
                <a:solidFill>
                  <a:srgbClr val="002060"/>
                </a:solidFill>
                <a:latin typeface="+mn-lt"/>
                <a:cs typeface="Times New Roman" pitchFamily="18" charset="0"/>
              </a:rPr>
              <a:t>Microservices</a:t>
            </a:r>
            <a:r>
              <a:rPr lang="en-US" sz="3200" b="1" dirty="0" smtClean="0">
                <a:solidFill>
                  <a:srgbClr val="002060"/>
                </a:solidFill>
                <a:latin typeface="+mn-lt"/>
                <a:cs typeface="Times New Roman" pitchFamily="18" charset="0"/>
              </a:rPr>
              <a:t> </a:t>
            </a:r>
            <a:r>
              <a:rPr lang="en-US" sz="3200" b="1" dirty="0">
                <a:solidFill>
                  <a:srgbClr val="002060"/>
                </a:solidFill>
                <a:latin typeface="+mn-lt"/>
                <a:cs typeface="Times New Roman" pitchFamily="18" charset="0"/>
              </a:rPr>
              <a:t>architecture </a:t>
            </a:r>
            <a:r>
              <a:rPr lang="en-US" sz="3200" b="1" dirty="0" smtClean="0">
                <a:solidFill>
                  <a:srgbClr val="002060"/>
                </a:solidFill>
                <a:latin typeface="+mn-lt"/>
                <a:cs typeface="Times New Roman" pitchFamily="18" charset="0"/>
              </a:rPr>
              <a:t>style</a:t>
            </a:r>
            <a:endParaRPr lang="en-US" sz="3200" dirty="0">
              <a:solidFill>
                <a:srgbClr val="002060"/>
              </a:solidFill>
              <a:latin typeface="+mn-lt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/>
        </p:nvSpPr>
        <p:spPr>
          <a:xfrm>
            <a:off x="0" y="6492875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>
                <a:solidFill>
                  <a:prstClr val="black"/>
                </a:solidFill>
              </a:rPr>
              <a:t>@Dr. </a:t>
            </a:r>
            <a:r>
              <a:rPr lang="en-US" sz="1100" i="1" dirty="0" err="1" smtClean="0">
                <a:solidFill>
                  <a:prstClr val="black"/>
                </a:solidFill>
              </a:rPr>
              <a:t>Ugrasen</a:t>
            </a:r>
            <a:r>
              <a:rPr lang="en-US" sz="1100" i="1" dirty="0" smtClean="0">
                <a:solidFill>
                  <a:prstClr val="black"/>
                </a:solidFill>
              </a:rPr>
              <a:t> Suman, Professor, SCSIT, DAVV Indore (MP), India</a:t>
            </a:r>
            <a:endParaRPr lang="en-US" sz="1100" i="1" dirty="0">
              <a:solidFill>
                <a:prstClr val="black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19200"/>
            <a:ext cx="78486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52394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23887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002060"/>
                </a:solidFill>
                <a:latin typeface="+mn-lt"/>
                <a:cs typeface="Times New Roman" pitchFamily="18" charset="0"/>
              </a:rPr>
              <a:t>Microservices</a:t>
            </a:r>
            <a:r>
              <a:rPr lang="en-US" sz="3200" b="1" dirty="0">
                <a:solidFill>
                  <a:srgbClr val="002060"/>
                </a:solidFill>
                <a:latin typeface="+mn-lt"/>
                <a:cs typeface="Times New Roman" pitchFamily="18" charset="0"/>
              </a:rPr>
              <a:t> Architecture</a:t>
            </a:r>
            <a:endParaRPr lang="en-US" sz="3200" dirty="0">
              <a:solidFill>
                <a:srgbClr val="002060"/>
              </a:solidFill>
              <a:latin typeface="+mn-lt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</p:spPr>
        <p:txBody>
          <a:bodyPr>
            <a:noAutofit/>
          </a:bodyPr>
          <a:lstStyle/>
          <a:p>
            <a:r>
              <a:rPr lang="en-US" sz="2000" dirty="0" smtClean="0">
                <a:solidFill>
                  <a:srgbClr val="FF0000"/>
                </a:solidFill>
              </a:rPr>
              <a:t>Distributed architecture</a:t>
            </a:r>
            <a:r>
              <a:rPr lang="en-US" sz="2000" dirty="0"/>
              <a:t>: each service runs in its own process</a:t>
            </a:r>
            <a:r>
              <a:rPr lang="en-US" sz="2000" dirty="0" smtClean="0"/>
              <a:t>, which </a:t>
            </a:r>
            <a:r>
              <a:rPr lang="en-US" sz="2000" dirty="0"/>
              <a:t>originally implied a physical computer but quickly evolved to virtual </a:t>
            </a:r>
            <a:r>
              <a:rPr lang="en-US" sz="2000" dirty="0" smtClean="0"/>
              <a:t>machines </a:t>
            </a:r>
            <a:r>
              <a:rPr lang="en-IN" sz="2000" dirty="0" smtClean="0"/>
              <a:t>and </a:t>
            </a:r>
            <a:r>
              <a:rPr lang="en-IN" sz="2000" dirty="0"/>
              <a:t>containers</a:t>
            </a:r>
            <a:r>
              <a:rPr lang="en-IN" sz="2000" dirty="0" smtClean="0"/>
              <a:t>.</a:t>
            </a:r>
          </a:p>
          <a:p>
            <a:r>
              <a:rPr lang="en-IN" sz="2000" dirty="0" smtClean="0">
                <a:solidFill>
                  <a:srgbClr val="FF0000"/>
                </a:solidFill>
              </a:rPr>
              <a:t>Bounded context</a:t>
            </a:r>
            <a:r>
              <a:rPr lang="en-IN" sz="2000" dirty="0"/>
              <a:t>: each </a:t>
            </a:r>
            <a:r>
              <a:rPr lang="en-IN" sz="2000" dirty="0" smtClean="0"/>
              <a:t>service </a:t>
            </a:r>
            <a:r>
              <a:rPr lang="en-US" sz="2000" dirty="0" smtClean="0"/>
              <a:t>models </a:t>
            </a:r>
            <a:r>
              <a:rPr lang="en-US" sz="2000" dirty="0"/>
              <a:t>a domain or workflow. Thus, each service includes everything </a:t>
            </a:r>
            <a:r>
              <a:rPr lang="en-US" sz="2000" dirty="0" smtClean="0"/>
              <a:t>necessary to </a:t>
            </a:r>
            <a:r>
              <a:rPr lang="en-US" sz="2000" dirty="0"/>
              <a:t>operate within the application, including classes, other </a:t>
            </a:r>
            <a:r>
              <a:rPr lang="en-US" sz="2000" dirty="0" smtClean="0"/>
              <a:t> subcomponents</a:t>
            </a:r>
            <a:r>
              <a:rPr lang="en-US" sz="2000" dirty="0"/>
              <a:t>, and </a:t>
            </a:r>
            <a:r>
              <a:rPr lang="en-US" sz="2000" dirty="0" smtClean="0"/>
              <a:t>database </a:t>
            </a:r>
            <a:r>
              <a:rPr lang="en-IN" sz="2000" dirty="0" smtClean="0"/>
              <a:t>schemas.</a:t>
            </a:r>
          </a:p>
          <a:p>
            <a:r>
              <a:rPr lang="en-IN" sz="2000" dirty="0" smtClean="0">
                <a:solidFill>
                  <a:srgbClr val="FF0000"/>
                </a:solidFill>
              </a:rPr>
              <a:t>Granularity:</a:t>
            </a:r>
            <a:r>
              <a:rPr lang="en-IN" sz="2000" dirty="0" smtClean="0"/>
              <a:t> </a:t>
            </a:r>
            <a:r>
              <a:rPr lang="en-US" sz="2000" dirty="0"/>
              <a:t>Iteration is </a:t>
            </a:r>
            <a:r>
              <a:rPr lang="en-US" sz="2000" dirty="0" smtClean="0"/>
              <a:t>performed to </a:t>
            </a:r>
            <a:r>
              <a:rPr lang="en-US" sz="2000" dirty="0"/>
              <a:t>ensure good service design. </a:t>
            </a:r>
            <a:endParaRPr lang="en-US" sz="2000" dirty="0" smtClean="0"/>
          </a:p>
          <a:p>
            <a:r>
              <a:rPr lang="en-IN" sz="2000" dirty="0" smtClean="0"/>
              <a:t>Data Isolation: </a:t>
            </a:r>
            <a:r>
              <a:rPr lang="en-US" sz="2000" dirty="0" err="1"/>
              <a:t>microservices</a:t>
            </a:r>
            <a:r>
              <a:rPr lang="en-US" sz="2000" dirty="0"/>
              <a:t> tries to avoid all kinds of coupling, including shared </a:t>
            </a:r>
            <a:r>
              <a:rPr lang="en-US" sz="2000" dirty="0" smtClean="0"/>
              <a:t>schemas and </a:t>
            </a:r>
            <a:r>
              <a:rPr lang="en-US" sz="2000" dirty="0"/>
              <a:t>databases used as integration points</a:t>
            </a:r>
            <a:r>
              <a:rPr lang="en-US" sz="2000" dirty="0" smtClean="0"/>
              <a:t>.</a:t>
            </a:r>
          </a:p>
          <a:p>
            <a:r>
              <a:rPr lang="en-IN" sz="2000" dirty="0">
                <a:solidFill>
                  <a:srgbClr val="FF0000"/>
                </a:solidFill>
              </a:rPr>
              <a:t>API </a:t>
            </a:r>
            <a:r>
              <a:rPr lang="en-IN" sz="2000" dirty="0" smtClean="0">
                <a:solidFill>
                  <a:srgbClr val="FF0000"/>
                </a:solidFill>
              </a:rPr>
              <a:t>Layer</a:t>
            </a:r>
          </a:p>
          <a:p>
            <a:r>
              <a:rPr lang="en-IN" sz="2000" dirty="0">
                <a:solidFill>
                  <a:srgbClr val="FF0000"/>
                </a:solidFill>
              </a:rPr>
              <a:t>Operational </a:t>
            </a:r>
            <a:r>
              <a:rPr lang="en-IN" sz="2000" dirty="0" smtClean="0">
                <a:solidFill>
                  <a:srgbClr val="FF0000"/>
                </a:solidFill>
              </a:rPr>
              <a:t>Reuse</a:t>
            </a:r>
          </a:p>
          <a:p>
            <a:r>
              <a:rPr lang="en-IN" sz="2000" dirty="0" smtClean="0">
                <a:solidFill>
                  <a:srgbClr val="FF0000"/>
                </a:solidFill>
              </a:rPr>
              <a:t>Frontends</a:t>
            </a:r>
          </a:p>
          <a:p>
            <a:r>
              <a:rPr lang="en-IN" sz="2000" dirty="0" smtClean="0">
                <a:solidFill>
                  <a:srgbClr val="FF0000"/>
                </a:solidFill>
              </a:rPr>
              <a:t>Communication</a:t>
            </a:r>
          </a:p>
          <a:p>
            <a:r>
              <a:rPr lang="en-IN" sz="2000" dirty="0">
                <a:solidFill>
                  <a:srgbClr val="FF0000"/>
                </a:solidFill>
              </a:rPr>
              <a:t>Choreography and </a:t>
            </a:r>
            <a:r>
              <a:rPr lang="en-IN" sz="2000" dirty="0" smtClean="0">
                <a:solidFill>
                  <a:srgbClr val="FF0000"/>
                </a:solidFill>
              </a:rPr>
              <a:t>Orchestration</a:t>
            </a:r>
          </a:p>
          <a:p>
            <a:pPr lvl="1"/>
            <a:r>
              <a:rPr lang="en-US" sz="1600" dirty="0" smtClean="0"/>
              <a:t>No central </a:t>
            </a:r>
            <a:r>
              <a:rPr lang="en-US" sz="1600" dirty="0"/>
              <a:t>coordinator exists in this architecture</a:t>
            </a:r>
            <a:endParaRPr lang="en-IN" sz="1600" dirty="0" smtClean="0"/>
          </a:p>
          <a:p>
            <a:endParaRPr lang="en-IN" sz="2000" dirty="0" smtClean="0"/>
          </a:p>
          <a:p>
            <a:endParaRPr lang="en-US" sz="2000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1043-848E-4CA3-808D-B3CFD8CB811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/>
        </p:nvSpPr>
        <p:spPr>
          <a:xfrm>
            <a:off x="0" y="6492875"/>
            <a:ext cx="6092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1" dirty="0" smtClean="0">
                <a:solidFill>
                  <a:prstClr val="black"/>
                </a:solidFill>
              </a:rPr>
              <a:t>@Dr. </a:t>
            </a:r>
            <a:r>
              <a:rPr lang="en-US" sz="1100" i="1" dirty="0" err="1" smtClean="0">
                <a:solidFill>
                  <a:prstClr val="black"/>
                </a:solidFill>
              </a:rPr>
              <a:t>Ugrasen</a:t>
            </a:r>
            <a:r>
              <a:rPr lang="en-US" sz="1100" i="1" dirty="0" smtClean="0">
                <a:solidFill>
                  <a:prstClr val="black"/>
                </a:solidFill>
              </a:rPr>
              <a:t> Suman, Professor, SCSIT, DAVV Indore (MP), India</a:t>
            </a:r>
            <a:endParaRPr lang="en-US" sz="1100" i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31356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3892</TotalTime>
  <Words>2579</Words>
  <Application>Microsoft Office PowerPoint</Application>
  <PresentationFormat>On-screen Show (4:3)</PresentationFormat>
  <Paragraphs>268</Paragraphs>
  <Slides>30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Symbol</vt:lpstr>
      <vt:lpstr>Times New Roman</vt:lpstr>
      <vt:lpstr>Office Theme</vt:lpstr>
      <vt:lpstr>Visio</vt:lpstr>
      <vt:lpstr>PowerPoint Presentation</vt:lpstr>
      <vt:lpstr>Architectural Styles</vt:lpstr>
      <vt:lpstr>Big Ball of Mud</vt:lpstr>
      <vt:lpstr>Big Ball of Mud</vt:lpstr>
      <vt:lpstr>Unitary Architecture</vt:lpstr>
      <vt:lpstr>Monolithic Vs. Distributed Architectures</vt:lpstr>
      <vt:lpstr>The fallacies of distributed computing</vt:lpstr>
      <vt:lpstr>Classification of Architectural styles</vt:lpstr>
      <vt:lpstr>  Layered Architectural Style  </vt:lpstr>
      <vt:lpstr>Layered Architectural Style</vt:lpstr>
      <vt:lpstr>  Layered Architectural Style (Standard)  </vt:lpstr>
      <vt:lpstr>Benefits and drawbacks of Layered Style</vt:lpstr>
      <vt:lpstr>Data-Flow Style</vt:lpstr>
      <vt:lpstr>Batch-sequential</vt:lpstr>
      <vt:lpstr>Pipe and filters</vt:lpstr>
      <vt:lpstr>Pipe and filters</vt:lpstr>
      <vt:lpstr>Microkernel</vt:lpstr>
      <vt:lpstr>Microkernel</vt:lpstr>
      <vt:lpstr>Microkernel</vt:lpstr>
      <vt:lpstr>Microkernel</vt:lpstr>
      <vt:lpstr>Client-Server Style</vt:lpstr>
      <vt:lpstr>Client-Server Style</vt:lpstr>
      <vt:lpstr>Shared Data Style</vt:lpstr>
      <vt:lpstr>Shared Data Style</vt:lpstr>
      <vt:lpstr>Blackboard (i.e. active repository)</vt:lpstr>
      <vt:lpstr>Service-Oriented Architecture (SOA)</vt:lpstr>
      <vt:lpstr>Service-Oriented Architecture (SOA)</vt:lpstr>
      <vt:lpstr>Microservices Architecture</vt:lpstr>
      <vt:lpstr>Topology of Microservices architecture style</vt:lpstr>
      <vt:lpstr>Microservices Architecture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MITM</dc:creator>
  <cp:lastModifiedBy>Suman</cp:lastModifiedBy>
  <cp:revision>300</cp:revision>
  <dcterms:created xsi:type="dcterms:W3CDTF">2013-08-03T07:26:24Z</dcterms:created>
  <dcterms:modified xsi:type="dcterms:W3CDTF">2026-01-20T11:51:14Z</dcterms:modified>
</cp:coreProperties>
</file>