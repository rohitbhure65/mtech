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7" r:id="rId9"/>
    <p:sldId id="265" r:id="rId10"/>
    <p:sldId id="266" r:id="rId11"/>
    <p:sldId id="263" r:id="rId12"/>
    <p:sldId id="268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807D9-EFDB-4A27-ADA3-FBCC472FD985}" type="datetimeFigureOut">
              <a:rPr lang="en-IN" smtClean="0"/>
              <a:pPr/>
              <a:t>10-07-2019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2CF90-5BD1-4686-83D4-CFFF2F2345B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E4C51E3-1F9F-4EC0-9EA7-935C62EF8E30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0533FF-7A03-4B86-888C-DED85B9154D0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1EB544-5A79-4254-9693-0803672175E2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2C76A-A6B5-4E40-9241-251995028683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880996D-30C4-46D6-8CDD-2997FF598272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09A9AC-E44B-4045-8ADC-52AC243467DE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8AEC2C-CF7C-436F-A6D8-73039FDBCB8E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05FFFD-115D-4F48-A7F6-4BF9152446DA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9A9B1D2-656F-4C3B-A88F-AC242F98C958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59702A-412C-4C5E-BFA3-6B56E55ED9B0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5D5253-F7DF-460C-9DA7-FE9563B95A9C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CC4D613-0FF7-45E4-95B8-7F721360F929}" type="datetime1">
              <a:rPr lang="en-US" smtClean="0"/>
              <a:pPr/>
              <a:t>7/10/2019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7406640" cy="938784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Complexity and Software</a:t>
            </a:r>
            <a:endParaRPr lang="en-US" sz="3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620000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Inherent complexity of a software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smtClean="0">
                <a:solidFill>
                  <a:srgbClr val="0000CC"/>
                </a:solidFill>
              </a:rPr>
              <a:t>Software </a:t>
            </a:r>
            <a:r>
              <a:rPr lang="en-US" sz="2400" dirty="0" smtClean="0">
                <a:solidFill>
                  <a:srgbClr val="0000CC"/>
                </a:solidFill>
              </a:rPr>
              <a:t>development is a labor intensive task.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Simple system is different from</a:t>
            </a:r>
          </a:p>
          <a:p>
            <a:pPr lvl="1"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</a:rPr>
              <a:t>Industrial strength software.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Focus is on design of a software.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620000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Why software is inherently complex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US" sz="2400" b="1" i="1" dirty="0" smtClean="0">
                <a:solidFill>
                  <a:srgbClr val="0000CC"/>
                </a:solidFill>
              </a:rPr>
              <a:t>Brooks mentioned </a:t>
            </a:r>
          </a:p>
          <a:p>
            <a:pPr lvl="1"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The complexity of the problem domain</a:t>
            </a:r>
          </a:p>
          <a:p>
            <a:pPr lvl="1"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The difficulty of managing the development process</a:t>
            </a:r>
          </a:p>
          <a:p>
            <a:pPr lvl="1"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The flexibility possible through software</a:t>
            </a:r>
          </a:p>
          <a:p>
            <a:pPr lvl="1"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The problem of characterizing the behavior of discrete systems</a:t>
            </a:r>
          </a:p>
          <a:p>
            <a:pPr lvl="1" algn="just">
              <a:buClr>
                <a:schemeClr val="tx1"/>
              </a:buClr>
            </a:pPr>
            <a:endParaRPr lang="en-US" sz="2400" dirty="0" smtClean="0">
              <a:solidFill>
                <a:srgbClr val="0000CC"/>
              </a:solidFill>
            </a:endParaRPr>
          </a:p>
          <a:p>
            <a:pPr lvl="1" algn="just">
              <a:buClr>
                <a:schemeClr val="tx1"/>
              </a:buClr>
            </a:pPr>
            <a:endParaRPr lang="en-US" sz="2400" dirty="0" smtClean="0">
              <a:solidFill>
                <a:srgbClr val="0000CC"/>
              </a:solidFill>
            </a:endParaRPr>
          </a:p>
          <a:p>
            <a:pPr lvl="1"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Consequence of unrestrained complexity</a:t>
            </a:r>
          </a:p>
          <a:p>
            <a:pPr lvl="2" algn="just">
              <a:buClr>
                <a:schemeClr val="tx1"/>
              </a:buClr>
            </a:pPr>
            <a:r>
              <a:rPr lang="en-US" sz="2000" dirty="0" smtClean="0">
                <a:solidFill>
                  <a:srgbClr val="0000CC"/>
                </a:solidFill>
              </a:rPr>
              <a:t>Software Crisis (late, over budget, deficient etc.)</a:t>
            </a:r>
          </a:p>
          <a:p>
            <a:pPr lvl="1" algn="just">
              <a:buClr>
                <a:schemeClr val="tx1"/>
              </a:buClr>
            </a:pPr>
            <a:endParaRPr lang="en-US" sz="20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620000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Inherent complexity of a software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5334000"/>
            <a:ext cx="7866888" cy="11430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IN" sz="2400" dirty="0" smtClean="0"/>
              <a:t>The task of the software development team is to engineer the illusion of simplicity</a:t>
            </a:r>
            <a:endParaRPr lang="en-US" sz="24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447800"/>
            <a:ext cx="76200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 smtClean="0"/>
              <a:t>Structure of complex systems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</a:pPr>
            <a:r>
              <a:rPr lang="en-IN" i="1" dirty="0" smtClean="0">
                <a:solidFill>
                  <a:srgbClr val="0000CC"/>
                </a:solidFill>
              </a:rPr>
              <a:t>Examples:</a:t>
            </a:r>
          </a:p>
          <a:p>
            <a:pPr lvl="1" algn="just">
              <a:buClr>
                <a:schemeClr val="tx1"/>
              </a:buClr>
            </a:pPr>
            <a:r>
              <a:rPr lang="en-IN" dirty="0" smtClean="0">
                <a:solidFill>
                  <a:srgbClr val="0000CC"/>
                </a:solidFill>
              </a:rPr>
              <a:t>The structure of a personal computer</a:t>
            </a:r>
          </a:p>
          <a:p>
            <a:pPr lvl="1" algn="just">
              <a:buClr>
                <a:schemeClr val="tx1"/>
              </a:buClr>
            </a:pPr>
            <a:r>
              <a:rPr lang="en-IN" dirty="0" smtClean="0">
                <a:solidFill>
                  <a:srgbClr val="0000CC"/>
                </a:solidFill>
              </a:rPr>
              <a:t>The structure of plants and animals</a:t>
            </a:r>
          </a:p>
          <a:p>
            <a:pPr lvl="1" algn="just">
              <a:buClr>
                <a:schemeClr val="tx1"/>
              </a:buClr>
            </a:pPr>
            <a:r>
              <a:rPr lang="en-IN" dirty="0" smtClean="0">
                <a:solidFill>
                  <a:srgbClr val="0000CC"/>
                </a:solidFill>
              </a:rPr>
              <a:t>The structure of matter</a:t>
            </a:r>
          </a:p>
          <a:p>
            <a:pPr lvl="1" algn="just">
              <a:buClr>
                <a:schemeClr val="tx1"/>
              </a:buClr>
            </a:pPr>
            <a:r>
              <a:rPr lang="en-IN" dirty="0" smtClean="0">
                <a:solidFill>
                  <a:srgbClr val="0000CC"/>
                </a:solidFill>
              </a:rPr>
              <a:t>The structure of social institutions</a:t>
            </a:r>
          </a:p>
          <a:p>
            <a:pPr lvl="1" algn="just">
              <a:buClr>
                <a:schemeClr val="tx1"/>
              </a:buClr>
            </a:pPr>
            <a:r>
              <a:rPr lang="en-IN" dirty="0" smtClean="0">
                <a:solidFill>
                  <a:srgbClr val="0000CC"/>
                </a:solidFill>
              </a:rPr>
              <a:t>etc.</a:t>
            </a:r>
          </a:p>
          <a:p>
            <a:pPr lvl="1" algn="just">
              <a:buClr>
                <a:schemeClr val="tx1"/>
              </a:buClr>
              <a:buNone/>
            </a:pPr>
            <a:endParaRPr lang="en-IN" dirty="0" smtClean="0">
              <a:solidFill>
                <a:srgbClr val="0000CC"/>
              </a:solidFill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 smtClean="0"/>
              <a:t>Attributes of a complex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9536" lvl="1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2400" i="1" dirty="0" smtClean="0">
                <a:solidFill>
                  <a:srgbClr val="0000CC"/>
                </a:solidFill>
              </a:rPr>
              <a:t>Hierarchic structure</a:t>
            </a:r>
          </a:p>
          <a:p>
            <a:pPr marL="859536" lvl="1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2400" i="1" dirty="0" smtClean="0">
                <a:solidFill>
                  <a:srgbClr val="0000CC"/>
                </a:solidFill>
              </a:rPr>
              <a:t>Relative primitive</a:t>
            </a:r>
          </a:p>
          <a:p>
            <a:pPr marL="859536" lvl="1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2400" i="1" dirty="0" smtClean="0">
                <a:solidFill>
                  <a:srgbClr val="0000CC"/>
                </a:solidFill>
              </a:rPr>
              <a:t>Separation of concern </a:t>
            </a:r>
          </a:p>
          <a:p>
            <a:pPr marL="859536" lvl="1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2400" i="1" dirty="0" smtClean="0">
                <a:solidFill>
                  <a:srgbClr val="0000CC"/>
                </a:solidFill>
              </a:rPr>
              <a:t>Common patterns</a:t>
            </a:r>
          </a:p>
          <a:p>
            <a:pPr marL="859536" lvl="1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2400" i="1" dirty="0" smtClean="0">
                <a:solidFill>
                  <a:srgbClr val="0000CC"/>
                </a:solidFill>
              </a:rPr>
              <a:t>Stable intermediate forms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 smtClean="0"/>
              <a:t>Organized and Disorganized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9536" lvl="1" indent="-457200" algn="just">
              <a:buClr>
                <a:schemeClr val="tx1"/>
              </a:buClr>
              <a:buFont typeface="+mj-lt"/>
              <a:buAutoNum type="arabicPeriod"/>
            </a:pPr>
            <a:endParaRPr lang="en-IN" sz="2400" b="1" dirty="0" smtClean="0"/>
          </a:p>
          <a:p>
            <a:pPr marL="585216" indent="-457200"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</a:rPr>
              <a:t>The Canonical Form of a Complex System</a:t>
            </a:r>
          </a:p>
          <a:p>
            <a:pPr marL="585216" indent="-457200"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</a:rPr>
              <a:t>Bringing Order to Chaos</a:t>
            </a:r>
          </a:p>
          <a:p>
            <a:pPr marL="859536" lvl="1" indent="-457200" algn="just">
              <a:buClr>
                <a:schemeClr val="tx1"/>
              </a:buClr>
            </a:pPr>
            <a:r>
              <a:rPr lang="en-IN" sz="2400" i="1" dirty="0" smtClean="0">
                <a:solidFill>
                  <a:srgbClr val="0000CC"/>
                </a:solidFill>
              </a:rPr>
              <a:t>Algorithmic and Object-Oriented Decomposition</a:t>
            </a:r>
          </a:p>
          <a:p>
            <a:pPr marL="859536" lvl="1" indent="-457200" algn="just">
              <a:buClr>
                <a:schemeClr val="tx1"/>
              </a:buClr>
            </a:pPr>
            <a:r>
              <a:rPr lang="en-IN" sz="2400" i="1" dirty="0" smtClean="0">
                <a:solidFill>
                  <a:srgbClr val="0000CC"/>
                </a:solidFill>
              </a:rPr>
              <a:t>Role of abstraction</a:t>
            </a:r>
          </a:p>
          <a:p>
            <a:pPr marL="859536" lvl="1" indent="-457200" algn="just">
              <a:buClr>
                <a:schemeClr val="tx1"/>
              </a:buClr>
            </a:pPr>
            <a:r>
              <a:rPr lang="en-IN" sz="2400" i="1" dirty="0" smtClean="0">
                <a:solidFill>
                  <a:srgbClr val="0000CC"/>
                </a:solidFill>
              </a:rPr>
              <a:t>Role of hierarchy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100" b="1" dirty="0" smtClean="0"/>
              <a:t>The Canonical Form of a Complex System</a:t>
            </a:r>
            <a:r>
              <a:rPr lang="en-IN" sz="4400" dirty="0" smtClean="0">
                <a:solidFill>
                  <a:srgbClr val="0000CC"/>
                </a:solidFill>
              </a:rPr>
              <a:t/>
            </a:r>
            <a:br>
              <a:rPr lang="en-IN" sz="4400" dirty="0" smtClean="0">
                <a:solidFill>
                  <a:srgbClr val="0000CC"/>
                </a:solidFill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143000"/>
            <a:ext cx="6781799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en-IN" sz="2800" b="1" kern="12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Algorithmic Decomposition</a:t>
            </a:r>
            <a:r>
              <a:rPr lang="en-IN" sz="2400" i="1" dirty="0" smtClean="0">
                <a:solidFill>
                  <a:srgbClr val="0000CC"/>
                </a:solidFill>
              </a:rPr>
              <a:t/>
            </a:r>
            <a:br>
              <a:rPr lang="en-IN" sz="2400" i="1" dirty="0" smtClean="0">
                <a:solidFill>
                  <a:srgbClr val="0000CC"/>
                </a:solidFill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524000"/>
            <a:ext cx="7315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IN" sz="2800" b="1" kern="12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Object-Oriented Decomposition</a:t>
            </a:r>
            <a:br>
              <a:rPr lang="en-IN" sz="2800" b="1" kern="12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endParaRPr lang="en-IN" sz="2800" b="1" kern="12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447800"/>
            <a:ext cx="6629400" cy="4495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620000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On designing complex systems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447800"/>
            <a:ext cx="7086600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</a:rPr>
              <a:t>Engineering as a science and an art</a:t>
            </a:r>
          </a:p>
          <a:p>
            <a:pPr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</a:rPr>
              <a:t>It is a model building approach</a:t>
            </a:r>
          </a:p>
          <a:p>
            <a:pPr algn="just">
              <a:buClr>
                <a:schemeClr val="tx1"/>
              </a:buClr>
            </a:pPr>
            <a:r>
              <a:rPr lang="en-IN" sz="2400" i="1" dirty="0" smtClean="0">
                <a:solidFill>
                  <a:srgbClr val="0000CC"/>
                </a:solidFill>
              </a:rPr>
              <a:t>Object-oriented analysis and design is the method that leads us to an object-oriented decomposition</a:t>
            </a:r>
          </a:p>
          <a:p>
            <a:r>
              <a:rPr lang="en-US" sz="2400" i="1" dirty="0" smtClean="0">
                <a:solidFill>
                  <a:srgbClr val="0000CC"/>
                </a:solidFill>
              </a:rPr>
              <a:t>Object oriented software development using UML</a:t>
            </a:r>
          </a:p>
          <a:p>
            <a:endParaRPr lang="en-US" sz="24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IN" sz="2800" b="1" dirty="0" smtClean="0"/>
              <a:t>The Models of Object-Oriented Development</a:t>
            </a:r>
            <a:endParaRPr lang="en-IN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981200"/>
            <a:ext cx="68580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7848600" cy="9144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Object Oriented Analysis and Design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0"/>
            <a:ext cx="7866888" cy="4953000"/>
          </a:xfrm>
        </p:spPr>
        <p:txBody>
          <a:bodyPr>
            <a:noAutofit/>
          </a:bodyPr>
          <a:lstStyle/>
          <a:p>
            <a:r>
              <a:rPr lang="en-IN" sz="2000" i="1" dirty="0" smtClean="0">
                <a:solidFill>
                  <a:srgbClr val="0000CC"/>
                </a:solidFill>
              </a:rPr>
              <a:t>Object-oriented analysis and design (OOAD) is the method that leads us to an object-oriented decomposition.</a:t>
            </a:r>
            <a:endParaRPr lang="en-US" sz="2000" i="1" dirty="0" smtClean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2000" dirty="0" smtClean="0">
                <a:solidFill>
                  <a:srgbClr val="0000CC"/>
                </a:solidFill>
              </a:rPr>
              <a:t>OOAD </a:t>
            </a:r>
            <a:r>
              <a:rPr lang="en-US" sz="2000" dirty="0">
                <a:solidFill>
                  <a:srgbClr val="0000CC"/>
                </a:solidFill>
              </a:rPr>
              <a:t>is a </a:t>
            </a:r>
            <a:r>
              <a:rPr lang="en-US" sz="2000" dirty="0" smtClean="0">
                <a:solidFill>
                  <a:srgbClr val="0000CC"/>
                </a:solidFill>
              </a:rPr>
              <a:t>combined </a:t>
            </a:r>
            <a:r>
              <a:rPr lang="en-US" sz="2000" dirty="0">
                <a:solidFill>
                  <a:srgbClr val="0000CC"/>
                </a:solidFill>
              </a:rPr>
              <a:t>approach to problem analysis and designing the solution. </a:t>
            </a:r>
            <a:endParaRPr lang="en-US" sz="2000" dirty="0" smtClean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2000" dirty="0" smtClean="0">
                <a:solidFill>
                  <a:srgbClr val="0000CC"/>
                </a:solidFill>
              </a:rPr>
              <a:t>The </a:t>
            </a:r>
            <a:r>
              <a:rPr lang="en-US" sz="2000" dirty="0">
                <a:solidFill>
                  <a:srgbClr val="0000CC"/>
                </a:solidFill>
              </a:rPr>
              <a:t>OOAD method is strongly supported by a sound engineering science called modeling. </a:t>
            </a:r>
            <a:endParaRPr lang="en-US" sz="2000" dirty="0" smtClean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2000" dirty="0" smtClean="0">
                <a:solidFill>
                  <a:srgbClr val="0000CC"/>
                </a:solidFill>
              </a:rPr>
              <a:t>A </a:t>
            </a:r>
            <a:r>
              <a:rPr lang="en-US" sz="2000" dirty="0">
                <a:solidFill>
                  <a:srgbClr val="0000CC"/>
                </a:solidFill>
              </a:rPr>
              <a:t>model is an abstract representation of a system that enables software engineers to understand the problem of an application and to design the solution for the </a:t>
            </a:r>
            <a:r>
              <a:rPr lang="en-US" sz="2000" dirty="0" smtClean="0">
                <a:solidFill>
                  <a:srgbClr val="0000CC"/>
                </a:solidFill>
              </a:rPr>
              <a:t>system.</a:t>
            </a:r>
          </a:p>
          <a:p>
            <a:pPr algn="just">
              <a:buClr>
                <a:schemeClr val="tx1"/>
              </a:buClr>
            </a:pPr>
            <a:r>
              <a:rPr lang="en-US" sz="2000" dirty="0" smtClean="0">
                <a:solidFill>
                  <a:srgbClr val="0000CC"/>
                </a:solidFill>
              </a:rPr>
              <a:t>Modeling </a:t>
            </a:r>
            <a:r>
              <a:rPr lang="en-US" sz="2000" dirty="0">
                <a:solidFill>
                  <a:srgbClr val="0000CC"/>
                </a:solidFill>
              </a:rPr>
              <a:t>supports both application domain and the solution domain. </a:t>
            </a:r>
            <a:endParaRPr lang="en-US" sz="2000" dirty="0" smtClean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2000" dirty="0" smtClean="0">
                <a:solidFill>
                  <a:srgbClr val="0000CC"/>
                </a:solidFill>
              </a:rPr>
              <a:t>The </a:t>
            </a:r>
            <a:r>
              <a:rPr lang="en-US" sz="2000" dirty="0">
                <a:solidFill>
                  <a:srgbClr val="0000CC"/>
                </a:solidFill>
              </a:rPr>
              <a:t>application domain represents the real world situation of the </a:t>
            </a:r>
            <a:r>
              <a:rPr lang="en-US" sz="2000" dirty="0" smtClean="0">
                <a:solidFill>
                  <a:srgbClr val="0000CC"/>
                </a:solidFill>
              </a:rPr>
              <a:t>system. </a:t>
            </a:r>
          </a:p>
          <a:p>
            <a:pPr algn="just">
              <a:buClr>
                <a:schemeClr val="tx1"/>
              </a:buClr>
            </a:pPr>
            <a:r>
              <a:rPr lang="en-US" sz="2000" dirty="0" smtClean="0">
                <a:solidFill>
                  <a:srgbClr val="0000CC"/>
                </a:solidFill>
              </a:rPr>
              <a:t>The </a:t>
            </a:r>
            <a:r>
              <a:rPr lang="en-US" sz="2000" dirty="0">
                <a:solidFill>
                  <a:srgbClr val="0000CC"/>
                </a:solidFill>
              </a:rPr>
              <a:t>solution domain represents the system design specifications that lead to the system implementation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487</TotalTime>
  <Words>353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Solstice</vt:lpstr>
      <vt:lpstr>Complexity and Software</vt:lpstr>
      <vt:lpstr>Inherent complexity of a software</vt:lpstr>
      <vt:lpstr>Why software is inherently complex</vt:lpstr>
      <vt:lpstr>Inherent complexity of a software</vt:lpstr>
      <vt:lpstr>Structure of complex systems </vt:lpstr>
      <vt:lpstr>Attributes of a complex system</vt:lpstr>
      <vt:lpstr>Organized and Disorganized Complexity</vt:lpstr>
      <vt:lpstr>The Canonical Form of a Complex System </vt:lpstr>
      <vt:lpstr>Algorithmic Decomposition </vt:lpstr>
      <vt:lpstr>Object-Oriented Decomposition </vt:lpstr>
      <vt:lpstr>On designing complex systems</vt:lpstr>
      <vt:lpstr>The Models of Object-Oriented Development</vt:lpstr>
      <vt:lpstr>Object Oriented Analysis and Design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Design Using UML</dc:title>
  <dc:creator>lenovo</dc:creator>
  <cp:lastModifiedBy>admin</cp:lastModifiedBy>
  <cp:revision>148</cp:revision>
  <dcterms:created xsi:type="dcterms:W3CDTF">2013-08-05T16:00:45Z</dcterms:created>
  <dcterms:modified xsi:type="dcterms:W3CDTF">2019-07-10T05:18:11Z</dcterms:modified>
</cp:coreProperties>
</file>