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262" r:id="rId3"/>
    <p:sldId id="352" r:id="rId4"/>
    <p:sldId id="263" r:id="rId5"/>
    <p:sldId id="372" r:id="rId6"/>
    <p:sldId id="264" r:id="rId7"/>
    <p:sldId id="351" r:id="rId8"/>
    <p:sldId id="265" r:id="rId9"/>
    <p:sldId id="266" r:id="rId10"/>
    <p:sldId id="267" r:id="rId11"/>
    <p:sldId id="268" r:id="rId12"/>
    <p:sldId id="353" r:id="rId13"/>
    <p:sldId id="271" r:id="rId14"/>
    <p:sldId id="272" r:id="rId15"/>
    <p:sldId id="354" r:id="rId16"/>
    <p:sldId id="355" r:id="rId17"/>
    <p:sldId id="276" r:id="rId18"/>
    <p:sldId id="277" r:id="rId19"/>
    <p:sldId id="356" r:id="rId20"/>
    <p:sldId id="357" r:id="rId21"/>
    <p:sldId id="371" r:id="rId22"/>
    <p:sldId id="358" r:id="rId23"/>
    <p:sldId id="359" r:id="rId24"/>
    <p:sldId id="370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93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807D9-EFDB-4A27-ADA3-FBCC472FD985}" type="datetimeFigureOut">
              <a:rPr lang="en-IN" smtClean="0"/>
              <a:pPr/>
              <a:t>25-11-2020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2CF90-5BD1-4686-83D4-CFFF2F2345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43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E4C51E3-1F9F-4EC0-9EA7-935C62EF8E30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0533FF-7A03-4B86-888C-DED85B9154D0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1EB544-5A79-4254-9693-0803672175E2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2C76A-A6B5-4E40-9241-251995028683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80996D-30C4-46D6-8CDD-2997FF598272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09A9AC-E44B-4045-8ADC-52AC243467DE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8AEC2C-CF7C-436F-A6D8-73039FDBCB8E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05FFFD-115D-4F48-A7F6-4BF9152446DA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9A9B1D2-656F-4C3B-A88F-AC242F98C958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59702A-412C-4C5E-BFA3-6B56E55ED9B0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5D5253-F7DF-460C-9DA7-FE9563B95A9C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CC4D613-0FF7-45E4-95B8-7F721360F929}" type="datetime1">
              <a:rPr lang="en-US" smtClean="0"/>
              <a:pPr/>
              <a:t>11/25/2020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7406640" cy="93878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and Classes</a:t>
            </a:r>
            <a:endParaRPr lang="en-US" sz="3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924800" cy="1143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OBJECT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498080" cy="4800600"/>
          </a:xfrm>
        </p:spPr>
        <p:txBody>
          <a:bodyPr>
            <a:noAutofit/>
          </a:bodyPr>
          <a:lstStyle/>
          <a:p>
            <a:pPr marL="365125" indent="-365125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is a concrete entity or a thing that exists in the real world or in an abstract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way.</a:t>
            </a:r>
          </a:p>
          <a:p>
            <a:pPr marL="639445" lvl="1" indent="-365125" algn="just">
              <a:buClr>
                <a:schemeClr val="tx1"/>
              </a:buClr>
            </a:pPr>
            <a:r>
              <a:rPr lang="en-US" sz="20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example, files, employees, trains, television, cash, invoice, component, node, guidelines, tax, etc. </a:t>
            </a:r>
            <a:endParaRPr lang="en-US" sz="20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object is:</a:t>
            </a:r>
          </a:p>
          <a:p>
            <a:pPr lvl="1"/>
            <a:r>
              <a:rPr lang="en-IN" sz="20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tangible and/or visible thing</a:t>
            </a:r>
          </a:p>
          <a:p>
            <a:pPr lvl="1"/>
            <a:r>
              <a:rPr lang="en-IN" sz="20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Something that may be apprehended intellectually</a:t>
            </a:r>
          </a:p>
          <a:p>
            <a:pPr lvl="1"/>
            <a:r>
              <a:rPr lang="en-IN" sz="20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Something toward which thought or action is directed</a:t>
            </a:r>
            <a:endParaRPr lang="en-US" sz="20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125" indent="-365125"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can be characterized by definite values and actions. Each object has its own responsibility. Each object possesses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state, behavior,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OBJECT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914400"/>
            <a:ext cx="7391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371600" y="5791200"/>
            <a:ext cx="731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dirty="0" smtClean="0"/>
              <a:t>An object has state, exhibits some well-defined </a:t>
            </a:r>
            <a:r>
              <a:rPr lang="en-IN" sz="2000" b="1" dirty="0" err="1" smtClean="0"/>
              <a:t>behavior</a:t>
            </a:r>
            <a:r>
              <a:rPr lang="en-IN" sz="2000" b="1" dirty="0" smtClean="0"/>
              <a:t>, and has a unique identity.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6397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OBJECT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19200"/>
            <a:ext cx="7620000" cy="4724400"/>
          </a:xfrm>
        </p:spPr>
        <p:txBody>
          <a:bodyPr>
            <a:noAutofit/>
          </a:bodyPr>
          <a:lstStyle/>
          <a:p>
            <a:pPr algn="just">
              <a:buClrTx/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Object State</a:t>
            </a:r>
          </a:p>
          <a:p>
            <a:pPr algn="just">
              <a:buClrTx/>
            </a:pPr>
            <a:r>
              <a:rPr lang="en-US" sz="2400" dirty="0" smtClean="0">
                <a:solidFill>
                  <a:srgbClr val="0000CC"/>
                </a:solidFill>
              </a:rPr>
              <a:t>An object is defined by its attributes and a set of values. The values have some type that may change over time. </a:t>
            </a:r>
          </a:p>
          <a:p>
            <a:pPr algn="just">
              <a:buClrTx/>
            </a:pPr>
            <a:r>
              <a:rPr lang="en-US" sz="2400" dirty="0" smtClean="0">
                <a:solidFill>
                  <a:srgbClr val="0000CC"/>
                </a:solidFill>
              </a:rPr>
              <a:t>For example, a person has his name, age, height, weight, residence, and qualification.</a:t>
            </a:r>
          </a:p>
          <a:p>
            <a:r>
              <a:rPr lang="en-IN" sz="2400" i="1" dirty="0" smtClean="0">
                <a:solidFill>
                  <a:srgbClr val="0000CC"/>
                </a:solidFill>
              </a:rPr>
              <a:t>The state of an object encompasses all of the (usually static) properties of the object plus the current (usually dynamic) values of each of these properties.</a:t>
            </a:r>
            <a:endParaRPr lang="en-US" sz="2400" i="1" dirty="0">
              <a:solidFill>
                <a:srgbClr val="0000CC"/>
              </a:solidFill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6397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OBJECT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620000" cy="533400"/>
          </a:xfrm>
        </p:spPr>
        <p:txBody>
          <a:bodyPr>
            <a:noAutofit/>
          </a:bodyPr>
          <a:lstStyle/>
          <a:p>
            <a:pPr algn="just">
              <a:buClrTx/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Object State</a:t>
            </a: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217" name="Object 1"/>
          <p:cNvGraphicFramePr>
            <a:graphicFrameLocks noChangeAspect="1"/>
          </p:cNvGraphicFramePr>
          <p:nvPr/>
        </p:nvGraphicFramePr>
        <p:xfrm>
          <a:off x="1447800" y="2133600"/>
          <a:ext cx="70866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3" r:id="rId3" imgW="3594533" imgH="1129132" progId="Visio.Drawing.11">
                  <p:embed/>
                </p:oleObj>
              </mc:Choice>
              <mc:Fallback>
                <p:oleObj r:id="rId3" imgW="3594533" imgH="1129132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33600"/>
                        <a:ext cx="7086600" cy="281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OBJECT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924800" cy="12954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Object Behavior</a:t>
            </a:r>
          </a:p>
          <a:p>
            <a:pPr algn="just">
              <a:buClr>
                <a:schemeClr val="tx1"/>
              </a:buClr>
            </a:pPr>
            <a:r>
              <a:rPr lang="en-IN" sz="2400" i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is how an object acts and reacts, in terms of its state changes and message passing.</a:t>
            </a:r>
            <a:endParaRPr lang="en-US" sz="2400" i="1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performs certain operations (positive or negative) depending on its state and values.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means that each object behaves differently at different times. Thus, state and its operations together define the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of an object.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in a state has certain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in which it performs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responsibilities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49808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4F271C">
                    <a:satMod val="130000"/>
                  </a:srgbClr>
                </a:solidFill>
              </a:rPr>
              <a:t>OBJECT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1600200"/>
          </a:xfrm>
        </p:spPr>
        <p:txBody>
          <a:bodyPr/>
          <a:lstStyle/>
          <a:p>
            <a:pPr algn="just">
              <a:buClr>
                <a:prstClr val="black"/>
              </a:buClr>
              <a:buNone/>
            </a:pPr>
            <a:r>
              <a:rPr lang="en-US" sz="2400" b="1" dirty="0" smtClean="0">
                <a:solidFill>
                  <a:srgbClr val="964305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Object Behavior</a:t>
            </a:r>
          </a:p>
          <a:p>
            <a:pPr algn="just">
              <a:buClr>
                <a:prstClr val="black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different roles of Joe are illustrated in Figure Given Below</a:t>
            </a:r>
          </a:p>
          <a:p>
            <a:pPr lvl="0" algn="just">
              <a:buClr>
                <a:prstClr val="black"/>
              </a:buClr>
              <a:buNone/>
            </a:pPr>
            <a:endParaRPr lang="en-US" sz="2400" b="1" dirty="0" smtClean="0">
              <a:solidFill>
                <a:srgbClr val="964305">
                  <a:lumMod val="75000"/>
                </a:srgbClr>
              </a:solidFill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29026" name="Object 2"/>
          <p:cNvGraphicFramePr>
            <a:graphicFrameLocks noChangeAspect="1"/>
          </p:cNvGraphicFramePr>
          <p:nvPr/>
        </p:nvGraphicFramePr>
        <p:xfrm>
          <a:off x="1143000" y="3276600"/>
          <a:ext cx="7848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27" r:id="rId3" imgW="6103633" imgH="1269498" progId="Visio.Drawing.11">
                  <p:embed/>
                </p:oleObj>
              </mc:Choice>
              <mc:Fallback>
                <p:oleObj r:id="rId3" imgW="6103633" imgH="1269498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76600"/>
                        <a:ext cx="784860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848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accent5"/>
                </a:solidFill>
              </a:rPr>
              <a:t>OBJECT</a:t>
            </a:r>
            <a:endParaRPr lang="en-US" sz="2800" b="1" dirty="0">
              <a:solidFill>
                <a:schemeClr val="accent5"/>
              </a:solidFill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rgbClr val="0000CC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rgbClr val="0000C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990600"/>
            <a:ext cx="777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964305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Object Identity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i="1" dirty="0" smtClean="0">
                <a:solidFill>
                  <a:srgbClr val="0000CC"/>
                </a:solidFill>
              </a:rPr>
              <a:t>Identity is that property of an object which distinguishes it from all other objects</a:t>
            </a:r>
            <a:endParaRPr lang="en-US" sz="2400" i="1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Identity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helps to uniquely identify an object in the real world.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contains certain values. 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rgbClr val="0000CC"/>
              </a:solidFill>
            </a:endParaRP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295400" y="3505200"/>
          <a:ext cx="73914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r:id="rId3" imgW="3202848" imgH="865407" progId="Visio.Drawing.11">
                  <p:embed/>
                </p:oleObj>
              </mc:Choice>
              <mc:Fallback>
                <p:oleObj r:id="rId3" imgW="3202848" imgH="865407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05200"/>
                        <a:ext cx="7391400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CLASSES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6800"/>
            <a:ext cx="8229600" cy="54102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</a:rPr>
              <a:t>A </a:t>
            </a:r>
            <a:r>
              <a:rPr lang="en-IN" sz="2400" dirty="0">
                <a:solidFill>
                  <a:srgbClr val="0000CC"/>
                </a:solidFill>
              </a:rPr>
              <a:t>class is a set of objects that share a common structure, common </a:t>
            </a:r>
            <a:r>
              <a:rPr lang="en-IN" sz="2400" dirty="0" err="1">
                <a:solidFill>
                  <a:srgbClr val="0000CC"/>
                </a:solidFill>
              </a:rPr>
              <a:t>behavior</a:t>
            </a:r>
            <a:r>
              <a:rPr lang="en-IN" sz="2400" dirty="0">
                <a:solidFill>
                  <a:srgbClr val="0000CC"/>
                </a:solidFill>
              </a:rPr>
              <a:t>, common relationships with other objects, interactions, and common </a:t>
            </a:r>
            <a:r>
              <a:rPr lang="en-IN" sz="2400" dirty="0" smtClean="0">
                <a:solidFill>
                  <a:srgbClr val="0000CC"/>
                </a:solidFill>
              </a:rPr>
              <a:t>semantics.</a:t>
            </a:r>
          </a:p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</a:rPr>
              <a:t>A class has common attributes and operations. </a:t>
            </a:r>
            <a:endParaRPr lang="en-US" sz="24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Attributes </a:t>
            </a:r>
            <a:r>
              <a:rPr lang="en-US" sz="2400" dirty="0">
                <a:solidFill>
                  <a:srgbClr val="0000CC"/>
                </a:solidFill>
              </a:rPr>
              <a:t>are the properties of a class. An attribute is the data value held by an object of the class. </a:t>
            </a:r>
            <a:endParaRPr lang="en-US" sz="24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An </a:t>
            </a:r>
            <a:r>
              <a:rPr lang="en-US" sz="2400" dirty="0">
                <a:solidFill>
                  <a:srgbClr val="0000CC"/>
                </a:solidFill>
              </a:rPr>
              <a:t>operation is a service that can be requested by an object in a class. </a:t>
            </a:r>
            <a:endParaRPr lang="en-US" sz="24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An </a:t>
            </a:r>
            <a:r>
              <a:rPr lang="en-US" sz="2400" dirty="0">
                <a:solidFill>
                  <a:srgbClr val="0000CC"/>
                </a:solidFill>
              </a:rPr>
              <a:t>operation is implemented through methods of programming languages. Each operation has a name, signature, and its return type. </a:t>
            </a:r>
            <a:endParaRPr lang="en-US" sz="2400" dirty="0" smtClean="0">
              <a:solidFill>
                <a:srgbClr val="0000CC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</a:rPr>
              <a:t>A </a:t>
            </a:r>
            <a:r>
              <a:rPr lang="en-US" sz="2400" dirty="0">
                <a:solidFill>
                  <a:srgbClr val="0000CC"/>
                </a:solidFill>
              </a:rPr>
              <a:t>signature specifies the number and type of arguments required to implement the operation. </a:t>
            </a:r>
            <a:endParaRPr lang="en-US" sz="24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4111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CLASSES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990600"/>
            <a:ext cx="7696200" cy="5181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properties and operations of a class can be shared by other classes. A class can be refined into child classes known as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subclasses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that provides services to its subclass or other classes is known as a </a:t>
            </a:r>
            <a:r>
              <a:rPr lang="en-US" sz="2400" i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A class allows other classes to access services in a restricted manner.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UML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, visibility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used for the implementation of private, public, and protected access 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specifiers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that inherit the services from their 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“#” is used for protected, “+” for public, and “–“ for private data and operations of a class.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access allows data to be accessed only by the class itself.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4111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CLASSES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696200" cy="11430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typical structure of a class has three parts, viz., name, attributes, and operations.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example of a class “Customer” for a retail store is shown in Figure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Given below.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553" name="Object 1"/>
          <p:cNvGraphicFramePr>
            <a:graphicFrameLocks noChangeAspect="1"/>
          </p:cNvGraphicFramePr>
          <p:nvPr/>
        </p:nvGraphicFramePr>
        <p:xfrm>
          <a:off x="1295400" y="3048000"/>
          <a:ext cx="74676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r:id="rId3" imgW="4414343" imgH="1578572" progId="Visio.Drawing.11">
                  <p:embed/>
                </p:oleObj>
              </mc:Choice>
              <mc:Fallback>
                <p:oleObj r:id="rId3" imgW="4414343" imgH="1578572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048000"/>
                        <a:ext cx="7467600" cy="327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33400"/>
            <a:ext cx="7498080" cy="609600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Encapsulation and Data Hiding</a:t>
            </a:r>
            <a:br>
              <a:rPr lang="en-IN" sz="3200" b="1" dirty="0" smtClean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790688" cy="5257800"/>
          </a:xfrm>
        </p:spPr>
        <p:txBody>
          <a:bodyPr>
            <a:normAutofit/>
          </a:bodyPr>
          <a:lstStyle/>
          <a:p>
            <a:r>
              <a:rPr lang="en-IN" sz="2400" dirty="0" smtClean="0">
                <a:solidFill>
                  <a:srgbClr val="0000CC"/>
                </a:solidFill>
              </a:rPr>
              <a:t>Encapsulation is the process of binding both attributes and methods together within a class. </a:t>
            </a:r>
          </a:p>
          <a:p>
            <a:r>
              <a:rPr lang="en-IN" sz="2400" dirty="0" smtClean="0">
                <a:solidFill>
                  <a:srgbClr val="0000CC"/>
                </a:solidFill>
              </a:rPr>
              <a:t>Through encapsulation, the internal details of a class can be hidden from outside.</a:t>
            </a:r>
          </a:p>
          <a:p>
            <a:r>
              <a:rPr lang="en-IN" sz="2400" dirty="0" smtClean="0">
                <a:solidFill>
                  <a:srgbClr val="0000CC"/>
                </a:solidFill>
              </a:rPr>
              <a:t>It permits the elements of the class to be accessed from outside only through the interface provided by the class.</a:t>
            </a:r>
          </a:p>
          <a:p>
            <a:endParaRPr lang="en-IN" sz="2400" b="1" dirty="0" smtClean="0">
              <a:solidFill>
                <a:srgbClr val="0000CC"/>
              </a:solidFill>
            </a:endParaRPr>
          </a:p>
          <a:p>
            <a:r>
              <a:rPr lang="en-IN" sz="2400" b="1" dirty="0" smtClean="0">
                <a:solidFill>
                  <a:srgbClr val="0000CC"/>
                </a:solidFill>
              </a:rPr>
              <a:t>Data Hiding: </a:t>
            </a:r>
            <a:r>
              <a:rPr lang="en-IN" sz="2400" dirty="0" smtClean="0">
                <a:solidFill>
                  <a:srgbClr val="0000CC"/>
                </a:solidFill>
              </a:rPr>
              <a:t>Typically, a class is designed such that its data (attributes) can be accessed only by its class methods and insulated from direct outside access. </a:t>
            </a:r>
          </a:p>
          <a:p>
            <a:r>
              <a:rPr lang="en-IN" sz="2400" dirty="0" smtClean="0">
                <a:solidFill>
                  <a:srgbClr val="0000CC"/>
                </a:solidFill>
              </a:rPr>
              <a:t>This process of insulating an object’s data is called data hiding or information hiding.</a:t>
            </a:r>
          </a:p>
          <a:p>
            <a:endParaRPr lang="en-IN" sz="2400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MESSAGE PASSING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43000"/>
            <a:ext cx="7924800" cy="54864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communicate with each other by passing messages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message is a request for an operation or a service.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particular operation is to be performed, it is requested by an object by sending a message to the object for which the operation is defined.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Messages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are implemented through procedure or function calls in the program. When the object receives the message, it will look for and execute the corresponding method.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message has two parts, viz., object name and message with its parameters.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i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getItem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method can have </a:t>
            </a:r>
            <a:r>
              <a:rPr lang="en-US" sz="2400" i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itemID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i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itemName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parameters. It can be written as:</a:t>
            </a:r>
          </a:p>
          <a:p>
            <a:pPr algn="just">
              <a:buClr>
                <a:schemeClr val="tx1"/>
              </a:buClr>
              <a:buNone/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 = </a:t>
            </a:r>
            <a:r>
              <a:rPr lang="en-US" sz="2400" i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Objectstore.getItem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getName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getID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  <a:buNone/>
            </a:pP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INHERITANCE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48600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Inheritance is the mechanism that permits a class to share the attributes and operations defined in one or more classes.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which inherits from another class is called a subclass (also called a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derived class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) and the 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(also called a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base class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) is a class from which another class inherits the behavior and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data.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Inheritance decomposes software into a lower level of components and therefore it reduces the software complexity.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possible by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method overriding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in object-oriented programming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/>
            </a:r>
            <a:br>
              <a:rPr lang="en-IN" sz="3200" b="1" dirty="0" smtClean="0"/>
            </a:br>
            <a:r>
              <a:rPr lang="en-IN" sz="3200" b="1" dirty="0" smtClean="0"/>
              <a:t>Types of Inheritance</a:t>
            </a:r>
            <a:br>
              <a:rPr lang="en-IN" sz="3200" b="1" dirty="0" smtClean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0"/>
            <a:ext cx="7714488" cy="4800600"/>
          </a:xfrm>
        </p:spPr>
        <p:txBody>
          <a:bodyPr>
            <a:noAutofit/>
          </a:bodyPr>
          <a:lstStyle/>
          <a:p>
            <a:r>
              <a:rPr lang="en-IN" sz="2400" b="1" dirty="0" smtClean="0">
                <a:solidFill>
                  <a:srgbClr val="0000CC"/>
                </a:solidFill>
              </a:rPr>
              <a:t>Single Inheritance</a:t>
            </a:r>
            <a:r>
              <a:rPr lang="en-IN" sz="2400" dirty="0" smtClean="0">
                <a:solidFill>
                  <a:srgbClr val="0000CC"/>
                </a:solidFill>
              </a:rPr>
              <a:t> : A subclass derives from a single super-class.</a:t>
            </a:r>
          </a:p>
          <a:p>
            <a:r>
              <a:rPr lang="en-IN" sz="2400" b="1" dirty="0" smtClean="0">
                <a:solidFill>
                  <a:srgbClr val="0000CC"/>
                </a:solidFill>
              </a:rPr>
              <a:t>Multiple Inheritance</a:t>
            </a:r>
            <a:r>
              <a:rPr lang="en-IN" sz="2400" dirty="0" smtClean="0">
                <a:solidFill>
                  <a:srgbClr val="0000CC"/>
                </a:solidFill>
              </a:rPr>
              <a:t> : A subclass derives from more than one super-classes.</a:t>
            </a:r>
          </a:p>
          <a:p>
            <a:r>
              <a:rPr lang="en-IN" sz="2400" b="1" dirty="0" smtClean="0">
                <a:solidFill>
                  <a:srgbClr val="0000CC"/>
                </a:solidFill>
              </a:rPr>
              <a:t>Multilevel Inheritance</a:t>
            </a:r>
            <a:r>
              <a:rPr lang="en-IN" sz="2400" dirty="0" smtClean="0">
                <a:solidFill>
                  <a:srgbClr val="0000CC"/>
                </a:solidFill>
              </a:rPr>
              <a:t> : A subclass derives from a super-class which in turn is derived from another class and so on.</a:t>
            </a:r>
          </a:p>
          <a:p>
            <a:r>
              <a:rPr lang="en-IN" sz="2400" b="1" dirty="0" smtClean="0">
                <a:solidFill>
                  <a:srgbClr val="0000CC"/>
                </a:solidFill>
              </a:rPr>
              <a:t>Hierarchical Inheritance</a:t>
            </a:r>
            <a:r>
              <a:rPr lang="en-IN" sz="2400" dirty="0" smtClean="0">
                <a:solidFill>
                  <a:srgbClr val="0000CC"/>
                </a:solidFill>
              </a:rPr>
              <a:t> : A class has a number of subclasses each of which may have subsequent subclasses, continuing for a number of levels, so as to form a tree structure.</a:t>
            </a:r>
          </a:p>
          <a:p>
            <a:r>
              <a:rPr lang="en-IN" sz="2400" b="1" dirty="0" smtClean="0">
                <a:solidFill>
                  <a:srgbClr val="0000CC"/>
                </a:solidFill>
              </a:rPr>
              <a:t>Hybrid Inheritance</a:t>
            </a:r>
            <a:r>
              <a:rPr lang="en-IN" sz="2400" dirty="0" smtClean="0">
                <a:solidFill>
                  <a:srgbClr val="0000CC"/>
                </a:solidFill>
              </a:rPr>
              <a:t> : A combination of multiple and multilevel inheritance so as to form a lattice structure.</a:t>
            </a:r>
          </a:p>
          <a:p>
            <a:endParaRPr lang="en-IN" sz="2400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39266" name="Picture 2" descr="Inherita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28600"/>
            <a:ext cx="6477000" cy="662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POLYMORPHISM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848600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Polymorphism means an operation of a class behaves differently on different data values.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possible either by extending the capabilities of an operation in the subclass or overriding the same operation in the 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Polymorphism is one of the most important features of object-oriented programming.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/>
                <a:ea typeface="Times New Roman"/>
              </a:rPr>
              <a:t>For example, </a:t>
            </a:r>
            <a:r>
              <a:rPr lang="en-US" sz="2400" i="1" dirty="0" smtClean="0">
                <a:solidFill>
                  <a:srgbClr val="0000CC"/>
                </a:solidFill>
                <a:latin typeface="Times New Roman"/>
                <a:ea typeface="Times New Roman"/>
              </a:rPr>
              <a:t>addition</a:t>
            </a:r>
            <a:r>
              <a:rPr lang="en-US" sz="2400" dirty="0" smtClean="0">
                <a:solidFill>
                  <a:srgbClr val="0000CC"/>
                </a:solidFill>
                <a:latin typeface="Times New Roman"/>
                <a:ea typeface="Times New Roman"/>
              </a:rPr>
              <a:t> operation can be performed on numbers to find the sum of numbers, on strings to concatenate the strings, and on files to merge files.</a:t>
            </a:r>
            <a:endParaRPr lang="en-US" sz="24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POLYMORPHISM</a:t>
            </a:r>
            <a:endParaRPr lang="en-US" sz="2800" b="1" dirty="0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3793" name="Object 1"/>
          <p:cNvGraphicFramePr>
            <a:graphicFrameLocks noChangeAspect="1"/>
          </p:cNvGraphicFramePr>
          <p:nvPr/>
        </p:nvGraphicFramePr>
        <p:xfrm>
          <a:off x="1524000" y="1524000"/>
          <a:ext cx="71628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r:id="rId3" imgW="3504642" imgH="1663331" progId="Visio.Drawing.11">
                  <p:embed/>
                </p:oleObj>
              </mc:Choice>
              <mc:Fallback>
                <p:oleObj r:id="rId3" imgW="3504642" imgH="1663331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24000"/>
                        <a:ext cx="7162800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371600" y="5638800"/>
            <a:ext cx="6553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Polymorphism for </a:t>
            </a:r>
            <a:r>
              <a:rPr kumimoji="0" lang="en-IN" sz="2400" b="0" i="0" u="none" strike="noStrike" cap="none" normalizeH="0" baseline="0" dirty="0" err="1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ObjectsAdd</a:t>
            </a: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 operation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OBJECT RELATIONSHIPS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714488" cy="49530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dirty="0" smtClean="0"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LINK AND ASSOICATION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link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represents the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relationship between objects whereas a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IN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association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is a relationship that connects classes.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Association is indicated by a line. Association can be a binary, ternary, or n-</a:t>
            </a:r>
            <a:r>
              <a:rPr lang="en-US" sz="24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ary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relationship. </a:t>
            </a:r>
          </a:p>
          <a:p>
            <a:pPr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Multiplicity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defines how many instances of a class are associated with the instances of another class. It can be zero, one, or many.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“*” is used for many and a line without any multiplicity indicates a one-to-one association.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number specifies the number of instances in the association among classes. </a:t>
            </a:r>
          </a:p>
          <a:p>
            <a:pPr algn="just">
              <a:buClr>
                <a:schemeClr val="tx1"/>
              </a:buClr>
            </a:pP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79216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LINK AND ASSOICATION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620000" cy="53340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association can also have attributes and it is represented by a box on the association line with a loop.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Role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names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are also used at the end of the association line to uniquely identify the object at the same end of association.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qualifier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can be attached with the association at the many side of the association line. It is indicated with a small box on the end of the association line close to the class diagram.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Ordering: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Sometimes, the objects are explicitly ordered. 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ordered set of objects on the “many” end of an association is indicated by writing “{ordered}” next to the multiplicity dot for the role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295400"/>
            <a:ext cx="62198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895600"/>
            <a:ext cx="6096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7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4800600"/>
            <a:ext cx="6248400" cy="106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79216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LINK AND ASSOICATION</a:t>
            </a:r>
            <a:endParaRPr lang="en-US" sz="24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7921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LINK AND ASSOICATION</a:t>
            </a:r>
            <a:endParaRPr lang="en-US" sz="2800" b="1" dirty="0"/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841" name="Object 1"/>
          <p:cNvGraphicFramePr>
            <a:graphicFrameLocks noChangeAspect="1"/>
          </p:cNvGraphicFramePr>
          <p:nvPr/>
        </p:nvGraphicFramePr>
        <p:xfrm>
          <a:off x="1524000" y="1524000"/>
          <a:ext cx="67818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39" r:id="rId3" imgW="4400846" imgH="2602970" progId="Visio.Drawing.11">
                  <p:embed/>
                </p:oleObj>
              </mc:Choice>
              <mc:Fallback>
                <p:oleObj r:id="rId3" imgW="4400846" imgH="2602970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24000"/>
                        <a:ext cx="6781800" cy="441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95400" y="5943600"/>
            <a:ext cx="75438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Association with multiplicity and qualifier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81000"/>
            <a:ext cx="7620000" cy="762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AGGREGATION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696200" cy="5135563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Aggregation is a kind of association that specifies a “whole-part” relationship between the aggregator and its components.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smaller objects are assembled together to create a more generalized object. In aggregation, a single object is treated as a collection of objects.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component object may be accessed through other objects without going through the aggregator.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aggregator object is a more abstract object than its component objects.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diamond is drawn at the assembly end of the relationship to represent aggregation.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981200"/>
            <a:ext cx="68580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990600" y="381000"/>
            <a:ext cx="7620000" cy="762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AGGREGATION</a:t>
            </a:r>
            <a:endParaRPr lang="en-US" sz="28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769620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AGGREGATION</a:t>
            </a:r>
            <a:endParaRPr lang="en-US" sz="2800" b="1" dirty="0"/>
          </a:p>
        </p:txBody>
      </p:sp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9937" name="Object 1"/>
          <p:cNvGraphicFramePr>
            <a:graphicFrameLocks noChangeAspect="1"/>
          </p:cNvGraphicFramePr>
          <p:nvPr/>
        </p:nvGraphicFramePr>
        <p:xfrm>
          <a:off x="1295400" y="2133600"/>
          <a:ext cx="74676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3" r:id="rId3" imgW="3790780" imgH="1713268" progId="Visio.Drawing.11">
                  <p:embed/>
                </p:oleObj>
              </mc:Choice>
              <mc:Fallback>
                <p:oleObj r:id="rId3" imgW="3790780" imgH="1713268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7467600" cy="419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95400" y="1828800"/>
            <a:ext cx="6629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Aggregation of Windows system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6962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COMPOSITION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76400"/>
            <a:ext cx="7467600" cy="4114799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dependent on the lifetime of the composite object. There exists a “has-a” relationship between the composite and the component objects.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composite object has the ownership for the creation and destruction of the component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Composition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stronger than aggregation because here there is dependency of component objects on the composite object.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example,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Students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can register in a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Course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till its existence. As the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Course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is closed there is no possibility for student registration. </a:t>
            </a: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4F271C">
                    <a:satMod val="130000"/>
                  </a:srgbClr>
                </a:solidFill>
              </a:rPr>
              <a:t>COMPOSITION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1676400" y="3124200"/>
          <a:ext cx="5562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87" r:id="rId3" imgW="2170864" imgH="604921" progId="Visio.Drawing.11">
                  <p:embed/>
                </p:oleObj>
              </mc:Choice>
              <mc:Fallback>
                <p:oleObj r:id="rId3" imgW="2170864" imgH="604921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124200"/>
                        <a:ext cx="556260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1371600" y="2514600"/>
            <a:ext cx="7315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Composition for a course-student system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GENERALIZATION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65237"/>
            <a:ext cx="7620000" cy="4906963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Generalization represents a “is-a” relationship between the parent (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) and child (subclass) classes.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subclass inherits the properties of the 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parent class represents the most general class and the child class is a more specific class.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Generalization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implemented using inheritance in an object-oriented programming language.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Generalization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allows finding attributes, operations, and relationships in a parent class and then reusing them in child classes.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Clr>
                <a:prstClr val="black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 UML, generalization is shown as an arrow from the child to the parent, with a large hollow triangle at the association end to the parent.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GENERALIZATION</a:t>
            </a:r>
            <a:endParaRPr lang="en-US" sz="2800" b="1" dirty="0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/>
        </p:nvGraphicFramePr>
        <p:xfrm>
          <a:off x="1371600" y="2590800"/>
          <a:ext cx="70866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1" r:id="rId3" imgW="3338899" imgH="1540781" progId="Visio.Drawing.11">
                  <p:embed/>
                </p:oleObj>
              </mc:Choice>
              <mc:Fallback>
                <p:oleObj r:id="rId3" imgW="3338899" imgH="1540781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590800"/>
                        <a:ext cx="7086600" cy="312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19200" y="1828800"/>
            <a:ext cx="71628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Generalization for a telephone system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DEPENDENCY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Dependency is the relationship between two objects in which a change in one object may affect the other object.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example, if an object A uses another object B, then A depends on B. That is, A cannot be developed without using B. Thus, class A and class B are coupled to each other.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coupling between dependent objects can either be loose (i.e., weak dependencies) or tight (i.e., strong dependencies).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Dependency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represented by a dashed directed line, directed to the class which is depended upon with the </a:t>
            </a:r>
            <a:r>
              <a:rPr lang="en-IN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stereotype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, which</a:t>
            </a:r>
            <a:r>
              <a:rPr lang="en-IN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distinguish its kind.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DEPENDENCY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696200" cy="4525963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stereotype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is a tag used to indicate the type of a construct so that it can be distinguished from other constructs.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stereotype is shown by </a:t>
            </a:r>
            <a:r>
              <a:rPr lang="en-US" sz="2400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guillemets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(« »). Different entities, attributes, and associations have different types.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stereotype extends and identifies their capabilities with other types.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stereotype has semantics associated with it.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are various types of stereotype dependencies, such as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realization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», «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abstraction», «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binding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»,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substitution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», «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usage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», etc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Clr>
                <a:schemeClr val="tx1"/>
              </a:buClr>
            </a:pP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6397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DEPENDENCY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54273" name="Object 1"/>
          <p:cNvGraphicFramePr>
            <a:graphicFrameLocks noChangeAspect="1"/>
          </p:cNvGraphicFramePr>
          <p:nvPr/>
        </p:nvGraphicFramePr>
        <p:xfrm>
          <a:off x="1676400" y="2743200"/>
          <a:ext cx="6629400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35" name="Visio" r:id="rId3" imgW="3070847" imgH="687791" progId="Visio.Drawing.11">
                  <p:embed/>
                </p:oleObj>
              </mc:Choice>
              <mc:Fallback>
                <p:oleObj name="Visio" r:id="rId3" imgW="3070847" imgH="687791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43200"/>
                        <a:ext cx="6629400" cy="220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1447800" y="1828800"/>
            <a:ext cx="60198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Dependency relationship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REALIZATION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Realization is a semantic relationship where one class specifies a contract which another class carries out.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realization, one classifier provides the specifications and the other classifier ensures the implementation.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Realization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is observed in the context of interfaces and collaborations. Classes and components use realization.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realization dependency is shown with a dashed line with a triangular arrowhead at the end, which corresponds to the realized element.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Realization </a:t>
            </a:r>
            <a:r>
              <a:rPr lang="en-IN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allows reusing the operations of types and interfaces, where a realization element is said to realize its specification elements.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REALIZATION</a:t>
            </a:r>
            <a:endParaRPr lang="en-US" sz="2800" b="1" dirty="0"/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9153" name="Object 1"/>
          <p:cNvGraphicFramePr>
            <a:graphicFrameLocks noChangeAspect="1"/>
          </p:cNvGraphicFramePr>
          <p:nvPr/>
        </p:nvGraphicFramePr>
        <p:xfrm>
          <a:off x="1219200" y="1752600"/>
          <a:ext cx="64008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59" r:id="rId3" imgW="2859214" imgH="682392" progId="Visio.Drawing.11">
                  <p:embed/>
                </p:oleObj>
              </mc:Choice>
              <mc:Fallback>
                <p:oleObj r:id="rId3" imgW="2859214" imgH="682392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640080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752600" y="4191000"/>
            <a:ext cx="5791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IN" sz="24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cs typeface="Arial" pitchFamily="34" charset="0"/>
              </a:rPr>
              <a:t>Realization relationship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1946" y="5105221"/>
            <a:ext cx="7691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760" indent="-283464" algn="just">
              <a:spcBef>
                <a:spcPts val="600"/>
              </a:spcBef>
              <a:buClr>
                <a:schemeClr val="tx1"/>
              </a:buClr>
              <a:buSzPct val="80000"/>
              <a:buFont typeface="Wingdings 2"/>
              <a:buChar char=""/>
            </a:pP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 the example, 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academic rules and fees preferences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that are set using 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sponsored student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interface are being implemented by the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student.</a:t>
            </a:r>
            <a:endParaRPr lang="en-IN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641</TotalTime>
  <Words>1930</Words>
  <Application>Microsoft Office PowerPoint</Application>
  <PresentationFormat>On-screen Show (4:3)</PresentationFormat>
  <Paragraphs>175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Gill Sans MT</vt:lpstr>
      <vt:lpstr>Times New Roman</vt:lpstr>
      <vt:lpstr>Verdana</vt:lpstr>
      <vt:lpstr>Wingdings 2</vt:lpstr>
      <vt:lpstr>Solstice</vt:lpstr>
      <vt:lpstr>Visio.Drawing.11</vt:lpstr>
      <vt:lpstr>Visio</vt:lpstr>
      <vt:lpstr>Objects and Classes</vt:lpstr>
      <vt:lpstr>OBJECT</vt:lpstr>
      <vt:lpstr>OBJECT</vt:lpstr>
      <vt:lpstr>OBJECT</vt:lpstr>
      <vt:lpstr>OBJECT</vt:lpstr>
      <vt:lpstr>OBJECT</vt:lpstr>
      <vt:lpstr>OBJECT</vt:lpstr>
      <vt:lpstr>OBJECT</vt:lpstr>
      <vt:lpstr>CLASSES</vt:lpstr>
      <vt:lpstr>CLASSES</vt:lpstr>
      <vt:lpstr>CLASSES</vt:lpstr>
      <vt:lpstr>Encapsulation and Data Hiding </vt:lpstr>
      <vt:lpstr>MESSAGE PASSING</vt:lpstr>
      <vt:lpstr>INHERITANCE</vt:lpstr>
      <vt:lpstr> Types of Inheritance </vt:lpstr>
      <vt:lpstr>PowerPoint Presentation</vt:lpstr>
      <vt:lpstr>POLYMORPHISM</vt:lpstr>
      <vt:lpstr>POLYMORPHISM</vt:lpstr>
      <vt:lpstr>OBJECT RELATIONSHIPS</vt:lpstr>
      <vt:lpstr>LINK AND ASSOICATION</vt:lpstr>
      <vt:lpstr>LINK AND ASSOICATION</vt:lpstr>
      <vt:lpstr>LINK AND ASSOICATION</vt:lpstr>
      <vt:lpstr>AGGREGATION</vt:lpstr>
      <vt:lpstr>AGGREGATION</vt:lpstr>
      <vt:lpstr>AGGREGATION</vt:lpstr>
      <vt:lpstr>COMPOSITION</vt:lpstr>
      <vt:lpstr>COMPOSITION</vt:lpstr>
      <vt:lpstr>GENERALIZATION</vt:lpstr>
      <vt:lpstr>GENERALIZATION</vt:lpstr>
      <vt:lpstr>DEPENDENCY</vt:lpstr>
      <vt:lpstr>DEPENDENCY</vt:lpstr>
      <vt:lpstr>DEPENDENCY</vt:lpstr>
      <vt:lpstr>REALIZATION</vt:lpstr>
      <vt:lpstr>REALIZATION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Design Using UML</dc:title>
  <dc:creator>lenovo</dc:creator>
  <cp:lastModifiedBy>Suman</cp:lastModifiedBy>
  <cp:revision>145</cp:revision>
  <dcterms:created xsi:type="dcterms:W3CDTF">2013-08-05T16:00:45Z</dcterms:created>
  <dcterms:modified xsi:type="dcterms:W3CDTF">2020-11-25T06:04:40Z</dcterms:modified>
</cp:coreProperties>
</file>