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3"/>
  </p:notesMasterIdLst>
  <p:sldIdLst>
    <p:sldId id="256" r:id="rId2"/>
    <p:sldId id="310" r:id="rId3"/>
    <p:sldId id="311" r:id="rId4"/>
    <p:sldId id="363" r:id="rId5"/>
    <p:sldId id="362" r:id="rId6"/>
    <p:sldId id="312" r:id="rId7"/>
    <p:sldId id="313" r:id="rId8"/>
    <p:sldId id="314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64" r:id="rId18"/>
    <p:sldId id="365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2" r:id="rId27"/>
    <p:sldId id="333" r:id="rId28"/>
    <p:sldId id="366" r:id="rId29"/>
    <p:sldId id="334" r:id="rId30"/>
    <p:sldId id="335" r:id="rId31"/>
    <p:sldId id="336" r:id="rId32"/>
    <p:sldId id="367" r:id="rId33"/>
    <p:sldId id="368" r:id="rId34"/>
    <p:sldId id="337" r:id="rId35"/>
    <p:sldId id="338" r:id="rId36"/>
    <p:sldId id="339" r:id="rId37"/>
    <p:sldId id="340" r:id="rId38"/>
    <p:sldId id="341" r:id="rId39"/>
    <p:sldId id="343" r:id="rId40"/>
    <p:sldId id="344" r:id="rId41"/>
    <p:sldId id="346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604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807D9-EFDB-4A27-ADA3-FBCC472FD985}" type="datetimeFigureOut">
              <a:rPr lang="en-IN" smtClean="0"/>
              <a:pPr/>
              <a:t>22-10-2019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2CF90-5BD1-4686-83D4-CFFF2F2345B5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E4C51E3-1F9F-4EC0-9EA7-935C62EF8E30}" type="datetime1">
              <a:rPr lang="en-US" smtClean="0"/>
              <a:pPr/>
              <a:t>10/22/2019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0533FF-7A03-4B86-888C-DED85B9154D0}" type="datetime1">
              <a:rPr lang="en-US" smtClean="0"/>
              <a:pPr/>
              <a:t>10/22/2019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E1EB544-5A79-4254-9693-0803672175E2}" type="datetime1">
              <a:rPr lang="en-US" smtClean="0"/>
              <a:pPr/>
              <a:t>10/22/2019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82C76A-A6B5-4E40-9241-251995028683}" type="datetime1">
              <a:rPr lang="en-US" smtClean="0"/>
              <a:pPr/>
              <a:t>10/22/2019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880996D-30C4-46D6-8CDD-2997FF598272}" type="datetime1">
              <a:rPr lang="en-US" smtClean="0"/>
              <a:pPr/>
              <a:t>10/22/2019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409A9AC-E44B-4045-8ADC-52AC243467DE}" type="datetime1">
              <a:rPr lang="en-US" smtClean="0"/>
              <a:pPr/>
              <a:t>10/22/2019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8AEC2C-CF7C-436F-A6D8-73039FDBCB8E}" type="datetime1">
              <a:rPr lang="en-US" smtClean="0"/>
              <a:pPr/>
              <a:t>10/22/2019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305FFFD-115D-4F48-A7F6-4BF9152446DA}" type="datetime1">
              <a:rPr lang="en-US" smtClean="0"/>
              <a:pPr/>
              <a:t>10/22/2019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9A9B1D2-656F-4C3B-A88F-AC242F98C958}" type="datetime1">
              <a:rPr lang="en-US" smtClean="0"/>
              <a:pPr/>
              <a:t>10/22/2019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59702A-412C-4C5E-BFA3-6B56E55ED9B0}" type="datetime1">
              <a:rPr lang="en-US" smtClean="0"/>
              <a:pPr/>
              <a:t>10/22/2019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5D5253-F7DF-460C-9DA7-FE9563B95A9C}" type="datetime1">
              <a:rPr lang="en-US" smtClean="0"/>
              <a:pPr/>
              <a:t>10/22/2019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CC4D613-0FF7-45E4-95B8-7F721360F929}" type="datetime1">
              <a:rPr lang="en-US" smtClean="0"/>
              <a:pPr/>
              <a:t>10/22/2019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7406640" cy="938784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/>
              <a:t>UML DIAGRAMS </a:t>
            </a:r>
            <a:endParaRPr lang="en-US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5635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UML DIAGRAMS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066800"/>
            <a:ext cx="7772400" cy="4953000"/>
          </a:xfrm>
        </p:spPr>
        <p:txBody>
          <a:bodyPr>
            <a:noAutofit/>
          </a:bodyPr>
          <a:lstStyle/>
          <a:p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Object-oriented </a:t>
            </a:r>
            <a:r>
              <a:rPr lang="en-IN" sz="2400" dirty="0" err="1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modeling</a:t>
            </a: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in UML is done using UML diagrams. </a:t>
            </a:r>
          </a:p>
          <a:p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UML provides nine different diagrams. All these diagrams are designed to visualize a system from different perspectives. </a:t>
            </a:r>
          </a:p>
          <a:p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Designing of UML diagrams begin with requirements analysis phase and move towards design, development and implementation phases. </a:t>
            </a:r>
          </a:p>
          <a:p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These diagrams contain UML building blocks and object relationships.  </a:t>
            </a:r>
          </a:p>
          <a:p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UML diagrams are divided into the following 4 + 1 different views. The “”+1” view is the user’s view, which is a crosscutting view of all other views. </a:t>
            </a: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5635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4+1 VIEW OF UML DIAGRAMS</a:t>
            </a:r>
            <a:endParaRPr lang="en-US" sz="2800" b="1" dirty="0"/>
          </a:p>
        </p:txBody>
      </p:sp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7825" name="Object 1"/>
          <p:cNvGraphicFramePr>
            <a:graphicFrameLocks noChangeAspect="1"/>
          </p:cNvGraphicFramePr>
          <p:nvPr/>
        </p:nvGraphicFramePr>
        <p:xfrm>
          <a:off x="1295400" y="1219200"/>
          <a:ext cx="7315200" cy="5105400"/>
        </p:xfrm>
        <a:graphic>
          <a:graphicData uri="http://schemas.openxmlformats.org/presentationml/2006/ole">
            <p:oleObj spid="_x0000_s77825" r:id="rId3" imgW="3634754" imgH="2554651" progId="Visio.Drawing.11">
              <p:embed/>
            </p:oleObj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/>
              <a:t>4+1 VIEW OF UML DIAGRAMS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User’s view: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also known as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analysis view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It focuses on system functionalities, system services, and actors.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 Structural view: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This is also known as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design view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It represents the structure of a system in terms of classes, interfaces, and their relationships.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 Process view: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This is also known as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behavioral view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It defines the flow of the system.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Implementation view: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This is also known as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physical view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In this view, components are assembled together to make a complete physical system.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 Deployment view: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This is also known as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environmental view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The components are identified for deployment as physical nodes in the system.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15962"/>
          </a:xfrm>
        </p:spPr>
        <p:txBody>
          <a:bodyPr/>
          <a:lstStyle/>
          <a:p>
            <a:r>
              <a:rPr lang="en-US" sz="2800" b="1" dirty="0" smtClean="0">
                <a:solidFill>
                  <a:srgbClr val="4F271C">
                    <a:satMod val="130000"/>
                  </a:srgbClr>
                </a:solidFill>
              </a:rPr>
              <a:t>USE CASE DIAGRAM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066800"/>
            <a:ext cx="7790688" cy="4800600"/>
          </a:xfrm>
        </p:spPr>
        <p:txBody>
          <a:bodyPr>
            <a:no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“Use case” means what the different “uses” of a system are. 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Use case depicts the functions that the system provides the actors. 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use case diagram shows which actors interact with each use case.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primarily used to capture the user requirements. The user requirements are represented in an abstract manner without a description of their details. 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behavior of a system can be observed through objects and their relationships and interactions. 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use case diagram results into the use case model, which has actors, use cases, and the communication lines between them, along with the events that occur. </a:t>
            </a:r>
          </a:p>
          <a:p>
            <a:r>
              <a:rPr lang="en-US" sz="2200" dirty="0" smtClean="0">
                <a:latin typeface="Times New Roman"/>
                <a:ea typeface="Times New Roman"/>
                <a:cs typeface="Times New Roman"/>
              </a:rPr>
              <a:t>Use cases are also described with the use case scenarios.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696200" cy="7159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USE CASE SCENARIO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219200"/>
            <a:ext cx="8001000" cy="51816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use case scenario is the textual representation of use cases and it covers all the following important aspects of the system:</a:t>
            </a:r>
          </a:p>
          <a:p>
            <a:pPr marL="914400" lvl="0" indent="-45720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System: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This section provides the name of the system, along with the name of authors, date, and version of the system.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marL="914400" lvl="0" indent="-45720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Use case name and use case number: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Generally, a system has several use cases. Therefore, each use case should be numbered and it should have a well-defined name.  </a:t>
            </a:r>
          </a:p>
          <a:p>
            <a:pPr marL="914400" lvl="0" indent="-45720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Participating actors: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These are the persons or systems that interact with the developing system.  </a:t>
            </a:r>
          </a:p>
          <a:p>
            <a:pPr marL="914400" lvl="0" indent="-45720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Description: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working of a use case along with its inputs and outputs is specified in this section.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7159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USE CASE SCENARIO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8229600" cy="5181600"/>
          </a:xfrm>
        </p:spPr>
        <p:txBody>
          <a:bodyPr>
            <a:noAutofit/>
          </a:bodyPr>
          <a:lstStyle/>
          <a:p>
            <a:pPr marL="914400" indent="-45720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Preconditions: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They describe the conditions that are satisfied before a use case is initiated.</a:t>
            </a:r>
          </a:p>
          <a:p>
            <a:pPr marL="914400" lvl="0" indent="-45720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Post conditions: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They describe the conditions that are satisfied after the completion of use cases.</a:t>
            </a:r>
          </a:p>
          <a:p>
            <a:pPr marL="914400" lvl="0" indent="-45720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Flow of events: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This is the main sequence of interactions between actors and uses cases. The steps or events which occur to complete a use case are described.   </a:t>
            </a:r>
          </a:p>
          <a:p>
            <a:pPr marL="914400" lvl="0" indent="-45720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Nonfunctional requirements: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nonfunctional requirements are the quality factors that are considered in the system. They include users, hardware, software, project, and implementations issues.  </a:t>
            </a:r>
          </a:p>
          <a:p>
            <a:pPr marL="914400" lvl="0" indent="-45720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Reference documents: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This section mentions the important documents or references that are required to understand use cases. </a:t>
            </a: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563562"/>
          </a:xfrm>
        </p:spPr>
        <p:txBody>
          <a:bodyPr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sz="2400" b="1" dirty="0" smtClean="0">
                <a:latin typeface="Times New Roman"/>
                <a:ea typeface="Times New Roman"/>
                <a:cs typeface="Times New Roman"/>
              </a:rPr>
              <a:t>Use case for a library management system</a:t>
            </a:r>
            <a:endParaRPr lang="en-IN" sz="2400" dirty="0">
              <a:latin typeface="Calibri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72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172033" name="Object 1"/>
          <p:cNvGraphicFramePr>
            <a:graphicFrameLocks noChangeAspect="1"/>
          </p:cNvGraphicFramePr>
          <p:nvPr/>
        </p:nvGraphicFramePr>
        <p:xfrm>
          <a:off x="1600200" y="914400"/>
          <a:ext cx="6781800" cy="5791200"/>
        </p:xfrm>
        <a:graphic>
          <a:graphicData uri="http://schemas.openxmlformats.org/presentationml/2006/ole">
            <p:oleObj spid="_x0000_s172033" name="Visio" r:id="rId3" imgW="5223086" imgH="4438788" progId="Visio.Drawing.11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943088" cy="5635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Scenario 1: Request membership</a:t>
            </a:r>
            <a:endParaRPr lang="en-US" sz="2800" b="1" dirty="0"/>
          </a:p>
        </p:txBody>
      </p:sp>
      <p:sp>
        <p:nvSpPr>
          <p:cNvPr id="808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19200" y="1066800"/>
          <a:ext cx="7543800" cy="5362956"/>
        </p:xfrm>
        <a:graphic>
          <a:graphicData uri="http://schemas.openxmlformats.org/drawingml/2006/table">
            <a:tbl>
              <a:tblPr/>
              <a:tblGrid>
                <a:gridCol w="3773512"/>
                <a:gridCol w="3770288"/>
              </a:tblGrid>
              <a:tr h="285198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Library management system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851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name: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Request membership 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number: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UC-01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285198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Participating actors: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Initiated by the member and the librarian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0395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Request membership process allows a member to get membership from the librarian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85198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 should be a member of the organization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29277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 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Membership form will be completed and verified by the librarian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349185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Flow of events: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Member will request to take membership from the librarian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2. Librarian will provide the membership form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3. Member will complete the membership form and submit it to the librarian                     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29277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Nonfunctional requirements: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An understandable membership form should be designed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29277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documents: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 should be given a departmental membership manual 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9445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Scenario 2: Add membership</a:t>
            </a:r>
            <a:br>
              <a:rPr lang="en-US" sz="2800" b="1" dirty="0" smtClean="0"/>
            </a:br>
            <a:endParaRPr lang="en-US" sz="28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143000"/>
          <a:ext cx="7620000" cy="4951476"/>
        </p:xfrm>
        <a:graphic>
          <a:graphicData uri="http://schemas.openxmlformats.org/drawingml/2006/table">
            <a:tbl>
              <a:tblPr/>
              <a:tblGrid>
                <a:gridCol w="3811629"/>
                <a:gridCol w="3808371"/>
              </a:tblGrid>
              <a:tr h="48006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Library management system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name: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Add membership 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number: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UC-02</a:t>
                      </a:r>
                      <a:endParaRPr lang="en-US" sz="110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48006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Participating actors: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Initiated by the librarian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8006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Librarian adds the member to the library management system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8006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Membership form must be completed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8006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 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Membership ID will be generated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6012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Flow of events: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Librarian will submit the form in the system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2. System will generate the membership ID                    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8006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Nonfunctional requirements: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Membership ID should be unique for each member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8006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documents: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Details of membership documents 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04800"/>
            <a:ext cx="7696200" cy="5635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Scenario 3: Delete membership</a:t>
            </a:r>
            <a:br>
              <a:rPr lang="en-US" sz="2800" b="1" dirty="0" smtClean="0"/>
            </a:br>
            <a:endParaRPr lang="en-US" sz="2800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66800" y="914401"/>
          <a:ext cx="7620001" cy="5590860"/>
        </p:xfrm>
        <a:graphic>
          <a:graphicData uri="http://schemas.openxmlformats.org/drawingml/2006/table">
            <a:tbl>
              <a:tblPr/>
              <a:tblGrid>
                <a:gridCol w="3811630"/>
                <a:gridCol w="3808371"/>
              </a:tblGrid>
              <a:tr h="490373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Library management system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9037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name: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Delete membership  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number: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UC-03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490373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Participating actors: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Initiated by the member or the librarian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87127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Description: 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Membership of a member will be deleted from the library system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90373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There should not be any due books or fee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90373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 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membership ID will be deleted from the library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71122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Flow of events: 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Member will request the librarian to withdraw  the membership 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 2. The librarian will check for any due of books or fees 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 3. Membership ID will be deleted from the library                     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90373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Nonfunctional requirements: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There should not be any dues of deleted ID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90373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documents: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Librarian keeps record of deleted membership 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543800" cy="7921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Scenario 4: Enquiry book</a:t>
            </a:r>
            <a:br>
              <a:rPr lang="en-US" sz="2800" b="1" dirty="0" smtClean="0"/>
            </a:br>
            <a:endParaRPr lang="en-US" sz="28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143000"/>
          <a:ext cx="7620000" cy="5579872"/>
        </p:xfrm>
        <a:graphic>
          <a:graphicData uri="http://schemas.openxmlformats.org/drawingml/2006/table">
            <a:tbl>
              <a:tblPr/>
              <a:tblGrid>
                <a:gridCol w="3811629"/>
                <a:gridCol w="3808371"/>
              </a:tblGrid>
              <a:tr h="43180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Library management system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1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name: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Enquiry book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number: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UC-04</a:t>
                      </a:r>
                      <a:endParaRPr lang="en-US" sz="1800" b="1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43180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Participating actors: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Initiated by the member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180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Description: 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 will enquire for a book from the library clerk</a:t>
                      </a:r>
                      <a:endParaRPr lang="en-US" sz="1800" b="1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180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 should be a registered member of the library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180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 conditions: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Library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clerk will check the availability of the book from the library database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72720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Flow of events: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Member will enquire for a book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 2. Library clerk checks the availability from the library database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 3. Library clerk acknowledges the member    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Sub-flow: 1. Check the availability of book in the system.      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180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Nonfunctional requirements: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Efficient searching of books from the library database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180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documents: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List of books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Scenario 5: Issue book</a:t>
            </a:r>
            <a:br>
              <a:rPr lang="en-US" sz="2800" b="1" dirty="0" smtClean="0"/>
            </a:br>
            <a:endParaRPr lang="en-US" sz="28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19200" y="1066799"/>
          <a:ext cx="7696200" cy="5595716"/>
        </p:xfrm>
        <a:graphic>
          <a:graphicData uri="http://schemas.openxmlformats.org/drawingml/2006/table">
            <a:tbl>
              <a:tblPr/>
              <a:tblGrid>
                <a:gridCol w="3849745"/>
                <a:gridCol w="3846455"/>
              </a:tblGrid>
              <a:tr h="46087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Library management system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08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name: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Issue books</a:t>
                      </a:r>
                      <a:endParaRPr lang="en-US" sz="1800" b="1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number: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UC-05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46087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Participating actors: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Initiated by the member and the librarian </a:t>
                      </a:r>
                      <a:endParaRPr lang="en-US" sz="1800" b="1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087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Description: 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 will request to issue books from the library clerk</a:t>
                      </a:r>
                      <a:endParaRPr lang="en-US" sz="1800" b="1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087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 should be a registered member of the library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087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 conditions: 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Library clerk will issue the available book</a:t>
                      </a:r>
                      <a:endParaRPr lang="en-US" sz="1800" b="1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692585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Flow of events: 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Member will request the book</a:t>
                      </a:r>
                      <a:endParaRPr lang="en-US" sz="1800" b="1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2. Library clerk provides book if it is available in the library database</a:t>
                      </a:r>
                      <a:endParaRPr lang="en-US" sz="1800" b="1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3. Library clerk updates the system according to member ID of the member                   </a:t>
                      </a:r>
                      <a:endParaRPr lang="en-US" sz="1800" b="1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77034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Nonfunctional requirements: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Restricted number of books should be issued to the member </a:t>
                      </a:r>
                      <a:endParaRPr lang="en-US" sz="1800" b="1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087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documents: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Issue process and guidelines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Scenario 6: Return Book</a:t>
            </a:r>
            <a:br>
              <a:rPr lang="en-US" sz="2800" b="1" dirty="0" smtClean="0"/>
            </a:br>
            <a:endParaRPr lang="en-US" sz="28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19200" y="1219200"/>
          <a:ext cx="7696200" cy="4800600"/>
        </p:xfrm>
        <a:graphic>
          <a:graphicData uri="http://schemas.openxmlformats.org/drawingml/2006/table">
            <a:tbl>
              <a:tblPr/>
              <a:tblGrid>
                <a:gridCol w="3849745"/>
                <a:gridCol w="3846455"/>
              </a:tblGrid>
              <a:tr h="40005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Library management system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name: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Return books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number: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UC-06</a:t>
                      </a:r>
                      <a:endParaRPr lang="en-US" sz="1800" b="1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40005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Participating actors: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Initiated by the member and the librarian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005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 will return books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005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Return date should be within the specified time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005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 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Library clerk returns books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60020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Flow of events: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Member will return the book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2. Library clerk checks the system for the return date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3. Library clerk updates the system and applies overdue charges, if any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Sub flow:  1. Calculate the overdue charges                    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005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Nonfunctional requirements: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Return records should be maintained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005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documents: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Return procedure and guidelines for overdue charges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Scenario 7: Add book</a:t>
            </a:r>
            <a:br>
              <a:rPr lang="en-US" sz="2800" b="1" dirty="0" smtClean="0"/>
            </a:br>
            <a:endParaRPr lang="en-US" sz="28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295397"/>
          <a:ext cx="7315200" cy="4925846"/>
        </p:xfrm>
        <a:graphic>
          <a:graphicData uri="http://schemas.openxmlformats.org/drawingml/2006/table">
            <a:tbl>
              <a:tblPr/>
              <a:tblGrid>
                <a:gridCol w="3659164"/>
                <a:gridCol w="3656036"/>
              </a:tblGrid>
              <a:tr h="42949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Library management system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949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name: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Add book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number: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UC-07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42949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Participating actors: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Library clerk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949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Library clerk will add books in the library database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949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Books should have a unique identification number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949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 conditions: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List of added books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288473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Flow of events: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Library clerk adds the books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2. Library clerk checks the system for the quantity of books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3. Library clerk updates the system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949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Nonfunctional requirements: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There should be a unique number for each book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949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documents: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Purchased book records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9445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Scenario 8: Delete book</a:t>
            </a:r>
            <a:br>
              <a:rPr lang="en-US" sz="2800" b="1" dirty="0" smtClean="0"/>
            </a:br>
            <a:endParaRPr lang="en-US" sz="28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19200" y="1295397"/>
          <a:ext cx="7696200" cy="4876804"/>
        </p:xfrm>
        <a:graphic>
          <a:graphicData uri="http://schemas.openxmlformats.org/drawingml/2006/table">
            <a:tbl>
              <a:tblPr/>
              <a:tblGrid>
                <a:gridCol w="3849745"/>
                <a:gridCol w="3846455"/>
              </a:tblGrid>
              <a:tr h="443346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Library management system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4334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name: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Delete book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number: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UC-08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443346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Participating actors: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Library clerk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43346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Library clerk will delete books from the library database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43346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Permission should be given by the librarian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43346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 conditions: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Deleted books in a particular category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330036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Flow of events: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Library clerk deletes the book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2. Checks the system for the quantity of books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3. Updates the system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43346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Nonfunctional requirements: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Book ID should be deleted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43346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documents: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Deleted records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924800" cy="114300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Use case for tender management in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EtransQ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system</a:t>
            </a: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3200" dirty="0" smtClean="0">
                <a:latin typeface="Times New Roman" pitchFamily="18" charset="0"/>
                <a:cs typeface="Times New Roman" pitchFamily="18" charset="0"/>
              </a:rPr>
            </a:b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007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200705" name="Object 1"/>
          <p:cNvGraphicFramePr>
            <a:graphicFrameLocks noChangeAspect="1"/>
          </p:cNvGraphicFramePr>
          <p:nvPr/>
        </p:nvGraphicFramePr>
        <p:xfrm>
          <a:off x="1828800" y="1219200"/>
          <a:ext cx="5943600" cy="5381625"/>
        </p:xfrm>
        <a:graphic>
          <a:graphicData uri="http://schemas.openxmlformats.org/presentationml/2006/ole">
            <p:oleObj spid="_x0000_s200705" name="Visio" r:id="rId3" imgW="3294088" imgH="3390366" progId="Visio.Drawing.11">
              <p:embed/>
            </p:oleObj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7498080" cy="11430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Mainline sequence of the use case scenario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143001"/>
          <a:ext cx="7543800" cy="5608320"/>
        </p:xfrm>
        <a:graphic>
          <a:graphicData uri="http://schemas.openxmlformats.org/drawingml/2006/table">
            <a:tbl>
              <a:tblPr/>
              <a:tblGrid>
                <a:gridCol w="3773513"/>
                <a:gridCol w="3770287"/>
              </a:tblGrid>
              <a:tr h="275746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System: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EtransQ</a:t>
                      </a:r>
                      <a:endParaRPr lang="en-IN" sz="16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27574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Use case name: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 Tender management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Use case number: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UC-001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275746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Participating actors: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 S</a:t>
                      </a:r>
                      <a:r>
                        <a:rPr lang="en-US" sz="16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upplier, agent, and transporter</a:t>
                      </a:r>
                      <a:endParaRPr lang="en-IN" sz="16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799263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Description: 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Tender management feature allows suppliers to post tenders. With this feature, transporters and agents can sort and search tenders with a single click. Once a tender is published, its date can be altered.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275746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Preconditions: 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The user posting the tender should be a supplier.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551491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Post conditions: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1. Notifications are generated for all his associates. 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                          2. Supplier will get an email notification.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1930221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Flow of events: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1. Supplier requests to upload the tender. 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                         2. After filling the form, the transporter has to upload a file in </a:t>
                      </a:r>
                      <a:b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</a:b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“pdf” format. 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                         3. Once uploaded, the tender will be published on the specified date.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Sub-flow:         1.Search tender.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marL="9144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2. Publish tender.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marL="9144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3. Activate/deactivate tender.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799263">
                <a:tc gridSpan="2">
                  <a:txBody>
                    <a:bodyPr/>
                    <a:lstStyle/>
                    <a:p>
                      <a:pPr marL="1821815" indent="-18218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Nonfunctional requirements: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There should be the best deal available in the market in case of a large shipment or have good relations with </a:t>
                      </a:r>
                      <a:r>
                        <a:rPr lang="en-US" sz="16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actors for</a:t>
                      </a:r>
                      <a:r>
                        <a:rPr lang="en-US" sz="1600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a prolonged time</a:t>
                      </a:r>
                      <a:endParaRPr lang="en-IN" sz="16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275746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Reference documents: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Tendering manual</a:t>
                      </a:r>
                      <a:endParaRPr lang="en-IN" sz="16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1729" name="Rectangle 1"/>
          <p:cNvSpPr>
            <a:spLocks noChangeArrowheads="1"/>
          </p:cNvSpPr>
          <p:nvPr/>
        </p:nvSpPr>
        <p:spPr bwMode="auto">
          <a:xfrm>
            <a:off x="0" y="0"/>
            <a:ext cx="3017838" cy="952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7159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USE CASE RELATIONSHIP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7943088" cy="4800600"/>
          </a:xfrm>
        </p:spPr>
        <p:txBody>
          <a:bodyPr>
            <a:norm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Sometimes use cases are refined into smaller use cases or use cases exchange information to each other.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There exist some relationships between use cases.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goal is to reduce the complexities in the use case models.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There are four types of relations observed between use cases: </a:t>
            </a:r>
          </a:p>
          <a:p>
            <a:pPr lvl="1" algn="just">
              <a:buClr>
                <a:schemeClr val="tx1"/>
              </a:buClr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includes, </a:t>
            </a:r>
          </a:p>
          <a:p>
            <a:pPr lvl="1" algn="just">
              <a:buClr>
                <a:schemeClr val="tx1"/>
              </a:buClr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communicates, </a:t>
            </a:r>
          </a:p>
          <a:p>
            <a:pPr lvl="1" algn="just">
              <a:buClr>
                <a:schemeClr val="tx1"/>
              </a:buClr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extends, and </a:t>
            </a:r>
          </a:p>
          <a:p>
            <a:pPr lvl="1" algn="just">
              <a:buClr>
                <a:schemeClr val="tx1"/>
              </a:buClr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generalizes. </a:t>
            </a:r>
            <a:endParaRPr lang="en-US" sz="2400" i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USE CASE RELATIONSHIP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371600"/>
            <a:ext cx="7543800" cy="2590801"/>
          </a:xfrm>
        </p:spPr>
        <p:txBody>
          <a:bodyPr>
            <a:normAutofit/>
          </a:bodyPr>
          <a:lstStyle/>
          <a:p>
            <a:pPr algn="just">
              <a:buClr>
                <a:schemeClr val="tx1"/>
              </a:buClr>
              <a:buNone/>
            </a:pPr>
            <a:r>
              <a:rPr lang="en-US" sz="2400" b="1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INCLUDES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There may exist commonalities in use cases.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use case may contain the behavior common to several use cases.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Use case is included in other use cases. </a:t>
            </a:r>
          </a:p>
          <a:p>
            <a:pPr algn="just">
              <a:buClr>
                <a:schemeClr val="tx1"/>
              </a:buClr>
              <a:buNone/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3185" name="Object 1"/>
          <p:cNvGraphicFramePr>
            <a:graphicFrameLocks noChangeAspect="1"/>
          </p:cNvGraphicFramePr>
          <p:nvPr/>
        </p:nvGraphicFramePr>
        <p:xfrm>
          <a:off x="1600200" y="3733800"/>
          <a:ext cx="6553200" cy="2895600"/>
        </p:xfrm>
        <a:graphic>
          <a:graphicData uri="http://schemas.openxmlformats.org/presentationml/2006/ole">
            <p:oleObj spid="_x0000_s93185" r:id="rId3" imgW="2965031" imgH="1684925" progId="Visio.Drawing.11">
              <p:embed/>
            </p:oleObj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USE CASE RELATIONSHIP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8077200" cy="3124199"/>
          </a:xfrm>
        </p:spPr>
        <p:txBody>
          <a:bodyPr>
            <a:normAutofit/>
          </a:bodyPr>
          <a:lstStyle/>
          <a:p>
            <a:pPr algn="just">
              <a:buClr>
                <a:schemeClr val="tx1"/>
              </a:buClr>
              <a:buNone/>
            </a:pPr>
            <a:r>
              <a:rPr lang="en-US" sz="2400" b="1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COMMUNICATES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communication relationship is used to exchange information between actors and use cases.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communication relationship is shown by drawing a line between use cases and actors.</a:t>
            </a:r>
          </a:p>
        </p:txBody>
      </p:sp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52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5235" name="Object 3"/>
          <p:cNvGraphicFramePr>
            <a:graphicFrameLocks noChangeAspect="1"/>
          </p:cNvGraphicFramePr>
          <p:nvPr/>
        </p:nvGraphicFramePr>
        <p:xfrm>
          <a:off x="1371600" y="3886200"/>
          <a:ext cx="7315200" cy="2438400"/>
        </p:xfrm>
        <a:graphic>
          <a:graphicData uri="http://schemas.openxmlformats.org/presentationml/2006/ole">
            <p:oleObj spid="_x0000_s95235" r:id="rId3" imgW="3692521" imgH="1124003" progId="Visio.Drawing.11">
              <p:embed/>
            </p:oleObj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7159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USE CASE RELATIONSHIP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295401"/>
            <a:ext cx="7620000" cy="2514600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400" b="1" dirty="0" smtClean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EXTENDS</a:t>
            </a:r>
          </a:p>
          <a:p>
            <a:pPr algn="just"/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Extend relationship is used to extend a use case by adding events in it. </a:t>
            </a:r>
          </a:p>
          <a:p>
            <a:pPr algn="just"/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extend use case may include the behavior of extending use case. For example, student evaluation extends to result preparation and student promotion.</a:t>
            </a:r>
          </a:p>
        </p:txBody>
      </p:sp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52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6259" name="Object 3"/>
          <p:cNvGraphicFramePr>
            <a:graphicFrameLocks noChangeAspect="1"/>
          </p:cNvGraphicFramePr>
          <p:nvPr/>
        </p:nvGraphicFramePr>
        <p:xfrm>
          <a:off x="1447800" y="3962400"/>
          <a:ext cx="7162800" cy="2590800"/>
        </p:xfrm>
        <a:graphic>
          <a:graphicData uri="http://schemas.openxmlformats.org/presentationml/2006/ole">
            <p:oleObj spid="_x0000_s96259" r:id="rId3" imgW="3759467" imgH="1411753" progId="Visio.Drawing.11">
              <p:embed/>
            </p:oleObj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9430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USE CASE RELATIONSHIP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95400"/>
            <a:ext cx="8001000" cy="2133600"/>
          </a:xfrm>
        </p:spPr>
        <p:txBody>
          <a:bodyPr>
            <a:normAutofit/>
          </a:bodyPr>
          <a:lstStyle/>
          <a:p>
            <a:pPr algn="just">
              <a:buClr>
                <a:schemeClr val="tx1"/>
              </a:buClr>
              <a:buNone/>
            </a:pPr>
            <a:r>
              <a:rPr lang="en-US" sz="2600" b="1" dirty="0" smtClean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GENERALIZES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It is used to specialize another use case or actor by adding or removing its behavior.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child use case or actor inherits the behavior of its parent use case or actor. </a:t>
            </a:r>
            <a:endParaRPr lang="en-US" sz="2400" b="1" dirty="0">
              <a:solidFill>
                <a:srgbClr val="0000CC"/>
              </a:solidFill>
            </a:endParaRPr>
          </a:p>
        </p:txBody>
      </p:sp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52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7283" name="Object 3"/>
          <p:cNvGraphicFramePr>
            <a:graphicFrameLocks noChangeAspect="1"/>
          </p:cNvGraphicFramePr>
          <p:nvPr/>
        </p:nvGraphicFramePr>
        <p:xfrm>
          <a:off x="1676400" y="3733800"/>
          <a:ext cx="6096000" cy="2667000"/>
        </p:xfrm>
        <a:graphic>
          <a:graphicData uri="http://schemas.openxmlformats.org/presentationml/2006/ole">
            <p:oleObj spid="_x0000_s97283" r:id="rId3" imgW="2624365" imgH="1506229" progId="Visio.Drawing.11">
              <p:embed/>
            </p:oleObj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CLASS DIAGRAM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class diagram describes the structural description of the system.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Class diagram is prepared by establishing relationships among classes.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Class relationships are made using aggregation, generalization, association and dependency relationships.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During designing of class diagram, object oriented design principles are applied to design an optimized class diagram.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Class diagram can directly be implemented into the object oriented programming language. </a:t>
            </a: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28600"/>
            <a:ext cx="7620000" cy="563562"/>
          </a:xfrm>
        </p:spPr>
        <p:txBody>
          <a:bodyPr>
            <a:noAutofit/>
          </a:bodyPr>
          <a:lstStyle/>
          <a:p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Class diagram for a library management system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3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8305" name="Object 1"/>
          <p:cNvGraphicFramePr>
            <a:graphicFrameLocks noChangeAspect="1"/>
          </p:cNvGraphicFramePr>
          <p:nvPr/>
        </p:nvGraphicFramePr>
        <p:xfrm>
          <a:off x="1066800" y="990600"/>
          <a:ext cx="8382000" cy="5867400"/>
        </p:xfrm>
        <a:graphic>
          <a:graphicData uri="http://schemas.openxmlformats.org/presentationml/2006/ole">
            <p:oleObj spid="_x0000_s98305" r:id="rId3" imgW="5741642" imgH="4772696" progId="Visio.Drawing.11">
              <p:embed/>
            </p:oleObj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304800"/>
            <a:ext cx="7498080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OBJECT DIAGRAM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620000" cy="48768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 diagrams are the instances of class diagrams. </a:t>
            </a:r>
          </a:p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From an implementation point of view, object diagrams are dependent upon class diagrams. </a:t>
            </a:r>
          </a:p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 instances are created, destroyed, and modified during the execution of the system.</a:t>
            </a:r>
          </a:p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 diagrams also represent the structural view of a system but they are the snapshot of a system at a particular moment. </a:t>
            </a:r>
          </a:p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data values are shown with the objects. </a:t>
            </a:r>
          </a:p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An object diagram is closer to the actual system </a:t>
            </a:r>
            <a:r>
              <a:rPr lang="en-IN" sz="2400" dirty="0" err="1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behavior</a:t>
            </a: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Object diagram for a library management system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13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1377" name="Object 1"/>
          <p:cNvGraphicFramePr>
            <a:graphicFrameLocks noChangeAspect="1"/>
          </p:cNvGraphicFramePr>
          <p:nvPr/>
        </p:nvGraphicFramePr>
        <p:xfrm>
          <a:off x="1295400" y="1600200"/>
          <a:ext cx="7315200" cy="5029200"/>
        </p:xfrm>
        <a:graphic>
          <a:graphicData uri="http://schemas.openxmlformats.org/presentationml/2006/ole">
            <p:oleObj spid="_x0000_s101377" r:id="rId3" imgW="3543784" imgH="1879817" progId="Visio.Drawing.11">
              <p:embed/>
            </p:oleObj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28600"/>
            <a:ext cx="749808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INTERACTION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DIAGRAM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Objects interact by passing messages along with their signatures. </a:t>
            </a:r>
          </a:p>
          <a:p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Upon receiving a message, an object triggers the execution of a method and in turn sends a message to another object. </a:t>
            </a:r>
          </a:p>
          <a:p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Such interaction of objects is represented pictorially through 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interaction diagrams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interaction diagram has two forms: 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sequence diagram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collaboration diagram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Both diagrams represent the dynamic behavior of the system.</a:t>
            </a:r>
            <a:endParaRPr lang="en-IN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SEQUENCE DIAGRAM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295400"/>
            <a:ext cx="7772400" cy="48768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sequence diagram</a:t>
            </a: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shows the interaction among objects by passing messages in a time- based sequence. </a:t>
            </a:r>
          </a:p>
          <a:p>
            <a:pPr algn="just">
              <a:buClr>
                <a:schemeClr val="tx1"/>
              </a:buClr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diagrammatic representation of a sequence diagram has two dimensions: vertical dimension and horizontal dimension. </a:t>
            </a:r>
          </a:p>
          <a:p>
            <a:pPr algn="just">
              <a:buClr>
                <a:schemeClr val="tx1"/>
              </a:buClr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vertical dimension has vertical dashed lines that participate in the interaction represent </a:t>
            </a:r>
            <a:r>
              <a:rPr lang="en-US" sz="22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object’s lifeline</a:t>
            </a: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Clr>
                <a:schemeClr val="tx1"/>
              </a:buClr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object’s lifeline states the existence of the object at a particular point of time. </a:t>
            </a:r>
          </a:p>
          <a:p>
            <a:pPr algn="just">
              <a:buClr>
                <a:schemeClr val="tx1"/>
              </a:buClr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messages that they exchange are arranged in time sequence. Object names are written inside the box at the head of the vertical lines and these are underlined. </a:t>
            </a:r>
          </a:p>
          <a:p>
            <a:pPr algn="just">
              <a:buClr>
                <a:schemeClr val="tx1"/>
              </a:buClr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vertical lines indicate timing that progresses downwards. The horizontal dimension represents different objects without any ordering. </a:t>
            </a:r>
            <a:endParaRPr lang="en-US" sz="22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SEQUENCE DIAGRAM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66800" y="1295400"/>
            <a:ext cx="79248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6538" indent="-236538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vertical thin rectangle called </a:t>
            </a:r>
            <a:r>
              <a:rPr lang="en-US" sz="22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activation symbol</a:t>
            </a: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on lifeline shows the period during which an object is active. </a:t>
            </a:r>
          </a:p>
          <a:p>
            <a:pPr marL="236538" indent="-236538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During the activation period, an object performs an action either directly or through its subparts. </a:t>
            </a:r>
          </a:p>
          <a:p>
            <a:pPr marL="236538" indent="-236538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action being performed by the object is labeled in text next to the activation symbol. Activation can be merged or split into parts. </a:t>
            </a:r>
          </a:p>
          <a:p>
            <a:pPr marL="236538" indent="-236538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Objects communicate through messages passed among them. A </a:t>
            </a:r>
            <a:r>
              <a:rPr lang="en-US" sz="22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message</a:t>
            </a: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is shown as a horizontal solid arrow from the lifeline of one object to the lifeline of another object. </a:t>
            </a:r>
          </a:p>
          <a:p>
            <a:pPr marL="236538" indent="-236538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When an object calls itself, then message arrow may start and finish on the same object’s lifeline. </a:t>
            </a:r>
          </a:p>
          <a:p>
            <a:pPr marL="236538" indent="-236538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message arrow is labeled with the message name and its argument values. </a:t>
            </a:r>
          </a:p>
          <a:p>
            <a:pPr marL="236538" indent="-236538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Sometimes, messages are labeled with sequence number to show the sequence of the message in the overall interaction.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792162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Sequence diagram for a library management system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47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5474" name="Object 2"/>
          <p:cNvGraphicFramePr>
            <a:graphicFrameLocks noChangeAspect="1"/>
          </p:cNvGraphicFramePr>
          <p:nvPr/>
        </p:nvGraphicFramePr>
        <p:xfrm>
          <a:off x="1143000" y="1143000"/>
          <a:ext cx="8001000" cy="5334000"/>
        </p:xfrm>
        <a:graphic>
          <a:graphicData uri="http://schemas.openxmlformats.org/presentationml/2006/ole">
            <p:oleObj spid="_x0000_s105474" r:id="rId3" imgW="5676857" imgH="3986919" progId="Visio.Drawing.11">
              <p:embed/>
            </p:oleObj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28600"/>
            <a:ext cx="749808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COLLABORATION DIAGRAM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7943088" cy="5105400"/>
          </a:xfrm>
        </p:spPr>
        <p:txBody>
          <a:bodyPr>
            <a:noAutofit/>
          </a:bodyPr>
          <a:lstStyle/>
          <a:p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collaboration diagram is also used to represent object interaction. </a:t>
            </a:r>
          </a:p>
          <a:p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objects are represented as and when they come in the system and numbered messages are sent from one object to another. </a:t>
            </a:r>
          </a:p>
          <a:p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number in the message is the sequence in the object interactions. Messages are shown along the association line with their directions of movement. </a:t>
            </a:r>
            <a:endParaRPr lang="en-IN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Collaboration diagram does not show time as a separate dimension, so the sequence of messages and the concurrent threads must be determined using sequence numbers. </a:t>
            </a:r>
          </a:p>
          <a:p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collaboration diagram shows the context in which interaction occurs among objects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IN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28600"/>
            <a:ext cx="7498080" cy="1143000"/>
          </a:xfrm>
        </p:spPr>
        <p:txBody>
          <a:bodyPr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3200" b="1" dirty="0" smtClean="0">
                <a:latin typeface="Times New Roman"/>
                <a:ea typeface="Times New Roman"/>
                <a:cs typeface="Times New Roman"/>
              </a:rPr>
              <a:t>Collaboration diagram for a library management system</a:t>
            </a:r>
            <a:endParaRPr lang="en-IN" sz="3200" b="1" dirty="0">
              <a:latin typeface="Calibri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2027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202753" name="Object 1"/>
          <p:cNvGraphicFramePr>
            <a:graphicFrameLocks noChangeAspect="1"/>
          </p:cNvGraphicFramePr>
          <p:nvPr/>
        </p:nvGraphicFramePr>
        <p:xfrm>
          <a:off x="1219200" y="1524000"/>
          <a:ext cx="7239000" cy="4981575"/>
        </p:xfrm>
        <a:graphic>
          <a:graphicData uri="http://schemas.openxmlformats.org/presentationml/2006/ole">
            <p:oleObj spid="_x0000_s202753" name="Visio" r:id="rId3" imgW="3302997" imgH="2402409" progId="Visio.Drawing.11">
              <p:embed/>
            </p:oleObj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STATE CHART DIAGRAM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</a:rPr>
              <a:t>An object goes through various states to show the behavior of a system.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</a:rPr>
              <a:t>The state changes whenever an event occurs.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</a:rPr>
              <a:t>State chart diagrams consist of states and transitions.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</a:rPr>
              <a:t>A state represents a condition satisfied by the attributes of an object.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</a:rPr>
              <a:t>It is drawn as a rounded rectangle with its name inside it.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</a:rPr>
              <a:t>A small filled circle represents the initial states and a circle surrounding the small filled circle is indicated as final state.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</a:rPr>
              <a:t>A transition is represented by an arrow between one state to another state with the event name in it causing transition. </a:t>
            </a:r>
            <a:endParaRPr lang="en-US" sz="2400" dirty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792162"/>
          </a:xfrm>
        </p:spPr>
        <p:txBody>
          <a:bodyPr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3200" b="1" dirty="0" smtClean="0">
                <a:latin typeface="Times New Roman"/>
                <a:ea typeface="Times New Roman"/>
                <a:cs typeface="Times New Roman"/>
              </a:rPr>
              <a:t>State chart diagram for a library management system</a:t>
            </a:r>
            <a:endParaRPr lang="en-IN" sz="3200" b="1" dirty="0">
              <a:latin typeface="Calibri"/>
              <a:ea typeface="Times New Roman"/>
              <a:cs typeface="Times New Roman"/>
            </a:endParaRPr>
          </a:p>
        </p:txBody>
      </p:sp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6497" name="Object 1"/>
          <p:cNvGraphicFramePr>
            <a:graphicFrameLocks noChangeAspect="1"/>
          </p:cNvGraphicFramePr>
          <p:nvPr/>
        </p:nvGraphicFramePr>
        <p:xfrm>
          <a:off x="1219200" y="1524000"/>
          <a:ext cx="7620000" cy="4876800"/>
        </p:xfrm>
        <a:graphic>
          <a:graphicData uri="http://schemas.openxmlformats.org/presentationml/2006/ole">
            <p:oleObj spid="_x0000_s106497" r:id="rId3" imgW="3754878" imgH="2793273" progId="Visio.Drawing.11">
              <p:embed/>
            </p:oleObj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ACTIVITY DIAGRAM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219200"/>
            <a:ext cx="8001000" cy="5410200"/>
          </a:xfrm>
        </p:spPr>
        <p:txBody>
          <a:bodyPr>
            <a:normAutofit lnSpcReduction="10000"/>
          </a:bodyPr>
          <a:lstStyle/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An activity diagram also illustrates the dynamic view of a system.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activity diagram is basically a kind of state chart diagram that represents the procedural flow of controls form one activity to another.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An activity can be described as an operation of the system.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Action states are shown as a rounded rectangle. The completion of an action state is shown by an arrow.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branching conditions are shown with a small diamond box that represents the alternative paths.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outgoing arrows are </a:t>
            </a:r>
            <a:r>
              <a:rPr lang="en-US" sz="2400" dirty="0" err="1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labelled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with a condition or guard expression.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outgoing arrows represent the set of all possible outcomes.</a:t>
            </a:r>
            <a:endParaRPr lang="en-US" sz="2400" dirty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3200" b="1" dirty="0" smtClean="0">
                <a:latin typeface="Times New Roman"/>
                <a:ea typeface="Times New Roman"/>
                <a:cs typeface="Times New Roman"/>
              </a:rPr>
              <a:t>Activity diagram for a library management system</a:t>
            </a:r>
            <a:endParaRPr lang="en-IN" sz="3200" b="1" dirty="0">
              <a:latin typeface="Calibri"/>
              <a:ea typeface="Times New Roman"/>
              <a:cs typeface="Times New Roman"/>
            </a:endParaRPr>
          </a:p>
        </p:txBody>
      </p:sp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9569" name="Object 1"/>
          <p:cNvGraphicFramePr>
            <a:graphicFrameLocks noChangeAspect="1"/>
          </p:cNvGraphicFramePr>
          <p:nvPr/>
        </p:nvGraphicFramePr>
        <p:xfrm>
          <a:off x="1295400" y="1600200"/>
          <a:ext cx="7543800" cy="5029200"/>
        </p:xfrm>
        <a:graphic>
          <a:graphicData uri="http://schemas.openxmlformats.org/presentationml/2006/ole">
            <p:oleObj spid="_x0000_s109569" r:id="rId3" imgW="4822494" imgH="3552056" progId="Visio.Drawing.11">
              <p:embed/>
            </p:oleObj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COMPONENT DIAGRAM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48600" cy="4800600"/>
          </a:xfrm>
        </p:spPr>
        <p:txBody>
          <a:bodyPr>
            <a:normAutofit/>
          </a:bodyPr>
          <a:lstStyle/>
          <a:p>
            <a:pPr algn="just">
              <a:buClr>
                <a:schemeClr val="tx1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Component diagrams represent the implementation view of the software in a system. </a:t>
            </a:r>
          </a:p>
          <a:p>
            <a:pPr algn="just">
              <a:buClr>
                <a:schemeClr val="tx1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component diagram is made by connecting components through dependency relationships. </a:t>
            </a:r>
          </a:p>
          <a:p>
            <a:pPr algn="just">
              <a:buClr>
                <a:schemeClr val="tx1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Components are the different parts of a system. They can be source code components, executable components, binary components, business components, etc. </a:t>
            </a:r>
          </a:p>
          <a:p>
            <a:pPr lvl="0" algn="just">
              <a:buClr>
                <a:prstClr val="black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There are five components in this system and these are book management, member management, library EMP management, library catalog, and library main system. </a:t>
            </a:r>
          </a:p>
          <a:p>
            <a:pPr algn="just">
              <a:buClr>
                <a:schemeClr val="tx1"/>
              </a:buClr>
              <a:buFont typeface="Arial" pitchFamily="34" charset="0"/>
              <a:buChar char="•"/>
            </a:pP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Component diagram for a library management system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6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1617" name="Object 1"/>
          <p:cNvGraphicFramePr>
            <a:graphicFrameLocks noChangeAspect="1"/>
          </p:cNvGraphicFramePr>
          <p:nvPr/>
        </p:nvGraphicFramePr>
        <p:xfrm>
          <a:off x="1219200" y="1752600"/>
          <a:ext cx="7467600" cy="4572000"/>
        </p:xfrm>
        <a:graphic>
          <a:graphicData uri="http://schemas.openxmlformats.org/presentationml/2006/ole">
            <p:oleObj spid="_x0000_s111617" r:id="rId3" imgW="4072598" imgH="2366238" progId="Visio.Drawing.11">
              <p:embed/>
            </p:oleObj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DEPLOYMENT DIAGRAM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924800" cy="48006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deployment diagram shows the configuration of runtime processing elements at the customer site.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It is a graph of nodes connected by communication associations.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deployment diagram is a kind of graph made up of components connected by communication associations.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Nodes may contain component instances; this indicates that the component lives or runs on the node.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There are three nodes used in this system and these are 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client desktop, application server,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database server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943088" cy="114300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Deployment diagram for library management system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6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4689" name="Object 1"/>
          <p:cNvGraphicFramePr>
            <a:graphicFrameLocks noChangeAspect="1"/>
          </p:cNvGraphicFramePr>
          <p:nvPr/>
        </p:nvGraphicFramePr>
        <p:xfrm>
          <a:off x="1219200" y="1676400"/>
          <a:ext cx="7391400" cy="4800600"/>
        </p:xfrm>
        <a:graphic>
          <a:graphicData uri="http://schemas.openxmlformats.org/presentationml/2006/ole">
            <p:oleObj spid="_x0000_s114689" r:id="rId3" imgW="3648251" imgH="2489058" progId="Visio.Drawing.11">
              <p:embed/>
            </p:oleObj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450</TotalTime>
  <Words>2880</Words>
  <Application>Microsoft Office PowerPoint</Application>
  <PresentationFormat>On-screen Show (4:3)</PresentationFormat>
  <Paragraphs>300</Paragraphs>
  <Slides>41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Solstice</vt:lpstr>
      <vt:lpstr>Microsoft Visio Drawing</vt:lpstr>
      <vt:lpstr>Visio</vt:lpstr>
      <vt:lpstr>UML DIAGRAMS </vt:lpstr>
      <vt:lpstr>UML DIAGRAMS</vt:lpstr>
      <vt:lpstr>4+1 VIEW OF UML DIAGRAMS</vt:lpstr>
      <vt:lpstr>4+1 VIEW OF UML DIAGRAMS</vt:lpstr>
      <vt:lpstr>USE CASE DIAGRAM</vt:lpstr>
      <vt:lpstr>USE CASE SCENARIO</vt:lpstr>
      <vt:lpstr>USE CASE SCENARIO</vt:lpstr>
      <vt:lpstr>Use case for a library management system</vt:lpstr>
      <vt:lpstr>Scenario 1: Request membership</vt:lpstr>
      <vt:lpstr>Scenario 2: Add membership </vt:lpstr>
      <vt:lpstr>Scenario 3: Delete membership </vt:lpstr>
      <vt:lpstr>Scenario 4: Enquiry book </vt:lpstr>
      <vt:lpstr>Scenario 5: Issue book </vt:lpstr>
      <vt:lpstr>Scenario 6: Return Book </vt:lpstr>
      <vt:lpstr>Scenario 7: Add book </vt:lpstr>
      <vt:lpstr>Scenario 8: Delete book </vt:lpstr>
      <vt:lpstr>Use case for tender management in EtransQ system </vt:lpstr>
      <vt:lpstr>Mainline sequence of the use case scenario</vt:lpstr>
      <vt:lpstr>USE CASE RELATIONSHIP</vt:lpstr>
      <vt:lpstr>USE CASE RELATIONSHIP</vt:lpstr>
      <vt:lpstr>USE CASE RELATIONSHIP</vt:lpstr>
      <vt:lpstr>USE CASE RELATIONSHIP</vt:lpstr>
      <vt:lpstr>USE CASE RELATIONSHIP</vt:lpstr>
      <vt:lpstr>CLASS DIAGRAM</vt:lpstr>
      <vt:lpstr>Class diagram for a library management system</vt:lpstr>
      <vt:lpstr>OBJECT DIAGRAM</vt:lpstr>
      <vt:lpstr>Object diagram for a library management system</vt:lpstr>
      <vt:lpstr>INTERACTION DIAGRAM</vt:lpstr>
      <vt:lpstr>SEQUENCE DIAGRAM</vt:lpstr>
      <vt:lpstr>SEQUENCE DIAGRAM</vt:lpstr>
      <vt:lpstr>Sequence diagram for a library management system</vt:lpstr>
      <vt:lpstr>COLLABORATION DIAGRAM</vt:lpstr>
      <vt:lpstr>Collaboration diagram for a library management system</vt:lpstr>
      <vt:lpstr>STATE CHART DIAGRAM</vt:lpstr>
      <vt:lpstr>State chart diagram for a library management system</vt:lpstr>
      <vt:lpstr>ACTIVITY DIAGRAM</vt:lpstr>
      <vt:lpstr>Activity diagram for a library management system</vt:lpstr>
      <vt:lpstr>COMPONENT DIAGRAM</vt:lpstr>
      <vt:lpstr>Component diagram for a library management system</vt:lpstr>
      <vt:lpstr>DEPLOYMENT DIAGRAM</vt:lpstr>
      <vt:lpstr>Deployment diagram for library management system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Design Using UML</dc:title>
  <dc:creator>lenovo</dc:creator>
  <cp:lastModifiedBy>admin</cp:lastModifiedBy>
  <cp:revision>138</cp:revision>
  <dcterms:created xsi:type="dcterms:W3CDTF">2013-08-05T16:00:45Z</dcterms:created>
  <dcterms:modified xsi:type="dcterms:W3CDTF">2019-10-22T05:10:12Z</dcterms:modified>
</cp:coreProperties>
</file>