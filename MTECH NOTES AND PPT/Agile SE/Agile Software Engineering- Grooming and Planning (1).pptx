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69" r:id="rId17"/>
    <p:sldId id="272" r:id="rId18"/>
    <p:sldId id="273" r:id="rId19"/>
    <p:sldId id="274" r:id="rId20"/>
    <p:sldId id="275" r:id="rId21"/>
    <p:sldId id="277" r:id="rId22"/>
    <p:sldId id="278" r:id="rId23"/>
    <p:sldId id="276"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5" r:id="rId40"/>
    <p:sldId id="296" r:id="rId41"/>
    <p:sldId id="297" r:id="rId42"/>
    <p:sldId id="294" r:id="rId43"/>
    <p:sldId id="298" r:id="rId44"/>
    <p:sldId id="299" r:id="rId4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18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EF783E-ECBD-4D89-BE37-083A5141B9C2}" type="datetimeFigureOut">
              <a:rPr lang="en-IN" smtClean="0"/>
              <a:t>16-03-2026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618F99-46C8-4DA7-9695-8703516A0D32}" type="slidenum">
              <a:rPr lang="en-IN" smtClean="0"/>
              <a:t>‹#›</a:t>
            </a:fld>
            <a:endParaRPr lang="en-IN"/>
          </a:p>
        </p:txBody>
      </p:sp>
    </p:spTree>
    <p:extLst>
      <p:ext uri="{BB962C8B-B14F-4D97-AF65-F5344CB8AC3E}">
        <p14:creationId xmlns:p14="http://schemas.microsoft.com/office/powerpoint/2010/main" val="3694569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068EC58-42EE-47BB-889A-A602177FE5B7}" type="datetime1">
              <a:rPr lang="en-IN" smtClean="0"/>
              <a:t>16-03-2026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609990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66330" y="136524"/>
            <a:ext cx="8611340" cy="789613"/>
          </a:xfrm>
        </p:spPr>
        <p:txBody>
          <a:bodyPr/>
          <a:lstStyle>
            <a:lvl1pPr>
              <a:defRPr b="1">
                <a:solidFill>
                  <a:srgbClr val="C00000"/>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266330" y="1020932"/>
            <a:ext cx="8611340" cy="5450889"/>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3F2DC134-98B8-4E00-A50E-437F754573DB}" type="datetime1">
              <a:rPr lang="en-IN" smtClean="0"/>
              <a:t>16-03-2026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6972855" y="6480643"/>
            <a:ext cx="2057400" cy="365125"/>
          </a:xfrm>
        </p:spPr>
        <p:txBody>
          <a:bodyPr/>
          <a:lstStyle>
            <a:lvl1pPr>
              <a:defRPr b="0">
                <a:solidFill>
                  <a:schemeClr val="tx1"/>
                </a:solidFill>
              </a:defRPr>
            </a:lvl1pPr>
          </a:lstStyle>
          <a:p>
            <a:fld id="{C70AC583-F9E3-4A59-98F2-FD7379A90CB7}" type="slidenum">
              <a:rPr lang="en-IN" smtClean="0"/>
              <a:pPr/>
              <a:t>‹#›</a:t>
            </a:fld>
            <a:endParaRPr lang="en-IN" b="0" dirty="0"/>
          </a:p>
        </p:txBody>
      </p:sp>
      <p:cxnSp>
        <p:nvCxnSpPr>
          <p:cNvPr id="8" name="Straight Connector 7">
            <a:extLst>
              <a:ext uri="{FF2B5EF4-FFF2-40B4-BE49-F238E27FC236}">
                <a16:creationId xmlns:a16="http://schemas.microsoft.com/office/drawing/2014/main" id="{224495AD-567D-2ADD-BE5E-6850C77BACB5}"/>
              </a:ext>
            </a:extLst>
          </p:cNvPr>
          <p:cNvCxnSpPr/>
          <p:nvPr userDrawn="1"/>
        </p:nvCxnSpPr>
        <p:spPr>
          <a:xfrm>
            <a:off x="0" y="926137"/>
            <a:ext cx="8877670" cy="0"/>
          </a:xfrm>
          <a:prstGeom prst="line">
            <a:avLst/>
          </a:prstGeom>
          <a:ln w="28575"/>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69258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7C10A6-20C7-463B-A122-EE9A44191DEB}" type="datetime1">
              <a:rPr lang="en-IN" smtClean="0"/>
              <a:t>16-03-2026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436214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86E731-F9BA-432D-AD5A-524D6C476BF1}" type="datetime1">
              <a:rPr lang="en-IN" smtClean="0"/>
              <a:t>16-03-2026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776708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056AAD7-9406-43EE-A865-0984302784D4}" type="datetime1">
              <a:rPr lang="en-IN" smtClean="0"/>
              <a:t>16-03-2026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4196799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A2EDBAA-1D0A-45D1-A5BB-081862F89D23}" type="datetime1">
              <a:rPr lang="en-IN" smtClean="0"/>
              <a:t>16-03-2026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946011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3C2FBB-EEE0-48AB-9227-D6BD5F61A9B3}" type="datetime1">
              <a:rPr lang="en-IN" smtClean="0"/>
              <a:t>16-03-2026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560334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E2C1C41-5793-4ABC-B62B-0A963F7D72D3}" type="datetime1">
              <a:rPr lang="en-IN" smtClean="0"/>
              <a:t>16-03-2026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2924824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A92D4A2-ACEB-4ACB-8DA0-4D301849AA1A}" type="datetime1">
              <a:rPr lang="en-IN" smtClean="0"/>
              <a:t>16-03-2026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1128665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FCFCF3-4EFB-4535-81E7-25F09ED13A08}" type="datetime1">
              <a:rPr lang="en-IN" smtClean="0"/>
              <a:t>16-03-2026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2555665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9825CD-E2F6-42DE-B62A-9C82759EF617}" type="datetime1">
              <a:rPr lang="en-IN" smtClean="0"/>
              <a:t>16-03-2026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614648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0374B9-4912-4832-A430-88CEC3882527}" type="datetime1">
              <a:rPr lang="en-IN" smtClean="0"/>
              <a:t>16-03-2026</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1F8360-00E8-462F-93F6-51CC5257BC34}" type="slidenum">
              <a:rPr lang="en-IN" smtClean="0"/>
              <a:t>‹#›</a:t>
            </a:fld>
            <a:endParaRPr lang="en-IN"/>
          </a:p>
        </p:txBody>
      </p:sp>
    </p:spTree>
    <p:extLst>
      <p:ext uri="{BB962C8B-B14F-4D97-AF65-F5344CB8AC3E}">
        <p14:creationId xmlns:p14="http://schemas.microsoft.com/office/powerpoint/2010/main" val="22838588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9000"/>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6B841-2D9F-0D42-9AED-FE29F9246E22}"/>
              </a:ext>
            </a:extLst>
          </p:cNvPr>
          <p:cNvSpPr>
            <a:spLocks noGrp="1"/>
          </p:cNvSpPr>
          <p:nvPr>
            <p:ph type="ctrTitle"/>
          </p:nvPr>
        </p:nvSpPr>
        <p:spPr/>
        <p:txBody>
          <a:bodyPr/>
          <a:lstStyle/>
          <a:p>
            <a:r>
              <a:rPr lang="en-IN" dirty="0"/>
              <a:t>Agile Software Engineering</a:t>
            </a:r>
          </a:p>
        </p:txBody>
      </p:sp>
      <p:sp>
        <p:nvSpPr>
          <p:cNvPr id="3" name="Subtitle 2">
            <a:extLst>
              <a:ext uri="{FF2B5EF4-FFF2-40B4-BE49-F238E27FC236}">
                <a16:creationId xmlns:a16="http://schemas.microsoft.com/office/drawing/2014/main" id="{1A4E7A6A-519E-5A54-9FF4-6F1F5C07C4A4}"/>
              </a:ext>
            </a:extLst>
          </p:cNvPr>
          <p:cNvSpPr>
            <a:spLocks noGrp="1"/>
          </p:cNvSpPr>
          <p:nvPr>
            <p:ph type="subTitle" idx="1"/>
          </p:nvPr>
        </p:nvSpPr>
        <p:spPr/>
        <p:txBody>
          <a:bodyPr>
            <a:normAutofit/>
          </a:bodyPr>
          <a:lstStyle/>
          <a:p>
            <a:r>
              <a:rPr lang="en-US" sz="4800" b="1" dirty="0">
                <a:solidFill>
                  <a:srgbClr val="FF0000"/>
                </a:solidFill>
              </a:rPr>
              <a:t>Grooming and Planning</a:t>
            </a:r>
            <a:endParaRPr lang="en-IN" sz="4800" b="1" dirty="0">
              <a:solidFill>
                <a:srgbClr val="FF0000"/>
              </a:solidFill>
            </a:endParaRPr>
          </a:p>
        </p:txBody>
      </p:sp>
    </p:spTree>
    <p:extLst>
      <p:ext uri="{BB962C8B-B14F-4D97-AF65-F5344CB8AC3E}">
        <p14:creationId xmlns:p14="http://schemas.microsoft.com/office/powerpoint/2010/main" val="2473625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96CAD-1656-10CC-D360-45D45C5F6B5D}"/>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7F79EFDB-52D5-C0FF-8011-4B150096A9DA}"/>
              </a:ext>
            </a:extLst>
          </p:cNvPr>
          <p:cNvSpPr>
            <a:spLocks noGrp="1"/>
          </p:cNvSpPr>
          <p:nvPr>
            <p:ph idx="1"/>
          </p:nvPr>
        </p:nvSpPr>
        <p:spPr>
          <a:xfrm>
            <a:off x="266330" y="1020932"/>
            <a:ext cx="8611340" cy="5700544"/>
          </a:xfrm>
        </p:spPr>
        <p:txBody>
          <a:bodyPr>
            <a:normAutofit fontScale="92500"/>
          </a:bodyPr>
          <a:lstStyle/>
          <a:p>
            <a:r>
              <a:rPr lang="en-US" dirty="0"/>
              <a:t>As the development process progresses, the requirements/user stories are groomed into functional input for the development teams. </a:t>
            </a:r>
          </a:p>
          <a:p>
            <a:r>
              <a:rPr lang="en-US" dirty="0"/>
              <a:t>The priority of the user stories and the estimates of their size are important factors when the development team is considering their commitment to the work. </a:t>
            </a:r>
          </a:p>
          <a:p>
            <a:r>
              <a:rPr lang="en-US" dirty="0"/>
              <a:t>This chapter presents a variety of strategies for grooming the stories. </a:t>
            </a:r>
          </a:p>
          <a:p>
            <a:r>
              <a:rPr lang="en-US" dirty="0"/>
              <a:t>Once the grooming is complete, the sprint planning begins, incorporating the velocity of the team, the definition of “done,” the amount of technical debt, and more. </a:t>
            </a:r>
          </a:p>
          <a:p>
            <a:r>
              <a:rPr lang="en-US" dirty="0"/>
              <a:t>Finally, we explore the theory of triple constraints (scope versus time versus resources) and how the management of these can affect the development process.</a:t>
            </a:r>
            <a:endParaRPr lang="en-IN" dirty="0"/>
          </a:p>
        </p:txBody>
      </p:sp>
      <p:sp>
        <p:nvSpPr>
          <p:cNvPr id="4" name="Slide Number Placeholder 3">
            <a:extLst>
              <a:ext uri="{FF2B5EF4-FFF2-40B4-BE49-F238E27FC236}">
                <a16:creationId xmlns:a16="http://schemas.microsoft.com/office/drawing/2014/main" id="{65730CA5-68B1-6022-F2F4-C02F73DA2B31}"/>
              </a:ext>
            </a:extLst>
          </p:cNvPr>
          <p:cNvSpPr>
            <a:spLocks noGrp="1"/>
          </p:cNvSpPr>
          <p:nvPr>
            <p:ph type="sldNum" sz="quarter" idx="12"/>
          </p:nvPr>
        </p:nvSpPr>
        <p:spPr/>
        <p:txBody>
          <a:bodyPr/>
          <a:lstStyle/>
          <a:p>
            <a:fld id="{F81F8360-00E8-462F-93F6-51CC5257BC34}" type="slidenum">
              <a:rPr lang="en-IN" smtClean="0"/>
              <a:t>2</a:t>
            </a:fld>
            <a:endParaRPr lang="en-IN"/>
          </a:p>
        </p:txBody>
      </p:sp>
    </p:spTree>
    <p:extLst>
      <p:ext uri="{BB962C8B-B14F-4D97-AF65-F5344CB8AC3E}">
        <p14:creationId xmlns:p14="http://schemas.microsoft.com/office/powerpoint/2010/main" val="3440939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AD8CE-CFC4-B242-1E20-1D4C340B0B5F}"/>
              </a:ext>
            </a:extLst>
          </p:cNvPr>
          <p:cNvSpPr>
            <a:spLocks noGrp="1"/>
          </p:cNvSpPr>
          <p:nvPr>
            <p:ph type="title"/>
          </p:nvPr>
        </p:nvSpPr>
        <p:spPr/>
        <p:txBody>
          <a:bodyPr/>
          <a:lstStyle/>
          <a:p>
            <a:r>
              <a:rPr lang="en-US" dirty="0"/>
              <a:t>Product Backlog (Scrum and XP)</a:t>
            </a:r>
            <a:endParaRPr lang="en-IN" dirty="0"/>
          </a:p>
        </p:txBody>
      </p:sp>
      <p:sp>
        <p:nvSpPr>
          <p:cNvPr id="3" name="Content Placeholder 2">
            <a:extLst>
              <a:ext uri="{FF2B5EF4-FFF2-40B4-BE49-F238E27FC236}">
                <a16:creationId xmlns:a16="http://schemas.microsoft.com/office/drawing/2014/main" id="{33783746-D382-0232-606D-9597D11378EB}"/>
              </a:ext>
            </a:extLst>
          </p:cNvPr>
          <p:cNvSpPr>
            <a:spLocks noGrp="1"/>
          </p:cNvSpPr>
          <p:nvPr>
            <p:ph idx="1"/>
          </p:nvPr>
        </p:nvSpPr>
        <p:spPr/>
        <p:txBody>
          <a:bodyPr/>
          <a:lstStyle/>
          <a:p>
            <a:r>
              <a:rPr lang="en-US" dirty="0"/>
              <a:t>The full list of desired features, or user stories, are captured in what Scrum and XP call a “backlog.” </a:t>
            </a:r>
          </a:p>
          <a:p>
            <a:r>
              <a:rPr lang="en-US" dirty="0"/>
              <a:t>The highest-priority stories reside at the top of the backlog and are in the lowest level of detail.</a:t>
            </a:r>
          </a:p>
          <a:p>
            <a:r>
              <a:rPr lang="en-US" dirty="0"/>
              <a:t>Mike Cohn provides sound guidance on how to improve backlog quality using the acronym </a:t>
            </a:r>
            <a:r>
              <a:rPr lang="en-US" b="1" dirty="0"/>
              <a:t>DEEP</a:t>
            </a:r>
            <a:r>
              <a:rPr lang="en-US" dirty="0"/>
              <a:t>, which stands for Detailed appropriately, Estimated, Emergent, and Prioritized</a:t>
            </a:r>
            <a:endParaRPr lang="en-IN" dirty="0"/>
          </a:p>
        </p:txBody>
      </p:sp>
      <p:sp>
        <p:nvSpPr>
          <p:cNvPr id="4" name="Slide Number Placeholder 3">
            <a:extLst>
              <a:ext uri="{FF2B5EF4-FFF2-40B4-BE49-F238E27FC236}">
                <a16:creationId xmlns:a16="http://schemas.microsoft.com/office/drawing/2014/main" id="{69334621-F663-C374-240D-34F2168C81BB}"/>
              </a:ext>
            </a:extLst>
          </p:cNvPr>
          <p:cNvSpPr>
            <a:spLocks noGrp="1"/>
          </p:cNvSpPr>
          <p:nvPr>
            <p:ph type="sldNum" sz="quarter" idx="12"/>
          </p:nvPr>
        </p:nvSpPr>
        <p:spPr/>
        <p:txBody>
          <a:bodyPr/>
          <a:lstStyle/>
          <a:p>
            <a:fld id="{F81F8360-00E8-462F-93F6-51CC5257BC34}" type="slidenum">
              <a:rPr lang="en-IN" smtClean="0"/>
              <a:t>3</a:t>
            </a:fld>
            <a:endParaRPr lang="en-IN"/>
          </a:p>
        </p:txBody>
      </p:sp>
    </p:spTree>
    <p:extLst>
      <p:ext uri="{BB962C8B-B14F-4D97-AF65-F5344CB8AC3E}">
        <p14:creationId xmlns:p14="http://schemas.microsoft.com/office/powerpoint/2010/main" val="27539378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ED94D-FB7F-6D40-F748-306E2B2F98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F25DEE-EB3C-671B-6E34-0110D120A9B0}"/>
              </a:ext>
            </a:extLst>
          </p:cNvPr>
          <p:cNvSpPr>
            <a:spLocks noGrp="1"/>
          </p:cNvSpPr>
          <p:nvPr>
            <p:ph type="title"/>
          </p:nvPr>
        </p:nvSpPr>
        <p:spPr/>
        <p:txBody>
          <a:bodyPr/>
          <a:lstStyle/>
          <a:p>
            <a:r>
              <a:rPr lang="en-US" dirty="0"/>
              <a:t>Product Backlog (Scrum and XP)</a:t>
            </a:r>
            <a:endParaRPr lang="en-IN" dirty="0"/>
          </a:p>
        </p:txBody>
      </p:sp>
      <p:sp>
        <p:nvSpPr>
          <p:cNvPr id="3" name="Content Placeholder 2">
            <a:extLst>
              <a:ext uri="{FF2B5EF4-FFF2-40B4-BE49-F238E27FC236}">
                <a16:creationId xmlns:a16="http://schemas.microsoft.com/office/drawing/2014/main" id="{28943E0A-F932-60D1-E457-5933FE462B39}"/>
              </a:ext>
            </a:extLst>
          </p:cNvPr>
          <p:cNvSpPr>
            <a:spLocks noGrp="1"/>
          </p:cNvSpPr>
          <p:nvPr>
            <p:ph idx="1"/>
          </p:nvPr>
        </p:nvSpPr>
        <p:spPr/>
        <p:txBody>
          <a:bodyPr>
            <a:normAutofit fontScale="92500" lnSpcReduction="20000"/>
          </a:bodyPr>
          <a:lstStyle/>
          <a:p>
            <a:r>
              <a:rPr lang="en-US" b="1" dirty="0"/>
              <a:t>Detailed</a:t>
            </a:r>
            <a:r>
              <a:rPr lang="en-US" dirty="0"/>
              <a:t> appropriately means that the highest-priority stories contain sufficient detail for the development teams to deliver them: Questions are answered, and the necessary clarifications are included in the story description. </a:t>
            </a:r>
          </a:p>
          <a:p>
            <a:r>
              <a:rPr lang="en-US" b="1" dirty="0"/>
              <a:t>Estimated</a:t>
            </a:r>
            <a:r>
              <a:rPr lang="en-US" dirty="0"/>
              <a:t> means that the team understands the stories and believes there is adequate information to estimate the level of effort or amount of time required to deliver the story. We explore estimating thoroughly in this chapter.</a:t>
            </a:r>
          </a:p>
          <a:p>
            <a:r>
              <a:rPr lang="en-US" b="1" dirty="0"/>
              <a:t>Emergent</a:t>
            </a:r>
            <a:r>
              <a:rPr lang="en-US" dirty="0"/>
              <a:t> refers to the backlog’s constant evolution: As new information is learned about the marketplace, a competitor, or a technological advancement, the backlog is modified, reprioritized, or clarified.</a:t>
            </a:r>
          </a:p>
          <a:p>
            <a:r>
              <a:rPr lang="en-US" b="1" dirty="0"/>
              <a:t>Prioritized</a:t>
            </a:r>
            <a:r>
              <a:rPr lang="en-US" dirty="0"/>
              <a:t> means exactly that—the user stories are in priority order, with the highest-priority items that will deliver the most business value at the top of the backlog for immediate development. </a:t>
            </a:r>
            <a:endParaRPr lang="en-IN" dirty="0"/>
          </a:p>
        </p:txBody>
      </p:sp>
      <p:sp>
        <p:nvSpPr>
          <p:cNvPr id="4" name="Slide Number Placeholder 3">
            <a:extLst>
              <a:ext uri="{FF2B5EF4-FFF2-40B4-BE49-F238E27FC236}">
                <a16:creationId xmlns:a16="http://schemas.microsoft.com/office/drawing/2014/main" id="{1A986A28-9F64-C2E9-48EC-EE067EFF3063}"/>
              </a:ext>
            </a:extLst>
          </p:cNvPr>
          <p:cNvSpPr>
            <a:spLocks noGrp="1"/>
          </p:cNvSpPr>
          <p:nvPr>
            <p:ph type="sldNum" sz="quarter" idx="12"/>
          </p:nvPr>
        </p:nvSpPr>
        <p:spPr/>
        <p:txBody>
          <a:bodyPr/>
          <a:lstStyle/>
          <a:p>
            <a:fld id="{F81F8360-00E8-462F-93F6-51CC5257BC34}" type="slidenum">
              <a:rPr lang="en-IN" smtClean="0"/>
              <a:t>4</a:t>
            </a:fld>
            <a:endParaRPr lang="en-IN"/>
          </a:p>
        </p:txBody>
      </p:sp>
    </p:spTree>
    <p:extLst>
      <p:ext uri="{BB962C8B-B14F-4D97-AF65-F5344CB8AC3E}">
        <p14:creationId xmlns:p14="http://schemas.microsoft.com/office/powerpoint/2010/main" val="3230686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48523-2460-91B2-D119-85295C71E8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07FBA1-9763-C58F-4505-D807315C6006}"/>
              </a:ext>
            </a:extLst>
          </p:cNvPr>
          <p:cNvSpPr>
            <a:spLocks noGrp="1"/>
          </p:cNvSpPr>
          <p:nvPr>
            <p:ph type="title"/>
          </p:nvPr>
        </p:nvSpPr>
        <p:spPr/>
        <p:txBody>
          <a:bodyPr/>
          <a:lstStyle/>
          <a:p>
            <a:r>
              <a:rPr lang="en-US" dirty="0"/>
              <a:t>Product Backlog (Scrum and XP)</a:t>
            </a:r>
            <a:endParaRPr lang="en-IN" dirty="0"/>
          </a:p>
        </p:txBody>
      </p:sp>
      <p:sp>
        <p:nvSpPr>
          <p:cNvPr id="3" name="Content Placeholder 2">
            <a:extLst>
              <a:ext uri="{FF2B5EF4-FFF2-40B4-BE49-F238E27FC236}">
                <a16:creationId xmlns:a16="http://schemas.microsoft.com/office/drawing/2014/main" id="{86E62094-B93A-8C63-81EE-8D0C42FB591D}"/>
              </a:ext>
            </a:extLst>
          </p:cNvPr>
          <p:cNvSpPr>
            <a:spLocks noGrp="1"/>
          </p:cNvSpPr>
          <p:nvPr>
            <p:ph idx="1"/>
          </p:nvPr>
        </p:nvSpPr>
        <p:spPr/>
        <p:txBody>
          <a:bodyPr>
            <a:normAutofit/>
          </a:bodyPr>
          <a:lstStyle/>
          <a:p>
            <a:r>
              <a:rPr lang="en-US" dirty="0"/>
              <a:t>Where the product backlog is housed will vary from company to company. </a:t>
            </a:r>
          </a:p>
          <a:p>
            <a:r>
              <a:rPr lang="en-US" dirty="0"/>
              <a:t>Some firms, typically with smaller teams that are all </a:t>
            </a:r>
            <a:r>
              <a:rPr lang="en-US" dirty="0" err="1"/>
              <a:t>colocated</a:t>
            </a:r>
            <a:r>
              <a:rPr lang="en-US" dirty="0"/>
              <a:t>, may have a physical backlog with sticky notes hanging on the wall in priority order.</a:t>
            </a:r>
          </a:p>
          <a:p>
            <a:r>
              <a:rPr lang="en-US" dirty="0"/>
              <a:t>As collaboration between the business, product owner, and development team affects the priority, the sticky notes are simply rearranged.</a:t>
            </a:r>
            <a:endParaRPr lang="en-IN" dirty="0"/>
          </a:p>
        </p:txBody>
      </p:sp>
      <p:pic>
        <p:nvPicPr>
          <p:cNvPr id="5" name="Picture 4">
            <a:extLst>
              <a:ext uri="{FF2B5EF4-FFF2-40B4-BE49-F238E27FC236}">
                <a16:creationId xmlns:a16="http://schemas.microsoft.com/office/drawing/2014/main" id="{A29B7BF4-0E69-2013-F840-85771EC831CB}"/>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390649" y="4387442"/>
            <a:ext cx="6524625" cy="2394358"/>
          </a:xfrm>
          <a:prstGeom prst="rect">
            <a:avLst/>
          </a:prstGeom>
          <a:ln>
            <a:noFill/>
          </a:ln>
          <a:effectLst>
            <a:outerShdw blurRad="292100" dist="139700" dir="2700000" algn="tl" rotWithShape="0">
              <a:srgbClr val="333333">
                <a:alpha val="65000"/>
              </a:srgbClr>
            </a:outerShdw>
          </a:effectLst>
        </p:spPr>
      </p:pic>
      <p:sp>
        <p:nvSpPr>
          <p:cNvPr id="6" name="Slide Number Placeholder 5">
            <a:extLst>
              <a:ext uri="{FF2B5EF4-FFF2-40B4-BE49-F238E27FC236}">
                <a16:creationId xmlns:a16="http://schemas.microsoft.com/office/drawing/2014/main" id="{F707950C-5C20-5643-6761-2B90211534F2}"/>
              </a:ext>
            </a:extLst>
          </p:cNvPr>
          <p:cNvSpPr>
            <a:spLocks noGrp="1"/>
          </p:cNvSpPr>
          <p:nvPr>
            <p:ph type="sldNum" sz="quarter" idx="12"/>
          </p:nvPr>
        </p:nvSpPr>
        <p:spPr/>
        <p:txBody>
          <a:bodyPr/>
          <a:lstStyle/>
          <a:p>
            <a:fld id="{F81F8360-00E8-462F-93F6-51CC5257BC34}" type="slidenum">
              <a:rPr lang="en-IN" smtClean="0"/>
              <a:t>5</a:t>
            </a:fld>
            <a:endParaRPr lang="en-IN"/>
          </a:p>
        </p:txBody>
      </p:sp>
    </p:spTree>
    <p:extLst>
      <p:ext uri="{BB962C8B-B14F-4D97-AF65-F5344CB8AC3E}">
        <p14:creationId xmlns:p14="http://schemas.microsoft.com/office/powerpoint/2010/main" val="1303775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45ADF-4663-A2F9-7EF5-2920B2F262E1}"/>
              </a:ext>
            </a:extLst>
          </p:cNvPr>
          <p:cNvSpPr>
            <a:spLocks noGrp="1"/>
          </p:cNvSpPr>
          <p:nvPr>
            <p:ph type="title"/>
          </p:nvPr>
        </p:nvSpPr>
        <p:spPr/>
        <p:txBody>
          <a:bodyPr/>
          <a:lstStyle/>
          <a:p>
            <a:r>
              <a:rPr lang="en-IN" dirty="0"/>
              <a:t>Prioritization of Stories</a:t>
            </a:r>
          </a:p>
        </p:txBody>
      </p:sp>
      <p:sp>
        <p:nvSpPr>
          <p:cNvPr id="3" name="Content Placeholder 2">
            <a:extLst>
              <a:ext uri="{FF2B5EF4-FFF2-40B4-BE49-F238E27FC236}">
                <a16:creationId xmlns:a16="http://schemas.microsoft.com/office/drawing/2014/main" id="{3FB901E1-D7BE-0113-E330-B4228D79BCBC}"/>
              </a:ext>
            </a:extLst>
          </p:cNvPr>
          <p:cNvSpPr>
            <a:spLocks noGrp="1"/>
          </p:cNvSpPr>
          <p:nvPr>
            <p:ph idx="1"/>
          </p:nvPr>
        </p:nvSpPr>
        <p:spPr/>
        <p:txBody>
          <a:bodyPr/>
          <a:lstStyle/>
          <a:p>
            <a:r>
              <a:rPr lang="en-US" dirty="0"/>
              <a:t>As the P in the DEEP acronym, product backlog requirements/stories must be prioritized. </a:t>
            </a:r>
          </a:p>
          <a:p>
            <a:r>
              <a:rPr lang="en-US" dirty="0"/>
              <a:t>There are a number of tools and methods to assist with this activity.</a:t>
            </a:r>
            <a:endParaRPr lang="en-IN" dirty="0"/>
          </a:p>
        </p:txBody>
      </p:sp>
      <p:sp>
        <p:nvSpPr>
          <p:cNvPr id="4" name="Slide Number Placeholder 3">
            <a:extLst>
              <a:ext uri="{FF2B5EF4-FFF2-40B4-BE49-F238E27FC236}">
                <a16:creationId xmlns:a16="http://schemas.microsoft.com/office/drawing/2014/main" id="{A579C6BD-1409-0819-2FD6-D5F11E97F2D9}"/>
              </a:ext>
            </a:extLst>
          </p:cNvPr>
          <p:cNvSpPr>
            <a:spLocks noGrp="1"/>
          </p:cNvSpPr>
          <p:nvPr>
            <p:ph type="sldNum" sz="quarter" idx="12"/>
          </p:nvPr>
        </p:nvSpPr>
        <p:spPr/>
        <p:txBody>
          <a:bodyPr/>
          <a:lstStyle/>
          <a:p>
            <a:fld id="{F81F8360-00E8-462F-93F6-51CC5257BC34}" type="slidenum">
              <a:rPr lang="en-IN" smtClean="0"/>
              <a:t>6</a:t>
            </a:fld>
            <a:endParaRPr lang="en-IN"/>
          </a:p>
        </p:txBody>
      </p:sp>
    </p:spTree>
    <p:extLst>
      <p:ext uri="{BB962C8B-B14F-4D97-AF65-F5344CB8AC3E}">
        <p14:creationId xmlns:p14="http://schemas.microsoft.com/office/powerpoint/2010/main" val="27640482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153C6-95C4-F94F-FF8C-041625C2B6E1}"/>
              </a:ext>
            </a:extLst>
          </p:cNvPr>
          <p:cNvSpPr>
            <a:spLocks noGrp="1"/>
          </p:cNvSpPr>
          <p:nvPr>
            <p:ph type="title"/>
          </p:nvPr>
        </p:nvSpPr>
        <p:spPr/>
        <p:txBody>
          <a:bodyPr/>
          <a:lstStyle/>
          <a:p>
            <a:r>
              <a:rPr lang="en-IN" dirty="0"/>
              <a:t>Prioritization Based on Value</a:t>
            </a:r>
          </a:p>
        </p:txBody>
      </p:sp>
      <p:sp>
        <p:nvSpPr>
          <p:cNvPr id="3" name="Content Placeholder 2">
            <a:extLst>
              <a:ext uri="{FF2B5EF4-FFF2-40B4-BE49-F238E27FC236}">
                <a16:creationId xmlns:a16="http://schemas.microsoft.com/office/drawing/2014/main" id="{2B80E095-C5B7-FBB1-89B4-E7DD0D1FC90F}"/>
              </a:ext>
            </a:extLst>
          </p:cNvPr>
          <p:cNvSpPr>
            <a:spLocks noGrp="1"/>
          </p:cNvSpPr>
          <p:nvPr>
            <p:ph idx="1"/>
          </p:nvPr>
        </p:nvSpPr>
        <p:spPr/>
        <p:txBody>
          <a:bodyPr>
            <a:normAutofit fontScale="92500" lnSpcReduction="10000"/>
          </a:bodyPr>
          <a:lstStyle/>
          <a:p>
            <a:r>
              <a:rPr lang="en-US" dirty="0"/>
              <a:t>Targets such as increased revenue, decreased costs, and improved customer service can be the high-level objectives, but now we dive a bit deeper into the value equation.</a:t>
            </a:r>
          </a:p>
          <a:p>
            <a:r>
              <a:rPr lang="en-US" dirty="0"/>
              <a:t>If your competitors have a distinct advantage over you, then there are real penalties for not offering a competitive feature set.</a:t>
            </a:r>
          </a:p>
          <a:p>
            <a:r>
              <a:rPr lang="en-US" dirty="0"/>
              <a:t>If our weather app offers weather only in the United States but many of our executive business travelers are traveling to the UK and Mexico and our competitor offers those locations, we may risk losing customers.</a:t>
            </a:r>
          </a:p>
          <a:p>
            <a:r>
              <a:rPr lang="en-US" dirty="0"/>
              <a:t>Sometimes value is driven by proactively going after new markets and new opportunities.</a:t>
            </a:r>
          </a:p>
          <a:p>
            <a:r>
              <a:rPr lang="en-US" dirty="0"/>
              <a:t>Other times, value is derived from a more defensive or reactive posture when we are simply matching the features of our competitors.</a:t>
            </a:r>
            <a:endParaRPr lang="en-IN" dirty="0"/>
          </a:p>
        </p:txBody>
      </p:sp>
      <p:sp>
        <p:nvSpPr>
          <p:cNvPr id="4" name="Slide Number Placeholder 3">
            <a:extLst>
              <a:ext uri="{FF2B5EF4-FFF2-40B4-BE49-F238E27FC236}">
                <a16:creationId xmlns:a16="http://schemas.microsoft.com/office/drawing/2014/main" id="{CD527AD1-F8BB-7AC5-675A-4D9A061F4512}"/>
              </a:ext>
            </a:extLst>
          </p:cNvPr>
          <p:cNvSpPr>
            <a:spLocks noGrp="1"/>
          </p:cNvSpPr>
          <p:nvPr>
            <p:ph type="sldNum" sz="quarter" idx="12"/>
          </p:nvPr>
        </p:nvSpPr>
        <p:spPr/>
        <p:txBody>
          <a:bodyPr/>
          <a:lstStyle/>
          <a:p>
            <a:fld id="{F81F8360-00E8-462F-93F6-51CC5257BC34}" type="slidenum">
              <a:rPr lang="en-IN" smtClean="0"/>
              <a:t>7</a:t>
            </a:fld>
            <a:endParaRPr lang="en-IN"/>
          </a:p>
        </p:txBody>
      </p:sp>
    </p:spTree>
    <p:extLst>
      <p:ext uri="{BB962C8B-B14F-4D97-AF65-F5344CB8AC3E}">
        <p14:creationId xmlns:p14="http://schemas.microsoft.com/office/powerpoint/2010/main" val="2354000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CBA4E-B226-22F6-6A26-FA125D154F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7FFB9E-66DB-4F85-43B0-E5AC3D853CA0}"/>
              </a:ext>
            </a:extLst>
          </p:cNvPr>
          <p:cNvSpPr>
            <a:spLocks noGrp="1"/>
          </p:cNvSpPr>
          <p:nvPr>
            <p:ph type="title"/>
          </p:nvPr>
        </p:nvSpPr>
        <p:spPr/>
        <p:txBody>
          <a:bodyPr/>
          <a:lstStyle/>
          <a:p>
            <a:r>
              <a:rPr lang="en-IN" dirty="0"/>
              <a:t>Prioritization Based on Value</a:t>
            </a:r>
          </a:p>
        </p:txBody>
      </p:sp>
      <p:sp>
        <p:nvSpPr>
          <p:cNvPr id="3" name="Content Placeholder 2">
            <a:extLst>
              <a:ext uri="{FF2B5EF4-FFF2-40B4-BE49-F238E27FC236}">
                <a16:creationId xmlns:a16="http://schemas.microsoft.com/office/drawing/2014/main" id="{D1A6C750-9CFF-0A89-25C4-D36C42F3A5CF}"/>
              </a:ext>
            </a:extLst>
          </p:cNvPr>
          <p:cNvSpPr>
            <a:spLocks noGrp="1"/>
          </p:cNvSpPr>
          <p:nvPr>
            <p:ph idx="1"/>
          </p:nvPr>
        </p:nvSpPr>
        <p:spPr/>
        <p:txBody>
          <a:bodyPr>
            <a:normAutofit lnSpcReduction="10000"/>
          </a:bodyPr>
          <a:lstStyle/>
          <a:p>
            <a:r>
              <a:rPr lang="en-US" dirty="0"/>
              <a:t>Value must also be supported by a positive return on investment (ROI), so the cost to deliver a desired feature must be considered. </a:t>
            </a:r>
          </a:p>
          <a:p>
            <a:r>
              <a:rPr lang="en-US" dirty="0"/>
              <a:t>If there is no way to recoup your investment because the cost of delivering the feature is so high, then the value deteriorates and the feature should be deprioritized. </a:t>
            </a:r>
          </a:p>
          <a:p>
            <a:pPr lvl="1"/>
            <a:r>
              <a:rPr lang="en-US" dirty="0"/>
              <a:t>For example, data format for weather information in Iceland is not compatible with our application and would require a significant amount of code to convert it to a usable format. </a:t>
            </a:r>
          </a:p>
          <a:p>
            <a:pPr lvl="1"/>
            <a:r>
              <a:rPr lang="en-US" dirty="0"/>
              <a:t>The cost of the data conversion compared with the revenue potential for adding Iceland data reveals that this would not be a wise undertaking and would cost far more than it is worth. </a:t>
            </a:r>
          </a:p>
          <a:p>
            <a:pPr lvl="1"/>
            <a:r>
              <a:rPr lang="en-US" dirty="0"/>
              <a:t>Therefore, a user story requesting Iceland data should be removed from the backlog with the explanation for the decision.</a:t>
            </a:r>
            <a:endParaRPr lang="en-IN" dirty="0"/>
          </a:p>
        </p:txBody>
      </p:sp>
      <p:sp>
        <p:nvSpPr>
          <p:cNvPr id="4" name="Slide Number Placeholder 3">
            <a:extLst>
              <a:ext uri="{FF2B5EF4-FFF2-40B4-BE49-F238E27FC236}">
                <a16:creationId xmlns:a16="http://schemas.microsoft.com/office/drawing/2014/main" id="{3981D13F-CF4D-089C-886C-417CFB68631A}"/>
              </a:ext>
            </a:extLst>
          </p:cNvPr>
          <p:cNvSpPr>
            <a:spLocks noGrp="1"/>
          </p:cNvSpPr>
          <p:nvPr>
            <p:ph type="sldNum" sz="quarter" idx="12"/>
          </p:nvPr>
        </p:nvSpPr>
        <p:spPr/>
        <p:txBody>
          <a:bodyPr/>
          <a:lstStyle/>
          <a:p>
            <a:fld id="{F81F8360-00E8-462F-93F6-51CC5257BC34}" type="slidenum">
              <a:rPr lang="en-IN" smtClean="0"/>
              <a:t>8</a:t>
            </a:fld>
            <a:endParaRPr lang="en-IN"/>
          </a:p>
        </p:txBody>
      </p:sp>
    </p:spTree>
    <p:extLst>
      <p:ext uri="{BB962C8B-B14F-4D97-AF65-F5344CB8AC3E}">
        <p14:creationId xmlns:p14="http://schemas.microsoft.com/office/powerpoint/2010/main" val="2031155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7F9CB-694D-90F5-43AD-721FF8D94B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0BDB03-5F50-0412-02B3-E0D5263D1C6A}"/>
              </a:ext>
            </a:extLst>
          </p:cNvPr>
          <p:cNvSpPr>
            <a:spLocks noGrp="1"/>
          </p:cNvSpPr>
          <p:nvPr>
            <p:ph type="title"/>
          </p:nvPr>
        </p:nvSpPr>
        <p:spPr/>
        <p:txBody>
          <a:bodyPr/>
          <a:lstStyle/>
          <a:p>
            <a:r>
              <a:rPr lang="en-IN" dirty="0"/>
              <a:t>Prioritization Based on Value</a:t>
            </a:r>
          </a:p>
        </p:txBody>
      </p:sp>
      <p:sp>
        <p:nvSpPr>
          <p:cNvPr id="3" name="Content Placeholder 2">
            <a:extLst>
              <a:ext uri="{FF2B5EF4-FFF2-40B4-BE49-F238E27FC236}">
                <a16:creationId xmlns:a16="http://schemas.microsoft.com/office/drawing/2014/main" id="{320E500D-5E6C-8481-24BB-6BB9B8EEE2D8}"/>
              </a:ext>
            </a:extLst>
          </p:cNvPr>
          <p:cNvSpPr>
            <a:spLocks noGrp="1"/>
          </p:cNvSpPr>
          <p:nvPr>
            <p:ph idx="1"/>
          </p:nvPr>
        </p:nvSpPr>
        <p:spPr/>
        <p:txBody>
          <a:bodyPr>
            <a:normAutofit/>
          </a:bodyPr>
          <a:lstStyle/>
          <a:p>
            <a:r>
              <a:rPr lang="en-US" dirty="0"/>
              <a:t>Lastly, there is a consideration of the risks associated with the feature development:</a:t>
            </a:r>
          </a:p>
          <a:p>
            <a:r>
              <a:rPr lang="en-US" dirty="0"/>
              <a:t>If this feature might jeopardize the stability of the application, then its value is diminished. </a:t>
            </a:r>
          </a:p>
          <a:p>
            <a:r>
              <a:rPr lang="en-US" dirty="0"/>
              <a:t>You can see that value is not a simple equation and that many factors—revenue, cost, risk, and penalties—must be considered.</a:t>
            </a:r>
            <a:endParaRPr lang="en-IN" dirty="0"/>
          </a:p>
        </p:txBody>
      </p:sp>
      <p:sp>
        <p:nvSpPr>
          <p:cNvPr id="4" name="Slide Number Placeholder 3">
            <a:extLst>
              <a:ext uri="{FF2B5EF4-FFF2-40B4-BE49-F238E27FC236}">
                <a16:creationId xmlns:a16="http://schemas.microsoft.com/office/drawing/2014/main" id="{F7148515-1749-117E-1DF8-49830321962C}"/>
              </a:ext>
            </a:extLst>
          </p:cNvPr>
          <p:cNvSpPr>
            <a:spLocks noGrp="1"/>
          </p:cNvSpPr>
          <p:nvPr>
            <p:ph type="sldNum" sz="quarter" idx="12"/>
          </p:nvPr>
        </p:nvSpPr>
        <p:spPr/>
        <p:txBody>
          <a:bodyPr/>
          <a:lstStyle/>
          <a:p>
            <a:fld id="{F81F8360-00E8-462F-93F6-51CC5257BC34}" type="slidenum">
              <a:rPr lang="en-IN" smtClean="0"/>
              <a:t>9</a:t>
            </a:fld>
            <a:endParaRPr lang="en-IN"/>
          </a:p>
        </p:txBody>
      </p:sp>
    </p:spTree>
    <p:extLst>
      <p:ext uri="{BB962C8B-B14F-4D97-AF65-F5344CB8AC3E}">
        <p14:creationId xmlns:p14="http://schemas.microsoft.com/office/powerpoint/2010/main" val="3728445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F5BDE-7BC5-AF44-BCF2-BFF72046C5C4}"/>
              </a:ext>
            </a:extLst>
          </p:cNvPr>
          <p:cNvSpPr>
            <a:spLocks noGrp="1"/>
          </p:cNvSpPr>
          <p:nvPr>
            <p:ph type="title"/>
          </p:nvPr>
        </p:nvSpPr>
        <p:spPr/>
        <p:txBody>
          <a:bodyPr/>
          <a:lstStyle/>
          <a:p>
            <a:r>
              <a:rPr lang="en-IN" dirty="0" err="1"/>
              <a:t>MoSCoW</a:t>
            </a:r>
            <a:endParaRPr lang="en-IN" dirty="0"/>
          </a:p>
        </p:txBody>
      </p:sp>
      <p:sp>
        <p:nvSpPr>
          <p:cNvPr id="3" name="Content Placeholder 2">
            <a:extLst>
              <a:ext uri="{FF2B5EF4-FFF2-40B4-BE49-F238E27FC236}">
                <a16:creationId xmlns:a16="http://schemas.microsoft.com/office/drawing/2014/main" id="{49A196CF-A535-2C26-C60F-361C04F96A4A}"/>
              </a:ext>
            </a:extLst>
          </p:cNvPr>
          <p:cNvSpPr>
            <a:spLocks noGrp="1"/>
          </p:cNvSpPr>
          <p:nvPr>
            <p:ph idx="1"/>
          </p:nvPr>
        </p:nvSpPr>
        <p:spPr/>
        <p:txBody>
          <a:bodyPr>
            <a:normAutofit lnSpcReduction="10000"/>
          </a:bodyPr>
          <a:lstStyle/>
          <a:p>
            <a:r>
              <a:rPr lang="en-US" dirty="0"/>
              <a:t>Another method of prioritization is the </a:t>
            </a:r>
            <a:r>
              <a:rPr lang="en-US" dirty="0" err="1"/>
              <a:t>MoSCoW</a:t>
            </a:r>
            <a:r>
              <a:rPr lang="en-US" dirty="0"/>
              <a:t> method favored by Dynamic Systems Development Method.</a:t>
            </a:r>
          </a:p>
          <a:p>
            <a:r>
              <a:rPr lang="en-US" b="1" dirty="0"/>
              <a:t>Must have: </a:t>
            </a:r>
            <a:r>
              <a:rPr lang="en-US" dirty="0"/>
              <a:t>All features classified in this group must be implemented, and if they are not delivered, the system would simply not work.</a:t>
            </a:r>
          </a:p>
          <a:p>
            <a:r>
              <a:rPr lang="en-US" b="1" dirty="0"/>
              <a:t>Should have: </a:t>
            </a:r>
            <a:r>
              <a:rPr lang="en-US" dirty="0"/>
              <a:t>Features of this priority are important but can be omitted if time or resources constraints appear.</a:t>
            </a:r>
          </a:p>
          <a:p>
            <a:r>
              <a:rPr lang="en-US" b="1" dirty="0"/>
              <a:t>Could have: </a:t>
            </a:r>
            <a:r>
              <a:rPr lang="en-US" dirty="0"/>
              <a:t>These features enhance the system with greater functionality, but the timeliness of their delivery is not critical.</a:t>
            </a:r>
          </a:p>
          <a:p>
            <a:r>
              <a:rPr lang="en-US" b="1" dirty="0"/>
              <a:t>Want to have: </a:t>
            </a:r>
            <a:r>
              <a:rPr lang="en-US" dirty="0"/>
              <a:t>These features serve only a limited group of users and do not drive the same amount of business value as the preceding items.</a:t>
            </a:r>
            <a:endParaRPr lang="en-IN" dirty="0"/>
          </a:p>
        </p:txBody>
      </p:sp>
      <p:sp>
        <p:nvSpPr>
          <p:cNvPr id="4" name="Slide Number Placeholder 3">
            <a:extLst>
              <a:ext uri="{FF2B5EF4-FFF2-40B4-BE49-F238E27FC236}">
                <a16:creationId xmlns:a16="http://schemas.microsoft.com/office/drawing/2014/main" id="{7111093C-0BF7-9E1F-7AD2-4CED3F058124}"/>
              </a:ext>
            </a:extLst>
          </p:cNvPr>
          <p:cNvSpPr>
            <a:spLocks noGrp="1"/>
          </p:cNvSpPr>
          <p:nvPr>
            <p:ph type="sldNum" sz="quarter" idx="12"/>
          </p:nvPr>
        </p:nvSpPr>
        <p:spPr/>
        <p:txBody>
          <a:bodyPr/>
          <a:lstStyle/>
          <a:p>
            <a:fld id="{C70AC583-F9E3-4A59-98F2-FD7379A90CB7}" type="slidenum">
              <a:rPr lang="en-IN" smtClean="0"/>
              <a:pPr/>
              <a:t>10</a:t>
            </a:fld>
            <a:endParaRPr lang="en-IN" b="0" dirty="0"/>
          </a:p>
        </p:txBody>
      </p:sp>
    </p:spTree>
    <p:extLst>
      <p:ext uri="{BB962C8B-B14F-4D97-AF65-F5344CB8AC3E}">
        <p14:creationId xmlns:p14="http://schemas.microsoft.com/office/powerpoint/2010/main" val="2980054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22EA2-B9E2-FA6C-038E-382F308754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E8EC78-3E7D-BF05-202B-71C5379AB63B}"/>
              </a:ext>
            </a:extLst>
          </p:cNvPr>
          <p:cNvSpPr>
            <a:spLocks noGrp="1"/>
          </p:cNvSpPr>
          <p:nvPr>
            <p:ph type="title"/>
          </p:nvPr>
        </p:nvSpPr>
        <p:spPr/>
        <p:txBody>
          <a:bodyPr/>
          <a:lstStyle/>
          <a:p>
            <a:r>
              <a:rPr lang="en-IN" dirty="0" err="1"/>
              <a:t>MoSCoW</a:t>
            </a:r>
            <a:endParaRPr lang="en-IN" dirty="0"/>
          </a:p>
        </p:txBody>
      </p:sp>
      <p:sp>
        <p:nvSpPr>
          <p:cNvPr id="3" name="Content Placeholder 2">
            <a:extLst>
              <a:ext uri="{FF2B5EF4-FFF2-40B4-BE49-F238E27FC236}">
                <a16:creationId xmlns:a16="http://schemas.microsoft.com/office/drawing/2014/main" id="{166C7BB0-AD92-1C83-39B6-763DFDD8B403}"/>
              </a:ext>
            </a:extLst>
          </p:cNvPr>
          <p:cNvSpPr>
            <a:spLocks noGrp="1"/>
          </p:cNvSpPr>
          <p:nvPr>
            <p:ph idx="1"/>
          </p:nvPr>
        </p:nvSpPr>
        <p:spPr/>
        <p:txBody>
          <a:bodyPr>
            <a:normAutofit/>
          </a:bodyPr>
          <a:lstStyle/>
          <a:p>
            <a:r>
              <a:rPr lang="en-US" dirty="0"/>
              <a:t>Using Cayman Design as our example, we want to produce our weather related calendars for purchase to create a new revenue stream. </a:t>
            </a:r>
          </a:p>
          <a:p>
            <a:r>
              <a:rPr lang="en-US" dirty="0"/>
              <a:t>For this product, we have certain priorities with respect to the payment processing portion.</a:t>
            </a:r>
          </a:p>
          <a:p>
            <a:r>
              <a:rPr lang="en-US" b="1" dirty="0"/>
              <a:t>Must have: </a:t>
            </a:r>
            <a:r>
              <a:rPr lang="en-US" dirty="0"/>
              <a:t>Ability to accept MasterCard and Visa</a:t>
            </a:r>
          </a:p>
          <a:p>
            <a:r>
              <a:rPr lang="en-US" b="1" dirty="0"/>
              <a:t>Should have: </a:t>
            </a:r>
            <a:r>
              <a:rPr lang="en-US" dirty="0"/>
              <a:t>Add American Express and Discover</a:t>
            </a:r>
          </a:p>
          <a:p>
            <a:r>
              <a:rPr lang="en-US" b="1" dirty="0"/>
              <a:t>Could have: </a:t>
            </a:r>
            <a:r>
              <a:rPr lang="en-US" dirty="0"/>
              <a:t>Add ACH payments for transactions directly through banking institutions</a:t>
            </a:r>
          </a:p>
          <a:p>
            <a:r>
              <a:rPr lang="en-US" b="1" dirty="0"/>
              <a:t>Want to have: </a:t>
            </a:r>
            <a:r>
              <a:rPr lang="en-US" dirty="0"/>
              <a:t>Add gift cards</a:t>
            </a:r>
            <a:endParaRPr lang="en-IN" dirty="0"/>
          </a:p>
        </p:txBody>
      </p:sp>
      <p:sp>
        <p:nvSpPr>
          <p:cNvPr id="4" name="Slide Number Placeholder 3">
            <a:extLst>
              <a:ext uri="{FF2B5EF4-FFF2-40B4-BE49-F238E27FC236}">
                <a16:creationId xmlns:a16="http://schemas.microsoft.com/office/drawing/2014/main" id="{CB134A58-0265-ED00-A4E6-2F0AB5C1DC09}"/>
              </a:ext>
            </a:extLst>
          </p:cNvPr>
          <p:cNvSpPr>
            <a:spLocks noGrp="1"/>
          </p:cNvSpPr>
          <p:nvPr>
            <p:ph type="sldNum" sz="quarter" idx="12"/>
          </p:nvPr>
        </p:nvSpPr>
        <p:spPr/>
        <p:txBody>
          <a:bodyPr/>
          <a:lstStyle/>
          <a:p>
            <a:fld id="{C70AC583-F9E3-4A59-98F2-FD7379A90CB7}" type="slidenum">
              <a:rPr lang="en-IN" smtClean="0"/>
              <a:pPr/>
              <a:t>11</a:t>
            </a:fld>
            <a:endParaRPr lang="en-IN" b="0" dirty="0"/>
          </a:p>
        </p:txBody>
      </p:sp>
    </p:spTree>
    <p:extLst>
      <p:ext uri="{BB962C8B-B14F-4D97-AF65-F5344CB8AC3E}">
        <p14:creationId xmlns:p14="http://schemas.microsoft.com/office/powerpoint/2010/main" val="3971100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C5927-48E1-95A9-0D66-6B0701ED3D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128CBC-3BB0-FB36-DB93-6D59131C3B81}"/>
              </a:ext>
            </a:extLst>
          </p:cNvPr>
          <p:cNvSpPr>
            <a:spLocks noGrp="1"/>
          </p:cNvSpPr>
          <p:nvPr>
            <p:ph type="title"/>
          </p:nvPr>
        </p:nvSpPr>
        <p:spPr/>
        <p:txBody>
          <a:bodyPr/>
          <a:lstStyle/>
          <a:p>
            <a:r>
              <a:rPr lang="en-IN" dirty="0" err="1"/>
              <a:t>MoSCoW</a:t>
            </a:r>
            <a:endParaRPr lang="en-IN" dirty="0"/>
          </a:p>
        </p:txBody>
      </p:sp>
      <p:sp>
        <p:nvSpPr>
          <p:cNvPr id="3" name="Content Placeholder 2">
            <a:extLst>
              <a:ext uri="{FF2B5EF4-FFF2-40B4-BE49-F238E27FC236}">
                <a16:creationId xmlns:a16="http://schemas.microsoft.com/office/drawing/2014/main" id="{E71A8CF1-C2B3-08B2-1B23-A19DF5CADBA5}"/>
              </a:ext>
            </a:extLst>
          </p:cNvPr>
          <p:cNvSpPr>
            <a:spLocks noGrp="1"/>
          </p:cNvSpPr>
          <p:nvPr>
            <p:ph idx="1"/>
          </p:nvPr>
        </p:nvSpPr>
        <p:spPr/>
        <p:txBody>
          <a:bodyPr>
            <a:normAutofit/>
          </a:bodyPr>
          <a:lstStyle/>
          <a:p>
            <a:r>
              <a:rPr lang="en-US" dirty="0"/>
              <a:t>As you can see, if we cannot accept MasterCard and Visa, then our offering is not viable; therefore, that requirement is a “must have.” </a:t>
            </a:r>
          </a:p>
          <a:p>
            <a:r>
              <a:rPr lang="en-US" dirty="0"/>
              <a:t>Adding American Express and Discover is important to our success, so they should be added as quickly as time allows; hence they fall into the “should have” category. </a:t>
            </a:r>
          </a:p>
          <a:p>
            <a:r>
              <a:rPr lang="en-US" dirty="0"/>
              <a:t>Accepting ACH payments will broaden the appeal of our product but it does not have to be delivered early in the project, so that is a “could have.” </a:t>
            </a:r>
          </a:p>
          <a:p>
            <a:r>
              <a:rPr lang="en-US" dirty="0"/>
              <a:t>Adding gift cards will serve only a limited audience, so that would fall into the “want to have” category.</a:t>
            </a:r>
            <a:endParaRPr lang="en-IN" dirty="0"/>
          </a:p>
        </p:txBody>
      </p:sp>
      <p:sp>
        <p:nvSpPr>
          <p:cNvPr id="4" name="Slide Number Placeholder 3">
            <a:extLst>
              <a:ext uri="{FF2B5EF4-FFF2-40B4-BE49-F238E27FC236}">
                <a16:creationId xmlns:a16="http://schemas.microsoft.com/office/drawing/2014/main" id="{4DD8460A-027C-7C52-0E77-38669AB84249}"/>
              </a:ext>
            </a:extLst>
          </p:cNvPr>
          <p:cNvSpPr>
            <a:spLocks noGrp="1"/>
          </p:cNvSpPr>
          <p:nvPr>
            <p:ph type="sldNum" sz="quarter" idx="12"/>
          </p:nvPr>
        </p:nvSpPr>
        <p:spPr/>
        <p:txBody>
          <a:bodyPr/>
          <a:lstStyle/>
          <a:p>
            <a:fld id="{C70AC583-F9E3-4A59-98F2-FD7379A90CB7}" type="slidenum">
              <a:rPr lang="en-IN" smtClean="0"/>
              <a:pPr/>
              <a:t>12</a:t>
            </a:fld>
            <a:endParaRPr lang="en-IN" b="0" dirty="0"/>
          </a:p>
        </p:txBody>
      </p:sp>
    </p:spTree>
    <p:extLst>
      <p:ext uri="{BB962C8B-B14F-4D97-AF65-F5344CB8AC3E}">
        <p14:creationId xmlns:p14="http://schemas.microsoft.com/office/powerpoint/2010/main" val="2605007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F0515-EF01-B147-024A-B7E4E8DBE8A2}"/>
              </a:ext>
            </a:extLst>
          </p:cNvPr>
          <p:cNvSpPr>
            <a:spLocks noGrp="1"/>
          </p:cNvSpPr>
          <p:nvPr>
            <p:ph type="title"/>
          </p:nvPr>
        </p:nvSpPr>
        <p:spPr/>
        <p:txBody>
          <a:bodyPr/>
          <a:lstStyle/>
          <a:p>
            <a:r>
              <a:rPr lang="en-IN" dirty="0"/>
              <a:t>Kano Model</a:t>
            </a:r>
          </a:p>
        </p:txBody>
      </p:sp>
      <p:sp>
        <p:nvSpPr>
          <p:cNvPr id="3" name="Content Placeholder 2">
            <a:extLst>
              <a:ext uri="{FF2B5EF4-FFF2-40B4-BE49-F238E27FC236}">
                <a16:creationId xmlns:a16="http://schemas.microsoft.com/office/drawing/2014/main" id="{AF1E6D26-E705-01B7-7AA8-97DC79B0FF52}"/>
              </a:ext>
            </a:extLst>
          </p:cNvPr>
          <p:cNvSpPr>
            <a:spLocks noGrp="1"/>
          </p:cNvSpPr>
          <p:nvPr>
            <p:ph idx="1"/>
          </p:nvPr>
        </p:nvSpPr>
        <p:spPr/>
        <p:txBody>
          <a:bodyPr>
            <a:normAutofit fontScale="85000" lnSpcReduction="10000"/>
          </a:bodyPr>
          <a:lstStyle/>
          <a:p>
            <a:r>
              <a:rPr lang="en-US" dirty="0"/>
              <a:t>The Kano model was introduced in 1984 by Noriaki Kano and was created to help companies learn how to build better products to “delight” the customers.</a:t>
            </a:r>
          </a:p>
          <a:p>
            <a:r>
              <a:rPr lang="en-US" dirty="0"/>
              <a:t>The model assists with the prioritization process because it breaks down features into three categories. </a:t>
            </a:r>
          </a:p>
          <a:p>
            <a:r>
              <a:rPr lang="en-US" dirty="0"/>
              <a:t>The first is </a:t>
            </a:r>
            <a:r>
              <a:rPr lang="en-US" b="1" dirty="0"/>
              <a:t>basic needs</a:t>
            </a:r>
            <a:r>
              <a:rPr lang="en-US" dirty="0"/>
              <a:t>, which are sometimes referred to as satisfiers/dissatisfiers. </a:t>
            </a:r>
          </a:p>
          <a:p>
            <a:r>
              <a:rPr lang="en-US" dirty="0"/>
              <a:t>These are the features that must be there for the product to work, in the eyes of the customer: The functionality is expected, and if it is not included, it causes great dissatisfaction. </a:t>
            </a:r>
          </a:p>
          <a:p>
            <a:r>
              <a:rPr lang="en-US" dirty="0"/>
              <a:t>After a consumer’s basic needs are met, then there are </a:t>
            </a:r>
            <a:r>
              <a:rPr lang="en-US" b="1" dirty="0"/>
              <a:t>performance needs</a:t>
            </a:r>
            <a:r>
              <a:rPr lang="en-US" dirty="0"/>
              <a:t>, which add necessary functionality to enhance the user experience. </a:t>
            </a:r>
          </a:p>
          <a:p>
            <a:r>
              <a:rPr lang="en-US" dirty="0"/>
              <a:t>The final category, which results in true product differentiation, consists of </a:t>
            </a:r>
            <a:r>
              <a:rPr lang="en-US" b="1" dirty="0"/>
              <a:t>features that delight or excite </a:t>
            </a:r>
            <a:r>
              <a:rPr lang="en-US" dirty="0"/>
              <a:t>users, and they are an unexpected bonus from the consumer’s viewpoint.</a:t>
            </a:r>
            <a:endParaRPr lang="en-IN" dirty="0"/>
          </a:p>
        </p:txBody>
      </p:sp>
      <p:sp>
        <p:nvSpPr>
          <p:cNvPr id="4" name="Slide Number Placeholder 3">
            <a:extLst>
              <a:ext uri="{FF2B5EF4-FFF2-40B4-BE49-F238E27FC236}">
                <a16:creationId xmlns:a16="http://schemas.microsoft.com/office/drawing/2014/main" id="{5BBF67D6-2ED5-01E7-8CB8-6FF27C0D305C}"/>
              </a:ext>
            </a:extLst>
          </p:cNvPr>
          <p:cNvSpPr>
            <a:spLocks noGrp="1"/>
          </p:cNvSpPr>
          <p:nvPr>
            <p:ph type="sldNum" sz="quarter" idx="12"/>
          </p:nvPr>
        </p:nvSpPr>
        <p:spPr/>
        <p:txBody>
          <a:bodyPr/>
          <a:lstStyle/>
          <a:p>
            <a:fld id="{C70AC583-F9E3-4A59-98F2-FD7379A90CB7}" type="slidenum">
              <a:rPr lang="en-IN" smtClean="0"/>
              <a:pPr/>
              <a:t>13</a:t>
            </a:fld>
            <a:endParaRPr lang="en-IN" b="0" dirty="0"/>
          </a:p>
        </p:txBody>
      </p:sp>
    </p:spTree>
    <p:extLst>
      <p:ext uri="{BB962C8B-B14F-4D97-AF65-F5344CB8AC3E}">
        <p14:creationId xmlns:p14="http://schemas.microsoft.com/office/powerpoint/2010/main" val="2558945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8D264-E7DE-1938-07BD-8CA610D3B2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20A2AA-047A-8548-E65F-B7962533534D}"/>
              </a:ext>
            </a:extLst>
          </p:cNvPr>
          <p:cNvSpPr>
            <a:spLocks noGrp="1"/>
          </p:cNvSpPr>
          <p:nvPr>
            <p:ph type="title"/>
          </p:nvPr>
        </p:nvSpPr>
        <p:spPr/>
        <p:txBody>
          <a:bodyPr/>
          <a:lstStyle/>
          <a:p>
            <a:r>
              <a:rPr lang="en-IN" dirty="0"/>
              <a:t>Kano Model</a:t>
            </a:r>
          </a:p>
        </p:txBody>
      </p:sp>
      <p:sp>
        <p:nvSpPr>
          <p:cNvPr id="3" name="Content Placeholder 2">
            <a:extLst>
              <a:ext uri="{FF2B5EF4-FFF2-40B4-BE49-F238E27FC236}">
                <a16:creationId xmlns:a16="http://schemas.microsoft.com/office/drawing/2014/main" id="{58BD990D-577C-AA6D-453E-348962F9B86B}"/>
              </a:ext>
            </a:extLst>
          </p:cNvPr>
          <p:cNvSpPr>
            <a:spLocks noGrp="1"/>
          </p:cNvSpPr>
          <p:nvPr>
            <p:ph idx="1"/>
          </p:nvPr>
        </p:nvSpPr>
        <p:spPr/>
        <p:txBody>
          <a:bodyPr>
            <a:normAutofit/>
          </a:bodyPr>
          <a:lstStyle/>
          <a:p>
            <a:r>
              <a:rPr lang="en-US" dirty="0"/>
              <a:t>The challenge when it comes to prioritization is to focus on enough of the basic needs, performance needs, and delighters to deliver a compelling product to the marketplace. </a:t>
            </a:r>
          </a:p>
          <a:p>
            <a:r>
              <a:rPr lang="en-US" dirty="0"/>
              <a:t>If you have a product with only delighters but no basic needs, then you might have something really innovative that does not work. </a:t>
            </a:r>
          </a:p>
          <a:p>
            <a:r>
              <a:rPr lang="en-US" dirty="0"/>
              <a:t>Conversely, if you have something that satisfies every basic need but does not delight, then customers may not be compelled to buy it because it does not offer anything special or different from the competition.</a:t>
            </a:r>
            <a:endParaRPr lang="en-IN" dirty="0"/>
          </a:p>
        </p:txBody>
      </p:sp>
      <p:sp>
        <p:nvSpPr>
          <p:cNvPr id="4" name="Slide Number Placeholder 3">
            <a:extLst>
              <a:ext uri="{FF2B5EF4-FFF2-40B4-BE49-F238E27FC236}">
                <a16:creationId xmlns:a16="http://schemas.microsoft.com/office/drawing/2014/main" id="{59E39D14-8305-43F5-7869-98115AF2A167}"/>
              </a:ext>
            </a:extLst>
          </p:cNvPr>
          <p:cNvSpPr>
            <a:spLocks noGrp="1"/>
          </p:cNvSpPr>
          <p:nvPr>
            <p:ph type="sldNum" sz="quarter" idx="12"/>
          </p:nvPr>
        </p:nvSpPr>
        <p:spPr/>
        <p:txBody>
          <a:bodyPr/>
          <a:lstStyle/>
          <a:p>
            <a:fld id="{C70AC583-F9E3-4A59-98F2-FD7379A90CB7}" type="slidenum">
              <a:rPr lang="en-IN" smtClean="0"/>
              <a:pPr/>
              <a:t>14</a:t>
            </a:fld>
            <a:endParaRPr lang="en-IN" b="0" dirty="0"/>
          </a:p>
        </p:txBody>
      </p:sp>
    </p:spTree>
    <p:extLst>
      <p:ext uri="{BB962C8B-B14F-4D97-AF65-F5344CB8AC3E}">
        <p14:creationId xmlns:p14="http://schemas.microsoft.com/office/powerpoint/2010/main" val="14101590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5D7EB-5639-7C63-D679-F238B57E78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F8C47D-AD79-3BAC-9CB4-93E89D841373}"/>
              </a:ext>
            </a:extLst>
          </p:cNvPr>
          <p:cNvSpPr>
            <a:spLocks noGrp="1"/>
          </p:cNvSpPr>
          <p:nvPr>
            <p:ph type="title"/>
          </p:nvPr>
        </p:nvSpPr>
        <p:spPr/>
        <p:txBody>
          <a:bodyPr/>
          <a:lstStyle/>
          <a:p>
            <a:r>
              <a:rPr lang="en-IN" dirty="0"/>
              <a:t>Kano Model</a:t>
            </a:r>
          </a:p>
        </p:txBody>
      </p:sp>
      <p:sp>
        <p:nvSpPr>
          <p:cNvPr id="3" name="Content Placeholder 2">
            <a:extLst>
              <a:ext uri="{FF2B5EF4-FFF2-40B4-BE49-F238E27FC236}">
                <a16:creationId xmlns:a16="http://schemas.microsoft.com/office/drawing/2014/main" id="{FB00CC85-CF63-E173-36DE-9D3743048915}"/>
              </a:ext>
            </a:extLst>
          </p:cNvPr>
          <p:cNvSpPr>
            <a:spLocks noGrp="1"/>
          </p:cNvSpPr>
          <p:nvPr>
            <p:ph idx="1"/>
          </p:nvPr>
        </p:nvSpPr>
        <p:spPr/>
        <p:txBody>
          <a:bodyPr>
            <a:normAutofit fontScale="92500"/>
          </a:bodyPr>
          <a:lstStyle/>
          <a:p>
            <a:r>
              <a:rPr lang="en-US" dirty="0"/>
              <a:t>Another aspect of the Kano model that is critical to understand is the evolution of the feature categorization: </a:t>
            </a:r>
          </a:p>
          <a:p>
            <a:r>
              <a:rPr lang="en-US" dirty="0"/>
              <a:t>Over time, delighters will become performance needs, and performance needs will become basic needs. </a:t>
            </a:r>
          </a:p>
          <a:p>
            <a:r>
              <a:rPr lang="en-US" dirty="0"/>
              <a:t>To illustrate this concept, think of the first iPad that you experienced. It had a number of features that delighted: </a:t>
            </a:r>
          </a:p>
          <a:p>
            <a:r>
              <a:rPr lang="en-US" dirty="0"/>
              <a:t>The touchscreen with the swiping capabilities was awe inspiring when first encountered, but now if we see a tablet that is not a touchscreen, it is completely dissatisfying. </a:t>
            </a:r>
          </a:p>
          <a:p>
            <a:r>
              <a:rPr lang="en-US" dirty="0"/>
              <a:t>The delighters have become basic needs as the competition has evolved and the technology has advanced. </a:t>
            </a:r>
          </a:p>
          <a:p>
            <a:r>
              <a:rPr lang="en-US" dirty="0"/>
              <a:t>Therefore, companies must continue to prioritize delighter features if they want to remain innovative.</a:t>
            </a:r>
            <a:endParaRPr lang="en-IN" dirty="0"/>
          </a:p>
        </p:txBody>
      </p:sp>
      <p:sp>
        <p:nvSpPr>
          <p:cNvPr id="4" name="Slide Number Placeholder 3">
            <a:extLst>
              <a:ext uri="{FF2B5EF4-FFF2-40B4-BE49-F238E27FC236}">
                <a16:creationId xmlns:a16="http://schemas.microsoft.com/office/drawing/2014/main" id="{370AA04F-D52C-6FFF-B46E-DC40CDC44B74}"/>
              </a:ext>
            </a:extLst>
          </p:cNvPr>
          <p:cNvSpPr>
            <a:spLocks noGrp="1"/>
          </p:cNvSpPr>
          <p:nvPr>
            <p:ph type="sldNum" sz="quarter" idx="12"/>
          </p:nvPr>
        </p:nvSpPr>
        <p:spPr/>
        <p:txBody>
          <a:bodyPr/>
          <a:lstStyle/>
          <a:p>
            <a:fld id="{C70AC583-F9E3-4A59-98F2-FD7379A90CB7}" type="slidenum">
              <a:rPr lang="en-IN" smtClean="0"/>
              <a:pPr/>
              <a:t>15</a:t>
            </a:fld>
            <a:endParaRPr lang="en-IN" b="0" dirty="0"/>
          </a:p>
        </p:txBody>
      </p:sp>
    </p:spTree>
    <p:extLst>
      <p:ext uri="{BB962C8B-B14F-4D97-AF65-F5344CB8AC3E}">
        <p14:creationId xmlns:p14="http://schemas.microsoft.com/office/powerpoint/2010/main" val="18580126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6AE4B-B3BD-6181-4702-1E7362B1C021}"/>
              </a:ext>
            </a:extLst>
          </p:cNvPr>
          <p:cNvSpPr>
            <a:spLocks noGrp="1"/>
          </p:cNvSpPr>
          <p:nvPr>
            <p:ph type="title"/>
          </p:nvPr>
        </p:nvSpPr>
        <p:spPr/>
        <p:txBody>
          <a:bodyPr/>
          <a:lstStyle/>
          <a:p>
            <a:r>
              <a:rPr lang="en-IN"/>
              <a:t>Estimating</a:t>
            </a:r>
          </a:p>
        </p:txBody>
      </p:sp>
      <p:sp>
        <p:nvSpPr>
          <p:cNvPr id="3" name="Content Placeholder 2">
            <a:extLst>
              <a:ext uri="{FF2B5EF4-FFF2-40B4-BE49-F238E27FC236}">
                <a16:creationId xmlns:a16="http://schemas.microsoft.com/office/drawing/2014/main" id="{3574AC1B-B811-37EF-224C-73F56B2505DE}"/>
              </a:ext>
            </a:extLst>
          </p:cNvPr>
          <p:cNvSpPr>
            <a:spLocks noGrp="1"/>
          </p:cNvSpPr>
          <p:nvPr>
            <p:ph idx="1"/>
          </p:nvPr>
        </p:nvSpPr>
        <p:spPr/>
        <p:txBody>
          <a:bodyPr/>
          <a:lstStyle/>
          <a:p>
            <a:r>
              <a:rPr lang="en-US" dirty="0"/>
              <a:t>In addition to effective prioritization, grooming and planning sessions require sound estimates for how long the work is likely to take. </a:t>
            </a:r>
          </a:p>
          <a:p>
            <a:r>
              <a:rPr lang="en-US" dirty="0"/>
              <a:t>There are a number of different ways to come up with the estimates, just as there are many different ways to prioritize the feature requests.</a:t>
            </a:r>
            <a:endParaRPr lang="en-IN" dirty="0"/>
          </a:p>
        </p:txBody>
      </p:sp>
      <p:sp>
        <p:nvSpPr>
          <p:cNvPr id="4" name="Slide Number Placeholder 3">
            <a:extLst>
              <a:ext uri="{FF2B5EF4-FFF2-40B4-BE49-F238E27FC236}">
                <a16:creationId xmlns:a16="http://schemas.microsoft.com/office/drawing/2014/main" id="{88D40B72-5288-8ADB-4606-91188BB9D6AD}"/>
              </a:ext>
            </a:extLst>
          </p:cNvPr>
          <p:cNvSpPr>
            <a:spLocks noGrp="1"/>
          </p:cNvSpPr>
          <p:nvPr>
            <p:ph type="sldNum" sz="quarter" idx="12"/>
          </p:nvPr>
        </p:nvSpPr>
        <p:spPr/>
        <p:txBody>
          <a:bodyPr/>
          <a:lstStyle/>
          <a:p>
            <a:fld id="{C70AC583-F9E3-4A59-98F2-FD7379A90CB7}" type="slidenum">
              <a:rPr lang="en-IN" smtClean="0"/>
              <a:pPr/>
              <a:t>16</a:t>
            </a:fld>
            <a:endParaRPr lang="en-IN" b="0" dirty="0"/>
          </a:p>
        </p:txBody>
      </p:sp>
    </p:spTree>
    <p:extLst>
      <p:ext uri="{BB962C8B-B14F-4D97-AF65-F5344CB8AC3E}">
        <p14:creationId xmlns:p14="http://schemas.microsoft.com/office/powerpoint/2010/main" val="37224291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E8E7-7A8D-C560-CD28-6BB4445EFA71}"/>
              </a:ext>
            </a:extLst>
          </p:cNvPr>
          <p:cNvSpPr>
            <a:spLocks noGrp="1"/>
          </p:cNvSpPr>
          <p:nvPr>
            <p:ph type="title"/>
          </p:nvPr>
        </p:nvSpPr>
        <p:spPr/>
        <p:txBody>
          <a:bodyPr/>
          <a:lstStyle/>
          <a:p>
            <a:r>
              <a:rPr lang="en-US" dirty="0"/>
              <a:t>Level of Effort (LOE) or T-Shirt Sizing</a:t>
            </a:r>
            <a:endParaRPr lang="en-IN" dirty="0"/>
          </a:p>
        </p:txBody>
      </p:sp>
      <p:sp>
        <p:nvSpPr>
          <p:cNvPr id="3" name="Content Placeholder 2">
            <a:extLst>
              <a:ext uri="{FF2B5EF4-FFF2-40B4-BE49-F238E27FC236}">
                <a16:creationId xmlns:a16="http://schemas.microsoft.com/office/drawing/2014/main" id="{D16A0F9D-1F5A-0E31-4578-CF0ADBE6B887}"/>
              </a:ext>
            </a:extLst>
          </p:cNvPr>
          <p:cNvSpPr>
            <a:spLocks noGrp="1"/>
          </p:cNvSpPr>
          <p:nvPr>
            <p:ph idx="1"/>
          </p:nvPr>
        </p:nvSpPr>
        <p:spPr/>
        <p:txBody>
          <a:bodyPr>
            <a:normAutofit/>
          </a:bodyPr>
          <a:lstStyle/>
          <a:p>
            <a:r>
              <a:rPr lang="en-US" dirty="0"/>
              <a:t>Perhaps the least precise but easiest method of estimating goes by one of the following names: “T-shirt size,” “level of effort” (LOE), or “small, medium, </a:t>
            </a:r>
            <a:r>
              <a:rPr lang="en-IN" dirty="0"/>
              <a:t>large.”</a:t>
            </a:r>
          </a:p>
          <a:p>
            <a:r>
              <a:rPr lang="en-US" dirty="0"/>
              <a:t>The last title is the most descriptive because the development team just estimates each story as small, medium, or large; teams may add extra-small and extra-large, depending on what they have decided as their measure. </a:t>
            </a:r>
          </a:p>
          <a:p>
            <a:r>
              <a:rPr lang="en-US" dirty="0"/>
              <a:t>The advantages of this approach are that it is very simple and can be done quickly; the disadvantages include a lack of precision and an inability to add up several stories into a meaningful measure.</a:t>
            </a:r>
            <a:endParaRPr lang="en-IN" dirty="0"/>
          </a:p>
        </p:txBody>
      </p:sp>
      <p:sp>
        <p:nvSpPr>
          <p:cNvPr id="4" name="Slide Number Placeholder 3">
            <a:extLst>
              <a:ext uri="{FF2B5EF4-FFF2-40B4-BE49-F238E27FC236}">
                <a16:creationId xmlns:a16="http://schemas.microsoft.com/office/drawing/2014/main" id="{234B864E-6888-6086-82A3-3E5970C130A7}"/>
              </a:ext>
            </a:extLst>
          </p:cNvPr>
          <p:cNvSpPr>
            <a:spLocks noGrp="1"/>
          </p:cNvSpPr>
          <p:nvPr>
            <p:ph type="sldNum" sz="quarter" idx="12"/>
          </p:nvPr>
        </p:nvSpPr>
        <p:spPr/>
        <p:txBody>
          <a:bodyPr/>
          <a:lstStyle/>
          <a:p>
            <a:fld id="{C70AC583-F9E3-4A59-98F2-FD7379A90CB7}" type="slidenum">
              <a:rPr lang="en-IN" smtClean="0"/>
              <a:pPr/>
              <a:t>17</a:t>
            </a:fld>
            <a:endParaRPr lang="en-IN" b="0" dirty="0"/>
          </a:p>
        </p:txBody>
      </p:sp>
    </p:spTree>
    <p:extLst>
      <p:ext uri="{BB962C8B-B14F-4D97-AF65-F5344CB8AC3E}">
        <p14:creationId xmlns:p14="http://schemas.microsoft.com/office/powerpoint/2010/main" val="22835332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E45D0-9F03-F108-950C-457C744DD7E5}"/>
              </a:ext>
            </a:extLst>
          </p:cNvPr>
          <p:cNvSpPr>
            <a:spLocks noGrp="1"/>
          </p:cNvSpPr>
          <p:nvPr>
            <p:ph type="title"/>
          </p:nvPr>
        </p:nvSpPr>
        <p:spPr/>
        <p:txBody>
          <a:bodyPr/>
          <a:lstStyle/>
          <a:p>
            <a:r>
              <a:rPr lang="en-US" dirty="0"/>
              <a:t>Ideal Time (Days or Hours)</a:t>
            </a:r>
            <a:endParaRPr lang="en-IN" dirty="0"/>
          </a:p>
        </p:txBody>
      </p:sp>
      <p:sp>
        <p:nvSpPr>
          <p:cNvPr id="3" name="Content Placeholder 2">
            <a:extLst>
              <a:ext uri="{FF2B5EF4-FFF2-40B4-BE49-F238E27FC236}">
                <a16:creationId xmlns:a16="http://schemas.microsoft.com/office/drawing/2014/main" id="{17FD74A7-651A-47AE-3AAC-6135CE7A4DE6}"/>
              </a:ext>
            </a:extLst>
          </p:cNvPr>
          <p:cNvSpPr>
            <a:spLocks noGrp="1"/>
          </p:cNvSpPr>
          <p:nvPr>
            <p:ph idx="1"/>
          </p:nvPr>
        </p:nvSpPr>
        <p:spPr/>
        <p:txBody>
          <a:bodyPr>
            <a:normAutofit/>
          </a:bodyPr>
          <a:lstStyle/>
          <a:p>
            <a:r>
              <a:rPr lang="en-US" dirty="0"/>
              <a:t>In this form of estimating, the developer determines the amount of time that a task would take under ideal circumstances—meaning no interruptions, no meetings, and no phone calls—and that is set as the ideal time. </a:t>
            </a:r>
          </a:p>
          <a:p>
            <a:r>
              <a:rPr lang="en-US" dirty="0"/>
              <a:t>This is an easier metric for developers to assign than actual clock time because it is difficult for them to factor in all of the possible interruptions that might occur. </a:t>
            </a:r>
          </a:p>
          <a:p>
            <a:r>
              <a:rPr lang="en-US" dirty="0"/>
              <a:t>Each organization will have some factor that is applied to convert ideal time to clock time; a ratio of 2 to 1 is fairly common, meaning that within every hour, 40 minutes are spent on concentrated work, with the other 20 minutes consumed by interruptions or breaks</a:t>
            </a:r>
            <a:endParaRPr lang="en-IN" dirty="0"/>
          </a:p>
        </p:txBody>
      </p:sp>
      <p:sp>
        <p:nvSpPr>
          <p:cNvPr id="4" name="Slide Number Placeholder 3">
            <a:extLst>
              <a:ext uri="{FF2B5EF4-FFF2-40B4-BE49-F238E27FC236}">
                <a16:creationId xmlns:a16="http://schemas.microsoft.com/office/drawing/2014/main" id="{0AF4899F-AA20-CAF0-408E-5CDA83FB1DF4}"/>
              </a:ext>
            </a:extLst>
          </p:cNvPr>
          <p:cNvSpPr>
            <a:spLocks noGrp="1"/>
          </p:cNvSpPr>
          <p:nvPr>
            <p:ph type="sldNum" sz="quarter" idx="12"/>
          </p:nvPr>
        </p:nvSpPr>
        <p:spPr/>
        <p:txBody>
          <a:bodyPr/>
          <a:lstStyle/>
          <a:p>
            <a:fld id="{C70AC583-F9E3-4A59-98F2-FD7379A90CB7}" type="slidenum">
              <a:rPr lang="en-IN" smtClean="0"/>
              <a:pPr/>
              <a:t>18</a:t>
            </a:fld>
            <a:endParaRPr lang="en-IN" b="0" dirty="0"/>
          </a:p>
        </p:txBody>
      </p:sp>
    </p:spTree>
    <p:extLst>
      <p:ext uri="{BB962C8B-B14F-4D97-AF65-F5344CB8AC3E}">
        <p14:creationId xmlns:p14="http://schemas.microsoft.com/office/powerpoint/2010/main" val="16827898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03967-A961-5D59-7F13-67C12FE45E97}"/>
              </a:ext>
            </a:extLst>
          </p:cNvPr>
          <p:cNvSpPr>
            <a:spLocks noGrp="1"/>
          </p:cNvSpPr>
          <p:nvPr>
            <p:ph type="title"/>
          </p:nvPr>
        </p:nvSpPr>
        <p:spPr/>
        <p:txBody>
          <a:bodyPr/>
          <a:lstStyle/>
          <a:p>
            <a:r>
              <a:rPr lang="en-IN" dirty="0"/>
              <a:t>Story Points</a:t>
            </a:r>
          </a:p>
        </p:txBody>
      </p:sp>
      <p:sp>
        <p:nvSpPr>
          <p:cNvPr id="3" name="Content Placeholder 2">
            <a:extLst>
              <a:ext uri="{FF2B5EF4-FFF2-40B4-BE49-F238E27FC236}">
                <a16:creationId xmlns:a16="http://schemas.microsoft.com/office/drawing/2014/main" id="{41BBD282-C7A3-DF9C-A810-E02CCEF42997}"/>
              </a:ext>
            </a:extLst>
          </p:cNvPr>
          <p:cNvSpPr>
            <a:spLocks noGrp="1"/>
          </p:cNvSpPr>
          <p:nvPr>
            <p:ph idx="1"/>
          </p:nvPr>
        </p:nvSpPr>
        <p:spPr/>
        <p:txBody>
          <a:bodyPr/>
          <a:lstStyle/>
          <a:p>
            <a:r>
              <a:rPr lang="en-US" dirty="0"/>
              <a:t>In Scrum, many teams use the concept of “story points,” which are an arbitrary measure that allows the teams to understand the size of the effort without the potentially binding expectations that come with hours.</a:t>
            </a:r>
            <a:endParaRPr lang="en-IN" dirty="0"/>
          </a:p>
        </p:txBody>
      </p:sp>
      <p:sp>
        <p:nvSpPr>
          <p:cNvPr id="4" name="Slide Number Placeholder 3">
            <a:extLst>
              <a:ext uri="{FF2B5EF4-FFF2-40B4-BE49-F238E27FC236}">
                <a16:creationId xmlns:a16="http://schemas.microsoft.com/office/drawing/2014/main" id="{CF46D8A6-548F-76DC-6E25-4EFA282509ED}"/>
              </a:ext>
            </a:extLst>
          </p:cNvPr>
          <p:cNvSpPr>
            <a:spLocks noGrp="1"/>
          </p:cNvSpPr>
          <p:nvPr>
            <p:ph type="sldNum" sz="quarter" idx="12"/>
          </p:nvPr>
        </p:nvSpPr>
        <p:spPr/>
        <p:txBody>
          <a:bodyPr/>
          <a:lstStyle/>
          <a:p>
            <a:fld id="{C70AC583-F9E3-4A59-98F2-FD7379A90CB7}" type="slidenum">
              <a:rPr lang="en-IN" smtClean="0"/>
              <a:pPr/>
              <a:t>19</a:t>
            </a:fld>
            <a:endParaRPr lang="en-IN" b="0" dirty="0"/>
          </a:p>
        </p:txBody>
      </p:sp>
    </p:spTree>
    <p:extLst>
      <p:ext uri="{BB962C8B-B14F-4D97-AF65-F5344CB8AC3E}">
        <p14:creationId xmlns:p14="http://schemas.microsoft.com/office/powerpoint/2010/main" val="42087330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22CCD-CB36-0A97-8D01-8DB7925BC9A4}"/>
              </a:ext>
            </a:extLst>
          </p:cNvPr>
          <p:cNvSpPr>
            <a:spLocks noGrp="1"/>
          </p:cNvSpPr>
          <p:nvPr>
            <p:ph type="title"/>
          </p:nvPr>
        </p:nvSpPr>
        <p:spPr/>
        <p:txBody>
          <a:bodyPr/>
          <a:lstStyle/>
          <a:p>
            <a:r>
              <a:rPr lang="en-IN" dirty="0"/>
              <a:t>Fibonacci Sequence</a:t>
            </a:r>
          </a:p>
        </p:txBody>
      </p:sp>
      <p:sp>
        <p:nvSpPr>
          <p:cNvPr id="3" name="Content Placeholder 2">
            <a:extLst>
              <a:ext uri="{FF2B5EF4-FFF2-40B4-BE49-F238E27FC236}">
                <a16:creationId xmlns:a16="http://schemas.microsoft.com/office/drawing/2014/main" id="{DFB22CE2-9790-7A55-2C1E-4EB50E5D8321}"/>
              </a:ext>
            </a:extLst>
          </p:cNvPr>
          <p:cNvSpPr>
            <a:spLocks noGrp="1"/>
          </p:cNvSpPr>
          <p:nvPr>
            <p:ph idx="1"/>
          </p:nvPr>
        </p:nvSpPr>
        <p:spPr>
          <a:xfrm>
            <a:off x="266330" y="1020932"/>
            <a:ext cx="8611340" cy="5560843"/>
          </a:xfrm>
        </p:spPr>
        <p:txBody>
          <a:bodyPr>
            <a:normAutofit fontScale="92500" lnSpcReduction="10000"/>
          </a:bodyPr>
          <a:lstStyle/>
          <a:p>
            <a:r>
              <a:rPr lang="en-US" dirty="0"/>
              <a:t>When estimating in story points, many teams use the Fibonacci sequence, a mathematical tool defined in the thirteenth century for rational approximations.</a:t>
            </a:r>
          </a:p>
          <a:p>
            <a:r>
              <a:rPr lang="en-US" dirty="0"/>
              <a:t>The sequence is the sum of the prior two numbers: 1, 2, 3, 5, 8, 13, 21; </a:t>
            </a:r>
          </a:p>
          <a:p>
            <a:r>
              <a:rPr lang="en-US" dirty="0"/>
              <a:t>as you can see, 1 + 2 = 3, 2 + 3 = 5, 3 + 5 = 8, and so on. </a:t>
            </a:r>
          </a:p>
          <a:p>
            <a:r>
              <a:rPr lang="en-US" dirty="0"/>
              <a:t>The Fibonacci sequence is helpful for Agile estimating because as the points get higher, the degree of uncertainty is increasing.</a:t>
            </a:r>
          </a:p>
          <a:p>
            <a:r>
              <a:rPr lang="en-US" dirty="0"/>
              <a:t>Also, many teams replace the 21 with 20 and add 40 and 100; the idea is that if a story is estimated at greater than 13 story points, there is a good chance that it is still an epic and needs to be broken down. </a:t>
            </a:r>
          </a:p>
          <a:p>
            <a:r>
              <a:rPr lang="en-US" dirty="0"/>
              <a:t>The difference between a 20, 40, or 100 is just a sense for the size of the epic.</a:t>
            </a:r>
            <a:endParaRPr lang="en-IN" dirty="0"/>
          </a:p>
        </p:txBody>
      </p:sp>
      <p:sp>
        <p:nvSpPr>
          <p:cNvPr id="4" name="Slide Number Placeholder 3">
            <a:extLst>
              <a:ext uri="{FF2B5EF4-FFF2-40B4-BE49-F238E27FC236}">
                <a16:creationId xmlns:a16="http://schemas.microsoft.com/office/drawing/2014/main" id="{B69629FA-622E-7B9A-31C1-579EFF94BE5D}"/>
              </a:ext>
            </a:extLst>
          </p:cNvPr>
          <p:cNvSpPr>
            <a:spLocks noGrp="1"/>
          </p:cNvSpPr>
          <p:nvPr>
            <p:ph type="sldNum" sz="quarter" idx="12"/>
          </p:nvPr>
        </p:nvSpPr>
        <p:spPr/>
        <p:txBody>
          <a:bodyPr/>
          <a:lstStyle/>
          <a:p>
            <a:fld id="{C70AC583-F9E3-4A59-98F2-FD7379A90CB7}" type="slidenum">
              <a:rPr lang="en-IN" smtClean="0"/>
              <a:pPr/>
              <a:t>20</a:t>
            </a:fld>
            <a:endParaRPr lang="en-IN" b="0" dirty="0"/>
          </a:p>
        </p:txBody>
      </p:sp>
    </p:spTree>
    <p:extLst>
      <p:ext uri="{BB962C8B-B14F-4D97-AF65-F5344CB8AC3E}">
        <p14:creationId xmlns:p14="http://schemas.microsoft.com/office/powerpoint/2010/main" val="2797670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0CF4E-86B5-3341-BE60-308851D150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20A973-1E13-D2A1-1325-EDEE40E73AC0}"/>
              </a:ext>
            </a:extLst>
          </p:cNvPr>
          <p:cNvSpPr>
            <a:spLocks noGrp="1"/>
          </p:cNvSpPr>
          <p:nvPr>
            <p:ph type="title"/>
          </p:nvPr>
        </p:nvSpPr>
        <p:spPr/>
        <p:txBody>
          <a:bodyPr/>
          <a:lstStyle/>
          <a:p>
            <a:r>
              <a:rPr lang="en-IN" dirty="0"/>
              <a:t>Fibonacci Sequence</a:t>
            </a:r>
          </a:p>
        </p:txBody>
      </p:sp>
      <p:sp>
        <p:nvSpPr>
          <p:cNvPr id="3" name="Content Placeholder 2">
            <a:extLst>
              <a:ext uri="{FF2B5EF4-FFF2-40B4-BE49-F238E27FC236}">
                <a16:creationId xmlns:a16="http://schemas.microsoft.com/office/drawing/2014/main" id="{6A7FD177-64ED-742D-29D5-0E2B7EFB9558}"/>
              </a:ext>
            </a:extLst>
          </p:cNvPr>
          <p:cNvSpPr>
            <a:spLocks noGrp="1"/>
          </p:cNvSpPr>
          <p:nvPr>
            <p:ph idx="1"/>
          </p:nvPr>
        </p:nvSpPr>
        <p:spPr>
          <a:xfrm>
            <a:off x="266330" y="1020932"/>
            <a:ext cx="8611340" cy="5560843"/>
          </a:xfrm>
        </p:spPr>
        <p:txBody>
          <a:bodyPr>
            <a:normAutofit/>
          </a:bodyPr>
          <a:lstStyle/>
          <a:p>
            <a:r>
              <a:rPr lang="en-US" dirty="0"/>
              <a:t>One additional thing to keep in mind is that unlike hours, which have a fixed and commonly understood definition, story points are more abstract and negotiable.</a:t>
            </a:r>
          </a:p>
          <a:p>
            <a:r>
              <a:rPr lang="en-US" dirty="0"/>
              <a:t>One team may assign 3 points to a story where that same story on another team would have been a 2 or a 5. </a:t>
            </a:r>
          </a:p>
          <a:p>
            <a:r>
              <a:rPr lang="en-US" dirty="0"/>
              <a:t>As long as everyone on the team agrees to the size of a story point, then only all of the estimating will be coherent.</a:t>
            </a:r>
            <a:endParaRPr lang="en-IN" dirty="0"/>
          </a:p>
        </p:txBody>
      </p:sp>
      <p:sp>
        <p:nvSpPr>
          <p:cNvPr id="4" name="Slide Number Placeholder 3">
            <a:extLst>
              <a:ext uri="{FF2B5EF4-FFF2-40B4-BE49-F238E27FC236}">
                <a16:creationId xmlns:a16="http://schemas.microsoft.com/office/drawing/2014/main" id="{63E5A95D-EEDB-3F69-D943-6744123091EB}"/>
              </a:ext>
            </a:extLst>
          </p:cNvPr>
          <p:cNvSpPr>
            <a:spLocks noGrp="1"/>
          </p:cNvSpPr>
          <p:nvPr>
            <p:ph type="sldNum" sz="quarter" idx="12"/>
          </p:nvPr>
        </p:nvSpPr>
        <p:spPr/>
        <p:txBody>
          <a:bodyPr/>
          <a:lstStyle/>
          <a:p>
            <a:fld id="{C70AC583-F9E3-4A59-98F2-FD7379A90CB7}" type="slidenum">
              <a:rPr lang="en-IN" smtClean="0"/>
              <a:pPr/>
              <a:t>21</a:t>
            </a:fld>
            <a:endParaRPr lang="en-IN" b="0" dirty="0"/>
          </a:p>
        </p:txBody>
      </p:sp>
    </p:spTree>
    <p:extLst>
      <p:ext uri="{BB962C8B-B14F-4D97-AF65-F5344CB8AC3E}">
        <p14:creationId xmlns:p14="http://schemas.microsoft.com/office/powerpoint/2010/main" val="12054706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D8CC1-DE72-6B0B-6F42-60C596CCB93C}"/>
              </a:ext>
            </a:extLst>
          </p:cNvPr>
          <p:cNvSpPr>
            <a:spLocks noGrp="1"/>
          </p:cNvSpPr>
          <p:nvPr>
            <p:ph type="title"/>
          </p:nvPr>
        </p:nvSpPr>
        <p:spPr/>
        <p:txBody>
          <a:bodyPr/>
          <a:lstStyle/>
          <a:p>
            <a:r>
              <a:rPr lang="en-IN" dirty="0"/>
              <a:t>Team Participation</a:t>
            </a:r>
          </a:p>
        </p:txBody>
      </p:sp>
      <p:sp>
        <p:nvSpPr>
          <p:cNvPr id="3" name="Content Placeholder 2">
            <a:extLst>
              <a:ext uri="{FF2B5EF4-FFF2-40B4-BE49-F238E27FC236}">
                <a16:creationId xmlns:a16="http://schemas.microsoft.com/office/drawing/2014/main" id="{D1A46CFD-1291-27D8-B49E-F928A164E487}"/>
              </a:ext>
            </a:extLst>
          </p:cNvPr>
          <p:cNvSpPr>
            <a:spLocks noGrp="1"/>
          </p:cNvSpPr>
          <p:nvPr>
            <p:ph idx="1"/>
          </p:nvPr>
        </p:nvSpPr>
        <p:spPr/>
        <p:txBody>
          <a:bodyPr/>
          <a:lstStyle/>
          <a:p>
            <a:r>
              <a:rPr lang="en-US" dirty="0"/>
              <a:t>How does an Agile team actually execute on the estimation process? In all instances, we are looking for participation from the developers and testers because we want to benefit from the wisdom of self-organizing teams. </a:t>
            </a:r>
          </a:p>
          <a:p>
            <a:r>
              <a:rPr lang="en-US" dirty="0"/>
              <a:t>Outlined next are several strategies that teams have used to come to consensus on estimation.</a:t>
            </a:r>
            <a:endParaRPr lang="en-IN" dirty="0"/>
          </a:p>
        </p:txBody>
      </p:sp>
      <p:sp>
        <p:nvSpPr>
          <p:cNvPr id="4" name="Slide Number Placeholder 3">
            <a:extLst>
              <a:ext uri="{FF2B5EF4-FFF2-40B4-BE49-F238E27FC236}">
                <a16:creationId xmlns:a16="http://schemas.microsoft.com/office/drawing/2014/main" id="{B32E8883-6ECD-7072-DE0D-64525CE54110}"/>
              </a:ext>
            </a:extLst>
          </p:cNvPr>
          <p:cNvSpPr>
            <a:spLocks noGrp="1"/>
          </p:cNvSpPr>
          <p:nvPr>
            <p:ph type="sldNum" sz="quarter" idx="12"/>
          </p:nvPr>
        </p:nvSpPr>
        <p:spPr/>
        <p:txBody>
          <a:bodyPr/>
          <a:lstStyle/>
          <a:p>
            <a:fld id="{C70AC583-F9E3-4A59-98F2-FD7379A90CB7}" type="slidenum">
              <a:rPr lang="en-IN" smtClean="0"/>
              <a:pPr/>
              <a:t>22</a:t>
            </a:fld>
            <a:endParaRPr lang="en-IN" b="0" dirty="0"/>
          </a:p>
        </p:txBody>
      </p:sp>
    </p:spTree>
    <p:extLst>
      <p:ext uri="{BB962C8B-B14F-4D97-AF65-F5344CB8AC3E}">
        <p14:creationId xmlns:p14="http://schemas.microsoft.com/office/powerpoint/2010/main" val="13580645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5C1BB-0D14-849E-4DCB-89471A15844D}"/>
              </a:ext>
            </a:extLst>
          </p:cNvPr>
          <p:cNvSpPr>
            <a:spLocks noGrp="1"/>
          </p:cNvSpPr>
          <p:nvPr>
            <p:ph type="title"/>
          </p:nvPr>
        </p:nvSpPr>
        <p:spPr/>
        <p:txBody>
          <a:bodyPr/>
          <a:lstStyle/>
          <a:p>
            <a:r>
              <a:rPr lang="en-IN"/>
              <a:t>Planning Poker</a:t>
            </a:r>
          </a:p>
        </p:txBody>
      </p:sp>
      <p:sp>
        <p:nvSpPr>
          <p:cNvPr id="3" name="Content Placeholder 2">
            <a:extLst>
              <a:ext uri="{FF2B5EF4-FFF2-40B4-BE49-F238E27FC236}">
                <a16:creationId xmlns:a16="http://schemas.microsoft.com/office/drawing/2014/main" id="{67E8FA08-B960-7BDC-9599-D50F8D8C76F3}"/>
              </a:ext>
            </a:extLst>
          </p:cNvPr>
          <p:cNvSpPr>
            <a:spLocks noGrp="1"/>
          </p:cNvSpPr>
          <p:nvPr>
            <p:ph idx="1"/>
          </p:nvPr>
        </p:nvSpPr>
        <p:spPr/>
        <p:txBody>
          <a:bodyPr>
            <a:normAutofit/>
          </a:bodyPr>
          <a:lstStyle/>
          <a:p>
            <a:r>
              <a:rPr lang="en-US" dirty="0"/>
              <a:t>Having the development team participate in the activity of estimating can have distinct advantages over asking a single developer to size a feature. </a:t>
            </a:r>
          </a:p>
          <a:p>
            <a:r>
              <a:rPr lang="en-US" dirty="0"/>
              <a:t>If the team is using story points, as just outlined, one of the fun and effective ways to increase engagement is through a game called “planning poker.” </a:t>
            </a:r>
          </a:p>
          <a:p>
            <a:r>
              <a:rPr lang="en-US" dirty="0"/>
              <a:t>Each team member is given a set of number cards with the modified Fibonacci sequence—1, 2, 3, 5, 8, 13, 20, 40, 100. </a:t>
            </a:r>
          </a:p>
          <a:p>
            <a:r>
              <a:rPr lang="en-US" dirty="0"/>
              <a:t>Sometimes teams use a regular deck of cards, using aces for 1 and the face cards for the larger numbers.</a:t>
            </a:r>
            <a:endParaRPr lang="en-IN" dirty="0"/>
          </a:p>
        </p:txBody>
      </p:sp>
      <p:sp>
        <p:nvSpPr>
          <p:cNvPr id="4" name="Slide Number Placeholder 3">
            <a:extLst>
              <a:ext uri="{FF2B5EF4-FFF2-40B4-BE49-F238E27FC236}">
                <a16:creationId xmlns:a16="http://schemas.microsoft.com/office/drawing/2014/main" id="{4EE5E6DA-86E8-6C8D-8F9D-62B658994C60}"/>
              </a:ext>
            </a:extLst>
          </p:cNvPr>
          <p:cNvSpPr>
            <a:spLocks noGrp="1"/>
          </p:cNvSpPr>
          <p:nvPr>
            <p:ph type="sldNum" sz="quarter" idx="12"/>
          </p:nvPr>
        </p:nvSpPr>
        <p:spPr/>
        <p:txBody>
          <a:bodyPr/>
          <a:lstStyle/>
          <a:p>
            <a:fld id="{C70AC583-F9E3-4A59-98F2-FD7379A90CB7}" type="slidenum">
              <a:rPr lang="en-IN" smtClean="0"/>
              <a:pPr/>
              <a:t>23</a:t>
            </a:fld>
            <a:endParaRPr lang="en-IN" b="0" dirty="0"/>
          </a:p>
        </p:txBody>
      </p:sp>
    </p:spTree>
    <p:extLst>
      <p:ext uri="{BB962C8B-B14F-4D97-AF65-F5344CB8AC3E}">
        <p14:creationId xmlns:p14="http://schemas.microsoft.com/office/powerpoint/2010/main" val="12700095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41662-BAB6-7686-BAED-936FBC3C08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AB2AE9-5772-DB3F-3286-803ED05225FA}"/>
              </a:ext>
            </a:extLst>
          </p:cNvPr>
          <p:cNvSpPr>
            <a:spLocks noGrp="1"/>
          </p:cNvSpPr>
          <p:nvPr>
            <p:ph type="title"/>
          </p:nvPr>
        </p:nvSpPr>
        <p:spPr/>
        <p:txBody>
          <a:bodyPr/>
          <a:lstStyle/>
          <a:p>
            <a:r>
              <a:rPr lang="en-IN"/>
              <a:t>Planning Poker</a:t>
            </a:r>
          </a:p>
        </p:txBody>
      </p:sp>
      <p:sp>
        <p:nvSpPr>
          <p:cNvPr id="3" name="Content Placeholder 2">
            <a:extLst>
              <a:ext uri="{FF2B5EF4-FFF2-40B4-BE49-F238E27FC236}">
                <a16:creationId xmlns:a16="http://schemas.microsoft.com/office/drawing/2014/main" id="{BA94F3BB-145B-17F2-1619-D2CB923A060A}"/>
              </a:ext>
            </a:extLst>
          </p:cNvPr>
          <p:cNvSpPr>
            <a:spLocks noGrp="1"/>
          </p:cNvSpPr>
          <p:nvPr>
            <p:ph idx="1"/>
          </p:nvPr>
        </p:nvSpPr>
        <p:spPr>
          <a:xfrm>
            <a:off x="266330" y="1020932"/>
            <a:ext cx="8611340" cy="5627518"/>
          </a:xfrm>
        </p:spPr>
        <p:txBody>
          <a:bodyPr>
            <a:normAutofit lnSpcReduction="10000"/>
          </a:bodyPr>
          <a:lstStyle/>
          <a:p>
            <a:r>
              <a:rPr lang="en-US" dirty="0"/>
              <a:t>After the product owner and the team have discussed the user story in detail and everyone believes they have an adequate understanding, the Scrum master or coach will call for each team member to lay down the card representing the number of story points that he or she assigns to this user story. </a:t>
            </a:r>
          </a:p>
          <a:p>
            <a:r>
              <a:rPr lang="en-US" dirty="0"/>
              <a:t>Many Scrum masters ask all team members to “throw” at the same time so that no one can be influenced by their teammates.</a:t>
            </a:r>
          </a:p>
          <a:p>
            <a:r>
              <a:rPr lang="en-US" dirty="0"/>
              <a:t>In addition to an estimated size, we are looking to see if there is a discrepancy.</a:t>
            </a:r>
          </a:p>
          <a:p>
            <a:r>
              <a:rPr lang="en-US" dirty="0"/>
              <a:t>If a user story is discussed and one team member throws a 2 but another throws a 13, then there is a difference that needs to be discussed.</a:t>
            </a:r>
            <a:endParaRPr lang="en-IN" dirty="0"/>
          </a:p>
        </p:txBody>
      </p:sp>
      <p:sp>
        <p:nvSpPr>
          <p:cNvPr id="4" name="Slide Number Placeholder 3">
            <a:extLst>
              <a:ext uri="{FF2B5EF4-FFF2-40B4-BE49-F238E27FC236}">
                <a16:creationId xmlns:a16="http://schemas.microsoft.com/office/drawing/2014/main" id="{ED510260-E5EB-F014-9AE1-E446E232A43F}"/>
              </a:ext>
            </a:extLst>
          </p:cNvPr>
          <p:cNvSpPr>
            <a:spLocks noGrp="1"/>
          </p:cNvSpPr>
          <p:nvPr>
            <p:ph type="sldNum" sz="quarter" idx="12"/>
          </p:nvPr>
        </p:nvSpPr>
        <p:spPr/>
        <p:txBody>
          <a:bodyPr/>
          <a:lstStyle/>
          <a:p>
            <a:fld id="{C70AC583-F9E3-4A59-98F2-FD7379A90CB7}" type="slidenum">
              <a:rPr lang="en-IN" smtClean="0"/>
              <a:pPr/>
              <a:t>24</a:t>
            </a:fld>
            <a:endParaRPr lang="en-IN" b="0" dirty="0"/>
          </a:p>
        </p:txBody>
      </p:sp>
    </p:spTree>
    <p:extLst>
      <p:ext uri="{BB962C8B-B14F-4D97-AF65-F5344CB8AC3E}">
        <p14:creationId xmlns:p14="http://schemas.microsoft.com/office/powerpoint/2010/main" val="9278494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93F58-1215-46A5-4110-B3C4912ED8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54FAC4-301C-1DCF-16A6-2B7E8B03B6B0}"/>
              </a:ext>
            </a:extLst>
          </p:cNvPr>
          <p:cNvSpPr>
            <a:spLocks noGrp="1"/>
          </p:cNvSpPr>
          <p:nvPr>
            <p:ph type="title"/>
          </p:nvPr>
        </p:nvSpPr>
        <p:spPr/>
        <p:txBody>
          <a:bodyPr/>
          <a:lstStyle/>
          <a:p>
            <a:r>
              <a:rPr lang="en-IN"/>
              <a:t>Planning Poker</a:t>
            </a:r>
          </a:p>
        </p:txBody>
      </p:sp>
      <p:sp>
        <p:nvSpPr>
          <p:cNvPr id="3" name="Content Placeholder 2">
            <a:extLst>
              <a:ext uri="{FF2B5EF4-FFF2-40B4-BE49-F238E27FC236}">
                <a16:creationId xmlns:a16="http://schemas.microsoft.com/office/drawing/2014/main" id="{8B0FE94D-842F-A816-92B7-8664FABE5C69}"/>
              </a:ext>
            </a:extLst>
          </p:cNvPr>
          <p:cNvSpPr>
            <a:spLocks noGrp="1"/>
          </p:cNvSpPr>
          <p:nvPr>
            <p:ph idx="1"/>
          </p:nvPr>
        </p:nvSpPr>
        <p:spPr>
          <a:xfrm>
            <a:off x="266330" y="1020932"/>
            <a:ext cx="8611340" cy="5627518"/>
          </a:xfrm>
        </p:spPr>
        <p:txBody>
          <a:bodyPr>
            <a:normAutofit lnSpcReduction="10000"/>
          </a:bodyPr>
          <a:lstStyle/>
          <a:p>
            <a:r>
              <a:rPr lang="en-US" dirty="0"/>
              <a:t>It does not mean that one person is right and the other is wrong; this actually identifies a lack of common understanding as it relates to the user story. </a:t>
            </a:r>
          </a:p>
          <a:p>
            <a:r>
              <a:rPr lang="en-US" dirty="0"/>
              <a:t>Just like all of the other opportunities within Agile for collaboration and discussion, this discrepancy should be explored. </a:t>
            </a:r>
          </a:p>
          <a:p>
            <a:r>
              <a:rPr lang="en-US" dirty="0"/>
              <a:t>Why did the developer who threw the 13 think that this task was so big? </a:t>
            </a:r>
          </a:p>
          <a:p>
            <a:r>
              <a:rPr lang="en-US" dirty="0"/>
              <a:t>Is there a point of interconnection that the other developer (who threw the 2) was not thinking of? </a:t>
            </a:r>
          </a:p>
          <a:p>
            <a:r>
              <a:rPr lang="en-US" dirty="0"/>
              <a:t>Did they just understand the request differently? </a:t>
            </a:r>
          </a:p>
          <a:p>
            <a:r>
              <a:rPr lang="en-US" dirty="0"/>
              <a:t>Or has the low estimator done something like this before, so he or she is very confident in that assessment?</a:t>
            </a:r>
            <a:endParaRPr lang="en-IN" dirty="0"/>
          </a:p>
        </p:txBody>
      </p:sp>
      <p:sp>
        <p:nvSpPr>
          <p:cNvPr id="4" name="Slide Number Placeholder 3">
            <a:extLst>
              <a:ext uri="{FF2B5EF4-FFF2-40B4-BE49-F238E27FC236}">
                <a16:creationId xmlns:a16="http://schemas.microsoft.com/office/drawing/2014/main" id="{87C8BF39-B2E2-1DD4-0CBA-D09B208F9708}"/>
              </a:ext>
            </a:extLst>
          </p:cNvPr>
          <p:cNvSpPr>
            <a:spLocks noGrp="1"/>
          </p:cNvSpPr>
          <p:nvPr>
            <p:ph type="sldNum" sz="quarter" idx="12"/>
          </p:nvPr>
        </p:nvSpPr>
        <p:spPr/>
        <p:txBody>
          <a:bodyPr/>
          <a:lstStyle/>
          <a:p>
            <a:fld id="{C70AC583-F9E3-4A59-98F2-FD7379A90CB7}" type="slidenum">
              <a:rPr lang="en-IN" smtClean="0"/>
              <a:pPr/>
              <a:t>25</a:t>
            </a:fld>
            <a:endParaRPr lang="en-IN" b="0" dirty="0"/>
          </a:p>
        </p:txBody>
      </p:sp>
    </p:spTree>
    <p:extLst>
      <p:ext uri="{BB962C8B-B14F-4D97-AF65-F5344CB8AC3E}">
        <p14:creationId xmlns:p14="http://schemas.microsoft.com/office/powerpoint/2010/main" val="37825931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C4D58-EAF2-C045-D7C3-7C22EA1BE6E5}"/>
              </a:ext>
            </a:extLst>
          </p:cNvPr>
          <p:cNvSpPr>
            <a:spLocks noGrp="1"/>
          </p:cNvSpPr>
          <p:nvPr>
            <p:ph type="title"/>
          </p:nvPr>
        </p:nvSpPr>
        <p:spPr/>
        <p:txBody>
          <a:bodyPr/>
          <a:lstStyle/>
          <a:p>
            <a:r>
              <a:rPr lang="en-IN" dirty="0"/>
              <a:t>Crystal Family</a:t>
            </a:r>
          </a:p>
        </p:txBody>
      </p:sp>
      <p:sp>
        <p:nvSpPr>
          <p:cNvPr id="3" name="Content Placeholder 2">
            <a:extLst>
              <a:ext uri="{FF2B5EF4-FFF2-40B4-BE49-F238E27FC236}">
                <a16:creationId xmlns:a16="http://schemas.microsoft.com/office/drawing/2014/main" id="{525B7127-64B8-7132-495C-54130667BC6B}"/>
              </a:ext>
            </a:extLst>
          </p:cNvPr>
          <p:cNvSpPr>
            <a:spLocks noGrp="1"/>
          </p:cNvSpPr>
          <p:nvPr>
            <p:ph idx="1"/>
          </p:nvPr>
        </p:nvSpPr>
        <p:spPr>
          <a:xfrm>
            <a:off x="266330" y="1020932"/>
            <a:ext cx="8611340" cy="5617993"/>
          </a:xfrm>
        </p:spPr>
        <p:txBody>
          <a:bodyPr>
            <a:normAutofit/>
          </a:bodyPr>
          <a:lstStyle/>
          <a:p>
            <a:r>
              <a:rPr lang="en-US" dirty="0"/>
              <a:t>The Crystal Family software methodology calls for three distinct phases of estimates.</a:t>
            </a:r>
          </a:p>
          <a:p>
            <a:r>
              <a:rPr lang="en-US" dirty="0"/>
              <a:t>Early on, in the proposal stage, the developers review the initial requirements and work breakdown to provide an estimate of the work. </a:t>
            </a:r>
          </a:p>
          <a:p>
            <a:r>
              <a:rPr lang="en-US" dirty="0"/>
              <a:t>The project then moves into the exploration phase, where many more details are gathered and as a result of the new information, the estimates are refined. </a:t>
            </a:r>
          </a:p>
          <a:p>
            <a:r>
              <a:rPr lang="en-US" dirty="0"/>
              <a:t>Finally, the team moves into the planning meeting, where each element is broken down into a discrete task and assigned to a developer. </a:t>
            </a:r>
          </a:p>
          <a:p>
            <a:r>
              <a:rPr lang="en-US" dirty="0"/>
              <a:t>The developer has the opportunity to update the estimate at that time.</a:t>
            </a:r>
            <a:endParaRPr lang="en-IN" dirty="0"/>
          </a:p>
        </p:txBody>
      </p:sp>
      <p:sp>
        <p:nvSpPr>
          <p:cNvPr id="4" name="Slide Number Placeholder 3">
            <a:extLst>
              <a:ext uri="{FF2B5EF4-FFF2-40B4-BE49-F238E27FC236}">
                <a16:creationId xmlns:a16="http://schemas.microsoft.com/office/drawing/2014/main" id="{858654FC-C817-78EB-D220-C4B9B7BAB6D2}"/>
              </a:ext>
            </a:extLst>
          </p:cNvPr>
          <p:cNvSpPr>
            <a:spLocks noGrp="1"/>
          </p:cNvSpPr>
          <p:nvPr>
            <p:ph type="sldNum" sz="quarter" idx="12"/>
          </p:nvPr>
        </p:nvSpPr>
        <p:spPr/>
        <p:txBody>
          <a:bodyPr/>
          <a:lstStyle/>
          <a:p>
            <a:fld id="{C70AC583-F9E3-4A59-98F2-FD7379A90CB7}" type="slidenum">
              <a:rPr lang="en-IN" smtClean="0"/>
              <a:pPr/>
              <a:t>26</a:t>
            </a:fld>
            <a:endParaRPr lang="en-IN" b="0" dirty="0"/>
          </a:p>
        </p:txBody>
      </p:sp>
    </p:spTree>
    <p:extLst>
      <p:ext uri="{BB962C8B-B14F-4D97-AF65-F5344CB8AC3E}">
        <p14:creationId xmlns:p14="http://schemas.microsoft.com/office/powerpoint/2010/main" val="42196393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AACFB-BB9D-76D4-98A7-19CC3482A554}"/>
              </a:ext>
            </a:extLst>
          </p:cNvPr>
          <p:cNvSpPr>
            <a:spLocks noGrp="1"/>
          </p:cNvSpPr>
          <p:nvPr>
            <p:ph type="title"/>
          </p:nvPr>
        </p:nvSpPr>
        <p:spPr/>
        <p:txBody>
          <a:bodyPr/>
          <a:lstStyle/>
          <a:p>
            <a:r>
              <a:rPr lang="en-IN" dirty="0"/>
              <a:t>Extreme Programming (XP)</a:t>
            </a:r>
          </a:p>
        </p:txBody>
      </p:sp>
      <p:sp>
        <p:nvSpPr>
          <p:cNvPr id="3" name="Content Placeholder 2">
            <a:extLst>
              <a:ext uri="{FF2B5EF4-FFF2-40B4-BE49-F238E27FC236}">
                <a16:creationId xmlns:a16="http://schemas.microsoft.com/office/drawing/2014/main" id="{D8CB829E-EEF0-2B03-A03D-C85B76C76CD0}"/>
              </a:ext>
            </a:extLst>
          </p:cNvPr>
          <p:cNvSpPr>
            <a:spLocks noGrp="1"/>
          </p:cNvSpPr>
          <p:nvPr>
            <p:ph idx="1"/>
          </p:nvPr>
        </p:nvSpPr>
        <p:spPr/>
        <p:txBody>
          <a:bodyPr/>
          <a:lstStyle/>
          <a:p>
            <a:r>
              <a:rPr lang="en-US" dirty="0"/>
              <a:t>Within XP, it is critical that the developers are the ones making the estimates and no one else; they are also the only ones who can make changes to estimates.</a:t>
            </a:r>
          </a:p>
          <a:p>
            <a:r>
              <a:rPr lang="en-US" dirty="0"/>
              <a:t>The goal is to instill a degree of responsibility or ownership of the estimates to the developers. </a:t>
            </a:r>
          </a:p>
          <a:p>
            <a:r>
              <a:rPr lang="en-US" dirty="0"/>
              <a:t>The XP process also provides a feedback loop for the actual time required, so developers can continue to improve their estimates over time</a:t>
            </a:r>
            <a:endParaRPr lang="en-IN" dirty="0"/>
          </a:p>
        </p:txBody>
      </p:sp>
      <p:sp>
        <p:nvSpPr>
          <p:cNvPr id="4" name="Slide Number Placeholder 3">
            <a:extLst>
              <a:ext uri="{FF2B5EF4-FFF2-40B4-BE49-F238E27FC236}">
                <a16:creationId xmlns:a16="http://schemas.microsoft.com/office/drawing/2014/main" id="{7CDC03EC-CCB2-FF5A-CE27-51F599FADA6D}"/>
              </a:ext>
            </a:extLst>
          </p:cNvPr>
          <p:cNvSpPr>
            <a:spLocks noGrp="1"/>
          </p:cNvSpPr>
          <p:nvPr>
            <p:ph type="sldNum" sz="quarter" idx="12"/>
          </p:nvPr>
        </p:nvSpPr>
        <p:spPr/>
        <p:txBody>
          <a:bodyPr/>
          <a:lstStyle/>
          <a:p>
            <a:fld id="{C70AC583-F9E3-4A59-98F2-FD7379A90CB7}" type="slidenum">
              <a:rPr lang="en-IN" smtClean="0"/>
              <a:pPr/>
              <a:t>27</a:t>
            </a:fld>
            <a:endParaRPr lang="en-IN" b="0" dirty="0"/>
          </a:p>
        </p:txBody>
      </p:sp>
    </p:spTree>
    <p:extLst>
      <p:ext uri="{BB962C8B-B14F-4D97-AF65-F5344CB8AC3E}">
        <p14:creationId xmlns:p14="http://schemas.microsoft.com/office/powerpoint/2010/main" val="38814566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53E5F-5A8E-6B28-1318-69466D0E114C}"/>
              </a:ext>
            </a:extLst>
          </p:cNvPr>
          <p:cNvSpPr>
            <a:spLocks noGrp="1"/>
          </p:cNvSpPr>
          <p:nvPr>
            <p:ph type="title"/>
          </p:nvPr>
        </p:nvSpPr>
        <p:spPr/>
        <p:txBody>
          <a:bodyPr/>
          <a:lstStyle/>
          <a:p>
            <a:r>
              <a:rPr lang="en-IN" dirty="0"/>
              <a:t>Lean</a:t>
            </a:r>
          </a:p>
        </p:txBody>
      </p:sp>
      <p:sp>
        <p:nvSpPr>
          <p:cNvPr id="3" name="Content Placeholder 2">
            <a:extLst>
              <a:ext uri="{FF2B5EF4-FFF2-40B4-BE49-F238E27FC236}">
                <a16:creationId xmlns:a16="http://schemas.microsoft.com/office/drawing/2014/main" id="{45B89DAD-4325-7F2C-4B13-EE8C097593DC}"/>
              </a:ext>
            </a:extLst>
          </p:cNvPr>
          <p:cNvSpPr>
            <a:spLocks noGrp="1"/>
          </p:cNvSpPr>
          <p:nvPr>
            <p:ph idx="1"/>
          </p:nvPr>
        </p:nvSpPr>
        <p:spPr/>
        <p:txBody>
          <a:bodyPr>
            <a:normAutofit/>
          </a:bodyPr>
          <a:lstStyle/>
          <a:p>
            <a:r>
              <a:rPr lang="en-US" dirty="0"/>
              <a:t>Within Lean, since the concept of reducing waste is so important, it favors waiting until the feature is nearly ready to be worked on before completing an estimation.</a:t>
            </a:r>
          </a:p>
          <a:p>
            <a:r>
              <a:rPr lang="en-US" dirty="0"/>
              <a:t>If you have a full feature list that contains requests with the associated details and estimates that are so far down in the queue that it is highly unlikely they will ever be completed, you run the risk of creating inaccurate expectations, and you are increasing the amount of  waste in the process. </a:t>
            </a:r>
          </a:p>
          <a:p>
            <a:r>
              <a:rPr lang="en-US" dirty="0"/>
              <a:t>“Investing time estimating projects that will never get done is also a waste”</a:t>
            </a:r>
            <a:endParaRPr lang="en-IN" dirty="0"/>
          </a:p>
        </p:txBody>
      </p:sp>
      <p:sp>
        <p:nvSpPr>
          <p:cNvPr id="4" name="Slide Number Placeholder 3">
            <a:extLst>
              <a:ext uri="{FF2B5EF4-FFF2-40B4-BE49-F238E27FC236}">
                <a16:creationId xmlns:a16="http://schemas.microsoft.com/office/drawing/2014/main" id="{CDDD7696-3B7D-4168-F0F6-D657C73E01F8}"/>
              </a:ext>
            </a:extLst>
          </p:cNvPr>
          <p:cNvSpPr>
            <a:spLocks noGrp="1"/>
          </p:cNvSpPr>
          <p:nvPr>
            <p:ph type="sldNum" sz="quarter" idx="12"/>
          </p:nvPr>
        </p:nvSpPr>
        <p:spPr/>
        <p:txBody>
          <a:bodyPr/>
          <a:lstStyle/>
          <a:p>
            <a:fld id="{C70AC583-F9E3-4A59-98F2-FD7379A90CB7}" type="slidenum">
              <a:rPr lang="en-IN" smtClean="0"/>
              <a:pPr/>
              <a:t>28</a:t>
            </a:fld>
            <a:endParaRPr lang="en-IN" b="0" dirty="0"/>
          </a:p>
        </p:txBody>
      </p:sp>
    </p:spTree>
    <p:extLst>
      <p:ext uri="{BB962C8B-B14F-4D97-AF65-F5344CB8AC3E}">
        <p14:creationId xmlns:p14="http://schemas.microsoft.com/office/powerpoint/2010/main" val="9340114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438A4-11CC-2EBF-DC41-A025657E6D1A}"/>
              </a:ext>
            </a:extLst>
          </p:cNvPr>
          <p:cNvSpPr>
            <a:spLocks noGrp="1"/>
          </p:cNvSpPr>
          <p:nvPr>
            <p:ph type="title"/>
          </p:nvPr>
        </p:nvSpPr>
        <p:spPr/>
        <p:txBody>
          <a:bodyPr/>
          <a:lstStyle/>
          <a:p>
            <a:r>
              <a:rPr lang="en-IN" dirty="0"/>
              <a:t>Scrum: Product Backlog Grooming</a:t>
            </a:r>
          </a:p>
        </p:txBody>
      </p:sp>
      <p:sp>
        <p:nvSpPr>
          <p:cNvPr id="3" name="Content Placeholder 2">
            <a:extLst>
              <a:ext uri="{FF2B5EF4-FFF2-40B4-BE49-F238E27FC236}">
                <a16:creationId xmlns:a16="http://schemas.microsoft.com/office/drawing/2014/main" id="{F29C6FF0-FF56-CD8F-CDBA-C6503B64DAB6}"/>
              </a:ext>
            </a:extLst>
          </p:cNvPr>
          <p:cNvSpPr>
            <a:spLocks noGrp="1"/>
          </p:cNvSpPr>
          <p:nvPr>
            <p:ph idx="1"/>
          </p:nvPr>
        </p:nvSpPr>
        <p:spPr/>
        <p:txBody>
          <a:bodyPr>
            <a:normAutofit lnSpcReduction="10000"/>
          </a:bodyPr>
          <a:lstStyle/>
          <a:p>
            <a:r>
              <a:rPr lang="en-US" dirty="0"/>
              <a:t>The activities of prioritization and estimation often take place in a session called </a:t>
            </a:r>
            <a:r>
              <a:rPr lang="en-US" b="1" dirty="0"/>
              <a:t>product backlog grooming</a:t>
            </a:r>
            <a:r>
              <a:rPr lang="en-US" dirty="0"/>
              <a:t>. </a:t>
            </a:r>
          </a:p>
          <a:p>
            <a:r>
              <a:rPr lang="en-US" dirty="0"/>
              <a:t>This is typically a meeting between the product owner and the Scrum master/coach and may include the entire development team. </a:t>
            </a:r>
          </a:p>
          <a:p>
            <a:r>
              <a:rPr lang="en-US" dirty="0"/>
              <a:t>The grooming session is also used to clarify and improve on the user stories; this could include identifying and breaking down requirements that are too big (epics), improving poorly written stories, and adding acceptance criteria.</a:t>
            </a:r>
          </a:p>
          <a:p>
            <a:r>
              <a:rPr lang="en-US" dirty="0"/>
              <a:t>Once the participants have a clear understanding of the features/stories, they can discuss the prioritization of those stories and add the estimates.</a:t>
            </a:r>
            <a:endParaRPr lang="en-IN" dirty="0"/>
          </a:p>
        </p:txBody>
      </p:sp>
      <p:sp>
        <p:nvSpPr>
          <p:cNvPr id="4" name="Slide Number Placeholder 3">
            <a:extLst>
              <a:ext uri="{FF2B5EF4-FFF2-40B4-BE49-F238E27FC236}">
                <a16:creationId xmlns:a16="http://schemas.microsoft.com/office/drawing/2014/main" id="{B890595F-9827-13C2-08C2-B44F3DC66FF6}"/>
              </a:ext>
            </a:extLst>
          </p:cNvPr>
          <p:cNvSpPr>
            <a:spLocks noGrp="1"/>
          </p:cNvSpPr>
          <p:nvPr>
            <p:ph type="sldNum" sz="quarter" idx="12"/>
          </p:nvPr>
        </p:nvSpPr>
        <p:spPr/>
        <p:txBody>
          <a:bodyPr/>
          <a:lstStyle/>
          <a:p>
            <a:fld id="{C70AC583-F9E3-4A59-98F2-FD7379A90CB7}" type="slidenum">
              <a:rPr lang="en-IN" smtClean="0"/>
              <a:pPr/>
              <a:t>29</a:t>
            </a:fld>
            <a:endParaRPr lang="en-IN" b="0" dirty="0"/>
          </a:p>
        </p:txBody>
      </p:sp>
    </p:spTree>
    <p:extLst>
      <p:ext uri="{BB962C8B-B14F-4D97-AF65-F5344CB8AC3E}">
        <p14:creationId xmlns:p14="http://schemas.microsoft.com/office/powerpoint/2010/main" val="42103432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D42CF-4544-B7C5-8A7A-7E25A3C11C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ED390E-D8AD-11A5-8C09-8A238EA2245B}"/>
              </a:ext>
            </a:extLst>
          </p:cNvPr>
          <p:cNvSpPr>
            <a:spLocks noGrp="1"/>
          </p:cNvSpPr>
          <p:nvPr>
            <p:ph type="title"/>
          </p:nvPr>
        </p:nvSpPr>
        <p:spPr/>
        <p:txBody>
          <a:bodyPr/>
          <a:lstStyle/>
          <a:p>
            <a:r>
              <a:rPr lang="en-IN" dirty="0"/>
              <a:t>Scrum: Product Backlog Grooming</a:t>
            </a:r>
          </a:p>
        </p:txBody>
      </p:sp>
      <p:sp>
        <p:nvSpPr>
          <p:cNvPr id="3" name="Content Placeholder 2">
            <a:extLst>
              <a:ext uri="{FF2B5EF4-FFF2-40B4-BE49-F238E27FC236}">
                <a16:creationId xmlns:a16="http://schemas.microsoft.com/office/drawing/2014/main" id="{9211AE5C-9AC2-7D9B-07DE-9567770611D8}"/>
              </a:ext>
            </a:extLst>
          </p:cNvPr>
          <p:cNvSpPr>
            <a:spLocks noGrp="1"/>
          </p:cNvSpPr>
          <p:nvPr>
            <p:ph idx="1"/>
          </p:nvPr>
        </p:nvSpPr>
        <p:spPr/>
        <p:txBody>
          <a:bodyPr>
            <a:normAutofit fontScale="92500"/>
          </a:bodyPr>
          <a:lstStyle/>
          <a:p>
            <a:r>
              <a:rPr lang="en-US" dirty="0"/>
              <a:t>The goal of the grooming session is to leave the meeting with good, solid user stories that are prioritized, discussed, well understood, negotiated, and agreed upon so that the next few action items can take place to ensure a successful sprint.</a:t>
            </a:r>
          </a:p>
          <a:p>
            <a:r>
              <a:rPr lang="en-US" dirty="0"/>
              <a:t>The product owner is responsible for leading the grooming session. </a:t>
            </a:r>
          </a:p>
          <a:p>
            <a:r>
              <a:rPr lang="en-US" b="1" dirty="0"/>
              <a:t>Additional Inputs</a:t>
            </a:r>
          </a:p>
          <a:p>
            <a:r>
              <a:rPr lang="en-US" dirty="0"/>
              <a:t>Once the backlog grooming is complete and the team understands the highest priority user stories in sufficient detail, the next meeting or ceremony in the Scrum methodology is Sprint planning. </a:t>
            </a:r>
          </a:p>
          <a:p>
            <a:r>
              <a:rPr lang="en-US" dirty="0"/>
              <a:t>Before we can effectively execute on that meeting, several additional data points must be collected and understood.</a:t>
            </a:r>
            <a:endParaRPr lang="en-IN" dirty="0"/>
          </a:p>
        </p:txBody>
      </p:sp>
      <p:sp>
        <p:nvSpPr>
          <p:cNvPr id="4" name="Slide Number Placeholder 3">
            <a:extLst>
              <a:ext uri="{FF2B5EF4-FFF2-40B4-BE49-F238E27FC236}">
                <a16:creationId xmlns:a16="http://schemas.microsoft.com/office/drawing/2014/main" id="{58F07DA1-679C-7564-847D-A2509ECB2F74}"/>
              </a:ext>
            </a:extLst>
          </p:cNvPr>
          <p:cNvSpPr>
            <a:spLocks noGrp="1"/>
          </p:cNvSpPr>
          <p:nvPr>
            <p:ph type="sldNum" sz="quarter" idx="12"/>
          </p:nvPr>
        </p:nvSpPr>
        <p:spPr/>
        <p:txBody>
          <a:bodyPr/>
          <a:lstStyle/>
          <a:p>
            <a:fld id="{C70AC583-F9E3-4A59-98F2-FD7379A90CB7}" type="slidenum">
              <a:rPr lang="en-IN" smtClean="0"/>
              <a:pPr/>
              <a:t>30</a:t>
            </a:fld>
            <a:endParaRPr lang="en-IN" b="0" dirty="0"/>
          </a:p>
        </p:txBody>
      </p:sp>
    </p:spTree>
    <p:extLst>
      <p:ext uri="{BB962C8B-B14F-4D97-AF65-F5344CB8AC3E}">
        <p14:creationId xmlns:p14="http://schemas.microsoft.com/office/powerpoint/2010/main" val="27268612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17E9B-810B-B2BF-0505-2116FA6F79F1}"/>
              </a:ext>
            </a:extLst>
          </p:cNvPr>
          <p:cNvSpPr>
            <a:spLocks noGrp="1"/>
          </p:cNvSpPr>
          <p:nvPr>
            <p:ph type="title"/>
          </p:nvPr>
        </p:nvSpPr>
        <p:spPr/>
        <p:txBody>
          <a:bodyPr>
            <a:normAutofit fontScale="90000"/>
          </a:bodyPr>
          <a:lstStyle/>
          <a:p>
            <a:r>
              <a:rPr lang="en-IN" dirty="0"/>
              <a:t>Team Velocity</a:t>
            </a:r>
            <a:br>
              <a:rPr lang="en-IN" dirty="0"/>
            </a:br>
            <a:endParaRPr lang="en-IN" dirty="0"/>
          </a:p>
        </p:txBody>
      </p:sp>
      <p:sp>
        <p:nvSpPr>
          <p:cNvPr id="3" name="Content Placeholder 2">
            <a:extLst>
              <a:ext uri="{FF2B5EF4-FFF2-40B4-BE49-F238E27FC236}">
                <a16:creationId xmlns:a16="http://schemas.microsoft.com/office/drawing/2014/main" id="{1DBCAE0C-21EC-2DCD-7CC6-3BD8A1039DE5}"/>
              </a:ext>
            </a:extLst>
          </p:cNvPr>
          <p:cNvSpPr>
            <a:spLocks noGrp="1"/>
          </p:cNvSpPr>
          <p:nvPr>
            <p:ph idx="1"/>
          </p:nvPr>
        </p:nvSpPr>
        <p:spPr/>
        <p:txBody>
          <a:bodyPr>
            <a:normAutofit/>
          </a:bodyPr>
          <a:lstStyle/>
          <a:p>
            <a:r>
              <a:rPr lang="en-US" dirty="0"/>
              <a:t>Within Agile, as teams spend time together and work through a few sprints, they start to get a sense for their </a:t>
            </a:r>
            <a:r>
              <a:rPr lang="en-US" b="1" dirty="0"/>
              <a:t>“velocity”: </a:t>
            </a:r>
            <a:r>
              <a:rPr lang="en-US" dirty="0"/>
              <a:t>This is the amount of work that the team can usually deliver within the time frame of a sprint or iteration and can be used as a predictor for future iterations. </a:t>
            </a:r>
          </a:p>
          <a:p>
            <a:r>
              <a:rPr lang="en-US" dirty="0"/>
              <a:t>Story points are the most common units of measure for velocity, though hours could be used if the team was estimating in hours. </a:t>
            </a:r>
          </a:p>
          <a:p>
            <a:r>
              <a:rPr lang="en-US" dirty="0"/>
              <a:t>It would be challenging to calculate velocity for a team estimating in t-shirt sizes (or small/medium/large) because the estimates cannot be mathematically summed.</a:t>
            </a:r>
            <a:endParaRPr lang="en-IN" dirty="0"/>
          </a:p>
        </p:txBody>
      </p:sp>
      <p:sp>
        <p:nvSpPr>
          <p:cNvPr id="4" name="Slide Number Placeholder 3">
            <a:extLst>
              <a:ext uri="{FF2B5EF4-FFF2-40B4-BE49-F238E27FC236}">
                <a16:creationId xmlns:a16="http://schemas.microsoft.com/office/drawing/2014/main" id="{2A47613D-F639-5677-968D-7AA4C2DF15B1}"/>
              </a:ext>
            </a:extLst>
          </p:cNvPr>
          <p:cNvSpPr>
            <a:spLocks noGrp="1"/>
          </p:cNvSpPr>
          <p:nvPr>
            <p:ph type="sldNum" sz="quarter" idx="12"/>
          </p:nvPr>
        </p:nvSpPr>
        <p:spPr/>
        <p:txBody>
          <a:bodyPr/>
          <a:lstStyle/>
          <a:p>
            <a:fld id="{C70AC583-F9E3-4A59-98F2-FD7379A90CB7}" type="slidenum">
              <a:rPr lang="en-IN" smtClean="0"/>
              <a:pPr/>
              <a:t>31</a:t>
            </a:fld>
            <a:endParaRPr lang="en-IN" b="0" dirty="0"/>
          </a:p>
        </p:txBody>
      </p:sp>
    </p:spTree>
    <p:extLst>
      <p:ext uri="{BB962C8B-B14F-4D97-AF65-F5344CB8AC3E}">
        <p14:creationId xmlns:p14="http://schemas.microsoft.com/office/powerpoint/2010/main" val="19139258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70D4B-4389-215A-CA8A-93604C3776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BEA247-86D5-8AE5-DA02-45DC1D3076F1}"/>
              </a:ext>
            </a:extLst>
          </p:cNvPr>
          <p:cNvSpPr>
            <a:spLocks noGrp="1"/>
          </p:cNvSpPr>
          <p:nvPr>
            <p:ph type="title"/>
          </p:nvPr>
        </p:nvSpPr>
        <p:spPr/>
        <p:txBody>
          <a:bodyPr>
            <a:normAutofit fontScale="90000"/>
          </a:bodyPr>
          <a:lstStyle/>
          <a:p>
            <a:r>
              <a:rPr lang="en-IN" dirty="0"/>
              <a:t>Team Velocity</a:t>
            </a:r>
            <a:br>
              <a:rPr lang="en-IN" dirty="0"/>
            </a:br>
            <a:endParaRPr lang="en-IN" dirty="0"/>
          </a:p>
        </p:txBody>
      </p:sp>
      <p:sp>
        <p:nvSpPr>
          <p:cNvPr id="3" name="Content Placeholder 2">
            <a:extLst>
              <a:ext uri="{FF2B5EF4-FFF2-40B4-BE49-F238E27FC236}">
                <a16:creationId xmlns:a16="http://schemas.microsoft.com/office/drawing/2014/main" id="{539BF474-6E6A-B66E-C730-9D51D76FEB80}"/>
              </a:ext>
            </a:extLst>
          </p:cNvPr>
          <p:cNvSpPr>
            <a:spLocks noGrp="1"/>
          </p:cNvSpPr>
          <p:nvPr>
            <p:ph idx="1"/>
          </p:nvPr>
        </p:nvSpPr>
        <p:spPr>
          <a:xfrm>
            <a:off x="266330" y="1020932"/>
            <a:ext cx="8611340" cy="5700544"/>
          </a:xfrm>
        </p:spPr>
        <p:txBody>
          <a:bodyPr>
            <a:normAutofit/>
          </a:bodyPr>
          <a:lstStyle/>
          <a:p>
            <a:r>
              <a:rPr lang="en-US" dirty="0"/>
              <a:t>When a team first comes together, it is difficult to estimate their velocity because they have not yet experienced an iteration as a team. </a:t>
            </a:r>
          </a:p>
          <a:p>
            <a:r>
              <a:rPr lang="en-US" dirty="0"/>
              <a:t>The first few iterations are usually more guesswork than precision, and that is fine because it provides the opportunity to inspect and adapt. </a:t>
            </a:r>
          </a:p>
          <a:p>
            <a:r>
              <a:rPr lang="en-US" dirty="0"/>
              <a:t>Once the team is established and finds their rhythm, velocity is a great tool to use when establishing their commitment for future iterations.</a:t>
            </a:r>
          </a:p>
          <a:p>
            <a:r>
              <a:rPr lang="en-US" dirty="0"/>
              <a:t>Nevertheless, a few factors can disrupt velocity.</a:t>
            </a:r>
          </a:p>
          <a:p>
            <a:pPr lvl="1"/>
            <a:r>
              <a:rPr lang="en-US" dirty="0"/>
              <a:t>team members are not dedicated to the team full-time</a:t>
            </a:r>
          </a:p>
          <a:p>
            <a:pPr lvl="1"/>
            <a:r>
              <a:rPr lang="en-IN" dirty="0"/>
              <a:t>team members change frequently</a:t>
            </a:r>
          </a:p>
          <a:p>
            <a:pPr lvl="1"/>
            <a:r>
              <a:rPr lang="en-US" dirty="0"/>
              <a:t>modifying the length of the sprint and so on.</a:t>
            </a:r>
            <a:endParaRPr lang="en-IN" dirty="0"/>
          </a:p>
        </p:txBody>
      </p:sp>
      <p:sp>
        <p:nvSpPr>
          <p:cNvPr id="4" name="Slide Number Placeholder 3">
            <a:extLst>
              <a:ext uri="{FF2B5EF4-FFF2-40B4-BE49-F238E27FC236}">
                <a16:creationId xmlns:a16="http://schemas.microsoft.com/office/drawing/2014/main" id="{B89D63A7-5CA0-1654-3C8D-A8731BD40712}"/>
              </a:ext>
            </a:extLst>
          </p:cNvPr>
          <p:cNvSpPr>
            <a:spLocks noGrp="1"/>
          </p:cNvSpPr>
          <p:nvPr>
            <p:ph type="sldNum" sz="quarter" idx="12"/>
          </p:nvPr>
        </p:nvSpPr>
        <p:spPr/>
        <p:txBody>
          <a:bodyPr/>
          <a:lstStyle/>
          <a:p>
            <a:fld id="{C70AC583-F9E3-4A59-98F2-FD7379A90CB7}" type="slidenum">
              <a:rPr lang="en-IN" smtClean="0"/>
              <a:pPr/>
              <a:t>32</a:t>
            </a:fld>
            <a:endParaRPr lang="en-IN" b="0" dirty="0"/>
          </a:p>
        </p:txBody>
      </p:sp>
    </p:spTree>
    <p:extLst>
      <p:ext uri="{BB962C8B-B14F-4D97-AF65-F5344CB8AC3E}">
        <p14:creationId xmlns:p14="http://schemas.microsoft.com/office/powerpoint/2010/main" val="31610232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B0AA9-EB2E-4F9D-7FF7-B260F5FAAF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F18D79-3759-0A6A-8D2C-7988666A819C}"/>
              </a:ext>
            </a:extLst>
          </p:cNvPr>
          <p:cNvSpPr>
            <a:spLocks noGrp="1"/>
          </p:cNvSpPr>
          <p:nvPr>
            <p:ph type="title"/>
          </p:nvPr>
        </p:nvSpPr>
        <p:spPr/>
        <p:txBody>
          <a:bodyPr>
            <a:normAutofit fontScale="90000"/>
          </a:bodyPr>
          <a:lstStyle/>
          <a:p>
            <a:r>
              <a:rPr lang="en-IN" dirty="0"/>
              <a:t>Team Velocity</a:t>
            </a:r>
            <a:br>
              <a:rPr lang="en-IN" dirty="0"/>
            </a:br>
            <a:endParaRPr lang="en-IN" dirty="0"/>
          </a:p>
        </p:txBody>
      </p:sp>
      <p:sp>
        <p:nvSpPr>
          <p:cNvPr id="3" name="Content Placeholder 2">
            <a:extLst>
              <a:ext uri="{FF2B5EF4-FFF2-40B4-BE49-F238E27FC236}">
                <a16:creationId xmlns:a16="http://schemas.microsoft.com/office/drawing/2014/main" id="{B2C0A73C-E9AF-5C97-34B1-183226D43C35}"/>
              </a:ext>
            </a:extLst>
          </p:cNvPr>
          <p:cNvSpPr>
            <a:spLocks noGrp="1"/>
          </p:cNvSpPr>
          <p:nvPr>
            <p:ph idx="1"/>
          </p:nvPr>
        </p:nvSpPr>
        <p:spPr>
          <a:xfrm>
            <a:off x="266330" y="1020932"/>
            <a:ext cx="8611340" cy="5700544"/>
          </a:xfrm>
        </p:spPr>
        <p:txBody>
          <a:bodyPr>
            <a:normAutofit/>
          </a:bodyPr>
          <a:lstStyle/>
          <a:p>
            <a:endParaRPr lang="en-IN" dirty="0"/>
          </a:p>
        </p:txBody>
      </p:sp>
      <p:sp>
        <p:nvSpPr>
          <p:cNvPr id="4" name="Slide Number Placeholder 3">
            <a:extLst>
              <a:ext uri="{FF2B5EF4-FFF2-40B4-BE49-F238E27FC236}">
                <a16:creationId xmlns:a16="http://schemas.microsoft.com/office/drawing/2014/main" id="{84C85DC6-379E-9C20-5763-56B56039570B}"/>
              </a:ext>
            </a:extLst>
          </p:cNvPr>
          <p:cNvSpPr>
            <a:spLocks noGrp="1"/>
          </p:cNvSpPr>
          <p:nvPr>
            <p:ph type="sldNum" sz="quarter" idx="12"/>
          </p:nvPr>
        </p:nvSpPr>
        <p:spPr/>
        <p:txBody>
          <a:bodyPr/>
          <a:lstStyle/>
          <a:p>
            <a:fld id="{C70AC583-F9E3-4A59-98F2-FD7379A90CB7}" type="slidenum">
              <a:rPr lang="en-IN" smtClean="0"/>
              <a:pPr/>
              <a:t>33</a:t>
            </a:fld>
            <a:endParaRPr lang="en-IN" b="0" dirty="0"/>
          </a:p>
        </p:txBody>
      </p:sp>
      <p:pic>
        <p:nvPicPr>
          <p:cNvPr id="6" name="Picture 5">
            <a:extLst>
              <a:ext uri="{FF2B5EF4-FFF2-40B4-BE49-F238E27FC236}">
                <a16:creationId xmlns:a16="http://schemas.microsoft.com/office/drawing/2014/main" id="{440F2914-DCEE-F7FC-1C9E-A92DC0D85E48}"/>
              </a:ext>
            </a:extLst>
          </p:cNvPr>
          <p:cNvPicPr>
            <a:picLocks noChangeAspect="1"/>
          </p:cNvPicPr>
          <p:nvPr/>
        </p:nvPicPr>
        <p:blipFill>
          <a:blip r:embed="rId2"/>
          <a:stretch>
            <a:fillRect/>
          </a:stretch>
        </p:blipFill>
        <p:spPr>
          <a:xfrm>
            <a:off x="808499" y="962661"/>
            <a:ext cx="7527002" cy="5700544"/>
          </a:xfrm>
          <a:prstGeom prst="rect">
            <a:avLst/>
          </a:prstGeom>
        </p:spPr>
      </p:pic>
    </p:spTree>
    <p:extLst>
      <p:ext uri="{BB962C8B-B14F-4D97-AF65-F5344CB8AC3E}">
        <p14:creationId xmlns:p14="http://schemas.microsoft.com/office/powerpoint/2010/main" val="12781923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C631C-936F-BD28-AB38-F756702663A9}"/>
              </a:ext>
            </a:extLst>
          </p:cNvPr>
          <p:cNvSpPr>
            <a:spLocks noGrp="1"/>
          </p:cNvSpPr>
          <p:nvPr>
            <p:ph type="title"/>
          </p:nvPr>
        </p:nvSpPr>
        <p:spPr/>
        <p:txBody>
          <a:bodyPr/>
          <a:lstStyle/>
          <a:p>
            <a:r>
              <a:rPr lang="en-IN" dirty="0"/>
              <a:t>Definition of “Done”</a:t>
            </a:r>
          </a:p>
        </p:txBody>
      </p:sp>
      <p:sp>
        <p:nvSpPr>
          <p:cNvPr id="3" name="Content Placeholder 2">
            <a:extLst>
              <a:ext uri="{FF2B5EF4-FFF2-40B4-BE49-F238E27FC236}">
                <a16:creationId xmlns:a16="http://schemas.microsoft.com/office/drawing/2014/main" id="{B754E57D-3924-F81D-C7F5-862CC1A73D6A}"/>
              </a:ext>
            </a:extLst>
          </p:cNvPr>
          <p:cNvSpPr>
            <a:spLocks noGrp="1"/>
          </p:cNvSpPr>
          <p:nvPr>
            <p:ph idx="1"/>
          </p:nvPr>
        </p:nvSpPr>
        <p:spPr/>
        <p:txBody>
          <a:bodyPr>
            <a:normAutofit fontScale="92500" lnSpcReduction="10000"/>
          </a:bodyPr>
          <a:lstStyle/>
          <a:p>
            <a:r>
              <a:rPr lang="en-US" dirty="0"/>
              <a:t>Within several of the Agile methodologies, including Scrum, there is an element called the definition of </a:t>
            </a:r>
            <a:r>
              <a:rPr lang="en-US" b="1" dirty="0"/>
              <a:t>“done.” </a:t>
            </a:r>
          </a:p>
          <a:p>
            <a:r>
              <a:rPr lang="en-US" dirty="0"/>
              <a:t>This is a meaningful conversation that the development teams, product owner, and stakeholders need to have to ensure a common understanding of completion. </a:t>
            </a:r>
          </a:p>
          <a:p>
            <a:r>
              <a:rPr lang="en-US" dirty="0"/>
              <a:t>When different people have a different definition of done, expectations will not be met and dissatisfaction can result.</a:t>
            </a:r>
          </a:p>
          <a:p>
            <a:r>
              <a:rPr lang="en-US" dirty="0"/>
              <a:t>Every new team should dedicate time to discussing and agreeing on their definition of done, which may or may not include elements such as code that is checked in and integrated and has automated tests. </a:t>
            </a:r>
          </a:p>
          <a:p>
            <a:r>
              <a:rPr lang="en-US" dirty="0"/>
              <a:t>When the definition of done is clear and well understood, then we ensure that the conclusion of every sprint will meet everyone’s expectations.</a:t>
            </a:r>
            <a:endParaRPr lang="en-IN" dirty="0"/>
          </a:p>
        </p:txBody>
      </p:sp>
      <p:sp>
        <p:nvSpPr>
          <p:cNvPr id="4" name="Slide Number Placeholder 3">
            <a:extLst>
              <a:ext uri="{FF2B5EF4-FFF2-40B4-BE49-F238E27FC236}">
                <a16:creationId xmlns:a16="http://schemas.microsoft.com/office/drawing/2014/main" id="{B701B940-6803-FE2D-F7BF-8D6F4F059104}"/>
              </a:ext>
            </a:extLst>
          </p:cNvPr>
          <p:cNvSpPr>
            <a:spLocks noGrp="1"/>
          </p:cNvSpPr>
          <p:nvPr>
            <p:ph type="sldNum" sz="quarter" idx="12"/>
          </p:nvPr>
        </p:nvSpPr>
        <p:spPr/>
        <p:txBody>
          <a:bodyPr/>
          <a:lstStyle/>
          <a:p>
            <a:fld id="{C70AC583-F9E3-4A59-98F2-FD7379A90CB7}" type="slidenum">
              <a:rPr lang="en-IN" smtClean="0"/>
              <a:pPr/>
              <a:t>34</a:t>
            </a:fld>
            <a:endParaRPr lang="en-IN" b="0" dirty="0"/>
          </a:p>
        </p:txBody>
      </p:sp>
    </p:spTree>
    <p:extLst>
      <p:ext uri="{BB962C8B-B14F-4D97-AF65-F5344CB8AC3E}">
        <p14:creationId xmlns:p14="http://schemas.microsoft.com/office/powerpoint/2010/main" val="11730917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4BB70-6941-4A0C-D5E0-F5E15D6D45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D55BCF-9646-477A-108A-56E59124AA68}"/>
              </a:ext>
            </a:extLst>
          </p:cNvPr>
          <p:cNvSpPr>
            <a:spLocks noGrp="1"/>
          </p:cNvSpPr>
          <p:nvPr>
            <p:ph type="title"/>
          </p:nvPr>
        </p:nvSpPr>
        <p:spPr/>
        <p:txBody>
          <a:bodyPr/>
          <a:lstStyle/>
          <a:p>
            <a:r>
              <a:rPr lang="en-IN" dirty="0"/>
              <a:t>Definition of “Done”</a:t>
            </a:r>
          </a:p>
        </p:txBody>
      </p:sp>
      <p:sp>
        <p:nvSpPr>
          <p:cNvPr id="3" name="Content Placeholder 2">
            <a:extLst>
              <a:ext uri="{FF2B5EF4-FFF2-40B4-BE49-F238E27FC236}">
                <a16:creationId xmlns:a16="http://schemas.microsoft.com/office/drawing/2014/main" id="{DF7582D8-B8F7-F908-F3E6-80D200A7822F}"/>
              </a:ext>
            </a:extLst>
          </p:cNvPr>
          <p:cNvSpPr>
            <a:spLocks noGrp="1"/>
          </p:cNvSpPr>
          <p:nvPr>
            <p:ph idx="1"/>
          </p:nvPr>
        </p:nvSpPr>
        <p:spPr/>
        <p:txBody>
          <a:bodyPr>
            <a:normAutofit/>
          </a:bodyPr>
          <a:lstStyle/>
          <a:p>
            <a:r>
              <a:rPr lang="en-US" dirty="0"/>
              <a:t>Extreme Programming handles the definition of done slightly differently:</a:t>
            </a:r>
          </a:p>
          <a:p>
            <a:r>
              <a:rPr lang="en-US" dirty="0"/>
              <a:t>When a task is completed, it is crossed off of the board. To ensure that done means done, in XP, only the customer (not the developer) can cross off a task</a:t>
            </a:r>
            <a:endParaRPr lang="en-IN" dirty="0"/>
          </a:p>
        </p:txBody>
      </p:sp>
      <p:sp>
        <p:nvSpPr>
          <p:cNvPr id="4" name="Slide Number Placeholder 3">
            <a:extLst>
              <a:ext uri="{FF2B5EF4-FFF2-40B4-BE49-F238E27FC236}">
                <a16:creationId xmlns:a16="http://schemas.microsoft.com/office/drawing/2014/main" id="{B36A6A9D-B1DC-7B84-9116-5851A63AEDEE}"/>
              </a:ext>
            </a:extLst>
          </p:cNvPr>
          <p:cNvSpPr>
            <a:spLocks noGrp="1"/>
          </p:cNvSpPr>
          <p:nvPr>
            <p:ph type="sldNum" sz="quarter" idx="12"/>
          </p:nvPr>
        </p:nvSpPr>
        <p:spPr/>
        <p:txBody>
          <a:bodyPr/>
          <a:lstStyle/>
          <a:p>
            <a:fld id="{C70AC583-F9E3-4A59-98F2-FD7379A90CB7}" type="slidenum">
              <a:rPr lang="en-IN" smtClean="0"/>
              <a:pPr/>
              <a:t>35</a:t>
            </a:fld>
            <a:endParaRPr lang="en-IN" b="0" dirty="0"/>
          </a:p>
        </p:txBody>
      </p:sp>
    </p:spTree>
    <p:extLst>
      <p:ext uri="{BB962C8B-B14F-4D97-AF65-F5344CB8AC3E}">
        <p14:creationId xmlns:p14="http://schemas.microsoft.com/office/powerpoint/2010/main" val="19875512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9CB10-B8F0-1C2F-52E2-4DA224A2328C}"/>
              </a:ext>
            </a:extLst>
          </p:cNvPr>
          <p:cNvSpPr>
            <a:spLocks noGrp="1"/>
          </p:cNvSpPr>
          <p:nvPr>
            <p:ph type="title"/>
          </p:nvPr>
        </p:nvSpPr>
        <p:spPr/>
        <p:txBody>
          <a:bodyPr/>
          <a:lstStyle/>
          <a:p>
            <a:r>
              <a:rPr lang="en-IN" dirty="0"/>
              <a:t>Scrum: Sprint Planning</a:t>
            </a:r>
          </a:p>
        </p:txBody>
      </p:sp>
      <p:sp>
        <p:nvSpPr>
          <p:cNvPr id="3" name="Content Placeholder 2">
            <a:extLst>
              <a:ext uri="{FF2B5EF4-FFF2-40B4-BE49-F238E27FC236}">
                <a16:creationId xmlns:a16="http://schemas.microsoft.com/office/drawing/2014/main" id="{CC339497-8C60-5811-BF2B-CD80C5BF85FF}"/>
              </a:ext>
            </a:extLst>
          </p:cNvPr>
          <p:cNvSpPr>
            <a:spLocks noGrp="1"/>
          </p:cNvSpPr>
          <p:nvPr>
            <p:ph idx="1"/>
          </p:nvPr>
        </p:nvSpPr>
        <p:spPr/>
        <p:txBody>
          <a:bodyPr>
            <a:normAutofit fontScale="92500" lnSpcReduction="10000"/>
          </a:bodyPr>
          <a:lstStyle/>
          <a:p>
            <a:r>
              <a:rPr lang="en-US" dirty="0"/>
              <a:t>In Scrum, once we have the necessary inputs, we are ready for the Sprint planning meeting. In this meeting, we are going to decide exactly what we are going to work on during the sprint and we are going to plan for it—hence the name: </a:t>
            </a:r>
            <a:r>
              <a:rPr lang="en-US" b="1" dirty="0"/>
              <a:t>Sprint planning.</a:t>
            </a:r>
          </a:p>
          <a:p>
            <a:r>
              <a:rPr lang="en-US" b="1" dirty="0"/>
              <a:t>Inputs</a:t>
            </a:r>
          </a:p>
          <a:p>
            <a:r>
              <a:rPr lang="en-US" dirty="0"/>
              <a:t>There are a number of inputs to the Sprint planning meeting, such as the following:</a:t>
            </a:r>
          </a:p>
          <a:p>
            <a:pPr lvl="1"/>
            <a:r>
              <a:rPr lang="en-US" dirty="0"/>
              <a:t>Groomed and prioritized backlog</a:t>
            </a:r>
          </a:p>
          <a:p>
            <a:pPr lvl="1"/>
            <a:r>
              <a:rPr lang="en-US" dirty="0"/>
              <a:t>Estimates for the highest-priority stories</a:t>
            </a:r>
          </a:p>
          <a:p>
            <a:pPr lvl="1"/>
            <a:r>
              <a:rPr lang="en-US" dirty="0"/>
              <a:t>The velocity of the team</a:t>
            </a:r>
          </a:p>
          <a:p>
            <a:pPr lvl="1"/>
            <a:r>
              <a:rPr lang="en-US" dirty="0"/>
              <a:t>Definition of done</a:t>
            </a:r>
          </a:p>
          <a:p>
            <a:pPr lvl="1"/>
            <a:r>
              <a:rPr lang="en-US" dirty="0"/>
              <a:t>The schedule of the sprint—are there vacation days or a company holiday that will affect the amount of work we can commit to?</a:t>
            </a:r>
          </a:p>
          <a:p>
            <a:pPr lvl="1"/>
            <a:r>
              <a:rPr lang="en-US" dirty="0"/>
              <a:t>Other inputs—are team members getting new monitors, is there an All- Hands meeting that everyone is required to attend?</a:t>
            </a:r>
            <a:endParaRPr lang="en-IN" dirty="0"/>
          </a:p>
        </p:txBody>
      </p:sp>
      <p:sp>
        <p:nvSpPr>
          <p:cNvPr id="4" name="Slide Number Placeholder 3">
            <a:extLst>
              <a:ext uri="{FF2B5EF4-FFF2-40B4-BE49-F238E27FC236}">
                <a16:creationId xmlns:a16="http://schemas.microsoft.com/office/drawing/2014/main" id="{38100868-18FB-CEC8-B29C-3ED57F940D21}"/>
              </a:ext>
            </a:extLst>
          </p:cNvPr>
          <p:cNvSpPr>
            <a:spLocks noGrp="1"/>
          </p:cNvSpPr>
          <p:nvPr>
            <p:ph type="sldNum" sz="quarter" idx="12"/>
          </p:nvPr>
        </p:nvSpPr>
        <p:spPr/>
        <p:txBody>
          <a:bodyPr/>
          <a:lstStyle/>
          <a:p>
            <a:fld id="{C70AC583-F9E3-4A59-98F2-FD7379A90CB7}" type="slidenum">
              <a:rPr lang="en-IN" smtClean="0"/>
              <a:pPr/>
              <a:t>36</a:t>
            </a:fld>
            <a:endParaRPr lang="en-IN" b="0" dirty="0"/>
          </a:p>
        </p:txBody>
      </p:sp>
    </p:spTree>
    <p:extLst>
      <p:ext uri="{BB962C8B-B14F-4D97-AF65-F5344CB8AC3E}">
        <p14:creationId xmlns:p14="http://schemas.microsoft.com/office/powerpoint/2010/main" val="42339084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47ACD-D7EE-F615-8C73-825892093E56}"/>
              </a:ext>
            </a:extLst>
          </p:cNvPr>
          <p:cNvSpPr>
            <a:spLocks noGrp="1"/>
          </p:cNvSpPr>
          <p:nvPr>
            <p:ph type="title"/>
          </p:nvPr>
        </p:nvSpPr>
        <p:spPr/>
        <p:txBody>
          <a:bodyPr/>
          <a:lstStyle/>
          <a:p>
            <a:r>
              <a:rPr lang="en-IN" dirty="0"/>
              <a:t>Planning Session</a:t>
            </a:r>
          </a:p>
        </p:txBody>
      </p:sp>
      <p:sp>
        <p:nvSpPr>
          <p:cNvPr id="3" name="Content Placeholder 2">
            <a:extLst>
              <a:ext uri="{FF2B5EF4-FFF2-40B4-BE49-F238E27FC236}">
                <a16:creationId xmlns:a16="http://schemas.microsoft.com/office/drawing/2014/main" id="{15850D88-EE7A-E702-3C87-93ACCEAD89B0}"/>
              </a:ext>
            </a:extLst>
          </p:cNvPr>
          <p:cNvSpPr>
            <a:spLocks noGrp="1"/>
          </p:cNvSpPr>
          <p:nvPr>
            <p:ph idx="1"/>
          </p:nvPr>
        </p:nvSpPr>
        <p:spPr/>
        <p:txBody>
          <a:bodyPr>
            <a:normAutofit/>
          </a:bodyPr>
          <a:lstStyle/>
          <a:p>
            <a:r>
              <a:rPr lang="en-US" dirty="0"/>
              <a:t>The Sprint planning meeting has two distinct objectives. </a:t>
            </a:r>
          </a:p>
          <a:p>
            <a:r>
              <a:rPr lang="en-US" dirty="0"/>
              <a:t>First, we want to make sure that everyone on the team has a complete understanding of the user stories.</a:t>
            </a:r>
          </a:p>
          <a:p>
            <a:r>
              <a:rPr lang="en-US" dirty="0"/>
              <a:t>Team members may not all have attended the backlog grooming session, so it is important that everyone have the opportunity to ask questions and gain a clear understanding of the top-priority stories. </a:t>
            </a:r>
          </a:p>
          <a:p>
            <a:r>
              <a:rPr lang="en-US" dirty="0"/>
              <a:t>The second objective is to allow the team to break the work down into individual tasks and determine who will own each piece of work.</a:t>
            </a:r>
            <a:endParaRPr lang="en-IN" dirty="0"/>
          </a:p>
        </p:txBody>
      </p:sp>
      <p:sp>
        <p:nvSpPr>
          <p:cNvPr id="4" name="Slide Number Placeholder 3">
            <a:extLst>
              <a:ext uri="{FF2B5EF4-FFF2-40B4-BE49-F238E27FC236}">
                <a16:creationId xmlns:a16="http://schemas.microsoft.com/office/drawing/2014/main" id="{D40CDE28-F11B-8BE7-B3FC-D09955657178}"/>
              </a:ext>
            </a:extLst>
          </p:cNvPr>
          <p:cNvSpPr>
            <a:spLocks noGrp="1"/>
          </p:cNvSpPr>
          <p:nvPr>
            <p:ph type="sldNum" sz="quarter" idx="12"/>
          </p:nvPr>
        </p:nvSpPr>
        <p:spPr/>
        <p:txBody>
          <a:bodyPr/>
          <a:lstStyle/>
          <a:p>
            <a:fld id="{C70AC583-F9E3-4A59-98F2-FD7379A90CB7}" type="slidenum">
              <a:rPr lang="en-IN" smtClean="0"/>
              <a:pPr/>
              <a:t>37</a:t>
            </a:fld>
            <a:endParaRPr lang="en-IN" b="0" dirty="0"/>
          </a:p>
        </p:txBody>
      </p:sp>
    </p:spTree>
    <p:extLst>
      <p:ext uri="{BB962C8B-B14F-4D97-AF65-F5344CB8AC3E}">
        <p14:creationId xmlns:p14="http://schemas.microsoft.com/office/powerpoint/2010/main" val="36353009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E9878-E75C-89A7-3E2E-9D436267C6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E5BF41-0662-5589-6A70-1D082AE2ABF9}"/>
              </a:ext>
            </a:extLst>
          </p:cNvPr>
          <p:cNvSpPr>
            <a:spLocks noGrp="1"/>
          </p:cNvSpPr>
          <p:nvPr>
            <p:ph type="title"/>
          </p:nvPr>
        </p:nvSpPr>
        <p:spPr/>
        <p:txBody>
          <a:bodyPr/>
          <a:lstStyle/>
          <a:p>
            <a:r>
              <a:rPr lang="en-IN" dirty="0"/>
              <a:t>Planning Session</a:t>
            </a:r>
          </a:p>
        </p:txBody>
      </p:sp>
      <p:sp>
        <p:nvSpPr>
          <p:cNvPr id="3" name="Content Placeholder 2">
            <a:extLst>
              <a:ext uri="{FF2B5EF4-FFF2-40B4-BE49-F238E27FC236}">
                <a16:creationId xmlns:a16="http://schemas.microsoft.com/office/drawing/2014/main" id="{2EB871A6-4ADF-1D20-A68F-DE13B20F42F7}"/>
              </a:ext>
            </a:extLst>
          </p:cNvPr>
          <p:cNvSpPr>
            <a:spLocks noGrp="1"/>
          </p:cNvSpPr>
          <p:nvPr>
            <p:ph idx="1"/>
          </p:nvPr>
        </p:nvSpPr>
        <p:spPr/>
        <p:txBody>
          <a:bodyPr>
            <a:normAutofit/>
          </a:bodyPr>
          <a:lstStyle/>
          <a:p>
            <a:r>
              <a:rPr lang="en-US" dirty="0"/>
              <a:t>Let’s walk through this process step-by-step.</a:t>
            </a:r>
          </a:p>
          <a:p>
            <a:r>
              <a:rPr lang="en-US" dirty="0"/>
              <a:t>1. Once we understand the user stories, the team will decide how many stories can be committed to during this sprint. This is the sprint goal. </a:t>
            </a:r>
          </a:p>
          <a:p>
            <a:r>
              <a:rPr lang="en-US" dirty="0"/>
              <a:t>2. The team then breaks the user stories down into individual tasks. </a:t>
            </a:r>
          </a:p>
          <a:p>
            <a:r>
              <a:rPr lang="en-US" dirty="0"/>
              <a:t>3. Each team member selects the tasks that he or she is willing to own and complete.</a:t>
            </a:r>
          </a:p>
          <a:p>
            <a:r>
              <a:rPr lang="en-US" dirty="0"/>
              <a:t>4. The team member then estimates—in hours—how long it will take to complete each task.</a:t>
            </a:r>
            <a:endParaRPr lang="en-IN" dirty="0"/>
          </a:p>
        </p:txBody>
      </p:sp>
      <p:sp>
        <p:nvSpPr>
          <p:cNvPr id="4" name="Slide Number Placeholder 3">
            <a:extLst>
              <a:ext uri="{FF2B5EF4-FFF2-40B4-BE49-F238E27FC236}">
                <a16:creationId xmlns:a16="http://schemas.microsoft.com/office/drawing/2014/main" id="{176D7F65-749E-874A-7676-8AFFA78C6222}"/>
              </a:ext>
            </a:extLst>
          </p:cNvPr>
          <p:cNvSpPr>
            <a:spLocks noGrp="1"/>
          </p:cNvSpPr>
          <p:nvPr>
            <p:ph type="sldNum" sz="quarter" idx="12"/>
          </p:nvPr>
        </p:nvSpPr>
        <p:spPr/>
        <p:txBody>
          <a:bodyPr/>
          <a:lstStyle/>
          <a:p>
            <a:fld id="{C70AC583-F9E3-4A59-98F2-FD7379A90CB7}" type="slidenum">
              <a:rPr lang="en-IN" smtClean="0"/>
              <a:pPr/>
              <a:t>38</a:t>
            </a:fld>
            <a:endParaRPr lang="en-IN" b="0" dirty="0"/>
          </a:p>
        </p:txBody>
      </p:sp>
    </p:spTree>
    <p:extLst>
      <p:ext uri="{BB962C8B-B14F-4D97-AF65-F5344CB8AC3E}">
        <p14:creationId xmlns:p14="http://schemas.microsoft.com/office/powerpoint/2010/main" val="9287378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E9E95-337C-6415-BC24-9E2316FC8C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E1E30D-CD2E-C0CF-730D-1620F6CCE20F}"/>
              </a:ext>
            </a:extLst>
          </p:cNvPr>
          <p:cNvSpPr>
            <a:spLocks noGrp="1"/>
          </p:cNvSpPr>
          <p:nvPr>
            <p:ph type="title"/>
          </p:nvPr>
        </p:nvSpPr>
        <p:spPr/>
        <p:txBody>
          <a:bodyPr/>
          <a:lstStyle/>
          <a:p>
            <a:r>
              <a:rPr lang="en-IN" dirty="0"/>
              <a:t>Planning Session</a:t>
            </a:r>
          </a:p>
        </p:txBody>
      </p:sp>
      <p:sp>
        <p:nvSpPr>
          <p:cNvPr id="3" name="Content Placeholder 2">
            <a:extLst>
              <a:ext uri="{FF2B5EF4-FFF2-40B4-BE49-F238E27FC236}">
                <a16:creationId xmlns:a16="http://schemas.microsoft.com/office/drawing/2014/main" id="{87B6DB5D-C98A-4E19-5054-B29C955B42EA}"/>
              </a:ext>
            </a:extLst>
          </p:cNvPr>
          <p:cNvSpPr>
            <a:spLocks noGrp="1"/>
          </p:cNvSpPr>
          <p:nvPr>
            <p:ph idx="1"/>
          </p:nvPr>
        </p:nvSpPr>
        <p:spPr/>
        <p:txBody>
          <a:bodyPr>
            <a:normAutofit/>
          </a:bodyPr>
          <a:lstStyle/>
          <a:p>
            <a:r>
              <a:rPr lang="en-US" b="1" dirty="0"/>
              <a:t>Output</a:t>
            </a:r>
          </a:p>
          <a:p>
            <a:r>
              <a:rPr lang="en-US" dirty="0"/>
              <a:t>There are two primary outputs from the Sprint planning meeting. </a:t>
            </a:r>
          </a:p>
          <a:p>
            <a:r>
              <a:rPr lang="en-US" dirty="0"/>
              <a:t>First is the Sprint goal, the user stories that are committed to for this sprint. </a:t>
            </a:r>
          </a:p>
          <a:p>
            <a:r>
              <a:rPr lang="en-US" dirty="0"/>
              <a:t>Second is the Sprint backlog, which is the list of tasks and owners. </a:t>
            </a:r>
          </a:p>
          <a:p>
            <a:r>
              <a:rPr lang="en-US" dirty="0"/>
              <a:t>The Sprint backlog is the team’s “to do” list for the sprint.</a:t>
            </a:r>
            <a:endParaRPr lang="en-IN" dirty="0"/>
          </a:p>
        </p:txBody>
      </p:sp>
      <p:sp>
        <p:nvSpPr>
          <p:cNvPr id="4" name="Slide Number Placeholder 3">
            <a:extLst>
              <a:ext uri="{FF2B5EF4-FFF2-40B4-BE49-F238E27FC236}">
                <a16:creationId xmlns:a16="http://schemas.microsoft.com/office/drawing/2014/main" id="{6E92AC11-9477-BF61-6065-19CC317130BC}"/>
              </a:ext>
            </a:extLst>
          </p:cNvPr>
          <p:cNvSpPr>
            <a:spLocks noGrp="1"/>
          </p:cNvSpPr>
          <p:nvPr>
            <p:ph type="sldNum" sz="quarter" idx="12"/>
          </p:nvPr>
        </p:nvSpPr>
        <p:spPr/>
        <p:txBody>
          <a:bodyPr/>
          <a:lstStyle/>
          <a:p>
            <a:fld id="{C70AC583-F9E3-4A59-98F2-FD7379A90CB7}" type="slidenum">
              <a:rPr lang="en-IN" smtClean="0"/>
              <a:pPr/>
              <a:t>39</a:t>
            </a:fld>
            <a:endParaRPr lang="en-IN" b="0" dirty="0"/>
          </a:p>
        </p:txBody>
      </p:sp>
    </p:spTree>
    <p:extLst>
      <p:ext uri="{BB962C8B-B14F-4D97-AF65-F5344CB8AC3E}">
        <p14:creationId xmlns:p14="http://schemas.microsoft.com/office/powerpoint/2010/main" val="9130001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B99C2-E1B2-0F17-D29A-FB5AE0D0B4F2}"/>
              </a:ext>
            </a:extLst>
          </p:cNvPr>
          <p:cNvSpPr>
            <a:spLocks noGrp="1"/>
          </p:cNvSpPr>
          <p:nvPr>
            <p:ph type="title"/>
          </p:nvPr>
        </p:nvSpPr>
        <p:spPr/>
        <p:txBody>
          <a:bodyPr>
            <a:normAutofit fontScale="90000"/>
          </a:bodyPr>
          <a:lstStyle/>
          <a:p>
            <a:r>
              <a:rPr lang="en-IN" dirty="0"/>
              <a:t>Extreme Programming: XP Planning Game</a:t>
            </a:r>
          </a:p>
        </p:txBody>
      </p:sp>
      <p:sp>
        <p:nvSpPr>
          <p:cNvPr id="3" name="Content Placeholder 2">
            <a:extLst>
              <a:ext uri="{FF2B5EF4-FFF2-40B4-BE49-F238E27FC236}">
                <a16:creationId xmlns:a16="http://schemas.microsoft.com/office/drawing/2014/main" id="{C5F5F6B7-C061-772D-09E4-A64CD1F2EC44}"/>
              </a:ext>
            </a:extLst>
          </p:cNvPr>
          <p:cNvSpPr>
            <a:spLocks noGrp="1"/>
          </p:cNvSpPr>
          <p:nvPr>
            <p:ph idx="1"/>
          </p:nvPr>
        </p:nvSpPr>
        <p:spPr/>
        <p:txBody>
          <a:bodyPr/>
          <a:lstStyle/>
          <a:p>
            <a:r>
              <a:rPr lang="en-US" dirty="0"/>
              <a:t>XP has a ritual similar to the Scrum backlog grooming session and the Sprint planning meeting: the planning game. </a:t>
            </a:r>
          </a:p>
          <a:p>
            <a:r>
              <a:rPr lang="en-US" dirty="0"/>
              <a:t>The planning game also consists of two parts: </a:t>
            </a:r>
          </a:p>
          <a:p>
            <a:r>
              <a:rPr lang="en-US" dirty="0"/>
              <a:t>release planning, which is most similar to backlog grooming, and </a:t>
            </a:r>
          </a:p>
          <a:p>
            <a:r>
              <a:rPr lang="en-US" dirty="0"/>
              <a:t>iteration planning, which is most similar to Sprint planning. </a:t>
            </a:r>
          </a:p>
          <a:p>
            <a:r>
              <a:rPr lang="en-US" dirty="0"/>
              <a:t>Each meeting has three distinct phases—exploration, commitment, and steering.</a:t>
            </a:r>
            <a:endParaRPr lang="en-IN" dirty="0"/>
          </a:p>
        </p:txBody>
      </p:sp>
      <p:sp>
        <p:nvSpPr>
          <p:cNvPr id="4" name="Slide Number Placeholder 3">
            <a:extLst>
              <a:ext uri="{FF2B5EF4-FFF2-40B4-BE49-F238E27FC236}">
                <a16:creationId xmlns:a16="http://schemas.microsoft.com/office/drawing/2014/main" id="{0236A1B3-E594-A0C5-B626-487A362D7EEA}"/>
              </a:ext>
            </a:extLst>
          </p:cNvPr>
          <p:cNvSpPr>
            <a:spLocks noGrp="1"/>
          </p:cNvSpPr>
          <p:nvPr>
            <p:ph type="sldNum" sz="quarter" idx="12"/>
          </p:nvPr>
        </p:nvSpPr>
        <p:spPr/>
        <p:txBody>
          <a:bodyPr/>
          <a:lstStyle/>
          <a:p>
            <a:fld id="{C70AC583-F9E3-4A59-98F2-FD7379A90CB7}" type="slidenum">
              <a:rPr lang="en-IN" smtClean="0"/>
              <a:pPr/>
              <a:t>40</a:t>
            </a:fld>
            <a:endParaRPr lang="en-IN" b="0" dirty="0"/>
          </a:p>
        </p:txBody>
      </p:sp>
    </p:spTree>
    <p:extLst>
      <p:ext uri="{BB962C8B-B14F-4D97-AF65-F5344CB8AC3E}">
        <p14:creationId xmlns:p14="http://schemas.microsoft.com/office/powerpoint/2010/main" val="38379425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38C11-91D0-4F22-B590-F201A5806A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773492-87B1-1131-5FA1-E46A1F2F08B2}"/>
              </a:ext>
            </a:extLst>
          </p:cNvPr>
          <p:cNvSpPr>
            <a:spLocks noGrp="1"/>
          </p:cNvSpPr>
          <p:nvPr>
            <p:ph type="title"/>
          </p:nvPr>
        </p:nvSpPr>
        <p:spPr/>
        <p:txBody>
          <a:bodyPr>
            <a:normAutofit fontScale="90000"/>
          </a:bodyPr>
          <a:lstStyle/>
          <a:p>
            <a:r>
              <a:rPr lang="en-IN" dirty="0"/>
              <a:t>Extreme Programming: XP Planning Game</a:t>
            </a:r>
          </a:p>
        </p:txBody>
      </p:sp>
      <p:sp>
        <p:nvSpPr>
          <p:cNvPr id="3" name="Content Placeholder 2">
            <a:extLst>
              <a:ext uri="{FF2B5EF4-FFF2-40B4-BE49-F238E27FC236}">
                <a16:creationId xmlns:a16="http://schemas.microsoft.com/office/drawing/2014/main" id="{2B63D1B3-3D76-E403-29CD-B62C83640170}"/>
              </a:ext>
            </a:extLst>
          </p:cNvPr>
          <p:cNvSpPr>
            <a:spLocks noGrp="1"/>
          </p:cNvSpPr>
          <p:nvPr>
            <p:ph idx="1"/>
          </p:nvPr>
        </p:nvSpPr>
        <p:spPr/>
        <p:txBody>
          <a:bodyPr>
            <a:normAutofit/>
          </a:bodyPr>
          <a:lstStyle/>
          <a:p>
            <a:r>
              <a:rPr lang="en-US" dirty="0"/>
              <a:t>It is important to note the participants in the different parts of the planning game. </a:t>
            </a:r>
          </a:p>
          <a:p>
            <a:r>
              <a:rPr lang="en-US" dirty="0"/>
              <a:t>“Because </a:t>
            </a:r>
            <a:r>
              <a:rPr lang="en-US" b="1" dirty="0"/>
              <a:t>customers</a:t>
            </a:r>
            <a:r>
              <a:rPr lang="en-US" dirty="0"/>
              <a:t> have the most information about value—they’re most qualified to say what is important—</a:t>
            </a:r>
            <a:r>
              <a:rPr lang="en-US" b="1" dirty="0"/>
              <a:t>they prioritize</a:t>
            </a:r>
            <a:r>
              <a:rPr lang="en-US" dirty="0"/>
              <a:t>. </a:t>
            </a:r>
          </a:p>
          <a:p>
            <a:r>
              <a:rPr lang="en-US" dirty="0"/>
              <a:t>Because </a:t>
            </a:r>
            <a:r>
              <a:rPr lang="en-US" b="1" dirty="0"/>
              <a:t>programmers</a:t>
            </a:r>
            <a:r>
              <a:rPr lang="en-US" dirty="0"/>
              <a:t> have the most information about costs—they’re most qualified to say how long it will take to implement a story—</a:t>
            </a:r>
            <a:r>
              <a:rPr lang="en-US" b="1" dirty="0"/>
              <a:t>they estimate</a:t>
            </a:r>
            <a:r>
              <a:rPr lang="en-US" dirty="0"/>
              <a:t>. </a:t>
            </a:r>
          </a:p>
          <a:p>
            <a:r>
              <a:rPr lang="en-US" dirty="0"/>
              <a:t>Neither group creates the plan unilaterally. </a:t>
            </a:r>
          </a:p>
          <a:p>
            <a:r>
              <a:rPr lang="en-US" dirty="0"/>
              <a:t>Instead, both groups come together, each with their areas of expertise, and play the planning game”</a:t>
            </a:r>
            <a:endParaRPr lang="en-IN" dirty="0"/>
          </a:p>
        </p:txBody>
      </p:sp>
      <p:sp>
        <p:nvSpPr>
          <p:cNvPr id="4" name="Slide Number Placeholder 3">
            <a:extLst>
              <a:ext uri="{FF2B5EF4-FFF2-40B4-BE49-F238E27FC236}">
                <a16:creationId xmlns:a16="http://schemas.microsoft.com/office/drawing/2014/main" id="{FBD58911-7F09-BA56-F78C-97984CDE3603}"/>
              </a:ext>
            </a:extLst>
          </p:cNvPr>
          <p:cNvSpPr>
            <a:spLocks noGrp="1"/>
          </p:cNvSpPr>
          <p:nvPr>
            <p:ph type="sldNum" sz="quarter" idx="12"/>
          </p:nvPr>
        </p:nvSpPr>
        <p:spPr/>
        <p:txBody>
          <a:bodyPr/>
          <a:lstStyle/>
          <a:p>
            <a:fld id="{C70AC583-F9E3-4A59-98F2-FD7379A90CB7}" type="slidenum">
              <a:rPr lang="en-IN" smtClean="0"/>
              <a:pPr/>
              <a:t>41</a:t>
            </a:fld>
            <a:endParaRPr lang="en-IN" b="0" dirty="0"/>
          </a:p>
        </p:txBody>
      </p:sp>
    </p:spTree>
    <p:extLst>
      <p:ext uri="{BB962C8B-B14F-4D97-AF65-F5344CB8AC3E}">
        <p14:creationId xmlns:p14="http://schemas.microsoft.com/office/powerpoint/2010/main" val="40734203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D57C3-D837-3B03-C017-834F26646D2E}"/>
              </a:ext>
            </a:extLst>
          </p:cNvPr>
          <p:cNvSpPr>
            <a:spLocks noGrp="1"/>
          </p:cNvSpPr>
          <p:nvPr>
            <p:ph type="title"/>
          </p:nvPr>
        </p:nvSpPr>
        <p:spPr/>
        <p:txBody>
          <a:bodyPr/>
          <a:lstStyle/>
          <a:p>
            <a:r>
              <a:rPr lang="en-IN" dirty="0"/>
              <a:t>Triple Constraints</a:t>
            </a:r>
          </a:p>
        </p:txBody>
      </p:sp>
      <p:sp>
        <p:nvSpPr>
          <p:cNvPr id="3" name="Content Placeholder 2">
            <a:extLst>
              <a:ext uri="{FF2B5EF4-FFF2-40B4-BE49-F238E27FC236}">
                <a16:creationId xmlns:a16="http://schemas.microsoft.com/office/drawing/2014/main" id="{C664B384-4CE9-76C5-FD88-B70A69C38514}"/>
              </a:ext>
            </a:extLst>
          </p:cNvPr>
          <p:cNvSpPr>
            <a:spLocks noGrp="1"/>
          </p:cNvSpPr>
          <p:nvPr>
            <p:ph idx="1"/>
          </p:nvPr>
        </p:nvSpPr>
        <p:spPr/>
        <p:txBody>
          <a:bodyPr>
            <a:normAutofit lnSpcReduction="10000"/>
          </a:bodyPr>
          <a:lstStyle/>
          <a:p>
            <a:r>
              <a:rPr lang="en-US" dirty="0"/>
              <a:t>There is a long-held principle within the project management discipline that projects are made up of three variables: </a:t>
            </a:r>
            <a:r>
              <a:rPr lang="en-US" b="1" dirty="0"/>
              <a:t>schedule/time, cost/resources, and scope/quality</a:t>
            </a:r>
            <a:r>
              <a:rPr lang="en-US" dirty="0"/>
              <a:t>. </a:t>
            </a:r>
          </a:p>
          <a:p>
            <a:r>
              <a:rPr lang="en-US" dirty="0"/>
              <a:t>The theory is that you cannot adjust one without affecting the other two. </a:t>
            </a:r>
          </a:p>
          <a:p>
            <a:pPr lvl="1"/>
            <a:r>
              <a:rPr lang="en-US" dirty="0"/>
              <a:t>If you shorten the schedule and say that a release is due one month earlier than planned, then you will also need to add resources or reduce the scope in order to meet the new desired date. </a:t>
            </a:r>
          </a:p>
          <a:p>
            <a:pPr lvl="1"/>
            <a:r>
              <a:rPr lang="en-US" dirty="0"/>
              <a:t>Likewise, if you remove resources from a project, you will need to either extend the time frame to push out the delivery date or reduce the scope. </a:t>
            </a:r>
          </a:p>
          <a:p>
            <a:pPr lvl="1"/>
            <a:r>
              <a:rPr lang="en-US" dirty="0"/>
              <a:t>Finally, if you add to the scope, then you will need to either extend the time frame or add resources.</a:t>
            </a:r>
            <a:endParaRPr lang="en-IN" dirty="0"/>
          </a:p>
        </p:txBody>
      </p:sp>
      <p:sp>
        <p:nvSpPr>
          <p:cNvPr id="4" name="Slide Number Placeholder 3">
            <a:extLst>
              <a:ext uri="{FF2B5EF4-FFF2-40B4-BE49-F238E27FC236}">
                <a16:creationId xmlns:a16="http://schemas.microsoft.com/office/drawing/2014/main" id="{5A4A4F0D-4E13-A066-0E62-D242558D6CF4}"/>
              </a:ext>
            </a:extLst>
          </p:cNvPr>
          <p:cNvSpPr>
            <a:spLocks noGrp="1"/>
          </p:cNvSpPr>
          <p:nvPr>
            <p:ph type="sldNum" sz="quarter" idx="12"/>
          </p:nvPr>
        </p:nvSpPr>
        <p:spPr/>
        <p:txBody>
          <a:bodyPr/>
          <a:lstStyle/>
          <a:p>
            <a:fld id="{C70AC583-F9E3-4A59-98F2-FD7379A90CB7}" type="slidenum">
              <a:rPr lang="en-IN" smtClean="0"/>
              <a:pPr/>
              <a:t>42</a:t>
            </a:fld>
            <a:endParaRPr lang="en-IN" b="0" dirty="0"/>
          </a:p>
        </p:txBody>
      </p:sp>
    </p:spTree>
    <p:extLst>
      <p:ext uri="{BB962C8B-B14F-4D97-AF65-F5344CB8AC3E}">
        <p14:creationId xmlns:p14="http://schemas.microsoft.com/office/powerpoint/2010/main" val="24280468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79417-6801-5191-45C8-C8DA64A02C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DDA9A3-82C0-2590-8FD5-96EE0F99C73F}"/>
              </a:ext>
            </a:extLst>
          </p:cNvPr>
          <p:cNvSpPr>
            <a:spLocks noGrp="1"/>
          </p:cNvSpPr>
          <p:nvPr>
            <p:ph type="title"/>
          </p:nvPr>
        </p:nvSpPr>
        <p:spPr/>
        <p:txBody>
          <a:bodyPr/>
          <a:lstStyle/>
          <a:p>
            <a:r>
              <a:rPr lang="en-IN" dirty="0"/>
              <a:t>Triple Constraints</a:t>
            </a:r>
          </a:p>
        </p:txBody>
      </p:sp>
      <p:sp>
        <p:nvSpPr>
          <p:cNvPr id="3" name="Content Placeholder 2">
            <a:extLst>
              <a:ext uri="{FF2B5EF4-FFF2-40B4-BE49-F238E27FC236}">
                <a16:creationId xmlns:a16="http://schemas.microsoft.com/office/drawing/2014/main" id="{9B4F64BB-54BE-ADB8-A630-686BBCBFDB2C}"/>
              </a:ext>
            </a:extLst>
          </p:cNvPr>
          <p:cNvSpPr>
            <a:spLocks noGrp="1"/>
          </p:cNvSpPr>
          <p:nvPr>
            <p:ph idx="1"/>
          </p:nvPr>
        </p:nvSpPr>
        <p:spPr>
          <a:xfrm>
            <a:off x="266330" y="1020932"/>
            <a:ext cx="8611340" cy="5700544"/>
          </a:xfrm>
        </p:spPr>
        <p:txBody>
          <a:bodyPr>
            <a:normAutofit fontScale="85000" lnSpcReduction="20000"/>
          </a:bodyPr>
          <a:lstStyle/>
          <a:p>
            <a:r>
              <a:rPr lang="en-US" dirty="0"/>
              <a:t>Agile looks at the theory of triple constraints slightly differently. </a:t>
            </a:r>
          </a:p>
          <a:p>
            <a:r>
              <a:rPr lang="en-US" dirty="0"/>
              <a:t>First, there is a school of thought that scope and quality are, in fact, two very different things:</a:t>
            </a:r>
          </a:p>
          <a:p>
            <a:r>
              <a:rPr lang="en-US" dirty="0"/>
              <a:t>A team could deliver the prescribed scope at lesser quality, or it could maintain acceptable quality standards with a reduced scope. </a:t>
            </a:r>
          </a:p>
          <a:p>
            <a:r>
              <a:rPr lang="en-US" dirty="0"/>
              <a:t>As Wells (1999) explains, “The base philosophy of release planning is that a project may be quantified by four variables; scope, resources, time, and quality. </a:t>
            </a:r>
          </a:p>
          <a:p>
            <a:r>
              <a:rPr lang="en-US" dirty="0"/>
              <a:t>Scope is how much is to be done. </a:t>
            </a:r>
          </a:p>
          <a:p>
            <a:r>
              <a:rPr lang="en-US" dirty="0"/>
              <a:t>Resources are how many people are available. </a:t>
            </a:r>
          </a:p>
          <a:p>
            <a:r>
              <a:rPr lang="en-US" dirty="0"/>
              <a:t>Time is when the project or release will be done. </a:t>
            </a:r>
          </a:p>
          <a:p>
            <a:r>
              <a:rPr lang="en-US" dirty="0"/>
              <a:t>And quality is how good the software will be and how well tested it will be. </a:t>
            </a:r>
          </a:p>
          <a:p>
            <a:r>
              <a:rPr lang="en-US" dirty="0"/>
              <a:t>No one can control all [four] variables. </a:t>
            </a:r>
          </a:p>
          <a:p>
            <a:r>
              <a:rPr lang="en-US" dirty="0"/>
              <a:t>When you change one, you inadvertently cause another to change in response.”</a:t>
            </a:r>
            <a:endParaRPr lang="en-IN" dirty="0"/>
          </a:p>
        </p:txBody>
      </p:sp>
      <p:sp>
        <p:nvSpPr>
          <p:cNvPr id="4" name="Slide Number Placeholder 3">
            <a:extLst>
              <a:ext uri="{FF2B5EF4-FFF2-40B4-BE49-F238E27FC236}">
                <a16:creationId xmlns:a16="http://schemas.microsoft.com/office/drawing/2014/main" id="{EBB6E659-FD10-F167-B5CA-AECD099A0B4E}"/>
              </a:ext>
            </a:extLst>
          </p:cNvPr>
          <p:cNvSpPr>
            <a:spLocks noGrp="1"/>
          </p:cNvSpPr>
          <p:nvPr>
            <p:ph type="sldNum" sz="quarter" idx="12"/>
          </p:nvPr>
        </p:nvSpPr>
        <p:spPr/>
        <p:txBody>
          <a:bodyPr/>
          <a:lstStyle/>
          <a:p>
            <a:fld id="{C70AC583-F9E3-4A59-98F2-FD7379A90CB7}" type="slidenum">
              <a:rPr lang="en-IN" smtClean="0"/>
              <a:pPr/>
              <a:t>43</a:t>
            </a:fld>
            <a:endParaRPr lang="en-IN" b="0" dirty="0"/>
          </a:p>
        </p:txBody>
      </p:sp>
    </p:spTree>
    <p:extLst>
      <p:ext uri="{BB962C8B-B14F-4D97-AF65-F5344CB8AC3E}">
        <p14:creationId xmlns:p14="http://schemas.microsoft.com/office/powerpoint/2010/main" val="38201552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DE031-232A-C16C-8D17-F91573DC6C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37AF2C-6CB8-F7EF-D0EB-82F4EB5B4A0E}"/>
              </a:ext>
            </a:extLst>
          </p:cNvPr>
          <p:cNvSpPr>
            <a:spLocks noGrp="1"/>
          </p:cNvSpPr>
          <p:nvPr>
            <p:ph type="title"/>
          </p:nvPr>
        </p:nvSpPr>
        <p:spPr/>
        <p:txBody>
          <a:bodyPr/>
          <a:lstStyle/>
          <a:p>
            <a:r>
              <a:rPr lang="en-IN" dirty="0"/>
              <a:t>Triple Constraints</a:t>
            </a:r>
          </a:p>
        </p:txBody>
      </p:sp>
      <p:sp>
        <p:nvSpPr>
          <p:cNvPr id="3" name="Content Placeholder 2">
            <a:extLst>
              <a:ext uri="{FF2B5EF4-FFF2-40B4-BE49-F238E27FC236}">
                <a16:creationId xmlns:a16="http://schemas.microsoft.com/office/drawing/2014/main" id="{FAEA0D01-79EC-28D5-3C45-C8ABFA9F7C9B}"/>
              </a:ext>
            </a:extLst>
          </p:cNvPr>
          <p:cNvSpPr>
            <a:spLocks noGrp="1"/>
          </p:cNvSpPr>
          <p:nvPr>
            <p:ph idx="1"/>
          </p:nvPr>
        </p:nvSpPr>
        <p:spPr>
          <a:xfrm>
            <a:off x="266330" y="1020932"/>
            <a:ext cx="8611340" cy="5700544"/>
          </a:xfrm>
        </p:spPr>
        <p:txBody>
          <a:bodyPr>
            <a:normAutofit/>
          </a:bodyPr>
          <a:lstStyle/>
          <a:p>
            <a:r>
              <a:rPr lang="en-US" dirty="0"/>
              <a:t>Another way to look at this in an Agile environment is to suggest that resources and time are fixed. </a:t>
            </a:r>
          </a:p>
          <a:p>
            <a:r>
              <a:rPr lang="en-US" dirty="0"/>
              <a:t>The team size is five to nine people, so that cannot change. </a:t>
            </a:r>
          </a:p>
          <a:p>
            <a:r>
              <a:rPr lang="en-US" dirty="0"/>
              <a:t>The date is fixed by the duration of the sprint, in many cases two weeks. </a:t>
            </a:r>
          </a:p>
          <a:p>
            <a:r>
              <a:rPr lang="en-US" dirty="0"/>
              <a:t>Therefore, scope must be flexible to be able to be designed, coded, and tested within the confines of the sprint. </a:t>
            </a:r>
          </a:p>
          <a:p>
            <a:r>
              <a:rPr lang="en-US" dirty="0"/>
              <a:t>By managing the size and priority of the stories in the backlog, you are effectively managing the scope while the time and resources are fixed.</a:t>
            </a:r>
            <a:endParaRPr lang="en-IN" dirty="0"/>
          </a:p>
        </p:txBody>
      </p:sp>
      <p:sp>
        <p:nvSpPr>
          <p:cNvPr id="4" name="Slide Number Placeholder 3">
            <a:extLst>
              <a:ext uri="{FF2B5EF4-FFF2-40B4-BE49-F238E27FC236}">
                <a16:creationId xmlns:a16="http://schemas.microsoft.com/office/drawing/2014/main" id="{0CADB878-AD6D-5318-6260-4E0ABA1F8DA5}"/>
              </a:ext>
            </a:extLst>
          </p:cNvPr>
          <p:cNvSpPr>
            <a:spLocks noGrp="1"/>
          </p:cNvSpPr>
          <p:nvPr>
            <p:ph type="sldNum" sz="quarter" idx="12"/>
          </p:nvPr>
        </p:nvSpPr>
        <p:spPr/>
        <p:txBody>
          <a:bodyPr/>
          <a:lstStyle/>
          <a:p>
            <a:fld id="{C70AC583-F9E3-4A59-98F2-FD7379A90CB7}" type="slidenum">
              <a:rPr lang="en-IN" smtClean="0"/>
              <a:pPr/>
              <a:t>44</a:t>
            </a:fld>
            <a:endParaRPr lang="en-IN" b="0" dirty="0"/>
          </a:p>
        </p:txBody>
      </p:sp>
    </p:spTree>
    <p:extLst>
      <p:ext uri="{BB962C8B-B14F-4D97-AF65-F5344CB8AC3E}">
        <p14:creationId xmlns:p14="http://schemas.microsoft.com/office/powerpoint/2010/main" val="171567238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889</TotalTime>
  <Words>4449</Words>
  <Application>Microsoft Office PowerPoint</Application>
  <PresentationFormat>On-screen Show (4:3)</PresentationFormat>
  <Paragraphs>271</Paragraphs>
  <Slides>44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Calibri</vt:lpstr>
      <vt:lpstr>Calibri Light</vt:lpstr>
      <vt:lpstr>Office Theme</vt:lpstr>
      <vt:lpstr>Agile Software Engineering</vt:lpstr>
      <vt:lpstr>PowerPoint Presentation</vt:lpstr>
      <vt:lpstr>Product Backlog (Scrum and XP)</vt:lpstr>
      <vt:lpstr>Product Backlog (Scrum and XP)</vt:lpstr>
      <vt:lpstr>Product Backlog (Scrum and XP)</vt:lpstr>
      <vt:lpstr>Prioritization of Stories</vt:lpstr>
      <vt:lpstr>Prioritization Based on Value</vt:lpstr>
      <vt:lpstr>Prioritization Based on Value</vt:lpstr>
      <vt:lpstr>Prioritization Based on Value</vt:lpstr>
      <vt:lpstr>MoSCoW</vt:lpstr>
      <vt:lpstr>MoSCoW</vt:lpstr>
      <vt:lpstr>MoSCoW</vt:lpstr>
      <vt:lpstr>Kano Model</vt:lpstr>
      <vt:lpstr>Kano Model</vt:lpstr>
      <vt:lpstr>Kano Model</vt:lpstr>
      <vt:lpstr>Estimating</vt:lpstr>
      <vt:lpstr>Level of Effort (LOE) or T-Shirt Sizing</vt:lpstr>
      <vt:lpstr>Ideal Time (Days or Hours)</vt:lpstr>
      <vt:lpstr>Story Points</vt:lpstr>
      <vt:lpstr>Fibonacci Sequence</vt:lpstr>
      <vt:lpstr>Fibonacci Sequence</vt:lpstr>
      <vt:lpstr>Team Participation</vt:lpstr>
      <vt:lpstr>Planning Poker</vt:lpstr>
      <vt:lpstr>Planning Poker</vt:lpstr>
      <vt:lpstr>Planning Poker</vt:lpstr>
      <vt:lpstr>Crystal Family</vt:lpstr>
      <vt:lpstr>Extreme Programming (XP)</vt:lpstr>
      <vt:lpstr>Lean</vt:lpstr>
      <vt:lpstr>Scrum: Product Backlog Grooming</vt:lpstr>
      <vt:lpstr>Scrum: Product Backlog Grooming</vt:lpstr>
      <vt:lpstr>Team Velocity </vt:lpstr>
      <vt:lpstr>Team Velocity </vt:lpstr>
      <vt:lpstr>Team Velocity </vt:lpstr>
      <vt:lpstr>Definition of “Done”</vt:lpstr>
      <vt:lpstr>Definition of “Done”</vt:lpstr>
      <vt:lpstr>Scrum: Sprint Planning</vt:lpstr>
      <vt:lpstr>Planning Session</vt:lpstr>
      <vt:lpstr>Planning Session</vt:lpstr>
      <vt:lpstr>Planning Session</vt:lpstr>
      <vt:lpstr>Extreme Programming: XP Planning Game</vt:lpstr>
      <vt:lpstr>Extreme Programming: XP Planning Game</vt:lpstr>
      <vt:lpstr>Triple Constraints</vt:lpstr>
      <vt:lpstr>Triple Constraints</vt:lpstr>
      <vt:lpstr>Triple Constraints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Nitin Uikey</dc:creator>
  <cp:lastModifiedBy>Nitin Uikey</cp:lastModifiedBy>
  <cp:revision>73</cp:revision>
  <dcterms:created xsi:type="dcterms:W3CDTF">2026-01-06T05:40:50Z</dcterms:created>
  <dcterms:modified xsi:type="dcterms:W3CDTF">2026-03-16T10:53:13Z</dcterms:modified>
</cp:coreProperties>
</file>