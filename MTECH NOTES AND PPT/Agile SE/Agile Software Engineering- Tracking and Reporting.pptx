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183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EF783E-ECBD-4D89-BE37-083A5141B9C2}" type="datetimeFigureOut">
              <a:rPr lang="en-IN" smtClean="0"/>
              <a:t>24-03-2026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618F99-46C8-4DA7-9695-8703516A0D32}" type="slidenum">
              <a:rPr lang="en-IN" smtClean="0"/>
              <a:t>‹#›</a:t>
            </a:fld>
            <a:endParaRPr lang="en-IN"/>
          </a:p>
        </p:txBody>
      </p:sp>
    </p:spTree>
    <p:extLst>
      <p:ext uri="{BB962C8B-B14F-4D97-AF65-F5344CB8AC3E}">
        <p14:creationId xmlns:p14="http://schemas.microsoft.com/office/powerpoint/2010/main" val="3694569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068EC58-42EE-47BB-889A-A602177FE5B7}" type="datetime1">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609990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66330" y="136524"/>
            <a:ext cx="8611340" cy="789613"/>
          </a:xfrm>
        </p:spPr>
        <p:txBody>
          <a:bodyPr/>
          <a:lstStyle>
            <a:lvl1pPr>
              <a:defRPr b="1">
                <a:solidFill>
                  <a:srgbClr val="C00000"/>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266330" y="1020932"/>
            <a:ext cx="8611340" cy="5450889"/>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F2DC134-98B8-4E00-A50E-437F754573DB}" type="datetime1">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6972855" y="6480643"/>
            <a:ext cx="2057400" cy="365125"/>
          </a:xfrm>
        </p:spPr>
        <p:txBody>
          <a:bodyPr/>
          <a:lstStyle>
            <a:lvl1pPr>
              <a:defRPr b="0">
                <a:solidFill>
                  <a:schemeClr val="tx1"/>
                </a:solidFill>
              </a:defRPr>
            </a:lvl1pPr>
          </a:lstStyle>
          <a:p>
            <a:fld id="{C70AC583-F9E3-4A59-98F2-FD7379A90CB7}" type="slidenum">
              <a:rPr lang="en-IN" smtClean="0"/>
              <a:pPr/>
              <a:t>‹#›</a:t>
            </a:fld>
            <a:endParaRPr lang="en-IN" b="0" dirty="0"/>
          </a:p>
        </p:txBody>
      </p:sp>
      <p:cxnSp>
        <p:nvCxnSpPr>
          <p:cNvPr id="8" name="Straight Connector 7">
            <a:extLst>
              <a:ext uri="{FF2B5EF4-FFF2-40B4-BE49-F238E27FC236}">
                <a16:creationId xmlns:a16="http://schemas.microsoft.com/office/drawing/2014/main" id="{224495AD-567D-2ADD-BE5E-6850C77BACB5}"/>
              </a:ext>
            </a:extLst>
          </p:cNvPr>
          <p:cNvCxnSpPr/>
          <p:nvPr userDrawn="1"/>
        </p:nvCxnSpPr>
        <p:spPr>
          <a:xfrm>
            <a:off x="0" y="926137"/>
            <a:ext cx="8877670" cy="0"/>
          </a:xfrm>
          <a:prstGeom prst="line">
            <a:avLst/>
          </a:prstGeom>
          <a:ln w="28575"/>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69258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7C10A6-20C7-463B-A122-EE9A44191DEB}" type="datetime1">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436214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86E731-F9BA-432D-AD5A-524D6C476BF1}" type="datetime1">
              <a:rPr lang="en-IN" smtClean="0"/>
              <a:t>24-03-2026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776708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056AAD7-9406-43EE-A865-0984302784D4}" type="datetime1">
              <a:rPr lang="en-IN" smtClean="0"/>
              <a:t>24-03-2026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4196799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A2EDBAA-1D0A-45D1-A5BB-081862F89D23}" type="datetime1">
              <a:rPr lang="en-IN" smtClean="0"/>
              <a:t>24-03-2026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946011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3C2FBB-EEE0-48AB-9227-D6BD5F61A9B3}" type="datetime1">
              <a:rPr lang="en-IN" smtClean="0"/>
              <a:t>24-03-2026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560334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2C1C41-5793-4ABC-B62B-0A963F7D72D3}" type="datetime1">
              <a:rPr lang="en-IN" smtClean="0"/>
              <a:t>24-03-2026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2924824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A92D4A2-ACEB-4ACB-8DA0-4D301849AA1A}" type="datetime1">
              <a:rPr lang="en-IN" smtClean="0"/>
              <a:t>24-03-2026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1128665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FCFCF3-4EFB-4535-81E7-25F09ED13A08}" type="datetime1">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2555665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9825CD-E2F6-42DE-B62A-9C82759EF617}" type="datetime1">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614648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0374B9-4912-4832-A430-88CEC3882527}" type="datetime1">
              <a:rPr lang="en-IN" smtClean="0"/>
              <a:t>24-03-2026</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1F8360-00E8-462F-93F6-51CC5257BC34}" type="slidenum">
              <a:rPr lang="en-IN" smtClean="0"/>
              <a:t>‹#›</a:t>
            </a:fld>
            <a:endParaRPr lang="en-IN"/>
          </a:p>
        </p:txBody>
      </p:sp>
    </p:spTree>
    <p:extLst>
      <p:ext uri="{BB962C8B-B14F-4D97-AF65-F5344CB8AC3E}">
        <p14:creationId xmlns:p14="http://schemas.microsoft.com/office/powerpoint/2010/main" val="22838588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9000"/>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6B841-2D9F-0D42-9AED-FE29F9246E22}"/>
              </a:ext>
            </a:extLst>
          </p:cNvPr>
          <p:cNvSpPr>
            <a:spLocks noGrp="1"/>
          </p:cNvSpPr>
          <p:nvPr>
            <p:ph type="ctrTitle"/>
          </p:nvPr>
        </p:nvSpPr>
        <p:spPr/>
        <p:txBody>
          <a:bodyPr/>
          <a:lstStyle/>
          <a:p>
            <a:r>
              <a:rPr lang="en-IN" dirty="0"/>
              <a:t>Agile Software Engineering</a:t>
            </a:r>
          </a:p>
        </p:txBody>
      </p:sp>
      <p:sp>
        <p:nvSpPr>
          <p:cNvPr id="3" name="Subtitle 2">
            <a:extLst>
              <a:ext uri="{FF2B5EF4-FFF2-40B4-BE49-F238E27FC236}">
                <a16:creationId xmlns:a16="http://schemas.microsoft.com/office/drawing/2014/main" id="{1A4E7A6A-519E-5A54-9FF4-6F1F5C07C4A4}"/>
              </a:ext>
            </a:extLst>
          </p:cNvPr>
          <p:cNvSpPr>
            <a:spLocks noGrp="1"/>
          </p:cNvSpPr>
          <p:nvPr>
            <p:ph type="subTitle" idx="1"/>
          </p:nvPr>
        </p:nvSpPr>
        <p:spPr/>
        <p:txBody>
          <a:bodyPr>
            <a:normAutofit/>
          </a:bodyPr>
          <a:lstStyle/>
          <a:p>
            <a:r>
              <a:rPr lang="en-US" sz="4800" b="1" dirty="0">
                <a:solidFill>
                  <a:srgbClr val="FF0000"/>
                </a:solidFill>
              </a:rPr>
              <a:t>Tracking and Reporting</a:t>
            </a:r>
            <a:endParaRPr lang="en-IN" sz="4800" b="1" dirty="0">
              <a:solidFill>
                <a:srgbClr val="FF0000"/>
              </a:solidFill>
            </a:endParaRPr>
          </a:p>
        </p:txBody>
      </p:sp>
    </p:spTree>
    <p:extLst>
      <p:ext uri="{BB962C8B-B14F-4D97-AF65-F5344CB8AC3E}">
        <p14:creationId xmlns:p14="http://schemas.microsoft.com/office/powerpoint/2010/main" val="2473625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96CAD-1656-10CC-D360-45D45C5F6B5D}"/>
              </a:ext>
            </a:extLst>
          </p:cNvPr>
          <p:cNvSpPr>
            <a:spLocks noGrp="1"/>
          </p:cNvSpPr>
          <p:nvPr>
            <p:ph type="title"/>
          </p:nvPr>
        </p:nvSpPr>
        <p:spPr/>
        <p:txBody>
          <a:bodyPr/>
          <a:lstStyle/>
          <a:p>
            <a:r>
              <a:rPr lang="en-IN" dirty="0"/>
              <a:t>Quality</a:t>
            </a:r>
          </a:p>
        </p:txBody>
      </p:sp>
      <p:sp>
        <p:nvSpPr>
          <p:cNvPr id="3" name="Content Placeholder 2">
            <a:extLst>
              <a:ext uri="{FF2B5EF4-FFF2-40B4-BE49-F238E27FC236}">
                <a16:creationId xmlns:a16="http://schemas.microsoft.com/office/drawing/2014/main" id="{7F79EFDB-52D5-C0FF-8011-4B150096A9DA}"/>
              </a:ext>
            </a:extLst>
          </p:cNvPr>
          <p:cNvSpPr>
            <a:spLocks noGrp="1"/>
          </p:cNvSpPr>
          <p:nvPr>
            <p:ph idx="1"/>
          </p:nvPr>
        </p:nvSpPr>
        <p:spPr>
          <a:xfrm>
            <a:off x="266330" y="1020932"/>
            <a:ext cx="8611340" cy="5700544"/>
          </a:xfrm>
        </p:spPr>
        <p:txBody>
          <a:bodyPr>
            <a:normAutofit/>
          </a:bodyPr>
          <a:lstStyle/>
          <a:p>
            <a:r>
              <a:rPr lang="en-US" dirty="0"/>
              <a:t>This chapter is focused on tracking and measuring our success and quickly identifying the areas that need attention and improvement. </a:t>
            </a:r>
          </a:p>
          <a:p>
            <a:r>
              <a:rPr lang="en-US" dirty="0"/>
              <a:t>We review the tools that are used in tracking, such as Kanban task boards, burn charts, information radiators, and progress charts.</a:t>
            </a:r>
            <a:endParaRPr lang="en-IN" dirty="0"/>
          </a:p>
        </p:txBody>
      </p:sp>
      <p:sp>
        <p:nvSpPr>
          <p:cNvPr id="4" name="Slide Number Placeholder 3">
            <a:extLst>
              <a:ext uri="{FF2B5EF4-FFF2-40B4-BE49-F238E27FC236}">
                <a16:creationId xmlns:a16="http://schemas.microsoft.com/office/drawing/2014/main" id="{65730CA5-68B1-6022-F2F4-C02F73DA2B31}"/>
              </a:ext>
            </a:extLst>
          </p:cNvPr>
          <p:cNvSpPr>
            <a:spLocks noGrp="1"/>
          </p:cNvSpPr>
          <p:nvPr>
            <p:ph type="sldNum" sz="quarter" idx="12"/>
          </p:nvPr>
        </p:nvSpPr>
        <p:spPr/>
        <p:txBody>
          <a:bodyPr/>
          <a:lstStyle/>
          <a:p>
            <a:fld id="{F81F8360-00E8-462F-93F6-51CC5257BC34}" type="slidenum">
              <a:rPr lang="en-IN" smtClean="0"/>
              <a:t>2</a:t>
            </a:fld>
            <a:endParaRPr lang="en-IN"/>
          </a:p>
        </p:txBody>
      </p:sp>
    </p:spTree>
    <p:extLst>
      <p:ext uri="{BB962C8B-B14F-4D97-AF65-F5344CB8AC3E}">
        <p14:creationId xmlns:p14="http://schemas.microsoft.com/office/powerpoint/2010/main" val="3440939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9BB0E-1EC8-A86B-8840-F3889EDEEA1B}"/>
              </a:ext>
            </a:extLst>
          </p:cNvPr>
          <p:cNvSpPr>
            <a:spLocks noGrp="1"/>
          </p:cNvSpPr>
          <p:nvPr>
            <p:ph type="title"/>
          </p:nvPr>
        </p:nvSpPr>
        <p:spPr/>
        <p:txBody>
          <a:bodyPr/>
          <a:lstStyle/>
          <a:p>
            <a:r>
              <a:rPr lang="en-IN" dirty="0"/>
              <a:t>Kanban</a:t>
            </a:r>
          </a:p>
        </p:txBody>
      </p:sp>
      <p:sp>
        <p:nvSpPr>
          <p:cNvPr id="3" name="Content Placeholder 2">
            <a:extLst>
              <a:ext uri="{FF2B5EF4-FFF2-40B4-BE49-F238E27FC236}">
                <a16:creationId xmlns:a16="http://schemas.microsoft.com/office/drawing/2014/main" id="{A9BA20F9-E1B6-2276-8B1E-84146C86A0CC}"/>
              </a:ext>
            </a:extLst>
          </p:cNvPr>
          <p:cNvSpPr>
            <a:spLocks noGrp="1"/>
          </p:cNvSpPr>
          <p:nvPr>
            <p:ph idx="1"/>
          </p:nvPr>
        </p:nvSpPr>
        <p:spPr/>
        <p:txBody>
          <a:bodyPr/>
          <a:lstStyle/>
          <a:p>
            <a:r>
              <a:rPr lang="en-US" dirty="0"/>
              <a:t>Kanban is a methodology that we have not focused on because it is fundamentally different from the others that we have discussed. </a:t>
            </a:r>
          </a:p>
          <a:p>
            <a:r>
              <a:rPr lang="en-US" dirty="0"/>
              <a:t>Most of the Agile methodologies deliver working software in a time-boxed fashion, meaning that the work proceeds in iterations, or sprints. </a:t>
            </a:r>
          </a:p>
          <a:p>
            <a:r>
              <a:rPr lang="en-US" dirty="0"/>
              <a:t>Conversely, Kanban operates in a “continuous flow” model, meaning that there is no time box for development; tasks are continuously added to the backlog and removed as they are completed.</a:t>
            </a:r>
            <a:endParaRPr lang="en-IN" dirty="0"/>
          </a:p>
        </p:txBody>
      </p:sp>
      <p:sp>
        <p:nvSpPr>
          <p:cNvPr id="4" name="Slide Number Placeholder 3">
            <a:extLst>
              <a:ext uri="{FF2B5EF4-FFF2-40B4-BE49-F238E27FC236}">
                <a16:creationId xmlns:a16="http://schemas.microsoft.com/office/drawing/2014/main" id="{2571759F-0255-D498-A986-FACB77B1C6BB}"/>
              </a:ext>
            </a:extLst>
          </p:cNvPr>
          <p:cNvSpPr>
            <a:spLocks noGrp="1"/>
          </p:cNvSpPr>
          <p:nvPr>
            <p:ph type="sldNum" sz="quarter" idx="12"/>
          </p:nvPr>
        </p:nvSpPr>
        <p:spPr/>
        <p:txBody>
          <a:bodyPr/>
          <a:lstStyle/>
          <a:p>
            <a:fld id="{C70AC583-F9E3-4A59-98F2-FD7379A90CB7}" type="slidenum">
              <a:rPr lang="en-IN" smtClean="0"/>
              <a:pPr/>
              <a:t>3</a:t>
            </a:fld>
            <a:endParaRPr lang="en-IN" b="0" dirty="0"/>
          </a:p>
        </p:txBody>
      </p:sp>
    </p:spTree>
    <p:extLst>
      <p:ext uri="{BB962C8B-B14F-4D97-AF65-F5344CB8AC3E}">
        <p14:creationId xmlns:p14="http://schemas.microsoft.com/office/powerpoint/2010/main" val="4074900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EE73B-A4A6-14C4-40A2-C4A7E46AEBAE}"/>
              </a:ext>
            </a:extLst>
          </p:cNvPr>
          <p:cNvSpPr>
            <a:spLocks noGrp="1"/>
          </p:cNvSpPr>
          <p:nvPr>
            <p:ph type="title"/>
          </p:nvPr>
        </p:nvSpPr>
        <p:spPr/>
        <p:txBody>
          <a:bodyPr/>
          <a:lstStyle/>
          <a:p>
            <a:r>
              <a:rPr lang="en-IN" dirty="0"/>
              <a:t>Kanban</a:t>
            </a:r>
          </a:p>
        </p:txBody>
      </p:sp>
      <p:sp>
        <p:nvSpPr>
          <p:cNvPr id="3" name="Content Placeholder 2">
            <a:extLst>
              <a:ext uri="{FF2B5EF4-FFF2-40B4-BE49-F238E27FC236}">
                <a16:creationId xmlns:a16="http://schemas.microsoft.com/office/drawing/2014/main" id="{4BAB0711-4158-714D-53B9-3A3E2F8D1E3A}"/>
              </a:ext>
            </a:extLst>
          </p:cNvPr>
          <p:cNvSpPr>
            <a:spLocks noGrp="1"/>
          </p:cNvSpPr>
          <p:nvPr>
            <p:ph idx="1"/>
          </p:nvPr>
        </p:nvSpPr>
        <p:spPr>
          <a:xfrm>
            <a:off x="266330" y="1020932"/>
            <a:ext cx="8611340" cy="5700544"/>
          </a:xfrm>
        </p:spPr>
        <p:txBody>
          <a:bodyPr>
            <a:normAutofit fontScale="92500" lnSpcReduction="10000"/>
          </a:bodyPr>
          <a:lstStyle/>
          <a:p>
            <a:r>
              <a:rPr lang="en-US" dirty="0"/>
              <a:t>Kanban has three primary characteristics:</a:t>
            </a:r>
          </a:p>
          <a:p>
            <a:r>
              <a:rPr lang="en-US" dirty="0"/>
              <a:t>Visualize the workflow</a:t>
            </a:r>
          </a:p>
          <a:p>
            <a:pPr lvl="1"/>
            <a:r>
              <a:rPr lang="en-US" dirty="0"/>
              <a:t>A Kanban board maps the steps of the workflow in columns across a board.</a:t>
            </a:r>
          </a:p>
          <a:p>
            <a:pPr lvl="1"/>
            <a:r>
              <a:rPr lang="en-US" dirty="0"/>
              <a:t>Items, or tasks, are represented on cards or sticky notes and are tracked as they move through the workflow steps.</a:t>
            </a:r>
          </a:p>
          <a:p>
            <a:r>
              <a:rPr lang="en-US" dirty="0"/>
              <a:t>Limit work in progress (WIP)</a:t>
            </a:r>
          </a:p>
          <a:p>
            <a:pPr lvl="1"/>
            <a:r>
              <a:rPr lang="en-US" dirty="0"/>
              <a:t>Assign limits to each column, or workflow step, so that no one group or person can be overloaded with work.</a:t>
            </a:r>
          </a:p>
          <a:p>
            <a:pPr lvl="1"/>
            <a:r>
              <a:rPr lang="en-US" dirty="0"/>
              <a:t>The WIP limits naturally identify bottlenecks in the process so they can be addressed, in keeping with the Lean principles.</a:t>
            </a:r>
          </a:p>
          <a:p>
            <a:r>
              <a:rPr lang="en-US" dirty="0"/>
              <a:t>Measure the lead time</a:t>
            </a:r>
          </a:p>
          <a:p>
            <a:pPr lvl="1"/>
            <a:r>
              <a:rPr lang="en-US" dirty="0"/>
              <a:t>By understanding the workflow and removing the bottlenecks, the teams will discover the time it takes for a task to move from creation to resolution, thus providing the organization with metrics for lead time.</a:t>
            </a:r>
          </a:p>
        </p:txBody>
      </p:sp>
      <p:sp>
        <p:nvSpPr>
          <p:cNvPr id="4" name="Slide Number Placeholder 3">
            <a:extLst>
              <a:ext uri="{FF2B5EF4-FFF2-40B4-BE49-F238E27FC236}">
                <a16:creationId xmlns:a16="http://schemas.microsoft.com/office/drawing/2014/main" id="{8BA03007-395C-8598-C065-AA69542BC389}"/>
              </a:ext>
            </a:extLst>
          </p:cNvPr>
          <p:cNvSpPr>
            <a:spLocks noGrp="1"/>
          </p:cNvSpPr>
          <p:nvPr>
            <p:ph type="sldNum" sz="quarter" idx="12"/>
          </p:nvPr>
        </p:nvSpPr>
        <p:spPr/>
        <p:txBody>
          <a:bodyPr/>
          <a:lstStyle/>
          <a:p>
            <a:fld id="{C70AC583-F9E3-4A59-98F2-FD7379A90CB7}" type="slidenum">
              <a:rPr lang="en-IN" smtClean="0"/>
              <a:pPr/>
              <a:t>4</a:t>
            </a:fld>
            <a:endParaRPr lang="en-IN" b="0" dirty="0"/>
          </a:p>
        </p:txBody>
      </p:sp>
    </p:spTree>
    <p:extLst>
      <p:ext uri="{BB962C8B-B14F-4D97-AF65-F5344CB8AC3E}">
        <p14:creationId xmlns:p14="http://schemas.microsoft.com/office/powerpoint/2010/main" val="995680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47FD0-1C14-B956-EAB0-59064A8BC4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714A9C-5849-D1F1-27E2-67D437F524F5}"/>
              </a:ext>
            </a:extLst>
          </p:cNvPr>
          <p:cNvSpPr>
            <a:spLocks noGrp="1"/>
          </p:cNvSpPr>
          <p:nvPr>
            <p:ph type="title"/>
          </p:nvPr>
        </p:nvSpPr>
        <p:spPr/>
        <p:txBody>
          <a:bodyPr/>
          <a:lstStyle/>
          <a:p>
            <a:r>
              <a:rPr lang="en-IN" dirty="0"/>
              <a:t>Kanban</a:t>
            </a:r>
          </a:p>
        </p:txBody>
      </p:sp>
      <p:sp>
        <p:nvSpPr>
          <p:cNvPr id="3" name="Content Placeholder 2">
            <a:extLst>
              <a:ext uri="{FF2B5EF4-FFF2-40B4-BE49-F238E27FC236}">
                <a16:creationId xmlns:a16="http://schemas.microsoft.com/office/drawing/2014/main" id="{9AA8280C-049A-1E3B-71A2-52926618E63F}"/>
              </a:ext>
            </a:extLst>
          </p:cNvPr>
          <p:cNvSpPr>
            <a:spLocks noGrp="1"/>
          </p:cNvSpPr>
          <p:nvPr>
            <p:ph idx="1"/>
          </p:nvPr>
        </p:nvSpPr>
        <p:spPr>
          <a:xfrm>
            <a:off x="266330" y="1020932"/>
            <a:ext cx="8611340" cy="5700544"/>
          </a:xfrm>
        </p:spPr>
        <p:txBody>
          <a:bodyPr>
            <a:normAutofit/>
          </a:bodyPr>
          <a:lstStyle/>
          <a:p>
            <a:r>
              <a:rPr lang="en-US" dirty="0"/>
              <a:t>How does Kanban compare with Scrum? </a:t>
            </a:r>
          </a:p>
          <a:p>
            <a:r>
              <a:rPr lang="en-US" dirty="0"/>
              <a:t>Scrum is a great fit for products/ projects with a </a:t>
            </a:r>
            <a:r>
              <a:rPr lang="en-US" b="1" dirty="0"/>
              <a:t>time-boxed</a:t>
            </a:r>
            <a:r>
              <a:rPr lang="en-US" dirty="0"/>
              <a:t> workflow, such as product development efforts, that can progress in a series of sprints or iterations. </a:t>
            </a:r>
          </a:p>
          <a:p>
            <a:r>
              <a:rPr lang="en-US" dirty="0"/>
              <a:t>On the other hand, Kanban is a better fit for an </a:t>
            </a:r>
            <a:r>
              <a:rPr lang="en-US" b="1" dirty="0"/>
              <a:t>unpredictable</a:t>
            </a:r>
            <a:r>
              <a:rPr lang="en-US" dirty="0"/>
              <a:t> workflow, </a:t>
            </a:r>
            <a:r>
              <a:rPr lang="en-US" b="1" dirty="0"/>
              <a:t>unplanned</a:t>
            </a:r>
            <a:r>
              <a:rPr lang="en-US" dirty="0"/>
              <a:t> work, and development tasks that require deployment in less time than a typical iteration. </a:t>
            </a:r>
          </a:p>
          <a:p>
            <a:r>
              <a:rPr lang="en-US" dirty="0"/>
              <a:t>For example, Kanban is a great fit for help desk tickets and custom software support where small tickets are continually created and require speedy resolution.</a:t>
            </a:r>
          </a:p>
        </p:txBody>
      </p:sp>
      <p:sp>
        <p:nvSpPr>
          <p:cNvPr id="4" name="Slide Number Placeholder 3">
            <a:extLst>
              <a:ext uri="{FF2B5EF4-FFF2-40B4-BE49-F238E27FC236}">
                <a16:creationId xmlns:a16="http://schemas.microsoft.com/office/drawing/2014/main" id="{D592195E-755D-4F94-9F5E-4797A64DE0BA}"/>
              </a:ext>
            </a:extLst>
          </p:cNvPr>
          <p:cNvSpPr>
            <a:spLocks noGrp="1"/>
          </p:cNvSpPr>
          <p:nvPr>
            <p:ph type="sldNum" sz="quarter" idx="12"/>
          </p:nvPr>
        </p:nvSpPr>
        <p:spPr/>
        <p:txBody>
          <a:bodyPr/>
          <a:lstStyle/>
          <a:p>
            <a:fld id="{C70AC583-F9E3-4A59-98F2-FD7379A90CB7}" type="slidenum">
              <a:rPr lang="en-IN" smtClean="0"/>
              <a:pPr/>
              <a:t>5</a:t>
            </a:fld>
            <a:endParaRPr lang="en-IN" b="0" dirty="0"/>
          </a:p>
        </p:txBody>
      </p:sp>
    </p:spTree>
    <p:extLst>
      <p:ext uri="{BB962C8B-B14F-4D97-AF65-F5344CB8AC3E}">
        <p14:creationId xmlns:p14="http://schemas.microsoft.com/office/powerpoint/2010/main" val="3157767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E6A24-9E16-A0D6-9ADF-BCEA674F0A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EDA593-3645-D5F2-2C55-6FC4566544F8}"/>
              </a:ext>
            </a:extLst>
          </p:cNvPr>
          <p:cNvSpPr>
            <a:spLocks noGrp="1"/>
          </p:cNvSpPr>
          <p:nvPr>
            <p:ph type="title"/>
          </p:nvPr>
        </p:nvSpPr>
        <p:spPr/>
        <p:txBody>
          <a:bodyPr/>
          <a:lstStyle/>
          <a:p>
            <a:r>
              <a:rPr lang="en-IN" dirty="0"/>
              <a:t>Kanban</a:t>
            </a:r>
          </a:p>
        </p:txBody>
      </p:sp>
      <p:sp>
        <p:nvSpPr>
          <p:cNvPr id="3" name="Content Placeholder 2">
            <a:extLst>
              <a:ext uri="{FF2B5EF4-FFF2-40B4-BE49-F238E27FC236}">
                <a16:creationId xmlns:a16="http://schemas.microsoft.com/office/drawing/2014/main" id="{58A54F7F-83CD-2DE2-6A75-7952862B9FC5}"/>
              </a:ext>
            </a:extLst>
          </p:cNvPr>
          <p:cNvSpPr>
            <a:spLocks noGrp="1"/>
          </p:cNvSpPr>
          <p:nvPr>
            <p:ph idx="1"/>
          </p:nvPr>
        </p:nvSpPr>
        <p:spPr>
          <a:xfrm>
            <a:off x="266330" y="1020932"/>
            <a:ext cx="8611340" cy="5700544"/>
          </a:xfrm>
        </p:spPr>
        <p:txBody>
          <a:bodyPr>
            <a:normAutofit/>
          </a:bodyPr>
          <a:lstStyle/>
          <a:p>
            <a:r>
              <a:rPr lang="en-US" dirty="0"/>
              <a:t>Let’s look at Cayman Design for examples. The new calendar option, where customers can buy print calendars with weather-related historical information, is new product development. </a:t>
            </a:r>
          </a:p>
          <a:p>
            <a:r>
              <a:rPr lang="en-US" dirty="0"/>
              <a:t>It makes sense for that work to progress on a sprint cycle, with new features added in each sprint until the entire product is ready for release.</a:t>
            </a:r>
          </a:p>
          <a:p>
            <a:r>
              <a:rPr lang="en-US" dirty="0"/>
              <a:t>Our product that is in production, however, may have issues that our current customers need addressed, and we have a support team that works those tickets.</a:t>
            </a:r>
          </a:p>
        </p:txBody>
      </p:sp>
      <p:sp>
        <p:nvSpPr>
          <p:cNvPr id="4" name="Slide Number Placeholder 3">
            <a:extLst>
              <a:ext uri="{FF2B5EF4-FFF2-40B4-BE49-F238E27FC236}">
                <a16:creationId xmlns:a16="http://schemas.microsoft.com/office/drawing/2014/main" id="{ED5642E4-E775-5451-A6F9-25D421F224ED}"/>
              </a:ext>
            </a:extLst>
          </p:cNvPr>
          <p:cNvSpPr>
            <a:spLocks noGrp="1"/>
          </p:cNvSpPr>
          <p:nvPr>
            <p:ph type="sldNum" sz="quarter" idx="12"/>
          </p:nvPr>
        </p:nvSpPr>
        <p:spPr/>
        <p:txBody>
          <a:bodyPr/>
          <a:lstStyle/>
          <a:p>
            <a:fld id="{C70AC583-F9E3-4A59-98F2-FD7379A90CB7}" type="slidenum">
              <a:rPr lang="en-IN" smtClean="0"/>
              <a:pPr/>
              <a:t>6</a:t>
            </a:fld>
            <a:endParaRPr lang="en-IN" b="0" dirty="0"/>
          </a:p>
        </p:txBody>
      </p:sp>
    </p:spTree>
    <p:extLst>
      <p:ext uri="{BB962C8B-B14F-4D97-AF65-F5344CB8AC3E}">
        <p14:creationId xmlns:p14="http://schemas.microsoft.com/office/powerpoint/2010/main" val="238449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6EC8A-9B77-BC77-42C4-918135C733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599DA8-4293-C060-7D95-1A34EED28EA1}"/>
              </a:ext>
            </a:extLst>
          </p:cNvPr>
          <p:cNvSpPr>
            <a:spLocks noGrp="1"/>
          </p:cNvSpPr>
          <p:nvPr>
            <p:ph type="title"/>
          </p:nvPr>
        </p:nvSpPr>
        <p:spPr/>
        <p:txBody>
          <a:bodyPr/>
          <a:lstStyle/>
          <a:p>
            <a:r>
              <a:rPr lang="en-IN" dirty="0"/>
              <a:t>Kanban</a:t>
            </a:r>
          </a:p>
        </p:txBody>
      </p:sp>
      <p:sp>
        <p:nvSpPr>
          <p:cNvPr id="3" name="Content Placeholder 2">
            <a:extLst>
              <a:ext uri="{FF2B5EF4-FFF2-40B4-BE49-F238E27FC236}">
                <a16:creationId xmlns:a16="http://schemas.microsoft.com/office/drawing/2014/main" id="{8FC0BC4F-C216-F6FD-7EFC-700EA3B99F25}"/>
              </a:ext>
            </a:extLst>
          </p:cNvPr>
          <p:cNvSpPr>
            <a:spLocks noGrp="1"/>
          </p:cNvSpPr>
          <p:nvPr>
            <p:ph idx="1"/>
          </p:nvPr>
        </p:nvSpPr>
        <p:spPr>
          <a:xfrm>
            <a:off x="266330" y="1020932"/>
            <a:ext cx="8611340" cy="5700544"/>
          </a:xfrm>
        </p:spPr>
        <p:txBody>
          <a:bodyPr>
            <a:normAutofit/>
          </a:bodyPr>
          <a:lstStyle/>
          <a:p>
            <a:r>
              <a:rPr lang="en-US" dirty="0"/>
              <a:t>One customer may report an issue with the browser Chrome; the support team needs to log that ticket, investigate it, write code to correct the issue, and then push that code to production. </a:t>
            </a:r>
          </a:p>
          <a:p>
            <a:r>
              <a:rPr lang="en-US" dirty="0"/>
              <a:t>The customer would not want to wait for that story to be groomed, prioritized, estimated, and put into a sprint and then worked on—they need it fixed right away. </a:t>
            </a:r>
          </a:p>
          <a:p>
            <a:r>
              <a:rPr lang="en-US" dirty="0"/>
              <a:t>This is where Kanban is a great option because it shares all of the Agile elements that make this work so well— collaboration, clear prioritization, small increments of work, fast delivery of working software—and moves it to a continuous workflow.</a:t>
            </a:r>
          </a:p>
        </p:txBody>
      </p:sp>
      <p:sp>
        <p:nvSpPr>
          <p:cNvPr id="4" name="Slide Number Placeholder 3">
            <a:extLst>
              <a:ext uri="{FF2B5EF4-FFF2-40B4-BE49-F238E27FC236}">
                <a16:creationId xmlns:a16="http://schemas.microsoft.com/office/drawing/2014/main" id="{C7B428E3-0CAB-4330-613C-4BF37A696019}"/>
              </a:ext>
            </a:extLst>
          </p:cNvPr>
          <p:cNvSpPr>
            <a:spLocks noGrp="1"/>
          </p:cNvSpPr>
          <p:nvPr>
            <p:ph type="sldNum" sz="quarter" idx="12"/>
          </p:nvPr>
        </p:nvSpPr>
        <p:spPr/>
        <p:txBody>
          <a:bodyPr/>
          <a:lstStyle/>
          <a:p>
            <a:fld id="{C70AC583-F9E3-4A59-98F2-FD7379A90CB7}" type="slidenum">
              <a:rPr lang="en-IN" smtClean="0"/>
              <a:pPr/>
              <a:t>7</a:t>
            </a:fld>
            <a:endParaRPr lang="en-IN" b="0" dirty="0"/>
          </a:p>
        </p:txBody>
      </p:sp>
    </p:spTree>
    <p:extLst>
      <p:ext uri="{BB962C8B-B14F-4D97-AF65-F5344CB8AC3E}">
        <p14:creationId xmlns:p14="http://schemas.microsoft.com/office/powerpoint/2010/main" val="425970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92D96-6387-AF9B-A9A3-E71F16B4434C}"/>
              </a:ext>
            </a:extLst>
          </p:cNvPr>
          <p:cNvSpPr>
            <a:spLocks noGrp="1"/>
          </p:cNvSpPr>
          <p:nvPr>
            <p:ph type="title"/>
          </p:nvPr>
        </p:nvSpPr>
        <p:spPr/>
        <p:txBody>
          <a:bodyPr/>
          <a:lstStyle/>
          <a:p>
            <a:r>
              <a:rPr lang="en-IN" dirty="0"/>
              <a:t>Kanban Board</a:t>
            </a:r>
          </a:p>
        </p:txBody>
      </p:sp>
      <p:sp>
        <p:nvSpPr>
          <p:cNvPr id="3" name="Content Placeholder 2">
            <a:extLst>
              <a:ext uri="{FF2B5EF4-FFF2-40B4-BE49-F238E27FC236}">
                <a16:creationId xmlns:a16="http://schemas.microsoft.com/office/drawing/2014/main" id="{D949A8F0-805E-6B2E-815B-B9B489FEB9D5}"/>
              </a:ext>
            </a:extLst>
          </p:cNvPr>
          <p:cNvSpPr>
            <a:spLocks noGrp="1"/>
          </p:cNvSpPr>
          <p:nvPr>
            <p:ph idx="1"/>
          </p:nvPr>
        </p:nvSpPr>
        <p:spPr/>
        <p:txBody>
          <a:bodyPr>
            <a:normAutofit/>
          </a:bodyPr>
          <a:lstStyle/>
          <a:p>
            <a:r>
              <a:rPr lang="en-US" dirty="0"/>
              <a:t>Teams often use white boards and sticky notes to create the Kanban board, but any visual tool can be used, from a chalkboard to a large sheet of paper and markers. There are also software programs that create online Kanban boards, which is helpful for distributed teams.</a:t>
            </a:r>
          </a:p>
          <a:p>
            <a:r>
              <a:rPr lang="en-US" dirty="0"/>
              <a:t>Looking at a specific example, we have five columns on our Kanban board:</a:t>
            </a:r>
          </a:p>
          <a:p>
            <a:r>
              <a:rPr lang="en-US" b="1" dirty="0"/>
              <a:t>“backlog,” “not started,” “in progress,” “testing,” and “completed.” </a:t>
            </a:r>
          </a:p>
          <a:p>
            <a:r>
              <a:rPr lang="en-US" dirty="0"/>
              <a:t>Because workflow stages can vary based on the nature of the work, the columns will change to match the needs of the particular team.</a:t>
            </a:r>
            <a:endParaRPr lang="en-IN" dirty="0"/>
          </a:p>
        </p:txBody>
      </p:sp>
      <p:sp>
        <p:nvSpPr>
          <p:cNvPr id="4" name="Slide Number Placeholder 3">
            <a:extLst>
              <a:ext uri="{FF2B5EF4-FFF2-40B4-BE49-F238E27FC236}">
                <a16:creationId xmlns:a16="http://schemas.microsoft.com/office/drawing/2014/main" id="{E5C724A2-9F0A-1AD0-2560-874F35E70BBD}"/>
              </a:ext>
            </a:extLst>
          </p:cNvPr>
          <p:cNvSpPr>
            <a:spLocks noGrp="1"/>
          </p:cNvSpPr>
          <p:nvPr>
            <p:ph type="sldNum" sz="quarter" idx="12"/>
          </p:nvPr>
        </p:nvSpPr>
        <p:spPr/>
        <p:txBody>
          <a:bodyPr/>
          <a:lstStyle/>
          <a:p>
            <a:fld id="{C70AC583-F9E3-4A59-98F2-FD7379A90CB7}" type="slidenum">
              <a:rPr lang="en-IN" smtClean="0"/>
              <a:pPr/>
              <a:t>8</a:t>
            </a:fld>
            <a:endParaRPr lang="en-IN" b="0" dirty="0"/>
          </a:p>
        </p:txBody>
      </p:sp>
    </p:spTree>
    <p:extLst>
      <p:ext uri="{BB962C8B-B14F-4D97-AF65-F5344CB8AC3E}">
        <p14:creationId xmlns:p14="http://schemas.microsoft.com/office/powerpoint/2010/main" val="1959752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1DA77-E096-BD7F-4BD3-CD54AEB612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B51BF2-DAFA-DBEE-BD52-BFFDEE5751F4}"/>
              </a:ext>
            </a:extLst>
          </p:cNvPr>
          <p:cNvSpPr>
            <a:spLocks noGrp="1"/>
          </p:cNvSpPr>
          <p:nvPr>
            <p:ph type="title"/>
          </p:nvPr>
        </p:nvSpPr>
        <p:spPr/>
        <p:txBody>
          <a:bodyPr/>
          <a:lstStyle/>
          <a:p>
            <a:r>
              <a:rPr lang="en-IN" dirty="0"/>
              <a:t>Kanban Board</a:t>
            </a:r>
          </a:p>
        </p:txBody>
      </p:sp>
      <p:sp>
        <p:nvSpPr>
          <p:cNvPr id="3" name="Content Placeholder 2">
            <a:extLst>
              <a:ext uri="{FF2B5EF4-FFF2-40B4-BE49-F238E27FC236}">
                <a16:creationId xmlns:a16="http://schemas.microsoft.com/office/drawing/2014/main" id="{2D99FEF4-BA90-1B93-31F5-C50C331C8E45}"/>
              </a:ext>
            </a:extLst>
          </p:cNvPr>
          <p:cNvSpPr>
            <a:spLocks noGrp="1"/>
          </p:cNvSpPr>
          <p:nvPr>
            <p:ph idx="1"/>
          </p:nvPr>
        </p:nvSpPr>
        <p:spPr/>
        <p:txBody>
          <a:bodyPr>
            <a:normAutofit fontScale="92500" lnSpcReduction="20000"/>
          </a:bodyPr>
          <a:lstStyle/>
          <a:p>
            <a:r>
              <a:rPr lang="en-US" b="1" dirty="0"/>
              <a:t>Backlog</a:t>
            </a:r>
          </a:p>
          <a:p>
            <a:pPr lvl="1"/>
            <a:r>
              <a:rPr lang="en-US" dirty="0"/>
              <a:t>The product owner puts all of the requirements (stories) on sticky notes in priority order. The estimated effort of the requirement is also noted. This list could be quite lengthy, depending on the size of the backlog.</a:t>
            </a:r>
          </a:p>
          <a:p>
            <a:r>
              <a:rPr lang="en-US" b="1" dirty="0"/>
              <a:t>Not started</a:t>
            </a:r>
          </a:p>
          <a:p>
            <a:pPr lvl="1"/>
            <a:r>
              <a:rPr lang="en-US" dirty="0"/>
              <a:t>These stories have been selected by a developer and are therefore assigned, but the development work has yet to begin. This is equivalent to a “pending” queue, or the next items to be worked.</a:t>
            </a:r>
          </a:p>
          <a:p>
            <a:r>
              <a:rPr lang="en-US" b="1" dirty="0"/>
              <a:t>In progress</a:t>
            </a:r>
          </a:p>
          <a:p>
            <a:pPr lvl="1"/>
            <a:r>
              <a:rPr lang="en-US" dirty="0"/>
              <a:t>These are the requirements that are currently being coded by a developer.</a:t>
            </a:r>
          </a:p>
          <a:p>
            <a:r>
              <a:rPr lang="en-US" b="1" dirty="0"/>
              <a:t>Testing</a:t>
            </a:r>
          </a:p>
          <a:p>
            <a:pPr lvl="1"/>
            <a:r>
              <a:rPr lang="en-US" dirty="0"/>
              <a:t>This is when the testing is done to ensure that the code is working as intended.</a:t>
            </a:r>
          </a:p>
          <a:p>
            <a:r>
              <a:rPr lang="en-US" b="1" dirty="0"/>
              <a:t>Completed</a:t>
            </a:r>
          </a:p>
          <a:p>
            <a:pPr lvl="1"/>
            <a:r>
              <a:rPr lang="en-US" dirty="0"/>
              <a:t>The requirements in this column are considered ready to be delivered to a customer.</a:t>
            </a:r>
            <a:endParaRPr lang="en-IN" dirty="0"/>
          </a:p>
        </p:txBody>
      </p:sp>
      <p:sp>
        <p:nvSpPr>
          <p:cNvPr id="4" name="Slide Number Placeholder 3">
            <a:extLst>
              <a:ext uri="{FF2B5EF4-FFF2-40B4-BE49-F238E27FC236}">
                <a16:creationId xmlns:a16="http://schemas.microsoft.com/office/drawing/2014/main" id="{187880DB-C819-5297-7822-22F3E90B44ED}"/>
              </a:ext>
            </a:extLst>
          </p:cNvPr>
          <p:cNvSpPr>
            <a:spLocks noGrp="1"/>
          </p:cNvSpPr>
          <p:nvPr>
            <p:ph type="sldNum" sz="quarter" idx="12"/>
          </p:nvPr>
        </p:nvSpPr>
        <p:spPr/>
        <p:txBody>
          <a:bodyPr/>
          <a:lstStyle/>
          <a:p>
            <a:fld id="{C70AC583-F9E3-4A59-98F2-FD7379A90CB7}" type="slidenum">
              <a:rPr lang="en-IN" smtClean="0"/>
              <a:pPr/>
              <a:t>9</a:t>
            </a:fld>
            <a:endParaRPr lang="en-IN" b="0" dirty="0"/>
          </a:p>
        </p:txBody>
      </p:sp>
    </p:spTree>
    <p:extLst>
      <p:ext uri="{BB962C8B-B14F-4D97-AF65-F5344CB8AC3E}">
        <p14:creationId xmlns:p14="http://schemas.microsoft.com/office/powerpoint/2010/main" val="1726928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51EE3-DC8B-69E9-FDFC-75761A4115A0}"/>
              </a:ext>
            </a:extLst>
          </p:cNvPr>
          <p:cNvSpPr>
            <a:spLocks noGrp="1"/>
          </p:cNvSpPr>
          <p:nvPr>
            <p:ph type="title"/>
          </p:nvPr>
        </p:nvSpPr>
        <p:spPr/>
        <p:txBody>
          <a:bodyPr/>
          <a:lstStyle/>
          <a:p>
            <a:r>
              <a:rPr lang="en-US" dirty="0"/>
              <a:t>Work in Progress (WIP) Limit</a:t>
            </a:r>
            <a:endParaRPr lang="en-IN" dirty="0"/>
          </a:p>
        </p:txBody>
      </p:sp>
      <p:sp>
        <p:nvSpPr>
          <p:cNvPr id="3" name="Content Placeholder 2">
            <a:extLst>
              <a:ext uri="{FF2B5EF4-FFF2-40B4-BE49-F238E27FC236}">
                <a16:creationId xmlns:a16="http://schemas.microsoft.com/office/drawing/2014/main" id="{DA50207F-5EC3-AF0F-5042-0BCDD5EEA3FE}"/>
              </a:ext>
            </a:extLst>
          </p:cNvPr>
          <p:cNvSpPr>
            <a:spLocks noGrp="1"/>
          </p:cNvSpPr>
          <p:nvPr>
            <p:ph idx="1"/>
          </p:nvPr>
        </p:nvSpPr>
        <p:spPr/>
        <p:txBody>
          <a:bodyPr/>
          <a:lstStyle/>
          <a:p>
            <a:r>
              <a:rPr lang="en-US" dirty="0"/>
              <a:t>Kanban allows for limiting the amount of work (stories) in a given stage at any point in time; this limit is commonly referred to as the work in progress (WIP) limit. </a:t>
            </a:r>
          </a:p>
          <a:p>
            <a:r>
              <a:rPr lang="en-US" dirty="0"/>
              <a:t>WIP limits help organizations to identify where there are bottlenecks in their processes. </a:t>
            </a:r>
          </a:p>
          <a:p>
            <a:r>
              <a:rPr lang="en-US" dirty="0"/>
              <a:t>One of the key tenets of Agile is increased transparency, and the Kanban WIP limits bring attention and focus to the areas of the business where things are slowing down so we can quickly address and correct the situation.</a:t>
            </a:r>
            <a:endParaRPr lang="en-IN" dirty="0"/>
          </a:p>
        </p:txBody>
      </p:sp>
      <p:sp>
        <p:nvSpPr>
          <p:cNvPr id="4" name="Slide Number Placeholder 3">
            <a:extLst>
              <a:ext uri="{FF2B5EF4-FFF2-40B4-BE49-F238E27FC236}">
                <a16:creationId xmlns:a16="http://schemas.microsoft.com/office/drawing/2014/main" id="{C939ABBC-E879-DF95-D9EC-79EBEF257AE6}"/>
              </a:ext>
            </a:extLst>
          </p:cNvPr>
          <p:cNvSpPr>
            <a:spLocks noGrp="1"/>
          </p:cNvSpPr>
          <p:nvPr>
            <p:ph type="sldNum" sz="quarter" idx="12"/>
          </p:nvPr>
        </p:nvSpPr>
        <p:spPr/>
        <p:txBody>
          <a:bodyPr/>
          <a:lstStyle/>
          <a:p>
            <a:fld id="{C70AC583-F9E3-4A59-98F2-FD7379A90CB7}" type="slidenum">
              <a:rPr lang="en-IN" smtClean="0"/>
              <a:pPr/>
              <a:t>10</a:t>
            </a:fld>
            <a:endParaRPr lang="en-IN" b="0" dirty="0"/>
          </a:p>
        </p:txBody>
      </p:sp>
    </p:spTree>
    <p:extLst>
      <p:ext uri="{BB962C8B-B14F-4D97-AF65-F5344CB8AC3E}">
        <p14:creationId xmlns:p14="http://schemas.microsoft.com/office/powerpoint/2010/main" val="313671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4FC40-E27E-8CA6-93D2-95C2B8E002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249DBE-451C-759B-45AC-BFE58978281B}"/>
              </a:ext>
            </a:extLst>
          </p:cNvPr>
          <p:cNvSpPr>
            <a:spLocks noGrp="1"/>
          </p:cNvSpPr>
          <p:nvPr>
            <p:ph type="title"/>
          </p:nvPr>
        </p:nvSpPr>
        <p:spPr/>
        <p:txBody>
          <a:bodyPr/>
          <a:lstStyle/>
          <a:p>
            <a:r>
              <a:rPr lang="en-US" dirty="0"/>
              <a:t>Work in Progress (WIP) Limit</a:t>
            </a:r>
            <a:endParaRPr lang="en-IN" dirty="0"/>
          </a:p>
        </p:txBody>
      </p:sp>
      <p:sp>
        <p:nvSpPr>
          <p:cNvPr id="3" name="Content Placeholder 2">
            <a:extLst>
              <a:ext uri="{FF2B5EF4-FFF2-40B4-BE49-F238E27FC236}">
                <a16:creationId xmlns:a16="http://schemas.microsoft.com/office/drawing/2014/main" id="{BC5B32C3-1264-9D8C-C4CD-6F422DA40373}"/>
              </a:ext>
            </a:extLst>
          </p:cNvPr>
          <p:cNvSpPr>
            <a:spLocks noGrp="1"/>
          </p:cNvSpPr>
          <p:nvPr>
            <p:ph idx="1"/>
          </p:nvPr>
        </p:nvSpPr>
        <p:spPr/>
        <p:txBody>
          <a:bodyPr/>
          <a:lstStyle/>
          <a:p>
            <a:r>
              <a:rPr lang="en-US" dirty="0"/>
              <a:t>For example, on our Kanban board, we have the following WIP limits:</a:t>
            </a:r>
          </a:p>
          <a:p>
            <a:pPr lvl="2"/>
            <a:r>
              <a:rPr lang="en-US" dirty="0"/>
              <a:t>Backlog: No limit</a:t>
            </a:r>
          </a:p>
          <a:p>
            <a:pPr lvl="2"/>
            <a:r>
              <a:rPr lang="en-US" dirty="0"/>
              <a:t>Not started: WIP limit of 5</a:t>
            </a:r>
          </a:p>
          <a:p>
            <a:pPr lvl="2"/>
            <a:r>
              <a:rPr lang="en-US" dirty="0"/>
              <a:t>In progress: WIP limit of 4</a:t>
            </a:r>
          </a:p>
          <a:p>
            <a:pPr lvl="2"/>
            <a:r>
              <a:rPr lang="en-US" dirty="0"/>
              <a:t>Testing: WIP limit of 3</a:t>
            </a:r>
          </a:p>
          <a:p>
            <a:pPr lvl="2"/>
            <a:r>
              <a:rPr lang="en-US" dirty="0"/>
              <a:t>Completed: No limit</a:t>
            </a:r>
          </a:p>
          <a:p>
            <a:endParaRPr lang="en-IN" dirty="0"/>
          </a:p>
        </p:txBody>
      </p:sp>
      <p:sp>
        <p:nvSpPr>
          <p:cNvPr id="4" name="Slide Number Placeholder 3">
            <a:extLst>
              <a:ext uri="{FF2B5EF4-FFF2-40B4-BE49-F238E27FC236}">
                <a16:creationId xmlns:a16="http://schemas.microsoft.com/office/drawing/2014/main" id="{F3663EAD-3E96-F36E-1F57-DABDD14995DA}"/>
              </a:ext>
            </a:extLst>
          </p:cNvPr>
          <p:cNvSpPr>
            <a:spLocks noGrp="1"/>
          </p:cNvSpPr>
          <p:nvPr>
            <p:ph type="sldNum" sz="quarter" idx="12"/>
          </p:nvPr>
        </p:nvSpPr>
        <p:spPr/>
        <p:txBody>
          <a:bodyPr/>
          <a:lstStyle/>
          <a:p>
            <a:fld id="{C70AC583-F9E3-4A59-98F2-FD7379A90CB7}" type="slidenum">
              <a:rPr lang="en-IN" smtClean="0"/>
              <a:pPr/>
              <a:t>11</a:t>
            </a:fld>
            <a:endParaRPr lang="en-IN" b="0" dirty="0"/>
          </a:p>
        </p:txBody>
      </p:sp>
      <p:pic>
        <p:nvPicPr>
          <p:cNvPr id="6" name="Picture 5">
            <a:extLst>
              <a:ext uri="{FF2B5EF4-FFF2-40B4-BE49-F238E27FC236}">
                <a16:creationId xmlns:a16="http://schemas.microsoft.com/office/drawing/2014/main" id="{D6B81A85-3D84-390C-CCE6-B486A56AD15C}"/>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Effect>
                      <a14:brightnessContrast contrast="40000"/>
                    </a14:imgEffect>
                  </a14:imgLayer>
                </a14:imgProps>
              </a:ext>
            </a:extLst>
          </a:blip>
          <a:stretch>
            <a:fillRect/>
          </a:stretch>
        </p:blipFill>
        <p:spPr>
          <a:xfrm>
            <a:off x="874669" y="3493008"/>
            <a:ext cx="6853697" cy="3364992"/>
          </a:xfrm>
          <a:prstGeom prst="rect">
            <a:avLst/>
          </a:prstGeom>
        </p:spPr>
      </p:pic>
    </p:spTree>
    <p:extLst>
      <p:ext uri="{BB962C8B-B14F-4D97-AF65-F5344CB8AC3E}">
        <p14:creationId xmlns:p14="http://schemas.microsoft.com/office/powerpoint/2010/main" val="39692208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841EB-FD6D-FC8C-5684-B0CFD0F78B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242EC4-8D38-07E3-E4B5-B1CFAB83E90C}"/>
              </a:ext>
            </a:extLst>
          </p:cNvPr>
          <p:cNvSpPr>
            <a:spLocks noGrp="1"/>
          </p:cNvSpPr>
          <p:nvPr>
            <p:ph type="title"/>
          </p:nvPr>
        </p:nvSpPr>
        <p:spPr/>
        <p:txBody>
          <a:bodyPr/>
          <a:lstStyle/>
          <a:p>
            <a:r>
              <a:rPr lang="en-US" dirty="0"/>
              <a:t>Work in Progress (WIP) Limit</a:t>
            </a:r>
            <a:endParaRPr lang="en-IN" dirty="0"/>
          </a:p>
        </p:txBody>
      </p:sp>
      <p:sp>
        <p:nvSpPr>
          <p:cNvPr id="3" name="Content Placeholder 2">
            <a:extLst>
              <a:ext uri="{FF2B5EF4-FFF2-40B4-BE49-F238E27FC236}">
                <a16:creationId xmlns:a16="http://schemas.microsoft.com/office/drawing/2014/main" id="{98AA528F-A219-E8E0-6A90-219355CF6289}"/>
              </a:ext>
            </a:extLst>
          </p:cNvPr>
          <p:cNvSpPr>
            <a:spLocks noGrp="1"/>
          </p:cNvSpPr>
          <p:nvPr>
            <p:ph idx="1"/>
          </p:nvPr>
        </p:nvSpPr>
        <p:spPr/>
        <p:txBody>
          <a:bodyPr>
            <a:normAutofit fontScale="85000" lnSpcReduction="20000"/>
          </a:bodyPr>
          <a:lstStyle/>
          <a:p>
            <a:r>
              <a:rPr lang="en-US" dirty="0"/>
              <a:t>By having these limits, we can identify where our bottlenecks are. </a:t>
            </a:r>
          </a:p>
          <a:p>
            <a:r>
              <a:rPr lang="en-US" dirty="0"/>
              <a:t>In this rudimentary example, all of the WIP limits have been reached, and each person is working diligently on his or her tasks. If the developer finishes task D, he cannot move it into testing because their queue is already full. </a:t>
            </a:r>
          </a:p>
          <a:p>
            <a:r>
              <a:rPr lang="en-US" dirty="0"/>
              <a:t>He must wait until task A, B, or C is completed in testing and moved to completion before task D can be pulled into the testing queue. To move task D into testing now would violate the testing WIP limit of 3.</a:t>
            </a:r>
          </a:p>
          <a:p>
            <a:r>
              <a:rPr lang="en-US" dirty="0"/>
              <a:t>Therefore, our developer </a:t>
            </a:r>
            <a:br>
              <a:rPr lang="en-US" dirty="0"/>
            </a:br>
            <a:r>
              <a:rPr lang="en-US" dirty="0"/>
              <a:t>who has completed task D</a:t>
            </a:r>
            <a:br>
              <a:rPr lang="en-US" dirty="0"/>
            </a:br>
            <a:r>
              <a:rPr lang="en-US" dirty="0"/>
              <a:t>cannot pull task H in from </a:t>
            </a:r>
            <a:br>
              <a:rPr lang="en-US" dirty="0"/>
            </a:br>
            <a:r>
              <a:rPr lang="en-US" dirty="0"/>
              <a:t>the “not started” queue, </a:t>
            </a:r>
            <a:br>
              <a:rPr lang="en-US" dirty="0"/>
            </a:br>
            <a:r>
              <a:rPr lang="en-US" dirty="0"/>
              <a:t>because adding that task </a:t>
            </a:r>
            <a:br>
              <a:rPr lang="en-US" dirty="0"/>
            </a:br>
            <a:r>
              <a:rPr lang="en-US" dirty="0"/>
              <a:t>to the “in progress” queue</a:t>
            </a:r>
            <a:br>
              <a:rPr lang="en-US" dirty="0"/>
            </a:br>
            <a:r>
              <a:rPr lang="en-US" dirty="0"/>
              <a:t> would violate the WIP </a:t>
            </a:r>
            <a:br>
              <a:rPr lang="en-US" dirty="0"/>
            </a:br>
            <a:r>
              <a:rPr lang="en-US" dirty="0"/>
              <a:t>limit of 4.</a:t>
            </a:r>
            <a:endParaRPr lang="en-IN" dirty="0"/>
          </a:p>
        </p:txBody>
      </p:sp>
      <p:sp>
        <p:nvSpPr>
          <p:cNvPr id="4" name="Slide Number Placeholder 3">
            <a:extLst>
              <a:ext uri="{FF2B5EF4-FFF2-40B4-BE49-F238E27FC236}">
                <a16:creationId xmlns:a16="http://schemas.microsoft.com/office/drawing/2014/main" id="{5D9364B1-FF3E-701D-87CE-11D26600DAA4}"/>
              </a:ext>
            </a:extLst>
          </p:cNvPr>
          <p:cNvSpPr>
            <a:spLocks noGrp="1"/>
          </p:cNvSpPr>
          <p:nvPr>
            <p:ph type="sldNum" sz="quarter" idx="12"/>
          </p:nvPr>
        </p:nvSpPr>
        <p:spPr/>
        <p:txBody>
          <a:bodyPr/>
          <a:lstStyle/>
          <a:p>
            <a:fld id="{C70AC583-F9E3-4A59-98F2-FD7379A90CB7}" type="slidenum">
              <a:rPr lang="en-IN" smtClean="0"/>
              <a:pPr/>
              <a:t>12</a:t>
            </a:fld>
            <a:endParaRPr lang="en-IN" b="0" dirty="0"/>
          </a:p>
        </p:txBody>
      </p:sp>
      <p:pic>
        <p:nvPicPr>
          <p:cNvPr id="5" name="Picture 4">
            <a:extLst>
              <a:ext uri="{FF2B5EF4-FFF2-40B4-BE49-F238E27FC236}">
                <a16:creationId xmlns:a16="http://schemas.microsoft.com/office/drawing/2014/main" id="{06CEF217-1BEF-7177-348A-0CF3488C6F67}"/>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Effect>
                      <a14:brightnessContrast contrast="40000"/>
                    </a14:imgEffect>
                  </a14:imgLayer>
                </a14:imgProps>
              </a:ext>
            </a:extLst>
          </a:blip>
          <a:stretch>
            <a:fillRect/>
          </a:stretch>
        </p:blipFill>
        <p:spPr>
          <a:xfrm>
            <a:off x="4075071" y="3715551"/>
            <a:ext cx="5631840" cy="2765091"/>
          </a:xfrm>
          <a:prstGeom prst="rect">
            <a:avLst/>
          </a:prstGeom>
        </p:spPr>
      </p:pic>
    </p:spTree>
    <p:extLst>
      <p:ext uri="{BB962C8B-B14F-4D97-AF65-F5344CB8AC3E}">
        <p14:creationId xmlns:p14="http://schemas.microsoft.com/office/powerpoint/2010/main" val="780682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113E7-5276-083B-1735-FC5DA8DB82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2A86C0-AD7B-15D0-CD9E-777A812A2792}"/>
              </a:ext>
            </a:extLst>
          </p:cNvPr>
          <p:cNvSpPr>
            <a:spLocks noGrp="1"/>
          </p:cNvSpPr>
          <p:nvPr>
            <p:ph type="title"/>
          </p:nvPr>
        </p:nvSpPr>
        <p:spPr/>
        <p:txBody>
          <a:bodyPr/>
          <a:lstStyle/>
          <a:p>
            <a:r>
              <a:rPr lang="en-US" dirty="0"/>
              <a:t>Work in Progress (WIP) Limit</a:t>
            </a:r>
            <a:endParaRPr lang="en-IN" dirty="0"/>
          </a:p>
        </p:txBody>
      </p:sp>
      <p:sp>
        <p:nvSpPr>
          <p:cNvPr id="3" name="Content Placeholder 2">
            <a:extLst>
              <a:ext uri="{FF2B5EF4-FFF2-40B4-BE49-F238E27FC236}">
                <a16:creationId xmlns:a16="http://schemas.microsoft.com/office/drawing/2014/main" id="{5A3ED4A3-2127-315C-5D22-6AC5087E5A3C}"/>
              </a:ext>
            </a:extLst>
          </p:cNvPr>
          <p:cNvSpPr>
            <a:spLocks noGrp="1"/>
          </p:cNvSpPr>
          <p:nvPr>
            <p:ph idx="1"/>
          </p:nvPr>
        </p:nvSpPr>
        <p:spPr/>
        <p:txBody>
          <a:bodyPr>
            <a:normAutofit lnSpcReduction="10000"/>
          </a:bodyPr>
          <a:lstStyle/>
          <a:p>
            <a:r>
              <a:rPr lang="en-US" dirty="0"/>
              <a:t>There are many reasons why this is valuable and reinforces the values of Agile. </a:t>
            </a:r>
          </a:p>
          <a:p>
            <a:r>
              <a:rPr lang="en-US" dirty="0"/>
              <a:t>Perhaps the developers are moving very fast and, as an unfortunate result, they are writing buggy code. </a:t>
            </a:r>
          </a:p>
          <a:p>
            <a:r>
              <a:rPr lang="en-US" dirty="0"/>
              <a:t>Thus, the testing queue is backed up because they cannot get tasks A, B and C to pass testing. </a:t>
            </a:r>
          </a:p>
          <a:p>
            <a:r>
              <a:rPr lang="en-US" dirty="0"/>
              <a:t>The developers are finishing more tasks but they cannot move them to testing yet—and they cannot pick up any new tasks. </a:t>
            </a:r>
          </a:p>
          <a:p>
            <a:r>
              <a:rPr lang="en-US" dirty="0"/>
              <a:t>Therefore, the developers can help the testers with their tasks; the testing queue will get cleared, and the developers will understand that the better code they write, the more smoothly the process will go.</a:t>
            </a:r>
            <a:endParaRPr lang="en-IN" dirty="0"/>
          </a:p>
        </p:txBody>
      </p:sp>
      <p:sp>
        <p:nvSpPr>
          <p:cNvPr id="4" name="Slide Number Placeholder 3">
            <a:extLst>
              <a:ext uri="{FF2B5EF4-FFF2-40B4-BE49-F238E27FC236}">
                <a16:creationId xmlns:a16="http://schemas.microsoft.com/office/drawing/2014/main" id="{3ACFD27B-EB84-4CA7-B925-86534598134F}"/>
              </a:ext>
            </a:extLst>
          </p:cNvPr>
          <p:cNvSpPr>
            <a:spLocks noGrp="1"/>
          </p:cNvSpPr>
          <p:nvPr>
            <p:ph type="sldNum" sz="quarter" idx="12"/>
          </p:nvPr>
        </p:nvSpPr>
        <p:spPr/>
        <p:txBody>
          <a:bodyPr/>
          <a:lstStyle/>
          <a:p>
            <a:fld id="{C70AC583-F9E3-4A59-98F2-FD7379A90CB7}" type="slidenum">
              <a:rPr lang="en-IN" smtClean="0"/>
              <a:pPr/>
              <a:t>13</a:t>
            </a:fld>
            <a:endParaRPr lang="en-IN" b="0" dirty="0"/>
          </a:p>
        </p:txBody>
      </p:sp>
    </p:spTree>
    <p:extLst>
      <p:ext uri="{BB962C8B-B14F-4D97-AF65-F5344CB8AC3E}">
        <p14:creationId xmlns:p14="http://schemas.microsoft.com/office/powerpoint/2010/main" val="1449219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88D06-FCCF-F3A1-9DFC-4FDE00EEA8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1AD9F7-1635-411A-88C4-841BE69469D0}"/>
              </a:ext>
            </a:extLst>
          </p:cNvPr>
          <p:cNvSpPr>
            <a:spLocks noGrp="1"/>
          </p:cNvSpPr>
          <p:nvPr>
            <p:ph type="title"/>
          </p:nvPr>
        </p:nvSpPr>
        <p:spPr/>
        <p:txBody>
          <a:bodyPr/>
          <a:lstStyle/>
          <a:p>
            <a:r>
              <a:rPr lang="en-US" dirty="0"/>
              <a:t>Work in Progress (WIP) Limit</a:t>
            </a:r>
            <a:endParaRPr lang="en-IN" dirty="0"/>
          </a:p>
        </p:txBody>
      </p:sp>
      <p:sp>
        <p:nvSpPr>
          <p:cNvPr id="3" name="Content Placeholder 2">
            <a:extLst>
              <a:ext uri="{FF2B5EF4-FFF2-40B4-BE49-F238E27FC236}">
                <a16:creationId xmlns:a16="http://schemas.microsoft.com/office/drawing/2014/main" id="{DE38F32D-CC7E-2A96-BEF6-1C8C079DD05F}"/>
              </a:ext>
            </a:extLst>
          </p:cNvPr>
          <p:cNvSpPr>
            <a:spLocks noGrp="1"/>
          </p:cNvSpPr>
          <p:nvPr>
            <p:ph idx="1"/>
          </p:nvPr>
        </p:nvSpPr>
        <p:spPr/>
        <p:txBody>
          <a:bodyPr>
            <a:normAutofit/>
          </a:bodyPr>
          <a:lstStyle/>
          <a:p>
            <a:r>
              <a:rPr lang="en-US" dirty="0"/>
              <a:t>The WIP limits also prevent the product owner (or executives) from forcing too much work on the team. </a:t>
            </a:r>
          </a:p>
          <a:p>
            <a:r>
              <a:rPr lang="en-US" dirty="0"/>
              <a:t>The “not started” queue has a WIP limit of 5, so those represent the stories or tasks that are well defined and prioritized. </a:t>
            </a:r>
          </a:p>
          <a:p>
            <a:r>
              <a:rPr lang="en-US" dirty="0"/>
              <a:t>Just as Scrum limits the amount of work by allowing the team to commit only to what they can reasonably finish in the duration of a sprint, the WIP limits accomplish the same goal by limiting how much work can be in each queue.</a:t>
            </a:r>
            <a:endParaRPr lang="en-IN" dirty="0"/>
          </a:p>
        </p:txBody>
      </p:sp>
      <p:sp>
        <p:nvSpPr>
          <p:cNvPr id="4" name="Slide Number Placeholder 3">
            <a:extLst>
              <a:ext uri="{FF2B5EF4-FFF2-40B4-BE49-F238E27FC236}">
                <a16:creationId xmlns:a16="http://schemas.microsoft.com/office/drawing/2014/main" id="{6CCE955E-E178-D693-003C-BF5B81F210BD}"/>
              </a:ext>
            </a:extLst>
          </p:cNvPr>
          <p:cNvSpPr>
            <a:spLocks noGrp="1"/>
          </p:cNvSpPr>
          <p:nvPr>
            <p:ph type="sldNum" sz="quarter" idx="12"/>
          </p:nvPr>
        </p:nvSpPr>
        <p:spPr/>
        <p:txBody>
          <a:bodyPr/>
          <a:lstStyle/>
          <a:p>
            <a:fld id="{C70AC583-F9E3-4A59-98F2-FD7379A90CB7}" type="slidenum">
              <a:rPr lang="en-IN" smtClean="0"/>
              <a:pPr/>
              <a:t>14</a:t>
            </a:fld>
            <a:endParaRPr lang="en-IN" b="0" dirty="0"/>
          </a:p>
        </p:txBody>
      </p:sp>
    </p:spTree>
    <p:extLst>
      <p:ext uri="{BB962C8B-B14F-4D97-AF65-F5344CB8AC3E}">
        <p14:creationId xmlns:p14="http://schemas.microsoft.com/office/powerpoint/2010/main" val="29439282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60B00-E236-FB3F-890E-C5F995CB6B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2DBA7B-853D-872B-E6BC-B5220842C59D}"/>
              </a:ext>
            </a:extLst>
          </p:cNvPr>
          <p:cNvSpPr>
            <a:spLocks noGrp="1"/>
          </p:cNvSpPr>
          <p:nvPr>
            <p:ph type="title"/>
          </p:nvPr>
        </p:nvSpPr>
        <p:spPr/>
        <p:txBody>
          <a:bodyPr/>
          <a:lstStyle/>
          <a:p>
            <a:r>
              <a:rPr lang="en-US" dirty="0"/>
              <a:t>Work in Progress (WIP) Limit</a:t>
            </a:r>
            <a:endParaRPr lang="en-IN" dirty="0"/>
          </a:p>
        </p:txBody>
      </p:sp>
      <p:sp>
        <p:nvSpPr>
          <p:cNvPr id="3" name="Content Placeholder 2">
            <a:extLst>
              <a:ext uri="{FF2B5EF4-FFF2-40B4-BE49-F238E27FC236}">
                <a16:creationId xmlns:a16="http://schemas.microsoft.com/office/drawing/2014/main" id="{2E718EF5-6519-46C3-74FB-EC7D3AE1A079}"/>
              </a:ext>
            </a:extLst>
          </p:cNvPr>
          <p:cNvSpPr>
            <a:spLocks noGrp="1"/>
          </p:cNvSpPr>
          <p:nvPr>
            <p:ph idx="1"/>
          </p:nvPr>
        </p:nvSpPr>
        <p:spPr/>
        <p:txBody>
          <a:bodyPr>
            <a:normAutofit/>
          </a:bodyPr>
          <a:lstStyle/>
          <a:p>
            <a:r>
              <a:rPr lang="en-US" dirty="0"/>
              <a:t>In this example, WIP limits are set by the number of tasks, but as you can imagine, not all tasks are equal; some tasks are much larger or more complex than others, so some teams set their WIP limits by the number of story points as described in Chapter 6, “Grooming and Planning.” </a:t>
            </a:r>
          </a:p>
          <a:p>
            <a:r>
              <a:rPr lang="en-US" dirty="0"/>
              <a:t>WIP limits could also be based on hours required to complete the task. </a:t>
            </a:r>
          </a:p>
          <a:p>
            <a:r>
              <a:rPr lang="en-US" dirty="0"/>
              <a:t>Setting and enforcing WIP limits can be challenging for teams, so some teams that are new to Kanban start with the workflow and the Kanban board and add WIP limits later, when they are more comfortable with the process.</a:t>
            </a:r>
            <a:endParaRPr lang="en-IN" dirty="0"/>
          </a:p>
        </p:txBody>
      </p:sp>
      <p:sp>
        <p:nvSpPr>
          <p:cNvPr id="4" name="Slide Number Placeholder 3">
            <a:extLst>
              <a:ext uri="{FF2B5EF4-FFF2-40B4-BE49-F238E27FC236}">
                <a16:creationId xmlns:a16="http://schemas.microsoft.com/office/drawing/2014/main" id="{04549648-ADE1-7E4A-DA18-462D57A00396}"/>
              </a:ext>
            </a:extLst>
          </p:cNvPr>
          <p:cNvSpPr>
            <a:spLocks noGrp="1"/>
          </p:cNvSpPr>
          <p:nvPr>
            <p:ph type="sldNum" sz="quarter" idx="12"/>
          </p:nvPr>
        </p:nvSpPr>
        <p:spPr/>
        <p:txBody>
          <a:bodyPr/>
          <a:lstStyle/>
          <a:p>
            <a:fld id="{C70AC583-F9E3-4A59-98F2-FD7379A90CB7}" type="slidenum">
              <a:rPr lang="en-IN" smtClean="0"/>
              <a:pPr/>
              <a:t>15</a:t>
            </a:fld>
            <a:endParaRPr lang="en-IN" b="0" dirty="0"/>
          </a:p>
        </p:txBody>
      </p:sp>
    </p:spTree>
    <p:extLst>
      <p:ext uri="{BB962C8B-B14F-4D97-AF65-F5344CB8AC3E}">
        <p14:creationId xmlns:p14="http://schemas.microsoft.com/office/powerpoint/2010/main" val="424329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22F04-3FEA-13E8-576F-B957176101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66DBC4-E9C2-1854-887E-03C43E9F3ED2}"/>
              </a:ext>
            </a:extLst>
          </p:cNvPr>
          <p:cNvSpPr>
            <a:spLocks noGrp="1"/>
          </p:cNvSpPr>
          <p:nvPr>
            <p:ph type="title"/>
          </p:nvPr>
        </p:nvSpPr>
        <p:spPr/>
        <p:txBody>
          <a:bodyPr/>
          <a:lstStyle/>
          <a:p>
            <a:r>
              <a:rPr lang="en-US" dirty="0"/>
              <a:t>Work in Progress (WIP) Limit</a:t>
            </a:r>
            <a:endParaRPr lang="en-IN" dirty="0"/>
          </a:p>
        </p:txBody>
      </p:sp>
      <p:sp>
        <p:nvSpPr>
          <p:cNvPr id="3" name="Content Placeholder 2">
            <a:extLst>
              <a:ext uri="{FF2B5EF4-FFF2-40B4-BE49-F238E27FC236}">
                <a16:creationId xmlns:a16="http://schemas.microsoft.com/office/drawing/2014/main" id="{E9F95235-D542-0182-B0E0-F6A68A101964}"/>
              </a:ext>
            </a:extLst>
          </p:cNvPr>
          <p:cNvSpPr>
            <a:spLocks noGrp="1"/>
          </p:cNvSpPr>
          <p:nvPr>
            <p:ph idx="1"/>
          </p:nvPr>
        </p:nvSpPr>
        <p:spPr/>
        <p:txBody>
          <a:bodyPr>
            <a:normAutofit lnSpcReduction="10000"/>
          </a:bodyPr>
          <a:lstStyle/>
          <a:p>
            <a:r>
              <a:rPr lang="en-US" dirty="0"/>
              <a:t>The Kanban principles are built into Lean software development.</a:t>
            </a:r>
          </a:p>
          <a:p>
            <a:r>
              <a:rPr lang="en-US" dirty="0"/>
              <a:t>Lean principles focus on eliminating waste, specifically “</a:t>
            </a:r>
            <a:r>
              <a:rPr lang="en-US" b="1" dirty="0" err="1"/>
              <a:t>muda</a:t>
            </a:r>
            <a:r>
              <a:rPr lang="en-US" dirty="0"/>
              <a:t>,” “</a:t>
            </a:r>
            <a:r>
              <a:rPr lang="en-US" b="1" dirty="0"/>
              <a:t>mura</a:t>
            </a:r>
            <a:r>
              <a:rPr lang="en-US" dirty="0"/>
              <a:t>,” and “</a:t>
            </a:r>
            <a:r>
              <a:rPr lang="en-US" b="1" dirty="0"/>
              <a:t>muri</a:t>
            </a:r>
            <a:r>
              <a:rPr lang="en-US" dirty="0"/>
              <a:t>”; an effective Kanban board will address all three.</a:t>
            </a:r>
          </a:p>
          <a:p>
            <a:r>
              <a:rPr lang="en-US" dirty="0"/>
              <a:t>“Muda” is waste created by an activity in the process that adds no value; value stream mapping.</a:t>
            </a:r>
          </a:p>
          <a:p>
            <a:pPr lvl="1"/>
            <a:r>
              <a:rPr lang="en-US" dirty="0"/>
              <a:t>When diagramming the workflow to define the columns in Kanban, </a:t>
            </a:r>
            <a:r>
              <a:rPr lang="en-US" dirty="0" err="1"/>
              <a:t>muda</a:t>
            </a:r>
            <a:r>
              <a:rPr lang="en-US" dirty="0"/>
              <a:t> would be evident as a step that is not valuable.</a:t>
            </a:r>
          </a:p>
          <a:p>
            <a:r>
              <a:rPr lang="en-US" dirty="0"/>
              <a:t>“Mura” is the waste generated by unevenness in operations.</a:t>
            </a:r>
          </a:p>
          <a:p>
            <a:pPr lvl="1"/>
            <a:r>
              <a:rPr lang="en-US" dirty="0"/>
              <a:t>With the visibility of the Kanban board, we  can easily see the work flowing through the system to isolate inefficiencies where work is uneven.</a:t>
            </a:r>
            <a:endParaRPr lang="en-IN" dirty="0"/>
          </a:p>
        </p:txBody>
      </p:sp>
      <p:sp>
        <p:nvSpPr>
          <p:cNvPr id="4" name="Slide Number Placeholder 3">
            <a:extLst>
              <a:ext uri="{FF2B5EF4-FFF2-40B4-BE49-F238E27FC236}">
                <a16:creationId xmlns:a16="http://schemas.microsoft.com/office/drawing/2014/main" id="{4D9FFFAD-0B87-CA4D-41DA-AD824E079B6C}"/>
              </a:ext>
            </a:extLst>
          </p:cNvPr>
          <p:cNvSpPr>
            <a:spLocks noGrp="1"/>
          </p:cNvSpPr>
          <p:nvPr>
            <p:ph type="sldNum" sz="quarter" idx="12"/>
          </p:nvPr>
        </p:nvSpPr>
        <p:spPr/>
        <p:txBody>
          <a:bodyPr/>
          <a:lstStyle/>
          <a:p>
            <a:fld id="{C70AC583-F9E3-4A59-98F2-FD7379A90CB7}" type="slidenum">
              <a:rPr lang="en-IN" smtClean="0"/>
              <a:pPr/>
              <a:t>16</a:t>
            </a:fld>
            <a:endParaRPr lang="en-IN" b="0" dirty="0"/>
          </a:p>
        </p:txBody>
      </p:sp>
    </p:spTree>
    <p:extLst>
      <p:ext uri="{BB962C8B-B14F-4D97-AF65-F5344CB8AC3E}">
        <p14:creationId xmlns:p14="http://schemas.microsoft.com/office/powerpoint/2010/main" val="4199402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D8D8F-DAA4-7FEF-157C-06B978B24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8A8C31-0EB4-9244-C640-718AC58C624A}"/>
              </a:ext>
            </a:extLst>
          </p:cNvPr>
          <p:cNvSpPr>
            <a:spLocks noGrp="1"/>
          </p:cNvSpPr>
          <p:nvPr>
            <p:ph type="title"/>
          </p:nvPr>
        </p:nvSpPr>
        <p:spPr/>
        <p:txBody>
          <a:bodyPr/>
          <a:lstStyle/>
          <a:p>
            <a:r>
              <a:rPr lang="en-US" dirty="0"/>
              <a:t>Work in Progress (WIP) Limit</a:t>
            </a:r>
            <a:endParaRPr lang="en-IN" dirty="0"/>
          </a:p>
        </p:txBody>
      </p:sp>
      <p:sp>
        <p:nvSpPr>
          <p:cNvPr id="3" name="Content Placeholder 2">
            <a:extLst>
              <a:ext uri="{FF2B5EF4-FFF2-40B4-BE49-F238E27FC236}">
                <a16:creationId xmlns:a16="http://schemas.microsoft.com/office/drawing/2014/main" id="{2DD767B4-F6C3-DBE8-5822-8EBA244ADFE6}"/>
              </a:ext>
            </a:extLst>
          </p:cNvPr>
          <p:cNvSpPr>
            <a:spLocks noGrp="1"/>
          </p:cNvSpPr>
          <p:nvPr>
            <p:ph idx="1"/>
          </p:nvPr>
        </p:nvSpPr>
        <p:spPr/>
        <p:txBody>
          <a:bodyPr>
            <a:normAutofit/>
          </a:bodyPr>
          <a:lstStyle/>
          <a:p>
            <a:r>
              <a:rPr lang="en-US" dirty="0"/>
              <a:t>Finally, there is “muri,” which is the overburdening of people or equipment with more work than they can reasonably manage. </a:t>
            </a:r>
          </a:p>
          <a:p>
            <a:pPr lvl="1"/>
            <a:r>
              <a:rPr lang="en-US" dirty="0"/>
              <a:t>The WIP limits in Kanban detect muri by clearly identifying bottlenecks in the process where more work is being added than can effectively be delivered.</a:t>
            </a:r>
          </a:p>
          <a:p>
            <a:r>
              <a:rPr lang="en-US" dirty="0"/>
              <a:t>Kanban is a wonderful alternative for teams who want to embrace all of the values and principles of Agile but whose work is unpredictable and difficult to plan. </a:t>
            </a:r>
          </a:p>
          <a:p>
            <a:r>
              <a:rPr lang="en-US" dirty="0"/>
              <a:t>In many organizations, both Scrum and Kanban are utilized, depending on the makeup of the work.</a:t>
            </a:r>
            <a:endParaRPr lang="en-IN" dirty="0"/>
          </a:p>
        </p:txBody>
      </p:sp>
      <p:sp>
        <p:nvSpPr>
          <p:cNvPr id="4" name="Slide Number Placeholder 3">
            <a:extLst>
              <a:ext uri="{FF2B5EF4-FFF2-40B4-BE49-F238E27FC236}">
                <a16:creationId xmlns:a16="http://schemas.microsoft.com/office/drawing/2014/main" id="{8B95C8C8-4B04-3611-928B-C449F9B67B60}"/>
              </a:ext>
            </a:extLst>
          </p:cNvPr>
          <p:cNvSpPr>
            <a:spLocks noGrp="1"/>
          </p:cNvSpPr>
          <p:nvPr>
            <p:ph type="sldNum" sz="quarter" idx="12"/>
          </p:nvPr>
        </p:nvSpPr>
        <p:spPr/>
        <p:txBody>
          <a:bodyPr/>
          <a:lstStyle/>
          <a:p>
            <a:fld id="{C70AC583-F9E3-4A59-98F2-FD7379A90CB7}" type="slidenum">
              <a:rPr lang="en-IN" smtClean="0"/>
              <a:pPr/>
              <a:t>17</a:t>
            </a:fld>
            <a:endParaRPr lang="en-IN" b="0" dirty="0"/>
          </a:p>
        </p:txBody>
      </p:sp>
    </p:spTree>
    <p:extLst>
      <p:ext uri="{BB962C8B-B14F-4D97-AF65-F5344CB8AC3E}">
        <p14:creationId xmlns:p14="http://schemas.microsoft.com/office/powerpoint/2010/main" val="31790212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87CAD-A9CD-8E80-83D5-487FEC4EA185}"/>
              </a:ext>
            </a:extLst>
          </p:cNvPr>
          <p:cNvSpPr>
            <a:spLocks noGrp="1"/>
          </p:cNvSpPr>
          <p:nvPr>
            <p:ph type="title"/>
          </p:nvPr>
        </p:nvSpPr>
        <p:spPr/>
        <p:txBody>
          <a:bodyPr/>
          <a:lstStyle/>
          <a:p>
            <a:r>
              <a:rPr lang="en-IN" dirty="0"/>
              <a:t>Tracking</a:t>
            </a:r>
          </a:p>
        </p:txBody>
      </p:sp>
      <p:sp>
        <p:nvSpPr>
          <p:cNvPr id="3" name="Content Placeholder 2">
            <a:extLst>
              <a:ext uri="{FF2B5EF4-FFF2-40B4-BE49-F238E27FC236}">
                <a16:creationId xmlns:a16="http://schemas.microsoft.com/office/drawing/2014/main" id="{07222FC6-3842-9F03-4DD8-239CE1F437E0}"/>
              </a:ext>
            </a:extLst>
          </p:cNvPr>
          <p:cNvSpPr>
            <a:spLocks noGrp="1"/>
          </p:cNvSpPr>
          <p:nvPr>
            <p:ph idx="1"/>
          </p:nvPr>
        </p:nvSpPr>
        <p:spPr/>
        <p:txBody>
          <a:bodyPr/>
          <a:lstStyle/>
          <a:p>
            <a:r>
              <a:rPr lang="en-US" dirty="0"/>
              <a:t>Regardless of the particular methodology being used, tracking progress is critical to Agile. </a:t>
            </a:r>
          </a:p>
          <a:p>
            <a:r>
              <a:rPr lang="en-US" dirty="0"/>
              <a:t>Increased transparency and the desire to eliminate surprises make tracking essential to effectively managing an Agile project. </a:t>
            </a:r>
          </a:p>
          <a:p>
            <a:r>
              <a:rPr lang="en-US" dirty="0"/>
              <a:t>We explore several tracking mechanisms and philosophies in detail.</a:t>
            </a:r>
            <a:endParaRPr lang="en-IN" dirty="0"/>
          </a:p>
        </p:txBody>
      </p:sp>
      <p:sp>
        <p:nvSpPr>
          <p:cNvPr id="4" name="Slide Number Placeholder 3">
            <a:extLst>
              <a:ext uri="{FF2B5EF4-FFF2-40B4-BE49-F238E27FC236}">
                <a16:creationId xmlns:a16="http://schemas.microsoft.com/office/drawing/2014/main" id="{60EC56C4-324D-F1E1-FC94-C717782F5875}"/>
              </a:ext>
            </a:extLst>
          </p:cNvPr>
          <p:cNvSpPr>
            <a:spLocks noGrp="1"/>
          </p:cNvSpPr>
          <p:nvPr>
            <p:ph type="sldNum" sz="quarter" idx="12"/>
          </p:nvPr>
        </p:nvSpPr>
        <p:spPr/>
        <p:txBody>
          <a:bodyPr/>
          <a:lstStyle/>
          <a:p>
            <a:fld id="{C70AC583-F9E3-4A59-98F2-FD7379A90CB7}" type="slidenum">
              <a:rPr lang="en-IN" smtClean="0"/>
              <a:pPr/>
              <a:t>18</a:t>
            </a:fld>
            <a:endParaRPr lang="en-IN" b="0" dirty="0"/>
          </a:p>
        </p:txBody>
      </p:sp>
    </p:spTree>
    <p:extLst>
      <p:ext uri="{BB962C8B-B14F-4D97-AF65-F5344CB8AC3E}">
        <p14:creationId xmlns:p14="http://schemas.microsoft.com/office/powerpoint/2010/main" val="1252353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DF0AE-7602-6350-00D7-891CEF9191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F843EE-D969-11C0-1B16-81E75EEDA64A}"/>
              </a:ext>
            </a:extLst>
          </p:cNvPr>
          <p:cNvSpPr>
            <a:spLocks noGrp="1"/>
          </p:cNvSpPr>
          <p:nvPr>
            <p:ph type="title"/>
          </p:nvPr>
        </p:nvSpPr>
        <p:spPr/>
        <p:txBody>
          <a:bodyPr/>
          <a:lstStyle/>
          <a:p>
            <a:r>
              <a:rPr lang="en-IN" dirty="0"/>
              <a:t>Tracking - XP</a:t>
            </a:r>
          </a:p>
        </p:txBody>
      </p:sp>
      <p:sp>
        <p:nvSpPr>
          <p:cNvPr id="3" name="Content Placeholder 2">
            <a:extLst>
              <a:ext uri="{FF2B5EF4-FFF2-40B4-BE49-F238E27FC236}">
                <a16:creationId xmlns:a16="http://schemas.microsoft.com/office/drawing/2014/main" id="{7AB5176E-FCEE-3F2C-93F8-887005E8FD3D}"/>
              </a:ext>
            </a:extLst>
          </p:cNvPr>
          <p:cNvSpPr>
            <a:spLocks noGrp="1"/>
          </p:cNvSpPr>
          <p:nvPr>
            <p:ph idx="1"/>
          </p:nvPr>
        </p:nvSpPr>
        <p:spPr>
          <a:xfrm>
            <a:off x="266330" y="1020932"/>
            <a:ext cx="8611340" cy="5700544"/>
          </a:xfrm>
        </p:spPr>
        <p:txBody>
          <a:bodyPr>
            <a:normAutofit fontScale="92500" lnSpcReduction="10000"/>
          </a:bodyPr>
          <a:lstStyle/>
          <a:p>
            <a:r>
              <a:rPr lang="en-US" dirty="0"/>
              <a:t>XP takes tracking so seriously that one of their roles is that of a tracker.</a:t>
            </a:r>
          </a:p>
          <a:p>
            <a:r>
              <a:rPr lang="en-US" dirty="0"/>
              <a:t>The tracker talks to the developers daily and asks two questions—how many ideal days have they worked on a task, and how many ideal days do they have remaining. </a:t>
            </a:r>
          </a:p>
          <a:p>
            <a:r>
              <a:rPr lang="en-US" dirty="0"/>
              <a:t>The ideal days or ideal time is the amount of time a task would take under ideal circumstances, with no interruptions, phone calls, meetings, etc.</a:t>
            </a:r>
          </a:p>
          <a:p>
            <a:r>
              <a:rPr lang="en-US" dirty="0"/>
              <a:t>The tracker should talk to each developer about the task.</a:t>
            </a:r>
          </a:p>
          <a:p>
            <a:r>
              <a:rPr lang="en-US" dirty="0"/>
              <a:t>This reinforces the importance of face-to-face communication so the tracker can ensure that he or she obtaining accurate and realistic responses from the developer. </a:t>
            </a:r>
          </a:p>
          <a:p>
            <a:r>
              <a:rPr lang="en-US" dirty="0"/>
              <a:t>Scrum addresses this in a similar fashion, through the use of the daily stand-up meeting</a:t>
            </a:r>
            <a:endParaRPr lang="en-IN" dirty="0"/>
          </a:p>
        </p:txBody>
      </p:sp>
      <p:sp>
        <p:nvSpPr>
          <p:cNvPr id="4" name="Slide Number Placeholder 3">
            <a:extLst>
              <a:ext uri="{FF2B5EF4-FFF2-40B4-BE49-F238E27FC236}">
                <a16:creationId xmlns:a16="http://schemas.microsoft.com/office/drawing/2014/main" id="{DF2D9A68-74E2-E296-B690-83B72C06ED5C}"/>
              </a:ext>
            </a:extLst>
          </p:cNvPr>
          <p:cNvSpPr>
            <a:spLocks noGrp="1"/>
          </p:cNvSpPr>
          <p:nvPr>
            <p:ph type="sldNum" sz="quarter" idx="12"/>
          </p:nvPr>
        </p:nvSpPr>
        <p:spPr/>
        <p:txBody>
          <a:bodyPr/>
          <a:lstStyle/>
          <a:p>
            <a:fld id="{C70AC583-F9E3-4A59-98F2-FD7379A90CB7}" type="slidenum">
              <a:rPr lang="en-IN" smtClean="0"/>
              <a:pPr/>
              <a:t>19</a:t>
            </a:fld>
            <a:endParaRPr lang="en-IN" b="0" dirty="0"/>
          </a:p>
        </p:txBody>
      </p:sp>
    </p:spTree>
    <p:extLst>
      <p:ext uri="{BB962C8B-B14F-4D97-AF65-F5344CB8AC3E}">
        <p14:creationId xmlns:p14="http://schemas.microsoft.com/office/powerpoint/2010/main" val="30972382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865B1-74EB-F55A-B34E-C69D867AED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7DAFEA-A9E5-2425-5DCB-9591EDB85136}"/>
              </a:ext>
            </a:extLst>
          </p:cNvPr>
          <p:cNvSpPr>
            <a:spLocks noGrp="1"/>
          </p:cNvSpPr>
          <p:nvPr>
            <p:ph type="title"/>
          </p:nvPr>
        </p:nvSpPr>
        <p:spPr/>
        <p:txBody>
          <a:bodyPr/>
          <a:lstStyle/>
          <a:p>
            <a:r>
              <a:rPr lang="en-IN" dirty="0"/>
              <a:t>Tracking – Burn Charts</a:t>
            </a:r>
          </a:p>
        </p:txBody>
      </p:sp>
      <p:sp>
        <p:nvSpPr>
          <p:cNvPr id="3" name="Content Placeholder 2">
            <a:extLst>
              <a:ext uri="{FF2B5EF4-FFF2-40B4-BE49-F238E27FC236}">
                <a16:creationId xmlns:a16="http://schemas.microsoft.com/office/drawing/2014/main" id="{F77FA30B-3431-D081-704E-B3C291A046F5}"/>
              </a:ext>
            </a:extLst>
          </p:cNvPr>
          <p:cNvSpPr>
            <a:spLocks noGrp="1"/>
          </p:cNvSpPr>
          <p:nvPr>
            <p:ph idx="1"/>
          </p:nvPr>
        </p:nvSpPr>
        <p:spPr>
          <a:xfrm>
            <a:off x="266330" y="1020932"/>
            <a:ext cx="8611340" cy="5700544"/>
          </a:xfrm>
        </p:spPr>
        <p:txBody>
          <a:bodyPr>
            <a:normAutofit/>
          </a:bodyPr>
          <a:lstStyle/>
          <a:p>
            <a:r>
              <a:rPr lang="en-US" dirty="0"/>
              <a:t>Burn charts are a mechanism to be transparent about the progress of a release or iteration so the team can decide if they need to alter their approach to the work in order to honor their commitments. </a:t>
            </a:r>
          </a:p>
          <a:p>
            <a:r>
              <a:rPr lang="en-US" dirty="0"/>
              <a:t>By being able to easily see their actual progress charted against the planned progress, they have actionable data to inform their decisions.</a:t>
            </a:r>
            <a:endParaRPr lang="en-IN" dirty="0"/>
          </a:p>
        </p:txBody>
      </p:sp>
      <p:sp>
        <p:nvSpPr>
          <p:cNvPr id="4" name="Slide Number Placeholder 3">
            <a:extLst>
              <a:ext uri="{FF2B5EF4-FFF2-40B4-BE49-F238E27FC236}">
                <a16:creationId xmlns:a16="http://schemas.microsoft.com/office/drawing/2014/main" id="{4526A4EE-DC79-A6D1-FAA1-55B79C34020F}"/>
              </a:ext>
            </a:extLst>
          </p:cNvPr>
          <p:cNvSpPr>
            <a:spLocks noGrp="1"/>
          </p:cNvSpPr>
          <p:nvPr>
            <p:ph type="sldNum" sz="quarter" idx="12"/>
          </p:nvPr>
        </p:nvSpPr>
        <p:spPr/>
        <p:txBody>
          <a:bodyPr/>
          <a:lstStyle/>
          <a:p>
            <a:fld id="{C70AC583-F9E3-4A59-98F2-FD7379A90CB7}" type="slidenum">
              <a:rPr lang="en-IN" smtClean="0"/>
              <a:pPr/>
              <a:t>20</a:t>
            </a:fld>
            <a:endParaRPr lang="en-IN" b="0" dirty="0"/>
          </a:p>
        </p:txBody>
      </p:sp>
    </p:spTree>
    <p:extLst>
      <p:ext uri="{BB962C8B-B14F-4D97-AF65-F5344CB8AC3E}">
        <p14:creationId xmlns:p14="http://schemas.microsoft.com/office/powerpoint/2010/main" val="6114116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9DE9E-DA89-E472-D0FF-E208DBF287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D087F3-E517-CCB0-D2A0-773544368EDE}"/>
              </a:ext>
            </a:extLst>
          </p:cNvPr>
          <p:cNvSpPr>
            <a:spLocks noGrp="1"/>
          </p:cNvSpPr>
          <p:nvPr>
            <p:ph type="title"/>
          </p:nvPr>
        </p:nvSpPr>
        <p:spPr/>
        <p:txBody>
          <a:bodyPr/>
          <a:lstStyle/>
          <a:p>
            <a:r>
              <a:rPr lang="en-IN" dirty="0"/>
              <a:t>Tracking – Burn Charts</a:t>
            </a:r>
          </a:p>
        </p:txBody>
      </p:sp>
      <p:sp>
        <p:nvSpPr>
          <p:cNvPr id="3" name="Content Placeholder 2">
            <a:extLst>
              <a:ext uri="{FF2B5EF4-FFF2-40B4-BE49-F238E27FC236}">
                <a16:creationId xmlns:a16="http://schemas.microsoft.com/office/drawing/2014/main" id="{D670FEFA-D4EF-44A6-2CA2-36F3D6F67D8F}"/>
              </a:ext>
            </a:extLst>
          </p:cNvPr>
          <p:cNvSpPr>
            <a:spLocks noGrp="1"/>
          </p:cNvSpPr>
          <p:nvPr>
            <p:ph idx="1"/>
          </p:nvPr>
        </p:nvSpPr>
        <p:spPr>
          <a:xfrm>
            <a:off x="266330" y="1020932"/>
            <a:ext cx="8611340" cy="5700544"/>
          </a:xfrm>
        </p:spPr>
        <p:txBody>
          <a:bodyPr>
            <a:normAutofit/>
          </a:bodyPr>
          <a:lstStyle/>
          <a:p>
            <a:r>
              <a:rPr lang="en-US" b="1" dirty="0"/>
              <a:t>Burn-Up Charts</a:t>
            </a:r>
          </a:p>
          <a:p>
            <a:r>
              <a:rPr lang="en-US" dirty="0"/>
              <a:t>Burn-up charts are a way to depict progress toward a product’s release goal.</a:t>
            </a:r>
          </a:p>
          <a:p>
            <a:r>
              <a:rPr lang="en-US" dirty="0"/>
              <a:t>Typically, time is on the X axis, either in sprints, months, or quarters, and the Y axis represents the release at completion. </a:t>
            </a:r>
          </a:p>
          <a:p>
            <a:r>
              <a:rPr lang="en-US" dirty="0"/>
              <a:t>The Y axis </a:t>
            </a:r>
            <a:br>
              <a:rPr lang="en-US" dirty="0"/>
            </a:br>
            <a:r>
              <a:rPr lang="en-US" dirty="0"/>
              <a:t>can be </a:t>
            </a:r>
            <a:br>
              <a:rPr lang="en-US" dirty="0"/>
            </a:br>
            <a:r>
              <a:rPr lang="en-US" dirty="0"/>
              <a:t>either story </a:t>
            </a:r>
            <a:br>
              <a:rPr lang="en-US" dirty="0"/>
            </a:br>
            <a:r>
              <a:rPr lang="en-US" dirty="0"/>
              <a:t>points or </a:t>
            </a:r>
            <a:br>
              <a:rPr lang="en-US" dirty="0"/>
            </a:br>
            <a:r>
              <a:rPr lang="en-US" dirty="0"/>
              <a:t>feature </a:t>
            </a:r>
            <a:br>
              <a:rPr lang="en-US" dirty="0"/>
            </a:br>
            <a:r>
              <a:rPr lang="en-US" dirty="0"/>
              <a:t>descriptions.</a:t>
            </a:r>
            <a:endParaRPr lang="en-IN" dirty="0"/>
          </a:p>
        </p:txBody>
      </p:sp>
      <p:sp>
        <p:nvSpPr>
          <p:cNvPr id="4" name="Slide Number Placeholder 3">
            <a:extLst>
              <a:ext uri="{FF2B5EF4-FFF2-40B4-BE49-F238E27FC236}">
                <a16:creationId xmlns:a16="http://schemas.microsoft.com/office/drawing/2014/main" id="{F431D546-99A0-B153-52BB-FF676772166A}"/>
              </a:ext>
            </a:extLst>
          </p:cNvPr>
          <p:cNvSpPr>
            <a:spLocks noGrp="1"/>
          </p:cNvSpPr>
          <p:nvPr>
            <p:ph type="sldNum" sz="quarter" idx="12"/>
          </p:nvPr>
        </p:nvSpPr>
        <p:spPr/>
        <p:txBody>
          <a:bodyPr/>
          <a:lstStyle/>
          <a:p>
            <a:fld id="{C70AC583-F9E3-4A59-98F2-FD7379A90CB7}" type="slidenum">
              <a:rPr lang="en-IN" smtClean="0"/>
              <a:pPr/>
              <a:t>21</a:t>
            </a:fld>
            <a:endParaRPr lang="en-IN" b="0" dirty="0"/>
          </a:p>
        </p:txBody>
      </p:sp>
      <p:pic>
        <p:nvPicPr>
          <p:cNvPr id="6" name="Picture 5">
            <a:extLst>
              <a:ext uri="{FF2B5EF4-FFF2-40B4-BE49-F238E27FC236}">
                <a16:creationId xmlns:a16="http://schemas.microsoft.com/office/drawing/2014/main" id="{1849B283-2A5C-9829-47D6-25F3E61EBECD}"/>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tretch>
            <a:fillRect/>
          </a:stretch>
        </p:blipFill>
        <p:spPr>
          <a:xfrm>
            <a:off x="2444597" y="3429000"/>
            <a:ext cx="6699403" cy="2879134"/>
          </a:xfrm>
          <a:prstGeom prst="rect">
            <a:avLst/>
          </a:prstGeom>
        </p:spPr>
      </p:pic>
    </p:spTree>
    <p:extLst>
      <p:ext uri="{BB962C8B-B14F-4D97-AF65-F5344CB8AC3E}">
        <p14:creationId xmlns:p14="http://schemas.microsoft.com/office/powerpoint/2010/main" val="19577559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37948-52BD-3C1D-090C-0D93821107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E85608-AB7A-7439-285D-5E1E527AB372}"/>
              </a:ext>
            </a:extLst>
          </p:cNvPr>
          <p:cNvSpPr>
            <a:spLocks noGrp="1"/>
          </p:cNvSpPr>
          <p:nvPr>
            <p:ph type="title"/>
          </p:nvPr>
        </p:nvSpPr>
        <p:spPr/>
        <p:txBody>
          <a:bodyPr/>
          <a:lstStyle/>
          <a:p>
            <a:r>
              <a:rPr lang="en-IN" dirty="0"/>
              <a:t>Tracking – Burn Charts</a:t>
            </a:r>
          </a:p>
        </p:txBody>
      </p:sp>
      <p:sp>
        <p:nvSpPr>
          <p:cNvPr id="3" name="Content Placeholder 2">
            <a:extLst>
              <a:ext uri="{FF2B5EF4-FFF2-40B4-BE49-F238E27FC236}">
                <a16:creationId xmlns:a16="http://schemas.microsoft.com/office/drawing/2014/main" id="{057F30F0-1AC2-C0D1-3839-E68A089F8833}"/>
              </a:ext>
            </a:extLst>
          </p:cNvPr>
          <p:cNvSpPr>
            <a:spLocks noGrp="1"/>
          </p:cNvSpPr>
          <p:nvPr>
            <p:ph idx="1"/>
          </p:nvPr>
        </p:nvSpPr>
        <p:spPr>
          <a:xfrm>
            <a:off x="266330" y="1020932"/>
            <a:ext cx="8611340" cy="5700544"/>
          </a:xfrm>
        </p:spPr>
        <p:txBody>
          <a:bodyPr>
            <a:normAutofit/>
          </a:bodyPr>
          <a:lstStyle/>
          <a:p>
            <a:r>
              <a:rPr lang="en-US" b="1" dirty="0"/>
              <a:t>Burn-Down Charts</a:t>
            </a:r>
          </a:p>
          <a:p>
            <a:r>
              <a:rPr lang="en-US" dirty="0"/>
              <a:t>Burn-down charts serve a different purpose: These are the daily status checks for the team relative to where they expected to be at a particular point in time.</a:t>
            </a:r>
          </a:p>
          <a:p>
            <a:r>
              <a:rPr lang="en-US" dirty="0"/>
              <a:t>This is a critical tracking element within a sprint or iteration to ensure that any necessary course correction is identified and addressed as early as possible.</a:t>
            </a:r>
          </a:p>
          <a:p>
            <a:r>
              <a:rPr lang="en-US" dirty="0"/>
              <a:t>The team can see </a:t>
            </a:r>
            <a:br>
              <a:rPr lang="en-US" dirty="0"/>
            </a:br>
            <a:r>
              <a:rPr lang="en-US" dirty="0"/>
              <a:t>the total number </a:t>
            </a:r>
            <a:br>
              <a:rPr lang="en-US" dirty="0"/>
            </a:br>
            <a:r>
              <a:rPr lang="en-US" dirty="0"/>
              <a:t>of hours allocated </a:t>
            </a:r>
            <a:br>
              <a:rPr lang="en-US" dirty="0"/>
            </a:br>
            <a:r>
              <a:rPr lang="en-US" dirty="0"/>
              <a:t>to the sprint and </a:t>
            </a:r>
            <a:br>
              <a:rPr lang="en-US" dirty="0"/>
            </a:br>
            <a:r>
              <a:rPr lang="en-US" dirty="0"/>
              <a:t>track their actual </a:t>
            </a:r>
            <a:br>
              <a:rPr lang="en-US" dirty="0"/>
            </a:br>
            <a:r>
              <a:rPr lang="en-US" dirty="0"/>
              <a:t>progress against the target.</a:t>
            </a:r>
            <a:endParaRPr lang="en-IN" dirty="0"/>
          </a:p>
        </p:txBody>
      </p:sp>
      <p:sp>
        <p:nvSpPr>
          <p:cNvPr id="4" name="Slide Number Placeholder 3">
            <a:extLst>
              <a:ext uri="{FF2B5EF4-FFF2-40B4-BE49-F238E27FC236}">
                <a16:creationId xmlns:a16="http://schemas.microsoft.com/office/drawing/2014/main" id="{B7B89637-793A-1D25-29BC-F2FDF0A24655}"/>
              </a:ext>
            </a:extLst>
          </p:cNvPr>
          <p:cNvSpPr>
            <a:spLocks noGrp="1"/>
          </p:cNvSpPr>
          <p:nvPr>
            <p:ph type="sldNum" sz="quarter" idx="12"/>
          </p:nvPr>
        </p:nvSpPr>
        <p:spPr/>
        <p:txBody>
          <a:bodyPr/>
          <a:lstStyle/>
          <a:p>
            <a:fld id="{C70AC583-F9E3-4A59-98F2-FD7379A90CB7}" type="slidenum">
              <a:rPr lang="en-IN" smtClean="0"/>
              <a:pPr/>
              <a:t>22</a:t>
            </a:fld>
            <a:endParaRPr lang="en-IN" b="0" dirty="0"/>
          </a:p>
        </p:txBody>
      </p:sp>
      <p:pic>
        <p:nvPicPr>
          <p:cNvPr id="7" name="Picture 6">
            <a:extLst>
              <a:ext uri="{FF2B5EF4-FFF2-40B4-BE49-F238E27FC236}">
                <a16:creationId xmlns:a16="http://schemas.microsoft.com/office/drawing/2014/main" id="{89A382E8-577D-1A78-F110-7830E1DE2A0C}"/>
              </a:ext>
            </a:extLst>
          </p:cNvPr>
          <p:cNvPicPr>
            <a:picLocks noChangeAspect="1"/>
          </p:cNvPicPr>
          <p:nvPr/>
        </p:nvPicPr>
        <p:blipFill>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tretch>
            <a:fillRect/>
          </a:stretch>
        </p:blipFill>
        <p:spPr>
          <a:xfrm>
            <a:off x="3336702" y="3913632"/>
            <a:ext cx="5693553" cy="2835911"/>
          </a:xfrm>
          <a:prstGeom prst="rect">
            <a:avLst/>
          </a:prstGeom>
        </p:spPr>
      </p:pic>
    </p:spTree>
    <p:extLst>
      <p:ext uri="{BB962C8B-B14F-4D97-AF65-F5344CB8AC3E}">
        <p14:creationId xmlns:p14="http://schemas.microsoft.com/office/powerpoint/2010/main" val="14330411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B9519-0850-0EC2-BA67-05BF46394D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1E248-7E0D-236D-B2E5-950881192A72}"/>
              </a:ext>
            </a:extLst>
          </p:cNvPr>
          <p:cNvSpPr>
            <a:spLocks noGrp="1"/>
          </p:cNvSpPr>
          <p:nvPr>
            <p:ph type="title"/>
          </p:nvPr>
        </p:nvSpPr>
        <p:spPr/>
        <p:txBody>
          <a:bodyPr/>
          <a:lstStyle/>
          <a:p>
            <a:r>
              <a:rPr lang="en-IN" dirty="0"/>
              <a:t>Tracking – FDD – Parking Lots</a:t>
            </a:r>
          </a:p>
        </p:txBody>
      </p:sp>
      <p:sp>
        <p:nvSpPr>
          <p:cNvPr id="3" name="Content Placeholder 2">
            <a:extLst>
              <a:ext uri="{FF2B5EF4-FFF2-40B4-BE49-F238E27FC236}">
                <a16:creationId xmlns:a16="http://schemas.microsoft.com/office/drawing/2014/main" id="{A45751A1-9C80-7A8C-FFE2-2A8CE58DAC64}"/>
              </a:ext>
            </a:extLst>
          </p:cNvPr>
          <p:cNvSpPr>
            <a:spLocks noGrp="1"/>
          </p:cNvSpPr>
          <p:nvPr>
            <p:ph idx="1"/>
          </p:nvPr>
        </p:nvSpPr>
        <p:spPr>
          <a:xfrm>
            <a:off x="266330" y="1020932"/>
            <a:ext cx="8611340" cy="5700544"/>
          </a:xfrm>
        </p:spPr>
        <p:txBody>
          <a:bodyPr>
            <a:normAutofit/>
          </a:bodyPr>
          <a:lstStyle/>
          <a:p>
            <a:endParaRPr lang="en-IN" dirty="0"/>
          </a:p>
        </p:txBody>
      </p:sp>
      <p:sp>
        <p:nvSpPr>
          <p:cNvPr id="4" name="Slide Number Placeholder 3">
            <a:extLst>
              <a:ext uri="{FF2B5EF4-FFF2-40B4-BE49-F238E27FC236}">
                <a16:creationId xmlns:a16="http://schemas.microsoft.com/office/drawing/2014/main" id="{D0BAF1DE-BD7B-63DE-0B46-F8761BE7ED9D}"/>
              </a:ext>
            </a:extLst>
          </p:cNvPr>
          <p:cNvSpPr>
            <a:spLocks noGrp="1"/>
          </p:cNvSpPr>
          <p:nvPr>
            <p:ph type="sldNum" sz="quarter" idx="12"/>
          </p:nvPr>
        </p:nvSpPr>
        <p:spPr/>
        <p:txBody>
          <a:bodyPr/>
          <a:lstStyle/>
          <a:p>
            <a:fld id="{C70AC583-F9E3-4A59-98F2-FD7379A90CB7}" type="slidenum">
              <a:rPr lang="en-IN" smtClean="0"/>
              <a:pPr/>
              <a:t>23</a:t>
            </a:fld>
            <a:endParaRPr lang="en-IN" b="0" dirty="0"/>
          </a:p>
        </p:txBody>
      </p:sp>
    </p:spTree>
    <p:extLst>
      <p:ext uri="{BB962C8B-B14F-4D97-AF65-F5344CB8AC3E}">
        <p14:creationId xmlns:p14="http://schemas.microsoft.com/office/powerpoint/2010/main" val="364691888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1023</TotalTime>
  <Words>2157</Words>
  <Application>Microsoft Office PowerPoint</Application>
  <PresentationFormat>On-screen Show (4:3)</PresentationFormat>
  <Paragraphs>137</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Calibri Light</vt:lpstr>
      <vt:lpstr>Office Theme</vt:lpstr>
      <vt:lpstr>Agile Software Engineering</vt:lpstr>
      <vt:lpstr>Quality</vt:lpstr>
      <vt:lpstr>Kanban</vt:lpstr>
      <vt:lpstr>Kanban</vt:lpstr>
      <vt:lpstr>Kanban</vt:lpstr>
      <vt:lpstr>Kanban</vt:lpstr>
      <vt:lpstr>Kanban</vt:lpstr>
      <vt:lpstr>Kanban Board</vt:lpstr>
      <vt:lpstr>Kanban Board</vt:lpstr>
      <vt:lpstr>Work in Progress (WIP) Limit</vt:lpstr>
      <vt:lpstr>Work in Progress (WIP) Limit</vt:lpstr>
      <vt:lpstr>Work in Progress (WIP) Limit</vt:lpstr>
      <vt:lpstr>Work in Progress (WIP) Limit</vt:lpstr>
      <vt:lpstr>Work in Progress (WIP) Limit</vt:lpstr>
      <vt:lpstr>Work in Progress (WIP) Limit</vt:lpstr>
      <vt:lpstr>Work in Progress (WIP) Limit</vt:lpstr>
      <vt:lpstr>Work in Progress (WIP) Limit</vt:lpstr>
      <vt:lpstr>Tracking</vt:lpstr>
      <vt:lpstr>Tracking - XP</vt:lpstr>
      <vt:lpstr>Tracking – Burn Charts</vt:lpstr>
      <vt:lpstr>Tracking – Burn Charts</vt:lpstr>
      <vt:lpstr>Tracking – Burn Charts</vt:lpstr>
      <vt:lpstr>Tracking – FDD – Parking Lots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Nitin Uikey</dc:creator>
  <cp:lastModifiedBy>Nitin Uikey</cp:lastModifiedBy>
  <cp:revision>87</cp:revision>
  <dcterms:created xsi:type="dcterms:W3CDTF">2026-01-06T05:40:50Z</dcterms:created>
  <dcterms:modified xsi:type="dcterms:W3CDTF">2026-03-24T02:33:03Z</dcterms:modified>
</cp:coreProperties>
</file>