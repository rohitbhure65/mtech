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297" r:id="rId42"/>
    <p:sldId id="298" r:id="rId43"/>
    <p:sldId id="299"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04-02-2026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04-02-2026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04-02-2026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04-02-2026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lstStyle/>
          <a:p>
            <a:r>
              <a:rPr lang="en-IN" dirty="0"/>
              <a:t>Agile Software Engineering</a:t>
            </a:r>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Understanding Different Types of Agile</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6CAD-1656-10CC-D360-45D45C5F6B5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F79EFDB-52D5-C0FF-8011-4B150096A9DA}"/>
              </a:ext>
            </a:extLst>
          </p:cNvPr>
          <p:cNvSpPr>
            <a:spLocks noGrp="1"/>
          </p:cNvSpPr>
          <p:nvPr>
            <p:ph idx="1"/>
          </p:nvPr>
        </p:nvSpPr>
        <p:spPr/>
        <p:txBody>
          <a:bodyPr/>
          <a:lstStyle/>
          <a:p>
            <a:r>
              <a:rPr lang="en-US" dirty="0"/>
              <a:t>How do you know when a software development organization has become Agile? </a:t>
            </a:r>
          </a:p>
          <a:p>
            <a:r>
              <a:rPr lang="en-US" dirty="0"/>
              <a:t>Is there such a thing as a completely Agile organization? </a:t>
            </a:r>
          </a:p>
          <a:p>
            <a:r>
              <a:rPr lang="en-US" dirty="0"/>
              <a:t>An </a:t>
            </a:r>
            <a:r>
              <a:rPr lang="en-US" b="1" dirty="0"/>
              <a:t>Agile organization </a:t>
            </a:r>
            <a:r>
              <a:rPr lang="en-US" dirty="0"/>
              <a:t>is quite simply one that is adaptive to change. </a:t>
            </a:r>
          </a:p>
          <a:p>
            <a:r>
              <a:rPr lang="en-US" dirty="0"/>
              <a:t>This could be the software development arm of a company or any other area, such as marketing or finance. </a:t>
            </a:r>
          </a:p>
          <a:p>
            <a:r>
              <a:rPr lang="en-US" dirty="0"/>
              <a:t>These areas have put policies and tools in place that enable them to be highly reactive to issues and opportunities as they arise.</a:t>
            </a:r>
            <a:endParaRPr lang="en-IN" dirty="0"/>
          </a:p>
        </p:txBody>
      </p:sp>
    </p:spTree>
    <p:extLst>
      <p:ext uri="{BB962C8B-B14F-4D97-AF65-F5344CB8AC3E}">
        <p14:creationId xmlns:p14="http://schemas.microsoft.com/office/powerpoint/2010/main" val="344093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5A88C-C11A-1E26-13CE-031B0DD94CB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C7D5F4F-05A0-75E3-C632-B574D38A2675}"/>
              </a:ext>
            </a:extLst>
          </p:cNvPr>
          <p:cNvSpPr>
            <a:spLocks noGrp="1"/>
          </p:cNvSpPr>
          <p:nvPr>
            <p:ph idx="1"/>
          </p:nvPr>
        </p:nvSpPr>
        <p:spPr/>
        <p:txBody>
          <a:bodyPr/>
          <a:lstStyle/>
          <a:p>
            <a:r>
              <a:rPr lang="en-US" dirty="0"/>
              <a:t>An Agile software development organization is one that uses Agile tools, techniques, and cultural norms to develop their products. </a:t>
            </a:r>
          </a:p>
          <a:p>
            <a:r>
              <a:rPr lang="en-US" dirty="0"/>
              <a:t>Becoming an Agile organization is more of a journey than a destination. </a:t>
            </a:r>
          </a:p>
          <a:p>
            <a:r>
              <a:rPr lang="en-US" dirty="0"/>
              <a:t>Most organizations use a combination of Agile tools and methodologies that best support their goals and objectives.</a:t>
            </a:r>
            <a:endParaRPr lang="en-IN" dirty="0"/>
          </a:p>
        </p:txBody>
      </p:sp>
    </p:spTree>
    <p:extLst>
      <p:ext uri="{BB962C8B-B14F-4D97-AF65-F5344CB8AC3E}">
        <p14:creationId xmlns:p14="http://schemas.microsoft.com/office/powerpoint/2010/main" val="716675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0CFB6-2E3E-5BA9-103F-CA84CB10D47E}"/>
              </a:ext>
            </a:extLst>
          </p:cNvPr>
          <p:cNvSpPr>
            <a:spLocks noGrp="1"/>
          </p:cNvSpPr>
          <p:nvPr>
            <p:ph type="title"/>
          </p:nvPr>
        </p:nvSpPr>
        <p:spPr/>
        <p:txBody>
          <a:bodyPr/>
          <a:lstStyle/>
          <a:p>
            <a:r>
              <a:rPr lang="en-IN" dirty="0"/>
              <a:t>Comparing Agile Methodologies</a:t>
            </a:r>
          </a:p>
        </p:txBody>
      </p:sp>
      <p:sp>
        <p:nvSpPr>
          <p:cNvPr id="3" name="Content Placeholder 2">
            <a:extLst>
              <a:ext uri="{FF2B5EF4-FFF2-40B4-BE49-F238E27FC236}">
                <a16:creationId xmlns:a16="http://schemas.microsoft.com/office/drawing/2014/main" id="{014B0CCE-2901-E217-140E-755A88C13D5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F11346B-A1FB-AFA3-9AD9-BF9647320E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39786" y="924138"/>
            <a:ext cx="7864427" cy="5914812"/>
          </a:xfrm>
          <a:prstGeom prst="rect">
            <a:avLst/>
          </a:prstGeom>
        </p:spPr>
      </p:pic>
    </p:spTree>
    <p:extLst>
      <p:ext uri="{BB962C8B-B14F-4D97-AF65-F5344CB8AC3E}">
        <p14:creationId xmlns:p14="http://schemas.microsoft.com/office/powerpoint/2010/main" val="1892418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00B9F-8A34-A62A-719F-A4A7EE5AF653}"/>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48F305AA-2A2C-727C-9C99-0D12A553622F}"/>
              </a:ext>
            </a:extLst>
          </p:cNvPr>
          <p:cNvSpPr>
            <a:spLocks noGrp="1"/>
          </p:cNvSpPr>
          <p:nvPr>
            <p:ph idx="1"/>
          </p:nvPr>
        </p:nvSpPr>
        <p:spPr/>
        <p:txBody>
          <a:bodyPr>
            <a:normAutofit/>
          </a:bodyPr>
          <a:lstStyle/>
          <a:p>
            <a:r>
              <a:rPr lang="en-US" dirty="0"/>
              <a:t>The idea of Extreme Programming started at Chrysler Motors in 1996 with a payroll project named the Chrysler Comprehensive Compensation System (C3).</a:t>
            </a:r>
          </a:p>
          <a:p>
            <a:r>
              <a:rPr lang="en-US" dirty="0"/>
              <a:t>The project team, led by Kent Beck, was struggling with how to release high quality code much faster and more efficiently, and as a result morphed their development process to be efficient, with a quality focus. </a:t>
            </a:r>
          </a:p>
          <a:p>
            <a:r>
              <a:rPr lang="en-US" dirty="0"/>
              <a:t>In 1999, the popularity of Extreme Programming took off when the ideas developed during the C3 project were documented in a book written by Beck called Extreme Programming Explained.</a:t>
            </a:r>
            <a:endParaRPr lang="en-IN" dirty="0"/>
          </a:p>
        </p:txBody>
      </p:sp>
    </p:spTree>
    <p:extLst>
      <p:ext uri="{BB962C8B-B14F-4D97-AF65-F5344CB8AC3E}">
        <p14:creationId xmlns:p14="http://schemas.microsoft.com/office/powerpoint/2010/main" val="2493420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08D8D-C739-0956-70E4-ACC9F0ADA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2DCFC-E78D-8DA5-835C-D83938A4CDC4}"/>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31336BB9-A069-7B50-9AD3-E5983CF63A9F}"/>
              </a:ext>
            </a:extLst>
          </p:cNvPr>
          <p:cNvSpPr>
            <a:spLocks noGrp="1"/>
          </p:cNvSpPr>
          <p:nvPr>
            <p:ph idx="1"/>
          </p:nvPr>
        </p:nvSpPr>
        <p:spPr/>
        <p:txBody>
          <a:bodyPr>
            <a:normAutofit/>
          </a:bodyPr>
          <a:lstStyle/>
          <a:p>
            <a:r>
              <a:rPr lang="en-US" dirty="0"/>
              <a:t>Techniques and principles from Extreme Programming are now some of the most popular in Agile software development and focus on the following key themes:</a:t>
            </a:r>
          </a:p>
          <a:p>
            <a:r>
              <a:rPr lang="en-US" dirty="0"/>
              <a:t>Frequent releases, short development cycles</a:t>
            </a:r>
          </a:p>
          <a:p>
            <a:r>
              <a:rPr lang="en-IN" dirty="0"/>
              <a:t>Pair programming</a:t>
            </a:r>
          </a:p>
          <a:p>
            <a:r>
              <a:rPr lang="en-US" dirty="0"/>
              <a:t>Regular builds and integration tests</a:t>
            </a:r>
          </a:p>
          <a:p>
            <a:r>
              <a:rPr lang="en-US" dirty="0"/>
              <a:t>Quality and avoiding code breakage</a:t>
            </a:r>
          </a:p>
          <a:p>
            <a:r>
              <a:rPr lang="en-US" dirty="0"/>
              <a:t>Simplicity of code, coding only what is needed</a:t>
            </a:r>
          </a:p>
          <a:p>
            <a:r>
              <a:rPr lang="en-IN" dirty="0"/>
              <a:t>Rapid and regular feedback</a:t>
            </a:r>
          </a:p>
        </p:txBody>
      </p:sp>
    </p:spTree>
    <p:extLst>
      <p:ext uri="{BB962C8B-B14F-4D97-AF65-F5344CB8AC3E}">
        <p14:creationId xmlns:p14="http://schemas.microsoft.com/office/powerpoint/2010/main" val="112383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D7D49-10B5-E158-37A9-87F9A9304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57B28-A6D6-9268-975C-8046351E3EB8}"/>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A0953ADD-1502-5C78-0970-30924CD5A6C9}"/>
              </a:ext>
            </a:extLst>
          </p:cNvPr>
          <p:cNvSpPr>
            <a:spLocks noGrp="1"/>
          </p:cNvSpPr>
          <p:nvPr>
            <p:ph idx="1"/>
          </p:nvPr>
        </p:nvSpPr>
        <p:spPr/>
        <p:txBody>
          <a:bodyPr>
            <a:normAutofit/>
          </a:bodyPr>
          <a:lstStyle/>
          <a:p>
            <a:r>
              <a:rPr lang="en-US" b="1" dirty="0"/>
              <a:t>Frequent Releases, Short Development Cycles</a:t>
            </a:r>
          </a:p>
          <a:p>
            <a:r>
              <a:rPr lang="en-US" dirty="0"/>
              <a:t>XP introduced the idea of smaller and more frequent development cycles.</a:t>
            </a:r>
          </a:p>
          <a:p>
            <a:r>
              <a:rPr lang="en-US" dirty="0"/>
              <a:t>Traditionally, software had been developed using a lengthy design proposal and modification phase followed by the coding of all of the requirements for the new version of the product.</a:t>
            </a:r>
          </a:p>
          <a:p>
            <a:r>
              <a:rPr lang="en-US" b="1" dirty="0"/>
              <a:t>In contrast, </a:t>
            </a:r>
            <a:r>
              <a:rPr lang="en-US" dirty="0"/>
              <a:t>XP practitioners argued that code is more useful than extensive documentation and that developers should put their focus on developing quality code rather than on documenting what they plan to code.</a:t>
            </a:r>
            <a:endParaRPr lang="en-IN" dirty="0"/>
          </a:p>
        </p:txBody>
      </p:sp>
    </p:spTree>
    <p:extLst>
      <p:ext uri="{BB962C8B-B14F-4D97-AF65-F5344CB8AC3E}">
        <p14:creationId xmlns:p14="http://schemas.microsoft.com/office/powerpoint/2010/main" val="1140415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B534-0B32-9FC4-FDF3-51D833C7B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A5453-77D4-3B47-531F-AB29EBC46597}"/>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A51642B5-3AF3-DCBD-56BC-8EBD6F20F530}"/>
              </a:ext>
            </a:extLst>
          </p:cNvPr>
          <p:cNvSpPr>
            <a:spLocks noGrp="1"/>
          </p:cNvSpPr>
          <p:nvPr>
            <p:ph idx="1"/>
          </p:nvPr>
        </p:nvSpPr>
        <p:spPr/>
        <p:txBody>
          <a:bodyPr>
            <a:normAutofit/>
          </a:bodyPr>
          <a:lstStyle/>
          <a:p>
            <a:r>
              <a:rPr lang="en-US" b="1" dirty="0"/>
              <a:t>Frequent Releases, Short Development Cycles</a:t>
            </a:r>
          </a:p>
          <a:p>
            <a:r>
              <a:rPr lang="en-US" dirty="0"/>
              <a:t>The process also relies heavily on an automated unit-testing strategy known as test-driven development (TDD). </a:t>
            </a:r>
          </a:p>
          <a:p>
            <a:r>
              <a:rPr lang="en-US" dirty="0"/>
              <a:t>When practicing TDD, developers write automated unit tests before writing the corresponding production code; code is not considered complete until all automated tests pass.</a:t>
            </a:r>
            <a:endParaRPr lang="en-IN" dirty="0"/>
          </a:p>
        </p:txBody>
      </p:sp>
    </p:spTree>
    <p:extLst>
      <p:ext uri="{BB962C8B-B14F-4D97-AF65-F5344CB8AC3E}">
        <p14:creationId xmlns:p14="http://schemas.microsoft.com/office/powerpoint/2010/main" val="876810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BCF63-F555-FBBF-249F-6333A273D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5A1B01-5500-6DAA-C1E1-5C82CBC48295}"/>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1F10A18E-FAA3-B7AC-B3D2-B0C14144A11A}"/>
              </a:ext>
            </a:extLst>
          </p:cNvPr>
          <p:cNvSpPr>
            <a:spLocks noGrp="1"/>
          </p:cNvSpPr>
          <p:nvPr>
            <p:ph idx="1"/>
          </p:nvPr>
        </p:nvSpPr>
        <p:spPr/>
        <p:txBody>
          <a:bodyPr>
            <a:normAutofit/>
          </a:bodyPr>
          <a:lstStyle/>
          <a:p>
            <a:r>
              <a:rPr lang="en-IN" b="1" dirty="0"/>
              <a:t>Pair Programming</a:t>
            </a:r>
          </a:p>
          <a:p>
            <a:r>
              <a:rPr lang="en-US" dirty="0"/>
              <a:t>Pair programming is an exercise where two developers work together to create production-ready code.</a:t>
            </a:r>
            <a:endParaRPr lang="en-IN" dirty="0"/>
          </a:p>
        </p:txBody>
      </p:sp>
      <p:pic>
        <p:nvPicPr>
          <p:cNvPr id="5" name="Picture 4">
            <a:extLst>
              <a:ext uri="{FF2B5EF4-FFF2-40B4-BE49-F238E27FC236}">
                <a16:creationId xmlns:a16="http://schemas.microsoft.com/office/drawing/2014/main" id="{B5AA0430-3C82-04C7-9769-B2FAA8E303A9}"/>
              </a:ext>
            </a:extLst>
          </p:cNvPr>
          <p:cNvPicPr>
            <a:picLocks noChangeAspect="1"/>
          </p:cNvPicPr>
          <p:nvPr/>
        </p:nvPicPr>
        <p:blipFill>
          <a:blip r:embed="rId2"/>
          <a:stretch>
            <a:fillRect/>
          </a:stretch>
        </p:blipFill>
        <p:spPr>
          <a:xfrm>
            <a:off x="1057275" y="2367728"/>
            <a:ext cx="6472237" cy="4353748"/>
          </a:xfrm>
          <a:prstGeom prst="rect">
            <a:avLst/>
          </a:prstGeom>
        </p:spPr>
      </p:pic>
    </p:spTree>
    <p:extLst>
      <p:ext uri="{BB962C8B-B14F-4D97-AF65-F5344CB8AC3E}">
        <p14:creationId xmlns:p14="http://schemas.microsoft.com/office/powerpoint/2010/main" val="143904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1CF63-970C-E048-D564-D826B5D6B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331336-78B1-55D2-F371-9ED307457198}"/>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AB396B25-FE4B-B5BB-E20E-47FEB47EE259}"/>
              </a:ext>
            </a:extLst>
          </p:cNvPr>
          <p:cNvSpPr>
            <a:spLocks noGrp="1"/>
          </p:cNvSpPr>
          <p:nvPr>
            <p:ph idx="1"/>
          </p:nvPr>
        </p:nvSpPr>
        <p:spPr/>
        <p:txBody>
          <a:bodyPr>
            <a:normAutofit fontScale="92500" lnSpcReduction="10000"/>
          </a:bodyPr>
          <a:lstStyle/>
          <a:p>
            <a:r>
              <a:rPr lang="en-IN" b="1" dirty="0"/>
              <a:t>Pair Programming</a:t>
            </a:r>
          </a:p>
          <a:p>
            <a:r>
              <a:rPr lang="en-US" dirty="0"/>
              <a:t>Ideally, paired developers would write all production code. </a:t>
            </a:r>
          </a:p>
          <a:p>
            <a:r>
              <a:rPr lang="en-US" dirty="0"/>
              <a:t>When pairing is not possible, a developer should write nonproduction code. </a:t>
            </a:r>
          </a:p>
          <a:p>
            <a:r>
              <a:rPr lang="en-US" dirty="0"/>
              <a:t>Pair programming has become a popular XP tool because code is regularly reviewed by more than one person, resulting in higher-quality code.</a:t>
            </a:r>
          </a:p>
          <a:p>
            <a:r>
              <a:rPr lang="en-US" dirty="0"/>
              <a:t>It also exposes team members to a broader range of the product’s code,</a:t>
            </a:r>
          </a:p>
          <a:p>
            <a:r>
              <a:rPr lang="en-US" dirty="0"/>
              <a:t>which aids in cross-training and learning development best practices from one another. </a:t>
            </a:r>
          </a:p>
          <a:p>
            <a:r>
              <a:rPr lang="en-US" dirty="0"/>
              <a:t>Some teams pair developers and testers so the code gets an early review and to also help testers learn more about new fixes or features.</a:t>
            </a:r>
            <a:endParaRPr lang="en-IN" dirty="0"/>
          </a:p>
        </p:txBody>
      </p:sp>
    </p:spTree>
    <p:extLst>
      <p:ext uri="{BB962C8B-B14F-4D97-AF65-F5344CB8AC3E}">
        <p14:creationId xmlns:p14="http://schemas.microsoft.com/office/powerpoint/2010/main" val="3068959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2395C-5D85-C865-BACD-295968555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DCBB75-86D5-246C-7231-FE0B0C5464ED}"/>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29EEC007-7B99-1134-DB2A-EEEDE17D323E}"/>
              </a:ext>
            </a:extLst>
          </p:cNvPr>
          <p:cNvSpPr>
            <a:spLocks noGrp="1"/>
          </p:cNvSpPr>
          <p:nvPr>
            <p:ph idx="1"/>
          </p:nvPr>
        </p:nvSpPr>
        <p:spPr/>
        <p:txBody>
          <a:bodyPr>
            <a:normAutofit/>
          </a:bodyPr>
          <a:lstStyle/>
          <a:p>
            <a:r>
              <a:rPr lang="en-IN" b="1" dirty="0"/>
              <a:t>Pair Programming</a:t>
            </a:r>
          </a:p>
          <a:p>
            <a:r>
              <a:rPr lang="en-US" dirty="0"/>
              <a:t>There are some basic guidelines that programmers should follow when they are pairing. </a:t>
            </a:r>
          </a:p>
          <a:p>
            <a:r>
              <a:rPr lang="en-US" dirty="0"/>
              <a:t>The first is that the development space should accommodate two developers working side by side. </a:t>
            </a:r>
          </a:p>
          <a:p>
            <a:r>
              <a:rPr lang="en-US" dirty="0"/>
              <a:t>The developers share a keyboard and either use dual screens or share a large screen. </a:t>
            </a:r>
          </a:p>
          <a:p>
            <a:r>
              <a:rPr lang="en-US" dirty="0"/>
              <a:t>Both developers should be active participants in the creation of the code, and the pairing should end when one or both developers feel tired and unable to concentrate.</a:t>
            </a:r>
            <a:endParaRPr lang="en-IN" dirty="0"/>
          </a:p>
        </p:txBody>
      </p:sp>
    </p:spTree>
    <p:extLst>
      <p:ext uri="{BB962C8B-B14F-4D97-AF65-F5344CB8AC3E}">
        <p14:creationId xmlns:p14="http://schemas.microsoft.com/office/powerpoint/2010/main" val="3720076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D3830-674D-48CD-D79F-9480EB7F5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A5984-9041-4412-B8A0-730AA4F11FFF}"/>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42D7BF0F-B6FF-2226-E814-F9C02B894EC1}"/>
              </a:ext>
            </a:extLst>
          </p:cNvPr>
          <p:cNvSpPr>
            <a:spLocks noGrp="1"/>
          </p:cNvSpPr>
          <p:nvPr>
            <p:ph idx="1"/>
          </p:nvPr>
        </p:nvSpPr>
        <p:spPr/>
        <p:txBody>
          <a:bodyPr>
            <a:normAutofit/>
          </a:bodyPr>
          <a:lstStyle/>
          <a:p>
            <a:r>
              <a:rPr lang="en-US" b="1" dirty="0"/>
              <a:t>Regular Builds, Integration Tests, and Rapid Feedback</a:t>
            </a:r>
          </a:p>
          <a:p>
            <a:r>
              <a:rPr lang="en-US" dirty="0"/>
              <a:t>Regular builds and integration tests were introduced in XP to alleviate the problem of high defect counts during builds and code integration. </a:t>
            </a:r>
          </a:p>
          <a:p>
            <a:r>
              <a:rPr lang="en-US" dirty="0"/>
              <a:t>Previously, it was not uncommon to have a weekly build or code integration at the end of the development cycle. </a:t>
            </a:r>
          </a:p>
          <a:p>
            <a:r>
              <a:rPr lang="en-US" dirty="0"/>
              <a:t>XP encourages a minimum of a daily build with code integration happening every time a developer checks in new code.</a:t>
            </a:r>
            <a:endParaRPr lang="en-IN" dirty="0"/>
          </a:p>
        </p:txBody>
      </p:sp>
    </p:spTree>
    <p:extLst>
      <p:ext uri="{BB962C8B-B14F-4D97-AF65-F5344CB8AC3E}">
        <p14:creationId xmlns:p14="http://schemas.microsoft.com/office/powerpoint/2010/main" val="1954197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553BC-1002-889D-8AE3-B978A6D57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90DC3-F33D-9448-35A6-D81D3529925F}"/>
              </a:ext>
            </a:extLst>
          </p:cNvPr>
          <p:cNvSpPr>
            <a:spLocks noGrp="1"/>
          </p:cNvSpPr>
          <p:nvPr>
            <p:ph type="title"/>
          </p:nvPr>
        </p:nvSpPr>
        <p:spPr/>
        <p:txBody>
          <a:bodyPr/>
          <a:lstStyle/>
          <a:p>
            <a:r>
              <a:rPr lang="en-IN" dirty="0"/>
              <a:t>Extreme Programming (XP)</a:t>
            </a:r>
          </a:p>
        </p:txBody>
      </p:sp>
      <p:sp>
        <p:nvSpPr>
          <p:cNvPr id="3" name="Content Placeholder 2">
            <a:extLst>
              <a:ext uri="{FF2B5EF4-FFF2-40B4-BE49-F238E27FC236}">
                <a16:creationId xmlns:a16="http://schemas.microsoft.com/office/drawing/2014/main" id="{CE17A6C9-EE14-2279-13F5-629F371F2195}"/>
              </a:ext>
            </a:extLst>
          </p:cNvPr>
          <p:cNvSpPr>
            <a:spLocks noGrp="1"/>
          </p:cNvSpPr>
          <p:nvPr>
            <p:ph idx="1"/>
          </p:nvPr>
        </p:nvSpPr>
        <p:spPr/>
        <p:txBody>
          <a:bodyPr>
            <a:normAutofit/>
          </a:bodyPr>
          <a:lstStyle/>
          <a:p>
            <a:r>
              <a:rPr lang="en-US" b="1" dirty="0"/>
              <a:t>Regular Builds, Integration Tests, and Rapid Feedback</a:t>
            </a:r>
          </a:p>
          <a:p>
            <a:r>
              <a:rPr lang="en-US" dirty="0"/>
              <a:t>Some organizations that have adopted this XP technique use a flashing light or a siren if new code that is checked in to the code build introduces an error; this rapid feedback enables the developer to respond quickly to the error so that quality builds can be maintained. </a:t>
            </a:r>
          </a:p>
          <a:p>
            <a:r>
              <a:rPr lang="en-US" dirty="0"/>
              <a:t>This also makes fixing errors easier because developers are working with code they recently developed.</a:t>
            </a:r>
            <a:endParaRPr lang="en-IN" dirty="0"/>
          </a:p>
        </p:txBody>
      </p:sp>
    </p:spTree>
    <p:extLst>
      <p:ext uri="{BB962C8B-B14F-4D97-AF65-F5344CB8AC3E}">
        <p14:creationId xmlns:p14="http://schemas.microsoft.com/office/powerpoint/2010/main" val="3548919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47E07-4FE0-92C3-D7DC-358922896D7E}"/>
              </a:ext>
            </a:extLst>
          </p:cNvPr>
          <p:cNvSpPr>
            <a:spLocks noGrp="1"/>
          </p:cNvSpPr>
          <p:nvPr>
            <p:ph type="title"/>
          </p:nvPr>
        </p:nvSpPr>
        <p:spPr/>
        <p:txBody>
          <a:bodyPr/>
          <a:lstStyle/>
          <a:p>
            <a:r>
              <a:rPr lang="en-IN" dirty="0"/>
              <a:t>Scrum</a:t>
            </a:r>
          </a:p>
        </p:txBody>
      </p:sp>
      <p:sp>
        <p:nvSpPr>
          <p:cNvPr id="3" name="Content Placeholder 2">
            <a:extLst>
              <a:ext uri="{FF2B5EF4-FFF2-40B4-BE49-F238E27FC236}">
                <a16:creationId xmlns:a16="http://schemas.microsoft.com/office/drawing/2014/main" id="{203BC5A4-EE04-F33F-1879-2F24CE4CC361}"/>
              </a:ext>
            </a:extLst>
          </p:cNvPr>
          <p:cNvSpPr>
            <a:spLocks noGrp="1"/>
          </p:cNvSpPr>
          <p:nvPr>
            <p:ph idx="1"/>
          </p:nvPr>
        </p:nvSpPr>
        <p:spPr/>
        <p:txBody>
          <a:bodyPr/>
          <a:lstStyle/>
          <a:p>
            <a:r>
              <a:rPr lang="en-US" dirty="0"/>
              <a:t>According to the Webster dictionary definition, a “scrum” is a rugby play in which the forwards of each side come together in a tight formation and struggle to gain possession of the ball using their feet when it is tossed in among them.</a:t>
            </a:r>
          </a:p>
          <a:p>
            <a:r>
              <a:rPr lang="en-US" dirty="0"/>
              <a:t>Rugby is a game that cannot be won by a single superstar; it takes a full team, working closely together, to be successful. </a:t>
            </a:r>
          </a:p>
          <a:p>
            <a:r>
              <a:rPr lang="en-US" dirty="0"/>
              <a:t>The same is true with Scrum software development. </a:t>
            </a:r>
          </a:p>
          <a:p>
            <a:r>
              <a:rPr lang="en-US" dirty="0"/>
              <a:t>Each member of the Scrum team is vitally important and must contribute if the team is to be successful.</a:t>
            </a:r>
            <a:endParaRPr lang="en-IN" dirty="0"/>
          </a:p>
        </p:txBody>
      </p:sp>
    </p:spTree>
    <p:extLst>
      <p:ext uri="{BB962C8B-B14F-4D97-AF65-F5344CB8AC3E}">
        <p14:creationId xmlns:p14="http://schemas.microsoft.com/office/powerpoint/2010/main" val="370883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C4A30-10F6-2521-0866-9278F5888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C353C-F4C2-B7FD-85F6-FF5F2903BB3E}"/>
              </a:ext>
            </a:extLst>
          </p:cNvPr>
          <p:cNvSpPr>
            <a:spLocks noGrp="1"/>
          </p:cNvSpPr>
          <p:nvPr>
            <p:ph type="title"/>
          </p:nvPr>
        </p:nvSpPr>
        <p:spPr/>
        <p:txBody>
          <a:bodyPr/>
          <a:lstStyle/>
          <a:p>
            <a:r>
              <a:rPr lang="en-IN" dirty="0"/>
              <a:t>Scrum</a:t>
            </a:r>
          </a:p>
        </p:txBody>
      </p:sp>
      <p:sp>
        <p:nvSpPr>
          <p:cNvPr id="3" name="Content Placeholder 2">
            <a:extLst>
              <a:ext uri="{FF2B5EF4-FFF2-40B4-BE49-F238E27FC236}">
                <a16:creationId xmlns:a16="http://schemas.microsoft.com/office/drawing/2014/main" id="{6ACA4F20-B56F-99AD-3E7F-9578D130C19D}"/>
              </a:ext>
            </a:extLst>
          </p:cNvPr>
          <p:cNvSpPr>
            <a:spLocks noGrp="1"/>
          </p:cNvSpPr>
          <p:nvPr>
            <p:ph idx="1"/>
          </p:nvPr>
        </p:nvSpPr>
        <p:spPr/>
        <p:txBody>
          <a:bodyPr/>
          <a:lstStyle/>
          <a:p>
            <a:r>
              <a:rPr lang="en-US" dirty="0"/>
              <a:t>According to the Webster dictionary definition, a “scrum” is a rugby play in which the forwards of each side come together in a tight formation and struggle to gain possession of the ball using their feet when it is tossed in among them.</a:t>
            </a:r>
          </a:p>
          <a:p>
            <a:r>
              <a:rPr lang="en-US" dirty="0"/>
              <a:t>Rugby is a game that cannot be won by a single superstar; it takes a full team, working closely together, to be successful. </a:t>
            </a:r>
          </a:p>
          <a:p>
            <a:r>
              <a:rPr lang="en-US" dirty="0"/>
              <a:t>The same is true with Scrum software development. </a:t>
            </a:r>
          </a:p>
          <a:p>
            <a:r>
              <a:rPr lang="en-US" dirty="0"/>
              <a:t>Each member of the Scrum team is vitally important and must contribute if the team is to be successful.</a:t>
            </a:r>
            <a:endParaRPr lang="en-IN" dirty="0"/>
          </a:p>
        </p:txBody>
      </p:sp>
    </p:spTree>
    <p:extLst>
      <p:ext uri="{BB962C8B-B14F-4D97-AF65-F5344CB8AC3E}">
        <p14:creationId xmlns:p14="http://schemas.microsoft.com/office/powerpoint/2010/main" val="598944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CFDE2-BC82-6AA6-F732-C50BFFB80A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14AAD-5E4A-BEAA-68EC-7F278AE2E060}"/>
              </a:ext>
            </a:extLst>
          </p:cNvPr>
          <p:cNvSpPr>
            <a:spLocks noGrp="1"/>
          </p:cNvSpPr>
          <p:nvPr>
            <p:ph type="title"/>
          </p:nvPr>
        </p:nvSpPr>
        <p:spPr/>
        <p:txBody>
          <a:bodyPr/>
          <a:lstStyle/>
          <a:p>
            <a:r>
              <a:rPr lang="en-IN" dirty="0"/>
              <a:t>Scrum</a:t>
            </a:r>
          </a:p>
        </p:txBody>
      </p:sp>
      <p:sp>
        <p:nvSpPr>
          <p:cNvPr id="3" name="Content Placeholder 2">
            <a:extLst>
              <a:ext uri="{FF2B5EF4-FFF2-40B4-BE49-F238E27FC236}">
                <a16:creationId xmlns:a16="http://schemas.microsoft.com/office/drawing/2014/main" id="{05325545-9D1E-92BA-DD9A-9BB693A9730F}"/>
              </a:ext>
            </a:extLst>
          </p:cNvPr>
          <p:cNvSpPr>
            <a:spLocks noGrp="1"/>
          </p:cNvSpPr>
          <p:nvPr>
            <p:ph idx="1"/>
          </p:nvPr>
        </p:nvSpPr>
        <p:spPr/>
        <p:txBody>
          <a:bodyPr/>
          <a:lstStyle/>
          <a:p>
            <a:r>
              <a:rPr lang="en-US" dirty="0"/>
              <a:t>Despite Scrum’s overwhelming popularity with companies that decide to adopt Agile methodologies,  many are still uncertain about what it entails. </a:t>
            </a:r>
          </a:p>
          <a:p>
            <a:r>
              <a:rPr lang="en-US" dirty="0"/>
              <a:t>Many consider XP to have a technical or developer focus, but Scrum tends to address more of the project management and teaming aspects of software development.</a:t>
            </a:r>
            <a:endParaRPr lang="en-IN" dirty="0"/>
          </a:p>
        </p:txBody>
      </p:sp>
    </p:spTree>
    <p:extLst>
      <p:ext uri="{BB962C8B-B14F-4D97-AF65-F5344CB8AC3E}">
        <p14:creationId xmlns:p14="http://schemas.microsoft.com/office/powerpoint/2010/main" val="133293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5530E-4C27-1ECB-E717-95B26AF98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B07713-7D16-6BE4-B593-834CF563AEB6}"/>
              </a:ext>
            </a:extLst>
          </p:cNvPr>
          <p:cNvSpPr>
            <a:spLocks noGrp="1"/>
          </p:cNvSpPr>
          <p:nvPr>
            <p:ph type="title"/>
          </p:nvPr>
        </p:nvSpPr>
        <p:spPr/>
        <p:txBody>
          <a:bodyPr/>
          <a:lstStyle/>
          <a:p>
            <a:r>
              <a:rPr lang="en-IN" dirty="0"/>
              <a:t>Scrum</a:t>
            </a:r>
          </a:p>
        </p:txBody>
      </p:sp>
      <p:sp>
        <p:nvSpPr>
          <p:cNvPr id="3" name="Content Placeholder 2">
            <a:extLst>
              <a:ext uri="{FF2B5EF4-FFF2-40B4-BE49-F238E27FC236}">
                <a16:creationId xmlns:a16="http://schemas.microsoft.com/office/drawing/2014/main" id="{52A750AA-CF0F-2B10-4D6A-109CD842C8ED}"/>
              </a:ext>
            </a:extLst>
          </p:cNvPr>
          <p:cNvSpPr>
            <a:spLocks noGrp="1"/>
          </p:cNvSpPr>
          <p:nvPr>
            <p:ph idx="1"/>
          </p:nvPr>
        </p:nvSpPr>
        <p:spPr/>
        <p:txBody>
          <a:bodyPr>
            <a:normAutofit/>
          </a:bodyPr>
          <a:lstStyle/>
          <a:p>
            <a:r>
              <a:rPr lang="en-US" dirty="0"/>
              <a:t>Scrum emphasizes the importance of organizing a project into specific durations, known as time boxes, that help the team know what they need to focus on each day and encourage a sense of urgency. </a:t>
            </a:r>
          </a:p>
          <a:p>
            <a:r>
              <a:rPr lang="en-US" dirty="0"/>
              <a:t>Work requirements are grouped into chunks of work that can be completed in one- to six-week time frames called sprints. </a:t>
            </a:r>
          </a:p>
          <a:p>
            <a:r>
              <a:rPr lang="en-US" dirty="0"/>
              <a:t>All design, development, test, and customer validation work is contained within the sprint; the goal is that by the end of the sprint, the new functionality is ready to deliver to customers.</a:t>
            </a:r>
            <a:endParaRPr lang="en-IN" dirty="0"/>
          </a:p>
        </p:txBody>
      </p:sp>
    </p:spTree>
    <p:extLst>
      <p:ext uri="{BB962C8B-B14F-4D97-AF65-F5344CB8AC3E}">
        <p14:creationId xmlns:p14="http://schemas.microsoft.com/office/powerpoint/2010/main" val="2911556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8739D-366E-808A-F7C9-ECB6A618A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7866F-848C-4C5A-1457-29F35DF8AD0A}"/>
              </a:ext>
            </a:extLst>
          </p:cNvPr>
          <p:cNvSpPr>
            <a:spLocks noGrp="1"/>
          </p:cNvSpPr>
          <p:nvPr>
            <p:ph type="title"/>
          </p:nvPr>
        </p:nvSpPr>
        <p:spPr/>
        <p:txBody>
          <a:bodyPr/>
          <a:lstStyle/>
          <a:p>
            <a:r>
              <a:rPr lang="en-IN" dirty="0"/>
              <a:t>Scrum</a:t>
            </a:r>
          </a:p>
        </p:txBody>
      </p:sp>
      <p:sp>
        <p:nvSpPr>
          <p:cNvPr id="3" name="Content Placeholder 2">
            <a:extLst>
              <a:ext uri="{FF2B5EF4-FFF2-40B4-BE49-F238E27FC236}">
                <a16:creationId xmlns:a16="http://schemas.microsoft.com/office/drawing/2014/main" id="{0E55F096-6CC0-54F7-0F1A-DACDED9F7595}"/>
              </a:ext>
            </a:extLst>
          </p:cNvPr>
          <p:cNvSpPr>
            <a:spLocks noGrp="1"/>
          </p:cNvSpPr>
          <p:nvPr>
            <p:ph idx="1"/>
          </p:nvPr>
        </p:nvSpPr>
        <p:spPr/>
        <p:txBody>
          <a:bodyPr>
            <a:normAutofit/>
          </a:bodyPr>
          <a:lstStyle/>
          <a:p>
            <a:r>
              <a:rPr lang="en-US" dirty="0"/>
              <a:t>The product owner selects work requirements for each sprint. The product owner maintains a prioritized list of requirements for the product called a product backlog. </a:t>
            </a:r>
          </a:p>
          <a:p>
            <a:r>
              <a:rPr lang="en-US" dirty="0"/>
              <a:t>The requirements are written in the form of user stories or stories about the problem that needs to be solved by the requirement. </a:t>
            </a:r>
          </a:p>
          <a:p>
            <a:r>
              <a:rPr lang="en-US" dirty="0"/>
              <a:t>User stories are covered in more detail in Chapter 5, “The New Way to Collect and Document Requirements.”</a:t>
            </a:r>
          </a:p>
          <a:p>
            <a:r>
              <a:rPr lang="en-US" dirty="0"/>
              <a:t>Tracking is also an important part of the Scrum approach. </a:t>
            </a:r>
          </a:p>
          <a:p>
            <a:r>
              <a:rPr lang="en-US" dirty="0"/>
              <a:t>Scrum teams meet daily in what is commonly referred to as a </a:t>
            </a:r>
            <a:r>
              <a:rPr lang="en-US" b="1" dirty="0"/>
              <a:t>daily stand-up </a:t>
            </a:r>
            <a:r>
              <a:rPr lang="en-US" dirty="0"/>
              <a:t>or </a:t>
            </a:r>
            <a:r>
              <a:rPr lang="en-US" b="1" dirty="0"/>
              <a:t>daily Scrum meeting</a:t>
            </a:r>
            <a:r>
              <a:rPr lang="en-US" dirty="0"/>
              <a:t>.</a:t>
            </a:r>
            <a:endParaRPr lang="en-IN" dirty="0"/>
          </a:p>
        </p:txBody>
      </p:sp>
    </p:spTree>
    <p:extLst>
      <p:ext uri="{BB962C8B-B14F-4D97-AF65-F5344CB8AC3E}">
        <p14:creationId xmlns:p14="http://schemas.microsoft.com/office/powerpoint/2010/main" val="3743336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F94A-F78C-1CBE-A1C6-FDF1DB932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8D54E-D275-7A56-F150-BFA701DD553E}"/>
              </a:ext>
            </a:extLst>
          </p:cNvPr>
          <p:cNvSpPr>
            <a:spLocks noGrp="1"/>
          </p:cNvSpPr>
          <p:nvPr>
            <p:ph type="title"/>
          </p:nvPr>
        </p:nvSpPr>
        <p:spPr/>
        <p:txBody>
          <a:bodyPr/>
          <a:lstStyle/>
          <a:p>
            <a:r>
              <a:rPr lang="en-IN" dirty="0"/>
              <a:t>Scrum</a:t>
            </a:r>
          </a:p>
        </p:txBody>
      </p:sp>
      <p:sp>
        <p:nvSpPr>
          <p:cNvPr id="3" name="Content Placeholder 2">
            <a:extLst>
              <a:ext uri="{FF2B5EF4-FFF2-40B4-BE49-F238E27FC236}">
                <a16:creationId xmlns:a16="http://schemas.microsoft.com/office/drawing/2014/main" id="{16476E73-3006-3D47-37D3-99DDA5DFFA88}"/>
              </a:ext>
            </a:extLst>
          </p:cNvPr>
          <p:cNvSpPr>
            <a:spLocks noGrp="1"/>
          </p:cNvSpPr>
          <p:nvPr>
            <p:ph idx="1"/>
          </p:nvPr>
        </p:nvSpPr>
        <p:spPr/>
        <p:txBody>
          <a:bodyPr>
            <a:normAutofit/>
          </a:bodyPr>
          <a:lstStyle/>
          <a:p>
            <a:endParaRPr lang="en-IN" dirty="0"/>
          </a:p>
        </p:txBody>
      </p:sp>
      <p:pic>
        <p:nvPicPr>
          <p:cNvPr id="5" name="Picture 4">
            <a:extLst>
              <a:ext uri="{FF2B5EF4-FFF2-40B4-BE49-F238E27FC236}">
                <a16:creationId xmlns:a16="http://schemas.microsoft.com/office/drawing/2014/main" id="{81B720F9-A11C-C143-6F01-4A496BF49106}"/>
              </a:ext>
            </a:extLst>
          </p:cNvPr>
          <p:cNvPicPr>
            <a:picLocks noChangeAspect="1"/>
          </p:cNvPicPr>
          <p:nvPr/>
        </p:nvPicPr>
        <p:blipFill>
          <a:blip r:embed="rId2"/>
          <a:stretch>
            <a:fillRect/>
          </a:stretch>
        </p:blipFill>
        <p:spPr>
          <a:xfrm>
            <a:off x="331352" y="1020932"/>
            <a:ext cx="8481296" cy="5700544"/>
          </a:xfrm>
          <a:prstGeom prst="rect">
            <a:avLst/>
          </a:prstGeom>
        </p:spPr>
      </p:pic>
    </p:spTree>
    <p:extLst>
      <p:ext uri="{BB962C8B-B14F-4D97-AF65-F5344CB8AC3E}">
        <p14:creationId xmlns:p14="http://schemas.microsoft.com/office/powerpoint/2010/main" val="310404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60D20-C13B-D1DA-46CE-21360D8FD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DD96A-0C48-9C04-5951-9E1C57D37C23}"/>
              </a:ext>
            </a:extLst>
          </p:cNvPr>
          <p:cNvSpPr>
            <a:spLocks noGrp="1"/>
          </p:cNvSpPr>
          <p:nvPr>
            <p:ph type="title"/>
          </p:nvPr>
        </p:nvSpPr>
        <p:spPr/>
        <p:txBody>
          <a:bodyPr/>
          <a:lstStyle/>
          <a:p>
            <a:r>
              <a:rPr lang="en-IN" dirty="0"/>
              <a:t>Scrum</a:t>
            </a:r>
          </a:p>
        </p:txBody>
      </p:sp>
      <p:sp>
        <p:nvSpPr>
          <p:cNvPr id="3" name="Content Placeholder 2">
            <a:extLst>
              <a:ext uri="{FF2B5EF4-FFF2-40B4-BE49-F238E27FC236}">
                <a16:creationId xmlns:a16="http://schemas.microsoft.com/office/drawing/2014/main" id="{6ACFAB0E-AC45-2F8A-E301-60D6D950B79F}"/>
              </a:ext>
            </a:extLst>
          </p:cNvPr>
          <p:cNvSpPr>
            <a:spLocks noGrp="1"/>
          </p:cNvSpPr>
          <p:nvPr>
            <p:ph idx="1"/>
          </p:nvPr>
        </p:nvSpPr>
        <p:spPr/>
        <p:txBody>
          <a:bodyPr>
            <a:normAutofit/>
          </a:bodyPr>
          <a:lstStyle/>
          <a:p>
            <a:r>
              <a:rPr lang="en-US" dirty="0"/>
              <a:t>A Scrum master is assigned to lead these meetings to ensure that they remain brief and focused and that all team members have a chance to contribute. </a:t>
            </a:r>
          </a:p>
          <a:p>
            <a:r>
              <a:rPr lang="en-US" dirty="0"/>
              <a:t>These meetings are designed to be short (usually around 15 minutes), and each team member answers the following questions:</a:t>
            </a:r>
          </a:p>
          <a:p>
            <a:r>
              <a:rPr lang="en-US" dirty="0">
                <a:solidFill>
                  <a:srgbClr val="C00000"/>
                </a:solidFill>
              </a:rPr>
              <a:t>What have I done since yesterday?</a:t>
            </a:r>
          </a:p>
          <a:p>
            <a:r>
              <a:rPr lang="en-US" dirty="0">
                <a:solidFill>
                  <a:srgbClr val="C00000"/>
                </a:solidFill>
              </a:rPr>
              <a:t>What am I doing today?</a:t>
            </a:r>
          </a:p>
          <a:p>
            <a:r>
              <a:rPr lang="en-US" dirty="0">
                <a:solidFill>
                  <a:srgbClr val="C00000"/>
                </a:solidFill>
              </a:rPr>
              <a:t>Any roadblocks?</a:t>
            </a:r>
          </a:p>
          <a:p>
            <a:r>
              <a:rPr lang="en-US" dirty="0"/>
              <a:t>The team also uses </a:t>
            </a:r>
            <a:r>
              <a:rPr lang="en-US" b="1" dirty="0"/>
              <a:t>burn down </a:t>
            </a:r>
            <a:r>
              <a:rPr lang="en-US" dirty="0"/>
              <a:t>or </a:t>
            </a:r>
            <a:r>
              <a:rPr lang="en-US" b="1" dirty="0"/>
              <a:t>burn up </a:t>
            </a:r>
            <a:r>
              <a:rPr lang="en-US" dirty="0"/>
              <a:t>charts to track progress through </a:t>
            </a:r>
            <a:r>
              <a:rPr lang="en-IN" dirty="0"/>
              <a:t>the sprint.</a:t>
            </a:r>
            <a:endParaRPr lang="en-IN" dirty="0">
              <a:solidFill>
                <a:srgbClr val="C00000"/>
              </a:solidFill>
            </a:endParaRPr>
          </a:p>
        </p:txBody>
      </p:sp>
    </p:spTree>
    <p:extLst>
      <p:ext uri="{BB962C8B-B14F-4D97-AF65-F5344CB8AC3E}">
        <p14:creationId xmlns:p14="http://schemas.microsoft.com/office/powerpoint/2010/main" val="1692217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A797A-504A-A3F1-F97E-48849FD56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D325A-3E64-645A-9569-351CD6787EA8}"/>
              </a:ext>
            </a:extLst>
          </p:cNvPr>
          <p:cNvSpPr>
            <a:spLocks noGrp="1"/>
          </p:cNvSpPr>
          <p:nvPr>
            <p:ph type="title"/>
          </p:nvPr>
        </p:nvSpPr>
        <p:spPr/>
        <p:txBody>
          <a:bodyPr/>
          <a:lstStyle/>
          <a:p>
            <a:r>
              <a:rPr lang="en-IN" dirty="0"/>
              <a:t>Scrum</a:t>
            </a:r>
          </a:p>
        </p:txBody>
      </p:sp>
      <p:sp>
        <p:nvSpPr>
          <p:cNvPr id="3" name="Content Placeholder 2">
            <a:extLst>
              <a:ext uri="{FF2B5EF4-FFF2-40B4-BE49-F238E27FC236}">
                <a16:creationId xmlns:a16="http://schemas.microsoft.com/office/drawing/2014/main" id="{698AC07B-4EAA-83D2-EBEE-6306F76B591F}"/>
              </a:ext>
            </a:extLst>
          </p:cNvPr>
          <p:cNvSpPr>
            <a:spLocks noGrp="1"/>
          </p:cNvSpPr>
          <p:nvPr>
            <p:ph idx="1"/>
          </p:nvPr>
        </p:nvSpPr>
        <p:spPr/>
        <p:txBody>
          <a:bodyPr>
            <a:normAutofit/>
          </a:bodyPr>
          <a:lstStyle/>
          <a:p>
            <a:r>
              <a:rPr lang="en-US" dirty="0"/>
              <a:t>Scrum process is the most widely adopted Agile methodology.</a:t>
            </a:r>
            <a:endParaRPr lang="en-IN" dirty="0">
              <a:solidFill>
                <a:srgbClr val="C00000"/>
              </a:solidFill>
            </a:endParaRPr>
          </a:p>
        </p:txBody>
      </p:sp>
      <p:pic>
        <p:nvPicPr>
          <p:cNvPr id="5" name="Picture 4">
            <a:extLst>
              <a:ext uri="{FF2B5EF4-FFF2-40B4-BE49-F238E27FC236}">
                <a16:creationId xmlns:a16="http://schemas.microsoft.com/office/drawing/2014/main" id="{E73113F4-E752-6F2C-A0BD-12934EB44EEE}"/>
              </a:ext>
            </a:extLst>
          </p:cNvPr>
          <p:cNvPicPr>
            <a:picLocks noChangeAspect="1"/>
          </p:cNvPicPr>
          <p:nvPr/>
        </p:nvPicPr>
        <p:blipFill>
          <a:blip r:embed="rId2"/>
          <a:stretch>
            <a:fillRect/>
          </a:stretch>
        </p:blipFill>
        <p:spPr>
          <a:xfrm>
            <a:off x="0" y="2081604"/>
            <a:ext cx="9144000" cy="4015344"/>
          </a:xfrm>
          <a:prstGeom prst="rect">
            <a:avLst/>
          </a:prstGeom>
        </p:spPr>
      </p:pic>
    </p:spTree>
    <p:extLst>
      <p:ext uri="{BB962C8B-B14F-4D97-AF65-F5344CB8AC3E}">
        <p14:creationId xmlns:p14="http://schemas.microsoft.com/office/powerpoint/2010/main" val="1227927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F266B-DF52-019A-C9BF-68CEB467ABA9}"/>
              </a:ext>
            </a:extLst>
          </p:cNvPr>
          <p:cNvSpPr>
            <a:spLocks noGrp="1"/>
          </p:cNvSpPr>
          <p:nvPr>
            <p:ph type="title"/>
          </p:nvPr>
        </p:nvSpPr>
        <p:spPr/>
        <p:txBody>
          <a:bodyPr/>
          <a:lstStyle/>
          <a:p>
            <a:r>
              <a:rPr lang="en-IN" dirty="0"/>
              <a:t>Feature-Driven Development</a:t>
            </a:r>
          </a:p>
        </p:txBody>
      </p:sp>
      <p:sp>
        <p:nvSpPr>
          <p:cNvPr id="3" name="Content Placeholder 2">
            <a:extLst>
              <a:ext uri="{FF2B5EF4-FFF2-40B4-BE49-F238E27FC236}">
                <a16:creationId xmlns:a16="http://schemas.microsoft.com/office/drawing/2014/main" id="{77FC71D0-EEED-A335-DB6F-AEF5C65119F0}"/>
              </a:ext>
            </a:extLst>
          </p:cNvPr>
          <p:cNvSpPr>
            <a:spLocks noGrp="1"/>
          </p:cNvSpPr>
          <p:nvPr>
            <p:ph idx="1"/>
          </p:nvPr>
        </p:nvSpPr>
        <p:spPr/>
        <p:txBody>
          <a:bodyPr/>
          <a:lstStyle/>
          <a:p>
            <a:r>
              <a:rPr lang="en-US" dirty="0"/>
              <a:t>This methodology is called Feature-Driven Development because the planning and development focus on the specific features that address customer requirements.</a:t>
            </a:r>
          </a:p>
          <a:p>
            <a:r>
              <a:rPr lang="en-US" dirty="0"/>
              <a:t>The value of FDD is “to enable the reliable delivery of working software in a timely manner with highly accurate and meaningful information to all key roles inside and outside a project.”</a:t>
            </a:r>
            <a:endParaRPr lang="en-IN" dirty="0"/>
          </a:p>
        </p:txBody>
      </p:sp>
    </p:spTree>
    <p:extLst>
      <p:ext uri="{BB962C8B-B14F-4D97-AF65-F5344CB8AC3E}">
        <p14:creationId xmlns:p14="http://schemas.microsoft.com/office/powerpoint/2010/main" val="225885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50400-0C23-E182-484C-EA740A618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E9154-6087-7447-D2E8-259B9D34C0A5}"/>
              </a:ext>
            </a:extLst>
          </p:cNvPr>
          <p:cNvSpPr>
            <a:spLocks noGrp="1"/>
          </p:cNvSpPr>
          <p:nvPr>
            <p:ph type="title"/>
          </p:nvPr>
        </p:nvSpPr>
        <p:spPr/>
        <p:txBody>
          <a:bodyPr/>
          <a:lstStyle/>
          <a:p>
            <a:r>
              <a:rPr lang="en-IN" dirty="0"/>
              <a:t>Feature-Driven Development</a:t>
            </a:r>
          </a:p>
        </p:txBody>
      </p:sp>
      <p:sp>
        <p:nvSpPr>
          <p:cNvPr id="3" name="Content Placeholder 2">
            <a:extLst>
              <a:ext uri="{FF2B5EF4-FFF2-40B4-BE49-F238E27FC236}">
                <a16:creationId xmlns:a16="http://schemas.microsoft.com/office/drawing/2014/main" id="{04DA3F9B-6718-31D4-A81D-C22AE2745327}"/>
              </a:ext>
            </a:extLst>
          </p:cNvPr>
          <p:cNvSpPr>
            <a:spLocks noGrp="1"/>
          </p:cNvSpPr>
          <p:nvPr>
            <p:ph idx="1"/>
          </p:nvPr>
        </p:nvSpPr>
        <p:spPr/>
        <p:txBody>
          <a:bodyPr>
            <a:normAutofit/>
          </a:bodyPr>
          <a:lstStyle/>
          <a:p>
            <a:r>
              <a:rPr lang="en-US" dirty="0"/>
              <a:t>FDD has been adopted by the Agile Alliance as a recognized Agile methodology.</a:t>
            </a:r>
          </a:p>
          <a:p>
            <a:r>
              <a:rPr lang="en-US" dirty="0"/>
              <a:t>Product features are developed in two-week iterations and focus on the following activities:</a:t>
            </a:r>
          </a:p>
          <a:p>
            <a:pPr marL="0" indent="0">
              <a:buNone/>
            </a:pPr>
            <a:r>
              <a:rPr lang="en-US" dirty="0"/>
              <a:t>1. </a:t>
            </a:r>
            <a:r>
              <a:rPr lang="en-US" b="1" dirty="0"/>
              <a:t>Create the model</a:t>
            </a:r>
            <a:r>
              <a:rPr lang="en-US" dirty="0"/>
              <a:t>—Perform an initial customer walk-	through that determines scope and context and 	creates the model.</a:t>
            </a:r>
          </a:p>
          <a:p>
            <a:pPr marL="0" indent="0">
              <a:buNone/>
            </a:pPr>
            <a:r>
              <a:rPr lang="en-US" dirty="0"/>
              <a:t>2. </a:t>
            </a:r>
            <a:r>
              <a:rPr lang="en-US" b="1" dirty="0"/>
              <a:t>Develop the feature list</a:t>
            </a:r>
            <a:r>
              <a:rPr lang="en-US" dirty="0"/>
              <a:t>—The model determines the 	features. Features are often described as a 	sentence in a format that looks something like this:</a:t>
            </a:r>
          </a:p>
          <a:p>
            <a:pPr lvl="1"/>
            <a:r>
              <a:rPr lang="en-US" dirty="0"/>
              <a:t>&lt;verb&gt; the &lt;something&gt; for/of/to a(n) &lt;something else&gt;.</a:t>
            </a:r>
          </a:p>
          <a:p>
            <a:pPr lvl="1"/>
            <a:r>
              <a:rPr lang="en-US" dirty="0"/>
              <a:t>&lt;verb&gt; the “&lt;result&gt;” </a:t>
            </a:r>
            <a:r>
              <a:rPr lang="en-US" dirty="0" err="1"/>
              <a:t>by|for|of|to</a:t>
            </a:r>
            <a:r>
              <a:rPr lang="en-US" dirty="0"/>
              <a:t> a(n) &lt;object&gt;</a:t>
            </a:r>
            <a:endParaRPr lang="en-IN" dirty="0"/>
          </a:p>
        </p:txBody>
      </p:sp>
    </p:spTree>
    <p:extLst>
      <p:ext uri="{BB962C8B-B14F-4D97-AF65-F5344CB8AC3E}">
        <p14:creationId xmlns:p14="http://schemas.microsoft.com/office/powerpoint/2010/main" val="951334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D08C6-9FF1-06F2-79EC-12C175F15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C9CB6-7970-8A92-4D8B-61DDBF33ACC2}"/>
              </a:ext>
            </a:extLst>
          </p:cNvPr>
          <p:cNvSpPr>
            <a:spLocks noGrp="1"/>
          </p:cNvSpPr>
          <p:nvPr>
            <p:ph type="title"/>
          </p:nvPr>
        </p:nvSpPr>
        <p:spPr/>
        <p:txBody>
          <a:bodyPr/>
          <a:lstStyle/>
          <a:p>
            <a:r>
              <a:rPr lang="en-IN" dirty="0"/>
              <a:t>Feature-Driven Development</a:t>
            </a:r>
          </a:p>
        </p:txBody>
      </p:sp>
      <p:sp>
        <p:nvSpPr>
          <p:cNvPr id="3" name="Content Placeholder 2">
            <a:extLst>
              <a:ext uri="{FF2B5EF4-FFF2-40B4-BE49-F238E27FC236}">
                <a16:creationId xmlns:a16="http://schemas.microsoft.com/office/drawing/2014/main" id="{87CEF553-F0EF-2FEC-2F5A-4E975E0FC466}"/>
              </a:ext>
            </a:extLst>
          </p:cNvPr>
          <p:cNvSpPr>
            <a:spLocks noGrp="1"/>
          </p:cNvSpPr>
          <p:nvPr>
            <p:ph idx="1"/>
          </p:nvPr>
        </p:nvSpPr>
        <p:spPr/>
        <p:txBody>
          <a:bodyPr>
            <a:normAutofit/>
          </a:bodyPr>
          <a:lstStyle/>
          <a:p>
            <a:pPr lvl="1"/>
            <a:r>
              <a:rPr lang="en-US" dirty="0"/>
              <a:t>&lt;verb&gt; the &lt;something&gt; for/of/to a(n) &lt;something else&gt;.</a:t>
            </a:r>
          </a:p>
          <a:p>
            <a:pPr lvl="1"/>
            <a:r>
              <a:rPr lang="en-US" dirty="0"/>
              <a:t>&lt;verb&gt; the “&lt;result&gt;” </a:t>
            </a:r>
            <a:r>
              <a:rPr lang="en-US" dirty="0" err="1"/>
              <a:t>by|for|of|to</a:t>
            </a:r>
            <a:r>
              <a:rPr lang="en-US" dirty="0"/>
              <a:t> a(n) &lt;object&gt;</a:t>
            </a:r>
            <a:endParaRPr lang="en-IN" dirty="0"/>
          </a:p>
          <a:p>
            <a:endParaRPr lang="en-US" dirty="0"/>
          </a:p>
          <a:p>
            <a:r>
              <a:rPr lang="en-US" dirty="0"/>
              <a:t>For example, for a movie review site, the features might say: </a:t>
            </a:r>
          </a:p>
          <a:p>
            <a:r>
              <a:rPr lang="en-US" dirty="0"/>
              <a:t>a. Calculate </a:t>
            </a:r>
            <a:r>
              <a:rPr lang="en-US" i="1" dirty="0">
                <a:solidFill>
                  <a:srgbClr val="C00000"/>
                </a:solidFill>
              </a:rPr>
              <a:t>the</a:t>
            </a:r>
            <a:r>
              <a:rPr lang="en-US" dirty="0"/>
              <a:t> average star rating </a:t>
            </a:r>
            <a:r>
              <a:rPr lang="en-US" i="1" dirty="0">
                <a:solidFill>
                  <a:srgbClr val="C00000"/>
                </a:solidFill>
              </a:rPr>
              <a:t>for</a:t>
            </a:r>
            <a:r>
              <a:rPr lang="en-US" dirty="0"/>
              <a:t> a movie</a:t>
            </a:r>
          </a:p>
          <a:p>
            <a:r>
              <a:rPr lang="en-US" dirty="0"/>
              <a:t>b. Calculate </a:t>
            </a:r>
            <a:r>
              <a:rPr lang="en-US" i="1" dirty="0">
                <a:solidFill>
                  <a:srgbClr val="C00000"/>
                </a:solidFill>
              </a:rPr>
              <a:t>the</a:t>
            </a:r>
            <a:r>
              <a:rPr lang="en-US" dirty="0"/>
              <a:t> “go” or “don’t go” recommendations</a:t>
            </a:r>
            <a:r>
              <a:rPr lang="en-US" i="1" dirty="0">
                <a:solidFill>
                  <a:srgbClr val="C00000"/>
                </a:solidFill>
              </a:rPr>
              <a:t> for </a:t>
            </a:r>
            <a:r>
              <a:rPr lang="en-US" dirty="0"/>
              <a:t>a movie </a:t>
            </a:r>
          </a:p>
          <a:p>
            <a:r>
              <a:rPr lang="en-US" dirty="0"/>
              <a:t>c. List </a:t>
            </a:r>
            <a:r>
              <a:rPr lang="en-US" i="1" dirty="0">
                <a:solidFill>
                  <a:srgbClr val="C00000"/>
                </a:solidFill>
              </a:rPr>
              <a:t>the</a:t>
            </a:r>
            <a:r>
              <a:rPr lang="en-US" dirty="0">
                <a:solidFill>
                  <a:srgbClr val="C00000"/>
                </a:solidFill>
              </a:rPr>
              <a:t> </a:t>
            </a:r>
            <a:r>
              <a:rPr lang="en-US" dirty="0"/>
              <a:t>local movie theaters </a:t>
            </a:r>
            <a:r>
              <a:rPr lang="en-US" i="1" dirty="0">
                <a:solidFill>
                  <a:srgbClr val="C00000"/>
                </a:solidFill>
              </a:rPr>
              <a:t>to</a:t>
            </a:r>
            <a:r>
              <a:rPr lang="en-US" dirty="0"/>
              <a:t> show the current movie locations &lt;calculate&gt; </a:t>
            </a:r>
            <a:r>
              <a:rPr lang="en-US" i="1" dirty="0">
                <a:solidFill>
                  <a:srgbClr val="C00000"/>
                </a:solidFill>
              </a:rPr>
              <a:t>the </a:t>
            </a:r>
            <a:r>
              <a:rPr lang="en-US" dirty="0"/>
              <a:t>&lt;average star rating&gt;</a:t>
            </a:r>
            <a:r>
              <a:rPr lang="en-US" i="1" dirty="0">
                <a:solidFill>
                  <a:srgbClr val="C00000"/>
                </a:solidFill>
              </a:rPr>
              <a:t> for </a:t>
            </a:r>
            <a:r>
              <a:rPr lang="en-US" dirty="0"/>
              <a:t>a &lt;movie&gt;</a:t>
            </a:r>
            <a:endParaRPr lang="en-IN" dirty="0"/>
          </a:p>
        </p:txBody>
      </p:sp>
    </p:spTree>
    <p:extLst>
      <p:ext uri="{BB962C8B-B14F-4D97-AF65-F5344CB8AC3E}">
        <p14:creationId xmlns:p14="http://schemas.microsoft.com/office/powerpoint/2010/main" val="3386913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ED9A4-516E-AAEC-231B-4F9053F1A0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B5347-6E5F-633B-55F5-4A489D397F7C}"/>
              </a:ext>
            </a:extLst>
          </p:cNvPr>
          <p:cNvSpPr>
            <a:spLocks noGrp="1"/>
          </p:cNvSpPr>
          <p:nvPr>
            <p:ph type="title"/>
          </p:nvPr>
        </p:nvSpPr>
        <p:spPr/>
        <p:txBody>
          <a:bodyPr/>
          <a:lstStyle/>
          <a:p>
            <a:r>
              <a:rPr lang="en-IN" dirty="0"/>
              <a:t>Feature-Driven Development</a:t>
            </a:r>
          </a:p>
        </p:txBody>
      </p:sp>
      <p:sp>
        <p:nvSpPr>
          <p:cNvPr id="3" name="Content Placeholder 2">
            <a:extLst>
              <a:ext uri="{FF2B5EF4-FFF2-40B4-BE49-F238E27FC236}">
                <a16:creationId xmlns:a16="http://schemas.microsoft.com/office/drawing/2014/main" id="{EDED4644-912D-3D4B-EFCB-9A6CDE04F555}"/>
              </a:ext>
            </a:extLst>
          </p:cNvPr>
          <p:cNvSpPr>
            <a:spLocks noGrp="1"/>
          </p:cNvSpPr>
          <p:nvPr>
            <p:ph idx="1"/>
          </p:nvPr>
        </p:nvSpPr>
        <p:spPr/>
        <p:txBody>
          <a:bodyPr>
            <a:normAutofit fontScale="92500" lnSpcReduction="10000"/>
          </a:bodyPr>
          <a:lstStyle/>
          <a:p>
            <a:r>
              <a:rPr lang="en-US" dirty="0"/>
              <a:t>Features are then ordered and assigned to classes.</a:t>
            </a:r>
          </a:p>
          <a:p>
            <a:r>
              <a:rPr lang="en-US" dirty="0"/>
              <a:t>1. </a:t>
            </a:r>
            <a:r>
              <a:rPr lang="en-US" b="1" dirty="0"/>
              <a:t>The plan is determined by features</a:t>
            </a:r>
            <a:endParaRPr lang="en-US" dirty="0"/>
          </a:p>
          <a:p>
            <a:pPr lvl="1"/>
            <a:r>
              <a:rPr lang="en-US" dirty="0"/>
              <a:t>Unlike other Agile methodologies, FDD advocates that teams create a development plan that is based on ordering features and assigning them to classes. Classes are then assigned </a:t>
            </a:r>
            <a:r>
              <a:rPr lang="en-IN" dirty="0"/>
              <a:t>to an owning developer.</a:t>
            </a:r>
          </a:p>
          <a:p>
            <a:r>
              <a:rPr lang="en-US" dirty="0"/>
              <a:t>2. </a:t>
            </a:r>
            <a:r>
              <a:rPr lang="en-US" b="1" dirty="0"/>
              <a:t>The design is based on the features</a:t>
            </a:r>
            <a:endParaRPr lang="en-US" dirty="0"/>
          </a:p>
          <a:p>
            <a:pPr lvl="1"/>
            <a:r>
              <a:rPr lang="en-US" dirty="0"/>
              <a:t>The owning developer assigns a small set of features that can be developed in two weeks. Detailed sequence diagrams are created based on features, and the overall model is updated to reflect the changes. Classes are written, and a design review is held.</a:t>
            </a:r>
          </a:p>
          <a:p>
            <a:r>
              <a:rPr lang="en-US" dirty="0"/>
              <a:t>3. </a:t>
            </a:r>
            <a:r>
              <a:rPr lang="en-US" b="1" dirty="0"/>
              <a:t>The build is based on the features</a:t>
            </a:r>
            <a:endParaRPr lang="en-US" dirty="0"/>
          </a:p>
          <a:p>
            <a:pPr lvl="1"/>
            <a:r>
              <a:rPr lang="en-US" dirty="0"/>
              <a:t>Code is developed based on feedback from the design review. Once the developer completes the code and unit testing, then a code review is held to analyze whether final changes are needed. Final updates to the code are made and the code promoted to the </a:t>
            </a:r>
            <a:r>
              <a:rPr lang="en-IN" dirty="0"/>
              <a:t>current build.</a:t>
            </a:r>
          </a:p>
        </p:txBody>
      </p:sp>
    </p:spTree>
    <p:extLst>
      <p:ext uri="{BB962C8B-B14F-4D97-AF65-F5344CB8AC3E}">
        <p14:creationId xmlns:p14="http://schemas.microsoft.com/office/powerpoint/2010/main" val="31392880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2A5AE-A4FC-D039-95AF-EBDEBCC0B4CF}"/>
              </a:ext>
            </a:extLst>
          </p:cNvPr>
          <p:cNvSpPr>
            <a:spLocks noGrp="1"/>
          </p:cNvSpPr>
          <p:nvPr>
            <p:ph type="title"/>
          </p:nvPr>
        </p:nvSpPr>
        <p:spPr/>
        <p:txBody>
          <a:bodyPr>
            <a:normAutofit fontScale="90000"/>
          </a:bodyPr>
          <a:lstStyle/>
          <a:p>
            <a:r>
              <a:rPr lang="en-IN" dirty="0"/>
              <a:t>Dynamic Systems Development Method</a:t>
            </a:r>
          </a:p>
        </p:txBody>
      </p:sp>
      <p:sp>
        <p:nvSpPr>
          <p:cNvPr id="3" name="Content Placeholder 2">
            <a:extLst>
              <a:ext uri="{FF2B5EF4-FFF2-40B4-BE49-F238E27FC236}">
                <a16:creationId xmlns:a16="http://schemas.microsoft.com/office/drawing/2014/main" id="{74D7F2C3-302D-7067-C262-204DF60E1483}"/>
              </a:ext>
            </a:extLst>
          </p:cNvPr>
          <p:cNvSpPr>
            <a:spLocks noGrp="1"/>
          </p:cNvSpPr>
          <p:nvPr>
            <p:ph idx="1"/>
          </p:nvPr>
        </p:nvSpPr>
        <p:spPr/>
        <p:txBody>
          <a:bodyPr>
            <a:normAutofit/>
          </a:bodyPr>
          <a:lstStyle/>
          <a:p>
            <a:r>
              <a:rPr lang="en-US" dirty="0"/>
              <a:t>Dynamic Systems Development Method (DSDM) was introduced in 1994 as a framework to provide more structure to rapid application development (RAD).</a:t>
            </a:r>
          </a:p>
          <a:p>
            <a:r>
              <a:rPr lang="en-US" dirty="0"/>
              <a:t>RAD is a product development approach that focuses on creating working prototypes as efficiently as possible by minimizing process rigor and overhead.</a:t>
            </a:r>
          </a:p>
          <a:p>
            <a:r>
              <a:rPr lang="en-US" dirty="0"/>
              <a:t>Their most recent version of the framework, </a:t>
            </a:r>
            <a:r>
              <a:rPr lang="en-US" dirty="0" err="1"/>
              <a:t>Atern</a:t>
            </a:r>
            <a:r>
              <a:rPr lang="en-US" dirty="0"/>
              <a:t>, touts that it helps organizations “</a:t>
            </a:r>
            <a:r>
              <a:rPr lang="en-US" b="1" dirty="0"/>
              <a:t>deliver the right product at the right time</a:t>
            </a:r>
            <a:r>
              <a:rPr lang="en-US" dirty="0"/>
              <a:t>.” </a:t>
            </a:r>
          </a:p>
          <a:p>
            <a:r>
              <a:rPr lang="en-US" dirty="0"/>
              <a:t>Project teams must decide which requirements are “</a:t>
            </a:r>
            <a:r>
              <a:rPr lang="en-US" b="1" dirty="0"/>
              <a:t>musts, </a:t>
            </a:r>
            <a:r>
              <a:rPr lang="en-US" b="1" dirty="0" err="1"/>
              <a:t>shoulds</a:t>
            </a:r>
            <a:r>
              <a:rPr lang="en-US" b="1" dirty="0"/>
              <a:t>, </a:t>
            </a:r>
            <a:r>
              <a:rPr lang="en-US" b="1" dirty="0" err="1"/>
              <a:t>coulds</a:t>
            </a:r>
            <a:r>
              <a:rPr lang="en-US" b="1" dirty="0"/>
              <a:t> and won’t haves</a:t>
            </a:r>
            <a:r>
              <a:rPr lang="en-US" dirty="0"/>
              <a:t>” to meet that objective.</a:t>
            </a:r>
            <a:endParaRPr lang="en-IN" dirty="0"/>
          </a:p>
        </p:txBody>
      </p:sp>
    </p:spTree>
    <p:extLst>
      <p:ext uri="{BB962C8B-B14F-4D97-AF65-F5344CB8AC3E}">
        <p14:creationId xmlns:p14="http://schemas.microsoft.com/office/powerpoint/2010/main" val="3572884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B54D5-8FAE-0965-0063-FAA0FC6B8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8D146-3071-F793-132C-15A4A18E22C4}"/>
              </a:ext>
            </a:extLst>
          </p:cNvPr>
          <p:cNvSpPr>
            <a:spLocks noGrp="1"/>
          </p:cNvSpPr>
          <p:nvPr>
            <p:ph type="title"/>
          </p:nvPr>
        </p:nvSpPr>
        <p:spPr/>
        <p:txBody>
          <a:bodyPr>
            <a:normAutofit fontScale="90000"/>
          </a:bodyPr>
          <a:lstStyle/>
          <a:p>
            <a:r>
              <a:rPr lang="en-IN" dirty="0"/>
              <a:t>Dynamic Systems Development Method</a:t>
            </a:r>
          </a:p>
        </p:txBody>
      </p:sp>
      <p:sp>
        <p:nvSpPr>
          <p:cNvPr id="3" name="Content Placeholder 2">
            <a:extLst>
              <a:ext uri="{FF2B5EF4-FFF2-40B4-BE49-F238E27FC236}">
                <a16:creationId xmlns:a16="http://schemas.microsoft.com/office/drawing/2014/main" id="{3C7D7F5B-55D5-8374-A9FB-E5E286C1AC0B}"/>
              </a:ext>
            </a:extLst>
          </p:cNvPr>
          <p:cNvSpPr>
            <a:spLocks noGrp="1"/>
          </p:cNvSpPr>
          <p:nvPr>
            <p:ph idx="1"/>
          </p:nvPr>
        </p:nvSpPr>
        <p:spPr/>
        <p:txBody>
          <a:bodyPr>
            <a:normAutofit/>
          </a:bodyPr>
          <a:lstStyle/>
          <a:p>
            <a:r>
              <a:rPr lang="en-US" dirty="0"/>
              <a:t>DSDM is part of the Agile Alliance and focuses on the project management aspects of Agile software development and non-IT projects; it is often considered a complementary approach to Extreme Programming. </a:t>
            </a:r>
          </a:p>
          <a:p>
            <a:r>
              <a:rPr lang="en-US" dirty="0"/>
              <a:t>DSDM relies on nine core principles, all of which must be followed to ensure the best chances of a successful project:</a:t>
            </a:r>
            <a:endParaRPr lang="en-IN" dirty="0"/>
          </a:p>
        </p:txBody>
      </p:sp>
    </p:spTree>
    <p:extLst>
      <p:ext uri="{BB962C8B-B14F-4D97-AF65-F5344CB8AC3E}">
        <p14:creationId xmlns:p14="http://schemas.microsoft.com/office/powerpoint/2010/main" val="248219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03A2D-EBD5-1BEB-A00A-DE5F2E896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D4086-AC3C-0C9A-EB80-ADE45792DCF7}"/>
              </a:ext>
            </a:extLst>
          </p:cNvPr>
          <p:cNvSpPr>
            <a:spLocks noGrp="1"/>
          </p:cNvSpPr>
          <p:nvPr>
            <p:ph type="title"/>
          </p:nvPr>
        </p:nvSpPr>
        <p:spPr/>
        <p:txBody>
          <a:bodyPr>
            <a:normAutofit fontScale="90000"/>
          </a:bodyPr>
          <a:lstStyle/>
          <a:p>
            <a:r>
              <a:rPr lang="en-IN" dirty="0"/>
              <a:t>Dynamic Systems Development Method</a:t>
            </a:r>
          </a:p>
        </p:txBody>
      </p:sp>
      <p:sp>
        <p:nvSpPr>
          <p:cNvPr id="3" name="Content Placeholder 2">
            <a:extLst>
              <a:ext uri="{FF2B5EF4-FFF2-40B4-BE49-F238E27FC236}">
                <a16:creationId xmlns:a16="http://schemas.microsoft.com/office/drawing/2014/main" id="{97BC1A0A-1206-4994-CFB2-DC916167AF9D}"/>
              </a:ext>
            </a:extLst>
          </p:cNvPr>
          <p:cNvSpPr>
            <a:spLocks noGrp="1"/>
          </p:cNvSpPr>
          <p:nvPr>
            <p:ph idx="1"/>
          </p:nvPr>
        </p:nvSpPr>
        <p:spPr/>
        <p:txBody>
          <a:bodyPr>
            <a:normAutofit fontScale="92500" lnSpcReduction="10000"/>
          </a:bodyPr>
          <a:lstStyle/>
          <a:p>
            <a:pPr marL="0" indent="0">
              <a:buNone/>
            </a:pPr>
            <a:r>
              <a:rPr lang="en-US" dirty="0"/>
              <a:t>1. Active user involvement is critical for any project.</a:t>
            </a:r>
          </a:p>
          <a:p>
            <a:pPr marL="0" indent="0">
              <a:buNone/>
            </a:pPr>
            <a:r>
              <a:rPr lang="en-US" dirty="0"/>
              <a:t>2. Teams must be empowered to make decisions.</a:t>
            </a:r>
          </a:p>
          <a:p>
            <a:pPr marL="0" indent="0">
              <a:buNone/>
            </a:pPr>
            <a:r>
              <a:rPr lang="en-US" dirty="0"/>
              <a:t>3. Teams need to focus on frequent product delivery.</a:t>
            </a:r>
          </a:p>
          <a:p>
            <a:pPr marL="0" indent="0">
              <a:buNone/>
            </a:pPr>
            <a:r>
              <a:rPr lang="en-US" dirty="0"/>
              <a:t>4. Criteria must be in place for an approved deliverable.</a:t>
            </a:r>
          </a:p>
          <a:p>
            <a:pPr marL="0" indent="0">
              <a:buNone/>
            </a:pPr>
            <a:r>
              <a:rPr lang="en-US" dirty="0"/>
              <a:t>5. All development must be done iteratively and delivered incrementally.</a:t>
            </a:r>
          </a:p>
          <a:p>
            <a:pPr marL="0" indent="0">
              <a:buNone/>
            </a:pPr>
            <a:r>
              <a:rPr lang="en-US" dirty="0"/>
              <a:t>6. Any change introduced during development must be reversible.</a:t>
            </a:r>
          </a:p>
          <a:p>
            <a:pPr marL="0" indent="0">
              <a:buNone/>
            </a:pPr>
            <a:r>
              <a:rPr lang="en-US" dirty="0"/>
              <a:t>7. Product requirements are baselined as high-level themes rather than low-level changes or improvements.</a:t>
            </a:r>
          </a:p>
          <a:p>
            <a:pPr marL="0" indent="0">
              <a:buNone/>
            </a:pPr>
            <a:r>
              <a:rPr lang="en-US" dirty="0"/>
              <a:t>8. Product testing is performed throughout the project life cycle.</a:t>
            </a:r>
          </a:p>
          <a:p>
            <a:pPr marL="0" indent="0">
              <a:buNone/>
            </a:pPr>
            <a:r>
              <a:rPr lang="en-US" dirty="0"/>
              <a:t>9. Team interactions are collaborative and cooperative.</a:t>
            </a:r>
            <a:endParaRPr lang="en-IN" dirty="0"/>
          </a:p>
        </p:txBody>
      </p:sp>
    </p:spTree>
    <p:extLst>
      <p:ext uri="{BB962C8B-B14F-4D97-AF65-F5344CB8AC3E}">
        <p14:creationId xmlns:p14="http://schemas.microsoft.com/office/powerpoint/2010/main" val="1463094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32980-74C6-66E0-8E28-4E52AD3E7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04C3A-0911-8FE5-C18E-F0C407F0F7F4}"/>
              </a:ext>
            </a:extLst>
          </p:cNvPr>
          <p:cNvSpPr>
            <a:spLocks noGrp="1"/>
          </p:cNvSpPr>
          <p:nvPr>
            <p:ph type="title"/>
          </p:nvPr>
        </p:nvSpPr>
        <p:spPr/>
        <p:txBody>
          <a:bodyPr>
            <a:normAutofit fontScale="90000"/>
          </a:bodyPr>
          <a:lstStyle/>
          <a:p>
            <a:r>
              <a:rPr lang="en-IN" dirty="0"/>
              <a:t>Dynamic Systems Development Method</a:t>
            </a:r>
          </a:p>
        </p:txBody>
      </p:sp>
      <p:sp>
        <p:nvSpPr>
          <p:cNvPr id="3" name="Content Placeholder 2">
            <a:extLst>
              <a:ext uri="{FF2B5EF4-FFF2-40B4-BE49-F238E27FC236}">
                <a16:creationId xmlns:a16="http://schemas.microsoft.com/office/drawing/2014/main" id="{03F7C6D0-5692-9AEF-46F7-C53FDB291D34}"/>
              </a:ext>
            </a:extLst>
          </p:cNvPr>
          <p:cNvSpPr>
            <a:spLocks noGrp="1"/>
          </p:cNvSpPr>
          <p:nvPr>
            <p:ph idx="1"/>
          </p:nvPr>
        </p:nvSpPr>
        <p:spPr/>
        <p:txBody>
          <a:bodyPr>
            <a:normAutofit/>
          </a:bodyPr>
          <a:lstStyle/>
          <a:p>
            <a:r>
              <a:rPr lang="en-US" dirty="0"/>
              <a:t>In addition to the nine principles, four major phases are used to iterate through during the project, including</a:t>
            </a:r>
          </a:p>
          <a:p>
            <a:r>
              <a:rPr lang="en-US" dirty="0"/>
              <a:t>1a. Feasibility Study</a:t>
            </a:r>
          </a:p>
          <a:p>
            <a:pPr lvl="1"/>
            <a:r>
              <a:rPr lang="en-US" dirty="0"/>
              <a:t>The project team identifies the functionality that will be included, creates and tests a functional prototype, and develops a timeline for the project.</a:t>
            </a:r>
          </a:p>
          <a:p>
            <a:r>
              <a:rPr lang="en-US" dirty="0"/>
              <a:t>1b. Business Study</a:t>
            </a:r>
          </a:p>
          <a:p>
            <a:pPr lvl="1"/>
            <a:r>
              <a:rPr lang="en-US" dirty="0"/>
              <a:t>The business processes and associated requirements are analyzed by the project stakeholders using the </a:t>
            </a:r>
            <a:r>
              <a:rPr lang="en-US" dirty="0" err="1"/>
              <a:t>MoSCoW</a:t>
            </a:r>
            <a:r>
              <a:rPr lang="en-US" dirty="0"/>
              <a:t> requirement </a:t>
            </a:r>
            <a:r>
              <a:rPr lang="en-IN" dirty="0"/>
              <a:t>prioritization method.</a:t>
            </a:r>
          </a:p>
          <a:p>
            <a:pPr lvl="1"/>
            <a:r>
              <a:rPr lang="en-US" dirty="0" err="1"/>
              <a:t>MoSCoW</a:t>
            </a:r>
            <a:r>
              <a:rPr lang="en-US" dirty="0"/>
              <a:t> prioritizes requirements based on what the product “must have,” “should have,” “could have,” and “won’t have.”</a:t>
            </a:r>
            <a:endParaRPr lang="en-IN" dirty="0"/>
          </a:p>
        </p:txBody>
      </p:sp>
    </p:spTree>
    <p:extLst>
      <p:ext uri="{BB962C8B-B14F-4D97-AF65-F5344CB8AC3E}">
        <p14:creationId xmlns:p14="http://schemas.microsoft.com/office/powerpoint/2010/main" val="16729532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A324B-C6E9-FC25-DDF1-0F7EBE6C6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E0E3B-EECE-02C0-305F-499FB1F10EB9}"/>
              </a:ext>
            </a:extLst>
          </p:cNvPr>
          <p:cNvSpPr>
            <a:spLocks noGrp="1"/>
          </p:cNvSpPr>
          <p:nvPr>
            <p:ph type="title"/>
          </p:nvPr>
        </p:nvSpPr>
        <p:spPr/>
        <p:txBody>
          <a:bodyPr>
            <a:normAutofit fontScale="90000"/>
          </a:bodyPr>
          <a:lstStyle/>
          <a:p>
            <a:r>
              <a:rPr lang="en-IN" dirty="0"/>
              <a:t>Dynamic Systems Development Method</a:t>
            </a:r>
          </a:p>
        </p:txBody>
      </p:sp>
      <p:sp>
        <p:nvSpPr>
          <p:cNvPr id="3" name="Content Placeholder 2">
            <a:extLst>
              <a:ext uri="{FF2B5EF4-FFF2-40B4-BE49-F238E27FC236}">
                <a16:creationId xmlns:a16="http://schemas.microsoft.com/office/drawing/2014/main" id="{E73C8887-0600-4A9A-A63F-1E0BD590CFB1}"/>
              </a:ext>
            </a:extLst>
          </p:cNvPr>
          <p:cNvSpPr>
            <a:spLocks noGrp="1"/>
          </p:cNvSpPr>
          <p:nvPr>
            <p:ph idx="1"/>
          </p:nvPr>
        </p:nvSpPr>
        <p:spPr/>
        <p:txBody>
          <a:bodyPr>
            <a:normAutofit fontScale="92500" lnSpcReduction="10000"/>
          </a:bodyPr>
          <a:lstStyle/>
          <a:p>
            <a:r>
              <a:rPr lang="en-US" dirty="0"/>
              <a:t>2. Functional Model Iteration</a:t>
            </a:r>
          </a:p>
          <a:p>
            <a:pPr lvl="1"/>
            <a:r>
              <a:rPr lang="en-US" dirty="0"/>
              <a:t>Requirements from the business study are translated into functional models that are tested and reviewed by user groups. The project team iterates on the functional models with users until there is agreement that the models are ready to proceed to a design prototype.</a:t>
            </a:r>
          </a:p>
          <a:p>
            <a:r>
              <a:rPr lang="en-US" dirty="0"/>
              <a:t>3. Design and Build Iteration</a:t>
            </a:r>
          </a:p>
          <a:p>
            <a:pPr lvl="1"/>
            <a:r>
              <a:rPr lang="en-US" dirty="0"/>
              <a:t>All of the functional models are brought together to create a design prototype; this prototype incorporates all product functions and again is tested and reviewed by user groups. The result is a working prototype that includes user documentation.</a:t>
            </a:r>
          </a:p>
          <a:p>
            <a:r>
              <a:rPr lang="en-US" dirty="0"/>
              <a:t>4. Implementation	</a:t>
            </a:r>
          </a:p>
          <a:p>
            <a:pPr lvl="1"/>
            <a:r>
              <a:rPr lang="en-US" dirty="0"/>
              <a:t>The final phase includes user acceptance of the product and implementation in their environment. Users are trained, and the project team reviews the business objectives to ensure the user goals have been achieved.</a:t>
            </a:r>
            <a:endParaRPr lang="en-IN" dirty="0"/>
          </a:p>
        </p:txBody>
      </p:sp>
    </p:spTree>
    <p:extLst>
      <p:ext uri="{BB962C8B-B14F-4D97-AF65-F5344CB8AC3E}">
        <p14:creationId xmlns:p14="http://schemas.microsoft.com/office/powerpoint/2010/main" val="1170536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CF775-25A9-D6F1-D017-C1886E2F9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FA5C42-96DC-AEE1-4300-2CF1F45FD92F}"/>
              </a:ext>
            </a:extLst>
          </p:cNvPr>
          <p:cNvSpPr>
            <a:spLocks noGrp="1"/>
          </p:cNvSpPr>
          <p:nvPr>
            <p:ph type="title"/>
          </p:nvPr>
        </p:nvSpPr>
        <p:spPr/>
        <p:txBody>
          <a:bodyPr>
            <a:normAutofit/>
          </a:bodyPr>
          <a:lstStyle/>
          <a:p>
            <a:r>
              <a:rPr lang="en-IN" dirty="0"/>
              <a:t>Lean Software Development</a:t>
            </a:r>
          </a:p>
        </p:txBody>
      </p:sp>
      <p:sp>
        <p:nvSpPr>
          <p:cNvPr id="3" name="Content Placeholder 2">
            <a:extLst>
              <a:ext uri="{FF2B5EF4-FFF2-40B4-BE49-F238E27FC236}">
                <a16:creationId xmlns:a16="http://schemas.microsoft.com/office/drawing/2014/main" id="{23BC035E-30C8-D351-E872-642A530D9FF9}"/>
              </a:ext>
            </a:extLst>
          </p:cNvPr>
          <p:cNvSpPr>
            <a:spLocks noGrp="1"/>
          </p:cNvSpPr>
          <p:nvPr>
            <p:ph idx="1"/>
          </p:nvPr>
        </p:nvSpPr>
        <p:spPr/>
        <p:txBody>
          <a:bodyPr>
            <a:normAutofit lnSpcReduction="10000"/>
          </a:bodyPr>
          <a:lstStyle/>
          <a:p>
            <a:r>
              <a:rPr lang="en-US" dirty="0"/>
              <a:t>Lean software development stems from the world of manufacturing, which has widely adopted the idea of Lean manufacturing. </a:t>
            </a:r>
          </a:p>
          <a:p>
            <a:r>
              <a:rPr lang="en-US" dirty="0"/>
              <a:t>Lean manufacturing is built on the idea that all processes and resources must directly contribute to creating something of value to the customer; customer value is defined as anything that a customer is willing to purchase. </a:t>
            </a:r>
          </a:p>
          <a:p>
            <a:r>
              <a:rPr lang="en-US" dirty="0"/>
              <a:t>Anything outside this scope is considered wasteful, and every effort must be made to eliminate the waste.</a:t>
            </a:r>
          </a:p>
          <a:p>
            <a:r>
              <a:rPr lang="en-US" dirty="0"/>
              <a:t>Lean software development subscribes to the same principles but relates them to the development of software.</a:t>
            </a:r>
            <a:endParaRPr lang="en-IN" dirty="0"/>
          </a:p>
        </p:txBody>
      </p:sp>
    </p:spTree>
    <p:extLst>
      <p:ext uri="{BB962C8B-B14F-4D97-AF65-F5344CB8AC3E}">
        <p14:creationId xmlns:p14="http://schemas.microsoft.com/office/powerpoint/2010/main" val="3231794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38177-A14B-6AF3-EBAA-985549E9F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0839B3-A0E6-32A2-95C2-6AC38B3769A9}"/>
              </a:ext>
            </a:extLst>
          </p:cNvPr>
          <p:cNvSpPr>
            <a:spLocks noGrp="1"/>
          </p:cNvSpPr>
          <p:nvPr>
            <p:ph type="title"/>
          </p:nvPr>
        </p:nvSpPr>
        <p:spPr/>
        <p:txBody>
          <a:bodyPr>
            <a:normAutofit/>
          </a:bodyPr>
          <a:lstStyle/>
          <a:p>
            <a:r>
              <a:rPr lang="en-IN" dirty="0"/>
              <a:t>Lean Software Development</a:t>
            </a:r>
          </a:p>
        </p:txBody>
      </p:sp>
      <p:sp>
        <p:nvSpPr>
          <p:cNvPr id="3" name="Content Placeholder 2">
            <a:extLst>
              <a:ext uri="{FF2B5EF4-FFF2-40B4-BE49-F238E27FC236}">
                <a16:creationId xmlns:a16="http://schemas.microsoft.com/office/drawing/2014/main" id="{318E5961-5950-2606-395D-F48AAADFC353}"/>
              </a:ext>
            </a:extLst>
          </p:cNvPr>
          <p:cNvSpPr>
            <a:spLocks noGrp="1"/>
          </p:cNvSpPr>
          <p:nvPr>
            <p:ph idx="1"/>
          </p:nvPr>
        </p:nvSpPr>
        <p:spPr/>
        <p:txBody>
          <a:bodyPr>
            <a:normAutofit fontScale="85000" lnSpcReduction="20000"/>
          </a:bodyPr>
          <a:lstStyle/>
          <a:p>
            <a:r>
              <a:rPr lang="en-US" dirty="0"/>
              <a:t>Following are the seven principles of Lean software development:</a:t>
            </a:r>
          </a:p>
          <a:p>
            <a:r>
              <a:rPr lang="en-US" b="1" dirty="0"/>
              <a:t>Eliminate waste</a:t>
            </a:r>
          </a:p>
          <a:p>
            <a:pPr lvl="1"/>
            <a:r>
              <a:rPr lang="en-US" dirty="0"/>
              <a:t>Remove anything that does not add customer value</a:t>
            </a:r>
          </a:p>
          <a:p>
            <a:r>
              <a:rPr lang="en-US" b="1" dirty="0"/>
              <a:t>Amplify learning</a:t>
            </a:r>
          </a:p>
          <a:p>
            <a:pPr lvl="1"/>
            <a:r>
              <a:rPr lang="en-US" dirty="0"/>
              <a:t>Regularly test code, learn by doing rather than documenting or planning, gain customer feedback through prototypes</a:t>
            </a:r>
          </a:p>
          <a:p>
            <a:r>
              <a:rPr lang="en-US" b="1" dirty="0"/>
              <a:t>Decide as late as possible</a:t>
            </a:r>
          </a:p>
          <a:p>
            <a:pPr lvl="1"/>
            <a:r>
              <a:rPr lang="en-US" dirty="0"/>
              <a:t>Wait to get facts rather than making Assumptions</a:t>
            </a:r>
          </a:p>
          <a:p>
            <a:r>
              <a:rPr lang="en-US" b="1" dirty="0"/>
              <a:t>Deliver as fast as possible</a:t>
            </a:r>
          </a:p>
          <a:p>
            <a:pPr lvl="1"/>
            <a:r>
              <a:rPr lang="en-US" dirty="0"/>
              <a:t>Focus on speed to market</a:t>
            </a:r>
          </a:p>
          <a:p>
            <a:r>
              <a:rPr lang="en-US" b="1" dirty="0"/>
              <a:t>Empower the team</a:t>
            </a:r>
          </a:p>
          <a:p>
            <a:pPr lvl="1"/>
            <a:r>
              <a:rPr lang="en-US" dirty="0"/>
              <a:t>Managers allow team members to make key decisions</a:t>
            </a:r>
          </a:p>
          <a:p>
            <a:r>
              <a:rPr lang="en-US" b="1" dirty="0"/>
              <a:t>Build integrity in</a:t>
            </a:r>
          </a:p>
          <a:p>
            <a:pPr lvl="1"/>
            <a:r>
              <a:rPr lang="en-US" dirty="0"/>
              <a:t>Pieces work together as a whole</a:t>
            </a:r>
          </a:p>
          <a:p>
            <a:r>
              <a:rPr lang="en-US" b="1" dirty="0"/>
              <a:t>See the whole</a:t>
            </a:r>
            <a:r>
              <a:rPr lang="en-US" dirty="0"/>
              <a:t>	</a:t>
            </a:r>
          </a:p>
          <a:p>
            <a:pPr lvl="1"/>
            <a:r>
              <a:rPr lang="en-US" dirty="0"/>
              <a:t>Focus on the entire product experience rather than the pieces</a:t>
            </a:r>
            <a:endParaRPr lang="en-IN" dirty="0"/>
          </a:p>
        </p:txBody>
      </p:sp>
    </p:spTree>
    <p:extLst>
      <p:ext uri="{BB962C8B-B14F-4D97-AF65-F5344CB8AC3E}">
        <p14:creationId xmlns:p14="http://schemas.microsoft.com/office/powerpoint/2010/main" val="5753024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5CD23-E141-EB25-97A3-8199758FB8D7}"/>
              </a:ext>
            </a:extLst>
          </p:cNvPr>
          <p:cNvSpPr>
            <a:spLocks noGrp="1"/>
          </p:cNvSpPr>
          <p:nvPr>
            <p:ph type="title"/>
          </p:nvPr>
        </p:nvSpPr>
        <p:spPr/>
        <p:txBody>
          <a:bodyPr/>
          <a:lstStyle/>
          <a:p>
            <a:r>
              <a:rPr lang="en-IN" dirty="0"/>
              <a:t>Kanban Method</a:t>
            </a:r>
          </a:p>
        </p:txBody>
      </p:sp>
      <p:sp>
        <p:nvSpPr>
          <p:cNvPr id="3" name="Content Placeholder 2">
            <a:extLst>
              <a:ext uri="{FF2B5EF4-FFF2-40B4-BE49-F238E27FC236}">
                <a16:creationId xmlns:a16="http://schemas.microsoft.com/office/drawing/2014/main" id="{C65D56CB-4C7E-8E1A-7650-FAD2B3168C84}"/>
              </a:ext>
            </a:extLst>
          </p:cNvPr>
          <p:cNvSpPr>
            <a:spLocks noGrp="1"/>
          </p:cNvSpPr>
          <p:nvPr>
            <p:ph idx="1"/>
          </p:nvPr>
        </p:nvSpPr>
        <p:spPr>
          <a:xfrm>
            <a:off x="266330" y="1020932"/>
            <a:ext cx="8611340" cy="5700544"/>
          </a:xfrm>
        </p:spPr>
        <p:txBody>
          <a:bodyPr>
            <a:normAutofit/>
          </a:bodyPr>
          <a:lstStyle/>
          <a:p>
            <a:r>
              <a:rPr lang="en-US" dirty="0"/>
              <a:t>The Kanban method was developed by David J. Anderson, who was interested in “just in time” software delivery and evolving the process to create an optimal system. </a:t>
            </a:r>
          </a:p>
          <a:p>
            <a:r>
              <a:rPr lang="en-US" dirty="0"/>
              <a:t>The word Kanban loosely translates to “signboard” in Japanese. </a:t>
            </a:r>
          </a:p>
          <a:p>
            <a:r>
              <a:rPr lang="en-US" dirty="0"/>
              <a:t>A signboard is traditionally described as a visual process-management system that tells teams what to produce, when to produce it, and how much to produce.</a:t>
            </a:r>
          </a:p>
          <a:p>
            <a:r>
              <a:rPr lang="en-US" dirty="0"/>
              <a:t>The visual signboard and work-in-progress pull method, also known as the </a:t>
            </a:r>
            <a:r>
              <a:rPr lang="en-US" b="1" dirty="0"/>
              <a:t>Kanban system</a:t>
            </a:r>
            <a:r>
              <a:rPr lang="en-US" dirty="0"/>
              <a:t>, is the most popular tool that organizations adopt when they use </a:t>
            </a:r>
            <a:r>
              <a:rPr lang="en-IN" dirty="0"/>
              <a:t>the Kanban method.</a:t>
            </a:r>
          </a:p>
        </p:txBody>
      </p:sp>
    </p:spTree>
    <p:extLst>
      <p:ext uri="{BB962C8B-B14F-4D97-AF65-F5344CB8AC3E}">
        <p14:creationId xmlns:p14="http://schemas.microsoft.com/office/powerpoint/2010/main" val="466233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110D3-4C05-8A9D-7BD2-0D3A9AAE2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9437D-0F90-AC94-3C47-7D3E49BE5BF7}"/>
              </a:ext>
            </a:extLst>
          </p:cNvPr>
          <p:cNvSpPr>
            <a:spLocks noGrp="1"/>
          </p:cNvSpPr>
          <p:nvPr>
            <p:ph type="title"/>
          </p:nvPr>
        </p:nvSpPr>
        <p:spPr/>
        <p:txBody>
          <a:bodyPr/>
          <a:lstStyle/>
          <a:p>
            <a:r>
              <a:rPr lang="en-IN" dirty="0"/>
              <a:t>Kanban Method</a:t>
            </a:r>
          </a:p>
        </p:txBody>
      </p:sp>
      <p:sp>
        <p:nvSpPr>
          <p:cNvPr id="3" name="Content Placeholder 2">
            <a:extLst>
              <a:ext uri="{FF2B5EF4-FFF2-40B4-BE49-F238E27FC236}">
                <a16:creationId xmlns:a16="http://schemas.microsoft.com/office/drawing/2014/main" id="{DC1B1DDB-74F2-6EC6-63D1-A304B9A03964}"/>
              </a:ext>
            </a:extLst>
          </p:cNvPr>
          <p:cNvSpPr>
            <a:spLocks noGrp="1"/>
          </p:cNvSpPr>
          <p:nvPr>
            <p:ph idx="1"/>
          </p:nvPr>
        </p:nvSpPr>
        <p:spPr>
          <a:xfrm>
            <a:off x="266330" y="1020932"/>
            <a:ext cx="8611340" cy="5700544"/>
          </a:xfrm>
        </p:spPr>
        <p:txBody>
          <a:bodyPr>
            <a:normAutofit fontScale="92500" lnSpcReduction="20000"/>
          </a:bodyPr>
          <a:lstStyle/>
          <a:p>
            <a:r>
              <a:rPr lang="en-US" dirty="0"/>
              <a:t>The Kanban method is based on four key principles:</a:t>
            </a:r>
          </a:p>
          <a:p>
            <a:r>
              <a:rPr lang="en-US" dirty="0"/>
              <a:t>Foster leadership at all levels of the organization</a:t>
            </a:r>
          </a:p>
          <a:p>
            <a:pPr lvl="1"/>
            <a:r>
              <a:rPr lang="en-US" dirty="0"/>
              <a:t>Everyone in the organization is encouraged to act as leaders, from the entry-level employee to the executive team.</a:t>
            </a:r>
          </a:p>
          <a:p>
            <a:r>
              <a:rPr lang="en-US" dirty="0"/>
              <a:t>Start with what you know</a:t>
            </a:r>
          </a:p>
          <a:p>
            <a:pPr lvl="1"/>
            <a:r>
              <a:rPr lang="en-US" dirty="0"/>
              <a:t>Kanban is not prescriptive in nature and assumes that organizations are not all the same. Instead, it is important to understand where you are today and use change management approaches to evolve from that point.</a:t>
            </a:r>
          </a:p>
          <a:p>
            <a:r>
              <a:rPr lang="en-US" dirty="0"/>
              <a:t>Focus on incremental and evolutionary change</a:t>
            </a:r>
          </a:p>
          <a:p>
            <a:pPr lvl="1"/>
            <a:r>
              <a:rPr lang="en-US" dirty="0"/>
              <a:t>The goal is not to overhaul the process, culture, and product overnight. Instead, it is important to make small but impactful changes often.</a:t>
            </a:r>
          </a:p>
          <a:p>
            <a:r>
              <a:rPr lang="en-US" dirty="0"/>
              <a:t>Respect current methodologies and roles</a:t>
            </a:r>
          </a:p>
          <a:p>
            <a:pPr lvl="1"/>
            <a:r>
              <a:rPr lang="en-US" dirty="0"/>
              <a:t>The current process was put there for a reason; something about it has worked, and that is why people have continued to use it. </a:t>
            </a:r>
          </a:p>
          <a:p>
            <a:pPr lvl="1"/>
            <a:r>
              <a:rPr lang="en-US" dirty="0"/>
              <a:t>It is important to preserve what has worked and to change what is no longer helping the team achieve their goals.</a:t>
            </a:r>
            <a:endParaRPr lang="en-IN" dirty="0"/>
          </a:p>
        </p:txBody>
      </p:sp>
    </p:spTree>
    <p:extLst>
      <p:ext uri="{BB962C8B-B14F-4D97-AF65-F5344CB8AC3E}">
        <p14:creationId xmlns:p14="http://schemas.microsoft.com/office/powerpoint/2010/main" val="1068261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27AF4-145C-F3CA-FAB3-95EA700D9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885A9-735C-CEAB-78D9-F85D0BA82FD8}"/>
              </a:ext>
            </a:extLst>
          </p:cNvPr>
          <p:cNvSpPr>
            <a:spLocks noGrp="1"/>
          </p:cNvSpPr>
          <p:nvPr>
            <p:ph type="title"/>
          </p:nvPr>
        </p:nvSpPr>
        <p:spPr/>
        <p:txBody>
          <a:bodyPr/>
          <a:lstStyle/>
          <a:p>
            <a:r>
              <a:rPr lang="en-IN" dirty="0"/>
              <a:t>Kanban Method</a:t>
            </a:r>
          </a:p>
        </p:txBody>
      </p:sp>
      <p:sp>
        <p:nvSpPr>
          <p:cNvPr id="3" name="Content Placeholder 2">
            <a:extLst>
              <a:ext uri="{FF2B5EF4-FFF2-40B4-BE49-F238E27FC236}">
                <a16:creationId xmlns:a16="http://schemas.microsoft.com/office/drawing/2014/main" id="{41B1B0E4-88B5-2D90-875E-C32B38804B4C}"/>
              </a:ext>
            </a:extLst>
          </p:cNvPr>
          <p:cNvSpPr>
            <a:spLocks noGrp="1"/>
          </p:cNvSpPr>
          <p:nvPr>
            <p:ph idx="1"/>
          </p:nvPr>
        </p:nvSpPr>
        <p:spPr>
          <a:xfrm>
            <a:off x="266330" y="1020932"/>
            <a:ext cx="8611340" cy="5700544"/>
          </a:xfrm>
        </p:spPr>
        <p:txBody>
          <a:bodyPr>
            <a:normAutofit lnSpcReduction="10000"/>
          </a:bodyPr>
          <a:lstStyle/>
          <a:p>
            <a:r>
              <a:rPr lang="en-US" dirty="0"/>
              <a:t>Six core practices are central to the Kanban method:</a:t>
            </a:r>
          </a:p>
          <a:p>
            <a:r>
              <a:rPr lang="en-US" dirty="0"/>
              <a:t>Visualize workflow</a:t>
            </a:r>
          </a:p>
          <a:p>
            <a:pPr lvl="1"/>
            <a:r>
              <a:rPr lang="en-US" dirty="0"/>
              <a:t>Teams need to visually understand their work so that they can optimize their workflow. The Kanban method often uses a board with columns and cards to show the workflow.</a:t>
            </a:r>
          </a:p>
          <a:p>
            <a:r>
              <a:rPr lang="en-US" dirty="0"/>
              <a:t>Limit work in progress, and pull in new work only when time becomes available</a:t>
            </a:r>
          </a:p>
          <a:p>
            <a:pPr lvl="1"/>
            <a:r>
              <a:rPr lang="en-US" dirty="0"/>
              <a:t>The team cannot be efficient and focused if too much work is on their plate; it is important to focus on one task at a time and not to start a new task until the current task is completed.</a:t>
            </a:r>
          </a:p>
          <a:p>
            <a:r>
              <a:rPr lang="en-US" dirty="0"/>
              <a:t>Manage the flow through the system</a:t>
            </a:r>
          </a:p>
          <a:p>
            <a:pPr lvl="1"/>
            <a:r>
              <a:rPr lang="en-US" dirty="0"/>
              <a:t>Just as with a relay race, the team needs to understand how the work progresses toward the goal. The team needs to ensure that the appropriate level of work is flowing through the system and that bottlenecks are being kept to a minimum.		</a:t>
            </a:r>
            <a:endParaRPr lang="en-IN" dirty="0"/>
          </a:p>
        </p:txBody>
      </p:sp>
    </p:spTree>
    <p:extLst>
      <p:ext uri="{BB962C8B-B14F-4D97-AF65-F5344CB8AC3E}">
        <p14:creationId xmlns:p14="http://schemas.microsoft.com/office/powerpoint/2010/main" val="38589601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1BD3F-FF7C-6D05-E3C6-73C798F356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35E86-A659-1888-3CC7-53024838385F}"/>
              </a:ext>
            </a:extLst>
          </p:cNvPr>
          <p:cNvSpPr>
            <a:spLocks noGrp="1"/>
          </p:cNvSpPr>
          <p:nvPr>
            <p:ph type="title"/>
          </p:nvPr>
        </p:nvSpPr>
        <p:spPr/>
        <p:txBody>
          <a:bodyPr/>
          <a:lstStyle/>
          <a:p>
            <a:r>
              <a:rPr lang="en-IN" dirty="0"/>
              <a:t>Kanban Method</a:t>
            </a:r>
          </a:p>
        </p:txBody>
      </p:sp>
      <p:sp>
        <p:nvSpPr>
          <p:cNvPr id="3" name="Content Placeholder 2">
            <a:extLst>
              <a:ext uri="{FF2B5EF4-FFF2-40B4-BE49-F238E27FC236}">
                <a16:creationId xmlns:a16="http://schemas.microsoft.com/office/drawing/2014/main" id="{3A9ED3C7-AB75-0CED-244A-E1B0AAF68017}"/>
              </a:ext>
            </a:extLst>
          </p:cNvPr>
          <p:cNvSpPr>
            <a:spLocks noGrp="1"/>
          </p:cNvSpPr>
          <p:nvPr>
            <p:ph idx="1"/>
          </p:nvPr>
        </p:nvSpPr>
        <p:spPr>
          <a:xfrm>
            <a:off x="266330" y="1020932"/>
            <a:ext cx="8611340" cy="5700544"/>
          </a:xfrm>
        </p:spPr>
        <p:txBody>
          <a:bodyPr>
            <a:normAutofit lnSpcReduction="10000"/>
          </a:bodyPr>
          <a:lstStyle/>
          <a:p>
            <a:r>
              <a:rPr lang="en-US" b="1" dirty="0"/>
              <a:t>Provide explicit policies</a:t>
            </a:r>
          </a:p>
          <a:p>
            <a:pPr lvl="1"/>
            <a:r>
              <a:rPr lang="en-US" dirty="0"/>
              <a:t>The team needs to understand how to work within their organization in order to eliminate ambiguity. For example, a team may enact the policy that they do not pull a new feature until the current feature has been through unit test.</a:t>
            </a:r>
          </a:p>
          <a:p>
            <a:r>
              <a:rPr lang="en-US" b="1" dirty="0"/>
              <a:t>Improve collaboratively and evolve experimentally</a:t>
            </a:r>
          </a:p>
          <a:p>
            <a:pPr lvl="1"/>
            <a:r>
              <a:rPr lang="en-US" dirty="0"/>
              <a:t>A team can best improve if members first have a shared vision and work together to generate ideas for improvement</a:t>
            </a:r>
            <a:r>
              <a:rPr lang="en-US"/>
              <a:t>. </a:t>
            </a:r>
          </a:p>
          <a:p>
            <a:pPr lvl="1"/>
            <a:r>
              <a:rPr lang="en-US"/>
              <a:t>Evolution </a:t>
            </a:r>
            <a:r>
              <a:rPr lang="en-US" dirty="0"/>
              <a:t>cannot happen through guesswork or intuition; the team needs to try new approaches and objectively evaluate </a:t>
            </a:r>
            <a:r>
              <a:rPr lang="en-IN" dirty="0"/>
              <a:t>their merit.</a:t>
            </a:r>
          </a:p>
          <a:p>
            <a:r>
              <a:rPr lang="en-US" dirty="0"/>
              <a:t>•</a:t>
            </a:r>
            <a:r>
              <a:rPr lang="en-US" b="1" dirty="0"/>
              <a:t>Ensure feedback is part of the process</a:t>
            </a:r>
          </a:p>
          <a:p>
            <a:pPr lvl="1"/>
            <a:r>
              <a:rPr lang="en-US" dirty="0"/>
              <a:t>Both positive and negative feedback are essential in understanding how the organization needs to change </a:t>
            </a:r>
            <a:r>
              <a:rPr lang="en-IN" dirty="0"/>
              <a:t>and evolve.</a:t>
            </a:r>
          </a:p>
        </p:txBody>
      </p:sp>
    </p:spTree>
    <p:extLst>
      <p:ext uri="{BB962C8B-B14F-4D97-AF65-F5344CB8AC3E}">
        <p14:creationId xmlns:p14="http://schemas.microsoft.com/office/powerpoint/2010/main" val="3213435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717EA-DCE6-6D27-3967-F3E3EF595D51}"/>
              </a:ext>
            </a:extLst>
          </p:cNvPr>
          <p:cNvSpPr>
            <a:spLocks noGrp="1"/>
          </p:cNvSpPr>
          <p:nvPr>
            <p:ph type="title"/>
          </p:nvPr>
        </p:nvSpPr>
        <p:spPr/>
        <p:txBody>
          <a:bodyPr/>
          <a:lstStyle/>
          <a:p>
            <a:r>
              <a:rPr lang="en-IN" dirty="0"/>
              <a:t>Crystal Family</a:t>
            </a:r>
          </a:p>
        </p:txBody>
      </p:sp>
      <p:sp>
        <p:nvSpPr>
          <p:cNvPr id="3" name="Content Placeholder 2">
            <a:extLst>
              <a:ext uri="{FF2B5EF4-FFF2-40B4-BE49-F238E27FC236}">
                <a16:creationId xmlns:a16="http://schemas.microsoft.com/office/drawing/2014/main" id="{A0D0EBD9-615C-477F-2AA7-33CE9E7E831C}"/>
              </a:ext>
            </a:extLst>
          </p:cNvPr>
          <p:cNvSpPr>
            <a:spLocks noGrp="1"/>
          </p:cNvSpPr>
          <p:nvPr>
            <p:ph idx="1"/>
          </p:nvPr>
        </p:nvSpPr>
        <p:spPr/>
        <p:txBody>
          <a:bodyPr>
            <a:normAutofit/>
          </a:bodyPr>
          <a:lstStyle/>
          <a:p>
            <a:r>
              <a:rPr lang="en-US" dirty="0"/>
              <a:t>Alistair Cockburn created the Crystal Family, which advocates that when a team is using an iterative process, the amount of structure should be tailored to the dynamics of the team. </a:t>
            </a:r>
          </a:p>
          <a:p>
            <a:r>
              <a:rPr lang="en-US" dirty="0"/>
              <a:t>It favors choosing the best method for the situation rather than a “</a:t>
            </a:r>
            <a:r>
              <a:rPr lang="en-US" b="1" dirty="0"/>
              <a:t>one size fits all</a:t>
            </a:r>
            <a:r>
              <a:rPr lang="en-US" dirty="0"/>
              <a:t>” approach. </a:t>
            </a:r>
          </a:p>
          <a:p>
            <a:r>
              <a:rPr lang="en-US" dirty="0"/>
              <a:t>This methodology differs from other methodologies in that it focuses on the people over the specific processes or features but shares the belief of other Agile methodologies by emphasizing frequent delivery to users, colocation of teams, and a focus on adaptation through regular reflections.</a:t>
            </a:r>
            <a:endParaRPr lang="en-IN" dirty="0"/>
          </a:p>
        </p:txBody>
      </p:sp>
    </p:spTree>
    <p:extLst>
      <p:ext uri="{BB962C8B-B14F-4D97-AF65-F5344CB8AC3E}">
        <p14:creationId xmlns:p14="http://schemas.microsoft.com/office/powerpoint/2010/main" val="1409348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168E0-8950-41C2-7B2F-CA11C91C5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2BD2F-BA30-6D80-EFD0-33673B136F57}"/>
              </a:ext>
            </a:extLst>
          </p:cNvPr>
          <p:cNvSpPr>
            <a:spLocks noGrp="1"/>
          </p:cNvSpPr>
          <p:nvPr>
            <p:ph type="title"/>
          </p:nvPr>
        </p:nvSpPr>
        <p:spPr/>
        <p:txBody>
          <a:bodyPr/>
          <a:lstStyle/>
          <a:p>
            <a:r>
              <a:rPr lang="en-IN" dirty="0"/>
              <a:t>Crystal Family</a:t>
            </a:r>
          </a:p>
        </p:txBody>
      </p:sp>
      <p:sp>
        <p:nvSpPr>
          <p:cNvPr id="3" name="Content Placeholder 2">
            <a:extLst>
              <a:ext uri="{FF2B5EF4-FFF2-40B4-BE49-F238E27FC236}">
                <a16:creationId xmlns:a16="http://schemas.microsoft.com/office/drawing/2014/main" id="{3C2D6178-8FA7-5440-EB89-28CD7A154C34}"/>
              </a:ext>
            </a:extLst>
          </p:cNvPr>
          <p:cNvSpPr>
            <a:spLocks noGrp="1"/>
          </p:cNvSpPr>
          <p:nvPr>
            <p:ph idx="1"/>
          </p:nvPr>
        </p:nvSpPr>
        <p:spPr/>
        <p:txBody>
          <a:bodyPr>
            <a:normAutofit fontScale="92500" lnSpcReduction="10000"/>
          </a:bodyPr>
          <a:lstStyle/>
          <a:p>
            <a:r>
              <a:rPr lang="en-US" dirty="0"/>
              <a:t>Cockburn used the term “crystal” for the methodology because no two crystals are exactly the same, based on their unique colors and hardness; the analogy is that no two projects are the same.</a:t>
            </a:r>
          </a:p>
          <a:p>
            <a:r>
              <a:rPr lang="en-US" dirty="0"/>
              <a:t>Also, a color (x) continuum is used to select the number of people needed for the project team and the project “heaviness” that is required: </a:t>
            </a:r>
          </a:p>
          <a:p>
            <a:r>
              <a:rPr lang="en-US" dirty="0"/>
              <a:t>The darker the color, which ranges from clear (quartz) as the lightest to the deepest (sapphire) as the heaviest, the more team members and heavier process would be needed for the project.</a:t>
            </a:r>
          </a:p>
          <a:p>
            <a:pPr lvl="1"/>
            <a:r>
              <a:rPr lang="en-IN" dirty="0"/>
              <a:t>For example, you would </a:t>
            </a:r>
            <a:r>
              <a:rPr lang="en-US" dirty="0"/>
              <a:t>expect a </a:t>
            </a:r>
            <a:r>
              <a:rPr lang="en-US" b="1" dirty="0"/>
              <a:t>ruby</a:t>
            </a:r>
            <a:r>
              <a:rPr lang="en-US" dirty="0"/>
              <a:t> project to have significantly more team members than a </a:t>
            </a:r>
            <a:r>
              <a:rPr lang="en-US" b="1" dirty="0"/>
              <a:t>quartz</a:t>
            </a:r>
            <a:r>
              <a:rPr lang="en-US" dirty="0"/>
              <a:t> project, and it would also require a heavier process (more communication, </a:t>
            </a:r>
            <a:r>
              <a:rPr lang="en-IN" dirty="0"/>
              <a:t>documentation, coordination).</a:t>
            </a:r>
          </a:p>
        </p:txBody>
      </p:sp>
    </p:spTree>
    <p:extLst>
      <p:ext uri="{BB962C8B-B14F-4D97-AF65-F5344CB8AC3E}">
        <p14:creationId xmlns:p14="http://schemas.microsoft.com/office/powerpoint/2010/main" val="27337007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39F53-D45C-D69C-5EE6-9FD261D26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3888F-38AB-9DC5-6821-E601302E4D23}"/>
              </a:ext>
            </a:extLst>
          </p:cNvPr>
          <p:cNvSpPr>
            <a:spLocks noGrp="1"/>
          </p:cNvSpPr>
          <p:nvPr>
            <p:ph type="title"/>
          </p:nvPr>
        </p:nvSpPr>
        <p:spPr/>
        <p:txBody>
          <a:bodyPr/>
          <a:lstStyle/>
          <a:p>
            <a:r>
              <a:rPr lang="en-IN" dirty="0"/>
              <a:t>Crystal Family</a:t>
            </a:r>
          </a:p>
        </p:txBody>
      </p:sp>
      <p:sp>
        <p:nvSpPr>
          <p:cNvPr id="3" name="Content Placeholder 2">
            <a:extLst>
              <a:ext uri="{FF2B5EF4-FFF2-40B4-BE49-F238E27FC236}">
                <a16:creationId xmlns:a16="http://schemas.microsoft.com/office/drawing/2014/main" id="{ED525FA1-6276-7712-8413-8E38B9E35CB2}"/>
              </a:ext>
            </a:extLst>
          </p:cNvPr>
          <p:cNvSpPr>
            <a:spLocks noGrp="1"/>
          </p:cNvSpPr>
          <p:nvPr>
            <p:ph idx="1"/>
          </p:nvPr>
        </p:nvSpPr>
        <p:spPr/>
        <p:txBody>
          <a:bodyPr>
            <a:normAutofit/>
          </a:bodyPr>
          <a:lstStyle/>
          <a:p>
            <a:r>
              <a:rPr lang="en-US" dirty="0"/>
              <a:t>The y continuum signifies the hardness of the project: </a:t>
            </a:r>
          </a:p>
          <a:p>
            <a:r>
              <a:rPr lang="en-US" dirty="0"/>
              <a:t>The higher the number, the more hardness or robustness of the process required. </a:t>
            </a:r>
          </a:p>
          <a:p>
            <a:r>
              <a:rPr lang="en-US" dirty="0"/>
              <a:t>In Crystal, the hardness represents the severity of damage if the system fails to operate properly. </a:t>
            </a:r>
          </a:p>
          <a:p>
            <a:r>
              <a:rPr lang="en-US" dirty="0"/>
              <a:t>For example, if an organization were working on software that shows a patient’s heart rate, then there would be dire consequences if the program failed to show a spiking heart rate and did not warn doctors of an impending heart attack; a project with such serious consequences would rate high on the hardness (criticality) scale. </a:t>
            </a:r>
          </a:p>
          <a:p>
            <a:endParaRPr lang="en-IN" dirty="0"/>
          </a:p>
        </p:txBody>
      </p:sp>
    </p:spTree>
    <p:extLst>
      <p:ext uri="{BB962C8B-B14F-4D97-AF65-F5344CB8AC3E}">
        <p14:creationId xmlns:p14="http://schemas.microsoft.com/office/powerpoint/2010/main" val="1521582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7307A-7A9C-9209-136D-A7A5F1E3B7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A9D055-9CA2-A1C3-DFCB-7F7B4CEC61DC}"/>
              </a:ext>
            </a:extLst>
          </p:cNvPr>
          <p:cNvSpPr>
            <a:spLocks noGrp="1"/>
          </p:cNvSpPr>
          <p:nvPr>
            <p:ph type="title"/>
          </p:nvPr>
        </p:nvSpPr>
        <p:spPr/>
        <p:txBody>
          <a:bodyPr/>
          <a:lstStyle/>
          <a:p>
            <a:r>
              <a:rPr lang="en-IN" dirty="0"/>
              <a:t>Crystal Family</a:t>
            </a:r>
          </a:p>
        </p:txBody>
      </p:sp>
      <p:sp>
        <p:nvSpPr>
          <p:cNvPr id="3" name="Content Placeholder 2">
            <a:extLst>
              <a:ext uri="{FF2B5EF4-FFF2-40B4-BE49-F238E27FC236}">
                <a16:creationId xmlns:a16="http://schemas.microsoft.com/office/drawing/2014/main" id="{622975D0-B795-9B78-5CB3-7962FD6F572D}"/>
              </a:ext>
            </a:extLst>
          </p:cNvPr>
          <p:cNvSpPr>
            <a:spLocks noGrp="1"/>
          </p:cNvSpPr>
          <p:nvPr>
            <p:ph idx="1"/>
          </p:nvPr>
        </p:nvSpPr>
        <p:spPr/>
        <p:txBody>
          <a:bodyPr>
            <a:normAutofit/>
          </a:bodyPr>
          <a:lstStyle/>
          <a:p>
            <a:r>
              <a:rPr lang="en-US" dirty="0"/>
              <a:t>This project would have a low tolerance for error because it is life critical (L), but may not require a large team to develop the product, rating it lower on the color (people involved) scale, in the 20-person range. </a:t>
            </a:r>
          </a:p>
          <a:p>
            <a:r>
              <a:rPr lang="en-US" dirty="0"/>
              <a:t>Given these criteria points, it would fall in the L20 (orange crystal) methodology range. An orange crystal project would likely involve a lot of face-to-face communication, but it would not be as formal because it would not require the formalities of a 500-person team. </a:t>
            </a:r>
          </a:p>
          <a:p>
            <a:r>
              <a:rPr lang="en-US" dirty="0"/>
              <a:t>The fact that it rates high on criticality would introduce the need for extensive testing, more documentation, and close collaboration with the target users.</a:t>
            </a:r>
            <a:endParaRPr lang="en-IN" dirty="0"/>
          </a:p>
        </p:txBody>
      </p:sp>
    </p:spTree>
    <p:extLst>
      <p:ext uri="{BB962C8B-B14F-4D97-AF65-F5344CB8AC3E}">
        <p14:creationId xmlns:p14="http://schemas.microsoft.com/office/powerpoint/2010/main" val="852837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26746-EAFE-F425-0A52-726D6B7940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0AE58-F4CD-D71F-1A18-86E6FBB075AC}"/>
              </a:ext>
            </a:extLst>
          </p:cNvPr>
          <p:cNvSpPr>
            <a:spLocks noGrp="1"/>
          </p:cNvSpPr>
          <p:nvPr>
            <p:ph type="title"/>
          </p:nvPr>
        </p:nvSpPr>
        <p:spPr/>
        <p:txBody>
          <a:bodyPr/>
          <a:lstStyle/>
          <a:p>
            <a:r>
              <a:rPr lang="en-IN" dirty="0"/>
              <a:t>Crystal Family</a:t>
            </a:r>
          </a:p>
        </p:txBody>
      </p:sp>
      <p:sp>
        <p:nvSpPr>
          <p:cNvPr id="3" name="Content Placeholder 2">
            <a:extLst>
              <a:ext uri="{FF2B5EF4-FFF2-40B4-BE49-F238E27FC236}">
                <a16:creationId xmlns:a16="http://schemas.microsoft.com/office/drawing/2014/main" id="{0B8D766A-08ED-4F32-1F44-E157A4C2D39E}"/>
              </a:ext>
            </a:extLst>
          </p:cNvPr>
          <p:cNvSpPr>
            <a:spLocks noGrp="1"/>
          </p:cNvSpPr>
          <p:nvPr>
            <p:ph idx="1"/>
          </p:nvPr>
        </p:nvSpPr>
        <p:spPr/>
        <p:txBody>
          <a:bodyPr>
            <a:normAutofit lnSpcReduction="10000"/>
          </a:bodyPr>
          <a:lstStyle/>
          <a:p>
            <a:r>
              <a:rPr lang="en-US" dirty="0"/>
              <a:t>Rather than give a specific set of guidelines for each color, Cockburn uses case studies to illustrate common approaches that are used for a specific color.</a:t>
            </a:r>
          </a:p>
          <a:p>
            <a:r>
              <a:rPr lang="en-US" dirty="0"/>
              <a:t>There are, however, specific values and rules that are applicable to the entire Crystal Family:</a:t>
            </a:r>
          </a:p>
          <a:p>
            <a:r>
              <a:rPr lang="en-US" dirty="0"/>
              <a:t>Values</a:t>
            </a:r>
          </a:p>
          <a:p>
            <a:pPr lvl="1"/>
            <a:r>
              <a:rPr lang="en-US" dirty="0"/>
              <a:t>High tolerance</a:t>
            </a:r>
          </a:p>
          <a:p>
            <a:pPr lvl="1"/>
            <a:r>
              <a:rPr lang="en-US" dirty="0"/>
              <a:t>Focus on people and communication</a:t>
            </a:r>
          </a:p>
          <a:p>
            <a:r>
              <a:rPr lang="en-US" dirty="0"/>
              <a:t>Rules</a:t>
            </a:r>
          </a:p>
          <a:p>
            <a:pPr lvl="1"/>
            <a:r>
              <a:rPr lang="en-US" dirty="0"/>
              <a:t>Development must be incremental and last less than four months.</a:t>
            </a:r>
          </a:p>
          <a:p>
            <a:pPr lvl="1"/>
            <a:r>
              <a:rPr lang="en-US" dirty="0"/>
              <a:t>The team must conduct reflection sessions before and after the project.</a:t>
            </a:r>
          </a:p>
          <a:p>
            <a:pPr lvl="1"/>
            <a:r>
              <a:rPr lang="en-US" dirty="0"/>
              <a:t>Holding a mid-project reflection meeting is also encouraged.</a:t>
            </a:r>
            <a:endParaRPr lang="en-IN" dirty="0"/>
          </a:p>
        </p:txBody>
      </p:sp>
    </p:spTree>
    <p:extLst>
      <p:ext uri="{BB962C8B-B14F-4D97-AF65-F5344CB8AC3E}">
        <p14:creationId xmlns:p14="http://schemas.microsoft.com/office/powerpoint/2010/main" val="4970683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6D724-E926-E009-BB0B-F355DDDDA94A}"/>
              </a:ext>
            </a:extLst>
          </p:cNvPr>
          <p:cNvSpPr>
            <a:spLocks noGrp="1"/>
          </p:cNvSpPr>
          <p:nvPr>
            <p:ph type="title"/>
          </p:nvPr>
        </p:nvSpPr>
        <p:spPr/>
        <p:txBody>
          <a:bodyPr/>
          <a:lstStyle/>
          <a:p>
            <a:r>
              <a:rPr lang="en-IN" dirty="0"/>
              <a:t>Certifications</a:t>
            </a:r>
          </a:p>
        </p:txBody>
      </p:sp>
      <p:sp>
        <p:nvSpPr>
          <p:cNvPr id="3" name="Content Placeholder 2">
            <a:extLst>
              <a:ext uri="{FF2B5EF4-FFF2-40B4-BE49-F238E27FC236}">
                <a16:creationId xmlns:a16="http://schemas.microsoft.com/office/drawing/2014/main" id="{3AF27EC0-4B1A-E78F-34A1-0E78DCB4D79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77CB379-3A75-F82F-A842-E343736BCA8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Lst>
          </a:blip>
          <a:stretch>
            <a:fillRect/>
          </a:stretch>
        </p:blipFill>
        <p:spPr>
          <a:xfrm>
            <a:off x="523690" y="983287"/>
            <a:ext cx="8096620" cy="5593754"/>
          </a:xfrm>
          <a:prstGeom prst="rect">
            <a:avLst/>
          </a:prstGeom>
        </p:spPr>
      </p:pic>
    </p:spTree>
    <p:extLst>
      <p:ext uri="{BB962C8B-B14F-4D97-AF65-F5344CB8AC3E}">
        <p14:creationId xmlns:p14="http://schemas.microsoft.com/office/powerpoint/2010/main" val="2332624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23BE3-AEEC-752C-91E0-99B881870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73F26-0ADD-4587-C383-4F5F8D39B1C1}"/>
              </a:ext>
            </a:extLst>
          </p:cNvPr>
          <p:cNvSpPr>
            <a:spLocks noGrp="1"/>
          </p:cNvSpPr>
          <p:nvPr>
            <p:ph type="title"/>
          </p:nvPr>
        </p:nvSpPr>
        <p:spPr/>
        <p:txBody>
          <a:bodyPr/>
          <a:lstStyle/>
          <a:p>
            <a:r>
              <a:rPr lang="en-IN" dirty="0"/>
              <a:t>Certifications</a:t>
            </a:r>
          </a:p>
        </p:txBody>
      </p:sp>
      <p:sp>
        <p:nvSpPr>
          <p:cNvPr id="3" name="Content Placeholder 2">
            <a:extLst>
              <a:ext uri="{FF2B5EF4-FFF2-40B4-BE49-F238E27FC236}">
                <a16:creationId xmlns:a16="http://schemas.microsoft.com/office/drawing/2014/main" id="{0CADC91D-288B-7657-2E03-9EB7D6108F4D}"/>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B0644157-18F1-5AFF-746D-83B86CE709B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Lst>
          </a:blip>
          <a:srcRect b="91866"/>
          <a:stretch>
            <a:fillRect/>
          </a:stretch>
        </p:blipFill>
        <p:spPr>
          <a:xfrm>
            <a:off x="523690" y="983287"/>
            <a:ext cx="8096620" cy="454988"/>
          </a:xfrm>
          <a:prstGeom prst="rect">
            <a:avLst/>
          </a:prstGeom>
        </p:spPr>
      </p:pic>
      <p:pic>
        <p:nvPicPr>
          <p:cNvPr id="6" name="Picture 5">
            <a:extLst>
              <a:ext uri="{FF2B5EF4-FFF2-40B4-BE49-F238E27FC236}">
                <a16:creationId xmlns:a16="http://schemas.microsoft.com/office/drawing/2014/main" id="{40D1C224-198F-D17A-9CF1-D453369CA453}"/>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Effect>
                      <a14:saturation sat="400000"/>
                    </a14:imgEffect>
                  </a14:imgLayer>
                </a14:imgProps>
              </a:ext>
            </a:extLst>
          </a:blip>
          <a:stretch>
            <a:fillRect/>
          </a:stretch>
        </p:blipFill>
        <p:spPr>
          <a:xfrm>
            <a:off x="428439" y="1438275"/>
            <a:ext cx="8196621" cy="5033546"/>
          </a:xfrm>
          <a:prstGeom prst="rect">
            <a:avLst/>
          </a:prstGeom>
        </p:spPr>
      </p:pic>
    </p:spTree>
    <p:extLst>
      <p:ext uri="{BB962C8B-B14F-4D97-AF65-F5344CB8AC3E}">
        <p14:creationId xmlns:p14="http://schemas.microsoft.com/office/powerpoint/2010/main" val="41589435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383</TotalTime>
  <Words>3671</Words>
  <Application>Microsoft Office PowerPoint</Application>
  <PresentationFormat>On-screen Show (4:3)</PresentationFormat>
  <Paragraphs>232</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Calibri Light</vt:lpstr>
      <vt:lpstr>Office Theme</vt:lpstr>
      <vt:lpstr>Agile Software Engineering</vt:lpstr>
      <vt:lpstr>PowerPoint Presentation</vt:lpstr>
      <vt:lpstr>PowerPoint Presentation</vt:lpstr>
      <vt:lpstr>Comparing Agile Methodologies</vt:lpstr>
      <vt:lpstr>Extreme Programming (XP)</vt:lpstr>
      <vt:lpstr>Extreme Programming (XP)</vt:lpstr>
      <vt:lpstr>Extreme Programming (XP)</vt:lpstr>
      <vt:lpstr>Extreme Programming (XP)</vt:lpstr>
      <vt:lpstr>Extreme Programming (XP)</vt:lpstr>
      <vt:lpstr>Extreme Programming (XP)</vt:lpstr>
      <vt:lpstr>Extreme Programming (XP)</vt:lpstr>
      <vt:lpstr>Extreme Programming (XP)</vt:lpstr>
      <vt:lpstr>Extreme Programming (XP)</vt:lpstr>
      <vt:lpstr>Scrum</vt:lpstr>
      <vt:lpstr>Scrum</vt:lpstr>
      <vt:lpstr>Scrum</vt:lpstr>
      <vt:lpstr>Scrum</vt:lpstr>
      <vt:lpstr>Scrum</vt:lpstr>
      <vt:lpstr>Scrum</vt:lpstr>
      <vt:lpstr>Scrum</vt:lpstr>
      <vt:lpstr>Scrum</vt:lpstr>
      <vt:lpstr>Feature-Driven Development</vt:lpstr>
      <vt:lpstr>Feature-Driven Development</vt:lpstr>
      <vt:lpstr>Feature-Driven Development</vt:lpstr>
      <vt:lpstr>Feature-Driven Development</vt:lpstr>
      <vt:lpstr>Dynamic Systems Development Method</vt:lpstr>
      <vt:lpstr>Dynamic Systems Development Method</vt:lpstr>
      <vt:lpstr>Dynamic Systems Development Method</vt:lpstr>
      <vt:lpstr>Dynamic Systems Development Method</vt:lpstr>
      <vt:lpstr>Dynamic Systems Development Method</vt:lpstr>
      <vt:lpstr>Lean Software Development</vt:lpstr>
      <vt:lpstr>Lean Software Development</vt:lpstr>
      <vt:lpstr>Kanban Method</vt:lpstr>
      <vt:lpstr>Kanban Method</vt:lpstr>
      <vt:lpstr>Kanban Method</vt:lpstr>
      <vt:lpstr>Kanban Method</vt:lpstr>
      <vt:lpstr>Crystal Family</vt:lpstr>
      <vt:lpstr>Crystal Family</vt:lpstr>
      <vt:lpstr>Crystal Family</vt:lpstr>
      <vt:lpstr>Crystal Family</vt:lpstr>
      <vt:lpstr>Crystal Family</vt:lpstr>
      <vt:lpstr>Certifications</vt:lpstr>
      <vt:lpstr>Certifications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38</cp:revision>
  <dcterms:created xsi:type="dcterms:W3CDTF">2026-01-06T05:40:50Z</dcterms:created>
  <dcterms:modified xsi:type="dcterms:W3CDTF">2026-02-04T10:04:21Z</dcterms:modified>
</cp:coreProperties>
</file>