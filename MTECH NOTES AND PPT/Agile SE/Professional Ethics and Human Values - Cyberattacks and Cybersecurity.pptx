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26-03-2026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26-03-2026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26-03-2026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26-03-2026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normAutofit/>
          </a:bodyPr>
          <a:lstStyle/>
          <a:p>
            <a:r>
              <a:rPr lang="en-US" b="1" dirty="0"/>
              <a:t>Professional Ethics and Human Values</a:t>
            </a:r>
            <a:endParaRPr lang="en-IN" b="1" dirty="0"/>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CYBERATTACKS AND</a:t>
            </a:r>
          </a:p>
          <a:p>
            <a:r>
              <a:rPr lang="en-US" sz="4800" b="1" dirty="0">
                <a:solidFill>
                  <a:srgbClr val="FF0000"/>
                </a:solidFill>
              </a:rPr>
              <a:t>CYBERSECURITY</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E46D-062E-3689-D835-289B6BCCF3EC}"/>
              </a:ext>
            </a:extLst>
          </p:cNvPr>
          <p:cNvSpPr>
            <a:spLocks noGrp="1"/>
          </p:cNvSpPr>
          <p:nvPr>
            <p:ph type="title"/>
          </p:nvPr>
        </p:nvSpPr>
        <p:spPr/>
        <p:txBody>
          <a:bodyPr>
            <a:noAutofit/>
          </a:bodyPr>
          <a:lstStyle/>
          <a:p>
            <a:endParaRPr lang="en-IN" sz="3200" dirty="0"/>
          </a:p>
        </p:txBody>
      </p:sp>
      <p:sp>
        <p:nvSpPr>
          <p:cNvPr id="3" name="Content Placeholder 2">
            <a:extLst>
              <a:ext uri="{FF2B5EF4-FFF2-40B4-BE49-F238E27FC236}">
                <a16:creationId xmlns:a16="http://schemas.microsoft.com/office/drawing/2014/main" id="{70064FB7-B09C-C8C8-C5CD-5E8A110C38A7}"/>
              </a:ext>
            </a:extLst>
          </p:cNvPr>
          <p:cNvSpPr>
            <a:spLocks noGrp="1"/>
          </p:cNvSpPr>
          <p:nvPr>
            <p:ph idx="1"/>
          </p:nvPr>
        </p:nvSpPr>
        <p:spPr>
          <a:xfrm>
            <a:off x="266330" y="1020932"/>
            <a:ext cx="8611340" cy="5700544"/>
          </a:xfrm>
        </p:spPr>
        <p:txBody>
          <a:bodyPr>
            <a:normAutofit/>
          </a:bodyPr>
          <a:lstStyle/>
          <a:p>
            <a:r>
              <a:rPr lang="en-US" dirty="0"/>
              <a:t>Most people are starting to realize that there are only two different types of companies in the world: those that have been </a:t>
            </a:r>
            <a:r>
              <a:rPr lang="en-US" u="sng" dirty="0"/>
              <a:t>breached and know it </a:t>
            </a:r>
            <a:r>
              <a:rPr lang="en-US" dirty="0"/>
              <a:t>and those that have been </a:t>
            </a:r>
            <a:r>
              <a:rPr lang="en-US" u="sng" dirty="0"/>
              <a:t>breached and don’t know it. </a:t>
            </a:r>
          </a:p>
          <a:p>
            <a:r>
              <a:rPr lang="en-US" dirty="0"/>
              <a:t>Therefore, prevention is not sufficient, and you’re going to have to invest in detection because you’re going to want to know what system has been breached as fast as humanly possible so that you can contain and remediate.</a:t>
            </a:r>
          </a:p>
          <a:p>
            <a:r>
              <a:rPr lang="en-US" dirty="0"/>
              <a:t>—Ted Schlein, Venture capitalist focusing on networking and consumer security</a:t>
            </a:r>
            <a:endParaRPr lang="en-IN" dirty="0"/>
          </a:p>
        </p:txBody>
      </p:sp>
    </p:spTree>
    <p:extLst>
      <p:ext uri="{BB962C8B-B14F-4D97-AF65-F5344CB8AC3E}">
        <p14:creationId xmlns:p14="http://schemas.microsoft.com/office/powerpoint/2010/main" val="28352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6F780-1DDF-76F5-EA80-36C15D23240A}"/>
              </a:ext>
            </a:extLst>
          </p:cNvPr>
          <p:cNvSpPr>
            <a:spLocks noGrp="1"/>
          </p:cNvSpPr>
          <p:nvPr>
            <p:ph type="title"/>
          </p:nvPr>
        </p:nvSpPr>
        <p:spPr/>
        <p:txBody>
          <a:bodyPr>
            <a:normAutofit/>
          </a:bodyPr>
          <a:lstStyle/>
          <a:p>
            <a:r>
              <a:rPr lang="pt-BR" dirty="0"/>
              <a:t>ORGANIZATIONS BEHAVING BADLY</a:t>
            </a:r>
            <a:endParaRPr lang="en-IN" dirty="0"/>
          </a:p>
        </p:txBody>
      </p:sp>
      <p:sp>
        <p:nvSpPr>
          <p:cNvPr id="3" name="Content Placeholder 2">
            <a:extLst>
              <a:ext uri="{FF2B5EF4-FFF2-40B4-BE49-F238E27FC236}">
                <a16:creationId xmlns:a16="http://schemas.microsoft.com/office/drawing/2014/main" id="{1EF8769D-A4BE-DF51-7A0E-363B4CBAC6C7}"/>
              </a:ext>
            </a:extLst>
          </p:cNvPr>
          <p:cNvSpPr>
            <a:spLocks noGrp="1"/>
          </p:cNvSpPr>
          <p:nvPr>
            <p:ph idx="1"/>
          </p:nvPr>
        </p:nvSpPr>
        <p:spPr/>
        <p:txBody>
          <a:bodyPr>
            <a:normAutofit lnSpcReduction="10000"/>
          </a:bodyPr>
          <a:lstStyle/>
          <a:p>
            <a:r>
              <a:rPr lang="en-US" dirty="0"/>
              <a:t>A zero-day exploit is a cyberattack that takes place before the security community and/or software developers become aware of and fix a security vulnerability. </a:t>
            </a:r>
          </a:p>
          <a:p>
            <a:r>
              <a:rPr lang="en-US" dirty="0"/>
              <a:t>It takes advantage of security flaws that enable unauthorized users to gain access to a computer system or to download sensitive user data.</a:t>
            </a:r>
          </a:p>
          <a:p>
            <a:r>
              <a:rPr lang="en-US" dirty="0"/>
              <a:t>Until a zero-day exploit is discovered and a patch is written to fix the underlying flaw, users of the software are vulnerable to attack. </a:t>
            </a:r>
          </a:p>
          <a:p>
            <a:r>
              <a:rPr lang="en-US" dirty="0"/>
              <a:t>Zero-day exploits have been found in widely used software such as Acrobat Reader, Adobe Flash Player, Apple iOS, Google Chrome, Java, Microsoft Internet Explorer, and Microsoft Windows.</a:t>
            </a:r>
            <a:endParaRPr lang="en-IN" dirty="0"/>
          </a:p>
        </p:txBody>
      </p:sp>
    </p:spTree>
    <p:extLst>
      <p:ext uri="{BB962C8B-B14F-4D97-AF65-F5344CB8AC3E}">
        <p14:creationId xmlns:p14="http://schemas.microsoft.com/office/powerpoint/2010/main" val="3332215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4FFE-5777-830F-CCAE-12B4DD14500B}"/>
              </a:ext>
            </a:extLst>
          </p:cNvPr>
          <p:cNvSpPr>
            <a:spLocks noGrp="1"/>
          </p:cNvSpPr>
          <p:nvPr>
            <p:ph type="title"/>
          </p:nvPr>
        </p:nvSpPr>
        <p:spPr/>
        <p:txBody>
          <a:bodyPr/>
          <a:lstStyle/>
          <a:p>
            <a:r>
              <a:rPr lang="pt-BR" dirty="0"/>
              <a:t>THE THREAT LANDSCAPE</a:t>
            </a:r>
            <a:endParaRPr lang="en-IN" dirty="0"/>
          </a:p>
        </p:txBody>
      </p:sp>
      <p:sp>
        <p:nvSpPr>
          <p:cNvPr id="3" name="Content Placeholder 2">
            <a:extLst>
              <a:ext uri="{FF2B5EF4-FFF2-40B4-BE49-F238E27FC236}">
                <a16:creationId xmlns:a16="http://schemas.microsoft.com/office/drawing/2014/main" id="{18EA49D5-F5F8-BAEF-BC7E-B3FDE8FC601E}"/>
              </a:ext>
            </a:extLst>
          </p:cNvPr>
          <p:cNvSpPr>
            <a:spLocks noGrp="1"/>
          </p:cNvSpPr>
          <p:nvPr>
            <p:ph idx="1"/>
          </p:nvPr>
        </p:nvSpPr>
        <p:spPr>
          <a:xfrm>
            <a:off x="266330" y="1020932"/>
            <a:ext cx="8611340" cy="5700544"/>
          </a:xfrm>
        </p:spPr>
        <p:txBody>
          <a:bodyPr>
            <a:normAutofit fontScale="85000" lnSpcReduction="10000"/>
          </a:bodyPr>
          <a:lstStyle/>
          <a:p>
            <a:r>
              <a:rPr lang="en-US" dirty="0"/>
              <a:t>The security of data and information systems used in business is of utmost importance.</a:t>
            </a:r>
          </a:p>
          <a:p>
            <a:r>
              <a:rPr lang="en-US" dirty="0"/>
              <a:t>Confidential business data and private customer and employee information must be safeguarded, and systems must be protected against malicious acts of theft or disruption.</a:t>
            </a:r>
          </a:p>
          <a:p>
            <a:r>
              <a:rPr lang="en-US" dirty="0"/>
              <a:t>Although the need for security is obvious, it must often be balanced against other business needs. </a:t>
            </a:r>
          </a:p>
          <a:p>
            <a:r>
              <a:rPr lang="en-US" dirty="0"/>
              <a:t>Business managers, IT professionals, and IT users all face a number of complex trade-offs when making decisions regarding IT security, such as the following:</a:t>
            </a:r>
          </a:p>
          <a:p>
            <a:pPr lvl="1"/>
            <a:r>
              <a:rPr lang="en-US" dirty="0"/>
              <a:t>How much effort and money should be spent to safeguard against computer crime? (In other words, how safe is safe enough?)</a:t>
            </a:r>
          </a:p>
          <a:p>
            <a:pPr lvl="1"/>
            <a:r>
              <a:rPr lang="en-US" dirty="0"/>
              <a:t>What should be done if recommended computer security safeguards make conducting business more difficult for customers and employees, resulting in lost sales and increased costs?</a:t>
            </a:r>
          </a:p>
          <a:p>
            <a:pPr lvl="1"/>
            <a:r>
              <a:rPr lang="en-US" dirty="0"/>
              <a:t>If a firm is a victim of a cybercrime, should it pursue prosecution of the criminals at all costs, maintain a low profile to avoid the negative publicity, inform affected customers, or take some other action?</a:t>
            </a:r>
            <a:endParaRPr lang="en-IN" dirty="0"/>
          </a:p>
        </p:txBody>
      </p:sp>
    </p:spTree>
    <p:extLst>
      <p:ext uri="{BB962C8B-B14F-4D97-AF65-F5344CB8AC3E}">
        <p14:creationId xmlns:p14="http://schemas.microsoft.com/office/powerpoint/2010/main" val="3064148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E58A3-EAE0-E058-9007-769533208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0E58A-E982-F7CD-88FA-0F114FC2DD74}"/>
              </a:ext>
            </a:extLst>
          </p:cNvPr>
          <p:cNvSpPr>
            <a:spLocks noGrp="1"/>
          </p:cNvSpPr>
          <p:nvPr>
            <p:ph type="title"/>
          </p:nvPr>
        </p:nvSpPr>
        <p:spPr/>
        <p:txBody>
          <a:bodyPr/>
          <a:lstStyle/>
          <a:p>
            <a:r>
              <a:rPr lang="pt-BR" dirty="0"/>
              <a:t>THE THREAT LANDSCAPE</a:t>
            </a:r>
            <a:endParaRPr lang="en-IN" dirty="0"/>
          </a:p>
        </p:txBody>
      </p:sp>
      <p:sp>
        <p:nvSpPr>
          <p:cNvPr id="3" name="Content Placeholder 2">
            <a:extLst>
              <a:ext uri="{FF2B5EF4-FFF2-40B4-BE49-F238E27FC236}">
                <a16:creationId xmlns:a16="http://schemas.microsoft.com/office/drawing/2014/main" id="{FA3F4E57-E36B-134E-60AB-B655381A2737}"/>
              </a:ext>
            </a:extLst>
          </p:cNvPr>
          <p:cNvSpPr>
            <a:spLocks noGrp="1"/>
          </p:cNvSpPr>
          <p:nvPr>
            <p:ph idx="1"/>
          </p:nvPr>
        </p:nvSpPr>
        <p:spPr>
          <a:xfrm>
            <a:off x="266330" y="1020932"/>
            <a:ext cx="8611340" cy="5700544"/>
          </a:xfrm>
        </p:spPr>
        <p:txBody>
          <a:bodyPr>
            <a:normAutofit lnSpcReduction="10000"/>
          </a:bodyPr>
          <a:lstStyle/>
          <a:p>
            <a:r>
              <a:rPr lang="en-US" dirty="0"/>
              <a:t>As a result, organizations are putting in place a range of countermeasures to combat cybercrime. For instance, the worldwide financial services industry spent $27.4 billion on IT security and fraud prevention in 2015. </a:t>
            </a:r>
          </a:p>
          <a:p>
            <a:r>
              <a:rPr lang="en-US" dirty="0"/>
              <a:t>And a recent survey of more than 10,000 IT professionals around the world revealed the following: </a:t>
            </a:r>
          </a:p>
          <a:p>
            <a:pPr lvl="1"/>
            <a:r>
              <a:rPr lang="en-US" dirty="0"/>
              <a:t>58 percent of global companies have an overall security strategy</a:t>
            </a:r>
          </a:p>
          <a:p>
            <a:pPr lvl="1"/>
            <a:r>
              <a:rPr lang="en-US" dirty="0"/>
              <a:t>54 percent have a chief information security officer (CISO) in charge of security</a:t>
            </a:r>
          </a:p>
          <a:p>
            <a:pPr lvl="1"/>
            <a:r>
              <a:rPr lang="en-US" dirty="0"/>
              <a:t>53 percent have employee security awareness and training programs</a:t>
            </a:r>
          </a:p>
          <a:p>
            <a:pPr lvl="1"/>
            <a:r>
              <a:rPr lang="en-US" dirty="0"/>
              <a:t>52 percent have security standards for third parties</a:t>
            </a:r>
          </a:p>
          <a:p>
            <a:pPr lvl="1"/>
            <a:r>
              <a:rPr lang="en-US" dirty="0"/>
              <a:t>49 percent conduct threat assessments</a:t>
            </a:r>
          </a:p>
          <a:p>
            <a:pPr lvl="1"/>
            <a:r>
              <a:rPr lang="en-US" dirty="0"/>
              <a:t>48 percent actively monitor and analyze security intelligence</a:t>
            </a:r>
            <a:endParaRPr lang="en-IN" dirty="0"/>
          </a:p>
        </p:txBody>
      </p:sp>
    </p:spTree>
    <p:extLst>
      <p:ext uri="{BB962C8B-B14F-4D97-AF65-F5344CB8AC3E}">
        <p14:creationId xmlns:p14="http://schemas.microsoft.com/office/powerpoint/2010/main" val="379835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6874-56D0-DB37-0375-DE86B4490B32}"/>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52C58317-D4BE-36FA-18A6-9F1E75595BCE}"/>
              </a:ext>
            </a:extLst>
          </p:cNvPr>
          <p:cNvSpPr>
            <a:spLocks noGrp="1"/>
          </p:cNvSpPr>
          <p:nvPr>
            <p:ph idx="1"/>
          </p:nvPr>
        </p:nvSpPr>
        <p:spPr/>
        <p:txBody>
          <a:bodyPr/>
          <a:lstStyle/>
          <a:p>
            <a:r>
              <a:rPr lang="en-US" dirty="0"/>
              <a:t>Increasing computing complexity, expanding and changing systems, an increase in the prevalence of </a:t>
            </a:r>
            <a:r>
              <a:rPr lang="en-US" b="1" dirty="0"/>
              <a:t>bring your own device</a:t>
            </a:r>
            <a:r>
              <a:rPr lang="en-US" dirty="0"/>
              <a:t> (BYOD) policies, </a:t>
            </a:r>
          </a:p>
          <a:p>
            <a:r>
              <a:rPr lang="en-US" dirty="0"/>
              <a:t>a growing reliance on software with known vulnerabilities, </a:t>
            </a:r>
          </a:p>
          <a:p>
            <a:r>
              <a:rPr lang="en-US" dirty="0"/>
              <a:t>and the increasing sophistication of those who would do harm have caused a dramatic increase in the number, variety, and severity of security incidents.</a:t>
            </a:r>
            <a:endParaRPr lang="en-IN" dirty="0"/>
          </a:p>
        </p:txBody>
      </p:sp>
    </p:spTree>
    <p:extLst>
      <p:ext uri="{BB962C8B-B14F-4D97-AF65-F5344CB8AC3E}">
        <p14:creationId xmlns:p14="http://schemas.microsoft.com/office/powerpoint/2010/main" val="2873708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FE832-5EA4-4159-FF2D-151550A11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5AAEC-82BE-40DC-A2BF-3F2210B428D7}"/>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BAD560F9-B7E1-2BA4-0E76-C4BBFD27CD12}"/>
              </a:ext>
            </a:extLst>
          </p:cNvPr>
          <p:cNvSpPr>
            <a:spLocks noGrp="1"/>
          </p:cNvSpPr>
          <p:nvPr>
            <p:ph idx="1"/>
          </p:nvPr>
        </p:nvSpPr>
        <p:spPr/>
        <p:txBody>
          <a:bodyPr>
            <a:normAutofit/>
          </a:bodyPr>
          <a:lstStyle/>
          <a:p>
            <a:r>
              <a:rPr lang="en-US" b="1" dirty="0"/>
              <a:t>Increasing Complexity Increases Vulnerability</a:t>
            </a:r>
          </a:p>
          <a:p>
            <a:r>
              <a:rPr lang="en-US" dirty="0"/>
              <a:t>Computing environments have become enormously complex. </a:t>
            </a:r>
          </a:p>
          <a:p>
            <a:r>
              <a:rPr lang="en-US" dirty="0"/>
              <a:t>Cloud computing, networks, computers, mobile devices, virtualization, operating systems, applications, websites, switches, routers, and gateways are interconnected and driven by hundreds of millions of lines of code. </a:t>
            </a:r>
          </a:p>
          <a:p>
            <a:r>
              <a:rPr lang="en-US" dirty="0"/>
              <a:t>This environment continues to increase in complexity every day. </a:t>
            </a:r>
          </a:p>
          <a:p>
            <a:r>
              <a:rPr lang="en-US" dirty="0"/>
              <a:t>The number of possible entry points to a network expands continually as more devices are added, increasing the possibility of security breaches.</a:t>
            </a:r>
          </a:p>
          <a:p>
            <a:endParaRPr lang="en-IN" dirty="0"/>
          </a:p>
        </p:txBody>
      </p:sp>
    </p:spTree>
    <p:extLst>
      <p:ext uri="{BB962C8B-B14F-4D97-AF65-F5344CB8AC3E}">
        <p14:creationId xmlns:p14="http://schemas.microsoft.com/office/powerpoint/2010/main" val="2367950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CF47B-CCE9-C74F-50FD-68B5BC7D7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F5239-C75D-C7C1-B79C-53C151BDF7E8}"/>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6E9517CB-55E7-8732-8026-BD3E18B3CA3E}"/>
              </a:ext>
            </a:extLst>
          </p:cNvPr>
          <p:cNvSpPr>
            <a:spLocks noGrp="1"/>
          </p:cNvSpPr>
          <p:nvPr>
            <p:ph idx="1"/>
          </p:nvPr>
        </p:nvSpPr>
        <p:spPr/>
        <p:txBody>
          <a:bodyPr>
            <a:normAutofit/>
          </a:bodyPr>
          <a:lstStyle/>
          <a:p>
            <a:r>
              <a:rPr lang="en-US" b="1" dirty="0"/>
              <a:t>Expanding and Changing Systems Introduce New Risks</a:t>
            </a:r>
          </a:p>
          <a:p>
            <a:r>
              <a:rPr lang="en-US" dirty="0"/>
              <a:t>Business has moved from an era of stand-alone computers, in which critical data were stored on an isolated mainframe computer in a locked room, to an era in which personal computers and mobile devices connect to networks with millions of other computers, all capable of sharing information.</a:t>
            </a:r>
          </a:p>
          <a:p>
            <a:r>
              <a:rPr lang="en-US" dirty="0"/>
              <a:t>However, it is increasingly difficult for IT organizations to </a:t>
            </a:r>
          </a:p>
          <a:p>
            <a:pPr lvl="1"/>
            <a:r>
              <a:rPr lang="en-US" dirty="0"/>
              <a:t>keep up with the pace of technological change, </a:t>
            </a:r>
          </a:p>
          <a:p>
            <a:pPr lvl="1"/>
            <a:r>
              <a:rPr lang="en-US" dirty="0"/>
              <a:t>successfully perform an ongoing assessment of new security risks, and </a:t>
            </a:r>
          </a:p>
          <a:p>
            <a:pPr lvl="1"/>
            <a:r>
              <a:rPr lang="en-US" dirty="0"/>
              <a:t>implement approaches for dealing with them.</a:t>
            </a:r>
            <a:endParaRPr lang="en-IN" dirty="0"/>
          </a:p>
        </p:txBody>
      </p:sp>
    </p:spTree>
    <p:extLst>
      <p:ext uri="{BB962C8B-B14F-4D97-AF65-F5344CB8AC3E}">
        <p14:creationId xmlns:p14="http://schemas.microsoft.com/office/powerpoint/2010/main" val="337907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C132-B238-CB8F-E3BC-0655B8998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2F395-1B64-67D1-A3FE-10F7FBAF27A4}"/>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BBED6994-08B5-9C46-DAC3-0B7B88F848E5}"/>
              </a:ext>
            </a:extLst>
          </p:cNvPr>
          <p:cNvSpPr>
            <a:spLocks noGrp="1"/>
          </p:cNvSpPr>
          <p:nvPr>
            <p:ph idx="1"/>
          </p:nvPr>
        </p:nvSpPr>
        <p:spPr/>
        <p:txBody>
          <a:bodyPr>
            <a:normAutofit/>
          </a:bodyPr>
          <a:lstStyle/>
          <a:p>
            <a:r>
              <a:rPr lang="en-US" b="1" dirty="0"/>
              <a:t>Increasing Prevalence of BYOD Policies</a:t>
            </a:r>
          </a:p>
          <a:p>
            <a:r>
              <a:rPr lang="en-US" dirty="0"/>
              <a:t>Bring your own device (BYOD) is a business policy that permits, and in some cases encourages, employees to use their own mobile devices (smartphones, tablets, or laptops) to access company computing resources and applications, including email, corporate databases, the corporate intranet, and the Internet.</a:t>
            </a:r>
          </a:p>
          <a:p>
            <a:r>
              <a:rPr lang="en-US" dirty="0"/>
              <a:t>Proponents of BYOD say it improves employee’s productivity by allowing workers to use devices with which they are already familiar—while also helping to create an image of a company as a flexible and progressive employer.</a:t>
            </a:r>
            <a:endParaRPr lang="en-IN" dirty="0"/>
          </a:p>
        </p:txBody>
      </p:sp>
    </p:spTree>
    <p:extLst>
      <p:ext uri="{BB962C8B-B14F-4D97-AF65-F5344CB8AC3E}">
        <p14:creationId xmlns:p14="http://schemas.microsoft.com/office/powerpoint/2010/main" val="3865836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BB21-2B8C-7795-5062-F192C1B2E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7FB19-5372-6DF5-C76F-137B84527004}"/>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F5A2B2CA-CA4D-1713-C232-A3FC12A63B43}"/>
              </a:ext>
            </a:extLst>
          </p:cNvPr>
          <p:cNvSpPr>
            <a:spLocks noGrp="1"/>
          </p:cNvSpPr>
          <p:nvPr>
            <p:ph idx="1"/>
          </p:nvPr>
        </p:nvSpPr>
        <p:spPr>
          <a:xfrm>
            <a:off x="266330" y="1020932"/>
            <a:ext cx="8611340" cy="5700544"/>
          </a:xfrm>
        </p:spPr>
        <p:txBody>
          <a:bodyPr>
            <a:normAutofit fontScale="92500"/>
          </a:bodyPr>
          <a:lstStyle/>
          <a:p>
            <a:r>
              <a:rPr lang="en-US" b="1" dirty="0"/>
              <a:t>Increasing Prevalence of BYOD Policies</a:t>
            </a:r>
          </a:p>
          <a:p>
            <a:r>
              <a:rPr lang="en-US" dirty="0"/>
              <a:t>However, this practice raises many potential security issues as it is highly likely that such devices are also used for nonwork activity (browsing websites, shopping, visiting social networks, blogging, etc.) that exposes them to malware much more frequently than a device used strictly for business purposes. </a:t>
            </a:r>
          </a:p>
          <a:p>
            <a:r>
              <a:rPr lang="en-US" dirty="0"/>
              <a:t>That malware may then be spread throughout the company. </a:t>
            </a:r>
          </a:p>
          <a:p>
            <a:r>
              <a:rPr lang="en-US" dirty="0"/>
              <a:t>In addition, many users do not password protect their laptops, tablets, and smartphones or set the timeout to automatically lock the device after a few minutes of not being used. </a:t>
            </a:r>
          </a:p>
          <a:p>
            <a:r>
              <a:rPr lang="en-US" dirty="0"/>
              <a:t>All these create an environment ripe for potential security problems.</a:t>
            </a:r>
            <a:endParaRPr lang="en-IN" dirty="0"/>
          </a:p>
        </p:txBody>
      </p:sp>
    </p:spTree>
    <p:extLst>
      <p:ext uri="{BB962C8B-B14F-4D97-AF65-F5344CB8AC3E}">
        <p14:creationId xmlns:p14="http://schemas.microsoft.com/office/powerpoint/2010/main" val="1317916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18D68-7329-3DB6-302D-0AFAC920F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40301-37FA-BBFD-2E32-5991BFD5770E}"/>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7E8E6713-9D7D-A257-0611-D37E85C7FBE6}"/>
              </a:ext>
            </a:extLst>
          </p:cNvPr>
          <p:cNvSpPr>
            <a:spLocks noGrp="1"/>
          </p:cNvSpPr>
          <p:nvPr>
            <p:ph idx="1"/>
          </p:nvPr>
        </p:nvSpPr>
        <p:spPr>
          <a:xfrm>
            <a:off x="266330" y="1020932"/>
            <a:ext cx="8611340" cy="5700544"/>
          </a:xfrm>
        </p:spPr>
        <p:txBody>
          <a:bodyPr>
            <a:normAutofit/>
          </a:bodyPr>
          <a:lstStyle/>
          <a:p>
            <a:r>
              <a:rPr lang="en-US" b="1" dirty="0"/>
              <a:t>Growing Reliance on Commercial Software with Known Vulnerabilities</a:t>
            </a:r>
          </a:p>
          <a:p>
            <a:r>
              <a:rPr lang="en-US" dirty="0"/>
              <a:t>In computing, an exploit is an attack on an information system that takes advantage of a particular system vulnerability. </a:t>
            </a:r>
          </a:p>
          <a:p>
            <a:r>
              <a:rPr lang="en-US" dirty="0"/>
              <a:t>Often this attack is due to poor system design or implementation.</a:t>
            </a:r>
          </a:p>
          <a:p>
            <a:r>
              <a:rPr lang="en-US" dirty="0"/>
              <a:t>Once the vulnerability is discovered, software developers create and issue a “fix,” or patch, to eliminate the problem. </a:t>
            </a:r>
          </a:p>
          <a:p>
            <a:r>
              <a:rPr lang="en-US" dirty="0"/>
              <a:t>Users of the system or application are responsible for obtaining and installing the patch, which they can usually download from the web.</a:t>
            </a:r>
            <a:endParaRPr lang="en-IN" dirty="0"/>
          </a:p>
        </p:txBody>
      </p:sp>
    </p:spTree>
    <p:extLst>
      <p:ext uri="{BB962C8B-B14F-4D97-AF65-F5344CB8AC3E}">
        <p14:creationId xmlns:p14="http://schemas.microsoft.com/office/powerpoint/2010/main" val="1654423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35AB2-7586-83BF-251B-5CF2D3D7B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D8DEE-7772-3BBF-44F5-437365EE2669}"/>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EFB4C23A-E0F7-B176-34D4-F87686F9485E}"/>
              </a:ext>
            </a:extLst>
          </p:cNvPr>
          <p:cNvSpPr>
            <a:spLocks noGrp="1"/>
          </p:cNvSpPr>
          <p:nvPr>
            <p:ph idx="1"/>
          </p:nvPr>
        </p:nvSpPr>
        <p:spPr>
          <a:xfrm>
            <a:off x="266330" y="1020932"/>
            <a:ext cx="8611340" cy="5700544"/>
          </a:xfrm>
        </p:spPr>
        <p:txBody>
          <a:bodyPr>
            <a:normAutofit/>
          </a:bodyPr>
          <a:lstStyle/>
          <a:p>
            <a:r>
              <a:rPr lang="en-US" b="1" dirty="0"/>
              <a:t>Growing Reliance on Commercial Software with Known Vulnerabilities</a:t>
            </a:r>
          </a:p>
          <a:p>
            <a:r>
              <a:rPr lang="en-US" dirty="0"/>
              <a:t>Any delay in installing a patch exposes the user to a potential security breach. </a:t>
            </a:r>
          </a:p>
          <a:p>
            <a:r>
              <a:rPr lang="en-US" dirty="0"/>
              <a:t>The need to install a fix to prevent a hacker from taking advantage of a known system vulnerability can create a time-management dilemma for system support personnel trying to balance a busy work schedule. </a:t>
            </a:r>
          </a:p>
          <a:p>
            <a:r>
              <a:rPr lang="en-US" dirty="0"/>
              <a:t>Should they install a patch that, if left uninstalled, could lead to a security breach, or should they complete assigned project work so that the anticipated project savings and benefits from the project can begin to accrue on schedule?</a:t>
            </a:r>
            <a:endParaRPr lang="en-IN" dirty="0"/>
          </a:p>
        </p:txBody>
      </p:sp>
    </p:spTree>
    <p:extLst>
      <p:ext uri="{BB962C8B-B14F-4D97-AF65-F5344CB8AC3E}">
        <p14:creationId xmlns:p14="http://schemas.microsoft.com/office/powerpoint/2010/main" val="14998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D7C84-0EA6-6901-92C7-47F1EAABF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D5FAF-C4B8-6D3A-7DC2-F99FDC038BBD}"/>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5C17AA36-3B98-3673-2FFC-2B9DF6ECF48C}"/>
              </a:ext>
            </a:extLst>
          </p:cNvPr>
          <p:cNvSpPr>
            <a:spLocks noGrp="1"/>
          </p:cNvSpPr>
          <p:nvPr>
            <p:ph idx="1"/>
          </p:nvPr>
        </p:nvSpPr>
        <p:spPr>
          <a:xfrm>
            <a:off x="266330" y="1020932"/>
            <a:ext cx="8611340" cy="5700544"/>
          </a:xfrm>
        </p:spPr>
        <p:txBody>
          <a:bodyPr>
            <a:normAutofit/>
          </a:bodyPr>
          <a:lstStyle/>
          <a:p>
            <a:r>
              <a:rPr lang="en-US" b="1" dirty="0"/>
              <a:t>Increasing Sophistication of Those Who Would Do Harm</a:t>
            </a:r>
          </a:p>
          <a:p>
            <a:r>
              <a:rPr lang="en-US" dirty="0"/>
              <a:t>Previously, the stereotype of a computer troublemaker was that of an introverted “geek” working on his or her own and motivated by the desire to gain some degree of notoriety.</a:t>
            </a:r>
          </a:p>
          <a:p>
            <a:r>
              <a:rPr lang="en-US" dirty="0"/>
              <a:t>This individual was armed with specialized, but limited, knowledge of computers and networks and used rudimentary tools, perhaps downloaded from the Internet, to execute his or her exploits. </a:t>
            </a:r>
          </a:p>
          <a:p>
            <a:r>
              <a:rPr lang="en-US" dirty="0"/>
              <a:t>While such individuals still exist, it is not this stereotyped individual who is the biggest threat to IT security.</a:t>
            </a:r>
            <a:endParaRPr lang="en-IN" dirty="0"/>
          </a:p>
        </p:txBody>
      </p:sp>
    </p:spTree>
    <p:extLst>
      <p:ext uri="{BB962C8B-B14F-4D97-AF65-F5344CB8AC3E}">
        <p14:creationId xmlns:p14="http://schemas.microsoft.com/office/powerpoint/2010/main" val="1207331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5F1E6-2A84-C270-CC94-72C1069A02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3389D-5A2A-790E-9FF6-A4477DE80AD1}"/>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FE5009CE-CD46-E711-02B4-1D5484B9DD22}"/>
              </a:ext>
            </a:extLst>
          </p:cNvPr>
          <p:cNvSpPr>
            <a:spLocks noGrp="1"/>
          </p:cNvSpPr>
          <p:nvPr>
            <p:ph idx="1"/>
          </p:nvPr>
        </p:nvSpPr>
        <p:spPr>
          <a:xfrm>
            <a:off x="266330" y="1020932"/>
            <a:ext cx="8611340" cy="5700544"/>
          </a:xfrm>
        </p:spPr>
        <p:txBody>
          <a:bodyPr>
            <a:normAutofit/>
          </a:bodyPr>
          <a:lstStyle/>
          <a:p>
            <a:r>
              <a:rPr lang="en-US" b="1" dirty="0"/>
              <a:t>Increasing Sophistication of Those Who Would Do Harm</a:t>
            </a:r>
          </a:p>
          <a:p>
            <a:r>
              <a:rPr lang="en-US" dirty="0"/>
              <a:t>Today’s computer menace is much better organized and may be part of an organized group (for example, Anonymous, Chaos Computer Club, Lizard Squad, </a:t>
            </a:r>
            <a:r>
              <a:rPr lang="en-US" dirty="0" err="1"/>
              <a:t>TeslaTeam</a:t>
            </a:r>
            <a:r>
              <a:rPr lang="en-US" dirty="0"/>
              <a:t>, and hacker teams sponsored by national governments) that has an agenda and targets specific organizations and websites. </a:t>
            </a:r>
          </a:p>
          <a:p>
            <a:r>
              <a:rPr lang="en-US" dirty="0"/>
              <a:t>Some of these groups have ample resources, including money and sophisticated tools to support their efforts. </a:t>
            </a:r>
          </a:p>
          <a:p>
            <a:r>
              <a:rPr lang="en-US" dirty="0"/>
              <a:t>Today’s computer attacker has greater depth of knowledge and expertise in getting around computer and network security safeguards.</a:t>
            </a:r>
            <a:endParaRPr lang="en-IN" dirty="0"/>
          </a:p>
        </p:txBody>
      </p:sp>
    </p:spTree>
    <p:extLst>
      <p:ext uri="{BB962C8B-B14F-4D97-AF65-F5344CB8AC3E}">
        <p14:creationId xmlns:p14="http://schemas.microsoft.com/office/powerpoint/2010/main" val="2249246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7C89-A85D-6E4B-3BA8-846D6BCDC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77FEA-9FAE-82D6-397E-04EAAA639329}"/>
              </a:ext>
            </a:extLst>
          </p:cNvPr>
          <p:cNvSpPr>
            <a:spLocks noGrp="1"/>
          </p:cNvSpPr>
          <p:nvPr>
            <p:ph type="title"/>
          </p:nvPr>
        </p:nvSpPr>
        <p:spPr/>
        <p:txBody>
          <a:bodyPr>
            <a:noAutofit/>
          </a:bodyPr>
          <a:lstStyle/>
          <a:p>
            <a:r>
              <a:rPr lang="en-US" sz="3200" dirty="0"/>
              <a:t>Why Computer Incidents Are So Prevalent?</a:t>
            </a:r>
            <a:endParaRPr lang="en-IN" sz="3200" dirty="0"/>
          </a:p>
        </p:txBody>
      </p:sp>
      <p:sp>
        <p:nvSpPr>
          <p:cNvPr id="3" name="Content Placeholder 2">
            <a:extLst>
              <a:ext uri="{FF2B5EF4-FFF2-40B4-BE49-F238E27FC236}">
                <a16:creationId xmlns:a16="http://schemas.microsoft.com/office/drawing/2014/main" id="{B9F8FD16-3930-7D1F-1A0B-05B363658A7B}"/>
              </a:ext>
            </a:extLst>
          </p:cNvPr>
          <p:cNvSpPr>
            <a:spLocks noGrp="1"/>
          </p:cNvSpPr>
          <p:nvPr>
            <p:ph idx="1"/>
          </p:nvPr>
        </p:nvSpPr>
        <p:spPr>
          <a:xfrm>
            <a:off x="266330" y="1020932"/>
            <a:ext cx="8611340" cy="5837068"/>
          </a:xfrm>
        </p:spPr>
        <p:txBody>
          <a:bodyPr>
            <a:normAutofit fontScale="77500" lnSpcReduction="20000"/>
          </a:bodyPr>
          <a:lstStyle/>
          <a:p>
            <a:pPr algn="ctr"/>
            <a:r>
              <a:rPr lang="en-US" b="1" dirty="0"/>
              <a:t>Type of perpetrator Description</a:t>
            </a:r>
          </a:p>
          <a:p>
            <a:r>
              <a:rPr lang="en-US" b="1" dirty="0"/>
              <a:t>Black hat hacker </a:t>
            </a:r>
          </a:p>
          <a:p>
            <a:pPr lvl="1"/>
            <a:r>
              <a:rPr lang="en-US" dirty="0"/>
              <a:t>Someone who violates computer or Internet security maliciously or for illegal personal gain (in contrast to a white hat hacker who is someone who has been hired by an organization to test the security of its information systems)</a:t>
            </a:r>
          </a:p>
          <a:p>
            <a:r>
              <a:rPr lang="en-US" b="1" dirty="0"/>
              <a:t>Cracker</a:t>
            </a:r>
            <a:r>
              <a:rPr lang="en-US" dirty="0"/>
              <a:t> </a:t>
            </a:r>
          </a:p>
          <a:p>
            <a:pPr lvl="1"/>
            <a:r>
              <a:rPr lang="en-US" dirty="0"/>
              <a:t>An individual who causes problems, steals data, and corrupts systems </a:t>
            </a:r>
          </a:p>
          <a:p>
            <a:r>
              <a:rPr lang="en-US" b="1" dirty="0"/>
              <a:t>Malicious insider </a:t>
            </a:r>
          </a:p>
          <a:p>
            <a:pPr lvl="1"/>
            <a:r>
              <a:rPr lang="en-US" dirty="0"/>
              <a:t>An employee or contractor who attempts to gain financially and/or disrupt a company’s information systems and business operations</a:t>
            </a:r>
          </a:p>
          <a:p>
            <a:r>
              <a:rPr lang="en-US" b="1" dirty="0"/>
              <a:t>Industrial spy </a:t>
            </a:r>
          </a:p>
          <a:p>
            <a:pPr lvl="1"/>
            <a:r>
              <a:rPr lang="en-US" dirty="0"/>
              <a:t>An individual who captures trade secrets and attempts to gain an unfair competitive advantage</a:t>
            </a:r>
          </a:p>
          <a:p>
            <a:r>
              <a:rPr lang="en-US" b="1" dirty="0"/>
              <a:t>Cybercriminal </a:t>
            </a:r>
          </a:p>
          <a:p>
            <a:pPr lvl="1"/>
            <a:r>
              <a:rPr lang="en-US" dirty="0"/>
              <a:t>Someone who attacks a computer system or network for financial gain Hacktivist An individual who hacks computers or websites in an attempt to promote a political ideology</a:t>
            </a:r>
          </a:p>
          <a:p>
            <a:r>
              <a:rPr lang="en-US" b="1" dirty="0"/>
              <a:t>Cyberterrorist</a:t>
            </a:r>
            <a:r>
              <a:rPr lang="en-US" dirty="0"/>
              <a:t> </a:t>
            </a:r>
          </a:p>
          <a:p>
            <a:pPr lvl="1"/>
            <a:r>
              <a:rPr lang="en-US" dirty="0"/>
              <a:t>Someone who attempts to destroy the infrastructure components of governments, financial institutions, and other corporations, utilities, and emergency response units</a:t>
            </a:r>
          </a:p>
        </p:txBody>
      </p:sp>
    </p:spTree>
    <p:extLst>
      <p:ext uri="{BB962C8B-B14F-4D97-AF65-F5344CB8AC3E}">
        <p14:creationId xmlns:p14="http://schemas.microsoft.com/office/powerpoint/2010/main" val="1580866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4330-1879-4EEA-0A11-5D33E8831415}"/>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8F451B4-72EC-0056-E106-96BAF87560B9}"/>
              </a:ext>
            </a:extLst>
          </p:cNvPr>
          <p:cNvSpPr>
            <a:spLocks noGrp="1"/>
          </p:cNvSpPr>
          <p:nvPr>
            <p:ph idx="1"/>
          </p:nvPr>
        </p:nvSpPr>
        <p:spPr/>
        <p:txBody>
          <a:bodyPr/>
          <a:lstStyle/>
          <a:p>
            <a:r>
              <a:rPr lang="en-US" dirty="0"/>
              <a:t>There are numerous types of computer attacks, with new varieties being invented all the time. </a:t>
            </a:r>
          </a:p>
          <a:p>
            <a:r>
              <a:rPr lang="en-US" dirty="0"/>
              <a:t>Some of the more common attacks, including ransomware, viruses, worms, Trojan horses, blended threats, spam, distributed denial-of-service (DDoS) attacks, rootkits, advanced persistent threats, phishing and spear phishing, smishing and vishing, cyberespionage, and cyberterrorism.</a:t>
            </a:r>
            <a:endParaRPr lang="en-IN" dirty="0"/>
          </a:p>
        </p:txBody>
      </p:sp>
    </p:spTree>
    <p:extLst>
      <p:ext uri="{BB962C8B-B14F-4D97-AF65-F5344CB8AC3E}">
        <p14:creationId xmlns:p14="http://schemas.microsoft.com/office/powerpoint/2010/main" val="2336478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3B75A-D419-22DE-C67F-96E9FEBE9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A09BC-3337-29BE-51C5-F9A52EC0CC84}"/>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A18B8E7D-144B-22CC-6C84-F5C6AB44DF8F}"/>
              </a:ext>
            </a:extLst>
          </p:cNvPr>
          <p:cNvSpPr>
            <a:spLocks noGrp="1"/>
          </p:cNvSpPr>
          <p:nvPr>
            <p:ph idx="1"/>
          </p:nvPr>
        </p:nvSpPr>
        <p:spPr/>
        <p:txBody>
          <a:bodyPr>
            <a:normAutofit lnSpcReduction="10000"/>
          </a:bodyPr>
          <a:lstStyle/>
          <a:p>
            <a:r>
              <a:rPr lang="en-US" dirty="0"/>
              <a:t>While we usually think of such exploits being aimed at computers, smartphones continue to become more computer capable. </a:t>
            </a:r>
          </a:p>
          <a:p>
            <a:r>
              <a:rPr lang="en-US" dirty="0"/>
              <a:t>Increasingly, smartphone users store an array of personal identity information on their devices, including credit card numbers and bank account numbers.</a:t>
            </a:r>
          </a:p>
          <a:p>
            <a:r>
              <a:rPr lang="en-US" dirty="0"/>
              <a:t>Smartphones are used to surf the web and transact business electronically. </a:t>
            </a:r>
          </a:p>
          <a:p>
            <a:r>
              <a:rPr lang="en-US" dirty="0"/>
              <a:t>The more people use their smartphones for these purposes, the more attractive these devices become as targets for cyberthieves. </a:t>
            </a:r>
          </a:p>
          <a:p>
            <a:r>
              <a:rPr lang="en-US" dirty="0"/>
              <a:t>One form of smartphone malware runs up charges on users’ accounts by automatically sending messages to numbers that charge fees upon receipt of a message.</a:t>
            </a:r>
            <a:endParaRPr lang="en-IN" dirty="0"/>
          </a:p>
        </p:txBody>
      </p:sp>
    </p:spTree>
    <p:extLst>
      <p:ext uri="{BB962C8B-B14F-4D97-AF65-F5344CB8AC3E}">
        <p14:creationId xmlns:p14="http://schemas.microsoft.com/office/powerpoint/2010/main" val="3323543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BDBD9-B54F-F4BF-C97D-1A440A08C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4DC15-09BD-7D0A-246D-7A6AC9CC730A}"/>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27F22E62-B721-D7CA-D6EF-50BFDF2BD2F4}"/>
              </a:ext>
            </a:extLst>
          </p:cNvPr>
          <p:cNvSpPr>
            <a:spLocks noGrp="1"/>
          </p:cNvSpPr>
          <p:nvPr>
            <p:ph idx="1"/>
          </p:nvPr>
        </p:nvSpPr>
        <p:spPr/>
        <p:txBody>
          <a:bodyPr>
            <a:normAutofit/>
          </a:bodyPr>
          <a:lstStyle/>
          <a:p>
            <a:r>
              <a:rPr lang="en-US" b="1" dirty="0"/>
              <a:t>Ransomware</a:t>
            </a:r>
          </a:p>
          <a:p>
            <a:r>
              <a:rPr lang="en-US" dirty="0"/>
              <a:t>Ransomware is malware that stops you from using your computer or accessing your data until you meet certain demands, such as paying a ransom or sending photos to the attacker. </a:t>
            </a:r>
          </a:p>
          <a:p>
            <a:r>
              <a:rPr lang="en-US" dirty="0"/>
              <a:t>A computer becomes infected with ransomware when a user opens an email attachment containing the malware or is lured to a compromised website by a deceptive email or pop-up window. </a:t>
            </a:r>
          </a:p>
          <a:p>
            <a:r>
              <a:rPr lang="en-US" dirty="0"/>
              <a:t>Ransomware can also be spread through removable USB drives or by texting applications such as Yahoo Messenger, with the payload disguised as an image.</a:t>
            </a:r>
            <a:endParaRPr lang="en-IN" dirty="0"/>
          </a:p>
        </p:txBody>
      </p:sp>
    </p:spTree>
    <p:extLst>
      <p:ext uri="{BB962C8B-B14F-4D97-AF65-F5344CB8AC3E}">
        <p14:creationId xmlns:p14="http://schemas.microsoft.com/office/powerpoint/2010/main" val="3040510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24A3B-4A39-3826-90F4-7FE763AB4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ECBD5-0F0F-B23A-C549-D190D046B3A1}"/>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2A3BA39C-D4F0-976F-DCC7-BA0EDAFCF877}"/>
              </a:ext>
            </a:extLst>
          </p:cNvPr>
          <p:cNvSpPr>
            <a:spLocks noGrp="1"/>
          </p:cNvSpPr>
          <p:nvPr>
            <p:ph idx="1"/>
          </p:nvPr>
        </p:nvSpPr>
        <p:spPr/>
        <p:txBody>
          <a:bodyPr>
            <a:normAutofit fontScale="92500" lnSpcReduction="20000"/>
          </a:bodyPr>
          <a:lstStyle/>
          <a:p>
            <a:r>
              <a:rPr lang="en-US" b="1" dirty="0"/>
              <a:t>Viruses</a:t>
            </a:r>
          </a:p>
          <a:p>
            <a:r>
              <a:rPr lang="en-US" dirty="0"/>
              <a:t>Computer virus has become an umbrella term for many types of malicious code.</a:t>
            </a:r>
          </a:p>
          <a:p>
            <a:r>
              <a:rPr lang="en-US" dirty="0"/>
              <a:t>Technically, a virus is a piece of programming code, usually disguised as something else, that causes a computer to behave in an unexpected and usually undesirable manner. </a:t>
            </a:r>
          </a:p>
          <a:p>
            <a:r>
              <a:rPr lang="en-US" dirty="0"/>
              <a:t>For example, a virus may be programmed to display a certain message on an infected computer’s display screen, delete or modify a certain document, or reformat the hard drive. </a:t>
            </a:r>
          </a:p>
          <a:p>
            <a:r>
              <a:rPr lang="en-US" dirty="0"/>
              <a:t>Almost all viruses are attached to a file, meaning the virus executes only when the infected file is opened. </a:t>
            </a:r>
          </a:p>
          <a:p>
            <a:r>
              <a:rPr lang="en-US" dirty="0"/>
              <a:t>A virus is spread to other machines when a computer user shares an infected file or sends an email with a virus-infected attachment. </a:t>
            </a:r>
          </a:p>
          <a:p>
            <a:r>
              <a:rPr lang="en-US" dirty="0"/>
              <a:t>In other words, viruses are spread by the action of the “infected” computer user.</a:t>
            </a:r>
            <a:endParaRPr lang="en-IN" dirty="0"/>
          </a:p>
        </p:txBody>
      </p:sp>
    </p:spTree>
    <p:extLst>
      <p:ext uri="{BB962C8B-B14F-4D97-AF65-F5344CB8AC3E}">
        <p14:creationId xmlns:p14="http://schemas.microsoft.com/office/powerpoint/2010/main" val="3943883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815E4-B222-17BD-7529-7496970AB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81CFA-4205-6288-256C-B0DAFD04A4A0}"/>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A13DA7E2-2469-6F3E-E2A5-69202F8801A9}"/>
              </a:ext>
            </a:extLst>
          </p:cNvPr>
          <p:cNvSpPr>
            <a:spLocks noGrp="1"/>
          </p:cNvSpPr>
          <p:nvPr>
            <p:ph idx="1"/>
          </p:nvPr>
        </p:nvSpPr>
        <p:spPr>
          <a:xfrm>
            <a:off x="266330" y="1020932"/>
            <a:ext cx="8611340" cy="5901076"/>
          </a:xfrm>
        </p:spPr>
        <p:txBody>
          <a:bodyPr>
            <a:normAutofit fontScale="92500" lnSpcReduction="10000"/>
          </a:bodyPr>
          <a:lstStyle/>
          <a:p>
            <a:r>
              <a:rPr lang="en-US" b="1" dirty="0"/>
              <a:t>Viruses</a:t>
            </a:r>
          </a:p>
          <a:p>
            <a:r>
              <a:rPr lang="en-US" dirty="0"/>
              <a:t>Macro viruses have become a common and easily created form of virus. </a:t>
            </a:r>
          </a:p>
          <a:p>
            <a:r>
              <a:rPr lang="en-US" dirty="0"/>
              <a:t>Attackers use an application macro language (such as Visual Basic or VBScript) to create programs that infect documents and templates. </a:t>
            </a:r>
          </a:p>
          <a:p>
            <a:r>
              <a:rPr lang="en-US" dirty="0"/>
              <a:t>After an infected document is opened, the virus is executed and infects the user’s application templates. </a:t>
            </a:r>
          </a:p>
          <a:p>
            <a:r>
              <a:rPr lang="en-US" dirty="0"/>
              <a:t>Macros can insert unwanted words, numbers, or phrases into documents or alter command functions.</a:t>
            </a:r>
          </a:p>
          <a:p>
            <a:r>
              <a:rPr lang="en-US" dirty="0"/>
              <a:t>After a macro virus infects a user’s application, it can embed itself in all future documents created with the application. </a:t>
            </a:r>
          </a:p>
          <a:p>
            <a:pPr lvl="1"/>
            <a:r>
              <a:rPr lang="en-US" dirty="0"/>
              <a:t>The “WM97/</a:t>
            </a:r>
            <a:r>
              <a:rPr lang="en-US" dirty="0" err="1"/>
              <a:t>Resume.A</a:t>
            </a:r>
            <a:r>
              <a:rPr lang="en-US" dirty="0"/>
              <a:t>” virus is a Word macro virus spread via an email message with the subject line “Resume - Janet Simons.” </a:t>
            </a:r>
          </a:p>
          <a:p>
            <a:pPr lvl="1"/>
            <a:r>
              <a:rPr lang="en-US" dirty="0"/>
              <a:t>If the email recipient clicks on the attachment, the virus deletes all data in the user’s computer or mobile device.</a:t>
            </a:r>
            <a:endParaRPr lang="en-IN" dirty="0"/>
          </a:p>
        </p:txBody>
      </p:sp>
    </p:spTree>
    <p:extLst>
      <p:ext uri="{BB962C8B-B14F-4D97-AF65-F5344CB8AC3E}">
        <p14:creationId xmlns:p14="http://schemas.microsoft.com/office/powerpoint/2010/main" val="1117323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D202C-DAAE-6B8F-3509-B2B60D4CE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D8873-8BB6-F47F-6B41-6589EFAFF9F7}"/>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E142C190-B0D7-AC27-794F-2431B7208C15}"/>
              </a:ext>
            </a:extLst>
          </p:cNvPr>
          <p:cNvSpPr>
            <a:spLocks noGrp="1"/>
          </p:cNvSpPr>
          <p:nvPr>
            <p:ph idx="1"/>
          </p:nvPr>
        </p:nvSpPr>
        <p:spPr>
          <a:xfrm>
            <a:off x="266330" y="1020932"/>
            <a:ext cx="8611340" cy="5626756"/>
          </a:xfrm>
        </p:spPr>
        <p:txBody>
          <a:bodyPr>
            <a:normAutofit/>
          </a:bodyPr>
          <a:lstStyle/>
          <a:p>
            <a:r>
              <a:rPr lang="en-US" b="1" dirty="0"/>
              <a:t>Worms</a:t>
            </a:r>
          </a:p>
          <a:p>
            <a:r>
              <a:rPr lang="en-US" dirty="0"/>
              <a:t>Unlike a computer virus, which requires users to spread infected files to other users, a worm is a harmful program that resides in the active memory of the computer and duplicates itself. </a:t>
            </a:r>
          </a:p>
          <a:p>
            <a:r>
              <a:rPr lang="en-US" dirty="0"/>
              <a:t>Worms differ from viruses in that they can propagate without human intervention, often sending copies of themselves to other computers by email.</a:t>
            </a:r>
          </a:p>
          <a:p>
            <a:r>
              <a:rPr lang="en-US" dirty="0"/>
              <a:t>A worm is capable of replicating itself on your computer so that it can potentially send out thousands of copies of itself to everyone in your email address book, for example.</a:t>
            </a:r>
            <a:endParaRPr lang="en-IN" dirty="0"/>
          </a:p>
        </p:txBody>
      </p:sp>
    </p:spTree>
    <p:extLst>
      <p:ext uri="{BB962C8B-B14F-4D97-AF65-F5344CB8AC3E}">
        <p14:creationId xmlns:p14="http://schemas.microsoft.com/office/powerpoint/2010/main" val="3840863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B0916-F2C8-0287-06C7-F4BA987B0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F5F5C-3BD4-87F8-83F5-01A9428F142E}"/>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801EE726-1148-19FE-C330-B6684F6497A0}"/>
              </a:ext>
            </a:extLst>
          </p:cNvPr>
          <p:cNvSpPr>
            <a:spLocks noGrp="1"/>
          </p:cNvSpPr>
          <p:nvPr>
            <p:ph idx="1"/>
          </p:nvPr>
        </p:nvSpPr>
        <p:spPr>
          <a:xfrm>
            <a:off x="266330" y="1020932"/>
            <a:ext cx="8611340" cy="5837068"/>
          </a:xfrm>
        </p:spPr>
        <p:txBody>
          <a:bodyPr>
            <a:normAutofit fontScale="92500" lnSpcReduction="10000"/>
          </a:bodyPr>
          <a:lstStyle/>
          <a:p>
            <a:r>
              <a:rPr lang="en-US" b="1" dirty="0"/>
              <a:t>Trojan Horses</a:t>
            </a:r>
          </a:p>
          <a:p>
            <a:r>
              <a:rPr lang="en-US" dirty="0"/>
              <a:t>A Trojan horse is a seemingly harmless program in which malicious code is hidden. </a:t>
            </a:r>
          </a:p>
          <a:p>
            <a:r>
              <a:rPr lang="en-US" dirty="0"/>
              <a:t>A victim on the receiving end of a Trojan horse is usually tricked into opening it because it appears to be useful software from a legitimate source, such as an update for software the user currently has installed on his or her computer. </a:t>
            </a:r>
          </a:p>
          <a:p>
            <a:r>
              <a:rPr lang="en-US" dirty="0"/>
              <a:t>The program’s harmful payload might be designed to enable the hacker to destroy hard drives, corrupt files, control the computer remotely, launch attacks against other computers, steal passwords, or spy on users by recording keystrokes and transmitting them to a server operated by a third party. </a:t>
            </a:r>
          </a:p>
          <a:p>
            <a:r>
              <a:rPr lang="en-US" dirty="0"/>
              <a:t>A Trojan horse often creates a “backdoor” on a computer that enables an attacker to gain future access to the system and compromise confidential or private information.</a:t>
            </a:r>
            <a:endParaRPr lang="en-IN" dirty="0"/>
          </a:p>
        </p:txBody>
      </p:sp>
    </p:spTree>
    <p:extLst>
      <p:ext uri="{BB962C8B-B14F-4D97-AF65-F5344CB8AC3E}">
        <p14:creationId xmlns:p14="http://schemas.microsoft.com/office/powerpoint/2010/main" val="1830655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8E02-3DD8-8AE1-AEE8-690331C15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0EB24-BC1A-94F1-578B-7042FD66C82C}"/>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087DBE23-E8D9-4245-4EE2-C48176F1BD87}"/>
              </a:ext>
            </a:extLst>
          </p:cNvPr>
          <p:cNvSpPr>
            <a:spLocks noGrp="1"/>
          </p:cNvSpPr>
          <p:nvPr>
            <p:ph idx="1"/>
          </p:nvPr>
        </p:nvSpPr>
        <p:spPr>
          <a:xfrm>
            <a:off x="266330" y="1020932"/>
            <a:ext cx="8611340" cy="5837068"/>
          </a:xfrm>
        </p:spPr>
        <p:txBody>
          <a:bodyPr>
            <a:normAutofit/>
          </a:bodyPr>
          <a:lstStyle/>
          <a:p>
            <a:r>
              <a:rPr lang="en-US" b="1" dirty="0"/>
              <a:t>Trojan Horses</a:t>
            </a:r>
          </a:p>
          <a:p>
            <a:r>
              <a:rPr lang="en-US" dirty="0"/>
              <a:t>A Trojan horse can be delivered via an email attachment, downloaded to a user’s computer when he or she visits a website, or contracted via a removable media device, such as a DVD or USB memory stick. </a:t>
            </a:r>
          </a:p>
          <a:p>
            <a:r>
              <a:rPr lang="en-US" dirty="0"/>
              <a:t>Once an unsuspecting user executes the program that hosts the Trojan horse, the malicious payload is automatically launched as well—with no telltale signs. </a:t>
            </a:r>
          </a:p>
          <a:p>
            <a:r>
              <a:rPr lang="en-US" dirty="0"/>
              <a:t>Common host programs include screen savers, greeting card systems, and games.</a:t>
            </a:r>
            <a:endParaRPr lang="en-IN" dirty="0"/>
          </a:p>
        </p:txBody>
      </p:sp>
    </p:spTree>
    <p:extLst>
      <p:ext uri="{BB962C8B-B14F-4D97-AF65-F5344CB8AC3E}">
        <p14:creationId xmlns:p14="http://schemas.microsoft.com/office/powerpoint/2010/main" val="481402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22366-C194-2804-163F-CD9C1F888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963FE-AEDB-4784-F632-362F849E54DC}"/>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EB37B0B6-A6EA-7C51-69CD-65FB6ED5E765}"/>
              </a:ext>
            </a:extLst>
          </p:cNvPr>
          <p:cNvSpPr>
            <a:spLocks noGrp="1"/>
          </p:cNvSpPr>
          <p:nvPr>
            <p:ph idx="1"/>
          </p:nvPr>
        </p:nvSpPr>
        <p:spPr>
          <a:xfrm>
            <a:off x="266330" y="1020932"/>
            <a:ext cx="8611340" cy="5837068"/>
          </a:xfrm>
        </p:spPr>
        <p:txBody>
          <a:bodyPr>
            <a:normAutofit lnSpcReduction="10000"/>
          </a:bodyPr>
          <a:lstStyle/>
          <a:p>
            <a:r>
              <a:rPr lang="en-US" b="1" dirty="0"/>
              <a:t>Trojan Horses</a:t>
            </a:r>
          </a:p>
          <a:p>
            <a:r>
              <a:rPr lang="en-US" dirty="0"/>
              <a:t>Department of Homeland Security (DHS) officials say they have evidence that harmful Trojan horse malware has been planted in the software that runs much of the U.S. critical infrastructure, including oil and gas pipelines, power transmission grids, water distribution and filtration systems, and even nuclear power generation plants.</a:t>
            </a:r>
          </a:p>
          <a:p>
            <a:r>
              <a:rPr lang="en-US" dirty="0"/>
              <a:t>DHS believes that the malware was planted by the Russians as early as 2011 as a deterrent to a U.S. cyberattack on Russia. </a:t>
            </a:r>
          </a:p>
          <a:p>
            <a:r>
              <a:rPr lang="en-US" dirty="0"/>
              <a:t>The Trojan horse would allow nonauthorized users to control or shut down key components of U.S. infrastructure remotely from their computer or mobile device.</a:t>
            </a:r>
            <a:endParaRPr lang="en-IN" dirty="0"/>
          </a:p>
        </p:txBody>
      </p:sp>
    </p:spTree>
    <p:extLst>
      <p:ext uri="{BB962C8B-B14F-4D97-AF65-F5344CB8AC3E}">
        <p14:creationId xmlns:p14="http://schemas.microsoft.com/office/powerpoint/2010/main" val="664103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A6661-53F5-C4E4-B6C3-E915C37D5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BB2E3-DDC2-9D4C-332F-AA86245FF3D8}"/>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04EBECB-FDA2-A171-4AF7-34835A405806}"/>
              </a:ext>
            </a:extLst>
          </p:cNvPr>
          <p:cNvSpPr>
            <a:spLocks noGrp="1"/>
          </p:cNvSpPr>
          <p:nvPr>
            <p:ph idx="1"/>
          </p:nvPr>
        </p:nvSpPr>
        <p:spPr>
          <a:xfrm>
            <a:off x="266330" y="1020932"/>
            <a:ext cx="8611340" cy="5837068"/>
          </a:xfrm>
        </p:spPr>
        <p:txBody>
          <a:bodyPr>
            <a:normAutofit/>
          </a:bodyPr>
          <a:lstStyle/>
          <a:p>
            <a:r>
              <a:rPr lang="en-US" b="1" dirty="0"/>
              <a:t>Trojan Horses</a:t>
            </a:r>
          </a:p>
          <a:p>
            <a:r>
              <a:rPr lang="en-US" dirty="0"/>
              <a:t>Another type of Trojan horse is a </a:t>
            </a:r>
            <a:r>
              <a:rPr lang="en-US" b="1" dirty="0"/>
              <a:t>logic bomb</a:t>
            </a:r>
            <a:r>
              <a:rPr lang="en-US" dirty="0"/>
              <a:t>, which executes when it is triggered by a specific event. </a:t>
            </a:r>
          </a:p>
          <a:p>
            <a:r>
              <a:rPr lang="en-US" dirty="0"/>
              <a:t>For example, logic bombs can be triggered by a change in a particular file, by typing a specific series of keystrokes, or at a specific time or date. </a:t>
            </a:r>
          </a:p>
          <a:p>
            <a:r>
              <a:rPr lang="en-US" dirty="0"/>
              <a:t>Malware attacks employing logic bombs compromised some 32,000 Windows, Unix, and Linux systems at half a dozen South Korean organizations, including three major television broadcasters and two large banks. </a:t>
            </a:r>
          </a:p>
          <a:p>
            <a:r>
              <a:rPr lang="en-US" dirty="0"/>
              <a:t>A component of the attack was “wiper” malware triggered by a logic bomb set to begin overwriting a computer’s master boot record at a preset time and day.</a:t>
            </a:r>
            <a:endParaRPr lang="en-IN" dirty="0"/>
          </a:p>
        </p:txBody>
      </p:sp>
    </p:spTree>
    <p:extLst>
      <p:ext uri="{BB962C8B-B14F-4D97-AF65-F5344CB8AC3E}">
        <p14:creationId xmlns:p14="http://schemas.microsoft.com/office/powerpoint/2010/main" val="2860343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1F8E8-9642-44AC-9412-B2AA7BE2F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18952-D850-9546-B99C-2BC07A7621A0}"/>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81EE35BE-52AC-9D41-0D82-7CDDBCD57A8B}"/>
              </a:ext>
            </a:extLst>
          </p:cNvPr>
          <p:cNvSpPr>
            <a:spLocks noGrp="1"/>
          </p:cNvSpPr>
          <p:nvPr>
            <p:ph idx="1"/>
          </p:nvPr>
        </p:nvSpPr>
        <p:spPr>
          <a:xfrm>
            <a:off x="266330" y="1020932"/>
            <a:ext cx="8611340" cy="5837068"/>
          </a:xfrm>
        </p:spPr>
        <p:txBody>
          <a:bodyPr>
            <a:normAutofit/>
          </a:bodyPr>
          <a:lstStyle/>
          <a:p>
            <a:r>
              <a:rPr lang="en-US" b="1" dirty="0"/>
              <a:t>Blended Threat</a:t>
            </a:r>
          </a:p>
          <a:p>
            <a:r>
              <a:rPr lang="en-US" dirty="0"/>
              <a:t>A blended threat is a sophisticated threat that combines the features of a virus, worm, Trojan horse, and other malicious code into a single payload. </a:t>
            </a:r>
          </a:p>
          <a:p>
            <a:r>
              <a:rPr lang="en-US" dirty="0"/>
              <a:t>A blended threat attack might use server and Internet vulnerabilities to initiate and then transmit and spread an attack on an organization’s computing devices, using multiple modes to transport itself, including email, Internet Relay Chat (IRC), and file-sharing networks. </a:t>
            </a:r>
          </a:p>
          <a:p>
            <a:r>
              <a:rPr lang="en-US" dirty="0"/>
              <a:t>Rather than launching a narrowly focused attack on specific EXE files, a blended threat might attack multiple EXE files, HTML files, and registry keys simultaneously.</a:t>
            </a:r>
            <a:endParaRPr lang="en-IN" dirty="0"/>
          </a:p>
        </p:txBody>
      </p:sp>
    </p:spTree>
    <p:extLst>
      <p:ext uri="{BB962C8B-B14F-4D97-AF65-F5344CB8AC3E}">
        <p14:creationId xmlns:p14="http://schemas.microsoft.com/office/powerpoint/2010/main" val="215127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785C-EEF9-AE4F-16E6-FDBE62915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D8851-DE8D-9090-2278-C46C648AFD68}"/>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2F6C54A2-FAA4-24BC-BAC1-33C1323090D6}"/>
              </a:ext>
            </a:extLst>
          </p:cNvPr>
          <p:cNvSpPr>
            <a:spLocks noGrp="1"/>
          </p:cNvSpPr>
          <p:nvPr>
            <p:ph idx="1"/>
          </p:nvPr>
        </p:nvSpPr>
        <p:spPr>
          <a:xfrm>
            <a:off x="266330" y="1020932"/>
            <a:ext cx="8611340" cy="5837068"/>
          </a:xfrm>
        </p:spPr>
        <p:txBody>
          <a:bodyPr>
            <a:normAutofit fontScale="92500"/>
          </a:bodyPr>
          <a:lstStyle/>
          <a:p>
            <a:r>
              <a:rPr lang="en-US" b="1" dirty="0"/>
              <a:t>Spam</a:t>
            </a:r>
          </a:p>
          <a:p>
            <a:r>
              <a:rPr lang="en-US" dirty="0"/>
              <a:t>Email spam is the use of email systems to send unsolicited email to large numbers of people.</a:t>
            </a:r>
          </a:p>
          <a:p>
            <a:r>
              <a:rPr lang="en-US" dirty="0"/>
              <a:t>Most spam is a form of low-cost commercial advertising, sometimes for questionable products such as pornography, phony get-rich-quick schemes, and worthless stock. </a:t>
            </a:r>
          </a:p>
          <a:p>
            <a:r>
              <a:rPr lang="en-US" dirty="0"/>
              <a:t>Spam is also an extremely inexpensive marketing tool used by many legitimate organizations.</a:t>
            </a:r>
          </a:p>
          <a:p>
            <a:r>
              <a:rPr lang="en-US" dirty="0"/>
              <a:t>For example, a company might send email to a broad cross section of potential customers to announce the release of a new product in an attempt to increase initial sales. </a:t>
            </a:r>
          </a:p>
          <a:p>
            <a:r>
              <a:rPr lang="en-US" dirty="0"/>
              <a:t>However, spam is also used to deliver harmful worms and other malware.</a:t>
            </a:r>
            <a:endParaRPr lang="en-IN" dirty="0"/>
          </a:p>
        </p:txBody>
      </p:sp>
    </p:spTree>
    <p:extLst>
      <p:ext uri="{BB962C8B-B14F-4D97-AF65-F5344CB8AC3E}">
        <p14:creationId xmlns:p14="http://schemas.microsoft.com/office/powerpoint/2010/main" val="244746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4EF75-033D-E5D7-FF4B-C4B33E61A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E4E19-94FD-B612-9945-EABAB6D01AF4}"/>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94DFD6D9-77EE-F910-7D30-C6A5AF165E2B}"/>
              </a:ext>
            </a:extLst>
          </p:cNvPr>
          <p:cNvSpPr>
            <a:spLocks noGrp="1"/>
          </p:cNvSpPr>
          <p:nvPr>
            <p:ph idx="1"/>
          </p:nvPr>
        </p:nvSpPr>
        <p:spPr>
          <a:xfrm>
            <a:off x="266330" y="1020932"/>
            <a:ext cx="8611340" cy="5837068"/>
          </a:xfrm>
        </p:spPr>
        <p:txBody>
          <a:bodyPr>
            <a:normAutofit/>
          </a:bodyPr>
          <a:lstStyle/>
          <a:p>
            <a:r>
              <a:rPr lang="en-US" b="1" dirty="0"/>
              <a:t>Spam</a:t>
            </a:r>
          </a:p>
          <a:p>
            <a:r>
              <a:rPr lang="en-US" dirty="0"/>
              <a:t>The Controlling the Assault of Non-Solicited Pornography and Marketing (CAN-SPAM) Act states that it is legal to spam, provided the messages meet a few basic requirements—</a:t>
            </a:r>
          </a:p>
          <a:p>
            <a:r>
              <a:rPr lang="en-US" dirty="0"/>
              <a:t>spammers cannot disguise their identity by using a false return address, </a:t>
            </a:r>
          </a:p>
          <a:p>
            <a:r>
              <a:rPr lang="en-US" dirty="0"/>
              <a:t>the email must include a label specifying that it is an ad or a solicitation, and </a:t>
            </a:r>
          </a:p>
          <a:p>
            <a:r>
              <a:rPr lang="en-US" dirty="0"/>
              <a:t>the email must include a way for recipients to indicate that they do not want future mass mailings.</a:t>
            </a:r>
            <a:endParaRPr lang="en-IN" dirty="0"/>
          </a:p>
        </p:txBody>
      </p:sp>
    </p:spTree>
    <p:extLst>
      <p:ext uri="{BB962C8B-B14F-4D97-AF65-F5344CB8AC3E}">
        <p14:creationId xmlns:p14="http://schemas.microsoft.com/office/powerpoint/2010/main" val="853995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5814D-36E2-D680-3A1D-9DD4CD4D3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39A2C-3E01-66FA-408C-2030592E7414}"/>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88B48F37-7758-4457-A946-E665B3F67678}"/>
              </a:ext>
            </a:extLst>
          </p:cNvPr>
          <p:cNvSpPr>
            <a:spLocks noGrp="1"/>
          </p:cNvSpPr>
          <p:nvPr>
            <p:ph idx="1"/>
          </p:nvPr>
        </p:nvSpPr>
        <p:spPr>
          <a:xfrm>
            <a:off x="266330" y="1020932"/>
            <a:ext cx="8611340" cy="5837068"/>
          </a:xfrm>
        </p:spPr>
        <p:txBody>
          <a:bodyPr>
            <a:normAutofit/>
          </a:bodyPr>
          <a:lstStyle/>
          <a:p>
            <a:r>
              <a:rPr lang="en-US" b="1" dirty="0"/>
              <a:t>Spam</a:t>
            </a:r>
          </a:p>
          <a:p>
            <a:r>
              <a:rPr lang="en-US" dirty="0"/>
              <a:t>Many companies—including Google, Microsoft, and Yahoo!—offer free email services.</a:t>
            </a:r>
          </a:p>
          <a:p>
            <a:r>
              <a:rPr lang="en-US" dirty="0"/>
              <a:t>Spammers often seek to use email accounts from such major, free, and reputable web-based email service providers, as their spam can be sent at no charge and is less likely to be blocked. </a:t>
            </a:r>
          </a:p>
          <a:p>
            <a:r>
              <a:rPr lang="en-US" dirty="0"/>
              <a:t>Spammers can defeat the registration process of the free email services by launching a coordinated bot attack that can sign up for thousands of email accounts. </a:t>
            </a:r>
          </a:p>
          <a:p>
            <a:r>
              <a:rPr lang="en-US" dirty="0"/>
              <a:t>These accounts are then used by the spammers to send thousands of untraceable email messages for free.</a:t>
            </a:r>
            <a:endParaRPr lang="en-IN" dirty="0"/>
          </a:p>
        </p:txBody>
      </p:sp>
    </p:spTree>
    <p:extLst>
      <p:ext uri="{BB962C8B-B14F-4D97-AF65-F5344CB8AC3E}">
        <p14:creationId xmlns:p14="http://schemas.microsoft.com/office/powerpoint/2010/main" val="4157214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B277E-96A9-7BE1-F955-CBA442F24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4F017-DBA7-8FCA-D006-71F6D5F52854}"/>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28B049D-670C-1035-EF10-3E23C553EEC3}"/>
              </a:ext>
            </a:extLst>
          </p:cNvPr>
          <p:cNvSpPr>
            <a:spLocks noGrp="1"/>
          </p:cNvSpPr>
          <p:nvPr>
            <p:ph idx="1"/>
          </p:nvPr>
        </p:nvSpPr>
        <p:spPr>
          <a:xfrm>
            <a:off x="266330" y="1020932"/>
            <a:ext cx="8611340" cy="5837068"/>
          </a:xfrm>
        </p:spPr>
        <p:txBody>
          <a:bodyPr>
            <a:normAutofit/>
          </a:bodyPr>
          <a:lstStyle/>
          <a:p>
            <a:r>
              <a:rPr lang="en-US" b="1" dirty="0"/>
              <a:t>Spam</a:t>
            </a:r>
          </a:p>
          <a:p>
            <a:r>
              <a:rPr lang="en-US" dirty="0"/>
              <a:t>A partial solution to this problem is the use of CAPTCHA to ensure that only humans obtain free accounts. </a:t>
            </a:r>
          </a:p>
          <a:p>
            <a:r>
              <a:rPr lang="en-US" b="1" dirty="0"/>
              <a:t>CAPTCHA</a:t>
            </a:r>
            <a:r>
              <a:rPr lang="en-US" dirty="0"/>
              <a:t> (Completely Automated Public Turing Test to Tell Computers and Humans Apart) software generates and grades tests that humans can pass and all but the most sophisticated computer programs cannot. </a:t>
            </a:r>
          </a:p>
          <a:p>
            <a:r>
              <a:rPr lang="en-US" dirty="0"/>
              <a:t>For example, humans can read the distorted text in Figure 3-2, but simple computer programs cannot.</a:t>
            </a:r>
            <a:endParaRPr lang="en-IN" dirty="0"/>
          </a:p>
        </p:txBody>
      </p:sp>
      <p:pic>
        <p:nvPicPr>
          <p:cNvPr id="5" name="Picture 4">
            <a:extLst>
              <a:ext uri="{FF2B5EF4-FFF2-40B4-BE49-F238E27FC236}">
                <a16:creationId xmlns:a16="http://schemas.microsoft.com/office/drawing/2014/main" id="{3DB48EE4-45FE-1811-3F11-D3D89A42E54E}"/>
              </a:ext>
            </a:extLst>
          </p:cNvPr>
          <p:cNvPicPr>
            <a:picLocks noChangeAspect="1"/>
          </p:cNvPicPr>
          <p:nvPr/>
        </p:nvPicPr>
        <p:blipFill>
          <a:blip r:embed="rId2">
            <a:clrChange>
              <a:clrFrom>
                <a:srgbClr val="FAFAFA"/>
              </a:clrFrom>
              <a:clrTo>
                <a:srgbClr val="FAFAFA">
                  <a:alpha val="0"/>
                </a:srgbClr>
              </a:clrTo>
            </a:clrChange>
          </a:blip>
          <a:stretch>
            <a:fillRect/>
          </a:stretch>
        </p:blipFill>
        <p:spPr>
          <a:xfrm>
            <a:off x="1712635" y="4962260"/>
            <a:ext cx="4877481" cy="1895740"/>
          </a:xfrm>
          <a:prstGeom prst="rect">
            <a:avLst/>
          </a:prstGeom>
        </p:spPr>
      </p:pic>
    </p:spTree>
    <p:extLst>
      <p:ext uri="{BB962C8B-B14F-4D97-AF65-F5344CB8AC3E}">
        <p14:creationId xmlns:p14="http://schemas.microsoft.com/office/powerpoint/2010/main" val="41802560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F5476-136A-C7E2-C7AB-20E483914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49F58-E636-E715-0641-CE2B559546F9}"/>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4E163D28-09C9-EDA5-2191-AE84BC931A9C}"/>
              </a:ext>
            </a:extLst>
          </p:cNvPr>
          <p:cNvSpPr>
            <a:spLocks noGrp="1"/>
          </p:cNvSpPr>
          <p:nvPr>
            <p:ph idx="1"/>
          </p:nvPr>
        </p:nvSpPr>
        <p:spPr>
          <a:xfrm>
            <a:off x="266330" y="1020932"/>
            <a:ext cx="8611340" cy="5837068"/>
          </a:xfrm>
        </p:spPr>
        <p:txBody>
          <a:bodyPr>
            <a:normAutofit lnSpcReduction="10000"/>
          </a:bodyPr>
          <a:lstStyle/>
          <a:p>
            <a:r>
              <a:rPr lang="en-US" b="1" dirty="0"/>
              <a:t>DDoS Attacks</a:t>
            </a:r>
          </a:p>
          <a:p>
            <a:r>
              <a:rPr lang="en-US" dirty="0"/>
              <a:t>A distributed denial-of-service (DDoS) attack is one in which a malicious hacker takes over computers via the Internet and causes them to flood a target site with demands for data and other small tasks. </a:t>
            </a:r>
          </a:p>
          <a:p>
            <a:r>
              <a:rPr lang="en-US" dirty="0"/>
              <a:t>A DDoS attack does not involve infiltration of the targeted system. </a:t>
            </a:r>
          </a:p>
          <a:p>
            <a:r>
              <a:rPr lang="en-US" dirty="0"/>
              <a:t>Instead, it keeps the target so busy responding to a stream of automated requests that legitimate users cannot get in—the Internet equivalent of dialing a telephone number repeatedly so that all other callers hear a busy signal. </a:t>
            </a:r>
          </a:p>
          <a:p>
            <a:r>
              <a:rPr lang="en-US" dirty="0"/>
              <a:t>The targeted machine essentially holds the line open while waiting for a reply that never comes; eventually, the requests exhaust all resources of the target.</a:t>
            </a:r>
            <a:endParaRPr lang="en-IN" dirty="0"/>
          </a:p>
        </p:txBody>
      </p:sp>
    </p:spTree>
    <p:extLst>
      <p:ext uri="{BB962C8B-B14F-4D97-AF65-F5344CB8AC3E}">
        <p14:creationId xmlns:p14="http://schemas.microsoft.com/office/powerpoint/2010/main" val="3894333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9E7D9-C502-7541-32C2-A9E5812E4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3DF1C-6E50-B934-4BD9-4968D5DC7538}"/>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5919697-974A-12ED-E312-1670330BE092}"/>
              </a:ext>
            </a:extLst>
          </p:cNvPr>
          <p:cNvSpPr>
            <a:spLocks noGrp="1"/>
          </p:cNvSpPr>
          <p:nvPr>
            <p:ph idx="1"/>
          </p:nvPr>
        </p:nvSpPr>
        <p:spPr>
          <a:xfrm>
            <a:off x="266330" y="1020932"/>
            <a:ext cx="8611340" cy="5837068"/>
          </a:xfrm>
        </p:spPr>
        <p:txBody>
          <a:bodyPr>
            <a:normAutofit fontScale="92500" lnSpcReduction="20000"/>
          </a:bodyPr>
          <a:lstStyle/>
          <a:p>
            <a:r>
              <a:rPr lang="en-US" b="1" dirty="0"/>
              <a:t>DDoS Attacks</a:t>
            </a:r>
          </a:p>
          <a:p>
            <a:r>
              <a:rPr lang="en-US" dirty="0"/>
              <a:t>In a DDoS attack, a tiny program is downloaded surreptitiously from the attacker’s computer to dozens, hundreds, or even thousands of computers all over the world. </a:t>
            </a:r>
          </a:p>
          <a:p>
            <a:r>
              <a:rPr lang="en-US" dirty="0"/>
              <a:t>The term botnet is used to describe a large group of such computers, which are controlled from one or more remote locations by hackers, without the knowledge or consent of their owners. </a:t>
            </a:r>
          </a:p>
          <a:p>
            <a:r>
              <a:rPr lang="en-US" dirty="0"/>
              <a:t>The collective processing capacity of some botnets exceeds that of the world’s most powerful supercomputers. </a:t>
            </a:r>
          </a:p>
          <a:p>
            <a:r>
              <a:rPr lang="en-US" dirty="0"/>
              <a:t>Based on a command by the attacker or at a preset time, the botnet computers (called zombies) go into action, each sending a simple request for access to the target site again and again—dozens of times per second. </a:t>
            </a:r>
          </a:p>
          <a:p>
            <a:r>
              <a:rPr lang="en-US" dirty="0"/>
              <a:t>The target computers become so overwhelmed by requests for service that legitimate users are unable to get through to the target computer.</a:t>
            </a:r>
            <a:endParaRPr lang="en-IN" dirty="0"/>
          </a:p>
        </p:txBody>
      </p:sp>
    </p:spTree>
    <p:extLst>
      <p:ext uri="{BB962C8B-B14F-4D97-AF65-F5344CB8AC3E}">
        <p14:creationId xmlns:p14="http://schemas.microsoft.com/office/powerpoint/2010/main" val="827591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6B0B4-BF76-B1F4-5372-B4F743A33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88BDD-B09D-DDC7-1A48-9F4A2F909A67}"/>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8EBFCB49-180E-8DD2-235D-10F91506C183}"/>
              </a:ext>
            </a:extLst>
          </p:cNvPr>
          <p:cNvSpPr>
            <a:spLocks noGrp="1"/>
          </p:cNvSpPr>
          <p:nvPr>
            <p:ph idx="1"/>
          </p:nvPr>
        </p:nvSpPr>
        <p:spPr>
          <a:xfrm>
            <a:off x="266330" y="1020932"/>
            <a:ext cx="8611340" cy="5837068"/>
          </a:xfrm>
        </p:spPr>
        <p:txBody>
          <a:bodyPr>
            <a:normAutofit fontScale="77500" lnSpcReduction="20000"/>
          </a:bodyPr>
          <a:lstStyle/>
          <a:p>
            <a:r>
              <a:rPr lang="en-US" b="1" dirty="0"/>
              <a:t>Rootkit</a:t>
            </a:r>
          </a:p>
          <a:p>
            <a:r>
              <a:rPr lang="en-US" dirty="0"/>
              <a:t>A rootkit is a set of programs that enables its user to gain administrator-level access to a computer without the end user’s consent or knowledge. </a:t>
            </a:r>
          </a:p>
          <a:p>
            <a:r>
              <a:rPr lang="en-US" dirty="0"/>
              <a:t>Once installed, the attacker can gain full control of the system and even obscure the presence of the rootkit from legitimate system administrators. </a:t>
            </a:r>
          </a:p>
          <a:p>
            <a:r>
              <a:rPr lang="en-US" dirty="0"/>
              <a:t>Attackers can use the rootkit to execute files, access logs, monitor user activity, and change the computer’s configuration. </a:t>
            </a:r>
          </a:p>
          <a:p>
            <a:r>
              <a:rPr lang="en-US" dirty="0"/>
              <a:t>Rootkits are one part of a type of blended threat that consists of a dropper, a loader, and a rootkit. </a:t>
            </a:r>
          </a:p>
          <a:p>
            <a:r>
              <a:rPr lang="en-US" dirty="0"/>
              <a:t>The dropper code gets the rootkit installation started and can be activated by clicking on a link to a malicious website in an email or opening an infected PDF file. </a:t>
            </a:r>
          </a:p>
          <a:p>
            <a:r>
              <a:rPr lang="en-US" dirty="0"/>
              <a:t>The dropper launches the loader program and then deletes itself. </a:t>
            </a:r>
          </a:p>
          <a:p>
            <a:r>
              <a:rPr lang="en-US" dirty="0"/>
              <a:t>The loader loads the rootkit into memory; at that point, the computer has been compromised. </a:t>
            </a:r>
          </a:p>
          <a:p>
            <a:r>
              <a:rPr lang="en-US" dirty="0"/>
              <a:t>Rootkits are designed so cleverly that it is difficult even to discover if they are installed on a computer.</a:t>
            </a:r>
            <a:endParaRPr lang="en-IN" dirty="0"/>
          </a:p>
        </p:txBody>
      </p:sp>
    </p:spTree>
    <p:extLst>
      <p:ext uri="{BB962C8B-B14F-4D97-AF65-F5344CB8AC3E}">
        <p14:creationId xmlns:p14="http://schemas.microsoft.com/office/powerpoint/2010/main" val="3384867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8DFE-8E31-F271-63E0-E41707603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8AA51-B977-4D28-3412-AB8A90C334EC}"/>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6A62766D-A2E2-7B07-6EF6-D9F3B49FC807}"/>
              </a:ext>
            </a:extLst>
          </p:cNvPr>
          <p:cNvSpPr>
            <a:spLocks noGrp="1"/>
          </p:cNvSpPr>
          <p:nvPr>
            <p:ph idx="1"/>
          </p:nvPr>
        </p:nvSpPr>
        <p:spPr>
          <a:xfrm>
            <a:off x="266330" y="1020932"/>
            <a:ext cx="8611340" cy="5837068"/>
          </a:xfrm>
        </p:spPr>
        <p:txBody>
          <a:bodyPr>
            <a:normAutofit fontScale="92500"/>
          </a:bodyPr>
          <a:lstStyle/>
          <a:p>
            <a:r>
              <a:rPr lang="en-US" b="1" dirty="0"/>
              <a:t>Rootkit</a:t>
            </a:r>
          </a:p>
          <a:p>
            <a:r>
              <a:rPr lang="en-US" dirty="0"/>
              <a:t>The fundamental problem with trying to detect a rootkit is that the operating system cannot be trusted to provide valid test results. </a:t>
            </a:r>
          </a:p>
          <a:p>
            <a:r>
              <a:rPr lang="en-US" dirty="0"/>
              <a:t>The following are some symptoms of rootkit infections:</a:t>
            </a:r>
          </a:p>
          <a:p>
            <a:pPr lvl="1"/>
            <a:r>
              <a:rPr lang="en-US" dirty="0"/>
              <a:t>The computer locks up or fails to respond to input from the keyboard or mouse.</a:t>
            </a:r>
          </a:p>
          <a:p>
            <a:pPr lvl="1"/>
            <a:r>
              <a:rPr lang="en-US" dirty="0"/>
              <a:t>The screen saver changes without any action on the part of the user.</a:t>
            </a:r>
          </a:p>
          <a:p>
            <a:pPr lvl="1"/>
            <a:r>
              <a:rPr lang="en-US" dirty="0"/>
              <a:t>The taskbar disappears.</a:t>
            </a:r>
          </a:p>
          <a:p>
            <a:pPr lvl="1"/>
            <a:r>
              <a:rPr lang="en-US" dirty="0"/>
              <a:t>Network activities function extremely slowly.</a:t>
            </a:r>
          </a:p>
          <a:p>
            <a:r>
              <a:rPr lang="en-US" dirty="0"/>
              <a:t>When it is determined that a computer has been infected with a rootkit, there is little to do but reformat the disk; reinstall the operating system and all applications; and reconfigure the user’s settings, such as mapped drives.</a:t>
            </a:r>
            <a:endParaRPr lang="en-IN" dirty="0"/>
          </a:p>
        </p:txBody>
      </p:sp>
    </p:spTree>
    <p:extLst>
      <p:ext uri="{BB962C8B-B14F-4D97-AF65-F5344CB8AC3E}">
        <p14:creationId xmlns:p14="http://schemas.microsoft.com/office/powerpoint/2010/main" val="133031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EB4B-0FB2-95BD-8EF1-685AD3C2E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280EB-5C6C-058B-9B7C-D69A72AFC4E6}"/>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0D9F3C4F-5750-7D37-653A-2851BAB4524A}"/>
              </a:ext>
            </a:extLst>
          </p:cNvPr>
          <p:cNvSpPr>
            <a:spLocks noGrp="1"/>
          </p:cNvSpPr>
          <p:nvPr>
            <p:ph idx="1"/>
          </p:nvPr>
        </p:nvSpPr>
        <p:spPr>
          <a:xfrm>
            <a:off x="266330" y="1020932"/>
            <a:ext cx="8611340" cy="5837068"/>
          </a:xfrm>
        </p:spPr>
        <p:txBody>
          <a:bodyPr>
            <a:normAutofit/>
          </a:bodyPr>
          <a:lstStyle/>
          <a:p>
            <a:r>
              <a:rPr lang="en-US" b="1" dirty="0"/>
              <a:t>Advanced Persistent Threat</a:t>
            </a:r>
          </a:p>
          <a:p>
            <a:r>
              <a:rPr lang="en-US" dirty="0"/>
              <a:t>An advanced persistent threat (APT) is a network attack in which an intruder gains access to a network and stays there—undetected—with the intention of stealing data over a long period of time (weeks or even months). </a:t>
            </a:r>
          </a:p>
          <a:p>
            <a:r>
              <a:rPr lang="en-US" dirty="0"/>
              <a:t>Attackers in an APT must continuously rewrite code and employ sophisticated evasion techniques to avoid discovery. </a:t>
            </a:r>
          </a:p>
          <a:p>
            <a:r>
              <a:rPr lang="en-US" dirty="0"/>
              <a:t>APT attacks target organizations with high-value information, such as banks and financial institutions, government agencies, and insurance companies with the goal of stealing data rather than disrupting services.</a:t>
            </a:r>
            <a:endParaRPr lang="en-IN" dirty="0"/>
          </a:p>
        </p:txBody>
      </p:sp>
    </p:spTree>
    <p:extLst>
      <p:ext uri="{BB962C8B-B14F-4D97-AF65-F5344CB8AC3E}">
        <p14:creationId xmlns:p14="http://schemas.microsoft.com/office/powerpoint/2010/main" val="1968902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C9E6A-E747-9C16-C603-E627D47BA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ECA68-B126-8209-39F7-F8E7C45B690E}"/>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1C61F068-0DA2-E06E-4DDD-7583F28DFD2D}"/>
              </a:ext>
            </a:extLst>
          </p:cNvPr>
          <p:cNvSpPr>
            <a:spLocks noGrp="1"/>
          </p:cNvSpPr>
          <p:nvPr>
            <p:ph idx="1"/>
          </p:nvPr>
        </p:nvSpPr>
        <p:spPr>
          <a:xfrm>
            <a:off x="266330" y="1020932"/>
            <a:ext cx="8611340" cy="5837068"/>
          </a:xfrm>
        </p:spPr>
        <p:txBody>
          <a:bodyPr>
            <a:normAutofit/>
          </a:bodyPr>
          <a:lstStyle/>
          <a:p>
            <a:r>
              <a:rPr lang="en-US" b="1" dirty="0"/>
              <a:t>Phishing</a:t>
            </a:r>
          </a:p>
          <a:p>
            <a:r>
              <a:rPr lang="en-US" dirty="0"/>
              <a:t>Phishing is the act of fraudulently using email to try to get the recipient to reveal personal data. </a:t>
            </a:r>
          </a:p>
          <a:p>
            <a:r>
              <a:rPr lang="en-US" dirty="0"/>
              <a:t>In a phishing scam, con artists send legitimate-looking emails urging the recipient to take action to avoid a negative consequence or to receive a reward. </a:t>
            </a:r>
          </a:p>
          <a:p>
            <a:r>
              <a:rPr lang="en-US" dirty="0"/>
              <a:t>The requested action may involve clicking on a link to a website or opening an email attachment.</a:t>
            </a:r>
          </a:p>
          <a:p>
            <a:r>
              <a:rPr lang="en-US" dirty="0"/>
              <a:t>These emails, lead consumers to counterfeit websites designed to trick them into divulging personal data or to download malware onto their computers.</a:t>
            </a:r>
            <a:endParaRPr lang="en-IN" dirty="0"/>
          </a:p>
        </p:txBody>
      </p:sp>
    </p:spTree>
    <p:extLst>
      <p:ext uri="{BB962C8B-B14F-4D97-AF65-F5344CB8AC3E}">
        <p14:creationId xmlns:p14="http://schemas.microsoft.com/office/powerpoint/2010/main" val="3915920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62BDF-6B08-0A26-B5D3-FC59231FB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4DC1C-7590-8057-137D-BB29F83B09FC}"/>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E576783C-43F0-AE02-1FF4-26FE41E86605}"/>
              </a:ext>
            </a:extLst>
          </p:cNvPr>
          <p:cNvSpPr>
            <a:spLocks noGrp="1"/>
          </p:cNvSpPr>
          <p:nvPr>
            <p:ph idx="1"/>
          </p:nvPr>
        </p:nvSpPr>
        <p:spPr>
          <a:xfrm>
            <a:off x="266330" y="1020932"/>
            <a:ext cx="8611340" cy="5837068"/>
          </a:xfrm>
        </p:spPr>
        <p:txBody>
          <a:bodyPr>
            <a:normAutofit/>
          </a:bodyPr>
          <a:lstStyle/>
          <a:p>
            <a:r>
              <a:rPr lang="en-US" b="1" dirty="0"/>
              <a:t>Phishing</a:t>
            </a:r>
          </a:p>
          <a:p>
            <a:r>
              <a:rPr lang="en-US" dirty="0"/>
              <a:t>Spear phishing is a variation of phishing in which the phisher sends fraudulent emails to a certain organization’s employees. </a:t>
            </a:r>
          </a:p>
          <a:p>
            <a:r>
              <a:rPr lang="en-US" dirty="0"/>
              <a:t>It is known as spear phishing because the attack is much more precise and narrow, like the tip of a spear. </a:t>
            </a:r>
          </a:p>
          <a:p>
            <a:r>
              <a:rPr lang="en-US" dirty="0"/>
              <a:t>The phony emails are designed to look like they came from high-level executives within the organization. </a:t>
            </a:r>
          </a:p>
          <a:p>
            <a:r>
              <a:rPr lang="en-US" dirty="0"/>
              <a:t>Employees are directed to a fake website and then asked to enter personal information, such as name, Social Security number, and network passwords. </a:t>
            </a:r>
          </a:p>
          <a:p>
            <a:r>
              <a:rPr lang="en-US" dirty="0"/>
              <a:t>Botnets have become the primary means for distributing phishing scams.</a:t>
            </a:r>
            <a:endParaRPr lang="en-IN" dirty="0"/>
          </a:p>
        </p:txBody>
      </p:sp>
    </p:spTree>
    <p:extLst>
      <p:ext uri="{BB962C8B-B14F-4D97-AF65-F5344CB8AC3E}">
        <p14:creationId xmlns:p14="http://schemas.microsoft.com/office/powerpoint/2010/main" val="2620452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7A5B-ACFD-BEBA-64EC-48394C3CB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D95C8-AEC6-81E8-B05D-C05A6C5FEE40}"/>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AD6C10A8-DD53-9919-1BED-C147BC8037BC}"/>
              </a:ext>
            </a:extLst>
          </p:cNvPr>
          <p:cNvSpPr>
            <a:spLocks noGrp="1"/>
          </p:cNvSpPr>
          <p:nvPr>
            <p:ph idx="1"/>
          </p:nvPr>
        </p:nvSpPr>
        <p:spPr>
          <a:xfrm>
            <a:off x="266330" y="1020932"/>
            <a:ext cx="8611340" cy="5837068"/>
          </a:xfrm>
        </p:spPr>
        <p:txBody>
          <a:bodyPr>
            <a:normAutofit fontScale="92500" lnSpcReduction="20000"/>
          </a:bodyPr>
          <a:lstStyle/>
          <a:p>
            <a:r>
              <a:rPr lang="en-US" b="1" dirty="0"/>
              <a:t>Smishing and Vishing</a:t>
            </a:r>
          </a:p>
          <a:p>
            <a:r>
              <a:rPr lang="en-US" dirty="0"/>
              <a:t>Smishing is another variation of phishing that involves the use of texting. In a smishing scam, people receive a legitimate-looking text message telling them to call a specific phone number or log on to a website. </a:t>
            </a:r>
          </a:p>
          <a:p>
            <a:r>
              <a:rPr lang="en-US" dirty="0"/>
              <a:t>This is often done under the guise that there is a problem with the recipient’s bank account or credit card that requires immediate attention. </a:t>
            </a:r>
          </a:p>
          <a:p>
            <a:r>
              <a:rPr lang="en-US" dirty="0"/>
              <a:t>However, the phone number or website is phony and is used to trick unsuspecting victims into providing personal information such as a bank account number, personal identification number, or credit card number, which can then be used to steal money from victims’ bank accounts, charge purchases on their credit cards, or open new accounts. </a:t>
            </a:r>
          </a:p>
          <a:p>
            <a:r>
              <a:rPr lang="en-US" dirty="0"/>
              <a:t>In some cases, if victims log on to a website, malicious software is downloaded onto their smartphones, providing criminals with access to information stored on the phones.</a:t>
            </a:r>
            <a:endParaRPr lang="en-IN" dirty="0"/>
          </a:p>
        </p:txBody>
      </p:sp>
    </p:spTree>
    <p:extLst>
      <p:ext uri="{BB962C8B-B14F-4D97-AF65-F5344CB8AC3E}">
        <p14:creationId xmlns:p14="http://schemas.microsoft.com/office/powerpoint/2010/main" val="3087949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9BDA-7155-DB36-0FC6-D65F1B747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0368B-F5FC-E057-82F7-55FA2B6B29EF}"/>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43640C5-89AE-39B5-BBA7-13C7CF0D62D3}"/>
              </a:ext>
            </a:extLst>
          </p:cNvPr>
          <p:cNvSpPr>
            <a:spLocks noGrp="1"/>
          </p:cNvSpPr>
          <p:nvPr>
            <p:ph idx="1"/>
          </p:nvPr>
        </p:nvSpPr>
        <p:spPr>
          <a:xfrm>
            <a:off x="266330" y="1020932"/>
            <a:ext cx="8611340" cy="5837068"/>
          </a:xfrm>
        </p:spPr>
        <p:txBody>
          <a:bodyPr>
            <a:normAutofit/>
          </a:bodyPr>
          <a:lstStyle/>
          <a:p>
            <a:r>
              <a:rPr lang="en-US" b="1" dirty="0"/>
              <a:t>Smishing and Vishing</a:t>
            </a:r>
          </a:p>
          <a:p>
            <a:r>
              <a:rPr lang="en-US" dirty="0"/>
              <a:t>Vishing is similar to smishing except that the victims receive a voice-mail message telling them to call a phone number or access a website. </a:t>
            </a:r>
          </a:p>
          <a:p>
            <a:r>
              <a:rPr lang="en-US" dirty="0"/>
              <a:t>One recent vishing campaign captured the payment card information of an estimated 250 Americans per day. </a:t>
            </a:r>
          </a:p>
          <a:p>
            <a:r>
              <a:rPr lang="en-US" dirty="0"/>
              <a:t>In the attack, users were sent a message that their ATM card had been deactivated. </a:t>
            </a:r>
          </a:p>
          <a:p>
            <a:r>
              <a:rPr lang="en-US" dirty="0"/>
              <a:t>The users were prompted to call a phone number to reactivate the card by entering their card number and their personal identification number (PIN)—data that were recorded and then used by the criminals to withdraw money from the accounts.</a:t>
            </a:r>
            <a:endParaRPr lang="en-IN" dirty="0"/>
          </a:p>
        </p:txBody>
      </p:sp>
    </p:spTree>
    <p:extLst>
      <p:ext uri="{BB962C8B-B14F-4D97-AF65-F5344CB8AC3E}">
        <p14:creationId xmlns:p14="http://schemas.microsoft.com/office/powerpoint/2010/main" val="1610389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AFDF-C8F6-67A6-AFAB-2E0ED205B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6F7D2-A93E-15C2-2F87-C7493A21DE7C}"/>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2395B19D-71BC-4110-4C68-2EBA3774DAFA}"/>
              </a:ext>
            </a:extLst>
          </p:cNvPr>
          <p:cNvSpPr>
            <a:spLocks noGrp="1"/>
          </p:cNvSpPr>
          <p:nvPr>
            <p:ph idx="1"/>
          </p:nvPr>
        </p:nvSpPr>
        <p:spPr>
          <a:xfrm>
            <a:off x="266330" y="1020932"/>
            <a:ext cx="8611340" cy="5837068"/>
          </a:xfrm>
        </p:spPr>
        <p:txBody>
          <a:bodyPr>
            <a:normAutofit fontScale="92500" lnSpcReduction="20000"/>
          </a:bodyPr>
          <a:lstStyle/>
          <a:p>
            <a:r>
              <a:rPr lang="en-US" b="1" dirty="0"/>
              <a:t>Cyberespionage</a:t>
            </a:r>
          </a:p>
          <a:p>
            <a:r>
              <a:rPr lang="en-US" dirty="0"/>
              <a:t>Cyberespionage involves the deployment of malware that secretly steals data in the computer systems of organizations, such as government agencies, military contractors, political organizations, and manufacturing firms. </a:t>
            </a:r>
          </a:p>
          <a:p>
            <a:r>
              <a:rPr lang="en-US" dirty="0"/>
              <a:t>The type of data most frequently targeted includes data that can provide an unfair competitive advantage to the perpetrator. </a:t>
            </a:r>
          </a:p>
          <a:p>
            <a:r>
              <a:rPr lang="en-US" dirty="0"/>
              <a:t>These data are typically not public knowledge and may even be protected via patent, copyright, or trade secret. </a:t>
            </a:r>
          </a:p>
          <a:p>
            <a:r>
              <a:rPr lang="en-US" dirty="0"/>
              <a:t>High-value data include the following:</a:t>
            </a:r>
          </a:p>
          <a:p>
            <a:pPr lvl="1"/>
            <a:r>
              <a:rPr lang="en-US" dirty="0"/>
              <a:t>Sales, marketing, and new product development plans, schedules, and budgets</a:t>
            </a:r>
          </a:p>
          <a:p>
            <a:pPr lvl="1"/>
            <a:r>
              <a:rPr lang="en-US" dirty="0"/>
              <a:t>Details about product designs and innovative processes</a:t>
            </a:r>
          </a:p>
          <a:p>
            <a:pPr lvl="1"/>
            <a:r>
              <a:rPr lang="en-US" dirty="0"/>
              <a:t>Employee personal information</a:t>
            </a:r>
          </a:p>
          <a:p>
            <a:pPr lvl="1"/>
            <a:r>
              <a:rPr lang="en-US" dirty="0"/>
              <a:t>Customer and client data</a:t>
            </a:r>
          </a:p>
          <a:p>
            <a:pPr lvl="1"/>
            <a:r>
              <a:rPr lang="en-US" dirty="0"/>
              <a:t>Sensitive information about partners and partner agreements</a:t>
            </a:r>
            <a:endParaRPr lang="en-IN" dirty="0"/>
          </a:p>
        </p:txBody>
      </p:sp>
    </p:spTree>
    <p:extLst>
      <p:ext uri="{BB962C8B-B14F-4D97-AF65-F5344CB8AC3E}">
        <p14:creationId xmlns:p14="http://schemas.microsoft.com/office/powerpoint/2010/main" val="2155597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E1D83-0BFD-A5E7-07C8-ACD7E5A50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2B094-FFA3-18B7-ED1C-0B490241CF14}"/>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151B37E3-DFD3-7BF2-4449-4AA799FCE4B6}"/>
              </a:ext>
            </a:extLst>
          </p:cNvPr>
          <p:cNvSpPr>
            <a:spLocks noGrp="1"/>
          </p:cNvSpPr>
          <p:nvPr>
            <p:ph idx="1"/>
          </p:nvPr>
        </p:nvSpPr>
        <p:spPr>
          <a:xfrm>
            <a:off x="266330" y="1020932"/>
            <a:ext cx="8611340" cy="5837068"/>
          </a:xfrm>
        </p:spPr>
        <p:txBody>
          <a:bodyPr>
            <a:normAutofit/>
          </a:bodyPr>
          <a:lstStyle/>
          <a:p>
            <a:r>
              <a:rPr lang="en-US" b="1" dirty="0"/>
              <a:t>Cyberterrorism</a:t>
            </a:r>
          </a:p>
          <a:p>
            <a:r>
              <a:rPr lang="en-US" dirty="0"/>
              <a:t>Cyberterrorism is the intimidation of government or civilian population by using information technology to disable critical national infrastructure (for example, energy, transportation, financial, law enforcement, and emergency response) to achieve political, religious, or ideological goals. </a:t>
            </a:r>
          </a:p>
          <a:p>
            <a:r>
              <a:rPr lang="en-US" dirty="0"/>
              <a:t>It is an increasing concern for countries and organizations around the globe. </a:t>
            </a:r>
          </a:p>
          <a:p>
            <a:r>
              <a:rPr lang="en-US" dirty="0"/>
              <a:t>Indeed, in a statement released by the White House in early 2015, President Obama said, “Cyber threats pose one of the gravest national security dangers that the United States faces.”</a:t>
            </a:r>
            <a:endParaRPr lang="en-IN" dirty="0"/>
          </a:p>
        </p:txBody>
      </p:sp>
    </p:spTree>
    <p:extLst>
      <p:ext uri="{BB962C8B-B14F-4D97-AF65-F5344CB8AC3E}">
        <p14:creationId xmlns:p14="http://schemas.microsoft.com/office/powerpoint/2010/main" val="1198206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6D70-CC83-0F87-6C46-DB700434A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DA7A7-01A8-F358-EB91-6A330FC0EEB6}"/>
              </a:ext>
            </a:extLst>
          </p:cNvPr>
          <p:cNvSpPr>
            <a:spLocks noGrp="1"/>
          </p:cNvSpPr>
          <p:nvPr>
            <p:ph type="title"/>
          </p:nvPr>
        </p:nvSpPr>
        <p:spPr/>
        <p:txBody>
          <a:bodyPr/>
          <a:lstStyle/>
          <a:p>
            <a:r>
              <a:rPr lang="en-IN" dirty="0"/>
              <a:t>Types of Exploits</a:t>
            </a:r>
          </a:p>
        </p:txBody>
      </p:sp>
      <p:sp>
        <p:nvSpPr>
          <p:cNvPr id="3" name="Content Placeholder 2">
            <a:extLst>
              <a:ext uri="{FF2B5EF4-FFF2-40B4-BE49-F238E27FC236}">
                <a16:creationId xmlns:a16="http://schemas.microsoft.com/office/drawing/2014/main" id="{DBBC8C4B-180E-B1E9-1942-314FE77C6A0E}"/>
              </a:ext>
            </a:extLst>
          </p:cNvPr>
          <p:cNvSpPr>
            <a:spLocks noGrp="1"/>
          </p:cNvSpPr>
          <p:nvPr>
            <p:ph idx="1"/>
          </p:nvPr>
        </p:nvSpPr>
        <p:spPr>
          <a:xfrm>
            <a:off x="266330" y="1020932"/>
            <a:ext cx="8611340" cy="5837068"/>
          </a:xfrm>
        </p:spPr>
        <p:txBody>
          <a:bodyPr>
            <a:normAutofit fontScale="92500"/>
          </a:bodyPr>
          <a:lstStyle/>
          <a:p>
            <a:r>
              <a:rPr lang="en-US" b="1" dirty="0"/>
              <a:t>Cyberterrorism</a:t>
            </a:r>
          </a:p>
          <a:p>
            <a:r>
              <a:rPr lang="en-US" dirty="0"/>
              <a:t>Cyberterrorists try on a daily basis to gain unauthorized access to a number of important and sensitive sites, such as the computers at the British, French, Israeli, and U.S. foreign intelligence agencies; North American Aerospace Defense Command (NORAD); and numerous government ministries and private companies around the world.</a:t>
            </a:r>
          </a:p>
          <a:p>
            <a:r>
              <a:rPr lang="en-US" dirty="0"/>
              <a:t>In late 2015, cyberterrorists attacked the two electric utility companies in western Ukraine, causing a three-hour power outage affecting some 80,000 customers. </a:t>
            </a:r>
          </a:p>
          <a:p>
            <a:r>
              <a:rPr lang="en-US" dirty="0"/>
              <a:t>Not only did the hackers cut the power, they also froze the data displayed on the screens of plant operators so they could not view the changing plant conditions; thus, fooling the operators into believing power was still flowing.</a:t>
            </a:r>
            <a:endParaRPr lang="en-IN" dirty="0"/>
          </a:p>
        </p:txBody>
      </p:sp>
    </p:spTree>
    <p:extLst>
      <p:ext uri="{BB962C8B-B14F-4D97-AF65-F5344CB8AC3E}">
        <p14:creationId xmlns:p14="http://schemas.microsoft.com/office/powerpoint/2010/main" val="341748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8D474-1E10-F368-32A5-7F37CDBEDBA1}"/>
              </a:ext>
            </a:extLst>
          </p:cNvPr>
          <p:cNvSpPr>
            <a:spLocks noGrp="1"/>
          </p:cNvSpPr>
          <p:nvPr>
            <p:ph type="title"/>
          </p:nvPr>
        </p:nvSpPr>
        <p:spPr/>
        <p:txBody>
          <a:bodyPr/>
          <a:lstStyle/>
          <a:p>
            <a:r>
              <a:rPr lang="en-IN" dirty="0"/>
              <a:t>Federal Laws</a:t>
            </a:r>
          </a:p>
        </p:txBody>
      </p:sp>
      <p:sp>
        <p:nvSpPr>
          <p:cNvPr id="3" name="Content Placeholder 2">
            <a:extLst>
              <a:ext uri="{FF2B5EF4-FFF2-40B4-BE49-F238E27FC236}">
                <a16:creationId xmlns:a16="http://schemas.microsoft.com/office/drawing/2014/main" id="{7AD20489-E428-DB90-95EE-BB8E9EBEEBFA}"/>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AB2A9D9-1093-1B4C-76D6-004553D027E8}"/>
              </a:ext>
            </a:extLst>
          </p:cNvPr>
          <p:cNvPicPr>
            <a:picLocks noChangeAspect="1"/>
          </p:cNvPicPr>
          <p:nvPr/>
        </p:nvPicPr>
        <p:blipFill>
          <a:blip r:embed="rId2"/>
          <a:stretch>
            <a:fillRect/>
          </a:stretch>
        </p:blipFill>
        <p:spPr>
          <a:xfrm>
            <a:off x="0" y="1135443"/>
            <a:ext cx="9144000" cy="5221866"/>
          </a:xfrm>
          <a:prstGeom prst="rect">
            <a:avLst/>
          </a:prstGeom>
        </p:spPr>
      </p:pic>
    </p:spTree>
    <p:extLst>
      <p:ext uri="{BB962C8B-B14F-4D97-AF65-F5344CB8AC3E}">
        <p14:creationId xmlns:p14="http://schemas.microsoft.com/office/powerpoint/2010/main" val="2783036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9743-2724-8F16-5400-0C27A5A28C8F}"/>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82C70363-ED4E-7EA4-08AF-007E9BD3E767}"/>
              </a:ext>
            </a:extLst>
          </p:cNvPr>
          <p:cNvSpPr>
            <a:spLocks noGrp="1"/>
          </p:cNvSpPr>
          <p:nvPr>
            <p:ph idx="1"/>
          </p:nvPr>
        </p:nvSpPr>
        <p:spPr/>
        <p:txBody>
          <a:bodyPr>
            <a:normAutofit fontScale="92500" lnSpcReduction="10000"/>
          </a:bodyPr>
          <a:lstStyle/>
          <a:p>
            <a:r>
              <a:rPr lang="en-US" dirty="0"/>
              <a:t>An organization should be prepared for the worst—a successful attack that defeats all or some of a system’s defenses and damages data and information systems. </a:t>
            </a:r>
          </a:p>
          <a:p>
            <a:r>
              <a:rPr lang="en-US" dirty="0"/>
              <a:t>A response plan should be developed well in advance of any incident and be approved by both the organization’s legal department and senior management. </a:t>
            </a:r>
          </a:p>
          <a:p>
            <a:r>
              <a:rPr lang="en-US" dirty="0"/>
              <a:t>A well-developed response plan helps keep an incident under technical and emotional control.</a:t>
            </a:r>
          </a:p>
          <a:p>
            <a:r>
              <a:rPr lang="en-US" dirty="0"/>
              <a:t>In a security incident, the primary goal must be to regain control and limit damage, not to attempt to monitor or catch an intruder. </a:t>
            </a:r>
          </a:p>
          <a:p>
            <a:r>
              <a:rPr lang="en-US" dirty="0"/>
              <a:t>Sometimes system administrators take the discovery of an intruder as a personal challenge and lose valuable time that should be used to restore data and information systems to normal.</a:t>
            </a:r>
            <a:endParaRPr lang="en-IN" dirty="0"/>
          </a:p>
        </p:txBody>
      </p:sp>
    </p:spTree>
    <p:extLst>
      <p:ext uri="{BB962C8B-B14F-4D97-AF65-F5344CB8AC3E}">
        <p14:creationId xmlns:p14="http://schemas.microsoft.com/office/powerpoint/2010/main" val="3471014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8C733-109D-6D52-CBDB-81B674F9F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ED00B-C89F-9228-25E5-43BBF5382D70}"/>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38A66155-DC6B-6899-1D1F-EDB9B6517310}"/>
              </a:ext>
            </a:extLst>
          </p:cNvPr>
          <p:cNvSpPr>
            <a:spLocks noGrp="1"/>
          </p:cNvSpPr>
          <p:nvPr>
            <p:ph idx="1"/>
          </p:nvPr>
        </p:nvSpPr>
        <p:spPr>
          <a:xfrm>
            <a:off x="266330" y="1020932"/>
            <a:ext cx="8611340" cy="5837068"/>
          </a:xfrm>
        </p:spPr>
        <p:txBody>
          <a:bodyPr>
            <a:normAutofit/>
          </a:bodyPr>
          <a:lstStyle/>
          <a:p>
            <a:r>
              <a:rPr lang="en-US" b="1" dirty="0"/>
              <a:t>Incident Notification</a:t>
            </a:r>
          </a:p>
          <a:p>
            <a:r>
              <a:rPr lang="en-US" dirty="0"/>
              <a:t>A key element of any response plan is to define who to notify and who not to notify in the event of a computer security incident. </a:t>
            </a:r>
          </a:p>
          <a:p>
            <a:r>
              <a:rPr lang="en-US" dirty="0"/>
              <a:t>Questions to cover include the following: </a:t>
            </a:r>
          </a:p>
          <a:p>
            <a:r>
              <a:rPr lang="en-US" dirty="0"/>
              <a:t>Within the company, who needs to be notified, and what information does each person need to have?</a:t>
            </a:r>
          </a:p>
          <a:p>
            <a:r>
              <a:rPr lang="en-US" dirty="0"/>
              <a:t>Under what conditions should the company contact major customers and suppliers? </a:t>
            </a:r>
          </a:p>
          <a:p>
            <a:r>
              <a:rPr lang="en-US" dirty="0"/>
              <a:t>How does the company inform them of a disruption in business without unnecessarily alarming them? </a:t>
            </a:r>
          </a:p>
          <a:p>
            <a:r>
              <a:rPr lang="en-US" dirty="0"/>
              <a:t>When should local authorities or the FBI be contacted?</a:t>
            </a:r>
            <a:endParaRPr lang="en-IN" dirty="0"/>
          </a:p>
        </p:txBody>
      </p:sp>
    </p:spTree>
    <p:extLst>
      <p:ext uri="{BB962C8B-B14F-4D97-AF65-F5344CB8AC3E}">
        <p14:creationId xmlns:p14="http://schemas.microsoft.com/office/powerpoint/2010/main" val="3096643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66845-D5A1-10ED-606E-97EBA2356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9F5C-AFBA-0993-1B98-91F3B550ABE3}"/>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788FEC94-B5BF-C971-8D3C-58DBEBFFA2C7}"/>
              </a:ext>
            </a:extLst>
          </p:cNvPr>
          <p:cNvSpPr>
            <a:spLocks noGrp="1"/>
          </p:cNvSpPr>
          <p:nvPr>
            <p:ph idx="1"/>
          </p:nvPr>
        </p:nvSpPr>
        <p:spPr>
          <a:xfrm>
            <a:off x="266330" y="1020932"/>
            <a:ext cx="8611340" cy="5837068"/>
          </a:xfrm>
        </p:spPr>
        <p:txBody>
          <a:bodyPr>
            <a:normAutofit lnSpcReduction="10000"/>
          </a:bodyPr>
          <a:lstStyle/>
          <a:p>
            <a:r>
              <a:rPr lang="en-US" b="1" dirty="0"/>
              <a:t>Protection of Evidence and Activity Logs</a:t>
            </a:r>
          </a:p>
          <a:p>
            <a:r>
              <a:rPr lang="en-US" dirty="0"/>
              <a:t>An organization should document all details of a security incident as it works to resolve the incident. </a:t>
            </a:r>
          </a:p>
          <a:p>
            <a:r>
              <a:rPr lang="en-US" dirty="0"/>
              <a:t>Documentation captures valuable evidence for a future prosecution and provides data to help during the incident eradication and follow-up phases. </a:t>
            </a:r>
          </a:p>
          <a:p>
            <a:r>
              <a:rPr lang="en-US" dirty="0"/>
              <a:t>It is especially important to capture all system events, the specific actions taken (what, when, and who), and all external conversations (what, when, and who) in a logbook. </a:t>
            </a:r>
          </a:p>
          <a:p>
            <a:r>
              <a:rPr lang="en-US" dirty="0"/>
              <a:t>Because this may become court evidence, an organization should establish a set of document-handling procedures using the legal department as a resource.</a:t>
            </a:r>
            <a:endParaRPr lang="en-IN" dirty="0"/>
          </a:p>
        </p:txBody>
      </p:sp>
    </p:spTree>
    <p:extLst>
      <p:ext uri="{BB962C8B-B14F-4D97-AF65-F5344CB8AC3E}">
        <p14:creationId xmlns:p14="http://schemas.microsoft.com/office/powerpoint/2010/main" val="3694363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07346-8B67-0E05-53AB-EFC911DD2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0F879-9D6F-E9DA-2065-008F783567DC}"/>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9CE99A51-9D22-4D87-118F-FCBF4DB110DC}"/>
              </a:ext>
            </a:extLst>
          </p:cNvPr>
          <p:cNvSpPr>
            <a:spLocks noGrp="1"/>
          </p:cNvSpPr>
          <p:nvPr>
            <p:ph idx="1"/>
          </p:nvPr>
        </p:nvSpPr>
        <p:spPr>
          <a:xfrm>
            <a:off x="266330" y="1020932"/>
            <a:ext cx="8611340" cy="5837068"/>
          </a:xfrm>
        </p:spPr>
        <p:txBody>
          <a:bodyPr>
            <a:normAutofit/>
          </a:bodyPr>
          <a:lstStyle/>
          <a:p>
            <a:r>
              <a:rPr lang="en-US" b="1" dirty="0"/>
              <a:t>Incident Containment</a:t>
            </a:r>
          </a:p>
          <a:p>
            <a:r>
              <a:rPr lang="en-US" dirty="0"/>
              <a:t>Often, it is necessary to act quickly to contain an attack and to keep a bad situation from becoming even worse. </a:t>
            </a:r>
          </a:p>
          <a:p>
            <a:r>
              <a:rPr lang="en-US" dirty="0"/>
              <a:t>The incident response plan should clearly define the process for deciding if an attack is dangerous enough to warrant shutting down or disconnecting critical systems from the network. </a:t>
            </a:r>
          </a:p>
          <a:p>
            <a:r>
              <a:rPr lang="en-US" dirty="0"/>
              <a:t>How such decisions are made, how fast they are made, and who makes them are all elements of an effective response plan.</a:t>
            </a:r>
            <a:endParaRPr lang="en-IN" dirty="0"/>
          </a:p>
        </p:txBody>
      </p:sp>
    </p:spTree>
    <p:extLst>
      <p:ext uri="{BB962C8B-B14F-4D97-AF65-F5344CB8AC3E}">
        <p14:creationId xmlns:p14="http://schemas.microsoft.com/office/powerpoint/2010/main" val="36908482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10D5-1D0A-E35F-7BDC-232E3E82F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6B168-FD16-D74F-737F-F5954A178B13}"/>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4A3D14BD-F0F8-6CC2-3AD7-3AC39E4CE5CF}"/>
              </a:ext>
            </a:extLst>
          </p:cNvPr>
          <p:cNvSpPr>
            <a:spLocks noGrp="1"/>
          </p:cNvSpPr>
          <p:nvPr>
            <p:ph idx="1"/>
          </p:nvPr>
        </p:nvSpPr>
        <p:spPr>
          <a:xfrm>
            <a:off x="266330" y="1020932"/>
            <a:ext cx="8611340" cy="5837068"/>
          </a:xfrm>
        </p:spPr>
        <p:txBody>
          <a:bodyPr>
            <a:normAutofit lnSpcReduction="10000"/>
          </a:bodyPr>
          <a:lstStyle/>
          <a:p>
            <a:r>
              <a:rPr lang="en-US" b="1" dirty="0"/>
              <a:t>Eradication</a:t>
            </a:r>
          </a:p>
          <a:p>
            <a:r>
              <a:rPr lang="en-US" dirty="0"/>
              <a:t>Before the IT security group begins the eradication effort, it must collect and log all possible criminal evidence from the system and then verify that all necessary backups are current, complete, and free of any malware. </a:t>
            </a:r>
          </a:p>
          <a:p>
            <a:r>
              <a:rPr lang="en-US" dirty="0"/>
              <a:t>Creating a forensic disk image of each compromised system on write-only media both for later study and as evidence can be very useful. </a:t>
            </a:r>
          </a:p>
          <a:p>
            <a:r>
              <a:rPr lang="en-US" dirty="0"/>
              <a:t>After virus eradication, a new backup must be created. </a:t>
            </a:r>
          </a:p>
          <a:p>
            <a:r>
              <a:rPr lang="en-US" dirty="0"/>
              <a:t>Throughout this process, a log should be kept of all actions taken. </a:t>
            </a:r>
          </a:p>
          <a:p>
            <a:r>
              <a:rPr lang="en-US" dirty="0"/>
              <a:t>This will prove helpful during the incident follow-up phase and ensure that the problem does not recur.</a:t>
            </a:r>
            <a:endParaRPr lang="en-IN" dirty="0"/>
          </a:p>
        </p:txBody>
      </p:sp>
    </p:spTree>
    <p:extLst>
      <p:ext uri="{BB962C8B-B14F-4D97-AF65-F5344CB8AC3E}">
        <p14:creationId xmlns:p14="http://schemas.microsoft.com/office/powerpoint/2010/main" val="2426688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DF8A-677C-515D-B25B-33A9B6503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5F52F-880D-FF61-1435-DA652FF8B66C}"/>
              </a:ext>
            </a:extLst>
          </p:cNvPr>
          <p:cNvSpPr>
            <a:spLocks noGrp="1"/>
          </p:cNvSpPr>
          <p:nvPr>
            <p:ph type="title"/>
          </p:nvPr>
        </p:nvSpPr>
        <p:spPr/>
        <p:txBody>
          <a:bodyPr/>
          <a:lstStyle/>
          <a:p>
            <a:r>
              <a:rPr lang="pt-BR" dirty="0"/>
              <a:t>RESPONSE TO CYBERATTACK</a:t>
            </a:r>
            <a:endParaRPr lang="en-IN" dirty="0"/>
          </a:p>
        </p:txBody>
      </p:sp>
      <p:sp>
        <p:nvSpPr>
          <p:cNvPr id="3" name="Content Placeholder 2">
            <a:extLst>
              <a:ext uri="{FF2B5EF4-FFF2-40B4-BE49-F238E27FC236}">
                <a16:creationId xmlns:a16="http://schemas.microsoft.com/office/drawing/2014/main" id="{26D919B3-90E2-7AAD-E84E-4277054F184C}"/>
              </a:ext>
            </a:extLst>
          </p:cNvPr>
          <p:cNvSpPr>
            <a:spLocks noGrp="1"/>
          </p:cNvSpPr>
          <p:nvPr>
            <p:ph idx="1"/>
          </p:nvPr>
        </p:nvSpPr>
        <p:spPr>
          <a:xfrm>
            <a:off x="266330" y="1020932"/>
            <a:ext cx="8611340" cy="5837068"/>
          </a:xfrm>
        </p:spPr>
        <p:txBody>
          <a:bodyPr>
            <a:normAutofit lnSpcReduction="10000"/>
          </a:bodyPr>
          <a:lstStyle/>
          <a:p>
            <a:r>
              <a:rPr lang="en-US" b="1" dirty="0"/>
              <a:t>Incident Follow-Up</a:t>
            </a:r>
          </a:p>
          <a:p>
            <a:r>
              <a:rPr lang="en-US" dirty="0"/>
              <a:t>Of course, an essential part of follow-up is to determine how the organization’s security was compromised so that it does not happen again. </a:t>
            </a:r>
          </a:p>
          <a:p>
            <a:r>
              <a:rPr lang="en-US" dirty="0"/>
              <a:t>Often the fix is as simple as getting a software patch from a product vendor. </a:t>
            </a:r>
          </a:p>
          <a:p>
            <a:r>
              <a:rPr lang="en-US" dirty="0"/>
              <a:t>However, it is important to look deeper than the immediate fix to discover why the incident occurred. </a:t>
            </a:r>
          </a:p>
          <a:p>
            <a:r>
              <a:rPr lang="en-US" dirty="0"/>
              <a:t>If a simple software fix could have prevented the incident, then why wasn’t the fix installed before the incident occurred?</a:t>
            </a:r>
          </a:p>
          <a:p>
            <a:r>
              <a:rPr lang="en-US" dirty="0"/>
              <a:t>A review should be conducted after an incident to determine exactly what happened and to evaluate how the organization responded.</a:t>
            </a:r>
            <a:endParaRPr lang="en-IN" dirty="0"/>
          </a:p>
        </p:txBody>
      </p:sp>
    </p:spTree>
    <p:extLst>
      <p:ext uri="{BB962C8B-B14F-4D97-AF65-F5344CB8AC3E}">
        <p14:creationId xmlns:p14="http://schemas.microsoft.com/office/powerpoint/2010/main" val="5481729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F8F1-6D3E-0490-E236-C8413812EEB8}"/>
              </a:ext>
            </a:extLst>
          </p:cNvPr>
          <p:cNvSpPr>
            <a:spLocks noGrp="1"/>
          </p:cNvSpPr>
          <p:nvPr>
            <p:ph type="title"/>
          </p:nvPr>
        </p:nvSpPr>
        <p:spPr/>
        <p:txBody>
          <a:bodyPr/>
          <a:lstStyle/>
          <a:p>
            <a:r>
              <a:rPr lang="en-IN" dirty="0"/>
              <a:t>Using an MSSP</a:t>
            </a:r>
          </a:p>
        </p:txBody>
      </p:sp>
      <p:sp>
        <p:nvSpPr>
          <p:cNvPr id="3" name="Content Placeholder 2">
            <a:extLst>
              <a:ext uri="{FF2B5EF4-FFF2-40B4-BE49-F238E27FC236}">
                <a16:creationId xmlns:a16="http://schemas.microsoft.com/office/drawing/2014/main" id="{57D47FED-6F93-01F3-299C-8C433DDC8478}"/>
              </a:ext>
            </a:extLst>
          </p:cNvPr>
          <p:cNvSpPr>
            <a:spLocks noGrp="1"/>
          </p:cNvSpPr>
          <p:nvPr>
            <p:ph idx="1"/>
          </p:nvPr>
        </p:nvSpPr>
        <p:spPr>
          <a:xfrm>
            <a:off x="266330" y="1020932"/>
            <a:ext cx="8611340" cy="5700544"/>
          </a:xfrm>
        </p:spPr>
        <p:txBody>
          <a:bodyPr>
            <a:normAutofit fontScale="92500" lnSpcReduction="10000"/>
          </a:bodyPr>
          <a:lstStyle/>
          <a:p>
            <a:r>
              <a:rPr lang="en-US" dirty="0"/>
              <a:t>For most small and midsized organizations, the level of in-house network security expertise needed to protect their business operations is too costly to acquire and maintain. </a:t>
            </a:r>
          </a:p>
          <a:p>
            <a:r>
              <a:rPr lang="en-US" dirty="0"/>
              <a:t>As a result, many organizations outsource their network security operations to a </a:t>
            </a:r>
            <a:r>
              <a:rPr lang="en-US" b="1" dirty="0"/>
              <a:t>managed security service provider </a:t>
            </a:r>
            <a:r>
              <a:rPr lang="en-US" dirty="0"/>
              <a:t>(MSSP), which is a company that monitors, manages, and maintains computer and network security for other organizations. </a:t>
            </a:r>
          </a:p>
          <a:p>
            <a:r>
              <a:rPr lang="en-US" dirty="0"/>
              <a:t>MSSPs include such companies as AT&amp;T, Computer Sciences Corporation, Dell SecureWorks, IBM, Symantec, and Verizon. </a:t>
            </a:r>
          </a:p>
          <a:p>
            <a:r>
              <a:rPr lang="en-US" dirty="0"/>
              <a:t>MSSPs provide a valuable service for IT departments drowning in reams of alerts and false alarms coming from VPNs; antivirus, firewall, and IDSs; and other security-monitoring systems. </a:t>
            </a:r>
          </a:p>
          <a:p>
            <a:r>
              <a:rPr lang="en-US" dirty="0"/>
              <a:t>In addition, some MSSPs provide vulnerability scanning and web blocking and filtering capabilities.</a:t>
            </a:r>
            <a:endParaRPr lang="en-IN" dirty="0"/>
          </a:p>
        </p:txBody>
      </p:sp>
    </p:spTree>
    <p:extLst>
      <p:ext uri="{BB962C8B-B14F-4D97-AF65-F5344CB8AC3E}">
        <p14:creationId xmlns:p14="http://schemas.microsoft.com/office/powerpoint/2010/main" val="1138980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9172-3B29-037C-0868-178E25FB331F}"/>
              </a:ext>
            </a:extLst>
          </p:cNvPr>
          <p:cNvSpPr>
            <a:spLocks noGrp="1"/>
          </p:cNvSpPr>
          <p:nvPr>
            <p:ph type="title"/>
          </p:nvPr>
        </p:nvSpPr>
        <p:spPr/>
        <p:txBody>
          <a:bodyPr/>
          <a:lstStyle/>
          <a:p>
            <a:r>
              <a:rPr lang="en-IN" dirty="0"/>
              <a:t>Computer Forensics</a:t>
            </a:r>
          </a:p>
        </p:txBody>
      </p:sp>
      <p:sp>
        <p:nvSpPr>
          <p:cNvPr id="3" name="Content Placeholder 2">
            <a:extLst>
              <a:ext uri="{FF2B5EF4-FFF2-40B4-BE49-F238E27FC236}">
                <a16:creationId xmlns:a16="http://schemas.microsoft.com/office/drawing/2014/main" id="{E0031B55-E416-C03B-223A-526D19B1280F}"/>
              </a:ext>
            </a:extLst>
          </p:cNvPr>
          <p:cNvSpPr>
            <a:spLocks noGrp="1"/>
          </p:cNvSpPr>
          <p:nvPr>
            <p:ph idx="1"/>
          </p:nvPr>
        </p:nvSpPr>
        <p:spPr/>
        <p:txBody>
          <a:bodyPr>
            <a:normAutofit lnSpcReduction="10000"/>
          </a:bodyPr>
          <a:lstStyle/>
          <a:p>
            <a:r>
              <a:rPr lang="en-US" dirty="0"/>
              <a:t>Computer forensics is a discipline that combines elements of law and computer science to identify, collect, examine, and preserve data from computer systems, networks, and storage devices in a manner that preserves the integrity of the data gathered so that it is admissible as evidence in a court of law. </a:t>
            </a:r>
          </a:p>
          <a:p>
            <a:r>
              <a:rPr lang="en-US" dirty="0"/>
              <a:t>A computer forensics investigation may be opened in response to a criminal investigation or civil litigation. </a:t>
            </a:r>
          </a:p>
          <a:p>
            <a:r>
              <a:rPr lang="en-US" dirty="0"/>
              <a:t>It may also be launched for a variety of other reasons, for example, to retrace steps taken when data have been lost, to assess damage following a computer incident, to investigate the unauthorized disclosure of personal or corporate confidential data, or to confirm or evaluate the impact of industrial espionage.</a:t>
            </a:r>
            <a:endParaRPr lang="en-IN" dirty="0"/>
          </a:p>
        </p:txBody>
      </p:sp>
    </p:spTree>
    <p:extLst>
      <p:ext uri="{BB962C8B-B14F-4D97-AF65-F5344CB8AC3E}">
        <p14:creationId xmlns:p14="http://schemas.microsoft.com/office/powerpoint/2010/main" val="1231589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214A4-0CB8-FDE8-F572-C06007330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8D6D2-96BB-3919-7E8E-E2E07B770721}"/>
              </a:ext>
            </a:extLst>
          </p:cNvPr>
          <p:cNvSpPr>
            <a:spLocks noGrp="1"/>
          </p:cNvSpPr>
          <p:nvPr>
            <p:ph type="title"/>
          </p:nvPr>
        </p:nvSpPr>
        <p:spPr/>
        <p:txBody>
          <a:bodyPr/>
          <a:lstStyle/>
          <a:p>
            <a:r>
              <a:rPr lang="en-IN" dirty="0"/>
              <a:t>Computer Forensics</a:t>
            </a:r>
          </a:p>
        </p:txBody>
      </p:sp>
      <p:sp>
        <p:nvSpPr>
          <p:cNvPr id="3" name="Content Placeholder 2">
            <a:extLst>
              <a:ext uri="{FF2B5EF4-FFF2-40B4-BE49-F238E27FC236}">
                <a16:creationId xmlns:a16="http://schemas.microsoft.com/office/drawing/2014/main" id="{BDD63D60-F81C-4E38-A8F0-9BD34CCCD845}"/>
              </a:ext>
            </a:extLst>
          </p:cNvPr>
          <p:cNvSpPr>
            <a:spLocks noGrp="1"/>
          </p:cNvSpPr>
          <p:nvPr>
            <p:ph idx="1"/>
          </p:nvPr>
        </p:nvSpPr>
        <p:spPr>
          <a:xfrm>
            <a:off x="266330" y="1020932"/>
            <a:ext cx="8611340" cy="5837068"/>
          </a:xfrm>
        </p:spPr>
        <p:txBody>
          <a:bodyPr>
            <a:normAutofit lnSpcReduction="10000"/>
          </a:bodyPr>
          <a:lstStyle/>
          <a:p>
            <a:r>
              <a:rPr lang="en-US" dirty="0"/>
              <a:t>Computer forensics investigators work as a team to investigate an incident and conduct forensic analysis by using various methodologies and tools to ensure the computer network system is secure in an organization.</a:t>
            </a:r>
          </a:p>
          <a:p>
            <a:r>
              <a:rPr lang="en-US" dirty="0"/>
              <a:t>Proper handling of a computer forensics investigation is the key to fighting computer crime successfully in court. </a:t>
            </a:r>
          </a:p>
          <a:p>
            <a:r>
              <a:rPr lang="en-US" dirty="0"/>
              <a:t>In addition, extensive training and certification increases the stature of a computer forensics investigator in a court of law. </a:t>
            </a:r>
          </a:p>
          <a:p>
            <a:r>
              <a:rPr lang="en-US" dirty="0"/>
              <a:t>Numerous certifications relate to computer forensics, including the CCE (Certified Computer Examiner), CISSP (Certified Information Systems Security Professional), CSFA (</a:t>
            </a:r>
            <a:r>
              <a:rPr lang="en-US" dirty="0" err="1"/>
              <a:t>CyberSecurity</a:t>
            </a:r>
            <a:r>
              <a:rPr lang="en-US" dirty="0"/>
              <a:t> Forensic Analyst), and GCFA (Global Information Assurance Certification Certified Forensics Analyst).</a:t>
            </a:r>
            <a:endParaRPr lang="en-IN" dirty="0"/>
          </a:p>
        </p:txBody>
      </p:sp>
    </p:spTree>
    <p:extLst>
      <p:ext uri="{BB962C8B-B14F-4D97-AF65-F5344CB8AC3E}">
        <p14:creationId xmlns:p14="http://schemas.microsoft.com/office/powerpoint/2010/main" val="14385321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688</TotalTime>
  <Words>5677</Words>
  <Application>Microsoft Office PowerPoint</Application>
  <PresentationFormat>On-screen Show (4:3)</PresentationFormat>
  <Paragraphs>315</Paragraphs>
  <Slides>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Professional Ethics and Human Values</vt:lpstr>
      <vt:lpstr>PowerPoint Presentation</vt:lpstr>
      <vt:lpstr>ORGANIZATIONS BEHAVING BADLY</vt:lpstr>
      <vt:lpstr>THE THREAT LANDSCAPE</vt:lpstr>
      <vt:lpstr>THE THREAT LANDSCAPE</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Why Computer Incidents Are So Prevalent?</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Types of Exploits</vt:lpstr>
      <vt:lpstr>Federal Laws</vt:lpstr>
      <vt:lpstr>RESPONSE TO CYBERATTACK</vt:lpstr>
      <vt:lpstr>RESPONSE TO CYBERATTACK</vt:lpstr>
      <vt:lpstr>RESPONSE TO CYBERATTACK</vt:lpstr>
      <vt:lpstr>RESPONSE TO CYBERATTACK</vt:lpstr>
      <vt:lpstr>RESPONSE TO CYBERATTACK</vt:lpstr>
      <vt:lpstr>RESPONSE TO CYBERATTACK</vt:lpstr>
      <vt:lpstr>Using an MSSP</vt:lpstr>
      <vt:lpstr>Computer Forensics</vt:lpstr>
      <vt:lpstr>Computer Forensics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54</cp:revision>
  <dcterms:created xsi:type="dcterms:W3CDTF">2026-01-06T05:40:50Z</dcterms:created>
  <dcterms:modified xsi:type="dcterms:W3CDTF">2026-03-26T02:29:05Z</dcterms:modified>
</cp:coreProperties>
</file>