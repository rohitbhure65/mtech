
<file path=[Content_Types].xml><?xml version="1.0" encoding="utf-8"?>
<Types xmlns="http://schemas.openxmlformats.org/package/2006/content-types">
  <Default Extension="rels" ContentType="application/vnd.openxmlformats-package.relationships+xml"/>
  <Default Extension="png" ContentType="image/png"/>
  <Default Extension="jpeg" ContentType="image/jpeg"/>
  <Default Extension="xml" ContentType="application/xml"/>
  <Override PartName="/ppt/theme/theme2.xml" ContentType="application/vnd.openxmlformats-officedocument.them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s/slide23.xml" ContentType="application/vnd.openxmlformats-officedocument.presentationml.slide+xml"/>
  <Override PartName="/ppt/slides/slide22.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notesSlides/notesSlide1.xml" ContentType="application/vnd.openxmlformats-officedocument.presentationml.notes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Layouts/slideLayout6.xml" ContentType="application/vnd.openxmlformats-officedocument.presentationml.slideLayout+xml"/>
  <Override PartName="/ppt/slides/slide3.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Layouts/slideLayout9.xml" ContentType="application/vnd.openxmlformats-officedocument.presentationml.slideLayout+xml"/>
  <Override PartName="/ppt/slides/slide14.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docProps/app.xml" ContentType="application/vnd.openxmlformats-officedocument.extended-properties+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s/slide12.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viewProps.xml" ContentType="application/vnd.openxmlformats-officedocument.presentationml.viewProps+xml"/>
  <Override PartName="/ppt/slides/slide13.xml" ContentType="application/vnd.openxmlformats-officedocument.presentationml.slide+xml"/>
  <Override PartName="/ppt/presentation.xml" ContentType="application/vnd.openxmlformats-officedocument.presentationml.presentation.main+xml"/>
  <Override PartName="/ppt/slides/slide1.xml" ContentType="application/vnd.openxmlformats-officedocument.presentationml.slide+xml"/>
  <Override PartName="/ppt/notesSlides/notesSlide2.xml" ContentType="application/vnd.openxmlformats-officedocument.presentationml.notesSlide+xml"/>
  <Override PartName="/ppt/slides/slide6.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Masters/slideMaster1.xml" ContentType="application/vnd.openxmlformats-officedocument.presentationml.slideMaster+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70" r:id="rId16"/>
    <p:sldId id="271" r:id="rId17"/>
    <p:sldId id="269" r:id="rId18"/>
    <p:sldId id="272" r:id="rId19"/>
    <p:sldId id="273" r:id="rId20"/>
    <p:sldId id="274" r:id="rId21"/>
    <p:sldId id="275" r:id="rId22"/>
    <p:sldId id="277" r:id="rId23"/>
    <p:sldId id="278" r:id="rId24"/>
    <p:sldId id="276"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1872" y="138"/>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 Type="http://schemas.openxmlformats.org/officeDocument/2006/relationships/notesMaster" Target="notesMasters/notesMaster1.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tableStyles" Target="tableStyles.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noEditPoints="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noEditPoints="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EF783E-ECBD-4D89-BE37-083A5141B9C2}" type="datetimeFigureOut">
              <a:rPr lang="en-IN" smtClean="0"/>
              <a:t>09/03/2026</a:t>
            </a:fld>
            <a:endParaRPr lang="en-IN"/>
          </a:p>
        </p:txBody>
      </p:sp>
      <p:sp>
        <p:nvSpPr>
          <p:cNvPr id="4" name="Slide Image Placeholder 3"/>
          <p:cNvSpPr>
            <a:spLocks noGrp="1" noRot="1" noChangeAspect="1" noEditPoints="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noEditPoints="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noEditPoints="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noEditPoints="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618F99-46C8-4DA7-9695-8703516A0D32}" type="slidenum">
              <a:rPr lang="en-IN" smtClean="0"/>
              <a:t>‹#›</a:t>
            </a:fld>
            <a:endParaRPr lang="en-IN"/>
          </a:p>
        </p:txBody>
      </p:sp>
    </p:spTree>
  </p:cSld>
  <p:clrMap bg1="lt1" tx1="dk1" bg2="lt2" tx2="dk2" accent1="accent1" accent2="accent2" accent3="accent3" accent4="accent4" accent5="accent5" accent6="accent6" hlink="hlink" folHlink="folHlink"/>
  <p:hf dt="0" sldNum="0"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371600" y="1143000"/>
            <a:ext cx="4114800" cy="30861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1C7B0CCF-CEC8-4459-8C29-5D9C8F8B232E}" type="slidenum">
              <a:rPr lang="en-US" smtClean="0"/>
              <a:t>‹#›</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1371600" y="1143000"/>
            <a:ext cx="4114800" cy="3086100"/>
          </a:xfrm>
          <a:prstGeom prst="rect">
            <a:avLst/>
          </a:prstGeom>
        </p:spPr>
        <p:txBody>
          <a:bodyPr/>
          <a:lstStyle/>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9BF051C2-8CC6-4633-B381-3F9C850AC3CB}" type="slidenum">
              <a:rPr lang="en-US" smtClean="0"/>
              <a:t>‹#›</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noEditPoints="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noEditPoints="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US" dirty="0"/>
          </a:p>
        </p:txBody>
      </p:sp>
      <p:sp>
        <p:nvSpPr>
          <p:cNvPr id="4" name="Date Placeholder 3"/>
          <p:cNvSpPr>
            <a:spLocks noGrp="1" noEditPoints="1"/>
          </p:cNvSpPr>
          <p:nvPr>
            <p:ph type="dt" sz="half" idx="10"/>
          </p:nvPr>
        </p:nvSpPr>
        <p:spPr/>
        <p:txBody>
          <a:bodyPr/>
          <a:lstStyle/>
          <a:p>
            <a:fld id="{9068EC58-42EE-47BB-889A-A602177FE5B7}" type="datetime1">
              <a:rPr lang="en-IN" smtClean="0"/>
              <a:t>09/03/2026</a:t>
            </a:fld>
            <a:endParaRPr lang="en-IN"/>
          </a:p>
        </p:txBody>
      </p:sp>
      <p:sp>
        <p:nvSpPr>
          <p:cNvPr id="5" name="Footer Placeholder 4"/>
          <p:cNvSpPr>
            <a:spLocks noGrp="1" noEditPoints="1"/>
          </p:cNvSpPr>
          <p:nvPr>
            <p:ph type="ftr" sz="quarter" idx="11"/>
          </p:nvPr>
        </p:nvSpPr>
        <p:spPr/>
        <p:txBody>
          <a:bodyPr/>
          <a:lstStyle/>
          <a:p>
            <a:endParaRPr lang="en-IN"/>
          </a:p>
        </p:txBody>
      </p:sp>
      <p:sp>
        <p:nvSpPr>
          <p:cNvPr id="6" name="Slide Number Placeholder 5"/>
          <p:cNvSpPr>
            <a:spLocks noGrp="1" noEditPoints="1"/>
          </p:cNvSpPr>
          <p:nvPr>
            <p:ph type="sldNum" sz="quarter" idx="12"/>
          </p:nvPr>
        </p:nvSpPr>
        <p:spPr/>
        <p:txBody>
          <a:bodyPr/>
          <a:lstStyle/>
          <a:p>
            <a:fld id="{F81F8360-00E8-462F-93F6-51CC5257BC34}" type="slidenum">
              <a:rPr lang="en-IN" smtClean="0"/>
              <a:t>‹#›</a:t>
            </a:fld>
            <a:endParaRPr lang="en-IN"/>
          </a:p>
        </p:txBody>
      </p:sp>
    </p:spTree>
  </p:cSld>
  <p:clrMapOvr>
    <a:masterClrMapping/>
  </p:clrMapOvr>
  <p:hf dt="0"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266330" y="136524"/>
            <a:ext cx="8611340" cy="789613"/>
          </a:xfrm>
        </p:spPr>
        <p:txBody>
          <a:bodyPr/>
          <a:lstStyle>
            <a:lvl1pPr>
              <a:defRPr b="1">
                <a:solidFill>
                  <a:srgbClr val="C00000"/>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noEditPoints="1"/>
          </p:cNvSpPr>
          <p:nvPr>
            <p:ph idx="1"/>
          </p:nvPr>
        </p:nvSpPr>
        <p:spPr>
          <a:xfrm>
            <a:off x="266330" y="1020932"/>
            <a:ext cx="8611340" cy="545088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noEditPoints="1"/>
          </p:cNvSpPr>
          <p:nvPr>
            <p:ph type="dt" sz="half" idx="10"/>
          </p:nvPr>
        </p:nvSpPr>
        <p:spPr/>
        <p:txBody>
          <a:bodyPr/>
          <a:lstStyle/>
          <a:p>
            <a:fld id="{3F2DC134-98B8-4E00-A50E-437F754573DB}" type="datetime1">
              <a:rPr lang="en-IN" smtClean="0"/>
              <a:t>09/03/2026</a:t>
            </a:fld>
            <a:endParaRPr lang="en-IN"/>
          </a:p>
        </p:txBody>
      </p:sp>
      <p:sp>
        <p:nvSpPr>
          <p:cNvPr id="5" name="Footer Placeholder 4"/>
          <p:cNvSpPr>
            <a:spLocks noGrp="1" noEditPoints="1"/>
          </p:cNvSpPr>
          <p:nvPr>
            <p:ph type="ftr" sz="quarter" idx="11"/>
          </p:nvPr>
        </p:nvSpPr>
        <p:spPr/>
        <p:txBody>
          <a:bodyPr/>
          <a:lstStyle/>
          <a:p>
            <a:endParaRPr lang="en-IN"/>
          </a:p>
        </p:txBody>
      </p:sp>
      <p:sp>
        <p:nvSpPr>
          <p:cNvPr id="6" name="Slide Number Placeholder 5"/>
          <p:cNvSpPr>
            <a:spLocks noGrp="1" noEditPoints="1"/>
          </p:cNvSpPr>
          <p:nvPr>
            <p:ph type="sldNum" sz="quarter" idx="12"/>
          </p:nvPr>
        </p:nvSpPr>
        <p:spPr>
          <a:xfrm>
            <a:off x="6972855" y="6480643"/>
            <a:ext cx="2057400" cy="365125"/>
          </a:xfrm>
        </p:spPr>
        <p:txBody>
          <a:bodyPr/>
          <a:lstStyle>
            <a:lvl1pPr>
              <a:defRPr b="0">
                <a:solidFill>
                  <a:schemeClr val="tx1"/>
                </a:solidFill>
              </a:defRPr>
            </a:lvl1pPr>
          </a:lstStyle>
          <a:p>
            <a:fld id="{C70AC583-F9E3-4A59-98F2-FD7379A90CB7}" type="slidenum">
              <a:rPr lang="en-IN" smtClean="0"/>
              <a:t>‹#›</a:t>
            </a:fld>
            <a:endParaRPr lang="en-IN" b="0" dirty="0"/>
          </a:p>
        </p:txBody>
      </p:sp>
      <p:cxnSp>
        <p:nvCxnSpPr>
          <p:cNvPr id="8" name="Straight Connector 7"/>
          <p:cNvCxnSpPr/>
          <p:nvPr userDrawn="1"/>
        </p:nvCxnSpPr>
        <p:spPr>
          <a:xfrm>
            <a:off x="0" y="926137"/>
            <a:ext cx="8877670" cy="0"/>
          </a:xfrm>
          <a:prstGeom prst="line">
            <a:avLst/>
          </a:prstGeom>
          <a:ln w="28575"/>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cSld>
  <p:clrMapOvr>
    <a:masterClrMapping/>
  </p:clrMapOvr>
  <p:hf dt="0"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noEditPoints="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noEditPoints="1"/>
          </p:cNvSpPr>
          <p:nvPr>
            <p:ph type="dt" sz="half" idx="10"/>
          </p:nvPr>
        </p:nvSpPr>
        <p:spPr/>
        <p:txBody>
          <a:bodyPr/>
          <a:lstStyle/>
          <a:p>
            <a:fld id="{E87C10A6-20C7-463B-A122-EE9A44191DEB}" type="datetime1">
              <a:rPr lang="en-IN" smtClean="0"/>
              <a:t>09/03/2026</a:t>
            </a:fld>
            <a:endParaRPr lang="en-IN"/>
          </a:p>
        </p:txBody>
      </p:sp>
      <p:sp>
        <p:nvSpPr>
          <p:cNvPr id="5" name="Footer Placeholder 4"/>
          <p:cNvSpPr>
            <a:spLocks noGrp="1" noEditPoints="1"/>
          </p:cNvSpPr>
          <p:nvPr>
            <p:ph type="ftr" sz="quarter" idx="11"/>
          </p:nvPr>
        </p:nvSpPr>
        <p:spPr/>
        <p:txBody>
          <a:bodyPr/>
          <a:lstStyle/>
          <a:p>
            <a:endParaRPr lang="en-IN"/>
          </a:p>
        </p:txBody>
      </p:sp>
      <p:sp>
        <p:nvSpPr>
          <p:cNvPr id="6" name="Slide Number Placeholder 5"/>
          <p:cNvSpPr>
            <a:spLocks noGrp="1" noEditPoints="1"/>
          </p:cNvSpPr>
          <p:nvPr>
            <p:ph type="sldNum" sz="quarter" idx="12"/>
          </p:nvPr>
        </p:nvSpPr>
        <p:spPr/>
        <p:txBody>
          <a:bodyPr/>
          <a:lstStyle/>
          <a:p>
            <a:fld id="{F81F8360-00E8-462F-93F6-51CC5257BC34}" type="slidenum">
              <a:rPr lang="en-IN" smtClean="0"/>
              <a:t>‹#›</a:t>
            </a:fld>
            <a:endParaRPr lang="en-IN"/>
          </a:p>
        </p:txBody>
      </p:sp>
    </p:spTree>
  </p:cSld>
  <p:clrMapOvr>
    <a:masterClrMapping/>
  </p:clrMapOvr>
  <p:hf dt="0"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endParaRPr lang="en-US" dirty="0"/>
          </a:p>
        </p:txBody>
      </p:sp>
      <p:sp>
        <p:nvSpPr>
          <p:cNvPr id="3" name="Content Placeholder 2"/>
          <p:cNvSpPr>
            <a:spLocks noGrp="1" noEditPoints="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noEditPoints="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noEditPoints="1"/>
          </p:cNvSpPr>
          <p:nvPr>
            <p:ph type="dt" sz="half" idx="10"/>
          </p:nvPr>
        </p:nvSpPr>
        <p:spPr/>
        <p:txBody>
          <a:bodyPr/>
          <a:lstStyle/>
          <a:p>
            <a:fld id="{D886E731-F9BA-432D-AD5A-524D6C476BF1}" type="datetime1">
              <a:rPr lang="en-IN" smtClean="0"/>
              <a:t>09/03/2026</a:t>
            </a:fld>
            <a:endParaRPr lang="en-IN"/>
          </a:p>
        </p:txBody>
      </p:sp>
      <p:sp>
        <p:nvSpPr>
          <p:cNvPr id="6" name="Footer Placeholder 5"/>
          <p:cNvSpPr>
            <a:spLocks noGrp="1" noEditPoints="1"/>
          </p:cNvSpPr>
          <p:nvPr>
            <p:ph type="ftr" sz="quarter" idx="11"/>
          </p:nvPr>
        </p:nvSpPr>
        <p:spPr/>
        <p:txBody>
          <a:bodyPr/>
          <a:lstStyle/>
          <a:p>
            <a:endParaRPr lang="en-IN"/>
          </a:p>
        </p:txBody>
      </p:sp>
      <p:sp>
        <p:nvSpPr>
          <p:cNvPr id="7" name="Slide Number Placeholder 6"/>
          <p:cNvSpPr>
            <a:spLocks noGrp="1" noEditPoints="1"/>
          </p:cNvSpPr>
          <p:nvPr>
            <p:ph type="sldNum" sz="quarter" idx="12"/>
          </p:nvPr>
        </p:nvSpPr>
        <p:spPr/>
        <p:txBody>
          <a:bodyPr/>
          <a:lstStyle/>
          <a:p>
            <a:fld id="{F81F8360-00E8-462F-93F6-51CC5257BC34}" type="slidenum">
              <a:rPr lang="en-IN" smtClean="0"/>
              <a:t>‹#›</a:t>
            </a:fld>
            <a:endParaRPr lang="en-IN"/>
          </a:p>
        </p:txBody>
      </p:sp>
    </p:spTree>
  </p:cSld>
  <p:clrMapOvr>
    <a:masterClrMapping/>
  </p:clrMapOvr>
  <p:hf dt="0"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noEditPoints="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noEditPoints="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noEditPoints="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noEditPoints="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noEditPoints="1"/>
          </p:cNvSpPr>
          <p:nvPr>
            <p:ph type="dt" sz="half" idx="10"/>
          </p:nvPr>
        </p:nvSpPr>
        <p:spPr/>
        <p:txBody>
          <a:bodyPr/>
          <a:lstStyle/>
          <a:p>
            <a:fld id="{E056AAD7-9406-43EE-A865-0984302784D4}" type="datetime1">
              <a:rPr lang="en-IN" smtClean="0"/>
              <a:t>09/03/2026</a:t>
            </a:fld>
            <a:endParaRPr lang="en-IN"/>
          </a:p>
        </p:txBody>
      </p:sp>
      <p:sp>
        <p:nvSpPr>
          <p:cNvPr id="8" name="Footer Placeholder 7"/>
          <p:cNvSpPr>
            <a:spLocks noGrp="1" noEditPoints="1"/>
          </p:cNvSpPr>
          <p:nvPr>
            <p:ph type="ftr" sz="quarter" idx="11"/>
          </p:nvPr>
        </p:nvSpPr>
        <p:spPr/>
        <p:txBody>
          <a:bodyPr/>
          <a:lstStyle/>
          <a:p>
            <a:endParaRPr lang="en-IN"/>
          </a:p>
        </p:txBody>
      </p:sp>
      <p:sp>
        <p:nvSpPr>
          <p:cNvPr id="9" name="Slide Number Placeholder 8"/>
          <p:cNvSpPr>
            <a:spLocks noGrp="1" noEditPoints="1"/>
          </p:cNvSpPr>
          <p:nvPr>
            <p:ph type="sldNum" sz="quarter" idx="12"/>
          </p:nvPr>
        </p:nvSpPr>
        <p:spPr/>
        <p:txBody>
          <a:bodyPr/>
          <a:lstStyle/>
          <a:p>
            <a:fld id="{F81F8360-00E8-462F-93F6-51CC5257BC34}" type="slidenum">
              <a:rPr lang="en-IN" smtClean="0"/>
              <a:t>‹#›</a:t>
            </a:fld>
            <a:endParaRPr lang="en-IN"/>
          </a:p>
        </p:txBody>
      </p:sp>
    </p:spTree>
  </p:cSld>
  <p:clrMapOvr>
    <a:masterClrMapping/>
  </p:clrMapOvr>
  <p:hf dt="0"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endParaRPr lang="en-US" dirty="0"/>
          </a:p>
        </p:txBody>
      </p:sp>
      <p:sp>
        <p:nvSpPr>
          <p:cNvPr id="3" name="Date Placeholder 2"/>
          <p:cNvSpPr>
            <a:spLocks noGrp="1" noEditPoints="1"/>
          </p:cNvSpPr>
          <p:nvPr>
            <p:ph type="dt" sz="half" idx="10"/>
          </p:nvPr>
        </p:nvSpPr>
        <p:spPr/>
        <p:txBody>
          <a:bodyPr/>
          <a:lstStyle/>
          <a:p>
            <a:fld id="{AA2EDBAA-1D0A-45D1-A5BB-081862F89D23}" type="datetime1">
              <a:rPr lang="en-IN" smtClean="0"/>
              <a:t>09/03/2026</a:t>
            </a:fld>
            <a:endParaRPr lang="en-IN"/>
          </a:p>
        </p:txBody>
      </p:sp>
      <p:sp>
        <p:nvSpPr>
          <p:cNvPr id="4" name="Footer Placeholder 3"/>
          <p:cNvSpPr>
            <a:spLocks noGrp="1" noEditPoints="1"/>
          </p:cNvSpPr>
          <p:nvPr>
            <p:ph type="ftr" sz="quarter" idx="11"/>
          </p:nvPr>
        </p:nvSpPr>
        <p:spPr/>
        <p:txBody>
          <a:bodyPr/>
          <a:lstStyle/>
          <a:p>
            <a:endParaRPr lang="en-IN"/>
          </a:p>
        </p:txBody>
      </p:sp>
      <p:sp>
        <p:nvSpPr>
          <p:cNvPr id="5" name="Slide Number Placeholder 4"/>
          <p:cNvSpPr>
            <a:spLocks noGrp="1" noEditPoints="1"/>
          </p:cNvSpPr>
          <p:nvPr>
            <p:ph type="sldNum" sz="quarter" idx="12"/>
          </p:nvPr>
        </p:nvSpPr>
        <p:spPr/>
        <p:txBody>
          <a:bodyPr/>
          <a:lstStyle/>
          <a:p>
            <a:fld id="{F81F8360-00E8-462F-93F6-51CC5257BC34}" type="slidenum">
              <a:rPr lang="en-IN" smtClean="0"/>
              <a:t>‹#›</a:t>
            </a:fld>
            <a:endParaRPr lang="en-IN"/>
          </a:p>
        </p:txBody>
      </p:sp>
    </p:spTree>
  </p:cSld>
  <p:clrMapOvr>
    <a:masterClrMapping/>
  </p:clrMapOvr>
  <p:hf dt="0"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noEditPoints="1"/>
          </p:cNvSpPr>
          <p:nvPr>
            <p:ph type="dt" sz="half" idx="10"/>
          </p:nvPr>
        </p:nvSpPr>
        <p:spPr/>
        <p:txBody>
          <a:bodyPr/>
          <a:lstStyle/>
          <a:p>
            <a:fld id="{023C2FBB-EEE0-48AB-9227-D6BD5F61A9B3}" type="datetime1">
              <a:rPr lang="en-IN" smtClean="0"/>
              <a:t>09/03/2026</a:t>
            </a:fld>
            <a:endParaRPr lang="en-IN"/>
          </a:p>
        </p:txBody>
      </p:sp>
      <p:sp>
        <p:nvSpPr>
          <p:cNvPr id="3" name="Footer Placeholder 2"/>
          <p:cNvSpPr>
            <a:spLocks noGrp="1" noEditPoints="1"/>
          </p:cNvSpPr>
          <p:nvPr>
            <p:ph type="ftr" sz="quarter" idx="11"/>
          </p:nvPr>
        </p:nvSpPr>
        <p:spPr/>
        <p:txBody>
          <a:bodyPr/>
          <a:lstStyle/>
          <a:p>
            <a:endParaRPr lang="en-IN"/>
          </a:p>
        </p:txBody>
      </p:sp>
      <p:sp>
        <p:nvSpPr>
          <p:cNvPr id="4" name="Slide Number Placeholder 3"/>
          <p:cNvSpPr>
            <a:spLocks noGrp="1" noEditPoints="1"/>
          </p:cNvSpPr>
          <p:nvPr>
            <p:ph type="sldNum" sz="quarter" idx="12"/>
          </p:nvPr>
        </p:nvSpPr>
        <p:spPr/>
        <p:txBody>
          <a:bodyPr/>
          <a:lstStyle/>
          <a:p>
            <a:fld id="{F81F8360-00E8-462F-93F6-51CC5257BC34}" type="slidenum">
              <a:rPr lang="en-IN" smtClean="0"/>
              <a:t>‹#›</a:t>
            </a:fld>
            <a:endParaRPr lang="en-IN"/>
          </a:p>
        </p:txBody>
      </p:sp>
    </p:spTree>
  </p:cSld>
  <p:clrMapOvr>
    <a:masterClrMapping/>
  </p:clrMapOvr>
  <p:hf dt="0"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noEditPoints="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noEditPoints="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EditPoints="1"/>
          </p:cNvSpPr>
          <p:nvPr>
            <p:ph type="dt" sz="half" idx="10"/>
          </p:nvPr>
        </p:nvSpPr>
        <p:spPr/>
        <p:txBody>
          <a:bodyPr/>
          <a:lstStyle/>
          <a:p>
            <a:fld id="{FE2C1C41-5793-4ABC-B62B-0A963F7D72D3}" type="datetime1">
              <a:rPr lang="en-IN" smtClean="0"/>
              <a:t>09/03/2026</a:t>
            </a:fld>
            <a:endParaRPr lang="en-IN"/>
          </a:p>
        </p:txBody>
      </p:sp>
      <p:sp>
        <p:nvSpPr>
          <p:cNvPr id="6" name="Footer Placeholder 5"/>
          <p:cNvSpPr>
            <a:spLocks noGrp="1" noEditPoints="1"/>
          </p:cNvSpPr>
          <p:nvPr>
            <p:ph type="ftr" sz="quarter" idx="11"/>
          </p:nvPr>
        </p:nvSpPr>
        <p:spPr/>
        <p:txBody>
          <a:bodyPr/>
          <a:lstStyle/>
          <a:p>
            <a:endParaRPr lang="en-IN"/>
          </a:p>
        </p:txBody>
      </p:sp>
      <p:sp>
        <p:nvSpPr>
          <p:cNvPr id="7" name="Slide Number Placeholder 6"/>
          <p:cNvSpPr>
            <a:spLocks noGrp="1" noEditPoints="1"/>
          </p:cNvSpPr>
          <p:nvPr>
            <p:ph type="sldNum" sz="quarter" idx="12"/>
          </p:nvPr>
        </p:nvSpPr>
        <p:spPr/>
        <p:txBody>
          <a:bodyPr/>
          <a:lstStyle/>
          <a:p>
            <a:fld id="{F81F8360-00E8-462F-93F6-51CC5257BC34}" type="slidenum">
              <a:rPr lang="en-IN" smtClean="0"/>
              <a:t>‹#›</a:t>
            </a:fld>
            <a:endParaRPr lang="en-IN"/>
          </a:p>
        </p:txBody>
      </p:sp>
    </p:spTree>
  </p:cSld>
  <p:clrMapOvr>
    <a:masterClrMapping/>
  </p:clrMapOvr>
  <p:hf dt="0"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noEditPoints="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t>Click icon to add picture</a:t>
            </a:r>
            <a:endParaRPr lang="en-US" dirty="0"/>
          </a:p>
        </p:txBody>
      </p:sp>
      <p:sp>
        <p:nvSpPr>
          <p:cNvPr id="4" name="Text Placeholder 3"/>
          <p:cNvSpPr>
            <a:spLocks noGrp="1" noEditPoints="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EditPoints="1"/>
          </p:cNvSpPr>
          <p:nvPr>
            <p:ph type="dt" sz="half" idx="10"/>
          </p:nvPr>
        </p:nvSpPr>
        <p:spPr/>
        <p:txBody>
          <a:bodyPr/>
          <a:lstStyle/>
          <a:p>
            <a:fld id="{9A92D4A2-ACEB-4ACB-8DA0-4D301849AA1A}" type="datetime1">
              <a:rPr lang="en-IN" smtClean="0"/>
              <a:t>09/03/2026</a:t>
            </a:fld>
            <a:endParaRPr lang="en-IN"/>
          </a:p>
        </p:txBody>
      </p:sp>
      <p:sp>
        <p:nvSpPr>
          <p:cNvPr id="6" name="Footer Placeholder 5"/>
          <p:cNvSpPr>
            <a:spLocks noGrp="1" noEditPoints="1"/>
          </p:cNvSpPr>
          <p:nvPr>
            <p:ph type="ftr" sz="quarter" idx="11"/>
          </p:nvPr>
        </p:nvSpPr>
        <p:spPr/>
        <p:txBody>
          <a:bodyPr/>
          <a:lstStyle/>
          <a:p>
            <a:endParaRPr lang="en-IN"/>
          </a:p>
        </p:txBody>
      </p:sp>
      <p:sp>
        <p:nvSpPr>
          <p:cNvPr id="7" name="Slide Number Placeholder 6"/>
          <p:cNvSpPr>
            <a:spLocks noGrp="1" noEditPoints="1"/>
          </p:cNvSpPr>
          <p:nvPr>
            <p:ph type="sldNum" sz="quarter" idx="12"/>
          </p:nvPr>
        </p:nvSpPr>
        <p:spPr/>
        <p:txBody>
          <a:bodyPr/>
          <a:lstStyle/>
          <a:p>
            <a:fld id="{F81F8360-00E8-462F-93F6-51CC5257BC34}" type="slidenum">
              <a:rPr lang="en-IN" smtClean="0"/>
              <a:t>‹#›</a:t>
            </a:fld>
            <a:endParaRPr lang="en-IN"/>
          </a:p>
        </p:txBody>
      </p:sp>
    </p:spTree>
  </p:cSld>
  <p:clrMapOvr>
    <a:masterClrMapping/>
  </p:clrMapOvr>
  <p:hf dt="0"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endParaRPr lang="en-US" dirty="0"/>
          </a:p>
        </p:txBody>
      </p:sp>
      <p:sp>
        <p:nvSpPr>
          <p:cNvPr id="3" name="Vertical Text Placeholder 2"/>
          <p:cNvSpPr>
            <a:spLocks noGrp="1" noEditPoints="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noEditPoints="1"/>
          </p:cNvSpPr>
          <p:nvPr>
            <p:ph type="dt" sz="half" idx="10"/>
          </p:nvPr>
        </p:nvSpPr>
        <p:spPr/>
        <p:txBody>
          <a:bodyPr/>
          <a:lstStyle/>
          <a:p>
            <a:fld id="{5AFCFCF3-4EFB-4535-81E7-25F09ED13A08}" type="datetime1">
              <a:rPr lang="en-IN" smtClean="0"/>
              <a:t>09/03/2026</a:t>
            </a:fld>
            <a:endParaRPr lang="en-IN"/>
          </a:p>
        </p:txBody>
      </p:sp>
      <p:sp>
        <p:nvSpPr>
          <p:cNvPr id="5" name="Footer Placeholder 4"/>
          <p:cNvSpPr>
            <a:spLocks noGrp="1" noEditPoints="1"/>
          </p:cNvSpPr>
          <p:nvPr>
            <p:ph type="ftr" sz="quarter" idx="11"/>
          </p:nvPr>
        </p:nvSpPr>
        <p:spPr/>
        <p:txBody>
          <a:bodyPr/>
          <a:lstStyle/>
          <a:p>
            <a:endParaRPr lang="en-IN"/>
          </a:p>
        </p:txBody>
      </p:sp>
      <p:sp>
        <p:nvSpPr>
          <p:cNvPr id="6" name="Slide Number Placeholder 5"/>
          <p:cNvSpPr>
            <a:spLocks noGrp="1" noEditPoints="1"/>
          </p:cNvSpPr>
          <p:nvPr>
            <p:ph type="sldNum" sz="quarter" idx="12"/>
          </p:nvPr>
        </p:nvSpPr>
        <p:spPr/>
        <p:txBody>
          <a:bodyPr/>
          <a:lstStyle/>
          <a:p>
            <a:fld id="{F81F8360-00E8-462F-93F6-51CC5257BC34}" type="slidenum">
              <a:rPr lang="en-IN" smtClean="0"/>
              <a:t>‹#›</a:t>
            </a:fld>
            <a:endParaRPr lang="en-IN"/>
          </a:p>
        </p:txBody>
      </p:sp>
    </p:spTree>
  </p:cSld>
  <p:clrMapOvr>
    <a:masterClrMapping/>
  </p:clrMapOvr>
  <p:hf dt="0" sldNum="0"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noEditPoints="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noEditPoints="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noEditPoints="1"/>
          </p:cNvSpPr>
          <p:nvPr>
            <p:ph type="dt" sz="half" idx="10"/>
          </p:nvPr>
        </p:nvSpPr>
        <p:spPr/>
        <p:txBody>
          <a:bodyPr/>
          <a:lstStyle/>
          <a:p>
            <a:fld id="{9E9825CD-E2F6-42DE-B62A-9C82759EF617}" type="datetime1">
              <a:rPr lang="en-IN" smtClean="0"/>
              <a:t>09/03/2026</a:t>
            </a:fld>
            <a:endParaRPr lang="en-IN"/>
          </a:p>
        </p:txBody>
      </p:sp>
      <p:sp>
        <p:nvSpPr>
          <p:cNvPr id="5" name="Footer Placeholder 4"/>
          <p:cNvSpPr>
            <a:spLocks noGrp="1" noEditPoints="1"/>
          </p:cNvSpPr>
          <p:nvPr>
            <p:ph type="ftr" sz="quarter" idx="11"/>
          </p:nvPr>
        </p:nvSpPr>
        <p:spPr/>
        <p:txBody>
          <a:bodyPr/>
          <a:lstStyle/>
          <a:p>
            <a:endParaRPr lang="en-IN"/>
          </a:p>
        </p:txBody>
      </p:sp>
      <p:sp>
        <p:nvSpPr>
          <p:cNvPr id="6" name="Slide Number Placeholder 5"/>
          <p:cNvSpPr>
            <a:spLocks noGrp="1" noEditPoints="1"/>
          </p:cNvSpPr>
          <p:nvPr>
            <p:ph type="sldNum" sz="quarter" idx="12"/>
          </p:nvPr>
        </p:nvSpPr>
        <p:spPr/>
        <p:txBody>
          <a:bodyPr/>
          <a:lstStyle/>
          <a:p>
            <a:fld id="{F81F8360-00E8-462F-93F6-51CC5257BC34}" type="slidenum">
              <a:rPr lang="en-IN" smtClean="0"/>
              <a:t>‹#›</a:t>
            </a:fld>
            <a:endParaRPr lang="en-IN"/>
          </a:p>
        </p:txBody>
      </p:sp>
    </p:spTree>
  </p:cSld>
  <p:clrMapOvr>
    <a:masterClrMapping/>
  </p:clrMapOvr>
  <p:hf dt="0" sldNum="0" hdr="0" ftr="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noEditPoints="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noEditPoints="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noEditPoints="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0374B9-4912-4832-A430-88CEC3882527}" type="datetime1">
              <a:rPr lang="en-IN" smtClean="0"/>
              <a:t>09/03/2026</a:t>
            </a:fld>
            <a:endParaRPr lang="en-IN"/>
          </a:p>
        </p:txBody>
      </p:sp>
      <p:sp>
        <p:nvSpPr>
          <p:cNvPr id="5" name="Footer Placeholder 4"/>
          <p:cNvSpPr>
            <a:spLocks noGrp="1" noEditPoints="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noEditPoints="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1F8360-00E8-462F-93F6-51CC5257BC34}"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alphaModFix amt="19000"/>
            <a:lum bright="0" contrast="0"/>
          </a:blip>
          <a:srcRect l="0" t="0" r="0" b="0"/>
          <a:stretch>
            <a:fillRect l="0" t="-17000" r="0" b="-17000"/>
          </a:stretch>
        </a:blipFill>
      </p:bgPr>
    </p:bg>
    <p:spTree>
      <p:nvGrpSpPr>
        <p:cNvPr id="1" name=""/>
        <p:cNvGrpSpPr/>
        <p:nvPr/>
      </p:nvGrpSpPr>
      <p:grpSpPr>
        <a:xfrm>
          <a:off x="0" y="0"/>
          <a:ext cx="0" cy="0"/>
          <a:chOff x="0" y="0"/>
          <a:chExt cx="0" cy="0"/>
        </a:xfrm>
      </p:grpSpPr>
      <p:sp>
        <p:nvSpPr>
          <p:cNvPr id="2" name="Title 1"/>
          <p:cNvSpPr>
            <a:spLocks noGrp="1" noEditPoints="1"/>
          </p:cNvSpPr>
          <p:nvPr>
            <p:ph type="ctrTitle"/>
          </p:nvPr>
        </p:nvSpPr>
        <p:spPr/>
        <p:txBody>
          <a:bodyPr/>
          <a:lstStyle/>
          <a:p>
            <a:r>
              <a:rPr lang="en-IN" dirty="0"/>
              <a:t>Agile Software Engineering</a:t>
            </a:r>
          </a:p>
        </p:txBody>
      </p:sp>
      <p:sp>
        <p:nvSpPr>
          <p:cNvPr id="3" name="Subtitle 2"/>
          <p:cNvSpPr>
            <a:spLocks noGrp="1" noEditPoints="1"/>
          </p:cNvSpPr>
          <p:nvPr>
            <p:ph type="subTitle" idx="1"/>
          </p:nvPr>
        </p:nvSpPr>
        <p:spPr/>
        <p:txBody>
          <a:bodyPr>
            <a:normAutofit/>
          </a:bodyPr>
          <a:lstStyle/>
          <a:p>
            <a:r>
              <a:rPr lang="en-US" sz="4800" b="1" dirty="0">
                <a:solidFill>
                  <a:srgbClr val="FF0000"/>
                </a:solidFill>
              </a:rPr>
              <a:t>Grooming and Planning</a:t>
            </a:r>
            <a:endParaRPr lang="en-IN" sz="4800" b="1"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noEditPoints="1"/>
          </p:cNvSpPr>
          <p:nvPr>
            <p:ph idx="1"/>
          </p:nvPr>
        </p:nvSpPr>
        <p:spPr>
          <a:xfrm>
            <a:off x="266330" y="1020932"/>
            <a:ext cx="8611340" cy="5700544"/>
          </a:xfrm>
        </p:spPr>
        <p:txBody>
          <a:bodyPr>
            <a:normAutofit fontScale="92500"/>
          </a:bodyPr>
          <a:lstStyle/>
          <a:p>
            <a:r>
              <a:rPr lang="en-US" dirty="0"/>
              <a:t>As the development process progresses, the requirements/user stories are groomed into functional input for the development teams. </a:t>
            </a:r>
          </a:p>
          <a:p>
            <a:r>
              <a:rPr lang="en-US" dirty="0"/>
              <a:t>The priority of the user stories and the estimates of their size are important factors when the development team is considering their commitment to the work. </a:t>
            </a:r>
          </a:p>
          <a:p>
            <a:r>
              <a:rPr lang="en-US" dirty="0"/>
              <a:t>This chapter presents a variety of strategies for grooming the stories. </a:t>
            </a:r>
          </a:p>
          <a:p>
            <a:r>
              <a:rPr lang="en-US" dirty="0"/>
              <a:t>Once the grooming is complete, the sprint planning begins, incorporating the velocity of the team, the definition of “done,” the amount of technical debt, and more. </a:t>
            </a:r>
          </a:p>
          <a:p>
            <a:r>
              <a:rPr lang="en-US" dirty="0"/>
              <a:t>Finally, we explore the theory of triple constraints (scope versus time versus resources) and how the management of these can affect the development process.</a:t>
            </a:r>
            <a:endParaRPr lang="en-IN" dirty="0"/>
          </a:p>
        </p:txBody>
      </p:sp>
      <p:sp>
        <p:nvSpPr>
          <p:cNvPr id="4" name="Slide Number Placeholder 3"/>
          <p:cNvSpPr>
            <a:spLocks noGrp="1" noEditPoints="1"/>
          </p:cNvSpPr>
          <p:nvPr>
            <p:ph type="sldNum" sz="quarter" idx="12"/>
          </p:nvPr>
        </p:nvSpPr>
        <p:spPr/>
        <p:txBody>
          <a:bodyPr/>
          <a:lstStyle/>
          <a:p>
            <a:fld id="{F81F8360-00E8-462F-93F6-51CC5257BC34}" type="slidenum">
              <a:rPr lang="en-IN" smtClean="0"/>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dirty="0"/>
              <a:t>Product Backlog (Scrum and XP)</a:t>
            </a:r>
            <a:endParaRPr lang="en-IN" dirty="0"/>
          </a:p>
        </p:txBody>
      </p:sp>
      <p:sp>
        <p:nvSpPr>
          <p:cNvPr id="3" name="Content Placeholder 2"/>
          <p:cNvSpPr>
            <a:spLocks noGrp="1" noEditPoints="1"/>
          </p:cNvSpPr>
          <p:nvPr>
            <p:ph idx="1"/>
          </p:nvPr>
        </p:nvSpPr>
        <p:spPr/>
        <p:txBody>
          <a:bodyPr/>
          <a:lstStyle/>
          <a:p>
            <a:r>
              <a:rPr lang="en-US" dirty="0"/>
              <a:t>The full list of desired features, or user stories, are captured in what Scrum and XP call a “backlog.” </a:t>
            </a:r>
          </a:p>
          <a:p>
            <a:r>
              <a:rPr lang="en-US" dirty="0"/>
              <a:t>The highest-priority stories reside at the top of the backlog and are in the lowest level of detail.</a:t>
            </a:r>
          </a:p>
          <a:p>
            <a:r>
              <a:rPr lang="en-US" dirty="0"/>
              <a:t>Mike Cohn provides sound guidance on how to improve backlog quality using the acronym </a:t>
            </a:r>
            <a:r>
              <a:rPr lang="en-US" b="1" dirty="0"/>
              <a:t>DEEP</a:t>
            </a:r>
            <a:r>
              <a:rPr lang="en-US" dirty="0"/>
              <a:t>, which stands for Detailed appropriately, Estimated, Emergent, and Prioritized</a:t>
            </a:r>
            <a:endParaRPr lang="en-IN" dirty="0"/>
          </a:p>
        </p:txBody>
      </p:sp>
      <p:sp>
        <p:nvSpPr>
          <p:cNvPr id="4" name="Slide Number Placeholder 3"/>
          <p:cNvSpPr>
            <a:spLocks noGrp="1" noEditPoints="1"/>
          </p:cNvSpPr>
          <p:nvPr>
            <p:ph type="sldNum" sz="quarter" idx="12"/>
          </p:nvPr>
        </p:nvSpPr>
        <p:spPr/>
        <p:txBody>
          <a:bodyPr/>
          <a:lstStyle/>
          <a:p>
            <a:fld id="{F81F8360-00E8-462F-93F6-51CC5257BC34}" type="slidenum">
              <a:rPr lang="en-IN" smtClean="0"/>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dirty="0"/>
              <a:t>Product Backlog (Scrum and XP)</a:t>
            </a:r>
            <a:endParaRPr lang="en-IN" dirty="0"/>
          </a:p>
        </p:txBody>
      </p:sp>
      <p:sp>
        <p:nvSpPr>
          <p:cNvPr id="3" name="Content Placeholder 2"/>
          <p:cNvSpPr>
            <a:spLocks noGrp="1" noEditPoints="1"/>
          </p:cNvSpPr>
          <p:nvPr>
            <p:ph idx="1"/>
          </p:nvPr>
        </p:nvSpPr>
        <p:spPr/>
        <p:txBody>
          <a:bodyPr>
            <a:normAutofit fontScale="92500" lnSpcReduction="20000"/>
          </a:bodyPr>
          <a:lstStyle/>
          <a:p>
            <a:r>
              <a:rPr lang="en-US" b="1" dirty="0"/>
              <a:t>Detailed</a:t>
            </a:r>
            <a:r>
              <a:rPr lang="en-US" dirty="0"/>
              <a:t> appropriately means that the highest-priority stories contain sufficient detail for the development teams to deliver them: Questions are answered, and the necessary clarifications are included in the story description. </a:t>
            </a:r>
          </a:p>
          <a:p>
            <a:r>
              <a:rPr lang="en-US" b="1" dirty="0"/>
              <a:t>Estimated</a:t>
            </a:r>
            <a:r>
              <a:rPr lang="en-US" dirty="0"/>
              <a:t> means that the team understands the stories and believes there is adequate information to estimate the level of effort or amount of time required to deliver the story. We explore estimating thoroughly in this chapter.</a:t>
            </a:r>
          </a:p>
          <a:p>
            <a:r>
              <a:rPr lang="en-US" b="1" dirty="0"/>
              <a:t>Emergent</a:t>
            </a:r>
            <a:r>
              <a:rPr lang="en-US" dirty="0"/>
              <a:t> refers to the backlog’s constant evolution: As new information is learned about the marketplace, a competitor, or a technological advancement, the backlog is modified, reprioritized, or clarified.</a:t>
            </a:r>
          </a:p>
          <a:p>
            <a:r>
              <a:rPr lang="en-US" b="1" dirty="0"/>
              <a:t>Prioritized</a:t>
            </a:r>
            <a:r>
              <a:rPr lang="en-US" dirty="0"/>
              <a:t> means exactly that—the user stories are in priority order, with the highest-priority items that will deliver the most business value at the top of the backlog for immediate development. </a:t>
            </a:r>
            <a:endParaRPr lang="en-IN" dirty="0"/>
          </a:p>
        </p:txBody>
      </p:sp>
      <p:sp>
        <p:nvSpPr>
          <p:cNvPr id="4" name="Slide Number Placeholder 3"/>
          <p:cNvSpPr>
            <a:spLocks noGrp="1" noEditPoints="1"/>
          </p:cNvSpPr>
          <p:nvPr>
            <p:ph type="sldNum" sz="quarter" idx="12"/>
          </p:nvPr>
        </p:nvSpPr>
        <p:spPr/>
        <p:txBody>
          <a:bodyPr/>
          <a:lstStyle/>
          <a:p>
            <a:fld id="{F81F8360-00E8-462F-93F6-51CC5257BC34}" type="slidenum">
              <a:rPr lang="en-IN" smtClean="0"/>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dirty="0"/>
              <a:t>Product Backlog (Scrum and XP)</a:t>
            </a:r>
            <a:endParaRPr lang="en-IN" dirty="0"/>
          </a:p>
        </p:txBody>
      </p:sp>
      <p:sp>
        <p:nvSpPr>
          <p:cNvPr id="3" name="Content Placeholder 2"/>
          <p:cNvSpPr>
            <a:spLocks noGrp="1" noEditPoints="1"/>
          </p:cNvSpPr>
          <p:nvPr>
            <p:ph idx="1"/>
          </p:nvPr>
        </p:nvSpPr>
        <p:spPr/>
        <p:txBody>
          <a:bodyPr>
            <a:normAutofit/>
          </a:bodyPr>
          <a:lstStyle/>
          <a:p>
            <a:r>
              <a:rPr lang="en-US" dirty="0"/>
              <a:t>Where the product backlog is housed will vary from company to company. </a:t>
            </a:r>
          </a:p>
          <a:p>
            <a:r>
              <a:rPr lang="en-US" dirty="0"/>
              <a:t>Some firms, typically with smaller teams that are all </a:t>
            </a:r>
            <a:r>
              <a:rPr lang="en-US" dirty="0" err="1"/>
              <a:t>colocated</a:t>
            </a:r>
            <a:r>
              <a:rPr lang="en-US" dirty="0"/>
              <a:t>, may have a physical backlog with sticky notes hanging on the wall in priority order.</a:t>
            </a:r>
          </a:p>
          <a:p>
            <a:r>
              <a:rPr lang="en-US" dirty="0"/>
              <a:t>As collaboration between the business, product owner, and development team affects the priority, the sticky notes are simply rearranged.</a:t>
            </a:r>
            <a:endParaRPr lang="en-IN" dirty="0"/>
          </a:p>
        </p:txBody>
      </p:sp>
      <p:pic>
        <p:nvPicPr>
          <p:cNvPr id="5" name="Picture 4"/>
          <p:cNvPicPr>
            <a:picLocks noChangeAspect="1"/>
          </p:cNvPicPr>
          <p:nvPr/>
        </p:nvPicPr>
        <p:blipFill>
          <a:blip r:embed="rId1">
            <a:clrChange>
              <a:clrFrom>
                <a:srgbClr val="FFFFFF"/>
              </a:clrFrom>
              <a:clrTo>
                <a:srgbClr val="FFFFFF">
                  <a:alpha val="0"/>
                </a:srgbClr>
              </a:clrTo>
            </a:clrChange>
          </a:blip>
          <a:srcRect/>
          <a:stretch>
            <a:fillRect/>
          </a:stretch>
        </p:blipFill>
        <p:spPr>
          <a:xfrm>
            <a:off x="1390649" y="4387442"/>
            <a:ext cx="6524625" cy="2394358"/>
          </a:xfrm>
          <a:prstGeom prst="rect">
            <a:avLst/>
          </a:prstGeom>
          <a:ln>
            <a:noFill/>
          </a:ln>
          <a:effectLst>
            <a:outerShdw blurRad="292100" dist="139700" dir="2700000" algn="tl" rotWithShape="0">
              <a:srgbClr val="333333">
                <a:alpha val="65000"/>
              </a:srgbClr>
            </a:outerShdw>
          </a:effectLst>
        </p:spPr>
      </p:pic>
      <p:sp>
        <p:nvSpPr>
          <p:cNvPr id="6" name="Slide Number Placeholder 5"/>
          <p:cNvSpPr>
            <a:spLocks noGrp="1" noEditPoints="1"/>
          </p:cNvSpPr>
          <p:nvPr>
            <p:ph type="sldNum" sz="quarter" idx="12"/>
          </p:nvPr>
        </p:nvSpPr>
        <p:spPr/>
        <p:txBody>
          <a:bodyPr/>
          <a:lstStyle/>
          <a:p>
            <a:fld id="{F81F8360-00E8-462F-93F6-51CC5257BC34}" type="slidenum">
              <a:rPr lang="en-IN" smtClean="0"/>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IN" dirty="0"/>
              <a:t>Prioritization of Stories</a:t>
            </a:r>
          </a:p>
        </p:txBody>
      </p:sp>
      <p:sp>
        <p:nvSpPr>
          <p:cNvPr id="3" name="Content Placeholder 2"/>
          <p:cNvSpPr>
            <a:spLocks noGrp="1" noEditPoints="1"/>
          </p:cNvSpPr>
          <p:nvPr>
            <p:ph idx="1"/>
          </p:nvPr>
        </p:nvSpPr>
        <p:spPr/>
        <p:txBody>
          <a:bodyPr/>
          <a:lstStyle/>
          <a:p>
            <a:r>
              <a:rPr lang="en-US" dirty="0"/>
              <a:t>As the P in the DEEP acronym, product backlog requirements/stories must be prioritized. </a:t>
            </a:r>
          </a:p>
          <a:p>
            <a:r>
              <a:rPr lang="en-US" dirty="0"/>
              <a:t>There are a number of tools and methods to assist with this activity.</a:t>
            </a:r>
            <a:endParaRPr lang="en-IN" dirty="0"/>
          </a:p>
        </p:txBody>
      </p:sp>
      <p:sp>
        <p:nvSpPr>
          <p:cNvPr id="4" name="Slide Number Placeholder 3"/>
          <p:cNvSpPr>
            <a:spLocks noGrp="1" noEditPoints="1"/>
          </p:cNvSpPr>
          <p:nvPr>
            <p:ph type="sldNum" sz="quarter" idx="12"/>
          </p:nvPr>
        </p:nvSpPr>
        <p:spPr/>
        <p:txBody>
          <a:bodyPr/>
          <a:lstStyle/>
          <a:p>
            <a:fld id="{F81F8360-00E8-462F-93F6-51CC5257BC34}" type="slidenum">
              <a:rPr lang="en-IN" smtClean="0"/>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IN" dirty="0"/>
              <a:t>Prioritization Based on Value</a:t>
            </a:r>
          </a:p>
        </p:txBody>
      </p:sp>
      <p:sp>
        <p:nvSpPr>
          <p:cNvPr id="3" name="Content Placeholder 2"/>
          <p:cNvSpPr>
            <a:spLocks noGrp="1" noEditPoints="1"/>
          </p:cNvSpPr>
          <p:nvPr>
            <p:ph idx="1"/>
          </p:nvPr>
        </p:nvSpPr>
        <p:spPr/>
        <p:txBody>
          <a:bodyPr>
            <a:normAutofit fontScale="92500" lnSpcReduction="10000"/>
          </a:bodyPr>
          <a:lstStyle/>
          <a:p>
            <a:r>
              <a:rPr lang="en-US" dirty="0"/>
              <a:t>Targets such as increased revenue, decreased costs, and improved customer service can be the high-level objectives, but now we dive a bit deeper into the value equation.</a:t>
            </a:r>
          </a:p>
          <a:p>
            <a:r>
              <a:rPr lang="en-US" dirty="0"/>
              <a:t>If your competitors have a distinct advantage over you, then there are real penalties for not offering a competitive feature set.</a:t>
            </a:r>
          </a:p>
          <a:p>
            <a:r>
              <a:rPr lang="en-US" dirty="0"/>
              <a:t>If our weather app offers weather only in the United States but many of our executive business travelers are traveling to the UK and Mexico and our competitor offers those locations, we may risk losing customers.</a:t>
            </a:r>
          </a:p>
          <a:p>
            <a:r>
              <a:rPr lang="en-US" dirty="0"/>
              <a:t>Sometimes value is driven by proactively going after new markets and new opportunities.</a:t>
            </a:r>
          </a:p>
          <a:p>
            <a:r>
              <a:rPr lang="en-US" dirty="0"/>
              <a:t>Other times, value is derived from a more defensive or reactive posture when we are simply matching the features of our competitors.</a:t>
            </a:r>
            <a:endParaRPr lang="en-IN" dirty="0"/>
          </a:p>
        </p:txBody>
      </p:sp>
      <p:sp>
        <p:nvSpPr>
          <p:cNvPr id="4" name="Slide Number Placeholder 3"/>
          <p:cNvSpPr>
            <a:spLocks noGrp="1" noEditPoints="1"/>
          </p:cNvSpPr>
          <p:nvPr>
            <p:ph type="sldNum" sz="quarter" idx="12"/>
          </p:nvPr>
        </p:nvSpPr>
        <p:spPr/>
        <p:txBody>
          <a:bodyPr/>
          <a:lstStyle/>
          <a:p>
            <a:fld id="{F81F8360-00E8-462F-93F6-51CC5257BC34}" type="slidenum">
              <a:rPr lang="en-IN" smtClean="0"/>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IN" dirty="0"/>
              <a:t>Prioritization Based on Value</a:t>
            </a:r>
          </a:p>
        </p:txBody>
      </p:sp>
      <p:sp>
        <p:nvSpPr>
          <p:cNvPr id="3" name="Content Placeholder 2"/>
          <p:cNvSpPr>
            <a:spLocks noGrp="1" noEditPoints="1"/>
          </p:cNvSpPr>
          <p:nvPr>
            <p:ph idx="1"/>
          </p:nvPr>
        </p:nvSpPr>
        <p:spPr/>
        <p:txBody>
          <a:bodyPr>
            <a:normAutofit lnSpcReduction="10000"/>
          </a:bodyPr>
          <a:lstStyle/>
          <a:p>
            <a:r>
              <a:rPr lang="en-US" dirty="0"/>
              <a:t>Value must also be supported by a positive return on investment (ROI), so the cost to deliver a desired feature must be considered. </a:t>
            </a:r>
          </a:p>
          <a:p>
            <a:r>
              <a:rPr lang="en-US" dirty="0"/>
              <a:t>If there is no way to recoup your investment because the cost of delivering the feature is so high, then the value deteriorates and the feature should be deprioritized. </a:t>
            </a:r>
          </a:p>
          <a:p>
            <a:pPr lvl="1"/>
            <a:r>
              <a:rPr lang="en-US" dirty="0"/>
              <a:t>For example, data format for weather information in Iceland is not compatible with our application and would require a significant amount of code to convert it to a usable format. </a:t>
            </a:r>
          </a:p>
          <a:p>
            <a:pPr lvl="1"/>
            <a:r>
              <a:rPr lang="en-US" dirty="0"/>
              <a:t>The cost of the data conversion compared with the revenue potential for adding Iceland data reveals that this would not be a wise undertaking and would cost far more than it is worth. </a:t>
            </a:r>
          </a:p>
          <a:p>
            <a:pPr lvl="1"/>
            <a:r>
              <a:rPr lang="en-US" dirty="0"/>
              <a:t>Therefore, a user story requesting Iceland data should be removed from the backlog with the explanation for the decision.</a:t>
            </a:r>
            <a:endParaRPr lang="en-IN" dirty="0"/>
          </a:p>
        </p:txBody>
      </p:sp>
      <p:sp>
        <p:nvSpPr>
          <p:cNvPr id="4" name="Slide Number Placeholder 3"/>
          <p:cNvSpPr>
            <a:spLocks noGrp="1" noEditPoints="1"/>
          </p:cNvSpPr>
          <p:nvPr>
            <p:ph type="sldNum" sz="quarter" idx="12"/>
          </p:nvPr>
        </p:nvSpPr>
        <p:spPr/>
        <p:txBody>
          <a:bodyPr/>
          <a:lstStyle/>
          <a:p>
            <a:fld id="{F81F8360-00E8-462F-93F6-51CC5257BC34}" type="slidenum">
              <a:rPr lang="en-IN" smtClean="0"/>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IN" dirty="0"/>
              <a:t>Prioritization Based on Value</a:t>
            </a:r>
          </a:p>
        </p:txBody>
      </p:sp>
      <p:sp>
        <p:nvSpPr>
          <p:cNvPr id="3" name="Content Placeholder 2"/>
          <p:cNvSpPr>
            <a:spLocks noGrp="1" noEditPoints="1"/>
          </p:cNvSpPr>
          <p:nvPr>
            <p:ph idx="1"/>
          </p:nvPr>
        </p:nvSpPr>
        <p:spPr/>
        <p:txBody>
          <a:bodyPr>
            <a:normAutofit/>
          </a:bodyPr>
          <a:lstStyle/>
          <a:p>
            <a:r>
              <a:rPr lang="en-US" dirty="0"/>
              <a:t>Lastly, there is a consideration of the risks associated with the feature development:</a:t>
            </a:r>
          </a:p>
          <a:p>
            <a:r>
              <a:rPr lang="en-US" dirty="0"/>
              <a:t>If this feature might jeopardize the stability of the application, then its value is diminished. </a:t>
            </a:r>
          </a:p>
          <a:p>
            <a:r>
              <a:rPr lang="en-US" dirty="0"/>
              <a:t>You can see that value is not a simple equation and that many factors—revenue, cost, risk, and penalties—must be considered.</a:t>
            </a:r>
            <a:endParaRPr lang="en-IN" dirty="0"/>
          </a:p>
        </p:txBody>
      </p:sp>
      <p:sp>
        <p:nvSpPr>
          <p:cNvPr id="4" name="Slide Number Placeholder 3"/>
          <p:cNvSpPr>
            <a:spLocks noGrp="1" noEditPoints="1"/>
          </p:cNvSpPr>
          <p:nvPr>
            <p:ph type="sldNum" sz="quarter" idx="12"/>
          </p:nvPr>
        </p:nvSpPr>
        <p:spPr/>
        <p:txBody>
          <a:bodyPr/>
          <a:lstStyle/>
          <a:p>
            <a:fld id="{F81F8360-00E8-462F-93F6-51CC5257BC34}" type="slidenum">
              <a:rPr lang="en-IN" smtClean="0"/>
              <a:t>9</a:t>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IN" dirty="0" err="1"/>
              <a:t>MoSCoW</a:t>
            </a:r>
            <a:endParaRPr lang="en-IN" dirty="0"/>
          </a:p>
        </p:txBody>
      </p:sp>
      <p:sp>
        <p:nvSpPr>
          <p:cNvPr id="3" name="Content Placeholder 2"/>
          <p:cNvSpPr>
            <a:spLocks noGrp="1" noEditPoints="1"/>
          </p:cNvSpPr>
          <p:nvPr>
            <p:ph idx="1"/>
          </p:nvPr>
        </p:nvSpPr>
        <p:spPr/>
        <p:txBody>
          <a:bodyPr>
            <a:normAutofit lnSpcReduction="10000"/>
          </a:bodyPr>
          <a:lstStyle/>
          <a:p>
            <a:r>
              <a:rPr lang="en-US" dirty="0"/>
              <a:t>Another method of prioritization is the </a:t>
            </a:r>
            <a:r>
              <a:rPr lang="en-US" dirty="0" err="1"/>
              <a:t>MoSCoW</a:t>
            </a:r>
            <a:r>
              <a:rPr lang="en-US" dirty="0"/>
              <a:t> method favored by Dynamic Systems Development Method.</a:t>
            </a:r>
          </a:p>
          <a:p>
            <a:r>
              <a:rPr lang="en-US" b="1" dirty="0"/>
              <a:t>Must have: </a:t>
            </a:r>
            <a:r>
              <a:rPr lang="en-US" dirty="0"/>
              <a:t>All features classified in this group must be implemented, and if they are not delivered, the system would simply not work.</a:t>
            </a:r>
          </a:p>
          <a:p>
            <a:r>
              <a:rPr lang="en-US" b="1" dirty="0"/>
              <a:t>Should have: </a:t>
            </a:r>
            <a:r>
              <a:rPr lang="en-US" dirty="0"/>
              <a:t>Features of this priority are important but can be omitted if time or resources constraints appear.</a:t>
            </a:r>
          </a:p>
          <a:p>
            <a:r>
              <a:rPr lang="en-US" b="1" dirty="0"/>
              <a:t>Could have: </a:t>
            </a:r>
            <a:r>
              <a:rPr lang="en-US" dirty="0"/>
              <a:t>These features enhance the system with greater functionality, but the timeliness of their delivery is not critical.</a:t>
            </a:r>
          </a:p>
          <a:p>
            <a:r>
              <a:rPr lang="en-US" b="1" dirty="0"/>
              <a:t>Want to have: </a:t>
            </a:r>
            <a:r>
              <a:rPr lang="en-US" dirty="0"/>
              <a:t>These features serve only a limited group of users and do not drive the same amount of business value as the preceding items.</a:t>
            </a:r>
            <a:endParaRPr lang="en-IN" dirty="0"/>
          </a:p>
        </p:txBody>
      </p:sp>
      <p:sp>
        <p:nvSpPr>
          <p:cNvPr id="4" name="Slide Number Placeholder 3"/>
          <p:cNvSpPr>
            <a:spLocks noGrp="1" noEditPoints="1"/>
          </p:cNvSpPr>
          <p:nvPr>
            <p:ph type="sldNum" sz="quarter" idx="12"/>
          </p:nvPr>
        </p:nvSpPr>
        <p:spPr/>
        <p:txBody>
          <a:bodyPr/>
          <a:lstStyle/>
          <a:p>
            <a:fld id="{C70AC583-F9E3-4A59-98F2-FD7379A90CB7}" type="slidenum">
              <a:rPr lang="en-IN" smtClean="0"/>
              <a:t>10</a:t>
            </a:fld>
            <a:endParaRPr lang="en-IN" b="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IN" dirty="0" err="1"/>
              <a:t>MoSCoW</a:t>
            </a:r>
            <a:endParaRPr lang="en-IN" dirty="0"/>
          </a:p>
        </p:txBody>
      </p:sp>
      <p:sp>
        <p:nvSpPr>
          <p:cNvPr id="3" name="Content Placeholder 2"/>
          <p:cNvSpPr>
            <a:spLocks noGrp="1" noEditPoints="1"/>
          </p:cNvSpPr>
          <p:nvPr>
            <p:ph idx="1"/>
          </p:nvPr>
        </p:nvSpPr>
        <p:spPr/>
        <p:txBody>
          <a:bodyPr>
            <a:normAutofit/>
          </a:bodyPr>
          <a:lstStyle/>
          <a:p>
            <a:r>
              <a:rPr lang="en-US" dirty="0"/>
              <a:t>Using Cayman Design as our example, we want to produce our weather related calendars for purchase to create a new revenue stream. </a:t>
            </a:r>
          </a:p>
          <a:p>
            <a:r>
              <a:rPr lang="en-US" dirty="0"/>
              <a:t>For this product, we have certain priorities with respect to the payment processing portion.</a:t>
            </a:r>
          </a:p>
          <a:p>
            <a:r>
              <a:rPr lang="en-US" b="1" dirty="0"/>
              <a:t>Must have: </a:t>
            </a:r>
            <a:r>
              <a:rPr lang="en-US" dirty="0"/>
              <a:t>Ability to accept MasterCard and Visa</a:t>
            </a:r>
          </a:p>
          <a:p>
            <a:r>
              <a:rPr lang="en-US" b="1" dirty="0"/>
              <a:t>Should have: </a:t>
            </a:r>
            <a:r>
              <a:rPr lang="en-US" dirty="0"/>
              <a:t>Add American Express and Discover</a:t>
            </a:r>
          </a:p>
          <a:p>
            <a:r>
              <a:rPr lang="en-US" b="1" dirty="0"/>
              <a:t>Could have: </a:t>
            </a:r>
            <a:r>
              <a:rPr lang="en-US" dirty="0"/>
              <a:t>Add ACH payments for transactions directly through banking institutions</a:t>
            </a:r>
          </a:p>
          <a:p>
            <a:r>
              <a:rPr lang="en-US" b="1" dirty="0"/>
              <a:t>Want to have: </a:t>
            </a:r>
            <a:r>
              <a:rPr lang="en-US" dirty="0"/>
              <a:t>Add gift cards</a:t>
            </a:r>
            <a:endParaRPr lang="en-IN" dirty="0"/>
          </a:p>
        </p:txBody>
      </p:sp>
      <p:sp>
        <p:nvSpPr>
          <p:cNvPr id="4" name="Slide Number Placeholder 3"/>
          <p:cNvSpPr>
            <a:spLocks noGrp="1" noEditPoints="1"/>
          </p:cNvSpPr>
          <p:nvPr>
            <p:ph type="sldNum" sz="quarter" idx="12"/>
          </p:nvPr>
        </p:nvSpPr>
        <p:spPr/>
        <p:txBody>
          <a:bodyPr/>
          <a:lstStyle/>
          <a:p>
            <a:fld id="{C70AC583-F9E3-4A59-98F2-FD7379A90CB7}" type="slidenum">
              <a:rPr lang="en-IN" smtClean="0"/>
              <a:t>11</a:t>
            </a:fld>
            <a:endParaRPr lang="en-IN" b="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IN" dirty="0" err="1"/>
              <a:t>MoSCoW</a:t>
            </a:r>
            <a:endParaRPr lang="en-IN" dirty="0"/>
          </a:p>
        </p:txBody>
      </p:sp>
      <p:sp>
        <p:nvSpPr>
          <p:cNvPr id="3" name="Content Placeholder 2"/>
          <p:cNvSpPr>
            <a:spLocks noGrp="1" noEditPoints="1"/>
          </p:cNvSpPr>
          <p:nvPr>
            <p:ph idx="1"/>
          </p:nvPr>
        </p:nvSpPr>
        <p:spPr/>
        <p:txBody>
          <a:bodyPr>
            <a:normAutofit/>
          </a:bodyPr>
          <a:lstStyle/>
          <a:p>
            <a:r>
              <a:rPr lang="en-US" dirty="0"/>
              <a:t>As you can see, if we cannot accept MasterCard and Visa, then our offering is not viable; therefore, that requirement is a “must have.” </a:t>
            </a:r>
          </a:p>
          <a:p>
            <a:r>
              <a:rPr lang="en-US" dirty="0"/>
              <a:t>Adding American Express and Discover is important to our success, so they should be added as quickly as time allows; hence they fall into the “should have” category. </a:t>
            </a:r>
          </a:p>
          <a:p>
            <a:r>
              <a:rPr lang="en-US" dirty="0"/>
              <a:t>Accepting ACH payments will broaden the appeal of our product but it does not have to be delivered early in the project, so that is a “could have.” </a:t>
            </a:r>
          </a:p>
          <a:p>
            <a:r>
              <a:rPr lang="en-US" dirty="0"/>
              <a:t>Adding gift cards will serve only a limited audience, so that would fall into the “want to have” category.</a:t>
            </a:r>
            <a:endParaRPr lang="en-IN" dirty="0"/>
          </a:p>
        </p:txBody>
      </p:sp>
      <p:sp>
        <p:nvSpPr>
          <p:cNvPr id="4" name="Slide Number Placeholder 3"/>
          <p:cNvSpPr>
            <a:spLocks noGrp="1" noEditPoints="1"/>
          </p:cNvSpPr>
          <p:nvPr>
            <p:ph type="sldNum" sz="quarter" idx="12"/>
          </p:nvPr>
        </p:nvSpPr>
        <p:spPr/>
        <p:txBody>
          <a:bodyPr/>
          <a:lstStyle/>
          <a:p>
            <a:fld id="{C70AC583-F9E3-4A59-98F2-FD7379A90CB7}" type="slidenum">
              <a:rPr lang="en-IN" smtClean="0"/>
              <a:t>12</a:t>
            </a:fld>
            <a:endParaRPr lang="en-IN" b="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IN" dirty="0"/>
              <a:t>Kano Model</a:t>
            </a:r>
          </a:p>
        </p:txBody>
      </p:sp>
      <p:sp>
        <p:nvSpPr>
          <p:cNvPr id="3" name="Content Placeholder 2"/>
          <p:cNvSpPr>
            <a:spLocks noGrp="1" noEditPoints="1"/>
          </p:cNvSpPr>
          <p:nvPr>
            <p:ph idx="1"/>
          </p:nvPr>
        </p:nvSpPr>
        <p:spPr/>
        <p:txBody>
          <a:bodyPr>
            <a:normAutofit fontScale="85000" lnSpcReduction="10000"/>
          </a:bodyPr>
          <a:lstStyle/>
          <a:p>
            <a:r>
              <a:rPr lang="en-US" dirty="0"/>
              <a:t>The Kano model was introduced in 1984 by Noriaki Kano and was created to help companies learn how to build better products to “delight” the customers.</a:t>
            </a:r>
          </a:p>
          <a:p>
            <a:r>
              <a:rPr lang="en-US" dirty="0"/>
              <a:t>The model assists with the prioritization process because it breaks down features into three categories. </a:t>
            </a:r>
          </a:p>
          <a:p>
            <a:r>
              <a:rPr lang="en-US" dirty="0"/>
              <a:t>The first is </a:t>
            </a:r>
            <a:r>
              <a:rPr lang="en-US" b="1" dirty="0"/>
              <a:t>basic needs</a:t>
            </a:r>
            <a:r>
              <a:rPr lang="en-US" dirty="0"/>
              <a:t>, which are sometimes referred to as satisfiers/dissatisfiers. </a:t>
            </a:r>
          </a:p>
          <a:p>
            <a:r>
              <a:rPr lang="en-US" dirty="0"/>
              <a:t>These are the features that must be there for the product to work, in the eyes of the customer: The functionality is expected, and if it is not included, it causes great dissatisfaction. </a:t>
            </a:r>
          </a:p>
          <a:p>
            <a:r>
              <a:rPr lang="en-US" dirty="0"/>
              <a:t>After a consumer’s basic needs are met, then there are </a:t>
            </a:r>
            <a:r>
              <a:rPr lang="en-US" b="1" dirty="0"/>
              <a:t>performance needs</a:t>
            </a:r>
            <a:r>
              <a:rPr lang="en-US" dirty="0"/>
              <a:t>, which add necessary functionality to enhance the user experience. </a:t>
            </a:r>
          </a:p>
          <a:p>
            <a:r>
              <a:rPr lang="en-US" dirty="0"/>
              <a:t>The final category, which results in true product differentiation, consists of </a:t>
            </a:r>
            <a:r>
              <a:rPr lang="en-US" b="1" dirty="0"/>
              <a:t>features that delight or excite </a:t>
            </a:r>
            <a:r>
              <a:rPr lang="en-US" dirty="0"/>
              <a:t>users, and they are an unexpected bonus from the consumer’s viewpoint.</a:t>
            </a:r>
            <a:endParaRPr lang="en-IN" dirty="0"/>
          </a:p>
        </p:txBody>
      </p:sp>
      <p:sp>
        <p:nvSpPr>
          <p:cNvPr id="4" name="Slide Number Placeholder 3"/>
          <p:cNvSpPr>
            <a:spLocks noGrp="1" noEditPoints="1"/>
          </p:cNvSpPr>
          <p:nvPr>
            <p:ph type="sldNum" sz="quarter" idx="12"/>
          </p:nvPr>
        </p:nvSpPr>
        <p:spPr/>
        <p:txBody>
          <a:bodyPr/>
          <a:lstStyle/>
          <a:p>
            <a:fld id="{C70AC583-F9E3-4A59-98F2-FD7379A90CB7}" type="slidenum">
              <a:rPr lang="en-IN" smtClean="0"/>
              <a:t>13</a:t>
            </a:fld>
            <a:endParaRPr lang="en-IN" b="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IN" dirty="0"/>
              <a:t>Kano Model</a:t>
            </a:r>
          </a:p>
        </p:txBody>
      </p:sp>
      <p:sp>
        <p:nvSpPr>
          <p:cNvPr id="3" name="Content Placeholder 2"/>
          <p:cNvSpPr>
            <a:spLocks noGrp="1" noEditPoints="1"/>
          </p:cNvSpPr>
          <p:nvPr>
            <p:ph idx="1"/>
          </p:nvPr>
        </p:nvSpPr>
        <p:spPr/>
        <p:txBody>
          <a:bodyPr>
            <a:normAutofit/>
          </a:bodyPr>
          <a:lstStyle/>
          <a:p>
            <a:r>
              <a:rPr lang="en-US" dirty="0"/>
              <a:t>The challenge when it comes to prioritization is to focus on enough of the basic needs, performance needs, and delighters to deliver a compelling product to the marketplace. </a:t>
            </a:r>
          </a:p>
          <a:p>
            <a:r>
              <a:rPr lang="en-US" dirty="0"/>
              <a:t>If you have a product with only delighters but no basic needs, then you might have something really innovative that does not work. </a:t>
            </a:r>
          </a:p>
          <a:p>
            <a:r>
              <a:rPr lang="en-US" dirty="0"/>
              <a:t>Conversely, if you have something that satisfies every basic need but does not delight, then customers may not be compelled to buy it because it does not offer anything special or different from the competition.</a:t>
            </a:r>
            <a:endParaRPr lang="en-IN" dirty="0"/>
          </a:p>
        </p:txBody>
      </p:sp>
      <p:sp>
        <p:nvSpPr>
          <p:cNvPr id="4" name="Slide Number Placeholder 3"/>
          <p:cNvSpPr>
            <a:spLocks noGrp="1" noEditPoints="1"/>
          </p:cNvSpPr>
          <p:nvPr>
            <p:ph type="sldNum" sz="quarter" idx="12"/>
          </p:nvPr>
        </p:nvSpPr>
        <p:spPr/>
        <p:txBody>
          <a:bodyPr/>
          <a:lstStyle/>
          <a:p>
            <a:fld id="{C70AC583-F9E3-4A59-98F2-FD7379A90CB7}" type="slidenum">
              <a:rPr lang="en-IN" smtClean="0"/>
              <a:t>14</a:t>
            </a:fld>
            <a:endParaRPr lang="en-IN" b="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IN" dirty="0"/>
              <a:t>Kano Model</a:t>
            </a:r>
          </a:p>
        </p:txBody>
      </p:sp>
      <p:sp>
        <p:nvSpPr>
          <p:cNvPr id="3" name="Content Placeholder 2"/>
          <p:cNvSpPr>
            <a:spLocks noGrp="1" noEditPoints="1"/>
          </p:cNvSpPr>
          <p:nvPr>
            <p:ph idx="1"/>
          </p:nvPr>
        </p:nvSpPr>
        <p:spPr/>
        <p:txBody>
          <a:bodyPr>
            <a:normAutofit fontScale="92500"/>
          </a:bodyPr>
          <a:lstStyle/>
          <a:p>
            <a:r>
              <a:rPr lang="en-US" dirty="0"/>
              <a:t>Another aspect of the Kano model that is critical to understand is the evolution of the feature categorization: </a:t>
            </a:r>
          </a:p>
          <a:p>
            <a:r>
              <a:rPr lang="en-US" dirty="0"/>
              <a:t>Over time, delighters will become performance needs, and performance needs will become basic needs. </a:t>
            </a:r>
          </a:p>
          <a:p>
            <a:r>
              <a:rPr lang="en-US" dirty="0"/>
              <a:t>To illustrate this concept, think of the first iPad that you experienced. It had a number of features that delighted: </a:t>
            </a:r>
          </a:p>
          <a:p>
            <a:r>
              <a:rPr lang="en-US" dirty="0"/>
              <a:t>The touchscreen with the swiping capabilities was awe inspiring when first encountered, but now if we see a tablet that is not a touchscreen, it is completely dissatisfying. </a:t>
            </a:r>
          </a:p>
          <a:p>
            <a:r>
              <a:rPr lang="en-US" dirty="0"/>
              <a:t>The delighters have become basic needs as the competition has evolved and the technology has advanced. </a:t>
            </a:r>
          </a:p>
          <a:p>
            <a:r>
              <a:rPr lang="en-US" dirty="0"/>
              <a:t>Therefore, companies must continue to prioritize delighter features if they want to remain innovative.</a:t>
            </a:r>
            <a:endParaRPr lang="en-IN" dirty="0"/>
          </a:p>
        </p:txBody>
      </p:sp>
      <p:sp>
        <p:nvSpPr>
          <p:cNvPr id="4" name="Slide Number Placeholder 3"/>
          <p:cNvSpPr>
            <a:spLocks noGrp="1" noEditPoints="1"/>
          </p:cNvSpPr>
          <p:nvPr>
            <p:ph type="sldNum" sz="quarter" idx="12"/>
          </p:nvPr>
        </p:nvSpPr>
        <p:spPr/>
        <p:txBody>
          <a:bodyPr/>
          <a:lstStyle/>
          <a:p>
            <a:fld id="{C70AC583-F9E3-4A59-98F2-FD7379A90CB7}" type="slidenum">
              <a:rPr lang="en-IN" smtClean="0"/>
              <a:t>15</a:t>
            </a:fld>
            <a:endParaRPr lang="en-IN" b="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IN"/>
              <a:t>Estimating</a:t>
            </a:r>
          </a:p>
        </p:txBody>
      </p:sp>
      <p:sp>
        <p:nvSpPr>
          <p:cNvPr id="3" name="Content Placeholder 2"/>
          <p:cNvSpPr>
            <a:spLocks noGrp="1" noEditPoints="1"/>
          </p:cNvSpPr>
          <p:nvPr>
            <p:ph idx="1"/>
          </p:nvPr>
        </p:nvSpPr>
        <p:spPr/>
        <p:txBody>
          <a:bodyPr/>
          <a:lstStyle/>
          <a:p>
            <a:r>
              <a:rPr lang="en-US" dirty="0"/>
              <a:t>In addition to effective prioritization, grooming and planning sessions require sound estimates for how long the work is likely to take. </a:t>
            </a:r>
          </a:p>
          <a:p>
            <a:r>
              <a:rPr lang="en-US" dirty="0"/>
              <a:t>There are a number of different ways to come up with the estimates, just as there are many different ways to prioritize the feature requests.</a:t>
            </a:r>
            <a:endParaRPr lang="en-IN" dirty="0"/>
          </a:p>
        </p:txBody>
      </p:sp>
      <p:sp>
        <p:nvSpPr>
          <p:cNvPr id="4" name="Slide Number Placeholder 3"/>
          <p:cNvSpPr>
            <a:spLocks noGrp="1" noEditPoints="1"/>
          </p:cNvSpPr>
          <p:nvPr>
            <p:ph type="sldNum" sz="quarter" idx="12"/>
          </p:nvPr>
        </p:nvSpPr>
        <p:spPr/>
        <p:txBody>
          <a:bodyPr/>
          <a:lstStyle/>
          <a:p>
            <a:fld id="{C70AC583-F9E3-4A59-98F2-FD7379A90CB7}" type="slidenum">
              <a:rPr lang="en-IN" smtClean="0"/>
              <a:t>16</a:t>
            </a:fld>
            <a:endParaRPr lang="en-IN" b="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dirty="0"/>
              <a:t>Level of Effort (LOE) or T-Shirt Sizing</a:t>
            </a:r>
            <a:endParaRPr lang="en-IN" dirty="0"/>
          </a:p>
        </p:txBody>
      </p:sp>
      <p:sp>
        <p:nvSpPr>
          <p:cNvPr id="3" name="Content Placeholder 2"/>
          <p:cNvSpPr>
            <a:spLocks noGrp="1" noEditPoints="1"/>
          </p:cNvSpPr>
          <p:nvPr>
            <p:ph idx="1"/>
          </p:nvPr>
        </p:nvSpPr>
        <p:spPr/>
        <p:txBody>
          <a:bodyPr>
            <a:normAutofit/>
          </a:bodyPr>
          <a:lstStyle/>
          <a:p>
            <a:r>
              <a:rPr lang="en-US" dirty="0"/>
              <a:t>Perhaps the least precise but easiest method of estimating goes by one of the following names: “T-shirt size,” “level of effort” (LOE), or “small, medium, </a:t>
            </a:r>
            <a:r>
              <a:rPr lang="en-IN" dirty="0"/>
              <a:t>large.”</a:t>
            </a:r>
          </a:p>
          <a:p>
            <a:r>
              <a:rPr lang="en-US" dirty="0"/>
              <a:t>The last title is the most descriptive because the development team just estimates each story as small, medium, or large; teams may add extra-small and extra-large, depending on what they have decided as their measure. </a:t>
            </a:r>
          </a:p>
          <a:p>
            <a:r>
              <a:rPr lang="en-US" dirty="0"/>
              <a:t>The advantages of this approach are that it is very simple and can be done quickly; the disadvantages include a lack of precision and an inability to add up several stories into a meaningful measure.</a:t>
            </a:r>
            <a:endParaRPr lang="en-IN" dirty="0"/>
          </a:p>
        </p:txBody>
      </p:sp>
      <p:sp>
        <p:nvSpPr>
          <p:cNvPr id="4" name="Slide Number Placeholder 3"/>
          <p:cNvSpPr>
            <a:spLocks noGrp="1" noEditPoints="1"/>
          </p:cNvSpPr>
          <p:nvPr>
            <p:ph type="sldNum" sz="quarter" idx="12"/>
          </p:nvPr>
        </p:nvSpPr>
        <p:spPr/>
        <p:txBody>
          <a:bodyPr/>
          <a:lstStyle/>
          <a:p>
            <a:fld id="{C70AC583-F9E3-4A59-98F2-FD7379A90CB7}" type="slidenum">
              <a:rPr lang="en-IN" smtClean="0"/>
              <a:t>17</a:t>
            </a:fld>
            <a:endParaRPr lang="en-IN" b="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dirty="0"/>
              <a:t>Ideal Time (Days or Hours)</a:t>
            </a:r>
            <a:endParaRPr lang="en-IN" dirty="0"/>
          </a:p>
        </p:txBody>
      </p:sp>
      <p:sp>
        <p:nvSpPr>
          <p:cNvPr id="3" name="Content Placeholder 2"/>
          <p:cNvSpPr>
            <a:spLocks noGrp="1" noEditPoints="1"/>
          </p:cNvSpPr>
          <p:nvPr>
            <p:ph idx="1"/>
          </p:nvPr>
        </p:nvSpPr>
        <p:spPr/>
        <p:txBody>
          <a:bodyPr>
            <a:normAutofit/>
          </a:bodyPr>
          <a:lstStyle/>
          <a:p>
            <a:r>
              <a:rPr lang="en-US" dirty="0"/>
              <a:t>In this form of estimating, the developer determines the amount of time that a task would take under ideal circumstances—meaning no interruptions, no meetings, and no phone calls—and that is set as the ideal time. </a:t>
            </a:r>
          </a:p>
          <a:p>
            <a:r>
              <a:rPr lang="en-US" dirty="0"/>
              <a:t>This is an easier metric for developers to assign than actual clock time because it is difficult for them to factor in all of the possible interruptions that might occur. </a:t>
            </a:r>
          </a:p>
          <a:p>
            <a:r>
              <a:rPr lang="en-US" dirty="0"/>
              <a:t>Each organization will have some factor that is applied to convert ideal time to clock time; a ratio of 2 to 1 is fairly common, meaning that within every hour, 40 minutes are spent on concentrated work, with the other 20 minutes consumed by interruptions or breaks</a:t>
            </a:r>
            <a:endParaRPr lang="en-IN" dirty="0"/>
          </a:p>
        </p:txBody>
      </p:sp>
      <p:sp>
        <p:nvSpPr>
          <p:cNvPr id="4" name="Slide Number Placeholder 3"/>
          <p:cNvSpPr>
            <a:spLocks noGrp="1" noEditPoints="1"/>
          </p:cNvSpPr>
          <p:nvPr>
            <p:ph type="sldNum" sz="quarter" idx="12"/>
          </p:nvPr>
        </p:nvSpPr>
        <p:spPr/>
        <p:txBody>
          <a:bodyPr/>
          <a:lstStyle/>
          <a:p>
            <a:fld id="{C70AC583-F9E3-4A59-98F2-FD7379A90CB7}" type="slidenum">
              <a:rPr lang="en-IN" smtClean="0"/>
              <a:t>18</a:t>
            </a:fld>
            <a:endParaRPr lang="en-IN" b="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IN" dirty="0"/>
              <a:t>Story Points</a:t>
            </a:r>
          </a:p>
        </p:txBody>
      </p:sp>
      <p:sp>
        <p:nvSpPr>
          <p:cNvPr id="3" name="Content Placeholder 2"/>
          <p:cNvSpPr>
            <a:spLocks noGrp="1" noEditPoints="1"/>
          </p:cNvSpPr>
          <p:nvPr>
            <p:ph idx="1"/>
          </p:nvPr>
        </p:nvSpPr>
        <p:spPr/>
        <p:txBody>
          <a:bodyPr/>
          <a:lstStyle/>
          <a:p>
            <a:r>
              <a:rPr lang="en-US" dirty="0"/>
              <a:t>In Scrum, many teams use the concept of “story points,” which are an arbitrary measure that allows the teams to understand the size of the effort without the potentially binding expectations that come with hours.</a:t>
            </a:r>
            <a:endParaRPr lang="en-IN" dirty="0"/>
          </a:p>
        </p:txBody>
      </p:sp>
      <p:sp>
        <p:nvSpPr>
          <p:cNvPr id="4" name="Slide Number Placeholder 3"/>
          <p:cNvSpPr>
            <a:spLocks noGrp="1" noEditPoints="1"/>
          </p:cNvSpPr>
          <p:nvPr>
            <p:ph type="sldNum" sz="quarter" idx="12"/>
          </p:nvPr>
        </p:nvSpPr>
        <p:spPr/>
        <p:txBody>
          <a:bodyPr/>
          <a:lstStyle/>
          <a:p>
            <a:fld id="{C70AC583-F9E3-4A59-98F2-FD7379A90CB7}" type="slidenum">
              <a:rPr lang="en-IN" smtClean="0"/>
              <a:t>19</a:t>
            </a:fld>
            <a:endParaRPr lang="en-IN" b="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IN" dirty="0"/>
              <a:t>Fibonacci Sequence</a:t>
            </a:r>
          </a:p>
        </p:txBody>
      </p:sp>
      <p:sp>
        <p:nvSpPr>
          <p:cNvPr id="3" name="Content Placeholder 2"/>
          <p:cNvSpPr>
            <a:spLocks noGrp="1" noEditPoints="1"/>
          </p:cNvSpPr>
          <p:nvPr>
            <p:ph idx="1"/>
          </p:nvPr>
        </p:nvSpPr>
        <p:spPr>
          <a:xfrm>
            <a:off x="266330" y="1020932"/>
            <a:ext cx="8611340" cy="5560843"/>
          </a:xfrm>
        </p:spPr>
        <p:txBody>
          <a:bodyPr>
            <a:normAutofit fontScale="92500" lnSpcReduction="10000"/>
          </a:bodyPr>
          <a:lstStyle/>
          <a:p>
            <a:r>
              <a:rPr lang="en-US" dirty="0"/>
              <a:t>When estimating in story points, many teams use the Fibonacci sequence, a mathematical tool defined in the thirteenth century for rational approximations.</a:t>
            </a:r>
          </a:p>
          <a:p>
            <a:r>
              <a:rPr lang="en-US" dirty="0"/>
              <a:t>The sequence is the sum of the prior two numbers: 1, 2, 3, 5, 8, 13, 21; </a:t>
            </a:r>
          </a:p>
          <a:p>
            <a:r>
              <a:rPr lang="en-US" dirty="0"/>
              <a:t>as you can see, 1 + 2 = 3, 2 + 3 = 5, 3 + 5 = 8, and so on. </a:t>
            </a:r>
          </a:p>
          <a:p>
            <a:r>
              <a:rPr lang="en-US" dirty="0"/>
              <a:t>The Fibonacci sequence is helpful for Agile estimating because as the points get higher, the degree of uncertainty is increasing.</a:t>
            </a:r>
          </a:p>
          <a:p>
            <a:r>
              <a:rPr lang="en-US" dirty="0"/>
              <a:t>Also, many teams replace the 21 with 20 and add 40 and 100; the idea is that if a story is estimated at greater than 13 story points, there is a good chance that it is still an epic and needs to be broken down. </a:t>
            </a:r>
          </a:p>
          <a:p>
            <a:r>
              <a:rPr lang="en-US" dirty="0"/>
              <a:t>The difference between a 20, 40, or 100 is just a sense for the size of the epic.</a:t>
            </a:r>
            <a:endParaRPr lang="en-IN" dirty="0"/>
          </a:p>
        </p:txBody>
      </p:sp>
      <p:sp>
        <p:nvSpPr>
          <p:cNvPr id="4" name="Slide Number Placeholder 3"/>
          <p:cNvSpPr>
            <a:spLocks noGrp="1" noEditPoints="1"/>
          </p:cNvSpPr>
          <p:nvPr>
            <p:ph type="sldNum" sz="quarter" idx="12"/>
          </p:nvPr>
        </p:nvSpPr>
        <p:spPr/>
        <p:txBody>
          <a:bodyPr/>
          <a:lstStyle/>
          <a:p>
            <a:fld id="{C70AC583-F9E3-4A59-98F2-FD7379A90CB7}" type="slidenum">
              <a:rPr lang="en-IN" smtClean="0"/>
              <a:t>20</a:t>
            </a:fld>
            <a:endParaRPr lang="en-IN" b="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IN" dirty="0"/>
              <a:t>Fibonacci Sequence</a:t>
            </a:r>
          </a:p>
        </p:txBody>
      </p:sp>
      <p:sp>
        <p:nvSpPr>
          <p:cNvPr id="3" name="Content Placeholder 2"/>
          <p:cNvSpPr>
            <a:spLocks noGrp="1" noEditPoints="1"/>
          </p:cNvSpPr>
          <p:nvPr>
            <p:ph idx="1"/>
          </p:nvPr>
        </p:nvSpPr>
        <p:spPr>
          <a:xfrm>
            <a:off x="266330" y="1020932"/>
            <a:ext cx="8611340" cy="5560843"/>
          </a:xfrm>
        </p:spPr>
        <p:txBody>
          <a:bodyPr>
            <a:normAutofit/>
          </a:bodyPr>
          <a:lstStyle/>
          <a:p>
            <a:r>
              <a:rPr lang="en-US" dirty="0"/>
              <a:t>One additional thing to keep in mind is that unlike hours, which have a fixed and commonly understood definition, story points are more abstract and negotiable.</a:t>
            </a:r>
          </a:p>
          <a:p>
            <a:r>
              <a:rPr lang="en-US" dirty="0"/>
              <a:t>One team may assign 3 points to a story where that same story on another team would have been a 2 or a 5. </a:t>
            </a:r>
          </a:p>
          <a:p>
            <a:r>
              <a:rPr lang="en-US" dirty="0"/>
              <a:t>As long as everyone on the team agrees to the size of a story point, then only all of the estimating will be coherent.</a:t>
            </a:r>
            <a:endParaRPr lang="en-IN" dirty="0"/>
          </a:p>
        </p:txBody>
      </p:sp>
      <p:sp>
        <p:nvSpPr>
          <p:cNvPr id="4" name="Slide Number Placeholder 3"/>
          <p:cNvSpPr>
            <a:spLocks noGrp="1" noEditPoints="1"/>
          </p:cNvSpPr>
          <p:nvPr>
            <p:ph type="sldNum" sz="quarter" idx="12"/>
          </p:nvPr>
        </p:nvSpPr>
        <p:spPr/>
        <p:txBody>
          <a:bodyPr/>
          <a:lstStyle/>
          <a:p>
            <a:fld id="{C70AC583-F9E3-4A59-98F2-FD7379A90CB7}" type="slidenum">
              <a:rPr lang="en-IN" smtClean="0"/>
              <a:t>21</a:t>
            </a:fld>
            <a:endParaRPr lang="en-IN" b="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IN" dirty="0"/>
              <a:t>Team Participation</a:t>
            </a:r>
          </a:p>
        </p:txBody>
      </p:sp>
      <p:sp>
        <p:nvSpPr>
          <p:cNvPr id="3" name="Content Placeholder 2"/>
          <p:cNvSpPr>
            <a:spLocks noGrp="1" noEditPoints="1"/>
          </p:cNvSpPr>
          <p:nvPr>
            <p:ph idx="1"/>
          </p:nvPr>
        </p:nvSpPr>
        <p:spPr/>
        <p:txBody>
          <a:bodyPr/>
          <a:lstStyle/>
          <a:p>
            <a:r>
              <a:rPr lang="en-US" dirty="0"/>
              <a:t>How does an Agile team actually execute on the estimation process? In all instances, we are looking for participation from the developers and testers because we want to benefit from the wisdom of self-organizing teams. </a:t>
            </a:r>
          </a:p>
          <a:p>
            <a:r>
              <a:rPr lang="en-US" dirty="0"/>
              <a:t>Outlined next are several strategies that teams have used to come to consensus on estimation.</a:t>
            </a:r>
            <a:endParaRPr lang="en-IN" dirty="0"/>
          </a:p>
        </p:txBody>
      </p:sp>
      <p:sp>
        <p:nvSpPr>
          <p:cNvPr id="4" name="Slide Number Placeholder 3"/>
          <p:cNvSpPr>
            <a:spLocks noGrp="1" noEditPoints="1"/>
          </p:cNvSpPr>
          <p:nvPr>
            <p:ph type="sldNum" sz="quarter" idx="12"/>
          </p:nvPr>
        </p:nvSpPr>
        <p:spPr/>
        <p:txBody>
          <a:bodyPr/>
          <a:lstStyle/>
          <a:p>
            <a:fld id="{C70AC583-F9E3-4A59-98F2-FD7379A90CB7}" type="slidenum">
              <a:rPr lang="en-IN" smtClean="0"/>
              <a:t>22</a:t>
            </a:fld>
            <a:endParaRPr lang="en-IN" b="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IN"/>
              <a:t>Planning Poker</a:t>
            </a:r>
          </a:p>
        </p:txBody>
      </p:sp>
      <p:sp>
        <p:nvSpPr>
          <p:cNvPr id="3" name="Content Placeholder 2"/>
          <p:cNvSpPr>
            <a:spLocks noGrp="1" noEditPoints="1"/>
          </p:cNvSpPr>
          <p:nvPr>
            <p:ph idx="1"/>
          </p:nvPr>
        </p:nvSpPr>
        <p:spPr/>
        <p:txBody>
          <a:bodyPr/>
          <a:lstStyle/>
          <a:p>
            <a:endParaRPr lang="en-IN"/>
          </a:p>
        </p:txBody>
      </p:sp>
      <p:sp>
        <p:nvSpPr>
          <p:cNvPr id="4" name="Slide Number Placeholder 3"/>
          <p:cNvSpPr>
            <a:spLocks noGrp="1" noEditPoints="1"/>
          </p:cNvSpPr>
          <p:nvPr>
            <p:ph type="sldNum" sz="quarter" idx="12"/>
          </p:nvPr>
        </p:nvSpPr>
        <p:spPr/>
        <p:txBody>
          <a:bodyPr/>
          <a:lstStyle/>
          <a:p>
            <a:fld id="{C70AC583-F9E3-4A59-98F2-FD7379A90CB7}" type="slidenum">
              <a:rPr lang="en-IN" smtClean="0"/>
              <a:t>23</a:t>
            </a:fld>
            <a:endParaRPr lang="en-IN" b="0"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755</TotalTime>
  <Words>2167</Words>
  <Application>Microsoft Office PowerPoint</Application>
  <PresentationFormat>On-screen Show (4:3)</PresentationFormat>
  <Paragraphs>125</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Agile Software Engineering</vt:lpstr>
      <vt:lpstr>PowerPoint Presentation</vt:lpstr>
      <vt:lpstr>Product Backlog (Scrum and XP)</vt:lpstr>
      <vt:lpstr>Product Backlog (Scrum and XP)</vt:lpstr>
      <vt:lpstr>Product Backlog (Scrum and XP)</vt:lpstr>
      <vt:lpstr>Prioritization of Stories</vt:lpstr>
      <vt:lpstr>Prioritization Based on Value</vt:lpstr>
      <vt:lpstr>Prioritization Based on Value</vt:lpstr>
      <vt:lpstr>Prioritization Based on Value</vt:lpstr>
      <vt:lpstr>MoSCoW</vt:lpstr>
      <vt:lpstr>MoSCoW</vt:lpstr>
      <vt:lpstr>MoSCoW</vt:lpstr>
      <vt:lpstr>Kano Model</vt:lpstr>
      <vt:lpstr>Kano Model</vt:lpstr>
      <vt:lpstr>Kano Model</vt:lpstr>
      <vt:lpstr>Estimating</vt:lpstr>
      <vt:lpstr>Level of Effort (LOE) or T-Shirt Sizing</vt:lpstr>
      <vt:lpstr>Ideal Time (Days or Hours)</vt:lpstr>
      <vt:lpstr>Story Points</vt:lpstr>
      <vt:lpstr>Fibonacci Sequence</vt:lpstr>
      <vt:lpstr>Fibonacci Sequence</vt:lpstr>
      <vt:lpstr>Team Participation</vt:lpstr>
      <vt:lpstr>Planning Poker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Nitin Uikey</dc:creator>
  <cp:lastModifiedBy>Nitin Uikey</cp:lastModifiedBy>
  <cp:revision>67</cp:revision>
  <dcterms:created xsi:type="dcterms:W3CDTF">2026-01-06T05:40:50Z</dcterms:created>
  <dcterms:modified xsi:type="dcterms:W3CDTF">2026-03-09T06:33:10Z</dcterms:modified>
</cp:coreProperties>
</file>